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07" r:id="rId2"/>
    <p:sldId id="608" r:id="rId3"/>
    <p:sldId id="609" r:id="rId4"/>
    <p:sldId id="610" r:id="rId5"/>
    <p:sldId id="611" r:id="rId6"/>
    <p:sldId id="612" r:id="rId7"/>
    <p:sldId id="613" r:id="rId8"/>
    <p:sldId id="614" r:id="rId9"/>
    <p:sldId id="615" r:id="rId10"/>
    <p:sldId id="616" r:id="rId11"/>
    <p:sldId id="617" r:id="rId12"/>
    <p:sldId id="618" r:id="rId13"/>
    <p:sldId id="619" r:id="rId14"/>
    <p:sldId id="6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1429"/>
  </p:normalViewPr>
  <p:slideViewPr>
    <p:cSldViewPr snapToGrid="0">
      <p:cViewPr varScale="1">
        <p:scale>
          <a:sx n="45" d="100"/>
          <a:sy n="45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9A10-BFBE-F901-7106-FA7F8515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1B39B-F769-A35B-05E8-5558C30C4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299E8-3D95-2316-1DA2-E03D6467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9698F-C8ED-F287-5EEC-C09382B86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767F-6A55-ECBB-CC74-748EF25C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01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68884-DEC7-8545-20D7-D57ED7BC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E1B3-3BDB-8BA9-FD6A-6E74DACF0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81854-3F17-9053-C75C-94008556D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B21C-4B83-3C1F-ABB8-00B3C8A9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EB26C-752D-D388-DB7E-158D7159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2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5E2B-E9A0-6643-7AA5-2709F17F2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ED0B2-10F7-9D7A-C33F-DE171A8BB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3C355-A109-04F0-9BF4-6BAFFEF5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BEFE2-587C-B9AD-D065-F1DDA14F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8D432-F54C-E072-0228-267ED691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2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2BB3-2387-821D-C05D-88CF61FA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9045F-BDC9-0ABC-F711-C39A888CD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341E7-042E-33C4-2C25-A76A6F371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921EF-C2F6-57D2-8F98-ECBE8202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76FC0-8AA3-2223-9E6D-D978B26BC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2586F-B352-F606-D9FE-85915804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21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D6ECF-F34F-110A-26DF-04260524A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64F3A-7C2F-9FB9-80D2-E25B09BCD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A9223-4964-315F-5D0B-CBBE1FC8C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4DCE5-D43E-B6B3-A961-F356DCB37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58F36-F757-8ED0-A5C1-556A154B7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F91A9-4136-33FD-9144-6D6F9EF3C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00C3FC-0F91-DD02-DBF0-38DF46CA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57BBF4-C13E-F475-62B0-32DEF09B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1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83890-069C-2F69-F5A5-F7ACC2BAA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EB65F-B689-7783-25AE-20E8B37A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C4E58-4ECE-D7C0-630A-72A806FE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E83D8-E9C3-4F27-12F2-769E5467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5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3D5399-EA2E-4594-CBED-F2F8964B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82749-56B0-8C29-BC58-7BF3150E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D4A27-5DF8-9A50-CF8C-572FAB75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6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B2BA-35F7-50DD-FDD6-CA6A561F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5277A-2D04-FA93-E012-2C61D8B5F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F95D4-4CB7-47B6-C874-B05E9C50B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818F3-9CA3-F232-29E7-2BAF0160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611F3-2806-7761-ABD0-4151703C8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D36E7-8186-9456-23EC-980979E11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3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02106-B3DD-81B4-15CA-E9A20F6B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86FBE-91AF-ABA6-4E77-3AA18C135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F88CB-5E93-45FD-7500-DB1CA3EC5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80757-8382-B152-CB52-98A3C18D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BEB33-8E64-284C-1599-82CC61178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1284C-26AC-4169-E33B-FA589CABF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48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95CF2-D6C5-D783-6221-B72C06BA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510EF-5273-2CDB-E438-763E7277B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792E0-4A54-A15E-5F11-AA8B5364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E66BA-DEEE-4978-CE40-6104F08BD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2792B-573F-DA1A-A2EC-7BBBAE944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10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492146-E661-129A-ABEF-778BC4103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3D1F6-BABF-3A13-8990-9E305B95D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7F885-89A0-45AB-2E5A-1133521B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CD4B6-BE43-1A4A-2E14-1BE33FF66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AA0EC-4FA3-B588-39DE-65E502AF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60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038" y="1277"/>
            <a:ext cx="2564962" cy="586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88" y="6486580"/>
            <a:ext cx="3389313" cy="166688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3787"/>
            <a:ext cx="2844801" cy="36512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826262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58409E-8598-1F07-FC7F-BE7DEB1F0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0738A-FC21-3366-2975-43EB8902D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A0950-7068-2029-5D23-8BEB089BC3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FB4B4-FC8D-2DAE-40F9-D962E5AEB6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ABBC-C265-758F-3B80-A1111504E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5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4" name="RESEARCH METHODS…"/>
          <p:cNvSpPr txBox="1"/>
          <p:nvPr/>
        </p:nvSpPr>
        <p:spPr>
          <a:xfrm>
            <a:off x="853752" y="1470895"/>
            <a:ext cx="10191636" cy="2580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RESEARCH METHODS</a:t>
            </a:r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5000"/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DAY 8</a:t>
            </a:r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</p:txBody>
      </p:sp>
      <p:sp>
        <p:nvSpPr>
          <p:cNvPr id="4335" name="Rectangle"/>
          <p:cNvSpPr/>
          <p:nvPr/>
        </p:nvSpPr>
        <p:spPr>
          <a:xfrm>
            <a:off x="-62743" y="-81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7" name="Text 0"/>
          <p:cNvSpPr txBox="1"/>
          <p:nvPr/>
        </p:nvSpPr>
        <p:spPr>
          <a:xfrm>
            <a:off x="661492" y="1971278"/>
            <a:ext cx="629701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Welcome to Day 8! </a:t>
            </a:r>
          </a:p>
        </p:txBody>
      </p:sp>
      <p:sp>
        <p:nvSpPr>
          <p:cNvPr id="4338" name="Text 1"/>
          <p:cNvSpPr txBox="1"/>
          <p:nvPr/>
        </p:nvSpPr>
        <p:spPr>
          <a:xfrm>
            <a:off x="618675" y="3130659"/>
            <a:ext cx="8450722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</p:txBody>
      </p:sp>
      <p:sp>
        <p:nvSpPr>
          <p:cNvPr id="4339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" name="Text 0"/>
          <p:cNvSpPr txBox="1"/>
          <p:nvPr/>
        </p:nvSpPr>
        <p:spPr>
          <a:xfrm>
            <a:off x="661492" y="1971278"/>
            <a:ext cx="6297018" cy="349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Today your goal is to work on your slides for your presentation. </a:t>
            </a:r>
          </a:p>
          <a:p>
            <a:pPr>
              <a:lnSpc>
                <a:spcPts val="4583"/>
              </a:lnSpc>
              <a:defRPr sz="4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3667"/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Let’s remember the presentation outline. </a:t>
            </a:r>
          </a:p>
        </p:txBody>
      </p:sp>
      <p:sp>
        <p:nvSpPr>
          <p:cNvPr id="4342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4" name="Text 0"/>
          <p:cNvSpPr txBox="1"/>
          <p:nvPr/>
        </p:nvSpPr>
        <p:spPr>
          <a:xfrm>
            <a:off x="661492" y="1068880"/>
            <a:ext cx="10869017" cy="55454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1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917"/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Title Slide: Introduce yourself and the project by naming the title, presenters, date of presentation, the Institutions at which the study is conducted. Add logos if you can.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Topic Slide: Name your global challenge, define it (cite your source), state why this is important (cite your sources)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Literature Review Slide: What do you know about this issue based on your literature review? Have a couple statements arranged by ideas / themes. Cite your sources.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Research Question Slide: Name your research questions(s) and if possible hypothesis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Methods Slide: State that your work is secondary research. Introduce your data source (including the year data was collected) &amp; sample (including its size and key characteristics). Name key variables. Name the tools you used to analyze data.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Results Slides: </a:t>
            </a:r>
          </a:p>
          <a:p>
            <a:pPr>
              <a:lnSpc>
                <a:spcPct val="1100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- First share descriptive statistics for each key variable (mean, median, mode, range)</a:t>
            </a:r>
          </a:p>
          <a:p>
            <a:pPr>
              <a:lnSpc>
                <a:spcPct val="1100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- Provide numbers, graphs, tables.. as suitable. This can be multiple slides.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 startAt="7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Discussion: How you interpret what you have found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 startAt="7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Conclusion: Final words and good-bye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 startAt="7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References: List your references. Be consistent with the style. </a:t>
            </a:r>
          </a:p>
        </p:txBody>
      </p:sp>
      <p:sp>
        <p:nvSpPr>
          <p:cNvPr id="4345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346" name="Presentation outline"/>
          <p:cNvSpPr txBox="1"/>
          <p:nvPr/>
        </p:nvSpPr>
        <p:spPr>
          <a:xfrm>
            <a:off x="581816" y="395186"/>
            <a:ext cx="4499628" cy="727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099" rIns="38099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Presentation outline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8" name="Text 0"/>
          <p:cNvSpPr txBox="1"/>
          <p:nvPr/>
        </p:nvSpPr>
        <p:spPr>
          <a:xfrm>
            <a:off x="661492" y="1068880"/>
            <a:ext cx="10869017" cy="55454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1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917"/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solidFill>
                  <a:srgbClr val="A9A9A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Title Slide: Introduce yourself and the project by naming the title, presenters, date of presentation, the Institutions at which the study is conducted. Add logos if you can.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solidFill>
                  <a:srgbClr val="92929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Topic Slide: Name your global challenge, define it (cite your source), state why this is important (cite your sources)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solidFill>
                  <a:srgbClr val="92929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Literature Review Slide: What do you know about this issue based on your literature review? Have a couple statements arranged by ideas / themes. Cite your sources.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solidFill>
                  <a:srgbClr val="92929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Research Question Slide: Name your research questions(s) and if possible hypothesis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solidFill>
                  <a:srgbClr val="92929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Methods Slide: State that your work is secondary research. Introduce your data source (including the year data was collected) &amp; sample (including its size and key characteristics). Name key variables. Name the tools you used to analyze data.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solidFill>
                  <a:srgbClr val="92929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Results Slides: </a:t>
            </a:r>
          </a:p>
          <a:p>
            <a:pPr>
              <a:lnSpc>
                <a:spcPct val="110000"/>
              </a:lnSpc>
              <a:defRPr sz="2400" b="1">
                <a:solidFill>
                  <a:srgbClr val="92929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- First share descriptive statistics for each key variable (mean, median, mode, range)</a:t>
            </a:r>
          </a:p>
          <a:p>
            <a:pPr>
              <a:lnSpc>
                <a:spcPct val="110000"/>
              </a:lnSpc>
              <a:defRPr sz="2400" b="1">
                <a:solidFill>
                  <a:srgbClr val="92929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- Provide numbers, graphs, tables.. as suitable. This can be multiple slides.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 startAt="7"/>
              <a:defRPr sz="2400" b="1">
                <a:solidFill>
                  <a:srgbClr val="92929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Discussion: How you interpret what you have found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 startAt="7"/>
              <a:defRPr sz="2400" b="1">
                <a:solidFill>
                  <a:srgbClr val="92929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Conclusion: Final words and good-bye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 startAt="7"/>
              <a:defRPr sz="2400" b="1">
                <a:solidFill>
                  <a:srgbClr val="92929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References: List your references. Be consistent with the style. </a:t>
            </a:r>
          </a:p>
        </p:txBody>
      </p:sp>
      <p:sp>
        <p:nvSpPr>
          <p:cNvPr id="4349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grpSp>
        <p:nvGrpSpPr>
          <p:cNvPr id="4352" name="Text 0"/>
          <p:cNvGrpSpPr/>
          <p:nvPr/>
        </p:nvGrpSpPr>
        <p:grpSpPr>
          <a:xfrm>
            <a:off x="2773777" y="2197446"/>
            <a:ext cx="6381686" cy="3312459"/>
            <a:chOff x="0" y="0"/>
            <a:chExt cx="7658021" cy="3974950"/>
          </a:xfrm>
        </p:grpSpPr>
        <p:sp>
          <p:nvSpPr>
            <p:cNvPr id="4351" name="Text 0"/>
            <p:cNvSpPr txBox="1"/>
            <p:nvPr/>
          </p:nvSpPr>
          <p:spPr>
            <a:xfrm>
              <a:off x="50800" y="50800"/>
              <a:ext cx="7556421" cy="3924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3000">
                  <a:solidFill>
                    <a:srgbClr val="941751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2500"/>
            </a:p>
            <a:p>
              <a:pPr algn="ctr">
                <a:defRPr sz="4500">
                  <a:solidFill>
                    <a:srgbClr val="941751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3750"/>
                <a:t>STORY TELLING</a:t>
              </a:r>
            </a:p>
            <a:p>
              <a:pPr algn="ctr">
                <a:defRPr sz="4500">
                  <a:solidFill>
                    <a:srgbClr val="941751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3750"/>
            </a:p>
            <a:p>
              <a:pPr algn="ctr">
                <a:defRPr sz="4500">
                  <a:solidFill>
                    <a:srgbClr val="941751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3750"/>
                <a:t>A full narrative of who, what, where, when, why… </a:t>
              </a:r>
            </a:p>
            <a:p>
              <a:pPr algn="ctr">
                <a:defRPr sz="4500">
                  <a:solidFill>
                    <a:srgbClr val="941751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sz="3750"/>
                <a:t> </a:t>
              </a:r>
            </a:p>
          </p:txBody>
        </p:sp>
        <p:pic>
          <p:nvPicPr>
            <p:cNvPr id="4350" name="Text 0" descr="Text 0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7658021" cy="3918304"/>
            </a:xfrm>
            <a:prstGeom prst="rect">
              <a:avLst/>
            </a:prstGeom>
            <a:effectLst/>
          </p:spPr>
        </p:pic>
      </p:grpSp>
      <p:sp>
        <p:nvSpPr>
          <p:cNvPr id="4353" name="Presentation outline"/>
          <p:cNvSpPr txBox="1"/>
          <p:nvPr/>
        </p:nvSpPr>
        <p:spPr>
          <a:xfrm>
            <a:off x="570271" y="395186"/>
            <a:ext cx="4499628" cy="727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099" rIns="38099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Presentation outline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5" name="Text 0"/>
          <p:cNvSpPr txBox="1"/>
          <p:nvPr/>
        </p:nvSpPr>
        <p:spPr>
          <a:xfrm>
            <a:off x="661492" y="1525985"/>
            <a:ext cx="5581656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Using the 5 W's (and How)</a:t>
            </a:r>
          </a:p>
        </p:txBody>
      </p:sp>
      <p:sp>
        <p:nvSpPr>
          <p:cNvPr id="4356" name="Shape 1"/>
          <p:cNvSpPr/>
          <p:nvPr/>
        </p:nvSpPr>
        <p:spPr>
          <a:xfrm>
            <a:off x="661492" y="2494657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435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84" y="253007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4358" name="Text 2"/>
          <p:cNvSpPr txBox="1"/>
          <p:nvPr/>
        </p:nvSpPr>
        <p:spPr>
          <a:xfrm>
            <a:off x="1275754" y="2559545"/>
            <a:ext cx="503343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Who</a:t>
            </a:r>
          </a:p>
        </p:txBody>
      </p:sp>
      <p:sp>
        <p:nvSpPr>
          <p:cNvPr id="4359" name="Text 3"/>
          <p:cNvSpPr txBox="1"/>
          <p:nvPr/>
        </p:nvSpPr>
        <p:spPr>
          <a:xfrm>
            <a:off x="1275754" y="2968229"/>
            <a:ext cx="2851250" cy="104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Who is involved or affected? (teenagers, athletes, teachers, polar bears)</a:t>
            </a:r>
          </a:p>
        </p:txBody>
      </p:sp>
      <p:sp>
        <p:nvSpPr>
          <p:cNvPr id="4360" name="Shape 4"/>
          <p:cNvSpPr/>
          <p:nvPr/>
        </p:nvSpPr>
        <p:spPr>
          <a:xfrm>
            <a:off x="4363244" y="2494657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4361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136" y="253007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4362" name="Text 5"/>
          <p:cNvSpPr txBox="1"/>
          <p:nvPr/>
        </p:nvSpPr>
        <p:spPr>
          <a:xfrm>
            <a:off x="4977506" y="2559545"/>
            <a:ext cx="575479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What</a:t>
            </a:r>
          </a:p>
        </p:txBody>
      </p:sp>
      <p:sp>
        <p:nvSpPr>
          <p:cNvPr id="4363" name="Text 6"/>
          <p:cNvSpPr txBox="1"/>
          <p:nvPr/>
        </p:nvSpPr>
        <p:spPr>
          <a:xfrm>
            <a:off x="4977506" y="2968229"/>
            <a:ext cx="2851250" cy="104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What aspect interests you? (mental health, economic cost, performance)</a:t>
            </a:r>
          </a:p>
        </p:txBody>
      </p:sp>
      <p:sp>
        <p:nvSpPr>
          <p:cNvPr id="4364" name="Shape 7"/>
          <p:cNvSpPr/>
          <p:nvPr/>
        </p:nvSpPr>
        <p:spPr>
          <a:xfrm>
            <a:off x="8064996" y="2494657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4365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888" y="253007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4366" name="Text 8"/>
          <p:cNvSpPr txBox="1"/>
          <p:nvPr/>
        </p:nvSpPr>
        <p:spPr>
          <a:xfrm>
            <a:off x="8679259" y="2559545"/>
            <a:ext cx="716543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Where</a:t>
            </a:r>
          </a:p>
        </p:txBody>
      </p:sp>
      <p:sp>
        <p:nvSpPr>
          <p:cNvPr id="4367" name="Text 9"/>
          <p:cNvSpPr txBox="1"/>
          <p:nvPr/>
        </p:nvSpPr>
        <p:spPr>
          <a:xfrm>
            <a:off x="8679258" y="2968229"/>
            <a:ext cx="2851250" cy="104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A certain location or context? (your city, online communities, lakes)</a:t>
            </a:r>
          </a:p>
        </p:txBody>
      </p:sp>
      <p:sp>
        <p:nvSpPr>
          <p:cNvPr id="4368" name="Shape 10"/>
          <p:cNvSpPr/>
          <p:nvPr/>
        </p:nvSpPr>
        <p:spPr>
          <a:xfrm>
            <a:off x="661492" y="4253507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4369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84" y="428892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4370" name="Text 11"/>
          <p:cNvSpPr txBox="1"/>
          <p:nvPr/>
        </p:nvSpPr>
        <p:spPr>
          <a:xfrm>
            <a:off x="1275754" y="4318396"/>
            <a:ext cx="63318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When</a:t>
            </a:r>
          </a:p>
        </p:txBody>
      </p:sp>
      <p:sp>
        <p:nvSpPr>
          <p:cNvPr id="4371" name="Text 12"/>
          <p:cNvSpPr txBox="1"/>
          <p:nvPr/>
        </p:nvSpPr>
        <p:spPr>
          <a:xfrm>
            <a:off x="1275754" y="4727078"/>
            <a:ext cx="4702177" cy="684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A time period? (past 5 years, during summer, historical period)</a:t>
            </a:r>
          </a:p>
        </p:txBody>
      </p:sp>
      <p:sp>
        <p:nvSpPr>
          <p:cNvPr id="4372" name="Shape 13"/>
          <p:cNvSpPr/>
          <p:nvPr/>
        </p:nvSpPr>
        <p:spPr>
          <a:xfrm>
            <a:off x="6214169" y="4253507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4373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061" y="428892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4374" name="Text 14"/>
          <p:cNvSpPr txBox="1"/>
          <p:nvPr/>
        </p:nvSpPr>
        <p:spPr>
          <a:xfrm>
            <a:off x="6828433" y="4318396"/>
            <a:ext cx="1083630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Why/How</a:t>
            </a:r>
          </a:p>
        </p:txBody>
      </p:sp>
      <p:sp>
        <p:nvSpPr>
          <p:cNvPr id="4375" name="Text 15"/>
          <p:cNvSpPr txBox="1"/>
          <p:nvPr/>
        </p:nvSpPr>
        <p:spPr>
          <a:xfrm>
            <a:off x="6828433" y="4727078"/>
            <a:ext cx="4702176" cy="684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Causes or processes? (why something happens, how factors interact)</a:t>
            </a:r>
          </a:p>
        </p:txBody>
      </p:sp>
      <p:sp>
        <p:nvSpPr>
          <p:cNvPr id="4376" name="Text 0"/>
          <p:cNvSpPr txBox="1"/>
          <p:nvPr/>
        </p:nvSpPr>
        <p:spPr>
          <a:xfrm>
            <a:off x="692279" y="769514"/>
            <a:ext cx="629701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solidFill>
                  <a:srgbClr val="D7AA48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REMEMBER? 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8" name="Text 0"/>
          <p:cNvSpPr txBox="1"/>
          <p:nvPr/>
        </p:nvSpPr>
        <p:spPr>
          <a:xfrm>
            <a:off x="1063658" y="1751987"/>
            <a:ext cx="10869017" cy="250260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1st GOAL: </a:t>
            </a:r>
          </a:p>
          <a:p>
            <a:pPr>
              <a:lnSpc>
                <a:spcPts val="4583"/>
              </a:lnSpc>
              <a:defRPr sz="4400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Finish your Methods Slide</a:t>
            </a:r>
          </a:p>
          <a:p>
            <a:pPr>
              <a:lnSpc>
                <a:spcPts val="4583"/>
              </a:lnSpc>
              <a:defRPr sz="4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3667"/>
          </a:p>
          <a:p>
            <a:pPr>
              <a:lnSpc>
                <a:spcPts val="4583"/>
              </a:lnSpc>
              <a:defRPr sz="4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Make sure it has the following information: </a:t>
            </a:r>
          </a:p>
          <a:p>
            <a:pPr>
              <a:lnSpc>
                <a:spcPct val="110000"/>
              </a:lnSpc>
              <a:defRPr sz="1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917"/>
          </a:p>
        </p:txBody>
      </p:sp>
      <p:sp>
        <p:nvSpPr>
          <p:cNvPr id="4379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1" name="Text 0"/>
          <p:cNvSpPr txBox="1"/>
          <p:nvPr/>
        </p:nvSpPr>
        <p:spPr>
          <a:xfrm>
            <a:off x="661492" y="1011153"/>
            <a:ext cx="10869017" cy="44425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METHODS SLIDE INCLUDES:</a:t>
            </a:r>
          </a:p>
          <a:p>
            <a:pPr>
              <a:lnSpc>
                <a:spcPct val="110000"/>
              </a:lnSpc>
              <a:defRPr sz="1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917"/>
          </a:p>
          <a:p>
            <a:pPr marL="190492" indent="-190492">
              <a:lnSpc>
                <a:spcPct val="110000"/>
              </a:lnSpc>
              <a:buSzPct val="100000"/>
              <a:buChar char="•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Research Design: </a:t>
            </a:r>
          </a:p>
          <a:p>
            <a:pPr marL="863342" lvl="1" indent="-334197">
              <a:lnSpc>
                <a:spcPct val="110000"/>
              </a:lnSpc>
              <a:buSzPct val="100000"/>
              <a:buChar char="•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Approach: Quantitative (Descriptive)</a:t>
            </a:r>
          </a:p>
          <a:p>
            <a:pPr marL="863342" lvl="1" indent="-334197">
              <a:lnSpc>
                <a:spcPct val="110000"/>
              </a:lnSpc>
              <a:buSzPct val="100000"/>
              <a:buChar char="•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Methodology: Secondary data analysis of a publicly available data set. </a:t>
            </a:r>
          </a:p>
          <a:p>
            <a:pPr marL="190492" indent="-190492">
              <a:lnSpc>
                <a:spcPct val="110000"/>
              </a:lnSpc>
              <a:buSzPct val="100000"/>
              <a:buChar char="•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Data Source: </a:t>
            </a:r>
          </a:p>
          <a:p>
            <a:pPr marL="719638" lvl="1" indent="-190492">
              <a:lnSpc>
                <a:spcPct val="110000"/>
              </a:lnSpc>
              <a:buSzPct val="100000"/>
              <a:buChar char="•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Name of the data set</a:t>
            </a:r>
          </a:p>
          <a:p>
            <a:pPr marL="719638" lvl="1" indent="-190492">
              <a:lnSpc>
                <a:spcPct val="110000"/>
              </a:lnSpc>
              <a:buSzPct val="100000"/>
              <a:buChar char="•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Years covered / data collected</a:t>
            </a:r>
          </a:p>
          <a:p>
            <a:pPr marL="719638" lvl="1" indent="-190492">
              <a:lnSpc>
                <a:spcPct val="110000"/>
              </a:lnSpc>
              <a:buSzPct val="100000"/>
              <a:buChar char="•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Institution that collected the data</a:t>
            </a:r>
          </a:p>
          <a:p>
            <a:pPr marL="190492" indent="-190492">
              <a:lnSpc>
                <a:spcPct val="110000"/>
              </a:lnSpc>
              <a:buSzPct val="100000"/>
              <a:buChar char="•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Sample: Introduce your sample including its size, nature, and key characteristics etc. </a:t>
            </a:r>
          </a:p>
          <a:p>
            <a:pPr marL="190492" indent="-190492">
              <a:lnSpc>
                <a:spcPct val="110000"/>
              </a:lnSpc>
              <a:buSzPct val="100000"/>
              <a:buChar char="•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Analyzed variables: Simply name each variable you analyzed </a:t>
            </a:r>
          </a:p>
          <a:p>
            <a:pPr marL="190492" indent="-190492">
              <a:lnSpc>
                <a:spcPct val="110000"/>
              </a:lnSpc>
              <a:buSzPct val="100000"/>
              <a:buChar char="•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Procedure &amp; Tools: Identify how you approached the data analysis. Steps you took. Tools you used.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3" name="Text 0"/>
          <p:cNvSpPr txBox="1"/>
          <p:nvPr/>
        </p:nvSpPr>
        <p:spPr>
          <a:xfrm>
            <a:off x="1063658" y="1751987"/>
            <a:ext cx="10869017" cy="36824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2nd GOAL: </a:t>
            </a:r>
          </a:p>
          <a:p>
            <a:pPr>
              <a:lnSpc>
                <a:spcPts val="4583"/>
              </a:lnSpc>
              <a:defRPr sz="4400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Compile your results. </a:t>
            </a:r>
          </a:p>
          <a:p>
            <a:pPr>
              <a:lnSpc>
                <a:spcPts val="4583"/>
              </a:lnSpc>
              <a:defRPr sz="4400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3667"/>
          </a:p>
          <a:p>
            <a:pPr>
              <a:lnSpc>
                <a:spcPts val="4583"/>
              </a:lnSpc>
              <a:defRPr sz="4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Discuss how to present your results in your presentation. </a:t>
            </a:r>
          </a:p>
          <a:p>
            <a:pPr>
              <a:lnSpc>
                <a:spcPts val="4583"/>
              </a:lnSpc>
              <a:defRPr sz="4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3667"/>
          </a:p>
          <a:p>
            <a:pPr>
              <a:lnSpc>
                <a:spcPct val="110000"/>
              </a:lnSpc>
              <a:defRPr sz="1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917"/>
          </a:p>
        </p:txBody>
      </p:sp>
      <p:sp>
        <p:nvSpPr>
          <p:cNvPr id="4384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6" name="Text 0"/>
          <p:cNvSpPr txBox="1"/>
          <p:nvPr/>
        </p:nvSpPr>
        <p:spPr>
          <a:xfrm>
            <a:off x="1063658" y="1751987"/>
            <a:ext cx="10869017" cy="30925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3rd GOAL: </a:t>
            </a:r>
          </a:p>
          <a:p>
            <a:pPr>
              <a:lnSpc>
                <a:spcPts val="4583"/>
              </a:lnSpc>
              <a:defRPr sz="4400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Enrich your discussion / conclusion slides </a:t>
            </a:r>
          </a:p>
          <a:p>
            <a:pPr>
              <a:lnSpc>
                <a:spcPts val="4583"/>
              </a:lnSpc>
              <a:defRPr sz="4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3667"/>
          </a:p>
          <a:p>
            <a:pPr>
              <a:lnSpc>
                <a:spcPts val="4583"/>
              </a:lnSpc>
              <a:defRPr sz="4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Discuss: How do results align with your expectations? Add that to your discussion slide. </a:t>
            </a:r>
          </a:p>
          <a:p>
            <a:pPr>
              <a:lnSpc>
                <a:spcPct val="110000"/>
              </a:lnSpc>
              <a:defRPr sz="1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917"/>
          </a:p>
        </p:txBody>
      </p:sp>
      <p:sp>
        <p:nvSpPr>
          <p:cNvPr id="4387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9" name="Text 0"/>
          <p:cNvSpPr txBox="1"/>
          <p:nvPr/>
        </p:nvSpPr>
        <p:spPr>
          <a:xfrm>
            <a:off x="941738" y="1058333"/>
            <a:ext cx="10869017" cy="553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4th GOAL: </a:t>
            </a:r>
          </a:p>
          <a:p>
            <a:pPr>
              <a:lnSpc>
                <a:spcPts val="4583"/>
              </a:lnSpc>
              <a:defRPr sz="4400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Cite your resources</a:t>
            </a:r>
          </a:p>
          <a:p>
            <a:pPr marL="807643" lvl="1" indent="-490155">
              <a:lnSpc>
                <a:spcPts val="4583"/>
              </a:lnSpc>
              <a:spcBef>
                <a:spcPts val="1500"/>
              </a:spcBef>
              <a:buSzPct val="100000"/>
              <a:buChar char="-"/>
              <a:defRPr sz="38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167"/>
              <a:t>Throughout the presentation: Name utilized resources</a:t>
            </a:r>
          </a:p>
          <a:p>
            <a:pPr marL="1760105" lvl="4" indent="-490155">
              <a:lnSpc>
                <a:spcPct val="110000"/>
              </a:lnSpc>
              <a:spcBef>
                <a:spcPts val="750"/>
              </a:spcBef>
              <a:buSzPct val="100000"/>
              <a:buChar char="-"/>
              <a:defRPr sz="2300">
                <a:solidFill>
                  <a:srgbClr val="5E5E5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917"/>
              <a:t>In research, failing to plan is identified as planning to fail (Yin &amp; Ogut, 2025). </a:t>
            </a:r>
          </a:p>
          <a:p>
            <a:pPr marL="1760105" lvl="4" indent="-490155">
              <a:lnSpc>
                <a:spcPct val="110000"/>
              </a:lnSpc>
              <a:spcBef>
                <a:spcPts val="750"/>
              </a:spcBef>
              <a:buSzPct val="100000"/>
              <a:buChar char="-"/>
              <a:defRPr sz="2300">
                <a:solidFill>
                  <a:srgbClr val="5E5E5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917"/>
              <a:t>Toska (2023) suggested that counseling centers in Türkiye tended to avoid presence on social media platforms. </a:t>
            </a:r>
          </a:p>
          <a:p>
            <a:pPr marL="807643" lvl="1" indent="-490155">
              <a:lnSpc>
                <a:spcPts val="4583"/>
              </a:lnSpc>
              <a:buSzPct val="100000"/>
              <a:buChar char="-"/>
              <a:defRPr sz="38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167"/>
              <a:t>At the end of the presentation: Full list</a:t>
            </a:r>
          </a:p>
          <a:p>
            <a:pPr marL="1760105" lvl="4" indent="-490155">
              <a:lnSpc>
                <a:spcPct val="110000"/>
              </a:lnSpc>
              <a:spcBef>
                <a:spcPts val="833"/>
              </a:spcBef>
              <a:buSzPct val="100000"/>
              <a:buChar char="-"/>
              <a:defRPr sz="2300">
                <a:solidFill>
                  <a:srgbClr val="79797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917"/>
              <a:t>Toska, G. (2023). Counseling Centers in Turkiye. Paper presented at the National Conference on Counseling Psychology. Istanbul, Turkiye. </a:t>
            </a:r>
          </a:p>
          <a:p>
            <a:pPr marL="1760105" lvl="4" indent="-490155">
              <a:lnSpc>
                <a:spcPct val="110000"/>
              </a:lnSpc>
              <a:spcBef>
                <a:spcPts val="833"/>
              </a:spcBef>
              <a:buSzPct val="100000"/>
              <a:buChar char="-"/>
              <a:defRPr sz="2300">
                <a:solidFill>
                  <a:srgbClr val="79797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917"/>
              <a:t>Yin &amp; Ogut (2025). </a:t>
            </a:r>
            <a:r>
              <a:rPr sz="1917" i="1"/>
              <a:t>Nexellence ResearchCORE: Unveiling the Power of Inquiry: An Introduction to Research Methods for All Curious Minds</a:t>
            </a:r>
            <a:r>
              <a:rPr sz="1917"/>
              <a:t>. Nexellence Press. ISBN: 979-8-9988862-1-8</a:t>
            </a:r>
          </a:p>
        </p:txBody>
      </p:sp>
      <p:sp>
        <p:nvSpPr>
          <p:cNvPr id="4390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" name="Text 0"/>
          <p:cNvSpPr txBox="1"/>
          <p:nvPr/>
        </p:nvSpPr>
        <p:spPr>
          <a:xfrm>
            <a:off x="661492" y="1043087"/>
            <a:ext cx="5232202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Homework - Teamwork</a:t>
            </a:r>
          </a:p>
        </p:txBody>
      </p:sp>
      <p:sp>
        <p:nvSpPr>
          <p:cNvPr id="4393" name="Shape 1"/>
          <p:cNvSpPr/>
          <p:nvPr/>
        </p:nvSpPr>
        <p:spPr>
          <a:xfrm>
            <a:off x="492158" y="1793879"/>
            <a:ext cx="6843855" cy="2311573"/>
          </a:xfrm>
          <a:prstGeom prst="roundRect">
            <a:avLst>
              <a:gd name="adj" fmla="val 344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394" name="Text 2"/>
          <p:cNvSpPr txBox="1"/>
          <p:nvPr/>
        </p:nvSpPr>
        <p:spPr>
          <a:xfrm>
            <a:off x="856853" y="1951341"/>
            <a:ext cx="5148571" cy="1749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Finalize your slide content. 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-  Assign who is presenting which slide. 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Practice! </a:t>
            </a:r>
          </a:p>
        </p:txBody>
      </p:sp>
      <p:pic>
        <p:nvPicPr>
          <p:cNvPr id="4395" name="Google Shape;1017;p49" descr="Google Shape;1017;p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060" y="677333"/>
            <a:ext cx="4231862" cy="63477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7" name="Rectangle"/>
          <p:cNvSpPr/>
          <p:nvPr/>
        </p:nvSpPr>
        <p:spPr>
          <a:xfrm>
            <a:off x="10278766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398" name="Rectangle"/>
          <p:cNvSpPr/>
          <p:nvPr/>
        </p:nvSpPr>
        <p:spPr>
          <a:xfrm>
            <a:off x="8310266" y="120000"/>
            <a:ext cx="1058334" cy="698489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399" name="Rectangle"/>
          <p:cNvSpPr/>
          <p:nvPr/>
        </p:nvSpPr>
        <p:spPr>
          <a:xfrm>
            <a:off x="6341766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400" name="Rectangle"/>
          <p:cNvSpPr/>
          <p:nvPr/>
        </p:nvSpPr>
        <p:spPr>
          <a:xfrm>
            <a:off x="4474788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401" name="Rectangle"/>
          <p:cNvSpPr/>
          <p:nvPr/>
        </p:nvSpPr>
        <p:spPr>
          <a:xfrm>
            <a:off x="2607811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402" name="Rectangle"/>
          <p:cNvSpPr/>
          <p:nvPr/>
        </p:nvSpPr>
        <p:spPr>
          <a:xfrm>
            <a:off x="740833" y="-63446"/>
            <a:ext cx="1058333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403" name="EXTRA SLIDES FOR DAY 8"/>
          <p:cNvSpPr txBox="1"/>
          <p:nvPr/>
        </p:nvSpPr>
        <p:spPr>
          <a:xfrm>
            <a:off x="81618" y="1146599"/>
            <a:ext cx="12028765" cy="1111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 b="1"/>
              <a:t>EXTRA SLIDES FOR DAY 8</a:t>
            </a:r>
          </a:p>
        </p:txBody>
      </p:sp>
      <p:sp>
        <p:nvSpPr>
          <p:cNvPr id="4404" name="Rectangle"/>
          <p:cNvSpPr/>
          <p:nvPr/>
        </p:nvSpPr>
        <p:spPr>
          <a:xfrm>
            <a:off x="-155850" y="6147566"/>
            <a:ext cx="12503701" cy="7488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405" name="Rectangle"/>
          <p:cNvSpPr/>
          <p:nvPr/>
        </p:nvSpPr>
        <p:spPr>
          <a:xfrm>
            <a:off x="-11851" y="-58595"/>
            <a:ext cx="12215701" cy="7488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7" name="Text 0"/>
          <p:cNvSpPr txBox="1"/>
          <p:nvPr/>
        </p:nvSpPr>
        <p:spPr>
          <a:xfrm>
            <a:off x="661492" y="1043087"/>
            <a:ext cx="452367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solidFill>
                  <a:srgbClr val="D7AA48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SLIDE SHOWDOWN</a:t>
            </a:r>
          </a:p>
        </p:txBody>
      </p:sp>
      <p:sp>
        <p:nvSpPr>
          <p:cNvPr id="4408" name="Text 2"/>
          <p:cNvSpPr txBox="1"/>
          <p:nvPr/>
        </p:nvSpPr>
        <p:spPr>
          <a:xfrm>
            <a:off x="641338" y="2106083"/>
            <a:ext cx="6114466" cy="2692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83"/>
              </a:spcBef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83"/>
              <a:t>SHOW US</a:t>
            </a:r>
          </a:p>
          <a:p>
            <a:pPr marL="183808" indent="-183808">
              <a:spcBef>
                <a:spcPts val="3083"/>
              </a:spcBef>
              <a:buSzPct val="100000"/>
              <a:buChar char="•"/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83"/>
              <a:t>2 slides of your best work </a:t>
            </a:r>
          </a:p>
          <a:p>
            <a:pPr marL="183808" indent="-183808">
              <a:spcBef>
                <a:spcPts val="3083"/>
              </a:spcBef>
              <a:buSzPct val="100000"/>
              <a:buChar char="•"/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83"/>
              <a:t>2 slides of  your questionable slide</a:t>
            </a:r>
          </a:p>
        </p:txBody>
      </p:sp>
      <p:pic>
        <p:nvPicPr>
          <p:cNvPr id="4409" name="Google Shape;1017;p49" descr="Google Shape;1017;p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060" y="677333"/>
            <a:ext cx="4231862" cy="63477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873</Words>
  <Application>Microsoft Macintosh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 Hadah</dc:creator>
  <cp:lastModifiedBy>Hussain Hadah</cp:lastModifiedBy>
  <cp:revision>2</cp:revision>
  <dcterms:created xsi:type="dcterms:W3CDTF">2026-06-12T13:00:44Z</dcterms:created>
  <dcterms:modified xsi:type="dcterms:W3CDTF">2026-06-12T13:01:46Z</dcterms:modified>
</cp:coreProperties>
</file>