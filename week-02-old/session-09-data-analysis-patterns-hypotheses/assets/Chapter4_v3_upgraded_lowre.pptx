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9"/>
  </p:notesMasterIdLst>
  <p:sldIdLst>
    <p:sldId id="257" r:id="rId2"/>
    <p:sldId id="260" r:id="rId3"/>
    <p:sldId id="263" r:id="rId4"/>
    <p:sldId id="264" r:id="rId5"/>
    <p:sldId id="265" r:id="rId6"/>
    <p:sldId id="266" r:id="rId7"/>
    <p:sldId id="267" r:id="rId8"/>
    <p:sldId id="269" r:id="rId9"/>
    <p:sldId id="270" r:id="rId10"/>
    <p:sldId id="268" r:id="rId11"/>
    <p:sldId id="271" r:id="rId12"/>
    <p:sldId id="272" r:id="rId13"/>
    <p:sldId id="274" r:id="rId14"/>
    <p:sldId id="275" r:id="rId15"/>
    <p:sldId id="276" r:id="rId16"/>
    <p:sldId id="273" r:id="rId17"/>
    <p:sldId id="277" r:id="rId18"/>
    <p:sldId id="278" r:id="rId19"/>
    <p:sldId id="279" r:id="rId20"/>
    <p:sldId id="280" r:id="rId21"/>
    <p:sldId id="281" r:id="rId22"/>
    <p:sldId id="282" r:id="rId23"/>
    <p:sldId id="283" r:id="rId24"/>
    <p:sldId id="284" r:id="rId25"/>
    <p:sldId id="380" r:id="rId26"/>
    <p:sldId id="303" r:id="rId27"/>
    <p:sldId id="302" r:id="rId28"/>
    <p:sldId id="304" r:id="rId29"/>
    <p:sldId id="305" r:id="rId30"/>
    <p:sldId id="306" r:id="rId31"/>
    <p:sldId id="308" r:id="rId32"/>
    <p:sldId id="309" r:id="rId33"/>
    <p:sldId id="311" r:id="rId34"/>
    <p:sldId id="312" r:id="rId35"/>
    <p:sldId id="289" r:id="rId36"/>
    <p:sldId id="290" r:id="rId37"/>
    <p:sldId id="291" r:id="rId38"/>
    <p:sldId id="313" r:id="rId39"/>
    <p:sldId id="314" r:id="rId40"/>
    <p:sldId id="310" r:id="rId41"/>
    <p:sldId id="317" r:id="rId42"/>
    <p:sldId id="318" r:id="rId43"/>
    <p:sldId id="316" r:id="rId44"/>
    <p:sldId id="315" r:id="rId45"/>
    <p:sldId id="387" r:id="rId46"/>
    <p:sldId id="388" r:id="rId47"/>
    <p:sldId id="382" r:id="rId48"/>
    <p:sldId id="297" r:id="rId49"/>
    <p:sldId id="298" r:id="rId50"/>
    <p:sldId id="383" r:id="rId51"/>
    <p:sldId id="389" r:id="rId52"/>
    <p:sldId id="299" r:id="rId53"/>
    <p:sldId id="381" r:id="rId54"/>
    <p:sldId id="324" r:id="rId55"/>
    <p:sldId id="326" r:id="rId56"/>
    <p:sldId id="300" r:id="rId57"/>
    <p:sldId id="384" r:id="rId58"/>
    <p:sldId id="301" r:id="rId59"/>
    <p:sldId id="319" r:id="rId60"/>
    <p:sldId id="320" r:id="rId61"/>
    <p:sldId id="322" r:id="rId62"/>
    <p:sldId id="385" r:id="rId63"/>
    <p:sldId id="386" r:id="rId64"/>
    <p:sldId id="323" r:id="rId65"/>
    <p:sldId id="321" r:id="rId66"/>
    <p:sldId id="330" r:id="rId67"/>
    <p:sldId id="333" r:id="rId68"/>
    <p:sldId id="334" r:id="rId69"/>
    <p:sldId id="259" r:id="rId70"/>
    <p:sldId id="292" r:id="rId71"/>
    <p:sldId id="293" r:id="rId72"/>
    <p:sldId id="296" r:id="rId73"/>
    <p:sldId id="390" r:id="rId74"/>
    <p:sldId id="391" r:id="rId75"/>
    <p:sldId id="392" r:id="rId76"/>
    <p:sldId id="393" r:id="rId77"/>
    <p:sldId id="394"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63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4" autoAdjust="0"/>
    <p:restoredTop sz="71429" autoAdjust="0"/>
  </p:normalViewPr>
  <p:slideViewPr>
    <p:cSldViewPr snapToGrid="0">
      <p:cViewPr varScale="1">
        <p:scale>
          <a:sx n="39" d="100"/>
          <a:sy n="39" d="100"/>
        </p:scale>
        <p:origin x="1310"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0E2EA5E-2197-9B41-935E-05F1870D1A56}" type="doc">
      <dgm:prSet loTypeId="urn:microsoft.com/office/officeart/2008/layout/SquareAccentList" loCatId="" qsTypeId="urn:microsoft.com/office/officeart/2005/8/quickstyle/simple1" qsCatId="simple" csTypeId="urn:microsoft.com/office/officeart/2005/8/colors/accent1_2" csCatId="accent1" phldr="1"/>
      <dgm:spPr/>
      <dgm:t>
        <a:bodyPr/>
        <a:lstStyle/>
        <a:p>
          <a:endParaRPr lang="en-US"/>
        </a:p>
      </dgm:t>
    </dgm:pt>
    <dgm:pt modelId="{8EED5F24-90DD-6144-85D6-2E9C630E959F}">
      <dgm:prSet phldrT="[Text]" custT="1"/>
      <dgm:spPr/>
      <dgm:t>
        <a:bodyPr/>
        <a:lstStyle/>
        <a:p>
          <a:endParaRPr lang="en-US" sz="5400" dirty="0"/>
        </a:p>
      </dgm:t>
    </dgm:pt>
    <dgm:pt modelId="{E6C0F6A9-2095-1C46-91E0-C7209DBB5E6B}" type="parTrans" cxnId="{F3137C83-A48D-B84A-BEA2-A37F4C2B229E}">
      <dgm:prSet/>
      <dgm:spPr/>
      <dgm:t>
        <a:bodyPr/>
        <a:lstStyle/>
        <a:p>
          <a:endParaRPr lang="en-US" sz="2400"/>
        </a:p>
      </dgm:t>
    </dgm:pt>
    <dgm:pt modelId="{0731E390-2B52-9248-A858-A9C77836B2AF}" type="sibTrans" cxnId="{F3137C83-A48D-B84A-BEA2-A37F4C2B229E}">
      <dgm:prSet/>
      <dgm:spPr/>
      <dgm:t>
        <a:bodyPr/>
        <a:lstStyle/>
        <a:p>
          <a:endParaRPr lang="en-US" sz="2400"/>
        </a:p>
      </dgm:t>
    </dgm:pt>
    <dgm:pt modelId="{DA446D87-4C05-C943-B2C6-5D0594AD3D05}">
      <dgm:prSet phldrT="[Text]" custT="1"/>
      <dgm:spPr/>
      <dgm:t>
        <a:bodyPr/>
        <a:lstStyle/>
        <a:p>
          <a:pPr>
            <a:buNone/>
          </a:pPr>
          <a:r>
            <a:rPr lang="en-US" sz="1800" b="0" i="0" u="none" dirty="0"/>
            <a:t>General-purpose, widely used beyond data science</a:t>
          </a:r>
          <a:endParaRPr lang="en-US" sz="1800" dirty="0"/>
        </a:p>
      </dgm:t>
    </dgm:pt>
    <dgm:pt modelId="{5FAE185A-7B36-D646-85C7-DE1CDB62F56B}" type="parTrans" cxnId="{E73938CA-E265-BD46-A334-D1678266BC51}">
      <dgm:prSet/>
      <dgm:spPr/>
      <dgm:t>
        <a:bodyPr/>
        <a:lstStyle/>
        <a:p>
          <a:endParaRPr lang="en-US" sz="2400"/>
        </a:p>
      </dgm:t>
    </dgm:pt>
    <dgm:pt modelId="{B826CF6F-CA55-E342-BA83-1C0602E66F92}" type="sibTrans" cxnId="{E73938CA-E265-BD46-A334-D1678266BC51}">
      <dgm:prSet/>
      <dgm:spPr/>
      <dgm:t>
        <a:bodyPr/>
        <a:lstStyle/>
        <a:p>
          <a:endParaRPr lang="en-US" sz="2400"/>
        </a:p>
      </dgm:t>
    </dgm:pt>
    <dgm:pt modelId="{4157369C-D4C5-9041-991D-7DB8B30C3B3F}">
      <dgm:prSet phldrT="[Text]" custT="1"/>
      <dgm:spPr/>
      <dgm:t>
        <a:bodyPr/>
        <a:lstStyle/>
        <a:p>
          <a:endParaRPr lang="en-US" sz="5400" dirty="0"/>
        </a:p>
      </dgm:t>
    </dgm:pt>
    <dgm:pt modelId="{3F28743E-9BA2-7E4D-B0F6-8A2BA7C594F6}" type="parTrans" cxnId="{750DE3F7-50B7-B141-86DE-60D1990145BE}">
      <dgm:prSet/>
      <dgm:spPr/>
      <dgm:t>
        <a:bodyPr/>
        <a:lstStyle/>
        <a:p>
          <a:endParaRPr lang="en-US" sz="2400"/>
        </a:p>
      </dgm:t>
    </dgm:pt>
    <dgm:pt modelId="{DE63E152-411A-F44A-83FA-AF663DD60C5D}" type="sibTrans" cxnId="{750DE3F7-50B7-B141-86DE-60D1990145BE}">
      <dgm:prSet/>
      <dgm:spPr/>
      <dgm:t>
        <a:bodyPr/>
        <a:lstStyle/>
        <a:p>
          <a:endParaRPr lang="en-US" sz="2400"/>
        </a:p>
      </dgm:t>
    </dgm:pt>
    <dgm:pt modelId="{2AB4BA53-8049-FF4B-A7A1-82212FA6660B}">
      <dgm:prSet phldrT="[Text]" custT="1"/>
      <dgm:spPr/>
      <dgm:t>
        <a:bodyPr/>
        <a:lstStyle/>
        <a:p>
          <a:pPr>
            <a:buNone/>
          </a:pPr>
          <a:r>
            <a:rPr lang="en-US" sz="1800" b="0" i="0" u="none"/>
            <a:t>Built Built for stats and data analysis</a:t>
          </a:r>
          <a:endParaRPr lang="en-US" sz="1800" dirty="0"/>
        </a:p>
      </dgm:t>
    </dgm:pt>
    <dgm:pt modelId="{93BB2485-A0B3-0348-A8D4-D88ED3E2068E}" type="parTrans" cxnId="{CE219FBF-F688-8848-8697-C3778FFDB6C7}">
      <dgm:prSet/>
      <dgm:spPr/>
      <dgm:t>
        <a:bodyPr/>
        <a:lstStyle/>
        <a:p>
          <a:endParaRPr lang="en-US" sz="2400"/>
        </a:p>
      </dgm:t>
    </dgm:pt>
    <dgm:pt modelId="{8516EB6F-E143-294F-976F-8FBC9DFB81B7}" type="sibTrans" cxnId="{CE219FBF-F688-8848-8697-C3778FFDB6C7}">
      <dgm:prSet/>
      <dgm:spPr/>
      <dgm:t>
        <a:bodyPr/>
        <a:lstStyle/>
        <a:p>
          <a:endParaRPr lang="en-US" sz="2400"/>
        </a:p>
      </dgm:t>
    </dgm:pt>
    <dgm:pt modelId="{A3DD0EC0-A887-3D42-819E-153422C1BFA9}">
      <dgm:prSet custT="1"/>
      <dgm:spPr/>
      <dgm:t>
        <a:bodyPr/>
        <a:lstStyle/>
        <a:p>
          <a:pPr>
            <a:buNone/>
          </a:pPr>
          <a:r>
            <a:rPr lang="en-US" sz="1800" b="0" i="0" u="none"/>
            <a:t>Clean, beginner-friendly</a:t>
          </a:r>
          <a:endParaRPr lang="en-US" sz="1800"/>
        </a:p>
      </dgm:t>
    </dgm:pt>
    <dgm:pt modelId="{1DC5E325-41A6-AA4F-B56A-AC0201FD3FB5}" type="parTrans" cxnId="{31A49DDA-D6A1-0446-843C-B2E4A68836CB}">
      <dgm:prSet/>
      <dgm:spPr/>
      <dgm:t>
        <a:bodyPr/>
        <a:lstStyle/>
        <a:p>
          <a:endParaRPr lang="en-US" sz="2400"/>
        </a:p>
      </dgm:t>
    </dgm:pt>
    <dgm:pt modelId="{A6E8A800-21B9-2240-A4CF-7393A7FA4CA3}" type="sibTrans" cxnId="{31A49DDA-D6A1-0446-843C-B2E4A68836CB}">
      <dgm:prSet/>
      <dgm:spPr/>
      <dgm:t>
        <a:bodyPr/>
        <a:lstStyle/>
        <a:p>
          <a:endParaRPr lang="en-US" sz="2400"/>
        </a:p>
      </dgm:t>
    </dgm:pt>
    <dgm:pt modelId="{46DCEDAB-5260-FA41-8524-89C8FA182F8F}">
      <dgm:prSet custT="1"/>
      <dgm:spPr/>
      <dgm:t>
        <a:bodyPr/>
        <a:lstStyle/>
        <a:p>
          <a:pPr>
            <a:buNone/>
          </a:pPr>
          <a:r>
            <a:rPr lang="en-US" sz="1800" b="0" i="0" u="none" dirty="0"/>
            <a:t>Popular Libraries: pandas, NumPy, scikit-learn, etc.</a:t>
          </a:r>
          <a:endParaRPr lang="en-US" sz="1800" dirty="0"/>
        </a:p>
      </dgm:t>
    </dgm:pt>
    <dgm:pt modelId="{E867F7C4-7D33-CD46-B839-2EE5E7ADB235}" type="parTrans" cxnId="{8959DA44-72F6-F141-8304-BFF198C69BF0}">
      <dgm:prSet/>
      <dgm:spPr/>
      <dgm:t>
        <a:bodyPr/>
        <a:lstStyle/>
        <a:p>
          <a:endParaRPr lang="en-US" sz="2400"/>
        </a:p>
      </dgm:t>
    </dgm:pt>
    <dgm:pt modelId="{233A3FBE-76E8-DC49-BEA7-C43808F373FD}" type="sibTrans" cxnId="{8959DA44-72F6-F141-8304-BFF198C69BF0}">
      <dgm:prSet/>
      <dgm:spPr/>
      <dgm:t>
        <a:bodyPr/>
        <a:lstStyle/>
        <a:p>
          <a:endParaRPr lang="en-US" sz="2400"/>
        </a:p>
      </dgm:t>
    </dgm:pt>
    <dgm:pt modelId="{878183C8-A3D1-8447-8F73-B90A6B3EBCB5}">
      <dgm:prSet custT="1"/>
      <dgm:spPr/>
      <dgm:t>
        <a:bodyPr/>
        <a:lstStyle/>
        <a:p>
          <a:pPr>
            <a:buNone/>
          </a:pPr>
          <a:r>
            <a:rPr lang="en-US" sz="1800" b="0" i="0" u="none" dirty="0"/>
            <a:t>Data science, web, automation</a:t>
          </a:r>
          <a:endParaRPr lang="en-US" sz="1800" dirty="0"/>
        </a:p>
      </dgm:t>
    </dgm:pt>
    <dgm:pt modelId="{09965380-3883-2C48-AAD0-940D1C6FB15A}" type="parTrans" cxnId="{AB98EAEF-E82C-2E42-ACC9-E025FC3FF746}">
      <dgm:prSet/>
      <dgm:spPr/>
      <dgm:t>
        <a:bodyPr/>
        <a:lstStyle/>
        <a:p>
          <a:endParaRPr lang="en-US" sz="2400"/>
        </a:p>
      </dgm:t>
    </dgm:pt>
    <dgm:pt modelId="{204A941F-7C58-FF48-9F24-0F7DCDCE3431}" type="sibTrans" cxnId="{AB98EAEF-E82C-2E42-ACC9-E025FC3FF746}">
      <dgm:prSet/>
      <dgm:spPr/>
      <dgm:t>
        <a:bodyPr/>
        <a:lstStyle/>
        <a:p>
          <a:endParaRPr lang="en-US" sz="2400"/>
        </a:p>
      </dgm:t>
    </dgm:pt>
    <dgm:pt modelId="{E0534F1A-9077-A24F-8C31-FA4B79FA1E6B}">
      <dgm:prSet custT="1"/>
      <dgm:spPr/>
      <dgm:t>
        <a:bodyPr/>
        <a:lstStyle/>
        <a:p>
          <a:pPr>
            <a:buNone/>
          </a:pPr>
          <a:r>
            <a:rPr lang="en-US" sz="1800" b="0" i="0" u="none"/>
            <a:t>Massive, industry-driven</a:t>
          </a:r>
          <a:endParaRPr lang="en-US" sz="1800"/>
        </a:p>
      </dgm:t>
    </dgm:pt>
    <dgm:pt modelId="{0BB1D6FF-7E0E-2749-968E-3B8EA785E2AD}" type="parTrans" cxnId="{EE7FC920-6D08-514D-A48A-D156B4B56119}">
      <dgm:prSet/>
      <dgm:spPr/>
      <dgm:t>
        <a:bodyPr/>
        <a:lstStyle/>
        <a:p>
          <a:endParaRPr lang="en-US" sz="2400"/>
        </a:p>
      </dgm:t>
    </dgm:pt>
    <dgm:pt modelId="{AD719F3B-E8CF-5F4D-B054-63BD6A4FD8B7}" type="sibTrans" cxnId="{EE7FC920-6D08-514D-A48A-D156B4B56119}">
      <dgm:prSet/>
      <dgm:spPr/>
      <dgm:t>
        <a:bodyPr/>
        <a:lstStyle/>
        <a:p>
          <a:endParaRPr lang="en-US" sz="2400"/>
        </a:p>
      </dgm:t>
    </dgm:pt>
    <dgm:pt modelId="{1FA34DA0-89CD-FB49-A325-099A44C4FD6F}">
      <dgm:prSet custT="1"/>
      <dgm:spPr/>
      <dgm:t>
        <a:bodyPr/>
        <a:lstStyle/>
        <a:p>
          <a:pPr>
            <a:buNone/>
          </a:pPr>
          <a:r>
            <a:rPr lang="en-US" sz="1800" b="0" i="0" u="none" dirty="0"/>
            <a:t>Easy with production systems</a:t>
          </a:r>
          <a:endParaRPr lang="en-US" sz="1800" dirty="0"/>
        </a:p>
      </dgm:t>
    </dgm:pt>
    <dgm:pt modelId="{C26D872C-443F-3C44-AA3B-75224663CFE4}" type="parTrans" cxnId="{616D4547-BAA6-0C45-98DF-7A50D4C43357}">
      <dgm:prSet/>
      <dgm:spPr/>
      <dgm:t>
        <a:bodyPr/>
        <a:lstStyle/>
        <a:p>
          <a:endParaRPr lang="en-US" sz="2400"/>
        </a:p>
      </dgm:t>
    </dgm:pt>
    <dgm:pt modelId="{F65C3AEF-A706-AD4D-B8F3-B10512447EE4}" type="sibTrans" cxnId="{616D4547-BAA6-0C45-98DF-7A50D4C43357}">
      <dgm:prSet/>
      <dgm:spPr/>
      <dgm:t>
        <a:bodyPr/>
        <a:lstStyle/>
        <a:p>
          <a:endParaRPr lang="en-US" sz="2400"/>
        </a:p>
      </dgm:t>
    </dgm:pt>
    <dgm:pt modelId="{333CCB4B-4296-F646-9313-69B49B7AFD61}">
      <dgm:prSet custT="1"/>
      <dgm:spPr/>
      <dgm:t>
        <a:bodyPr/>
        <a:lstStyle/>
        <a:p>
          <a:pPr>
            <a:buNone/>
          </a:pPr>
          <a:r>
            <a:rPr lang="en-US" sz="1800" b="0" i="0" u="none" dirty="0"/>
            <a:t>Less intuitive, uses &lt;-</a:t>
          </a:r>
          <a:endParaRPr lang="en-US" sz="1800" dirty="0"/>
        </a:p>
      </dgm:t>
    </dgm:pt>
    <dgm:pt modelId="{FF91B64B-134C-4C49-916A-F454B3DA632A}" type="parTrans" cxnId="{7AC35C3C-4B1F-A84C-92DD-33E4854E6418}">
      <dgm:prSet/>
      <dgm:spPr/>
      <dgm:t>
        <a:bodyPr/>
        <a:lstStyle/>
        <a:p>
          <a:endParaRPr lang="en-US" sz="2400"/>
        </a:p>
      </dgm:t>
    </dgm:pt>
    <dgm:pt modelId="{28F042B4-13A0-9E46-9BFC-2B880BDDBC28}" type="sibTrans" cxnId="{7AC35C3C-4B1F-A84C-92DD-33E4854E6418}">
      <dgm:prSet/>
      <dgm:spPr/>
      <dgm:t>
        <a:bodyPr/>
        <a:lstStyle/>
        <a:p>
          <a:endParaRPr lang="en-US" sz="2400"/>
        </a:p>
      </dgm:t>
    </dgm:pt>
    <dgm:pt modelId="{CBE9C108-00D2-3448-BC06-7392BE5BA1BB}">
      <dgm:prSet custT="1"/>
      <dgm:spPr/>
      <dgm:t>
        <a:bodyPr/>
        <a:lstStyle/>
        <a:p>
          <a:pPr>
            <a:buNone/>
          </a:pPr>
          <a:r>
            <a:rPr lang="en-US" sz="1800" b="0" i="0" u="none" dirty="0"/>
            <a:t>Popular Libraries: ggplot2, </a:t>
          </a:r>
          <a:r>
            <a:rPr lang="en-US" sz="1800" b="0" i="0" u="none" dirty="0" err="1"/>
            <a:t>dplyr</a:t>
          </a:r>
          <a:r>
            <a:rPr lang="en-US" sz="1800" b="0" i="0" u="none" dirty="0"/>
            <a:t>, caret, etc.</a:t>
          </a:r>
          <a:endParaRPr lang="en-US" sz="1800" dirty="0"/>
        </a:p>
      </dgm:t>
    </dgm:pt>
    <dgm:pt modelId="{74733ECB-E920-2947-85A9-392F2EAC0FBC}" type="parTrans" cxnId="{87DC4CF6-8341-F04A-A011-C0EEBD6CD83B}">
      <dgm:prSet/>
      <dgm:spPr/>
      <dgm:t>
        <a:bodyPr/>
        <a:lstStyle/>
        <a:p>
          <a:endParaRPr lang="en-US" sz="2400"/>
        </a:p>
      </dgm:t>
    </dgm:pt>
    <dgm:pt modelId="{7BA50D88-E5A2-5B4E-BCAF-136655FD67CD}" type="sibTrans" cxnId="{87DC4CF6-8341-F04A-A011-C0EEBD6CD83B}">
      <dgm:prSet/>
      <dgm:spPr/>
      <dgm:t>
        <a:bodyPr/>
        <a:lstStyle/>
        <a:p>
          <a:endParaRPr lang="en-US" sz="2400"/>
        </a:p>
      </dgm:t>
    </dgm:pt>
    <dgm:pt modelId="{97D78AF8-B31D-7B47-B9A6-018E38D8E02C}">
      <dgm:prSet custT="1"/>
      <dgm:spPr/>
      <dgm:t>
        <a:bodyPr/>
        <a:lstStyle/>
        <a:p>
          <a:pPr>
            <a:buNone/>
          </a:pPr>
          <a:r>
            <a:rPr lang="en-US" sz="1800" b="0" i="0" u="none" dirty="0"/>
            <a:t>Statistical analysis, research</a:t>
          </a:r>
          <a:endParaRPr lang="en-US" sz="1800" dirty="0"/>
        </a:p>
      </dgm:t>
    </dgm:pt>
    <dgm:pt modelId="{FDB23B47-BCF7-FA4C-B43F-4E587503414C}" type="parTrans" cxnId="{91BC2BFB-F443-5446-B44D-B09E71D980CF}">
      <dgm:prSet/>
      <dgm:spPr/>
      <dgm:t>
        <a:bodyPr/>
        <a:lstStyle/>
        <a:p>
          <a:endParaRPr lang="en-US" sz="2400"/>
        </a:p>
      </dgm:t>
    </dgm:pt>
    <dgm:pt modelId="{A2765F48-6374-A847-8D99-EBC0337CA8DB}" type="sibTrans" cxnId="{91BC2BFB-F443-5446-B44D-B09E71D980CF}">
      <dgm:prSet/>
      <dgm:spPr/>
      <dgm:t>
        <a:bodyPr/>
        <a:lstStyle/>
        <a:p>
          <a:endParaRPr lang="en-US" sz="2400"/>
        </a:p>
      </dgm:t>
    </dgm:pt>
    <dgm:pt modelId="{1CAF85BE-620A-894D-A54B-47DF81137E19}">
      <dgm:prSet custT="1"/>
      <dgm:spPr/>
      <dgm:t>
        <a:bodyPr/>
        <a:lstStyle/>
        <a:p>
          <a:pPr>
            <a:buNone/>
          </a:pPr>
          <a:r>
            <a:rPr lang="en-US" sz="1800" b="0" i="0" u="none"/>
            <a:t>Strong academic base</a:t>
          </a:r>
          <a:endParaRPr lang="en-US" sz="1800"/>
        </a:p>
      </dgm:t>
    </dgm:pt>
    <dgm:pt modelId="{6595B56D-9448-CF4F-A380-4DA4F72A45D3}" type="parTrans" cxnId="{55ACD17C-A009-6A4C-96A2-AC1C4018BC07}">
      <dgm:prSet/>
      <dgm:spPr/>
      <dgm:t>
        <a:bodyPr/>
        <a:lstStyle/>
        <a:p>
          <a:endParaRPr lang="en-US" sz="2400"/>
        </a:p>
      </dgm:t>
    </dgm:pt>
    <dgm:pt modelId="{1DFAC978-9146-3047-BAC8-64E919C28456}" type="sibTrans" cxnId="{55ACD17C-A009-6A4C-96A2-AC1C4018BC07}">
      <dgm:prSet/>
      <dgm:spPr/>
      <dgm:t>
        <a:bodyPr/>
        <a:lstStyle/>
        <a:p>
          <a:endParaRPr lang="en-US" sz="2400"/>
        </a:p>
      </dgm:t>
    </dgm:pt>
    <dgm:pt modelId="{D0113958-BE7C-6440-9D1C-9029038E8985}">
      <dgm:prSet custT="1"/>
      <dgm:spPr/>
      <dgm:t>
        <a:bodyPr/>
        <a:lstStyle/>
        <a:p>
          <a:pPr>
            <a:buNone/>
          </a:pPr>
          <a:r>
            <a:rPr lang="en-US" sz="1800" b="0" i="0" u="none" dirty="0"/>
            <a:t>Less common in production</a:t>
          </a:r>
          <a:endParaRPr lang="en-US" sz="1800" dirty="0"/>
        </a:p>
      </dgm:t>
    </dgm:pt>
    <dgm:pt modelId="{553EDAE1-58D5-0E41-A505-EBDA48DE735D}" type="parTrans" cxnId="{D2A15450-E954-4949-86D7-BC5D62A48982}">
      <dgm:prSet/>
      <dgm:spPr/>
      <dgm:t>
        <a:bodyPr/>
        <a:lstStyle/>
        <a:p>
          <a:endParaRPr lang="en-US" sz="2400"/>
        </a:p>
      </dgm:t>
    </dgm:pt>
    <dgm:pt modelId="{9C72FCAD-1E40-304D-9C9C-D48791F2668D}" type="sibTrans" cxnId="{D2A15450-E954-4949-86D7-BC5D62A48982}">
      <dgm:prSet/>
      <dgm:spPr/>
      <dgm:t>
        <a:bodyPr/>
        <a:lstStyle/>
        <a:p>
          <a:endParaRPr lang="en-US" sz="2400"/>
        </a:p>
      </dgm:t>
    </dgm:pt>
    <dgm:pt modelId="{26E751D0-198D-5E4F-94FC-A22CBFC1B6E8}" type="pres">
      <dgm:prSet presAssocID="{60E2EA5E-2197-9B41-935E-05F1870D1A56}" presName="layout" presStyleCnt="0">
        <dgm:presLayoutVars>
          <dgm:chMax/>
          <dgm:chPref/>
          <dgm:dir/>
          <dgm:resizeHandles/>
        </dgm:presLayoutVars>
      </dgm:prSet>
      <dgm:spPr/>
    </dgm:pt>
    <dgm:pt modelId="{F5A55CEF-AFD6-204A-8C5B-C95AB2D95C60}" type="pres">
      <dgm:prSet presAssocID="{8EED5F24-90DD-6144-85D6-2E9C630E959F}" presName="root" presStyleCnt="0">
        <dgm:presLayoutVars>
          <dgm:chMax/>
          <dgm:chPref/>
        </dgm:presLayoutVars>
      </dgm:prSet>
      <dgm:spPr/>
    </dgm:pt>
    <dgm:pt modelId="{6389748E-E7A5-914F-A95D-1A8E74C31649}" type="pres">
      <dgm:prSet presAssocID="{8EED5F24-90DD-6144-85D6-2E9C630E959F}" presName="rootComposite" presStyleCnt="0">
        <dgm:presLayoutVars/>
      </dgm:prSet>
      <dgm:spPr/>
    </dgm:pt>
    <dgm:pt modelId="{F38EB660-0C4E-C140-8268-6D4070BDEEFD}" type="pres">
      <dgm:prSet presAssocID="{8EED5F24-90DD-6144-85D6-2E9C630E959F}" presName="ParentAccent" presStyleLbl="alignNode1" presStyleIdx="0" presStyleCnt="2"/>
      <dgm:spPr/>
    </dgm:pt>
    <dgm:pt modelId="{63FAB6A0-3FB4-364B-8B9C-66E7AF195605}" type="pres">
      <dgm:prSet presAssocID="{8EED5F24-90DD-6144-85D6-2E9C630E959F}" presName="ParentSmallAccent" presStyleLbl="fgAcc1" presStyleIdx="0" presStyleCnt="2"/>
      <dgm:spPr/>
    </dgm:pt>
    <dgm:pt modelId="{53C7FA9C-5599-9E42-84C2-5D26E86141F2}" type="pres">
      <dgm:prSet presAssocID="{8EED5F24-90DD-6144-85D6-2E9C630E959F}" presName="Parent" presStyleLbl="revTx" presStyleIdx="0" presStyleCnt="14">
        <dgm:presLayoutVars>
          <dgm:chMax/>
          <dgm:chPref val="4"/>
          <dgm:bulletEnabled val="1"/>
        </dgm:presLayoutVars>
      </dgm:prSet>
      <dgm:spPr/>
    </dgm:pt>
    <dgm:pt modelId="{889963EF-4436-A04E-82B0-CDF5453FE80C}" type="pres">
      <dgm:prSet presAssocID="{8EED5F24-90DD-6144-85D6-2E9C630E959F}" presName="childShape" presStyleCnt="0">
        <dgm:presLayoutVars>
          <dgm:chMax val="0"/>
          <dgm:chPref val="0"/>
        </dgm:presLayoutVars>
      </dgm:prSet>
      <dgm:spPr/>
    </dgm:pt>
    <dgm:pt modelId="{369F551C-0F25-D249-B729-FB5706DBE7D3}" type="pres">
      <dgm:prSet presAssocID="{DA446D87-4C05-C943-B2C6-5D0594AD3D05}" presName="childComposite" presStyleCnt="0">
        <dgm:presLayoutVars>
          <dgm:chMax val="0"/>
          <dgm:chPref val="0"/>
        </dgm:presLayoutVars>
      </dgm:prSet>
      <dgm:spPr/>
    </dgm:pt>
    <dgm:pt modelId="{9CE16D2B-C9C7-4A4A-954E-A831AE4163E0}" type="pres">
      <dgm:prSet presAssocID="{DA446D87-4C05-C943-B2C6-5D0594AD3D05}" presName="ChildAccent" presStyleLbl="solidFgAcc1" presStyleIdx="0" presStyleCnt="12"/>
      <dgm:spPr/>
    </dgm:pt>
    <dgm:pt modelId="{2D9B4B32-A284-D048-8B66-470F71401542}" type="pres">
      <dgm:prSet presAssocID="{DA446D87-4C05-C943-B2C6-5D0594AD3D05}" presName="Child" presStyleLbl="revTx" presStyleIdx="1" presStyleCnt="14">
        <dgm:presLayoutVars>
          <dgm:chMax val="0"/>
          <dgm:chPref val="0"/>
          <dgm:bulletEnabled val="1"/>
        </dgm:presLayoutVars>
      </dgm:prSet>
      <dgm:spPr/>
    </dgm:pt>
    <dgm:pt modelId="{ED6F8242-4154-A248-A1CD-4F7E757583F4}" type="pres">
      <dgm:prSet presAssocID="{A3DD0EC0-A887-3D42-819E-153422C1BFA9}" presName="childComposite" presStyleCnt="0">
        <dgm:presLayoutVars>
          <dgm:chMax val="0"/>
          <dgm:chPref val="0"/>
        </dgm:presLayoutVars>
      </dgm:prSet>
      <dgm:spPr/>
    </dgm:pt>
    <dgm:pt modelId="{BBFB03A5-B0ED-E947-8438-296637C6E7EE}" type="pres">
      <dgm:prSet presAssocID="{A3DD0EC0-A887-3D42-819E-153422C1BFA9}" presName="ChildAccent" presStyleLbl="solidFgAcc1" presStyleIdx="1" presStyleCnt="12"/>
      <dgm:spPr/>
    </dgm:pt>
    <dgm:pt modelId="{23DB3409-E850-7D4D-896A-CC8010BCC0C9}" type="pres">
      <dgm:prSet presAssocID="{A3DD0EC0-A887-3D42-819E-153422C1BFA9}" presName="Child" presStyleLbl="revTx" presStyleIdx="2" presStyleCnt="14">
        <dgm:presLayoutVars>
          <dgm:chMax val="0"/>
          <dgm:chPref val="0"/>
          <dgm:bulletEnabled val="1"/>
        </dgm:presLayoutVars>
      </dgm:prSet>
      <dgm:spPr/>
    </dgm:pt>
    <dgm:pt modelId="{7E14B4E6-55FC-5540-86D3-68EE14348649}" type="pres">
      <dgm:prSet presAssocID="{46DCEDAB-5260-FA41-8524-89C8FA182F8F}" presName="childComposite" presStyleCnt="0">
        <dgm:presLayoutVars>
          <dgm:chMax val="0"/>
          <dgm:chPref val="0"/>
        </dgm:presLayoutVars>
      </dgm:prSet>
      <dgm:spPr/>
    </dgm:pt>
    <dgm:pt modelId="{6503A0BE-0CC6-6C44-9275-490A32623529}" type="pres">
      <dgm:prSet presAssocID="{46DCEDAB-5260-FA41-8524-89C8FA182F8F}" presName="ChildAccent" presStyleLbl="solidFgAcc1" presStyleIdx="2" presStyleCnt="12"/>
      <dgm:spPr/>
    </dgm:pt>
    <dgm:pt modelId="{FD69B5C6-74D2-F044-8D42-8FC000B11866}" type="pres">
      <dgm:prSet presAssocID="{46DCEDAB-5260-FA41-8524-89C8FA182F8F}" presName="Child" presStyleLbl="revTx" presStyleIdx="3" presStyleCnt="14">
        <dgm:presLayoutVars>
          <dgm:chMax val="0"/>
          <dgm:chPref val="0"/>
          <dgm:bulletEnabled val="1"/>
        </dgm:presLayoutVars>
      </dgm:prSet>
      <dgm:spPr/>
    </dgm:pt>
    <dgm:pt modelId="{AEF37195-D442-7C46-8030-A7A9BD33E5C5}" type="pres">
      <dgm:prSet presAssocID="{878183C8-A3D1-8447-8F73-B90A6B3EBCB5}" presName="childComposite" presStyleCnt="0">
        <dgm:presLayoutVars>
          <dgm:chMax val="0"/>
          <dgm:chPref val="0"/>
        </dgm:presLayoutVars>
      </dgm:prSet>
      <dgm:spPr/>
    </dgm:pt>
    <dgm:pt modelId="{3915483F-DAB3-3D4E-BC48-D812203FE265}" type="pres">
      <dgm:prSet presAssocID="{878183C8-A3D1-8447-8F73-B90A6B3EBCB5}" presName="ChildAccent" presStyleLbl="solidFgAcc1" presStyleIdx="3" presStyleCnt="12"/>
      <dgm:spPr/>
    </dgm:pt>
    <dgm:pt modelId="{E6FA851E-A40C-4E4C-9828-7296C55EB92C}" type="pres">
      <dgm:prSet presAssocID="{878183C8-A3D1-8447-8F73-B90A6B3EBCB5}" presName="Child" presStyleLbl="revTx" presStyleIdx="4" presStyleCnt="14">
        <dgm:presLayoutVars>
          <dgm:chMax val="0"/>
          <dgm:chPref val="0"/>
          <dgm:bulletEnabled val="1"/>
        </dgm:presLayoutVars>
      </dgm:prSet>
      <dgm:spPr/>
    </dgm:pt>
    <dgm:pt modelId="{A6F34ACE-9762-CE43-8166-859DF8F9F505}" type="pres">
      <dgm:prSet presAssocID="{E0534F1A-9077-A24F-8C31-FA4B79FA1E6B}" presName="childComposite" presStyleCnt="0">
        <dgm:presLayoutVars>
          <dgm:chMax val="0"/>
          <dgm:chPref val="0"/>
        </dgm:presLayoutVars>
      </dgm:prSet>
      <dgm:spPr/>
    </dgm:pt>
    <dgm:pt modelId="{CA6FA826-907F-624A-8875-F0E7099DA67C}" type="pres">
      <dgm:prSet presAssocID="{E0534F1A-9077-A24F-8C31-FA4B79FA1E6B}" presName="ChildAccent" presStyleLbl="solidFgAcc1" presStyleIdx="4" presStyleCnt="12"/>
      <dgm:spPr/>
    </dgm:pt>
    <dgm:pt modelId="{7B73F250-E717-A144-9562-88FDC0ADE286}" type="pres">
      <dgm:prSet presAssocID="{E0534F1A-9077-A24F-8C31-FA4B79FA1E6B}" presName="Child" presStyleLbl="revTx" presStyleIdx="5" presStyleCnt="14">
        <dgm:presLayoutVars>
          <dgm:chMax val="0"/>
          <dgm:chPref val="0"/>
          <dgm:bulletEnabled val="1"/>
        </dgm:presLayoutVars>
      </dgm:prSet>
      <dgm:spPr/>
    </dgm:pt>
    <dgm:pt modelId="{0ED6D1F0-DE32-3F4A-8E83-17C14C33061B}" type="pres">
      <dgm:prSet presAssocID="{1FA34DA0-89CD-FB49-A325-099A44C4FD6F}" presName="childComposite" presStyleCnt="0">
        <dgm:presLayoutVars>
          <dgm:chMax val="0"/>
          <dgm:chPref val="0"/>
        </dgm:presLayoutVars>
      </dgm:prSet>
      <dgm:spPr/>
    </dgm:pt>
    <dgm:pt modelId="{98C76FE4-1757-2546-844F-DE6B6ED83E39}" type="pres">
      <dgm:prSet presAssocID="{1FA34DA0-89CD-FB49-A325-099A44C4FD6F}" presName="ChildAccent" presStyleLbl="solidFgAcc1" presStyleIdx="5" presStyleCnt="12"/>
      <dgm:spPr/>
    </dgm:pt>
    <dgm:pt modelId="{41A40678-60A2-EA4F-8E11-78C0B8A67629}" type="pres">
      <dgm:prSet presAssocID="{1FA34DA0-89CD-FB49-A325-099A44C4FD6F}" presName="Child" presStyleLbl="revTx" presStyleIdx="6" presStyleCnt="14">
        <dgm:presLayoutVars>
          <dgm:chMax val="0"/>
          <dgm:chPref val="0"/>
          <dgm:bulletEnabled val="1"/>
        </dgm:presLayoutVars>
      </dgm:prSet>
      <dgm:spPr/>
    </dgm:pt>
    <dgm:pt modelId="{DF90ABDA-3D11-2B45-A1C4-142FA2792E1A}" type="pres">
      <dgm:prSet presAssocID="{4157369C-D4C5-9041-991D-7DB8B30C3B3F}" presName="root" presStyleCnt="0">
        <dgm:presLayoutVars>
          <dgm:chMax/>
          <dgm:chPref/>
        </dgm:presLayoutVars>
      </dgm:prSet>
      <dgm:spPr/>
    </dgm:pt>
    <dgm:pt modelId="{9E113A2A-9AAA-0D47-B79A-B7D3B5241539}" type="pres">
      <dgm:prSet presAssocID="{4157369C-D4C5-9041-991D-7DB8B30C3B3F}" presName="rootComposite" presStyleCnt="0">
        <dgm:presLayoutVars/>
      </dgm:prSet>
      <dgm:spPr/>
    </dgm:pt>
    <dgm:pt modelId="{9DD724E8-9E80-834F-AB5D-A41AD52E92BA}" type="pres">
      <dgm:prSet presAssocID="{4157369C-D4C5-9041-991D-7DB8B30C3B3F}" presName="ParentAccent" presStyleLbl="alignNode1" presStyleIdx="1" presStyleCnt="2"/>
      <dgm:spPr/>
    </dgm:pt>
    <dgm:pt modelId="{0B016991-5AFE-9742-B792-C59BE581EBCD}" type="pres">
      <dgm:prSet presAssocID="{4157369C-D4C5-9041-991D-7DB8B30C3B3F}" presName="ParentSmallAccent" presStyleLbl="fgAcc1" presStyleIdx="1" presStyleCnt="2"/>
      <dgm:spPr/>
    </dgm:pt>
    <dgm:pt modelId="{2099C231-DEFB-9749-9DEC-048335DC929E}" type="pres">
      <dgm:prSet presAssocID="{4157369C-D4C5-9041-991D-7DB8B30C3B3F}" presName="Parent" presStyleLbl="revTx" presStyleIdx="7" presStyleCnt="14">
        <dgm:presLayoutVars>
          <dgm:chMax/>
          <dgm:chPref val="4"/>
          <dgm:bulletEnabled val="1"/>
        </dgm:presLayoutVars>
      </dgm:prSet>
      <dgm:spPr/>
    </dgm:pt>
    <dgm:pt modelId="{7986EAFD-1817-4B40-BB11-65A3A21AF1E7}" type="pres">
      <dgm:prSet presAssocID="{4157369C-D4C5-9041-991D-7DB8B30C3B3F}" presName="childShape" presStyleCnt="0">
        <dgm:presLayoutVars>
          <dgm:chMax val="0"/>
          <dgm:chPref val="0"/>
        </dgm:presLayoutVars>
      </dgm:prSet>
      <dgm:spPr/>
    </dgm:pt>
    <dgm:pt modelId="{D69CA312-AE33-0E41-A72F-3541707D6F3C}" type="pres">
      <dgm:prSet presAssocID="{2AB4BA53-8049-FF4B-A7A1-82212FA6660B}" presName="childComposite" presStyleCnt="0">
        <dgm:presLayoutVars>
          <dgm:chMax val="0"/>
          <dgm:chPref val="0"/>
        </dgm:presLayoutVars>
      </dgm:prSet>
      <dgm:spPr/>
    </dgm:pt>
    <dgm:pt modelId="{091734EC-821A-C64B-93BE-2E2381D629FA}" type="pres">
      <dgm:prSet presAssocID="{2AB4BA53-8049-FF4B-A7A1-82212FA6660B}" presName="ChildAccent" presStyleLbl="solidFgAcc1" presStyleIdx="6" presStyleCnt="12"/>
      <dgm:spPr/>
    </dgm:pt>
    <dgm:pt modelId="{720B1C21-D5F2-7842-8EB2-37BA386F70CC}" type="pres">
      <dgm:prSet presAssocID="{2AB4BA53-8049-FF4B-A7A1-82212FA6660B}" presName="Child" presStyleLbl="revTx" presStyleIdx="8" presStyleCnt="14">
        <dgm:presLayoutVars>
          <dgm:chMax val="0"/>
          <dgm:chPref val="0"/>
          <dgm:bulletEnabled val="1"/>
        </dgm:presLayoutVars>
      </dgm:prSet>
      <dgm:spPr/>
    </dgm:pt>
    <dgm:pt modelId="{40E070C3-CAE7-8948-A2C4-E5DEDDD91F52}" type="pres">
      <dgm:prSet presAssocID="{333CCB4B-4296-F646-9313-69B49B7AFD61}" presName="childComposite" presStyleCnt="0">
        <dgm:presLayoutVars>
          <dgm:chMax val="0"/>
          <dgm:chPref val="0"/>
        </dgm:presLayoutVars>
      </dgm:prSet>
      <dgm:spPr/>
    </dgm:pt>
    <dgm:pt modelId="{B7DACAA4-399F-F940-8138-4CB0C1804C0E}" type="pres">
      <dgm:prSet presAssocID="{333CCB4B-4296-F646-9313-69B49B7AFD61}" presName="ChildAccent" presStyleLbl="solidFgAcc1" presStyleIdx="7" presStyleCnt="12"/>
      <dgm:spPr/>
    </dgm:pt>
    <dgm:pt modelId="{FB944875-481B-E649-B5E1-6048FC7C3BFD}" type="pres">
      <dgm:prSet presAssocID="{333CCB4B-4296-F646-9313-69B49B7AFD61}" presName="Child" presStyleLbl="revTx" presStyleIdx="9" presStyleCnt="14">
        <dgm:presLayoutVars>
          <dgm:chMax val="0"/>
          <dgm:chPref val="0"/>
          <dgm:bulletEnabled val="1"/>
        </dgm:presLayoutVars>
      </dgm:prSet>
      <dgm:spPr/>
    </dgm:pt>
    <dgm:pt modelId="{5E1CAD30-80BF-6045-ACDC-27944A4AFB5D}" type="pres">
      <dgm:prSet presAssocID="{CBE9C108-00D2-3448-BC06-7392BE5BA1BB}" presName="childComposite" presStyleCnt="0">
        <dgm:presLayoutVars>
          <dgm:chMax val="0"/>
          <dgm:chPref val="0"/>
        </dgm:presLayoutVars>
      </dgm:prSet>
      <dgm:spPr/>
    </dgm:pt>
    <dgm:pt modelId="{E848E959-51C6-A044-AB7D-B35E91747C3C}" type="pres">
      <dgm:prSet presAssocID="{CBE9C108-00D2-3448-BC06-7392BE5BA1BB}" presName="ChildAccent" presStyleLbl="solidFgAcc1" presStyleIdx="8" presStyleCnt="12"/>
      <dgm:spPr/>
    </dgm:pt>
    <dgm:pt modelId="{8BBCE6C8-4286-564D-BC99-5317D4BB884C}" type="pres">
      <dgm:prSet presAssocID="{CBE9C108-00D2-3448-BC06-7392BE5BA1BB}" presName="Child" presStyleLbl="revTx" presStyleIdx="10" presStyleCnt="14">
        <dgm:presLayoutVars>
          <dgm:chMax val="0"/>
          <dgm:chPref val="0"/>
          <dgm:bulletEnabled val="1"/>
        </dgm:presLayoutVars>
      </dgm:prSet>
      <dgm:spPr/>
    </dgm:pt>
    <dgm:pt modelId="{081658A7-1A72-7640-8A5F-BD9DF787A17C}" type="pres">
      <dgm:prSet presAssocID="{97D78AF8-B31D-7B47-B9A6-018E38D8E02C}" presName="childComposite" presStyleCnt="0">
        <dgm:presLayoutVars>
          <dgm:chMax val="0"/>
          <dgm:chPref val="0"/>
        </dgm:presLayoutVars>
      </dgm:prSet>
      <dgm:spPr/>
    </dgm:pt>
    <dgm:pt modelId="{6C0AB306-7B72-854D-B2DE-2633E7A9D830}" type="pres">
      <dgm:prSet presAssocID="{97D78AF8-B31D-7B47-B9A6-018E38D8E02C}" presName="ChildAccent" presStyleLbl="solidFgAcc1" presStyleIdx="9" presStyleCnt="12"/>
      <dgm:spPr/>
    </dgm:pt>
    <dgm:pt modelId="{FC4BD75B-6E43-2540-BC77-1269ACFB3F46}" type="pres">
      <dgm:prSet presAssocID="{97D78AF8-B31D-7B47-B9A6-018E38D8E02C}" presName="Child" presStyleLbl="revTx" presStyleIdx="11" presStyleCnt="14">
        <dgm:presLayoutVars>
          <dgm:chMax val="0"/>
          <dgm:chPref val="0"/>
          <dgm:bulletEnabled val="1"/>
        </dgm:presLayoutVars>
      </dgm:prSet>
      <dgm:spPr/>
    </dgm:pt>
    <dgm:pt modelId="{01F3ADC9-854F-8D40-9BDF-7F18D499C9A4}" type="pres">
      <dgm:prSet presAssocID="{1CAF85BE-620A-894D-A54B-47DF81137E19}" presName="childComposite" presStyleCnt="0">
        <dgm:presLayoutVars>
          <dgm:chMax val="0"/>
          <dgm:chPref val="0"/>
        </dgm:presLayoutVars>
      </dgm:prSet>
      <dgm:spPr/>
    </dgm:pt>
    <dgm:pt modelId="{1C0CE432-C155-EC40-8B80-6DED4F2D0075}" type="pres">
      <dgm:prSet presAssocID="{1CAF85BE-620A-894D-A54B-47DF81137E19}" presName="ChildAccent" presStyleLbl="solidFgAcc1" presStyleIdx="10" presStyleCnt="12"/>
      <dgm:spPr/>
    </dgm:pt>
    <dgm:pt modelId="{50A93EE1-D0B1-BB4C-A4C0-F2FC03A26BDA}" type="pres">
      <dgm:prSet presAssocID="{1CAF85BE-620A-894D-A54B-47DF81137E19}" presName="Child" presStyleLbl="revTx" presStyleIdx="12" presStyleCnt="14">
        <dgm:presLayoutVars>
          <dgm:chMax val="0"/>
          <dgm:chPref val="0"/>
          <dgm:bulletEnabled val="1"/>
        </dgm:presLayoutVars>
      </dgm:prSet>
      <dgm:spPr/>
    </dgm:pt>
    <dgm:pt modelId="{193179B8-592E-514F-8721-19956AE9AD18}" type="pres">
      <dgm:prSet presAssocID="{D0113958-BE7C-6440-9D1C-9029038E8985}" presName="childComposite" presStyleCnt="0">
        <dgm:presLayoutVars>
          <dgm:chMax val="0"/>
          <dgm:chPref val="0"/>
        </dgm:presLayoutVars>
      </dgm:prSet>
      <dgm:spPr/>
    </dgm:pt>
    <dgm:pt modelId="{F34B0EDE-4FEF-7340-905A-84875E4AF92D}" type="pres">
      <dgm:prSet presAssocID="{D0113958-BE7C-6440-9D1C-9029038E8985}" presName="ChildAccent" presStyleLbl="solidFgAcc1" presStyleIdx="11" presStyleCnt="12"/>
      <dgm:spPr/>
    </dgm:pt>
    <dgm:pt modelId="{E91D142F-3997-3441-B590-8725F6D229B2}" type="pres">
      <dgm:prSet presAssocID="{D0113958-BE7C-6440-9D1C-9029038E8985}" presName="Child" presStyleLbl="revTx" presStyleIdx="13" presStyleCnt="14">
        <dgm:presLayoutVars>
          <dgm:chMax val="0"/>
          <dgm:chPref val="0"/>
          <dgm:bulletEnabled val="1"/>
        </dgm:presLayoutVars>
      </dgm:prSet>
      <dgm:spPr/>
    </dgm:pt>
  </dgm:ptLst>
  <dgm:cxnLst>
    <dgm:cxn modelId="{01409002-A8C4-CF42-8FCC-A745C9AC33F1}" type="presOf" srcId="{A3DD0EC0-A887-3D42-819E-153422C1BFA9}" destId="{23DB3409-E850-7D4D-896A-CC8010BCC0C9}" srcOrd="0" destOrd="0" presId="urn:microsoft.com/office/officeart/2008/layout/SquareAccentList"/>
    <dgm:cxn modelId="{A9762104-D108-2741-A917-748C769FCD2D}" type="presOf" srcId="{1CAF85BE-620A-894D-A54B-47DF81137E19}" destId="{50A93EE1-D0B1-BB4C-A4C0-F2FC03A26BDA}" srcOrd="0" destOrd="0" presId="urn:microsoft.com/office/officeart/2008/layout/SquareAccentList"/>
    <dgm:cxn modelId="{B03BE410-764F-A141-B86F-759537CFD72F}" type="presOf" srcId="{97D78AF8-B31D-7B47-B9A6-018E38D8E02C}" destId="{FC4BD75B-6E43-2540-BC77-1269ACFB3F46}" srcOrd="0" destOrd="0" presId="urn:microsoft.com/office/officeart/2008/layout/SquareAccentList"/>
    <dgm:cxn modelId="{5704B112-F3B0-324B-8F96-AF4BC6360A55}" type="presOf" srcId="{CBE9C108-00D2-3448-BC06-7392BE5BA1BB}" destId="{8BBCE6C8-4286-564D-BC99-5317D4BB884C}" srcOrd="0" destOrd="0" presId="urn:microsoft.com/office/officeart/2008/layout/SquareAccentList"/>
    <dgm:cxn modelId="{EE7FC920-6D08-514D-A48A-D156B4B56119}" srcId="{8EED5F24-90DD-6144-85D6-2E9C630E959F}" destId="{E0534F1A-9077-A24F-8C31-FA4B79FA1E6B}" srcOrd="4" destOrd="0" parTransId="{0BB1D6FF-7E0E-2749-968E-3B8EA785E2AD}" sibTransId="{AD719F3B-E8CF-5F4D-B054-63BD6A4FD8B7}"/>
    <dgm:cxn modelId="{41F5AD37-91B1-B744-9AA4-050DD9614E4B}" type="presOf" srcId="{8EED5F24-90DD-6144-85D6-2E9C630E959F}" destId="{53C7FA9C-5599-9E42-84C2-5D26E86141F2}" srcOrd="0" destOrd="0" presId="urn:microsoft.com/office/officeart/2008/layout/SquareAccentList"/>
    <dgm:cxn modelId="{7AC35C3C-4B1F-A84C-92DD-33E4854E6418}" srcId="{4157369C-D4C5-9041-991D-7DB8B30C3B3F}" destId="{333CCB4B-4296-F646-9313-69B49B7AFD61}" srcOrd="1" destOrd="0" parTransId="{FF91B64B-134C-4C49-916A-F454B3DA632A}" sibTransId="{28F042B4-13A0-9E46-9BFC-2B880BDDBC28}"/>
    <dgm:cxn modelId="{8959DA44-72F6-F141-8304-BFF198C69BF0}" srcId="{8EED5F24-90DD-6144-85D6-2E9C630E959F}" destId="{46DCEDAB-5260-FA41-8524-89C8FA182F8F}" srcOrd="2" destOrd="0" parTransId="{E867F7C4-7D33-CD46-B839-2EE5E7ADB235}" sibTransId="{233A3FBE-76E8-DC49-BEA7-C43808F373FD}"/>
    <dgm:cxn modelId="{616D4547-BAA6-0C45-98DF-7A50D4C43357}" srcId="{8EED5F24-90DD-6144-85D6-2E9C630E959F}" destId="{1FA34DA0-89CD-FB49-A325-099A44C4FD6F}" srcOrd="5" destOrd="0" parTransId="{C26D872C-443F-3C44-AA3B-75224663CFE4}" sibTransId="{F65C3AEF-A706-AD4D-B8F3-B10512447EE4}"/>
    <dgm:cxn modelId="{0FD05868-0882-8348-91BD-09F02FB534A9}" type="presOf" srcId="{4157369C-D4C5-9041-991D-7DB8B30C3B3F}" destId="{2099C231-DEFB-9749-9DEC-048335DC929E}" srcOrd="0" destOrd="0" presId="urn:microsoft.com/office/officeart/2008/layout/SquareAccentList"/>
    <dgm:cxn modelId="{D2A15450-E954-4949-86D7-BC5D62A48982}" srcId="{4157369C-D4C5-9041-991D-7DB8B30C3B3F}" destId="{D0113958-BE7C-6440-9D1C-9029038E8985}" srcOrd="5" destOrd="0" parTransId="{553EDAE1-58D5-0E41-A505-EBDA48DE735D}" sibTransId="{9C72FCAD-1E40-304D-9C9C-D48791F2668D}"/>
    <dgm:cxn modelId="{55ACD17C-A009-6A4C-96A2-AC1C4018BC07}" srcId="{4157369C-D4C5-9041-991D-7DB8B30C3B3F}" destId="{1CAF85BE-620A-894D-A54B-47DF81137E19}" srcOrd="4" destOrd="0" parTransId="{6595B56D-9448-CF4F-A380-4DA4F72A45D3}" sibTransId="{1DFAC978-9146-3047-BAC8-64E919C28456}"/>
    <dgm:cxn modelId="{F3137C83-A48D-B84A-BEA2-A37F4C2B229E}" srcId="{60E2EA5E-2197-9B41-935E-05F1870D1A56}" destId="{8EED5F24-90DD-6144-85D6-2E9C630E959F}" srcOrd="0" destOrd="0" parTransId="{E6C0F6A9-2095-1C46-91E0-C7209DBB5E6B}" sibTransId="{0731E390-2B52-9248-A858-A9C77836B2AF}"/>
    <dgm:cxn modelId="{067A8884-4245-A548-9DC3-F7F0152FB872}" type="presOf" srcId="{1FA34DA0-89CD-FB49-A325-099A44C4FD6F}" destId="{41A40678-60A2-EA4F-8E11-78C0B8A67629}" srcOrd="0" destOrd="0" presId="urn:microsoft.com/office/officeart/2008/layout/SquareAccentList"/>
    <dgm:cxn modelId="{35455C86-4684-7347-8D5D-8E6A072E3EFB}" type="presOf" srcId="{878183C8-A3D1-8447-8F73-B90A6B3EBCB5}" destId="{E6FA851E-A40C-4E4C-9828-7296C55EB92C}" srcOrd="0" destOrd="0" presId="urn:microsoft.com/office/officeart/2008/layout/SquareAccentList"/>
    <dgm:cxn modelId="{752FFB87-4270-114D-9DD5-7E377664F78E}" type="presOf" srcId="{60E2EA5E-2197-9B41-935E-05F1870D1A56}" destId="{26E751D0-198D-5E4F-94FC-A22CBFC1B6E8}" srcOrd="0" destOrd="0" presId="urn:microsoft.com/office/officeart/2008/layout/SquareAccentList"/>
    <dgm:cxn modelId="{13700394-83FA-CA4D-B587-212E85904C55}" type="presOf" srcId="{E0534F1A-9077-A24F-8C31-FA4B79FA1E6B}" destId="{7B73F250-E717-A144-9562-88FDC0ADE286}" srcOrd="0" destOrd="0" presId="urn:microsoft.com/office/officeart/2008/layout/SquareAccentList"/>
    <dgm:cxn modelId="{5301F69D-E308-D747-9E5F-4C5834C8E717}" type="presOf" srcId="{333CCB4B-4296-F646-9313-69B49B7AFD61}" destId="{FB944875-481B-E649-B5E1-6048FC7C3BFD}" srcOrd="0" destOrd="0" presId="urn:microsoft.com/office/officeart/2008/layout/SquareAccentList"/>
    <dgm:cxn modelId="{CE219FBF-F688-8848-8697-C3778FFDB6C7}" srcId="{4157369C-D4C5-9041-991D-7DB8B30C3B3F}" destId="{2AB4BA53-8049-FF4B-A7A1-82212FA6660B}" srcOrd="0" destOrd="0" parTransId="{93BB2485-A0B3-0348-A8D4-D88ED3E2068E}" sibTransId="{8516EB6F-E143-294F-976F-8FBC9DFB81B7}"/>
    <dgm:cxn modelId="{E73938CA-E265-BD46-A334-D1678266BC51}" srcId="{8EED5F24-90DD-6144-85D6-2E9C630E959F}" destId="{DA446D87-4C05-C943-B2C6-5D0594AD3D05}" srcOrd="0" destOrd="0" parTransId="{5FAE185A-7B36-D646-85C7-DE1CDB62F56B}" sibTransId="{B826CF6F-CA55-E342-BA83-1C0602E66F92}"/>
    <dgm:cxn modelId="{13FCC1CA-7375-AA46-B3A6-D6EC356D1EE7}" type="presOf" srcId="{46DCEDAB-5260-FA41-8524-89C8FA182F8F}" destId="{FD69B5C6-74D2-F044-8D42-8FC000B11866}" srcOrd="0" destOrd="0" presId="urn:microsoft.com/office/officeart/2008/layout/SquareAccentList"/>
    <dgm:cxn modelId="{29C591CF-505F-8145-94C7-2BA7A81E6B7A}" type="presOf" srcId="{2AB4BA53-8049-FF4B-A7A1-82212FA6660B}" destId="{720B1C21-D5F2-7842-8EB2-37BA386F70CC}" srcOrd="0" destOrd="0" presId="urn:microsoft.com/office/officeart/2008/layout/SquareAccentList"/>
    <dgm:cxn modelId="{31A49DDA-D6A1-0446-843C-B2E4A68836CB}" srcId="{8EED5F24-90DD-6144-85D6-2E9C630E959F}" destId="{A3DD0EC0-A887-3D42-819E-153422C1BFA9}" srcOrd="1" destOrd="0" parTransId="{1DC5E325-41A6-AA4F-B56A-AC0201FD3FB5}" sibTransId="{A6E8A800-21B9-2240-A4CF-7393A7FA4CA3}"/>
    <dgm:cxn modelId="{A5848FE3-8C75-FF41-AD7E-4FDF66D3CF36}" type="presOf" srcId="{DA446D87-4C05-C943-B2C6-5D0594AD3D05}" destId="{2D9B4B32-A284-D048-8B66-470F71401542}" srcOrd="0" destOrd="0" presId="urn:microsoft.com/office/officeart/2008/layout/SquareAccentList"/>
    <dgm:cxn modelId="{3B5827EE-A624-5947-8882-B832B65B37C6}" type="presOf" srcId="{D0113958-BE7C-6440-9D1C-9029038E8985}" destId="{E91D142F-3997-3441-B590-8725F6D229B2}" srcOrd="0" destOrd="0" presId="urn:microsoft.com/office/officeart/2008/layout/SquareAccentList"/>
    <dgm:cxn modelId="{AB98EAEF-E82C-2E42-ACC9-E025FC3FF746}" srcId="{8EED5F24-90DD-6144-85D6-2E9C630E959F}" destId="{878183C8-A3D1-8447-8F73-B90A6B3EBCB5}" srcOrd="3" destOrd="0" parTransId="{09965380-3883-2C48-AAD0-940D1C6FB15A}" sibTransId="{204A941F-7C58-FF48-9F24-0F7DCDCE3431}"/>
    <dgm:cxn modelId="{87DC4CF6-8341-F04A-A011-C0EEBD6CD83B}" srcId="{4157369C-D4C5-9041-991D-7DB8B30C3B3F}" destId="{CBE9C108-00D2-3448-BC06-7392BE5BA1BB}" srcOrd="2" destOrd="0" parTransId="{74733ECB-E920-2947-85A9-392F2EAC0FBC}" sibTransId="{7BA50D88-E5A2-5B4E-BCAF-136655FD67CD}"/>
    <dgm:cxn modelId="{750DE3F7-50B7-B141-86DE-60D1990145BE}" srcId="{60E2EA5E-2197-9B41-935E-05F1870D1A56}" destId="{4157369C-D4C5-9041-991D-7DB8B30C3B3F}" srcOrd="1" destOrd="0" parTransId="{3F28743E-9BA2-7E4D-B0F6-8A2BA7C594F6}" sibTransId="{DE63E152-411A-F44A-83FA-AF663DD60C5D}"/>
    <dgm:cxn modelId="{91BC2BFB-F443-5446-B44D-B09E71D980CF}" srcId="{4157369C-D4C5-9041-991D-7DB8B30C3B3F}" destId="{97D78AF8-B31D-7B47-B9A6-018E38D8E02C}" srcOrd="3" destOrd="0" parTransId="{FDB23B47-BCF7-FA4C-B43F-4E587503414C}" sibTransId="{A2765F48-6374-A847-8D99-EBC0337CA8DB}"/>
    <dgm:cxn modelId="{174BA6C1-4042-2242-9963-D3B8F6F16757}" type="presParOf" srcId="{26E751D0-198D-5E4F-94FC-A22CBFC1B6E8}" destId="{F5A55CEF-AFD6-204A-8C5B-C95AB2D95C60}" srcOrd="0" destOrd="0" presId="urn:microsoft.com/office/officeart/2008/layout/SquareAccentList"/>
    <dgm:cxn modelId="{86AEAA70-7096-B145-9796-D9E64E5C70A5}" type="presParOf" srcId="{F5A55CEF-AFD6-204A-8C5B-C95AB2D95C60}" destId="{6389748E-E7A5-914F-A95D-1A8E74C31649}" srcOrd="0" destOrd="0" presId="urn:microsoft.com/office/officeart/2008/layout/SquareAccentList"/>
    <dgm:cxn modelId="{2E3FEB34-A066-FA41-ACA6-14CAFF26AFAA}" type="presParOf" srcId="{6389748E-E7A5-914F-A95D-1A8E74C31649}" destId="{F38EB660-0C4E-C140-8268-6D4070BDEEFD}" srcOrd="0" destOrd="0" presId="urn:microsoft.com/office/officeart/2008/layout/SquareAccentList"/>
    <dgm:cxn modelId="{CEED8218-ED4D-364F-A579-15A09B1EA452}" type="presParOf" srcId="{6389748E-E7A5-914F-A95D-1A8E74C31649}" destId="{63FAB6A0-3FB4-364B-8B9C-66E7AF195605}" srcOrd="1" destOrd="0" presId="urn:microsoft.com/office/officeart/2008/layout/SquareAccentList"/>
    <dgm:cxn modelId="{6536CB82-BEB6-4B4E-BE0A-157A73C8582C}" type="presParOf" srcId="{6389748E-E7A5-914F-A95D-1A8E74C31649}" destId="{53C7FA9C-5599-9E42-84C2-5D26E86141F2}" srcOrd="2" destOrd="0" presId="urn:microsoft.com/office/officeart/2008/layout/SquareAccentList"/>
    <dgm:cxn modelId="{9D1840CD-6E76-EE48-8289-24F0DD1F6097}" type="presParOf" srcId="{F5A55CEF-AFD6-204A-8C5B-C95AB2D95C60}" destId="{889963EF-4436-A04E-82B0-CDF5453FE80C}" srcOrd="1" destOrd="0" presId="urn:microsoft.com/office/officeart/2008/layout/SquareAccentList"/>
    <dgm:cxn modelId="{7D75E873-B61C-F84F-A0DA-6D9BFAB0BF01}" type="presParOf" srcId="{889963EF-4436-A04E-82B0-CDF5453FE80C}" destId="{369F551C-0F25-D249-B729-FB5706DBE7D3}" srcOrd="0" destOrd="0" presId="urn:microsoft.com/office/officeart/2008/layout/SquareAccentList"/>
    <dgm:cxn modelId="{CD08B45A-C092-9E49-A6DF-DD3F7B264F9C}" type="presParOf" srcId="{369F551C-0F25-D249-B729-FB5706DBE7D3}" destId="{9CE16D2B-C9C7-4A4A-954E-A831AE4163E0}" srcOrd="0" destOrd="0" presId="urn:microsoft.com/office/officeart/2008/layout/SquareAccentList"/>
    <dgm:cxn modelId="{00E95D24-E784-9A48-8A68-4000D01B5347}" type="presParOf" srcId="{369F551C-0F25-D249-B729-FB5706DBE7D3}" destId="{2D9B4B32-A284-D048-8B66-470F71401542}" srcOrd="1" destOrd="0" presId="urn:microsoft.com/office/officeart/2008/layout/SquareAccentList"/>
    <dgm:cxn modelId="{486D93DF-63C3-F44D-83CF-07EA2DD39973}" type="presParOf" srcId="{889963EF-4436-A04E-82B0-CDF5453FE80C}" destId="{ED6F8242-4154-A248-A1CD-4F7E757583F4}" srcOrd="1" destOrd="0" presId="urn:microsoft.com/office/officeart/2008/layout/SquareAccentList"/>
    <dgm:cxn modelId="{11ADAF0F-7167-EE46-8255-BB7604F1D646}" type="presParOf" srcId="{ED6F8242-4154-A248-A1CD-4F7E757583F4}" destId="{BBFB03A5-B0ED-E947-8438-296637C6E7EE}" srcOrd="0" destOrd="0" presId="urn:microsoft.com/office/officeart/2008/layout/SquareAccentList"/>
    <dgm:cxn modelId="{3FE8A373-1D48-B247-B097-DA847D77C523}" type="presParOf" srcId="{ED6F8242-4154-A248-A1CD-4F7E757583F4}" destId="{23DB3409-E850-7D4D-896A-CC8010BCC0C9}" srcOrd="1" destOrd="0" presId="urn:microsoft.com/office/officeart/2008/layout/SquareAccentList"/>
    <dgm:cxn modelId="{F5D960D8-8FE9-2542-BF98-FEC244DF2F09}" type="presParOf" srcId="{889963EF-4436-A04E-82B0-CDF5453FE80C}" destId="{7E14B4E6-55FC-5540-86D3-68EE14348649}" srcOrd="2" destOrd="0" presId="urn:microsoft.com/office/officeart/2008/layout/SquareAccentList"/>
    <dgm:cxn modelId="{6CF2A558-2933-BB40-A414-D732D8BD61F5}" type="presParOf" srcId="{7E14B4E6-55FC-5540-86D3-68EE14348649}" destId="{6503A0BE-0CC6-6C44-9275-490A32623529}" srcOrd="0" destOrd="0" presId="urn:microsoft.com/office/officeart/2008/layout/SquareAccentList"/>
    <dgm:cxn modelId="{940D212B-09FB-734D-B1D3-749D78194ED7}" type="presParOf" srcId="{7E14B4E6-55FC-5540-86D3-68EE14348649}" destId="{FD69B5C6-74D2-F044-8D42-8FC000B11866}" srcOrd="1" destOrd="0" presId="urn:microsoft.com/office/officeart/2008/layout/SquareAccentList"/>
    <dgm:cxn modelId="{CD025E56-1946-8441-AFE4-D113F1B740B4}" type="presParOf" srcId="{889963EF-4436-A04E-82B0-CDF5453FE80C}" destId="{AEF37195-D442-7C46-8030-A7A9BD33E5C5}" srcOrd="3" destOrd="0" presId="urn:microsoft.com/office/officeart/2008/layout/SquareAccentList"/>
    <dgm:cxn modelId="{20050300-89D0-564D-8051-8F4706C8FD72}" type="presParOf" srcId="{AEF37195-D442-7C46-8030-A7A9BD33E5C5}" destId="{3915483F-DAB3-3D4E-BC48-D812203FE265}" srcOrd="0" destOrd="0" presId="urn:microsoft.com/office/officeart/2008/layout/SquareAccentList"/>
    <dgm:cxn modelId="{AFF7260F-BEDF-9E41-9577-268531917C3E}" type="presParOf" srcId="{AEF37195-D442-7C46-8030-A7A9BD33E5C5}" destId="{E6FA851E-A40C-4E4C-9828-7296C55EB92C}" srcOrd="1" destOrd="0" presId="urn:microsoft.com/office/officeart/2008/layout/SquareAccentList"/>
    <dgm:cxn modelId="{24D8D86D-B6CF-1E4C-8A7D-FAD686715D3A}" type="presParOf" srcId="{889963EF-4436-A04E-82B0-CDF5453FE80C}" destId="{A6F34ACE-9762-CE43-8166-859DF8F9F505}" srcOrd="4" destOrd="0" presId="urn:microsoft.com/office/officeart/2008/layout/SquareAccentList"/>
    <dgm:cxn modelId="{FEAA8EEE-40C1-4F49-9C68-4CB5377015D8}" type="presParOf" srcId="{A6F34ACE-9762-CE43-8166-859DF8F9F505}" destId="{CA6FA826-907F-624A-8875-F0E7099DA67C}" srcOrd="0" destOrd="0" presId="urn:microsoft.com/office/officeart/2008/layout/SquareAccentList"/>
    <dgm:cxn modelId="{90FB346B-F7B9-1E4C-8F5A-E5DFD6510892}" type="presParOf" srcId="{A6F34ACE-9762-CE43-8166-859DF8F9F505}" destId="{7B73F250-E717-A144-9562-88FDC0ADE286}" srcOrd="1" destOrd="0" presId="urn:microsoft.com/office/officeart/2008/layout/SquareAccentList"/>
    <dgm:cxn modelId="{0F5355AD-5667-094C-9F1C-0CBA2EE541BF}" type="presParOf" srcId="{889963EF-4436-A04E-82B0-CDF5453FE80C}" destId="{0ED6D1F0-DE32-3F4A-8E83-17C14C33061B}" srcOrd="5" destOrd="0" presId="urn:microsoft.com/office/officeart/2008/layout/SquareAccentList"/>
    <dgm:cxn modelId="{48683D90-106B-BD43-95CD-CF3BBFCC6B3A}" type="presParOf" srcId="{0ED6D1F0-DE32-3F4A-8E83-17C14C33061B}" destId="{98C76FE4-1757-2546-844F-DE6B6ED83E39}" srcOrd="0" destOrd="0" presId="urn:microsoft.com/office/officeart/2008/layout/SquareAccentList"/>
    <dgm:cxn modelId="{EBF9C487-8B5C-6541-9BBF-80689A2BF996}" type="presParOf" srcId="{0ED6D1F0-DE32-3F4A-8E83-17C14C33061B}" destId="{41A40678-60A2-EA4F-8E11-78C0B8A67629}" srcOrd="1" destOrd="0" presId="urn:microsoft.com/office/officeart/2008/layout/SquareAccentList"/>
    <dgm:cxn modelId="{8D3B73EE-435D-4E4C-89A1-E9AFBCABBAE5}" type="presParOf" srcId="{26E751D0-198D-5E4F-94FC-A22CBFC1B6E8}" destId="{DF90ABDA-3D11-2B45-A1C4-142FA2792E1A}" srcOrd="1" destOrd="0" presId="urn:microsoft.com/office/officeart/2008/layout/SquareAccentList"/>
    <dgm:cxn modelId="{C6A6F089-FCC7-2E43-A237-168E45282F60}" type="presParOf" srcId="{DF90ABDA-3D11-2B45-A1C4-142FA2792E1A}" destId="{9E113A2A-9AAA-0D47-B79A-B7D3B5241539}" srcOrd="0" destOrd="0" presId="urn:microsoft.com/office/officeart/2008/layout/SquareAccentList"/>
    <dgm:cxn modelId="{89B38DD1-2BED-7E4E-A51B-E8C9736B4CC9}" type="presParOf" srcId="{9E113A2A-9AAA-0D47-B79A-B7D3B5241539}" destId="{9DD724E8-9E80-834F-AB5D-A41AD52E92BA}" srcOrd="0" destOrd="0" presId="urn:microsoft.com/office/officeart/2008/layout/SquareAccentList"/>
    <dgm:cxn modelId="{965BDFBC-59CF-704B-9AF1-EE812FD599F4}" type="presParOf" srcId="{9E113A2A-9AAA-0D47-B79A-B7D3B5241539}" destId="{0B016991-5AFE-9742-B792-C59BE581EBCD}" srcOrd="1" destOrd="0" presId="urn:microsoft.com/office/officeart/2008/layout/SquareAccentList"/>
    <dgm:cxn modelId="{B25CB85E-38A3-9140-8194-468B7FADEFCC}" type="presParOf" srcId="{9E113A2A-9AAA-0D47-B79A-B7D3B5241539}" destId="{2099C231-DEFB-9749-9DEC-048335DC929E}" srcOrd="2" destOrd="0" presId="urn:microsoft.com/office/officeart/2008/layout/SquareAccentList"/>
    <dgm:cxn modelId="{8CD040F0-4F37-3F41-ACF1-E45B8601BBE1}" type="presParOf" srcId="{DF90ABDA-3D11-2B45-A1C4-142FA2792E1A}" destId="{7986EAFD-1817-4B40-BB11-65A3A21AF1E7}" srcOrd="1" destOrd="0" presId="urn:microsoft.com/office/officeart/2008/layout/SquareAccentList"/>
    <dgm:cxn modelId="{D5031C33-ADA9-844A-AE88-A012269056B7}" type="presParOf" srcId="{7986EAFD-1817-4B40-BB11-65A3A21AF1E7}" destId="{D69CA312-AE33-0E41-A72F-3541707D6F3C}" srcOrd="0" destOrd="0" presId="urn:microsoft.com/office/officeart/2008/layout/SquareAccentList"/>
    <dgm:cxn modelId="{856D3D4E-4796-824C-8404-1E9B71374B31}" type="presParOf" srcId="{D69CA312-AE33-0E41-A72F-3541707D6F3C}" destId="{091734EC-821A-C64B-93BE-2E2381D629FA}" srcOrd="0" destOrd="0" presId="urn:microsoft.com/office/officeart/2008/layout/SquareAccentList"/>
    <dgm:cxn modelId="{F74EA61A-2227-3942-B825-37E37443C06D}" type="presParOf" srcId="{D69CA312-AE33-0E41-A72F-3541707D6F3C}" destId="{720B1C21-D5F2-7842-8EB2-37BA386F70CC}" srcOrd="1" destOrd="0" presId="urn:microsoft.com/office/officeart/2008/layout/SquareAccentList"/>
    <dgm:cxn modelId="{8E74B248-999C-AD46-99AE-37A8C058F038}" type="presParOf" srcId="{7986EAFD-1817-4B40-BB11-65A3A21AF1E7}" destId="{40E070C3-CAE7-8948-A2C4-E5DEDDD91F52}" srcOrd="1" destOrd="0" presId="urn:microsoft.com/office/officeart/2008/layout/SquareAccentList"/>
    <dgm:cxn modelId="{46AF6C11-910F-2B4C-9CD6-D4DC050FA08B}" type="presParOf" srcId="{40E070C3-CAE7-8948-A2C4-E5DEDDD91F52}" destId="{B7DACAA4-399F-F940-8138-4CB0C1804C0E}" srcOrd="0" destOrd="0" presId="urn:microsoft.com/office/officeart/2008/layout/SquareAccentList"/>
    <dgm:cxn modelId="{87A7BC0B-966D-A845-B476-0529CBAE34EF}" type="presParOf" srcId="{40E070C3-CAE7-8948-A2C4-E5DEDDD91F52}" destId="{FB944875-481B-E649-B5E1-6048FC7C3BFD}" srcOrd="1" destOrd="0" presId="urn:microsoft.com/office/officeart/2008/layout/SquareAccentList"/>
    <dgm:cxn modelId="{4CC92E62-6109-E749-9404-2E1F302F8A4E}" type="presParOf" srcId="{7986EAFD-1817-4B40-BB11-65A3A21AF1E7}" destId="{5E1CAD30-80BF-6045-ACDC-27944A4AFB5D}" srcOrd="2" destOrd="0" presId="urn:microsoft.com/office/officeart/2008/layout/SquareAccentList"/>
    <dgm:cxn modelId="{69871B48-BA38-9941-B0C2-E999DBE313F9}" type="presParOf" srcId="{5E1CAD30-80BF-6045-ACDC-27944A4AFB5D}" destId="{E848E959-51C6-A044-AB7D-B35E91747C3C}" srcOrd="0" destOrd="0" presId="urn:microsoft.com/office/officeart/2008/layout/SquareAccentList"/>
    <dgm:cxn modelId="{10CD92B6-4469-944C-97E3-5731BE112EB0}" type="presParOf" srcId="{5E1CAD30-80BF-6045-ACDC-27944A4AFB5D}" destId="{8BBCE6C8-4286-564D-BC99-5317D4BB884C}" srcOrd="1" destOrd="0" presId="urn:microsoft.com/office/officeart/2008/layout/SquareAccentList"/>
    <dgm:cxn modelId="{AFF6FB19-8DFD-5247-9D11-95A06305DADE}" type="presParOf" srcId="{7986EAFD-1817-4B40-BB11-65A3A21AF1E7}" destId="{081658A7-1A72-7640-8A5F-BD9DF787A17C}" srcOrd="3" destOrd="0" presId="urn:microsoft.com/office/officeart/2008/layout/SquareAccentList"/>
    <dgm:cxn modelId="{C6399F80-1474-3F47-ABA9-8668FCD94508}" type="presParOf" srcId="{081658A7-1A72-7640-8A5F-BD9DF787A17C}" destId="{6C0AB306-7B72-854D-B2DE-2633E7A9D830}" srcOrd="0" destOrd="0" presId="urn:microsoft.com/office/officeart/2008/layout/SquareAccentList"/>
    <dgm:cxn modelId="{63B567CD-5F63-3146-BACF-2AC6DE6265AC}" type="presParOf" srcId="{081658A7-1A72-7640-8A5F-BD9DF787A17C}" destId="{FC4BD75B-6E43-2540-BC77-1269ACFB3F46}" srcOrd="1" destOrd="0" presId="urn:microsoft.com/office/officeart/2008/layout/SquareAccentList"/>
    <dgm:cxn modelId="{172611D9-ED33-C642-AFE2-494BD2507C6F}" type="presParOf" srcId="{7986EAFD-1817-4B40-BB11-65A3A21AF1E7}" destId="{01F3ADC9-854F-8D40-9BDF-7F18D499C9A4}" srcOrd="4" destOrd="0" presId="urn:microsoft.com/office/officeart/2008/layout/SquareAccentList"/>
    <dgm:cxn modelId="{5EFE184F-E215-254E-BE56-0E9DF34A4D34}" type="presParOf" srcId="{01F3ADC9-854F-8D40-9BDF-7F18D499C9A4}" destId="{1C0CE432-C155-EC40-8B80-6DED4F2D0075}" srcOrd="0" destOrd="0" presId="urn:microsoft.com/office/officeart/2008/layout/SquareAccentList"/>
    <dgm:cxn modelId="{D9FAFA21-9149-D64F-934B-015174E6A884}" type="presParOf" srcId="{01F3ADC9-854F-8D40-9BDF-7F18D499C9A4}" destId="{50A93EE1-D0B1-BB4C-A4C0-F2FC03A26BDA}" srcOrd="1" destOrd="0" presId="urn:microsoft.com/office/officeart/2008/layout/SquareAccentList"/>
    <dgm:cxn modelId="{05AF3593-88B0-BF4C-A21F-A628296B2DA5}" type="presParOf" srcId="{7986EAFD-1817-4B40-BB11-65A3A21AF1E7}" destId="{193179B8-592E-514F-8721-19956AE9AD18}" srcOrd="5" destOrd="0" presId="urn:microsoft.com/office/officeart/2008/layout/SquareAccentList"/>
    <dgm:cxn modelId="{6BA83314-B79F-854A-8D0D-FC35CA0185F0}" type="presParOf" srcId="{193179B8-592E-514F-8721-19956AE9AD18}" destId="{F34B0EDE-4FEF-7340-905A-84875E4AF92D}" srcOrd="0" destOrd="0" presId="urn:microsoft.com/office/officeart/2008/layout/SquareAccentList"/>
    <dgm:cxn modelId="{CB30D1A9-8CE5-854A-A4CC-CC26D90D42CD}" type="presParOf" srcId="{193179B8-592E-514F-8721-19956AE9AD18}" destId="{E91D142F-3997-3441-B590-8725F6D229B2}" srcOrd="1" destOrd="0" presId="urn:microsoft.com/office/officeart/2008/layout/Square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8EB660-0C4E-C140-8268-6D4070BDEEFD}">
      <dsp:nvSpPr>
        <dsp:cNvPr id="0" name=""/>
        <dsp:cNvSpPr/>
      </dsp:nvSpPr>
      <dsp:spPr>
        <a:xfrm>
          <a:off x="1795229" y="779244"/>
          <a:ext cx="3687099" cy="433776"/>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FAB6A0-3FB4-364B-8B9C-66E7AF195605}">
      <dsp:nvSpPr>
        <dsp:cNvPr id="0" name=""/>
        <dsp:cNvSpPr/>
      </dsp:nvSpPr>
      <dsp:spPr>
        <a:xfrm>
          <a:off x="1795229" y="942153"/>
          <a:ext cx="270867" cy="270867"/>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3C7FA9C-5599-9E42-84C2-5D26E86141F2}">
      <dsp:nvSpPr>
        <dsp:cNvPr id="0" name=""/>
        <dsp:cNvSpPr/>
      </dsp:nvSpPr>
      <dsp:spPr>
        <a:xfrm>
          <a:off x="1795229" y="0"/>
          <a:ext cx="3687099" cy="7792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68580" rIns="102870" bIns="68580" numCol="1" spcCol="1270" anchor="ctr" anchorCtr="0">
          <a:noAutofit/>
        </a:bodyPr>
        <a:lstStyle/>
        <a:p>
          <a:pPr marL="0" lvl="0" indent="0" algn="l" defTabSz="2400300">
            <a:lnSpc>
              <a:spcPct val="90000"/>
            </a:lnSpc>
            <a:spcBef>
              <a:spcPct val="0"/>
            </a:spcBef>
            <a:spcAft>
              <a:spcPct val="35000"/>
            </a:spcAft>
            <a:buNone/>
          </a:pPr>
          <a:endParaRPr lang="en-US" sz="5400" kern="1200" dirty="0"/>
        </a:p>
      </dsp:txBody>
      <dsp:txXfrm>
        <a:off x="1795229" y="0"/>
        <a:ext cx="3687099" cy="779244"/>
      </dsp:txXfrm>
    </dsp:sp>
    <dsp:sp modelId="{9CE16D2B-C9C7-4A4A-954E-A831AE4163E0}">
      <dsp:nvSpPr>
        <dsp:cNvPr id="0" name=""/>
        <dsp:cNvSpPr/>
      </dsp:nvSpPr>
      <dsp:spPr>
        <a:xfrm>
          <a:off x="1795229" y="1573538"/>
          <a:ext cx="270861" cy="270861"/>
        </a:xfrm>
        <a:prstGeom prst="rect">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D9B4B32-A284-D048-8B66-470F71401542}">
      <dsp:nvSpPr>
        <dsp:cNvPr id="0" name=""/>
        <dsp:cNvSpPr/>
      </dsp:nvSpPr>
      <dsp:spPr>
        <a:xfrm>
          <a:off x="2053326" y="1393279"/>
          <a:ext cx="3429002" cy="631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l" defTabSz="800100">
            <a:lnSpc>
              <a:spcPct val="90000"/>
            </a:lnSpc>
            <a:spcBef>
              <a:spcPct val="0"/>
            </a:spcBef>
            <a:spcAft>
              <a:spcPct val="35000"/>
            </a:spcAft>
            <a:buNone/>
          </a:pPr>
          <a:r>
            <a:rPr lang="en-US" sz="1800" b="0" i="0" u="none" kern="1200" dirty="0"/>
            <a:t>General-purpose, widely used beyond data science</a:t>
          </a:r>
          <a:endParaRPr lang="en-US" sz="1800" kern="1200" dirty="0"/>
        </a:p>
      </dsp:txBody>
      <dsp:txXfrm>
        <a:off x="2053326" y="1393279"/>
        <a:ext cx="3429002" cy="631377"/>
      </dsp:txXfrm>
    </dsp:sp>
    <dsp:sp modelId="{BBFB03A5-B0ED-E947-8438-296637C6E7EE}">
      <dsp:nvSpPr>
        <dsp:cNvPr id="0" name=""/>
        <dsp:cNvSpPr/>
      </dsp:nvSpPr>
      <dsp:spPr>
        <a:xfrm>
          <a:off x="1795229" y="2204915"/>
          <a:ext cx="270861" cy="270861"/>
        </a:xfrm>
        <a:prstGeom prst="rect">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3DB3409-E850-7D4D-896A-CC8010BCC0C9}">
      <dsp:nvSpPr>
        <dsp:cNvPr id="0" name=""/>
        <dsp:cNvSpPr/>
      </dsp:nvSpPr>
      <dsp:spPr>
        <a:xfrm>
          <a:off x="2053326" y="2024657"/>
          <a:ext cx="3429002" cy="631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l" defTabSz="800100">
            <a:lnSpc>
              <a:spcPct val="90000"/>
            </a:lnSpc>
            <a:spcBef>
              <a:spcPct val="0"/>
            </a:spcBef>
            <a:spcAft>
              <a:spcPct val="35000"/>
            </a:spcAft>
            <a:buNone/>
          </a:pPr>
          <a:r>
            <a:rPr lang="en-US" sz="1800" b="0" i="0" u="none" kern="1200"/>
            <a:t>Clean, beginner-friendly</a:t>
          </a:r>
          <a:endParaRPr lang="en-US" sz="1800" kern="1200"/>
        </a:p>
      </dsp:txBody>
      <dsp:txXfrm>
        <a:off x="2053326" y="2024657"/>
        <a:ext cx="3429002" cy="631377"/>
      </dsp:txXfrm>
    </dsp:sp>
    <dsp:sp modelId="{6503A0BE-0CC6-6C44-9275-490A32623529}">
      <dsp:nvSpPr>
        <dsp:cNvPr id="0" name=""/>
        <dsp:cNvSpPr/>
      </dsp:nvSpPr>
      <dsp:spPr>
        <a:xfrm>
          <a:off x="1795229" y="2836293"/>
          <a:ext cx="270861" cy="270861"/>
        </a:xfrm>
        <a:prstGeom prst="rect">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D69B5C6-74D2-F044-8D42-8FC000B11866}">
      <dsp:nvSpPr>
        <dsp:cNvPr id="0" name=""/>
        <dsp:cNvSpPr/>
      </dsp:nvSpPr>
      <dsp:spPr>
        <a:xfrm>
          <a:off x="2053326" y="2656035"/>
          <a:ext cx="3429002" cy="631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l" defTabSz="800100">
            <a:lnSpc>
              <a:spcPct val="90000"/>
            </a:lnSpc>
            <a:spcBef>
              <a:spcPct val="0"/>
            </a:spcBef>
            <a:spcAft>
              <a:spcPct val="35000"/>
            </a:spcAft>
            <a:buNone/>
          </a:pPr>
          <a:r>
            <a:rPr lang="en-US" sz="1800" b="0" i="0" u="none" kern="1200" dirty="0"/>
            <a:t>Popular Libraries: pandas, NumPy, scikit-learn, etc.</a:t>
          </a:r>
          <a:endParaRPr lang="en-US" sz="1800" kern="1200" dirty="0"/>
        </a:p>
      </dsp:txBody>
      <dsp:txXfrm>
        <a:off x="2053326" y="2656035"/>
        <a:ext cx="3429002" cy="631377"/>
      </dsp:txXfrm>
    </dsp:sp>
    <dsp:sp modelId="{3915483F-DAB3-3D4E-BC48-D812203FE265}">
      <dsp:nvSpPr>
        <dsp:cNvPr id="0" name=""/>
        <dsp:cNvSpPr/>
      </dsp:nvSpPr>
      <dsp:spPr>
        <a:xfrm>
          <a:off x="1795229" y="3467671"/>
          <a:ext cx="270861" cy="270861"/>
        </a:xfrm>
        <a:prstGeom prst="rect">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6FA851E-A40C-4E4C-9828-7296C55EB92C}">
      <dsp:nvSpPr>
        <dsp:cNvPr id="0" name=""/>
        <dsp:cNvSpPr/>
      </dsp:nvSpPr>
      <dsp:spPr>
        <a:xfrm>
          <a:off x="2053326" y="3287412"/>
          <a:ext cx="3429002" cy="631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l" defTabSz="800100">
            <a:lnSpc>
              <a:spcPct val="90000"/>
            </a:lnSpc>
            <a:spcBef>
              <a:spcPct val="0"/>
            </a:spcBef>
            <a:spcAft>
              <a:spcPct val="35000"/>
            </a:spcAft>
            <a:buNone/>
          </a:pPr>
          <a:r>
            <a:rPr lang="en-US" sz="1800" b="0" i="0" u="none" kern="1200" dirty="0"/>
            <a:t>Data science, web, automation</a:t>
          </a:r>
          <a:endParaRPr lang="en-US" sz="1800" kern="1200" dirty="0"/>
        </a:p>
      </dsp:txBody>
      <dsp:txXfrm>
        <a:off x="2053326" y="3287412"/>
        <a:ext cx="3429002" cy="631377"/>
      </dsp:txXfrm>
    </dsp:sp>
    <dsp:sp modelId="{CA6FA826-907F-624A-8875-F0E7099DA67C}">
      <dsp:nvSpPr>
        <dsp:cNvPr id="0" name=""/>
        <dsp:cNvSpPr/>
      </dsp:nvSpPr>
      <dsp:spPr>
        <a:xfrm>
          <a:off x="1795229" y="4099048"/>
          <a:ext cx="270861" cy="270861"/>
        </a:xfrm>
        <a:prstGeom prst="rect">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B73F250-E717-A144-9562-88FDC0ADE286}">
      <dsp:nvSpPr>
        <dsp:cNvPr id="0" name=""/>
        <dsp:cNvSpPr/>
      </dsp:nvSpPr>
      <dsp:spPr>
        <a:xfrm>
          <a:off x="2053326" y="3918790"/>
          <a:ext cx="3429002" cy="631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l" defTabSz="800100">
            <a:lnSpc>
              <a:spcPct val="90000"/>
            </a:lnSpc>
            <a:spcBef>
              <a:spcPct val="0"/>
            </a:spcBef>
            <a:spcAft>
              <a:spcPct val="35000"/>
            </a:spcAft>
            <a:buNone/>
          </a:pPr>
          <a:r>
            <a:rPr lang="en-US" sz="1800" b="0" i="0" u="none" kern="1200"/>
            <a:t>Massive, industry-driven</a:t>
          </a:r>
          <a:endParaRPr lang="en-US" sz="1800" kern="1200"/>
        </a:p>
      </dsp:txBody>
      <dsp:txXfrm>
        <a:off x="2053326" y="3918790"/>
        <a:ext cx="3429002" cy="631377"/>
      </dsp:txXfrm>
    </dsp:sp>
    <dsp:sp modelId="{98C76FE4-1757-2546-844F-DE6B6ED83E39}">
      <dsp:nvSpPr>
        <dsp:cNvPr id="0" name=""/>
        <dsp:cNvSpPr/>
      </dsp:nvSpPr>
      <dsp:spPr>
        <a:xfrm>
          <a:off x="1795229" y="4730426"/>
          <a:ext cx="270861" cy="270861"/>
        </a:xfrm>
        <a:prstGeom prst="rect">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1A40678-60A2-EA4F-8E11-78C0B8A67629}">
      <dsp:nvSpPr>
        <dsp:cNvPr id="0" name=""/>
        <dsp:cNvSpPr/>
      </dsp:nvSpPr>
      <dsp:spPr>
        <a:xfrm>
          <a:off x="2053326" y="4550168"/>
          <a:ext cx="3429002" cy="631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l" defTabSz="800100">
            <a:lnSpc>
              <a:spcPct val="90000"/>
            </a:lnSpc>
            <a:spcBef>
              <a:spcPct val="0"/>
            </a:spcBef>
            <a:spcAft>
              <a:spcPct val="35000"/>
            </a:spcAft>
            <a:buNone/>
          </a:pPr>
          <a:r>
            <a:rPr lang="en-US" sz="1800" b="0" i="0" u="none" kern="1200" dirty="0"/>
            <a:t>Easy with production systems</a:t>
          </a:r>
          <a:endParaRPr lang="en-US" sz="1800" kern="1200" dirty="0"/>
        </a:p>
      </dsp:txBody>
      <dsp:txXfrm>
        <a:off x="2053326" y="4550168"/>
        <a:ext cx="3429002" cy="631377"/>
      </dsp:txXfrm>
    </dsp:sp>
    <dsp:sp modelId="{9DD724E8-9E80-834F-AB5D-A41AD52E92BA}">
      <dsp:nvSpPr>
        <dsp:cNvPr id="0" name=""/>
        <dsp:cNvSpPr/>
      </dsp:nvSpPr>
      <dsp:spPr>
        <a:xfrm>
          <a:off x="5666683" y="779244"/>
          <a:ext cx="3687099" cy="433776"/>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016991-5AFE-9742-B792-C59BE581EBCD}">
      <dsp:nvSpPr>
        <dsp:cNvPr id="0" name=""/>
        <dsp:cNvSpPr/>
      </dsp:nvSpPr>
      <dsp:spPr>
        <a:xfrm>
          <a:off x="5666683" y="942153"/>
          <a:ext cx="270867" cy="270867"/>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99C231-DEFB-9749-9DEC-048335DC929E}">
      <dsp:nvSpPr>
        <dsp:cNvPr id="0" name=""/>
        <dsp:cNvSpPr/>
      </dsp:nvSpPr>
      <dsp:spPr>
        <a:xfrm>
          <a:off x="5666683" y="0"/>
          <a:ext cx="3687099" cy="7792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68580" rIns="102870" bIns="68580" numCol="1" spcCol="1270" anchor="ctr" anchorCtr="0">
          <a:noAutofit/>
        </a:bodyPr>
        <a:lstStyle/>
        <a:p>
          <a:pPr marL="0" lvl="0" indent="0" algn="l" defTabSz="2400300">
            <a:lnSpc>
              <a:spcPct val="90000"/>
            </a:lnSpc>
            <a:spcBef>
              <a:spcPct val="0"/>
            </a:spcBef>
            <a:spcAft>
              <a:spcPct val="35000"/>
            </a:spcAft>
            <a:buNone/>
          </a:pPr>
          <a:endParaRPr lang="en-US" sz="5400" kern="1200" dirty="0"/>
        </a:p>
      </dsp:txBody>
      <dsp:txXfrm>
        <a:off x="5666683" y="0"/>
        <a:ext cx="3687099" cy="779244"/>
      </dsp:txXfrm>
    </dsp:sp>
    <dsp:sp modelId="{091734EC-821A-C64B-93BE-2E2381D629FA}">
      <dsp:nvSpPr>
        <dsp:cNvPr id="0" name=""/>
        <dsp:cNvSpPr/>
      </dsp:nvSpPr>
      <dsp:spPr>
        <a:xfrm>
          <a:off x="5666683" y="1573538"/>
          <a:ext cx="270861" cy="270861"/>
        </a:xfrm>
        <a:prstGeom prst="rect">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20B1C21-D5F2-7842-8EB2-37BA386F70CC}">
      <dsp:nvSpPr>
        <dsp:cNvPr id="0" name=""/>
        <dsp:cNvSpPr/>
      </dsp:nvSpPr>
      <dsp:spPr>
        <a:xfrm>
          <a:off x="5924780" y="1393279"/>
          <a:ext cx="3429002" cy="631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l" defTabSz="800100">
            <a:lnSpc>
              <a:spcPct val="90000"/>
            </a:lnSpc>
            <a:spcBef>
              <a:spcPct val="0"/>
            </a:spcBef>
            <a:spcAft>
              <a:spcPct val="35000"/>
            </a:spcAft>
            <a:buNone/>
          </a:pPr>
          <a:r>
            <a:rPr lang="en-US" sz="1800" b="0" i="0" u="none" kern="1200"/>
            <a:t>Built Built for stats and data analysis</a:t>
          </a:r>
          <a:endParaRPr lang="en-US" sz="1800" kern="1200" dirty="0"/>
        </a:p>
      </dsp:txBody>
      <dsp:txXfrm>
        <a:off x="5924780" y="1393279"/>
        <a:ext cx="3429002" cy="631377"/>
      </dsp:txXfrm>
    </dsp:sp>
    <dsp:sp modelId="{B7DACAA4-399F-F940-8138-4CB0C1804C0E}">
      <dsp:nvSpPr>
        <dsp:cNvPr id="0" name=""/>
        <dsp:cNvSpPr/>
      </dsp:nvSpPr>
      <dsp:spPr>
        <a:xfrm>
          <a:off x="5666683" y="2204915"/>
          <a:ext cx="270861" cy="270861"/>
        </a:xfrm>
        <a:prstGeom prst="rect">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B944875-481B-E649-B5E1-6048FC7C3BFD}">
      <dsp:nvSpPr>
        <dsp:cNvPr id="0" name=""/>
        <dsp:cNvSpPr/>
      </dsp:nvSpPr>
      <dsp:spPr>
        <a:xfrm>
          <a:off x="5924780" y="2024657"/>
          <a:ext cx="3429002" cy="631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l" defTabSz="800100">
            <a:lnSpc>
              <a:spcPct val="90000"/>
            </a:lnSpc>
            <a:spcBef>
              <a:spcPct val="0"/>
            </a:spcBef>
            <a:spcAft>
              <a:spcPct val="35000"/>
            </a:spcAft>
            <a:buNone/>
          </a:pPr>
          <a:r>
            <a:rPr lang="en-US" sz="1800" b="0" i="0" u="none" kern="1200" dirty="0"/>
            <a:t>Less intuitive, uses &lt;-</a:t>
          </a:r>
          <a:endParaRPr lang="en-US" sz="1800" kern="1200" dirty="0"/>
        </a:p>
      </dsp:txBody>
      <dsp:txXfrm>
        <a:off x="5924780" y="2024657"/>
        <a:ext cx="3429002" cy="631377"/>
      </dsp:txXfrm>
    </dsp:sp>
    <dsp:sp modelId="{E848E959-51C6-A044-AB7D-B35E91747C3C}">
      <dsp:nvSpPr>
        <dsp:cNvPr id="0" name=""/>
        <dsp:cNvSpPr/>
      </dsp:nvSpPr>
      <dsp:spPr>
        <a:xfrm>
          <a:off x="5666683" y="2836293"/>
          <a:ext cx="270861" cy="270861"/>
        </a:xfrm>
        <a:prstGeom prst="rect">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BBCE6C8-4286-564D-BC99-5317D4BB884C}">
      <dsp:nvSpPr>
        <dsp:cNvPr id="0" name=""/>
        <dsp:cNvSpPr/>
      </dsp:nvSpPr>
      <dsp:spPr>
        <a:xfrm>
          <a:off x="5924780" y="2656035"/>
          <a:ext cx="3429002" cy="631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l" defTabSz="800100">
            <a:lnSpc>
              <a:spcPct val="90000"/>
            </a:lnSpc>
            <a:spcBef>
              <a:spcPct val="0"/>
            </a:spcBef>
            <a:spcAft>
              <a:spcPct val="35000"/>
            </a:spcAft>
            <a:buNone/>
          </a:pPr>
          <a:r>
            <a:rPr lang="en-US" sz="1800" b="0" i="0" u="none" kern="1200" dirty="0"/>
            <a:t>Popular Libraries: ggplot2, </a:t>
          </a:r>
          <a:r>
            <a:rPr lang="en-US" sz="1800" b="0" i="0" u="none" kern="1200" dirty="0" err="1"/>
            <a:t>dplyr</a:t>
          </a:r>
          <a:r>
            <a:rPr lang="en-US" sz="1800" b="0" i="0" u="none" kern="1200" dirty="0"/>
            <a:t>, caret, etc.</a:t>
          </a:r>
          <a:endParaRPr lang="en-US" sz="1800" kern="1200" dirty="0"/>
        </a:p>
      </dsp:txBody>
      <dsp:txXfrm>
        <a:off x="5924780" y="2656035"/>
        <a:ext cx="3429002" cy="631377"/>
      </dsp:txXfrm>
    </dsp:sp>
    <dsp:sp modelId="{6C0AB306-7B72-854D-B2DE-2633E7A9D830}">
      <dsp:nvSpPr>
        <dsp:cNvPr id="0" name=""/>
        <dsp:cNvSpPr/>
      </dsp:nvSpPr>
      <dsp:spPr>
        <a:xfrm>
          <a:off x="5666683" y="3467671"/>
          <a:ext cx="270861" cy="270861"/>
        </a:xfrm>
        <a:prstGeom prst="rect">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C4BD75B-6E43-2540-BC77-1269ACFB3F46}">
      <dsp:nvSpPr>
        <dsp:cNvPr id="0" name=""/>
        <dsp:cNvSpPr/>
      </dsp:nvSpPr>
      <dsp:spPr>
        <a:xfrm>
          <a:off x="5924780" y="3287412"/>
          <a:ext cx="3429002" cy="631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l" defTabSz="800100">
            <a:lnSpc>
              <a:spcPct val="90000"/>
            </a:lnSpc>
            <a:spcBef>
              <a:spcPct val="0"/>
            </a:spcBef>
            <a:spcAft>
              <a:spcPct val="35000"/>
            </a:spcAft>
            <a:buNone/>
          </a:pPr>
          <a:r>
            <a:rPr lang="en-US" sz="1800" b="0" i="0" u="none" kern="1200" dirty="0"/>
            <a:t>Statistical analysis, research</a:t>
          </a:r>
          <a:endParaRPr lang="en-US" sz="1800" kern="1200" dirty="0"/>
        </a:p>
      </dsp:txBody>
      <dsp:txXfrm>
        <a:off x="5924780" y="3287412"/>
        <a:ext cx="3429002" cy="631377"/>
      </dsp:txXfrm>
    </dsp:sp>
    <dsp:sp modelId="{1C0CE432-C155-EC40-8B80-6DED4F2D0075}">
      <dsp:nvSpPr>
        <dsp:cNvPr id="0" name=""/>
        <dsp:cNvSpPr/>
      </dsp:nvSpPr>
      <dsp:spPr>
        <a:xfrm>
          <a:off x="5666683" y="4099048"/>
          <a:ext cx="270861" cy="270861"/>
        </a:xfrm>
        <a:prstGeom prst="rect">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0A93EE1-D0B1-BB4C-A4C0-F2FC03A26BDA}">
      <dsp:nvSpPr>
        <dsp:cNvPr id="0" name=""/>
        <dsp:cNvSpPr/>
      </dsp:nvSpPr>
      <dsp:spPr>
        <a:xfrm>
          <a:off x="5924780" y="3918790"/>
          <a:ext cx="3429002" cy="631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l" defTabSz="800100">
            <a:lnSpc>
              <a:spcPct val="90000"/>
            </a:lnSpc>
            <a:spcBef>
              <a:spcPct val="0"/>
            </a:spcBef>
            <a:spcAft>
              <a:spcPct val="35000"/>
            </a:spcAft>
            <a:buNone/>
          </a:pPr>
          <a:r>
            <a:rPr lang="en-US" sz="1800" b="0" i="0" u="none" kern="1200"/>
            <a:t>Strong academic base</a:t>
          </a:r>
          <a:endParaRPr lang="en-US" sz="1800" kern="1200"/>
        </a:p>
      </dsp:txBody>
      <dsp:txXfrm>
        <a:off x="5924780" y="3918790"/>
        <a:ext cx="3429002" cy="631377"/>
      </dsp:txXfrm>
    </dsp:sp>
    <dsp:sp modelId="{F34B0EDE-4FEF-7340-905A-84875E4AF92D}">
      <dsp:nvSpPr>
        <dsp:cNvPr id="0" name=""/>
        <dsp:cNvSpPr/>
      </dsp:nvSpPr>
      <dsp:spPr>
        <a:xfrm>
          <a:off x="5666683" y="4730426"/>
          <a:ext cx="270861" cy="270861"/>
        </a:xfrm>
        <a:prstGeom prst="rect">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91D142F-3997-3441-B590-8725F6D229B2}">
      <dsp:nvSpPr>
        <dsp:cNvPr id="0" name=""/>
        <dsp:cNvSpPr/>
      </dsp:nvSpPr>
      <dsp:spPr>
        <a:xfrm>
          <a:off x="5924780" y="4550168"/>
          <a:ext cx="3429002" cy="631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l" defTabSz="800100">
            <a:lnSpc>
              <a:spcPct val="90000"/>
            </a:lnSpc>
            <a:spcBef>
              <a:spcPct val="0"/>
            </a:spcBef>
            <a:spcAft>
              <a:spcPct val="35000"/>
            </a:spcAft>
            <a:buNone/>
          </a:pPr>
          <a:r>
            <a:rPr lang="en-US" sz="1800" b="0" i="0" u="none" kern="1200" dirty="0"/>
            <a:t>Less common in production</a:t>
          </a:r>
          <a:endParaRPr lang="en-US" sz="1800" kern="1200" dirty="0"/>
        </a:p>
      </dsp:txBody>
      <dsp:txXfrm>
        <a:off x="5924780" y="4550168"/>
        <a:ext cx="3429002" cy="631377"/>
      </dsp:txXfrm>
    </dsp:sp>
  </dsp:spTree>
</dsp:drawing>
</file>

<file path=ppt/diagrams/layout1.xml><?xml version="1.0" encoding="utf-8"?>
<dgm:layoutDef xmlns:dgm="http://schemas.openxmlformats.org/drawingml/2006/diagram" xmlns:a="http://schemas.openxmlformats.org/drawingml/2006/main" uniqueId="urn:microsoft.com/office/officeart/2008/layout/SquareAccentList">
  <dgm:title val=""/>
  <dgm:desc val=""/>
  <dgm:catLst>
    <dgm:cat type="list" pri="5500"/>
  </dgm:catLst>
  <dgm:samp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clrData>
  <dgm:layoutNode name="layout">
    <dgm:varLst>
      <dgm:chMax/>
      <dgm:chPref/>
      <dgm:dir/>
      <dgm:resizeHandles/>
    </dgm:varLst>
    <dgm:choose name="Name0">
      <dgm:if name="Name1" func="var" arg="dir" op="equ" val="norm">
        <dgm:alg type="hierChild">
          <dgm:param type="linDir" val="fromL"/>
          <dgm:param type="vertAlign" val="t"/>
          <dgm:param type="nodeVertAlign" val="t"/>
          <dgm:param type="horzAlign" val="ctr"/>
          <dgm:param type="fallback" val="1D"/>
        </dgm:alg>
      </dgm:if>
      <dgm:else name="Name2">
        <dgm:alg type="hierChild">
          <dgm:param type="linDir" val="fromR"/>
          <dgm:param type="vertAlign" val="t"/>
          <dgm:param type="nodeVertAlign" val="t"/>
          <dgm:param type="horzAlign" val="ctr"/>
          <dgm:param type="fallback" val="1D"/>
        </dgm:alg>
      </dgm:else>
    </dgm:choose>
    <dgm:shape xmlns:r="http://schemas.openxmlformats.org/officeDocument/2006/relationships" r:blip="">
      <dgm:adjLst/>
    </dgm:shape>
    <dgm:presOf/>
    <dgm:constrLst>
      <dgm:constr type="primFontSz" for="des" forName="Parent" op="equ" val="65"/>
      <dgm:constr type="primFontSz" for="des" forName="Child" op="equ" val="65"/>
      <dgm:constr type="primFontSz" for="des" forName="Child" refType="primFontSz" refFor="des" refForName="Parent" op="lte"/>
      <dgm:constr type="w" for="des" forName="rootComposite" refType="h" refFor="des" refForName="rootComposite" fact="3.0396"/>
      <dgm:constr type="h" for="des" forName="rootComposite" refType="h"/>
      <dgm:constr type="w" for="des" forName="childComposite" refType="w" refFor="des" refForName="rootComposite"/>
      <dgm:constr type="h" for="des" forName="childComposite" refType="h" refFor="des" refForName="rootComposite" fact="0.5205"/>
      <dgm:constr type="sibSp" refType="w" refFor="des" refForName="rootComposite" fact="0.05"/>
      <dgm:constr type="sp" for="des" forName="root" refType="h" refFor="des" refForName="childComposite" fact="0.2855"/>
    </dgm:constrLst>
    <dgm:ruleLst/>
    <dgm:forEach name="Name3" axis="ch">
      <dgm:forEach name="Name4" axis="self" ptType="node" cnt="1">
        <dgm:layoutNode name="root">
          <dgm:varLst>
            <dgm:chMax/>
            <dgm:chPref/>
          </dgm:varLst>
          <dgm:alg type="hierRoot">
            <dgm:param type="hierAlign" val="tL"/>
          </dgm:alg>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hoose name="Name5">
              <dgm:if name="Name6" func="var" arg="dir" op="equ" val="norm">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l" for="ch" forName="ParentSmallAccent" refType="w" fact="0"/>
                  <dgm:constr type="b" for="ch" forName="ParentSmallAccent" refType="h"/>
                  <dgm:constr type="w" for="ch" forName="ParentSmallAccent" refType="h" fact="0.2233"/>
                  <dgm:constr type="h" for="ch" forName="ParentSmallAccent" refType="h" fact="0.2233"/>
                </dgm:constrLst>
              </dgm:if>
              <dgm:else name="Name7">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r" for="ch" forName="ParentSmallAccent" refType="w"/>
                  <dgm:constr type="b" for="ch" forName="ParentSmallAccent" refType="h"/>
                  <dgm:constr type="w" for="ch" forName="ParentSmallAccent" refType="h" fact="0.2233"/>
                  <dgm:constr type="h" for="ch" forName="ParentSmallAccent" refType="h" fact="0.2233"/>
                </dgm:constrLst>
              </dgm:else>
            </dgm:choose>
            <dgm:ruleLst/>
            <dgm:layoutNode name="ParentAccent" styleLbl="alignNode1">
              <dgm:alg type="sp"/>
              <dgm:shape xmlns:r="http://schemas.openxmlformats.org/officeDocument/2006/relationships" type="rect" r:blip="">
                <dgm:adjLst/>
              </dgm:shape>
              <dgm:presOf/>
            </dgm:layoutNode>
            <dgm:layoutNode name="ParentSmallAccent" styleLbl="fgAcc1">
              <dgm:alg type="sp"/>
              <dgm:shape xmlns:r="http://schemas.openxmlformats.org/officeDocument/2006/relationships" type="rect" r:blip="">
                <dgm:adjLst/>
              </dgm:shape>
              <dgm:presOf/>
            </dgm:layoutNode>
            <dgm:layoutNode name="Parent" styleLbl="revTx">
              <dgm:varLst>
                <dgm:chMax/>
                <dgm:chPref val="4"/>
                <dgm:bulletEnabled val="1"/>
              </dgm:varLst>
              <dgm:choose name="Name8">
                <dgm:if name="Name9" func="var" arg="dir" op="equ" val="norm">
                  <dgm:alg type="tx">
                    <dgm:param type="txAnchorVertCh" val="mid"/>
                    <dgm:param type="parTxLTRAlign" val="l"/>
                  </dgm:alg>
                </dgm:if>
                <dgm:else name="Name10">
                  <dgm:alg type="tx">
                    <dgm:param type="txAnchorVertCh" val="mid"/>
                    <dgm:param type="parTxLTRAlign" val="r"/>
                  </dgm:alg>
                </dgm:else>
              </dgm:choose>
              <dgm:shape xmlns:r="http://schemas.openxmlformats.org/officeDocument/2006/relationships" type="rect" r:blip="">
                <dgm:adjLst/>
              </dgm:shape>
              <dgm:presOf axis="self" ptType="node"/>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11" axis="ch">
              <dgm:forEach name="Name12" axis="self" ptType="node">
                <dgm:layoutNode name="childComposite">
                  <dgm:varLst>
                    <dgm:chMax val="0"/>
                    <dgm:chPref val="0"/>
                  </dgm:varLst>
                  <dgm:alg type="composite"/>
                  <dgm:shape xmlns:r="http://schemas.openxmlformats.org/officeDocument/2006/relationships" r:blip="">
                    <dgm:adjLst/>
                  </dgm:shape>
                  <dgm:presOf/>
                  <dgm:choose name="Name13">
                    <dgm:if name="Name14" func="var" arg="dir" op="equ" val="norm">
                      <dgm:constrLst>
                        <dgm:constr type="w" for="ch" forName="ChildAccent" refType="h" fact="0.429"/>
                        <dgm:constr type="h" for="ch" forName="ChildAccent" refType="h" fact="0.429"/>
                        <dgm:constr type="l" for="ch" forName="ChildAccent" refType="w" fact="0"/>
                        <dgm:constr type="t" for="ch" forName="ChildAccent" refType="h" fact="0.2855"/>
                        <dgm:constr type="w" for="ch" forName="Child" refType="w" fact="0.93"/>
                        <dgm:constr type="h" for="ch" forName="Child" refType="h"/>
                        <dgm:constr type="l" for="ch" forName="Child" refType="w" fact="0.07"/>
                        <dgm:constr type="t" for="ch" forName="Child" refType="h" fact="0"/>
                      </dgm:constrLst>
                    </dgm:if>
                    <dgm:else name="Name15">
                      <dgm:constrLst>
                        <dgm:constr type="w" for="ch" forName="ChildAccent" refType="h" fact="0.429"/>
                        <dgm:constr type="h" for="ch" forName="ChildAccent" refType="h" fact="0.429"/>
                        <dgm:constr type="r" for="ch" forName="ChildAccent" refType="w"/>
                        <dgm:constr type="t" for="ch" forName="ChildAccent" refType="h" fact="0.2855"/>
                        <dgm:constr type="w" for="ch" forName="Child" refType="w" fact="0.93"/>
                        <dgm:constr type="h" for="ch" forName="Child" refType="h"/>
                        <dgm:constr type="r" for="ch" forName="Child" refType="w" fact="0.93"/>
                        <dgm:constr type="t" for="ch" forName="Child" refType="h" fact="0"/>
                      </dgm:constrLst>
                    </dgm:else>
                  </dgm:choose>
                  <dgm:ruleLst/>
                  <dgm:layoutNode name="ChildAccent" styleLbl="solidFgAcc1">
                    <dgm:alg type="sp"/>
                    <dgm:shape xmlns:r="http://schemas.openxmlformats.org/officeDocument/2006/relationships" type="rect" r:blip="">
                      <dgm:adjLst/>
                    </dgm:shape>
                    <dgm:presOf/>
                  </dgm:layoutNode>
                  <dgm:layoutNode name="Child" styleLbl="revTx">
                    <dgm:varLst>
                      <dgm:chMax val="0"/>
                      <dgm:chPref val="0"/>
                      <dgm:bulletEnabled val="1"/>
                    </dgm:varLst>
                    <dgm:choose name="Name16">
                      <dgm:if name="Name17" func="var" arg="dir" op="equ" val="norm">
                        <dgm:alg type="tx">
                          <dgm:param type="txAnchorVertCh" val="mid"/>
                          <dgm:param type="parTxLTRAlign" val="l"/>
                        </dgm:alg>
                      </dgm:if>
                      <dgm:else name="Name18">
                        <dgm:alg type="tx">
                          <dgm:param type="txAnchorVertCh" val="mid"/>
                          <dgm:param type="parTxLTRAlign" val="r"/>
                        </dgm:alg>
                      </dgm:else>
                    </dgm:choose>
                    <dgm:shape xmlns:r="http://schemas.openxmlformats.org/officeDocument/2006/relationships" type="rect" r:blip="">
                      <dgm:adjLst/>
                    </dgm:shape>
                    <dgm:presOf axis="desOrSelf" ptType="node node"/>
                    <dgm:ruleLst>
                      <dgm:rule type="primFontSz" val="5" fact="NaN" max="NaN"/>
                    </dgm:ruleLs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B3146E-F6A3-455D-A8F7-7C094566E426}" type="datetimeFigureOut">
              <a:rPr lang="en-US" smtClean="0"/>
              <a:t>4/20/2026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867100-4AF5-4440-9AA8-F24E6DD39EB4}" type="slidenum">
              <a:rPr lang="en-US" smtClean="0"/>
              <a:t>‹#›</a:t>
            </a:fld>
            <a:endParaRPr lang="en-US"/>
          </a:p>
        </p:txBody>
      </p:sp>
    </p:spTree>
    <p:extLst>
      <p:ext uri="{BB962C8B-B14F-4D97-AF65-F5344CB8AC3E}">
        <p14:creationId xmlns:p14="http://schemas.microsoft.com/office/powerpoint/2010/main" val="4083729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5</a:t>
            </a:fld>
            <a:endParaRPr lang="en-US"/>
          </a:p>
        </p:txBody>
      </p:sp>
    </p:spTree>
    <p:extLst>
      <p:ext uri="{BB962C8B-B14F-4D97-AF65-F5344CB8AC3E}">
        <p14:creationId xmlns:p14="http://schemas.microsoft.com/office/powerpoint/2010/main" val="654422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6</a:t>
            </a:fld>
            <a:endParaRPr lang="en-US"/>
          </a:p>
        </p:txBody>
      </p:sp>
    </p:spTree>
    <p:extLst>
      <p:ext uri="{BB962C8B-B14F-4D97-AF65-F5344CB8AC3E}">
        <p14:creationId xmlns:p14="http://schemas.microsoft.com/office/powerpoint/2010/main" val="24856981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7</a:t>
            </a:fld>
            <a:endParaRPr lang="en-US"/>
          </a:p>
        </p:txBody>
      </p:sp>
    </p:spTree>
    <p:extLst>
      <p:ext uri="{BB962C8B-B14F-4D97-AF65-F5344CB8AC3E}">
        <p14:creationId xmlns:p14="http://schemas.microsoft.com/office/powerpoint/2010/main" val="39801191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E8C1D-F6EE-148D-04D7-D0C9062225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101A55-2CB2-9CC5-FA23-6A801F3A4B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DC02A6-E8DD-D543-6C05-F4C960A054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6556EA-2FF0-A36C-2B33-03469DB7EDFA}"/>
              </a:ext>
            </a:extLst>
          </p:cNvPr>
          <p:cNvSpPr>
            <a:spLocks noGrp="1"/>
          </p:cNvSpPr>
          <p:nvPr>
            <p:ph type="sldNum" sz="quarter" idx="5"/>
          </p:nvPr>
        </p:nvSpPr>
        <p:spPr/>
        <p:txBody>
          <a:bodyPr/>
          <a:lstStyle/>
          <a:p>
            <a:fld id="{51867100-4AF5-4440-9AA8-F24E6DD39EB4}" type="slidenum">
              <a:rPr lang="en-US" smtClean="0"/>
              <a:t>8</a:t>
            </a:fld>
            <a:endParaRPr lang="en-US"/>
          </a:p>
        </p:txBody>
      </p:sp>
    </p:spTree>
    <p:extLst>
      <p:ext uri="{BB962C8B-B14F-4D97-AF65-F5344CB8AC3E}">
        <p14:creationId xmlns:p14="http://schemas.microsoft.com/office/powerpoint/2010/main" val="2712902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15</a:t>
            </a:fld>
            <a:endParaRPr lang="en-US"/>
          </a:p>
        </p:txBody>
      </p:sp>
    </p:spTree>
    <p:extLst>
      <p:ext uri="{BB962C8B-B14F-4D97-AF65-F5344CB8AC3E}">
        <p14:creationId xmlns:p14="http://schemas.microsoft.com/office/powerpoint/2010/main" val="30792659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17</a:t>
            </a:fld>
            <a:endParaRPr lang="en-US"/>
          </a:p>
        </p:txBody>
      </p:sp>
    </p:spTree>
    <p:extLst>
      <p:ext uri="{BB962C8B-B14F-4D97-AF65-F5344CB8AC3E}">
        <p14:creationId xmlns:p14="http://schemas.microsoft.com/office/powerpoint/2010/main" val="6531262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18</a:t>
            </a:fld>
            <a:endParaRPr lang="en-US"/>
          </a:p>
        </p:txBody>
      </p:sp>
    </p:spTree>
    <p:extLst>
      <p:ext uri="{BB962C8B-B14F-4D97-AF65-F5344CB8AC3E}">
        <p14:creationId xmlns:p14="http://schemas.microsoft.com/office/powerpoint/2010/main" val="2218200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20</a:t>
            </a:fld>
            <a:endParaRPr lang="en-US"/>
          </a:p>
        </p:txBody>
      </p:sp>
    </p:spTree>
    <p:extLst>
      <p:ext uri="{BB962C8B-B14F-4D97-AF65-F5344CB8AC3E}">
        <p14:creationId xmlns:p14="http://schemas.microsoft.com/office/powerpoint/2010/main" val="32977161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24</a:t>
            </a:fld>
            <a:endParaRPr lang="en-US"/>
          </a:p>
        </p:txBody>
      </p:sp>
    </p:spTree>
    <p:extLst>
      <p:ext uri="{BB962C8B-B14F-4D97-AF65-F5344CB8AC3E}">
        <p14:creationId xmlns:p14="http://schemas.microsoft.com/office/powerpoint/2010/main" val="32831377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45</a:t>
            </a:fld>
            <a:endParaRPr lang="en-US"/>
          </a:p>
        </p:txBody>
      </p:sp>
    </p:spTree>
    <p:extLst>
      <p:ext uri="{BB962C8B-B14F-4D97-AF65-F5344CB8AC3E}">
        <p14:creationId xmlns:p14="http://schemas.microsoft.com/office/powerpoint/2010/main" val="4782230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14433-BE82-E6E3-7845-F2BEF5D238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F743D0-C612-3905-9B8A-C4134B2CDA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F76342-28AE-7DEC-8148-FB1F012327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4CC617-53B1-7586-809D-A858E311D905}"/>
              </a:ext>
            </a:extLst>
          </p:cNvPr>
          <p:cNvSpPr>
            <a:spLocks noGrp="1"/>
          </p:cNvSpPr>
          <p:nvPr>
            <p:ph type="sldNum" sz="quarter" idx="5"/>
          </p:nvPr>
        </p:nvSpPr>
        <p:spPr/>
        <p:txBody>
          <a:bodyPr/>
          <a:lstStyle/>
          <a:p>
            <a:fld id="{51867100-4AF5-4440-9AA8-F24E6DD39EB4}" type="slidenum">
              <a:rPr lang="en-US" smtClean="0"/>
              <a:t>46</a:t>
            </a:fld>
            <a:endParaRPr lang="en-US"/>
          </a:p>
        </p:txBody>
      </p:sp>
    </p:spTree>
    <p:extLst>
      <p:ext uri="{BB962C8B-B14F-4D97-AF65-F5344CB8AC3E}">
        <p14:creationId xmlns:p14="http://schemas.microsoft.com/office/powerpoint/2010/main" val="16318142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50</a:t>
            </a:fld>
            <a:endParaRPr lang="en-US"/>
          </a:p>
        </p:txBody>
      </p:sp>
    </p:spTree>
    <p:extLst>
      <p:ext uri="{BB962C8B-B14F-4D97-AF65-F5344CB8AC3E}">
        <p14:creationId xmlns:p14="http://schemas.microsoft.com/office/powerpoint/2010/main" val="35465517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C917B-7B94-829A-DB98-8401D7765F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A48C88-C8AD-B93A-A03F-CB645AE045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A2CB58-31CA-9AAB-8348-916DBA7406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7DE52B-1C86-2AB3-5D9E-657997EDCBB6}"/>
              </a:ext>
            </a:extLst>
          </p:cNvPr>
          <p:cNvSpPr>
            <a:spLocks noGrp="1"/>
          </p:cNvSpPr>
          <p:nvPr>
            <p:ph type="sldNum" sz="quarter" idx="5"/>
          </p:nvPr>
        </p:nvSpPr>
        <p:spPr/>
        <p:txBody>
          <a:bodyPr/>
          <a:lstStyle/>
          <a:p>
            <a:fld id="{51867100-4AF5-4440-9AA8-F24E6DD39EB4}" type="slidenum">
              <a:rPr lang="en-US" smtClean="0"/>
              <a:t>51</a:t>
            </a:fld>
            <a:endParaRPr lang="en-US"/>
          </a:p>
        </p:txBody>
      </p:sp>
    </p:spTree>
    <p:extLst>
      <p:ext uri="{BB962C8B-B14F-4D97-AF65-F5344CB8AC3E}">
        <p14:creationId xmlns:p14="http://schemas.microsoft.com/office/powerpoint/2010/main" val="6198490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53</a:t>
            </a:fld>
            <a:endParaRPr lang="en-US"/>
          </a:p>
        </p:txBody>
      </p:sp>
    </p:spTree>
    <p:extLst>
      <p:ext uri="{BB962C8B-B14F-4D97-AF65-F5344CB8AC3E}">
        <p14:creationId xmlns:p14="http://schemas.microsoft.com/office/powerpoint/2010/main" val="28063402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61</a:t>
            </a:fld>
            <a:endParaRPr lang="en-US"/>
          </a:p>
        </p:txBody>
      </p:sp>
    </p:spTree>
    <p:extLst>
      <p:ext uri="{BB962C8B-B14F-4D97-AF65-F5344CB8AC3E}">
        <p14:creationId xmlns:p14="http://schemas.microsoft.com/office/powerpoint/2010/main" val="15523266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70</a:t>
            </a:fld>
            <a:endParaRPr lang="en-US"/>
          </a:p>
        </p:txBody>
      </p:sp>
    </p:spTree>
    <p:extLst>
      <p:ext uri="{BB962C8B-B14F-4D97-AF65-F5344CB8AC3E}">
        <p14:creationId xmlns:p14="http://schemas.microsoft.com/office/powerpoint/2010/main" val="42096057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71</a:t>
            </a:fld>
            <a:endParaRPr lang="en-US"/>
          </a:p>
        </p:txBody>
      </p:sp>
    </p:spTree>
    <p:extLst>
      <p:ext uri="{BB962C8B-B14F-4D97-AF65-F5344CB8AC3E}">
        <p14:creationId xmlns:p14="http://schemas.microsoft.com/office/powerpoint/2010/main" val="4810704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72</a:t>
            </a:fld>
            <a:endParaRPr lang="en-US"/>
          </a:p>
        </p:txBody>
      </p:sp>
    </p:spTree>
    <p:extLst>
      <p:ext uri="{BB962C8B-B14F-4D97-AF65-F5344CB8AC3E}">
        <p14:creationId xmlns:p14="http://schemas.microsoft.com/office/powerpoint/2010/main" val="10002614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CF46D04F-A2E9-9037-5671-AE76970CC35D}"/>
              </a:ext>
            </a:extLst>
          </p:cNvPr>
          <p:cNvSpPr/>
          <p:nvPr userDrawn="1"/>
        </p:nvSpPr>
        <p:spPr>
          <a:xfrm>
            <a:off x="65675" y="3778845"/>
            <a:ext cx="3849574" cy="2942629"/>
          </a:xfrm>
          <a:prstGeom prst="rtTriangle">
            <a:avLst/>
          </a:prstGeom>
          <a:solidFill>
            <a:srgbClr val="00263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8C0CB8-D0C2-1404-F91A-420744DD29B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B64EACBD-CAF3-E652-16CC-1B0FAD472C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30A456-AC01-F904-F218-7B4540D7D75B}"/>
              </a:ext>
            </a:extLst>
          </p:cNvPr>
          <p:cNvSpPr>
            <a:spLocks noGrp="1"/>
          </p:cNvSpPr>
          <p:nvPr>
            <p:ph type="dt" sz="half" idx="10"/>
          </p:nvPr>
        </p:nvSpPr>
        <p:spPr/>
        <p:txBody>
          <a:bodyPr/>
          <a:lstStyle>
            <a:lvl1pPr>
              <a:defRPr>
                <a:solidFill>
                  <a:schemeClr val="bg1"/>
                </a:solidFill>
              </a:defRPr>
            </a:lvl1pPr>
          </a:lstStyle>
          <a:p>
            <a:fld id="{A08589DF-59BF-4BA7-8495-56F0F1B65344}" type="datetimeFigureOut">
              <a:rPr lang="en-US" smtClean="0"/>
              <a:pPr/>
              <a:t>4/20/2026</a:t>
            </a:fld>
            <a:endParaRPr lang="en-US" dirty="0"/>
          </a:p>
        </p:txBody>
      </p:sp>
      <p:sp>
        <p:nvSpPr>
          <p:cNvPr id="5" name="Footer Placeholder 4">
            <a:extLst>
              <a:ext uri="{FF2B5EF4-FFF2-40B4-BE49-F238E27FC236}">
                <a16:creationId xmlns:a16="http://schemas.microsoft.com/office/drawing/2014/main" id="{8744CB47-B3B7-6135-DE12-0C6A78EAA3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4E3DA9-A3A9-44B9-1EE5-DEE572AFBD0B}"/>
              </a:ext>
            </a:extLst>
          </p:cNvPr>
          <p:cNvSpPr>
            <a:spLocks noGrp="1"/>
          </p:cNvSpPr>
          <p:nvPr>
            <p:ph type="sldNum" sz="quarter" idx="12"/>
          </p:nvPr>
        </p:nvSpPr>
        <p:spPr/>
        <p:txBody>
          <a:bodyPr/>
          <a:lstStyle/>
          <a:p>
            <a:fld id="{B893C485-DB5A-4C7E-867A-4FFBAFD4DD2E}" type="slidenum">
              <a:rPr lang="en-US" smtClean="0"/>
              <a:t>‹#›</a:t>
            </a:fld>
            <a:endParaRPr lang="en-US"/>
          </a:p>
        </p:txBody>
      </p:sp>
      <p:sp>
        <p:nvSpPr>
          <p:cNvPr id="8" name="Rectangle 7">
            <a:extLst>
              <a:ext uri="{FF2B5EF4-FFF2-40B4-BE49-F238E27FC236}">
                <a16:creationId xmlns:a16="http://schemas.microsoft.com/office/drawing/2014/main" id="{5571BE6C-6E5B-8994-D6FC-7B0CF7008156}"/>
              </a:ext>
            </a:extLst>
          </p:cNvPr>
          <p:cNvSpPr/>
          <p:nvPr userDrawn="1"/>
        </p:nvSpPr>
        <p:spPr>
          <a:xfrm rot="2253748">
            <a:off x="-395637" y="5046769"/>
            <a:ext cx="5087528" cy="134460"/>
          </a:xfrm>
          <a:prstGeom prst="rect">
            <a:avLst/>
          </a:prstGeom>
          <a:solidFill>
            <a:srgbClr val="00263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9377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228F5-7EB8-E462-7F02-DEC7DD59DC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08FE9F-8043-0471-3245-103B670275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5662F2-0F81-38B4-96ED-B28DF9DDA87F}"/>
              </a:ext>
            </a:extLst>
          </p:cNvPr>
          <p:cNvSpPr>
            <a:spLocks noGrp="1"/>
          </p:cNvSpPr>
          <p:nvPr>
            <p:ph type="dt" sz="half" idx="10"/>
          </p:nvPr>
        </p:nvSpPr>
        <p:spPr/>
        <p:txBody>
          <a:bodyPr/>
          <a:lstStyle/>
          <a:p>
            <a:fld id="{A08589DF-59BF-4BA7-8495-56F0F1B65344}" type="datetimeFigureOut">
              <a:rPr lang="en-US" smtClean="0"/>
              <a:t>4/20/2026</a:t>
            </a:fld>
            <a:endParaRPr lang="en-US"/>
          </a:p>
        </p:txBody>
      </p:sp>
      <p:sp>
        <p:nvSpPr>
          <p:cNvPr id="5" name="Footer Placeholder 4">
            <a:extLst>
              <a:ext uri="{FF2B5EF4-FFF2-40B4-BE49-F238E27FC236}">
                <a16:creationId xmlns:a16="http://schemas.microsoft.com/office/drawing/2014/main" id="{E04059D3-130F-CB1C-C4BD-AB74DE5C8E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701768-0D49-C454-6289-60FB4C0AA2D9}"/>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2383453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005EB2AA-5849-99F5-8BFB-632AC33BE750}"/>
              </a:ext>
            </a:extLst>
          </p:cNvPr>
          <p:cNvSpPr/>
          <p:nvPr userDrawn="1"/>
        </p:nvSpPr>
        <p:spPr>
          <a:xfrm>
            <a:off x="65675" y="4703350"/>
            <a:ext cx="3000849" cy="2018124"/>
          </a:xfrm>
          <a:prstGeom prst="rtTriangle">
            <a:avLst/>
          </a:prstGeom>
          <a:solidFill>
            <a:srgbClr val="00263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CA21169-83DD-8851-E599-FEA45E149DDB}"/>
              </a:ext>
            </a:extLst>
          </p:cNvPr>
          <p:cNvSpPr>
            <a:spLocks noGrp="1"/>
          </p:cNvSpPr>
          <p:nvPr>
            <p:ph type="title"/>
          </p:nvPr>
        </p:nvSpPr>
        <p:spPr>
          <a:xfrm>
            <a:off x="1631774" y="1709738"/>
            <a:ext cx="9715675" cy="2357069"/>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E8FA66E-E2F5-038E-BF7C-F544B78441A8}"/>
              </a:ext>
            </a:extLst>
          </p:cNvPr>
          <p:cNvSpPr>
            <a:spLocks noGrp="1"/>
          </p:cNvSpPr>
          <p:nvPr>
            <p:ph type="body" idx="1"/>
          </p:nvPr>
        </p:nvSpPr>
        <p:spPr>
          <a:xfrm>
            <a:off x="1677242" y="4289092"/>
            <a:ext cx="9670207" cy="1369073"/>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8CDE55D8-8CBA-9F43-B01D-D7082DC964C2}"/>
              </a:ext>
            </a:extLst>
          </p:cNvPr>
          <p:cNvSpPr>
            <a:spLocks noGrp="1"/>
          </p:cNvSpPr>
          <p:nvPr>
            <p:ph type="dt" sz="half" idx="10"/>
          </p:nvPr>
        </p:nvSpPr>
        <p:spPr/>
        <p:txBody>
          <a:bodyPr/>
          <a:lstStyle>
            <a:lvl1pPr>
              <a:defRPr>
                <a:solidFill>
                  <a:schemeClr val="bg1"/>
                </a:solidFill>
              </a:defRPr>
            </a:lvl1pPr>
          </a:lstStyle>
          <a:p>
            <a:fld id="{A08589DF-59BF-4BA7-8495-56F0F1B65344}" type="datetimeFigureOut">
              <a:rPr lang="en-US" smtClean="0"/>
              <a:pPr/>
              <a:t>4/20/2026</a:t>
            </a:fld>
            <a:endParaRPr lang="en-US" dirty="0"/>
          </a:p>
        </p:txBody>
      </p:sp>
      <p:sp>
        <p:nvSpPr>
          <p:cNvPr id="5" name="Footer Placeholder 4">
            <a:extLst>
              <a:ext uri="{FF2B5EF4-FFF2-40B4-BE49-F238E27FC236}">
                <a16:creationId xmlns:a16="http://schemas.microsoft.com/office/drawing/2014/main" id="{48B051CF-3BF6-AF09-6011-B52C3C6830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034DF-802E-7327-8627-9511A495EA58}"/>
              </a:ext>
            </a:extLst>
          </p:cNvPr>
          <p:cNvSpPr>
            <a:spLocks noGrp="1"/>
          </p:cNvSpPr>
          <p:nvPr>
            <p:ph type="sldNum" sz="quarter" idx="12"/>
          </p:nvPr>
        </p:nvSpPr>
        <p:spPr/>
        <p:txBody>
          <a:bodyPr/>
          <a:lstStyle/>
          <a:p>
            <a:fld id="{B893C485-DB5A-4C7E-867A-4FFBAFD4DD2E}" type="slidenum">
              <a:rPr lang="en-US" smtClean="0"/>
              <a:t>‹#›</a:t>
            </a:fld>
            <a:endParaRPr lang="en-US"/>
          </a:p>
        </p:txBody>
      </p:sp>
      <p:sp>
        <p:nvSpPr>
          <p:cNvPr id="8" name="Rectangle 7">
            <a:extLst>
              <a:ext uri="{FF2B5EF4-FFF2-40B4-BE49-F238E27FC236}">
                <a16:creationId xmlns:a16="http://schemas.microsoft.com/office/drawing/2014/main" id="{3D31E67B-A6F8-DF75-FF70-FDB89861438B}"/>
              </a:ext>
            </a:extLst>
          </p:cNvPr>
          <p:cNvSpPr/>
          <p:nvPr userDrawn="1"/>
        </p:nvSpPr>
        <p:spPr>
          <a:xfrm rot="2037324">
            <a:off x="-227242" y="5530392"/>
            <a:ext cx="3899903" cy="111444"/>
          </a:xfrm>
          <a:prstGeom prst="rect">
            <a:avLst/>
          </a:prstGeom>
          <a:solidFill>
            <a:srgbClr val="00263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6567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70E4A-4368-4C69-3C64-37AFD71E52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F0C132-4FE6-22EA-BAA6-8CA300CAE8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F67368-3DE6-C552-433F-568EC0B615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DD78C7-6BC7-56DC-CA02-5C90A7A9C46E}"/>
              </a:ext>
            </a:extLst>
          </p:cNvPr>
          <p:cNvSpPr>
            <a:spLocks noGrp="1"/>
          </p:cNvSpPr>
          <p:nvPr>
            <p:ph type="dt" sz="half" idx="10"/>
          </p:nvPr>
        </p:nvSpPr>
        <p:spPr/>
        <p:txBody>
          <a:bodyPr/>
          <a:lstStyle/>
          <a:p>
            <a:fld id="{A08589DF-59BF-4BA7-8495-56F0F1B65344}" type="datetimeFigureOut">
              <a:rPr lang="en-US" smtClean="0"/>
              <a:t>4/20/2026</a:t>
            </a:fld>
            <a:endParaRPr lang="en-US"/>
          </a:p>
        </p:txBody>
      </p:sp>
      <p:sp>
        <p:nvSpPr>
          <p:cNvPr id="6" name="Footer Placeholder 5">
            <a:extLst>
              <a:ext uri="{FF2B5EF4-FFF2-40B4-BE49-F238E27FC236}">
                <a16:creationId xmlns:a16="http://schemas.microsoft.com/office/drawing/2014/main" id="{3F2F206C-92E1-28B7-AB9E-7FD2BB751A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892DCA-BE48-5290-3278-3EC28D13C234}"/>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2619019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12AE3-93B7-61C1-B756-59838E053A9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0E1FB3-F727-DBA4-FBA9-234073858C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1F2CAC-BACD-7BE3-43DD-71043AC67F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9B31440-2DA2-FA84-9167-5FC181DCAF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78932E-9F32-AA7A-2F1E-17F50265BE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7CD880-75C8-7990-30C3-51E10FE870E9}"/>
              </a:ext>
            </a:extLst>
          </p:cNvPr>
          <p:cNvSpPr>
            <a:spLocks noGrp="1"/>
          </p:cNvSpPr>
          <p:nvPr>
            <p:ph type="dt" sz="half" idx="10"/>
          </p:nvPr>
        </p:nvSpPr>
        <p:spPr/>
        <p:txBody>
          <a:bodyPr/>
          <a:lstStyle/>
          <a:p>
            <a:fld id="{A08589DF-59BF-4BA7-8495-56F0F1B65344}" type="datetimeFigureOut">
              <a:rPr lang="en-US" smtClean="0"/>
              <a:t>4/20/2026</a:t>
            </a:fld>
            <a:endParaRPr lang="en-US"/>
          </a:p>
        </p:txBody>
      </p:sp>
      <p:sp>
        <p:nvSpPr>
          <p:cNvPr id="8" name="Footer Placeholder 7">
            <a:extLst>
              <a:ext uri="{FF2B5EF4-FFF2-40B4-BE49-F238E27FC236}">
                <a16:creationId xmlns:a16="http://schemas.microsoft.com/office/drawing/2014/main" id="{9DDEF02E-78D7-F804-7839-C3354BF3F0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595FA79-FDE3-8906-39A3-A5C937F0834F}"/>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170275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7978E-2D2F-D341-2FA9-7D6D8ABF6F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C267CD-2EC9-4F23-858C-B85DCE903D46}"/>
              </a:ext>
            </a:extLst>
          </p:cNvPr>
          <p:cNvSpPr>
            <a:spLocks noGrp="1"/>
          </p:cNvSpPr>
          <p:nvPr>
            <p:ph type="dt" sz="half" idx="10"/>
          </p:nvPr>
        </p:nvSpPr>
        <p:spPr/>
        <p:txBody>
          <a:bodyPr/>
          <a:lstStyle/>
          <a:p>
            <a:fld id="{A08589DF-59BF-4BA7-8495-56F0F1B65344}" type="datetimeFigureOut">
              <a:rPr lang="en-US" smtClean="0"/>
              <a:t>4/20/2026</a:t>
            </a:fld>
            <a:endParaRPr lang="en-US"/>
          </a:p>
        </p:txBody>
      </p:sp>
      <p:sp>
        <p:nvSpPr>
          <p:cNvPr id="4" name="Footer Placeholder 3">
            <a:extLst>
              <a:ext uri="{FF2B5EF4-FFF2-40B4-BE49-F238E27FC236}">
                <a16:creationId xmlns:a16="http://schemas.microsoft.com/office/drawing/2014/main" id="{F325F275-AA05-AA90-BFF9-94CFF0801A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CE8933A-5A98-47C0-0FDC-35C9BCEA33B8}"/>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505175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3A021B-9E90-5F87-7450-DC7257801FE9}"/>
              </a:ext>
            </a:extLst>
          </p:cNvPr>
          <p:cNvSpPr>
            <a:spLocks noGrp="1"/>
          </p:cNvSpPr>
          <p:nvPr>
            <p:ph type="dt" sz="half" idx="10"/>
          </p:nvPr>
        </p:nvSpPr>
        <p:spPr/>
        <p:txBody>
          <a:bodyPr/>
          <a:lstStyle/>
          <a:p>
            <a:fld id="{A08589DF-59BF-4BA7-8495-56F0F1B65344}" type="datetimeFigureOut">
              <a:rPr lang="en-US" smtClean="0"/>
              <a:t>4/20/2026</a:t>
            </a:fld>
            <a:endParaRPr lang="en-US"/>
          </a:p>
        </p:txBody>
      </p:sp>
      <p:sp>
        <p:nvSpPr>
          <p:cNvPr id="3" name="Footer Placeholder 2">
            <a:extLst>
              <a:ext uri="{FF2B5EF4-FFF2-40B4-BE49-F238E27FC236}">
                <a16:creationId xmlns:a16="http://schemas.microsoft.com/office/drawing/2014/main" id="{227CC1AD-0010-A189-0E43-BE96BA395D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EF2B049-6B92-60D9-D26F-9C4603F930A6}"/>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3629092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D372C-E996-AF0C-1FE4-F8CE41D2CC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602E048-3033-FD5E-D3EE-710DA0B00E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6110ED7-5C65-0E15-895B-7C830D74A5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D0457B-797B-C6DE-EC6A-CB73EB2600E4}"/>
              </a:ext>
            </a:extLst>
          </p:cNvPr>
          <p:cNvSpPr>
            <a:spLocks noGrp="1"/>
          </p:cNvSpPr>
          <p:nvPr>
            <p:ph type="dt" sz="half" idx="10"/>
          </p:nvPr>
        </p:nvSpPr>
        <p:spPr/>
        <p:txBody>
          <a:bodyPr/>
          <a:lstStyle/>
          <a:p>
            <a:fld id="{A08589DF-59BF-4BA7-8495-56F0F1B65344}" type="datetimeFigureOut">
              <a:rPr lang="en-US" smtClean="0"/>
              <a:t>4/20/2026</a:t>
            </a:fld>
            <a:endParaRPr lang="en-US"/>
          </a:p>
        </p:txBody>
      </p:sp>
      <p:sp>
        <p:nvSpPr>
          <p:cNvPr id="6" name="Footer Placeholder 5">
            <a:extLst>
              <a:ext uri="{FF2B5EF4-FFF2-40B4-BE49-F238E27FC236}">
                <a16:creationId xmlns:a16="http://schemas.microsoft.com/office/drawing/2014/main" id="{5030F16C-84B6-9D3E-10C7-4B359FD7BE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9A5764-25FE-49B4-7825-61267D9E518D}"/>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22513505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FA7B5-D51E-0EBA-DA75-9E1B863928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0D8D80-69D5-682D-6788-8F3A452533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2C84A4-2F9F-DC4F-74C1-19F1EB3CFB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980B86-C717-EA60-2269-392FD0F72C59}"/>
              </a:ext>
            </a:extLst>
          </p:cNvPr>
          <p:cNvSpPr>
            <a:spLocks noGrp="1"/>
          </p:cNvSpPr>
          <p:nvPr>
            <p:ph type="dt" sz="half" idx="10"/>
          </p:nvPr>
        </p:nvSpPr>
        <p:spPr/>
        <p:txBody>
          <a:bodyPr/>
          <a:lstStyle/>
          <a:p>
            <a:fld id="{A08589DF-59BF-4BA7-8495-56F0F1B65344}" type="datetimeFigureOut">
              <a:rPr lang="en-US" smtClean="0"/>
              <a:t>4/20/2026</a:t>
            </a:fld>
            <a:endParaRPr lang="en-US"/>
          </a:p>
        </p:txBody>
      </p:sp>
      <p:sp>
        <p:nvSpPr>
          <p:cNvPr id="6" name="Footer Placeholder 5">
            <a:extLst>
              <a:ext uri="{FF2B5EF4-FFF2-40B4-BE49-F238E27FC236}">
                <a16:creationId xmlns:a16="http://schemas.microsoft.com/office/drawing/2014/main" id="{2A658424-657A-53FD-0817-B7752742BB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85CE37-62D2-1E15-6CB6-04D76FAE4FE5}"/>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772120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B41E0-17E7-2015-B9F8-B897CA63290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8C2268-93A1-B778-5028-5783DE4D4D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B89D27-0D85-8C7B-142A-74403B21FF51}"/>
              </a:ext>
            </a:extLst>
          </p:cNvPr>
          <p:cNvSpPr>
            <a:spLocks noGrp="1"/>
          </p:cNvSpPr>
          <p:nvPr>
            <p:ph type="dt" sz="half" idx="10"/>
          </p:nvPr>
        </p:nvSpPr>
        <p:spPr/>
        <p:txBody>
          <a:bodyPr/>
          <a:lstStyle/>
          <a:p>
            <a:fld id="{A08589DF-59BF-4BA7-8495-56F0F1B65344}" type="datetimeFigureOut">
              <a:rPr lang="en-US" smtClean="0"/>
              <a:t>4/20/2026</a:t>
            </a:fld>
            <a:endParaRPr lang="en-US"/>
          </a:p>
        </p:txBody>
      </p:sp>
      <p:sp>
        <p:nvSpPr>
          <p:cNvPr id="5" name="Footer Placeholder 4">
            <a:extLst>
              <a:ext uri="{FF2B5EF4-FFF2-40B4-BE49-F238E27FC236}">
                <a16:creationId xmlns:a16="http://schemas.microsoft.com/office/drawing/2014/main" id="{27006D02-609F-7F78-2288-E43B0E23BB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358CFA-4B7F-0DBD-C99B-E464A43A4EA4}"/>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325179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A441BA-3638-2B1C-D3CA-F862A6C0309E}"/>
              </a:ext>
            </a:extLst>
          </p:cNvPr>
          <p:cNvSpPr>
            <a:spLocks noGrp="1"/>
          </p:cNvSpPr>
          <p:nvPr>
            <p:ph type="title" orient="vert"/>
          </p:nvPr>
        </p:nvSpPr>
        <p:spPr>
          <a:xfrm>
            <a:off x="8724900" y="1156893"/>
            <a:ext cx="2628900" cy="5020070"/>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6E47DF25-5E8D-D4BD-6759-5EB82BA5A3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CAFB57-7D5C-F3CC-330C-934B10E41D67}"/>
              </a:ext>
            </a:extLst>
          </p:cNvPr>
          <p:cNvSpPr>
            <a:spLocks noGrp="1"/>
          </p:cNvSpPr>
          <p:nvPr>
            <p:ph type="dt" sz="half" idx="10"/>
          </p:nvPr>
        </p:nvSpPr>
        <p:spPr/>
        <p:txBody>
          <a:bodyPr/>
          <a:lstStyle/>
          <a:p>
            <a:fld id="{A08589DF-59BF-4BA7-8495-56F0F1B65344}" type="datetimeFigureOut">
              <a:rPr lang="en-US" smtClean="0"/>
              <a:t>4/20/2026</a:t>
            </a:fld>
            <a:endParaRPr lang="en-US"/>
          </a:p>
        </p:txBody>
      </p:sp>
      <p:sp>
        <p:nvSpPr>
          <p:cNvPr id="5" name="Footer Placeholder 4">
            <a:extLst>
              <a:ext uri="{FF2B5EF4-FFF2-40B4-BE49-F238E27FC236}">
                <a16:creationId xmlns:a16="http://schemas.microsoft.com/office/drawing/2014/main" id="{596FCFFC-8250-D8A0-8181-3ECD823B9E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BCBCFC-BE45-2CEE-8C2D-480BF7B683A7}"/>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2850083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5988B7-8CA8-8706-C4A7-E1290D2D7C8E}"/>
              </a:ext>
            </a:extLst>
          </p:cNvPr>
          <p:cNvSpPr>
            <a:spLocks noGrp="1"/>
          </p:cNvSpPr>
          <p:nvPr>
            <p:ph type="title"/>
          </p:nvPr>
        </p:nvSpPr>
        <p:spPr>
          <a:xfrm>
            <a:off x="838200" y="1099100"/>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9097779-7EE0-B5F0-D625-DCEDCF087519}"/>
              </a:ext>
            </a:extLst>
          </p:cNvPr>
          <p:cNvSpPr>
            <a:spLocks noGrp="1"/>
          </p:cNvSpPr>
          <p:nvPr>
            <p:ph type="body" idx="1"/>
          </p:nvPr>
        </p:nvSpPr>
        <p:spPr>
          <a:xfrm>
            <a:off x="838200" y="2604051"/>
            <a:ext cx="10515600" cy="35729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06A9E4-6456-C2F9-73BB-C32B468DEA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8589DF-59BF-4BA7-8495-56F0F1B65344}" type="datetimeFigureOut">
              <a:rPr lang="en-US" smtClean="0"/>
              <a:t>4/20/2026</a:t>
            </a:fld>
            <a:endParaRPr lang="en-US" dirty="0"/>
          </a:p>
        </p:txBody>
      </p:sp>
      <p:sp>
        <p:nvSpPr>
          <p:cNvPr id="5" name="Footer Placeholder 4">
            <a:extLst>
              <a:ext uri="{FF2B5EF4-FFF2-40B4-BE49-F238E27FC236}">
                <a16:creationId xmlns:a16="http://schemas.microsoft.com/office/drawing/2014/main" id="{9D8F09A6-E403-39ED-FCDD-D2B49BE77C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dirty="0"/>
              <a:t>All Rights Reserved @Nexellence</a:t>
            </a:r>
          </a:p>
        </p:txBody>
      </p:sp>
      <p:sp>
        <p:nvSpPr>
          <p:cNvPr id="6" name="Slide Number Placeholder 5">
            <a:extLst>
              <a:ext uri="{FF2B5EF4-FFF2-40B4-BE49-F238E27FC236}">
                <a16:creationId xmlns:a16="http://schemas.microsoft.com/office/drawing/2014/main" id="{55A1CF5F-1237-1539-FFB2-2128023A2B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93C485-DB5A-4C7E-867A-4FFBAFD4DD2E}" type="slidenum">
              <a:rPr lang="en-US" smtClean="0"/>
              <a:t>‹#›</a:t>
            </a:fld>
            <a:endParaRPr lang="en-US"/>
          </a:p>
        </p:txBody>
      </p:sp>
      <p:pic>
        <p:nvPicPr>
          <p:cNvPr id="8" name="Picture 7" descr="A logo of a company  AI-generated content may be incorrect.">
            <a:extLst>
              <a:ext uri="{FF2B5EF4-FFF2-40B4-BE49-F238E27FC236}">
                <a16:creationId xmlns:a16="http://schemas.microsoft.com/office/drawing/2014/main" id="{625393FF-C7FE-64BE-F32C-440050D74E51}"/>
              </a:ext>
            </a:extLst>
          </p:cNvPr>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8809383" y="86258"/>
            <a:ext cx="3138446" cy="717936"/>
          </a:xfrm>
          <a:prstGeom prst="rect">
            <a:avLst/>
          </a:prstGeom>
        </p:spPr>
      </p:pic>
    </p:spTree>
    <p:extLst>
      <p:ext uri="{BB962C8B-B14F-4D97-AF65-F5344CB8AC3E}">
        <p14:creationId xmlns:p14="http://schemas.microsoft.com/office/powerpoint/2010/main" val="2104822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anaconda.com/download/success"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svg"/></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colab.research.google.co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sv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pixabay.com/en/attention-exclamation-mark-sign-307030/" TargetMode="External"/><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www.pexels.com/th-th/photo/63764/" TargetMode="External"/><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 Id="rId9" Type="http://schemas.openxmlformats.org/officeDocument/2006/relationships/image" Target="../media/image72.png"/></Relationships>
</file>

<file path=ppt/slides/_rels/slide6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 Id="rId5" Type="http://schemas.openxmlformats.org/officeDocument/2006/relationships/image" Target="../media/image77.png"/><Relationship Id="rId4" Type="http://schemas.openxmlformats.org/officeDocument/2006/relationships/image" Target="../media/image7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5535" y="1196791"/>
            <a:ext cx="10442944" cy="2387600"/>
          </a:xfrm>
        </p:spPr>
        <p:txBody>
          <a:bodyPr>
            <a:normAutofit/>
          </a:bodyPr>
          <a:lstStyle/>
          <a:p>
            <a:r>
              <a:rPr lang="en-US" dirty="0"/>
              <a:t>Chapter 4: Data Analysis in Python</a:t>
            </a:r>
            <a:endParaRPr dirty="0"/>
          </a:p>
        </p:txBody>
      </p:sp>
      <p:sp>
        <p:nvSpPr>
          <p:cNvPr id="3" name="Subtitle 2"/>
          <p:cNvSpPr>
            <a:spLocks noGrp="1"/>
          </p:cNvSpPr>
          <p:nvPr>
            <p:ph type="subTitle" idx="1"/>
          </p:nvPr>
        </p:nvSpPr>
        <p:spPr>
          <a:xfrm>
            <a:off x="1524000" y="4231758"/>
            <a:ext cx="9144000" cy="1026042"/>
          </a:xfrm>
        </p:spPr>
        <p:txBody>
          <a:bodyPr/>
          <a:lstStyle/>
          <a:p>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3BB0A-60D7-7E1C-3996-32E7396111C9}"/>
              </a:ext>
            </a:extLst>
          </p:cNvPr>
          <p:cNvSpPr>
            <a:spLocks noGrp="1"/>
          </p:cNvSpPr>
          <p:nvPr>
            <p:ph type="title"/>
          </p:nvPr>
        </p:nvSpPr>
        <p:spPr/>
        <p:txBody>
          <a:bodyPr/>
          <a:lstStyle/>
          <a:p>
            <a:r>
              <a:rPr lang="en-US" dirty="0"/>
              <a:t>Why Python for Data Analysis?</a:t>
            </a:r>
          </a:p>
        </p:txBody>
      </p:sp>
      <p:pic>
        <p:nvPicPr>
          <p:cNvPr id="1026" name="Picture 2" descr="python™">
            <a:extLst>
              <a:ext uri="{FF2B5EF4-FFF2-40B4-BE49-F238E27FC236}">
                <a16:creationId xmlns:a16="http://schemas.microsoft.com/office/drawing/2014/main" id="{7A8E7700-57FE-510C-6982-099B5EEDF1D2}"/>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0" y="19614"/>
            <a:ext cx="4678362" cy="1322847"/>
          </a:xfrm>
          <a:prstGeom prst="rect">
            <a:avLst/>
          </a:prstGeom>
          <a:noFill/>
          <a:extLst>
            <a:ext uri="{909E8E84-426E-40DD-AFC4-6F175D3DCCD1}">
              <a14:hiddenFill xmlns:a14="http://schemas.microsoft.com/office/drawing/2010/main">
                <a:solidFill>
                  <a:srgbClr val="FFFFFF"/>
                </a:solidFill>
              </a14:hiddenFill>
            </a:ext>
          </a:extLst>
        </p:spPr>
      </p:pic>
      <p:sp>
        <p:nvSpPr>
          <p:cNvPr id="4" name="Shape 1">
            <a:extLst>
              <a:ext uri="{FF2B5EF4-FFF2-40B4-BE49-F238E27FC236}">
                <a16:creationId xmlns:a16="http://schemas.microsoft.com/office/drawing/2014/main" id="{E2ED0203-6ACB-A79D-3632-2DE6AB6E34C2}"/>
              </a:ext>
            </a:extLst>
          </p:cNvPr>
          <p:cNvSpPr/>
          <p:nvPr/>
        </p:nvSpPr>
        <p:spPr>
          <a:xfrm>
            <a:off x="293727" y="2526184"/>
            <a:ext cx="510302" cy="510302"/>
          </a:xfrm>
          <a:prstGeom prst="roundRect">
            <a:avLst>
              <a:gd name="adj" fmla="val 1866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pic>
        <p:nvPicPr>
          <p:cNvPr id="5" name="Image 1" descr="preencoded.png">
            <a:extLst>
              <a:ext uri="{FF2B5EF4-FFF2-40B4-BE49-F238E27FC236}">
                <a16:creationId xmlns:a16="http://schemas.microsoft.com/office/drawing/2014/main" id="{EB035ED2-D745-4FDE-A603-CCB8BE751736}"/>
              </a:ext>
            </a:extLst>
          </p:cNvPr>
          <p:cNvPicPr>
            <a:picLocks noChangeAspect="1"/>
          </p:cNvPicPr>
          <p:nvPr/>
        </p:nvPicPr>
        <p:blipFill>
          <a:blip r:embed="rId3"/>
          <a:stretch>
            <a:fillRect/>
          </a:stretch>
        </p:blipFill>
        <p:spPr>
          <a:xfrm>
            <a:off x="378797" y="2568689"/>
            <a:ext cx="340162" cy="425291"/>
          </a:xfrm>
          <a:prstGeom prst="rect">
            <a:avLst/>
          </a:prstGeom>
        </p:spPr>
      </p:pic>
      <p:sp>
        <p:nvSpPr>
          <p:cNvPr id="6" name="Text 2">
            <a:extLst>
              <a:ext uri="{FF2B5EF4-FFF2-40B4-BE49-F238E27FC236}">
                <a16:creationId xmlns:a16="http://schemas.microsoft.com/office/drawing/2014/main" id="{4C5D15C5-B0F6-F245-D51E-D21A285E33C8}"/>
              </a:ext>
            </a:extLst>
          </p:cNvPr>
          <p:cNvSpPr/>
          <p:nvPr/>
        </p:nvSpPr>
        <p:spPr>
          <a:xfrm>
            <a:off x="1030843" y="260405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Aptos" panose="020B0004020202020204" pitchFamily="34" charset="0"/>
                <a:ea typeface="Playfair Display Bold" pitchFamily="34" charset="-122"/>
                <a:cs typeface="Playfair Display Bold" pitchFamily="34" charset="-120"/>
              </a:rPr>
              <a:t>Easy to learn syntax</a:t>
            </a:r>
            <a:endParaRPr lang="en-US" sz="2200" dirty="0">
              <a:latin typeface="Aptos" panose="020B0004020202020204" pitchFamily="34" charset="0"/>
            </a:endParaRPr>
          </a:p>
        </p:txBody>
      </p:sp>
      <p:sp>
        <p:nvSpPr>
          <p:cNvPr id="7" name="Text 3">
            <a:extLst>
              <a:ext uri="{FF2B5EF4-FFF2-40B4-BE49-F238E27FC236}">
                <a16:creationId xmlns:a16="http://schemas.microsoft.com/office/drawing/2014/main" id="{8AE4E0FA-DC4C-69FB-B518-982A40CC4CFD}"/>
              </a:ext>
            </a:extLst>
          </p:cNvPr>
          <p:cNvSpPr/>
          <p:nvPr/>
        </p:nvSpPr>
        <p:spPr>
          <a:xfrm>
            <a:off x="1030843" y="3094469"/>
            <a:ext cx="5642610" cy="725805"/>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Aptos" panose="020B0004020202020204" pitchFamily="34" charset="0"/>
                <a:ea typeface="Inter" pitchFamily="34" charset="-122"/>
                <a:cs typeface="Inter" pitchFamily="34" charset="-120"/>
              </a:rPr>
              <a:t>Readable, expressive syntax with strong typing conventions. Python is the #1 language in data science, ML, and AI research — knowing it opens every modern data role.</a:t>
            </a:r>
            <a:endParaRPr lang="en-US" sz="1750" dirty="0">
              <a:latin typeface="Aptos" panose="020B0004020202020204" pitchFamily="34" charset="0"/>
            </a:endParaRPr>
          </a:p>
        </p:txBody>
      </p:sp>
      <p:sp>
        <p:nvSpPr>
          <p:cNvPr id="8" name="Shape 4">
            <a:extLst>
              <a:ext uri="{FF2B5EF4-FFF2-40B4-BE49-F238E27FC236}">
                <a16:creationId xmlns:a16="http://schemas.microsoft.com/office/drawing/2014/main" id="{3416A7DD-7BFF-01F9-E88E-E46251962D45}"/>
              </a:ext>
            </a:extLst>
          </p:cNvPr>
          <p:cNvSpPr/>
          <p:nvPr/>
        </p:nvSpPr>
        <p:spPr>
          <a:xfrm>
            <a:off x="6956940" y="2526184"/>
            <a:ext cx="510302" cy="510302"/>
          </a:xfrm>
          <a:prstGeom prst="roundRect">
            <a:avLst>
              <a:gd name="adj" fmla="val 1866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pic>
        <p:nvPicPr>
          <p:cNvPr id="9" name="Image 2" descr="preencoded.png">
            <a:extLst>
              <a:ext uri="{FF2B5EF4-FFF2-40B4-BE49-F238E27FC236}">
                <a16:creationId xmlns:a16="http://schemas.microsoft.com/office/drawing/2014/main" id="{6F55611C-6000-78A1-6901-9C515A239DBF}"/>
              </a:ext>
            </a:extLst>
          </p:cNvPr>
          <p:cNvPicPr>
            <a:picLocks noChangeAspect="1"/>
          </p:cNvPicPr>
          <p:nvPr/>
        </p:nvPicPr>
        <p:blipFill>
          <a:blip r:embed="rId4"/>
          <a:stretch>
            <a:fillRect/>
          </a:stretch>
        </p:blipFill>
        <p:spPr>
          <a:xfrm>
            <a:off x="7042011" y="2568689"/>
            <a:ext cx="340162" cy="425291"/>
          </a:xfrm>
          <a:prstGeom prst="rect">
            <a:avLst/>
          </a:prstGeom>
        </p:spPr>
      </p:pic>
      <p:sp>
        <p:nvSpPr>
          <p:cNvPr id="10" name="Text 5">
            <a:extLst>
              <a:ext uri="{FF2B5EF4-FFF2-40B4-BE49-F238E27FC236}">
                <a16:creationId xmlns:a16="http://schemas.microsoft.com/office/drawing/2014/main" id="{C516C2DD-210D-75F9-A880-3A320352532D}"/>
              </a:ext>
            </a:extLst>
          </p:cNvPr>
          <p:cNvSpPr/>
          <p:nvPr/>
        </p:nvSpPr>
        <p:spPr>
          <a:xfrm>
            <a:off x="7694056" y="260405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Aptos" panose="020B0004020202020204" pitchFamily="34" charset="0"/>
                <a:ea typeface="Playfair Display Bold" pitchFamily="34" charset="-122"/>
                <a:cs typeface="Playfair Display Bold" pitchFamily="34" charset="-120"/>
              </a:rPr>
              <a:t>Batteries included</a:t>
            </a:r>
            <a:endParaRPr lang="en-US" sz="2200" dirty="0">
              <a:latin typeface="Aptos" panose="020B0004020202020204" pitchFamily="34" charset="0"/>
            </a:endParaRPr>
          </a:p>
        </p:txBody>
      </p:sp>
      <p:sp>
        <p:nvSpPr>
          <p:cNvPr id="11" name="Text 6">
            <a:extLst>
              <a:ext uri="{FF2B5EF4-FFF2-40B4-BE49-F238E27FC236}">
                <a16:creationId xmlns:a16="http://schemas.microsoft.com/office/drawing/2014/main" id="{B87D628B-A5F7-D705-129A-BEF52BAABBAE}"/>
              </a:ext>
            </a:extLst>
          </p:cNvPr>
          <p:cNvSpPr/>
          <p:nvPr/>
        </p:nvSpPr>
        <p:spPr>
          <a:xfrm>
            <a:off x="7694056" y="2979628"/>
            <a:ext cx="3235882" cy="725805"/>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Aptos" panose="020B0004020202020204" pitchFamily="34" charset="0"/>
                <a:ea typeface="Inter" pitchFamily="34" charset="-122"/>
                <a:cs typeface="Inter" pitchFamily="34" charset="-120"/>
              </a:rPr>
              <a:t>NumPy (vectorized math), pandas (tabular data), matplotlib/seaborn (visualization), scikit-learn (ML), TensorFlow/PyTorch (deep learning) — the complete data science stack.</a:t>
            </a:r>
            <a:endParaRPr lang="en-US" sz="1750" dirty="0">
              <a:latin typeface="Aptos" panose="020B0004020202020204" pitchFamily="34" charset="0"/>
            </a:endParaRPr>
          </a:p>
        </p:txBody>
      </p:sp>
      <p:sp>
        <p:nvSpPr>
          <p:cNvPr id="12" name="Shape 7">
            <a:extLst>
              <a:ext uri="{FF2B5EF4-FFF2-40B4-BE49-F238E27FC236}">
                <a16:creationId xmlns:a16="http://schemas.microsoft.com/office/drawing/2014/main" id="{13D6201F-C9FB-0E20-39B8-6F9201EF5B6C}"/>
              </a:ext>
            </a:extLst>
          </p:cNvPr>
          <p:cNvSpPr/>
          <p:nvPr/>
        </p:nvSpPr>
        <p:spPr>
          <a:xfrm>
            <a:off x="293727" y="4273903"/>
            <a:ext cx="510302" cy="510302"/>
          </a:xfrm>
          <a:prstGeom prst="roundRect">
            <a:avLst>
              <a:gd name="adj" fmla="val 1866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pic>
        <p:nvPicPr>
          <p:cNvPr id="13" name="Image 3" descr="preencoded.png">
            <a:extLst>
              <a:ext uri="{FF2B5EF4-FFF2-40B4-BE49-F238E27FC236}">
                <a16:creationId xmlns:a16="http://schemas.microsoft.com/office/drawing/2014/main" id="{5191703F-DC67-B32E-3121-5A37DB775EE0}"/>
              </a:ext>
            </a:extLst>
          </p:cNvPr>
          <p:cNvPicPr>
            <a:picLocks noChangeAspect="1"/>
          </p:cNvPicPr>
          <p:nvPr/>
        </p:nvPicPr>
        <p:blipFill>
          <a:blip r:embed="rId5"/>
          <a:stretch>
            <a:fillRect/>
          </a:stretch>
        </p:blipFill>
        <p:spPr>
          <a:xfrm>
            <a:off x="378797" y="4316408"/>
            <a:ext cx="340162" cy="425291"/>
          </a:xfrm>
          <a:prstGeom prst="rect">
            <a:avLst/>
          </a:prstGeom>
        </p:spPr>
      </p:pic>
      <p:sp>
        <p:nvSpPr>
          <p:cNvPr id="14" name="Text 8">
            <a:extLst>
              <a:ext uri="{FF2B5EF4-FFF2-40B4-BE49-F238E27FC236}">
                <a16:creationId xmlns:a16="http://schemas.microsoft.com/office/drawing/2014/main" id="{9846DD44-BEAC-CB53-97AF-46B50D8B3AA7}"/>
              </a:ext>
            </a:extLst>
          </p:cNvPr>
          <p:cNvSpPr/>
          <p:nvPr/>
        </p:nvSpPr>
        <p:spPr>
          <a:xfrm>
            <a:off x="1030843" y="4351769"/>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Aptos" panose="020B0004020202020204" pitchFamily="34" charset="0"/>
                <a:ea typeface="Playfair Display Bold" pitchFamily="34" charset="-122"/>
                <a:cs typeface="Playfair Display Bold" pitchFamily="34" charset="-120"/>
              </a:rPr>
              <a:t>Broad usage</a:t>
            </a:r>
            <a:endParaRPr lang="en-US" sz="2200" dirty="0">
              <a:latin typeface="Aptos" panose="020B0004020202020204" pitchFamily="34" charset="0"/>
            </a:endParaRPr>
          </a:p>
        </p:txBody>
      </p:sp>
      <p:sp>
        <p:nvSpPr>
          <p:cNvPr id="15" name="Text 9">
            <a:extLst>
              <a:ext uri="{FF2B5EF4-FFF2-40B4-BE49-F238E27FC236}">
                <a16:creationId xmlns:a16="http://schemas.microsoft.com/office/drawing/2014/main" id="{B6017575-EA86-A112-E739-2F2FEF5AAD31}"/>
              </a:ext>
            </a:extLst>
          </p:cNvPr>
          <p:cNvSpPr/>
          <p:nvPr/>
        </p:nvSpPr>
        <p:spPr>
          <a:xfrm>
            <a:off x="1030843" y="4784205"/>
            <a:ext cx="5642610" cy="725805"/>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Aptos" panose="020B0004020202020204" pitchFamily="34" charset="0"/>
                <a:ea typeface="Inter" pitchFamily="34" charset="-122"/>
                <a:cs typeface="Inter" pitchFamily="34" charset="-120"/>
              </a:rPr>
              <a:t>Netflix uses Python for recommendation algorithms, Spotify for music analysis, NASA for mission data pipelines, and Instagram for backend infrastructure — you’ll see examples in this chapter.</a:t>
            </a:r>
            <a:endParaRPr lang="en-US" sz="1750" dirty="0">
              <a:latin typeface="Aptos" panose="020B0004020202020204" pitchFamily="34" charset="0"/>
            </a:endParaRPr>
          </a:p>
        </p:txBody>
      </p:sp>
      <p:sp>
        <p:nvSpPr>
          <p:cNvPr id="16" name="Shape 10">
            <a:extLst>
              <a:ext uri="{FF2B5EF4-FFF2-40B4-BE49-F238E27FC236}">
                <a16:creationId xmlns:a16="http://schemas.microsoft.com/office/drawing/2014/main" id="{87F2C7CA-833D-92EE-C45B-44EE51277EC8}"/>
              </a:ext>
            </a:extLst>
          </p:cNvPr>
          <p:cNvSpPr/>
          <p:nvPr/>
        </p:nvSpPr>
        <p:spPr>
          <a:xfrm>
            <a:off x="6956940" y="4273903"/>
            <a:ext cx="510302" cy="510302"/>
          </a:xfrm>
          <a:prstGeom prst="roundRect">
            <a:avLst>
              <a:gd name="adj" fmla="val 1866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pic>
        <p:nvPicPr>
          <p:cNvPr id="17" name="Image 4" descr="preencoded.png">
            <a:extLst>
              <a:ext uri="{FF2B5EF4-FFF2-40B4-BE49-F238E27FC236}">
                <a16:creationId xmlns:a16="http://schemas.microsoft.com/office/drawing/2014/main" id="{1B8C1FB5-5265-67AC-C5E5-D3D143AF4BAA}"/>
              </a:ext>
            </a:extLst>
          </p:cNvPr>
          <p:cNvPicPr>
            <a:picLocks noChangeAspect="1"/>
          </p:cNvPicPr>
          <p:nvPr/>
        </p:nvPicPr>
        <p:blipFill>
          <a:blip r:embed="rId6"/>
          <a:stretch>
            <a:fillRect/>
          </a:stretch>
        </p:blipFill>
        <p:spPr>
          <a:xfrm>
            <a:off x="7042011" y="4316408"/>
            <a:ext cx="340162" cy="425291"/>
          </a:xfrm>
          <a:prstGeom prst="rect">
            <a:avLst/>
          </a:prstGeom>
        </p:spPr>
      </p:pic>
      <p:sp>
        <p:nvSpPr>
          <p:cNvPr id="18" name="Text 11">
            <a:extLst>
              <a:ext uri="{FF2B5EF4-FFF2-40B4-BE49-F238E27FC236}">
                <a16:creationId xmlns:a16="http://schemas.microsoft.com/office/drawing/2014/main" id="{416C5C4B-0B2A-6774-135D-B4D2F3291BEF}"/>
              </a:ext>
            </a:extLst>
          </p:cNvPr>
          <p:cNvSpPr/>
          <p:nvPr/>
        </p:nvSpPr>
        <p:spPr>
          <a:xfrm>
            <a:off x="7694056" y="4351769"/>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Aptos" panose="020B0004020202020204" pitchFamily="34" charset="0"/>
                <a:ea typeface="Playfair Display Bold" pitchFamily="34" charset="-122"/>
                <a:cs typeface="Playfair Display Bold" pitchFamily="34" charset="-120"/>
              </a:rPr>
              <a:t>Large community</a:t>
            </a:r>
            <a:endParaRPr lang="en-US" sz="2200" dirty="0">
              <a:latin typeface="Aptos" panose="020B0004020202020204" pitchFamily="34" charset="0"/>
            </a:endParaRPr>
          </a:p>
        </p:txBody>
      </p:sp>
      <p:sp>
        <p:nvSpPr>
          <p:cNvPr id="19" name="Text 12">
            <a:extLst>
              <a:ext uri="{FF2B5EF4-FFF2-40B4-BE49-F238E27FC236}">
                <a16:creationId xmlns:a16="http://schemas.microsoft.com/office/drawing/2014/main" id="{61E5C924-EFAA-8B5D-71B5-75C12275C323}"/>
              </a:ext>
            </a:extLst>
          </p:cNvPr>
          <p:cNvSpPr/>
          <p:nvPr/>
        </p:nvSpPr>
        <p:spPr>
          <a:xfrm>
            <a:off x="7694056" y="4741699"/>
            <a:ext cx="3467101" cy="725805"/>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Aptos" panose="020B0004020202020204" pitchFamily="34" charset="0"/>
                <a:ea typeface="Inter" pitchFamily="34" charset="-122"/>
                <a:cs typeface="Inter" pitchFamily="34" charset="-120"/>
              </a:rPr>
              <a:t>The largest data science community worldwide. Stack Overflow, GitHub, Kaggle, and Hugging Face are all Python-first — help is always one search away, including from AI coding agents.</a:t>
            </a:r>
            <a:endParaRPr lang="en-US" sz="1750" dirty="0">
              <a:latin typeface="Aptos" panose="020B0004020202020204" pitchFamily="34" charset="0"/>
            </a:endParaRPr>
          </a:p>
        </p:txBody>
      </p:sp>
    </p:spTree>
    <p:extLst>
      <p:ext uri="{BB962C8B-B14F-4D97-AF65-F5344CB8AC3E}">
        <p14:creationId xmlns:p14="http://schemas.microsoft.com/office/powerpoint/2010/main" val="336532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8619458-9701-439C-0BCC-EAEFA2CC7DDE}"/>
              </a:ext>
            </a:extLst>
          </p:cNvPr>
          <p:cNvGraphicFramePr>
            <a:graphicFrameLocks noGrp="1"/>
          </p:cNvGraphicFramePr>
          <p:nvPr>
            <p:ph idx="1"/>
            <p:extLst>
              <p:ext uri="{D42A27DB-BD31-4B8C-83A1-F6EECF244321}">
                <p14:modId xmlns:p14="http://schemas.microsoft.com/office/powerpoint/2010/main" val="4140816662"/>
              </p:ext>
            </p:extLst>
          </p:nvPr>
        </p:nvGraphicFramePr>
        <p:xfrm>
          <a:off x="838199" y="957263"/>
          <a:ext cx="11149013" cy="51863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2" descr="python™">
            <a:extLst>
              <a:ext uri="{FF2B5EF4-FFF2-40B4-BE49-F238E27FC236}">
                <a16:creationId xmlns:a16="http://schemas.microsoft.com/office/drawing/2014/main" id="{C6BFDCF3-60FB-DCC8-30CE-BC9A4B1FB76A}"/>
              </a:ext>
            </a:extLst>
          </p:cNvPr>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2343150" y="356846"/>
            <a:ext cx="4678362" cy="1322847"/>
          </a:xfrm>
          <a:prstGeom prst="rect">
            <a:avLst/>
          </a:prstGeom>
          <a:noFill/>
          <a:extLst>
            <a:ext uri="{909E8E84-426E-40DD-AFC4-6F175D3DCCD1}">
              <a14:hiddenFill xmlns:a14="http://schemas.microsoft.com/office/drawing/2010/main">
                <a:solidFill>
                  <a:srgbClr val="FFFFFF"/>
                </a:solidFill>
              </a14:hiddenFill>
            </a:ext>
          </a:extLst>
        </p:spPr>
      </p:pic>
      <p:pic>
        <p:nvPicPr>
          <p:cNvPr id="6" name="Content Placeholder 5">
            <a:extLst>
              <a:ext uri="{FF2B5EF4-FFF2-40B4-BE49-F238E27FC236}">
                <a16:creationId xmlns:a16="http://schemas.microsoft.com/office/drawing/2014/main" id="{2FAF4A86-5D95-8DAA-71DB-B27B2E57C57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835773" y="471741"/>
            <a:ext cx="1558925" cy="1207952"/>
          </a:xfrm>
          <a:prstGeom prst="rect">
            <a:avLst/>
          </a:prstGeom>
        </p:spPr>
      </p:pic>
    </p:spTree>
    <p:extLst>
      <p:ext uri="{BB962C8B-B14F-4D97-AF65-F5344CB8AC3E}">
        <p14:creationId xmlns:p14="http://schemas.microsoft.com/office/powerpoint/2010/main" val="1973436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D6EF4-966D-2C6A-A090-3EFF027FB74D}"/>
              </a:ext>
            </a:extLst>
          </p:cNvPr>
          <p:cNvSpPr>
            <a:spLocks noGrp="1"/>
          </p:cNvSpPr>
          <p:nvPr>
            <p:ph type="title"/>
          </p:nvPr>
        </p:nvSpPr>
        <p:spPr>
          <a:xfrm>
            <a:off x="283842" y="63965"/>
            <a:ext cx="10515600" cy="1325563"/>
          </a:xfrm>
        </p:spPr>
        <p:txBody>
          <a:bodyPr/>
          <a:lstStyle/>
          <a:p>
            <a:r>
              <a:rPr lang="en-US" dirty="0"/>
              <a:t>Real World Examples</a:t>
            </a:r>
          </a:p>
        </p:txBody>
      </p:sp>
      <p:pic>
        <p:nvPicPr>
          <p:cNvPr id="5" name="Content Placeholder 4" descr="A screenshot of a computer  AI-generated content may be incorrect.">
            <a:extLst>
              <a:ext uri="{FF2B5EF4-FFF2-40B4-BE49-F238E27FC236}">
                <a16:creationId xmlns:a16="http://schemas.microsoft.com/office/drawing/2014/main" id="{F1A8AD3E-890F-1C8D-6DE7-9D5EA1F0E8F0}"/>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5915025" y="1178390"/>
            <a:ext cx="5993133" cy="5478608"/>
          </a:xfrm>
        </p:spPr>
      </p:pic>
      <p:sp>
        <p:nvSpPr>
          <p:cNvPr id="6" name="TextBox 5">
            <a:extLst>
              <a:ext uri="{FF2B5EF4-FFF2-40B4-BE49-F238E27FC236}">
                <a16:creationId xmlns:a16="http://schemas.microsoft.com/office/drawing/2014/main" id="{C39E473A-4B4C-C7EB-0C24-5602182D5139}"/>
              </a:ext>
            </a:extLst>
          </p:cNvPr>
          <p:cNvSpPr txBox="1"/>
          <p:nvPr/>
        </p:nvSpPr>
        <p:spPr>
          <a:xfrm>
            <a:off x="6350320" y="6442502"/>
            <a:ext cx="5557838" cy="415498"/>
          </a:xfrm>
          <a:prstGeom prst="rect">
            <a:avLst/>
          </a:prstGeom>
          <a:noFill/>
        </p:spPr>
        <p:txBody>
          <a:bodyPr wrap="square" rtlCol="0">
            <a:spAutoFit/>
          </a:bodyPr>
          <a:lstStyle/>
          <a:p>
            <a:r>
              <a:rPr lang="en-US" sz="1050" dirty="0"/>
              <a:t>Source: https://</a:t>
            </a:r>
            <a:r>
              <a:rPr lang="en-US" sz="1050" dirty="0" err="1"/>
              <a:t>pythonflood.com</a:t>
            </a:r>
            <a:r>
              <a:rPr lang="en-US" sz="1050" dirty="0"/>
              <a:t>/python-at-netflix-the-python-story-behind-netflixs-streaming-empire-c11704a4c0bb</a:t>
            </a:r>
          </a:p>
        </p:txBody>
      </p:sp>
      <p:pic>
        <p:nvPicPr>
          <p:cNvPr id="11" name="Picture 10" descr="A screenshot of a computer game  AI-generated content may be incorrect.">
            <a:extLst>
              <a:ext uri="{FF2B5EF4-FFF2-40B4-BE49-F238E27FC236}">
                <a16:creationId xmlns:a16="http://schemas.microsoft.com/office/drawing/2014/main" id="{9FD37CAD-A391-CD7F-3A78-D8528A5B58C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83842" y="1389528"/>
            <a:ext cx="5833823" cy="4925036"/>
          </a:xfrm>
          <a:prstGeom prst="rect">
            <a:avLst/>
          </a:prstGeom>
        </p:spPr>
      </p:pic>
      <p:sp>
        <p:nvSpPr>
          <p:cNvPr id="12" name="TextBox 11">
            <a:extLst>
              <a:ext uri="{FF2B5EF4-FFF2-40B4-BE49-F238E27FC236}">
                <a16:creationId xmlns:a16="http://schemas.microsoft.com/office/drawing/2014/main" id="{68B8751E-D8FB-C24F-B555-B7413F0710B3}"/>
              </a:ext>
            </a:extLst>
          </p:cNvPr>
          <p:cNvSpPr txBox="1"/>
          <p:nvPr/>
        </p:nvSpPr>
        <p:spPr>
          <a:xfrm>
            <a:off x="283842" y="6467391"/>
            <a:ext cx="5176417" cy="261610"/>
          </a:xfrm>
          <a:prstGeom prst="rect">
            <a:avLst/>
          </a:prstGeom>
          <a:noFill/>
        </p:spPr>
        <p:txBody>
          <a:bodyPr wrap="none" rtlCol="0">
            <a:spAutoFit/>
          </a:bodyPr>
          <a:lstStyle/>
          <a:p>
            <a:r>
              <a:rPr lang="en-US" sz="1100" dirty="0"/>
              <a:t>Source: https://</a:t>
            </a:r>
            <a:r>
              <a:rPr lang="en-US" sz="1100" dirty="0" err="1"/>
              <a:t>engineering.atspotify.com</a:t>
            </a:r>
            <a:r>
              <a:rPr lang="en-US" sz="1100" dirty="0"/>
              <a:t>/2013/03/how-we-use-python-at-</a:t>
            </a:r>
            <a:r>
              <a:rPr lang="en-US" sz="1100" dirty="0" err="1"/>
              <a:t>spotify</a:t>
            </a:r>
            <a:endParaRPr lang="en-US" sz="1100" dirty="0"/>
          </a:p>
        </p:txBody>
      </p:sp>
    </p:spTree>
    <p:extLst>
      <p:ext uri="{BB962C8B-B14F-4D97-AF65-F5344CB8AC3E}">
        <p14:creationId xmlns:p14="http://schemas.microsoft.com/office/powerpoint/2010/main" val="2835668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7E3E7-26F9-EFA5-85D2-214D426F73F5}"/>
              </a:ext>
            </a:extLst>
          </p:cNvPr>
          <p:cNvSpPr>
            <a:spLocks noGrp="1"/>
          </p:cNvSpPr>
          <p:nvPr>
            <p:ph type="title"/>
          </p:nvPr>
        </p:nvSpPr>
        <p:spPr>
          <a:xfrm>
            <a:off x="838200" y="399370"/>
            <a:ext cx="10515600" cy="1325563"/>
          </a:xfrm>
        </p:spPr>
        <p:txBody>
          <a:bodyPr/>
          <a:lstStyle/>
          <a:p>
            <a:r>
              <a:rPr lang="en-US" dirty="0"/>
              <a:t>Real World Examples</a:t>
            </a:r>
          </a:p>
        </p:txBody>
      </p:sp>
      <p:pic>
        <p:nvPicPr>
          <p:cNvPr id="4" name="Picture 3" descr="A blue and white text on a blue background  AI-generated content may be incorrect.">
            <a:extLst>
              <a:ext uri="{FF2B5EF4-FFF2-40B4-BE49-F238E27FC236}">
                <a16:creationId xmlns:a16="http://schemas.microsoft.com/office/drawing/2014/main" id="{7EB5F69F-D28D-55CA-40A8-9FCCCD01C1A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38757" y="1724933"/>
            <a:ext cx="11914485" cy="3733266"/>
          </a:xfrm>
          <a:prstGeom prst="rect">
            <a:avLst/>
          </a:prstGeom>
        </p:spPr>
      </p:pic>
      <p:sp>
        <p:nvSpPr>
          <p:cNvPr id="5" name="TextBox 4">
            <a:extLst>
              <a:ext uri="{FF2B5EF4-FFF2-40B4-BE49-F238E27FC236}">
                <a16:creationId xmlns:a16="http://schemas.microsoft.com/office/drawing/2014/main" id="{4D9E6840-0436-2C71-A09F-B6C52595968A}"/>
              </a:ext>
            </a:extLst>
          </p:cNvPr>
          <p:cNvSpPr txBox="1"/>
          <p:nvPr/>
        </p:nvSpPr>
        <p:spPr>
          <a:xfrm>
            <a:off x="4101418" y="5738362"/>
            <a:ext cx="3399520" cy="307777"/>
          </a:xfrm>
          <a:prstGeom prst="rect">
            <a:avLst/>
          </a:prstGeom>
          <a:noFill/>
        </p:spPr>
        <p:txBody>
          <a:bodyPr wrap="none" rtlCol="0">
            <a:spAutoFit/>
          </a:bodyPr>
          <a:lstStyle/>
          <a:p>
            <a:r>
              <a:rPr lang="en-US" sz="1400" dirty="0"/>
              <a:t>https://</a:t>
            </a:r>
            <a:r>
              <a:rPr lang="en-US" sz="1400" dirty="0" err="1"/>
              <a:t>techport.nasa.gov</a:t>
            </a:r>
            <a:r>
              <a:rPr lang="en-US" sz="1400" dirty="0"/>
              <a:t>/projects/95917</a:t>
            </a:r>
          </a:p>
        </p:txBody>
      </p:sp>
    </p:spTree>
    <p:extLst>
      <p:ext uri="{BB962C8B-B14F-4D97-AF65-F5344CB8AC3E}">
        <p14:creationId xmlns:p14="http://schemas.microsoft.com/office/powerpoint/2010/main" val="144253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48499-7436-C00D-3375-35DD34E7BB50}"/>
              </a:ext>
            </a:extLst>
          </p:cNvPr>
          <p:cNvSpPr>
            <a:spLocks noGrp="1"/>
          </p:cNvSpPr>
          <p:nvPr>
            <p:ph type="title"/>
          </p:nvPr>
        </p:nvSpPr>
        <p:spPr/>
        <p:txBody>
          <a:bodyPr>
            <a:normAutofit/>
          </a:bodyPr>
          <a:lstStyle/>
          <a:p>
            <a:r>
              <a:rPr lang="en-US" dirty="0"/>
              <a:t>Setting Up Python: Anaconda and </a:t>
            </a:r>
            <a:r>
              <a:rPr lang="en-US" dirty="0" err="1"/>
              <a:t>Jupyter</a:t>
            </a:r>
            <a:r>
              <a:rPr lang="en-US" dirty="0"/>
              <a:t> Notebooks</a:t>
            </a:r>
          </a:p>
        </p:txBody>
      </p:sp>
      <p:sp>
        <p:nvSpPr>
          <p:cNvPr id="3" name="Content Placeholder 2">
            <a:extLst>
              <a:ext uri="{FF2B5EF4-FFF2-40B4-BE49-F238E27FC236}">
                <a16:creationId xmlns:a16="http://schemas.microsoft.com/office/drawing/2014/main" id="{F3930ECA-CB29-4B91-6ACD-BC7E518E204B}"/>
              </a:ext>
            </a:extLst>
          </p:cNvPr>
          <p:cNvSpPr>
            <a:spLocks noGrp="1"/>
          </p:cNvSpPr>
          <p:nvPr>
            <p:ph idx="1"/>
          </p:nvPr>
        </p:nvSpPr>
        <p:spPr/>
        <p:txBody>
          <a:bodyPr/>
          <a:lstStyle/>
          <a:p>
            <a:r>
              <a:rPr lang="en-US" dirty="0"/>
              <a:t>Let’s start with beginner-friendly options:</a:t>
            </a:r>
          </a:p>
          <a:p>
            <a:pPr lvl="1"/>
            <a:r>
              <a:rPr lang="en-US" dirty="0"/>
              <a:t>Anaconda Distribution (with </a:t>
            </a:r>
            <a:r>
              <a:rPr lang="en-US" dirty="0" err="1"/>
              <a:t>Jupyter</a:t>
            </a:r>
            <a:r>
              <a:rPr lang="en-US" dirty="0"/>
              <a:t> Notebooks) – a popular all-in-one installer.</a:t>
            </a:r>
          </a:p>
          <a:p>
            <a:endParaRPr lang="en-US" dirty="0"/>
          </a:p>
          <a:p>
            <a:r>
              <a:rPr lang="en-US" dirty="0"/>
              <a:t>In case you can’t install:</a:t>
            </a:r>
          </a:p>
          <a:p>
            <a:pPr lvl="1"/>
            <a:r>
              <a:rPr lang="en-US" dirty="0"/>
              <a:t>Google </a:t>
            </a:r>
            <a:r>
              <a:rPr lang="en-US" dirty="0" err="1"/>
              <a:t>Colab</a:t>
            </a:r>
            <a:r>
              <a:rPr lang="en-US" dirty="0"/>
              <a:t> – an online </a:t>
            </a:r>
            <a:r>
              <a:rPr lang="en-US" dirty="0" err="1"/>
              <a:t>Jupyter</a:t>
            </a:r>
            <a:r>
              <a:rPr lang="en-US" dirty="0"/>
              <a:t> Notebook environment that runs in your browser (no installation required).</a:t>
            </a:r>
          </a:p>
          <a:p>
            <a:endParaRPr lang="en-US" dirty="0"/>
          </a:p>
        </p:txBody>
      </p:sp>
    </p:spTree>
    <p:extLst>
      <p:ext uri="{BB962C8B-B14F-4D97-AF65-F5344CB8AC3E}">
        <p14:creationId xmlns:p14="http://schemas.microsoft.com/office/powerpoint/2010/main" val="3669022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59406-F570-1A28-BC8E-6CF18FA39598}"/>
              </a:ext>
            </a:extLst>
          </p:cNvPr>
          <p:cNvSpPr>
            <a:spLocks noGrp="1"/>
          </p:cNvSpPr>
          <p:nvPr>
            <p:ph type="title"/>
          </p:nvPr>
        </p:nvSpPr>
        <p:spPr/>
        <p:txBody>
          <a:bodyPr/>
          <a:lstStyle/>
          <a:p>
            <a:r>
              <a:rPr lang="en-US" dirty="0"/>
              <a:t>Install Anaconda (Python + </a:t>
            </a:r>
            <a:r>
              <a:rPr lang="en-US" dirty="0" err="1"/>
              <a:t>Jupyter</a:t>
            </a:r>
            <a:r>
              <a:rPr lang="en-US" dirty="0"/>
              <a:t>) </a:t>
            </a:r>
          </a:p>
        </p:txBody>
      </p:sp>
      <p:sp>
        <p:nvSpPr>
          <p:cNvPr id="4" name="AutoShape 2" descr="Anaconda">
            <a:extLst>
              <a:ext uri="{FF2B5EF4-FFF2-40B4-BE49-F238E27FC236}">
                <a16:creationId xmlns:a16="http://schemas.microsoft.com/office/drawing/2014/main" id="{9DBB2D63-3688-77EA-BEFF-5F79B6317BB9}"/>
              </a:ext>
            </a:extLst>
          </p:cNvPr>
          <p:cNvSpPr>
            <a:spLocks noGrp="1" noChangeAspect="1" noChangeArrowheads="1"/>
          </p:cNvSpPr>
          <p:nvPr>
            <p:ph idx="1"/>
          </p:nvPr>
        </p:nvSpPr>
        <p:spPr bwMode="auto">
          <a:xfrm>
            <a:off x="838200" y="2604051"/>
            <a:ext cx="4333875" cy="357291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fontScale="92500" lnSpcReduction="10000"/>
          </a:bodyPr>
          <a:lstStyle/>
          <a:p>
            <a:r>
              <a:rPr lang="en-US" dirty="0"/>
              <a:t>Go to: </a:t>
            </a:r>
            <a:r>
              <a:rPr lang="en-US" dirty="0">
                <a:hlinkClick r:id="rId3"/>
              </a:rPr>
              <a:t>https://www.anaconda.com/download/success</a:t>
            </a:r>
            <a:endParaRPr lang="en-US" dirty="0"/>
          </a:p>
          <a:p>
            <a:r>
              <a:rPr lang="en-US" dirty="0"/>
              <a:t>Download the correct option for your system</a:t>
            </a:r>
          </a:p>
          <a:p>
            <a:r>
              <a:rPr lang="en-US" dirty="0"/>
              <a:t>The file is large, it may take a few mins</a:t>
            </a:r>
          </a:p>
          <a:p>
            <a:r>
              <a:rPr lang="en-US" dirty="0"/>
              <a:t>After the download is complete, run and install it.  </a:t>
            </a:r>
          </a:p>
        </p:txBody>
      </p:sp>
      <p:pic>
        <p:nvPicPr>
          <p:cNvPr id="9" name="Graphic 8">
            <a:extLst>
              <a:ext uri="{FF2B5EF4-FFF2-40B4-BE49-F238E27FC236}">
                <a16:creationId xmlns:a16="http://schemas.microsoft.com/office/drawing/2014/main" id="{841E266F-A04E-74C9-2105-670BFDCC237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200" y="401638"/>
            <a:ext cx="3108444" cy="518074"/>
          </a:xfrm>
          <a:prstGeom prst="rect">
            <a:avLst/>
          </a:prstGeom>
        </p:spPr>
      </p:pic>
      <p:pic>
        <p:nvPicPr>
          <p:cNvPr id="11" name="Picture 10" descr="A screenshot of a computer  AI-generated content may be incorrect.">
            <a:extLst>
              <a:ext uri="{FF2B5EF4-FFF2-40B4-BE49-F238E27FC236}">
                <a16:creationId xmlns:a16="http://schemas.microsoft.com/office/drawing/2014/main" id="{961D7D3F-2227-2912-8507-AC2165A2138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757862" y="2055163"/>
            <a:ext cx="6434137" cy="4820575"/>
          </a:xfrm>
          <a:prstGeom prst="rect">
            <a:avLst/>
          </a:prstGeom>
        </p:spPr>
      </p:pic>
    </p:spTree>
    <p:extLst>
      <p:ext uri="{BB962C8B-B14F-4D97-AF65-F5344CB8AC3E}">
        <p14:creationId xmlns:p14="http://schemas.microsoft.com/office/powerpoint/2010/main" val="3296294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CEB0CE0-40FC-64F1-8E2F-9F1CF89C39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2C61BA-89F7-9D1C-5361-F19DCD8D90B0}"/>
              </a:ext>
            </a:extLst>
          </p:cNvPr>
          <p:cNvSpPr>
            <a:spLocks noGrp="1"/>
          </p:cNvSpPr>
          <p:nvPr>
            <p:ph type="title"/>
          </p:nvPr>
        </p:nvSpPr>
        <p:spPr/>
        <p:txBody>
          <a:bodyPr/>
          <a:lstStyle/>
          <a:p>
            <a:r>
              <a:rPr lang="en-US" dirty="0"/>
              <a:t>Install Anaconda (Python + </a:t>
            </a:r>
            <a:r>
              <a:rPr lang="en-US" dirty="0" err="1"/>
              <a:t>Jupyter</a:t>
            </a:r>
            <a:r>
              <a:rPr lang="en-US" dirty="0"/>
              <a:t>) </a:t>
            </a:r>
          </a:p>
        </p:txBody>
      </p:sp>
      <p:sp>
        <p:nvSpPr>
          <p:cNvPr id="4" name="AutoShape 2" descr="Anaconda">
            <a:extLst>
              <a:ext uri="{FF2B5EF4-FFF2-40B4-BE49-F238E27FC236}">
                <a16:creationId xmlns:a16="http://schemas.microsoft.com/office/drawing/2014/main" id="{90435E88-B379-4957-E1F8-BE445E0FAA7A}"/>
              </a:ext>
            </a:extLst>
          </p:cNvPr>
          <p:cNvSpPr>
            <a:spLocks noGrp="1" noChangeAspect="1" noChangeArrowheads="1"/>
          </p:cNvSpPr>
          <p:nvPr>
            <p:ph idx="1"/>
          </p:nvPr>
        </p:nvSpPr>
        <p:spPr bwMode="auto">
          <a:xfrm>
            <a:off x="838200" y="2604051"/>
            <a:ext cx="5591175" cy="357291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p>
            <a:r>
              <a:rPr lang="en-US" dirty="0"/>
              <a:t>Follow the prompts. </a:t>
            </a:r>
          </a:p>
          <a:p>
            <a:r>
              <a:rPr lang="en-US" dirty="0"/>
              <a:t>It will be a different screen for Mac and Windows.</a:t>
            </a:r>
          </a:p>
          <a:p>
            <a:r>
              <a:rPr lang="en-US" dirty="0"/>
              <a:t>Installation may take a few mins.</a:t>
            </a:r>
          </a:p>
          <a:p>
            <a:r>
              <a:rPr lang="en-US" dirty="0"/>
              <a:t>Once it’s done, you will have</a:t>
            </a:r>
          </a:p>
          <a:p>
            <a:pPr lvl="1"/>
            <a:r>
              <a:rPr lang="en-US" dirty="0"/>
              <a:t>Python and </a:t>
            </a:r>
          </a:p>
          <a:p>
            <a:pPr lvl="1"/>
            <a:r>
              <a:rPr lang="en-US" dirty="0"/>
              <a:t>Anaconda Navigator </a:t>
            </a:r>
          </a:p>
        </p:txBody>
      </p:sp>
      <p:pic>
        <p:nvPicPr>
          <p:cNvPr id="9" name="Graphic 8">
            <a:extLst>
              <a:ext uri="{FF2B5EF4-FFF2-40B4-BE49-F238E27FC236}">
                <a16:creationId xmlns:a16="http://schemas.microsoft.com/office/drawing/2014/main" id="{79A0D208-DBB4-AF72-B7B7-370B2A08E5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7200" y="401638"/>
            <a:ext cx="3108444" cy="518074"/>
          </a:xfrm>
          <a:prstGeom prst="rect">
            <a:avLst/>
          </a:prstGeom>
        </p:spPr>
      </p:pic>
      <p:pic>
        <p:nvPicPr>
          <p:cNvPr id="5" name="Picture 4" descr="A screenshot of a computer  AI-generated content may be incorrect.">
            <a:extLst>
              <a:ext uri="{FF2B5EF4-FFF2-40B4-BE49-F238E27FC236}">
                <a16:creationId xmlns:a16="http://schemas.microsoft.com/office/drawing/2014/main" id="{81F5057D-8F8D-A7B0-4626-B70182AA07B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659597" y="2783439"/>
            <a:ext cx="5008528" cy="3572911"/>
          </a:xfrm>
          <a:prstGeom prst="rect">
            <a:avLst/>
          </a:prstGeom>
        </p:spPr>
      </p:pic>
    </p:spTree>
    <p:extLst>
      <p:ext uri="{BB962C8B-B14F-4D97-AF65-F5344CB8AC3E}">
        <p14:creationId xmlns:p14="http://schemas.microsoft.com/office/powerpoint/2010/main" val="3760032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5414F-7507-E1C5-AF30-7A3EAD0982A5}"/>
              </a:ext>
            </a:extLst>
          </p:cNvPr>
          <p:cNvSpPr>
            <a:spLocks noGrp="1"/>
          </p:cNvSpPr>
          <p:nvPr>
            <p:ph type="title"/>
          </p:nvPr>
        </p:nvSpPr>
        <p:spPr/>
        <p:txBody>
          <a:bodyPr/>
          <a:lstStyle/>
          <a:p>
            <a:r>
              <a:rPr lang="en-US" dirty="0"/>
              <a:t>Launch </a:t>
            </a:r>
            <a:r>
              <a:rPr lang="en-US" dirty="0" err="1"/>
              <a:t>Jupyter</a:t>
            </a:r>
            <a:r>
              <a:rPr lang="en-US" dirty="0"/>
              <a:t> Notebook </a:t>
            </a:r>
          </a:p>
        </p:txBody>
      </p:sp>
      <p:sp>
        <p:nvSpPr>
          <p:cNvPr id="3" name="Content Placeholder 2">
            <a:extLst>
              <a:ext uri="{FF2B5EF4-FFF2-40B4-BE49-F238E27FC236}">
                <a16:creationId xmlns:a16="http://schemas.microsoft.com/office/drawing/2014/main" id="{114383E8-C34E-B05F-2672-A4A4B32C9AD4}"/>
              </a:ext>
            </a:extLst>
          </p:cNvPr>
          <p:cNvSpPr>
            <a:spLocks noGrp="1"/>
          </p:cNvSpPr>
          <p:nvPr>
            <p:ph idx="1"/>
          </p:nvPr>
        </p:nvSpPr>
        <p:spPr>
          <a:xfrm>
            <a:off x="838200" y="2424663"/>
            <a:ext cx="10515600" cy="3334237"/>
          </a:xfrm>
        </p:spPr>
        <p:txBody>
          <a:bodyPr/>
          <a:lstStyle/>
          <a:p>
            <a:r>
              <a:rPr lang="en-US" dirty="0"/>
              <a:t>Start Anaconda Navigator </a:t>
            </a:r>
          </a:p>
          <a:p>
            <a:r>
              <a:rPr lang="en-US" dirty="0"/>
              <a:t>Sign in is optional</a:t>
            </a:r>
          </a:p>
          <a:p>
            <a:r>
              <a:rPr lang="en-US" dirty="0"/>
              <a:t>Launch </a:t>
            </a:r>
            <a:r>
              <a:rPr lang="en-US" dirty="0" err="1"/>
              <a:t>Jupyter</a:t>
            </a:r>
            <a:r>
              <a:rPr lang="en-US" dirty="0"/>
              <a:t> Notebook</a:t>
            </a:r>
          </a:p>
        </p:txBody>
      </p:sp>
      <p:pic>
        <p:nvPicPr>
          <p:cNvPr id="6146" name="Picture 2" descr="Anaconda navigator Icons, Logos, Symbols – Free Download PNG ...">
            <a:extLst>
              <a:ext uri="{FF2B5EF4-FFF2-40B4-BE49-F238E27FC236}">
                <a16:creationId xmlns:a16="http://schemas.microsoft.com/office/drawing/2014/main" id="{F732CDF1-F30A-192A-A84F-DA66483F1ED7}"/>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7228925" y="1875875"/>
            <a:ext cx="2824712" cy="2824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9160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BFBFC-2395-2EBE-8DAF-D5CD6C804C49}"/>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693971A-E49D-B05A-5CAF-05E48E58D258}"/>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838200" y="537368"/>
            <a:ext cx="11074948" cy="5783263"/>
          </a:xfrm>
        </p:spPr>
      </p:pic>
    </p:spTree>
    <p:extLst>
      <p:ext uri="{BB962C8B-B14F-4D97-AF65-F5344CB8AC3E}">
        <p14:creationId xmlns:p14="http://schemas.microsoft.com/office/powerpoint/2010/main" val="35604044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9F6D9-C735-A6ED-80E8-37AC58AB2ECC}"/>
              </a:ext>
            </a:extLst>
          </p:cNvPr>
          <p:cNvSpPr>
            <a:spLocks noGrp="1"/>
          </p:cNvSpPr>
          <p:nvPr>
            <p:ph type="title"/>
          </p:nvPr>
        </p:nvSpPr>
        <p:spPr/>
        <p:txBody>
          <a:bodyPr/>
          <a:lstStyle/>
          <a:p>
            <a:r>
              <a:rPr lang="en-US" dirty="0"/>
              <a:t>Launch </a:t>
            </a:r>
            <a:r>
              <a:rPr lang="en-US" dirty="0" err="1"/>
              <a:t>Jupyter</a:t>
            </a:r>
            <a:r>
              <a:rPr lang="en-US" dirty="0"/>
              <a:t> Notebook – via Command Line</a:t>
            </a:r>
          </a:p>
        </p:txBody>
      </p:sp>
      <p:sp>
        <p:nvSpPr>
          <p:cNvPr id="3" name="Content Placeholder 2">
            <a:extLst>
              <a:ext uri="{FF2B5EF4-FFF2-40B4-BE49-F238E27FC236}">
                <a16:creationId xmlns:a16="http://schemas.microsoft.com/office/drawing/2014/main" id="{C98C4B58-2CC3-A732-CF70-579192B5F957}"/>
              </a:ext>
            </a:extLst>
          </p:cNvPr>
          <p:cNvSpPr>
            <a:spLocks noGrp="1"/>
          </p:cNvSpPr>
          <p:nvPr>
            <p:ph idx="1"/>
          </p:nvPr>
        </p:nvSpPr>
        <p:spPr/>
        <p:txBody>
          <a:bodyPr/>
          <a:lstStyle/>
          <a:p>
            <a:r>
              <a:rPr lang="en-US" dirty="0"/>
              <a:t>On Windows: </a:t>
            </a:r>
          </a:p>
          <a:p>
            <a:pPr lvl="1"/>
            <a:r>
              <a:rPr lang="en-US" dirty="0"/>
              <a:t>Open command line</a:t>
            </a:r>
          </a:p>
          <a:p>
            <a:pPr lvl="1"/>
            <a:r>
              <a:rPr lang="en-US" dirty="0"/>
              <a:t>Type: Anaconda Prompt </a:t>
            </a:r>
          </a:p>
          <a:p>
            <a:pPr lvl="1"/>
            <a:endParaRPr lang="en-US" dirty="0"/>
          </a:p>
          <a:p>
            <a:r>
              <a:rPr lang="en-US" dirty="0"/>
              <a:t>On Mac/Linux:</a:t>
            </a:r>
          </a:p>
          <a:p>
            <a:pPr lvl="1"/>
            <a:r>
              <a:rPr lang="en-US" dirty="0"/>
              <a:t>Open terminal app</a:t>
            </a:r>
          </a:p>
          <a:p>
            <a:pPr lvl="1"/>
            <a:r>
              <a:rPr lang="en-US" dirty="0"/>
              <a:t>Type: </a:t>
            </a:r>
            <a:r>
              <a:rPr lang="en-US" dirty="0" err="1"/>
              <a:t>jupyter</a:t>
            </a:r>
            <a:r>
              <a:rPr lang="en-US" dirty="0"/>
              <a:t> notebook </a:t>
            </a:r>
          </a:p>
        </p:txBody>
      </p:sp>
    </p:spTree>
    <p:extLst>
      <p:ext uri="{BB962C8B-B14F-4D97-AF65-F5344CB8AC3E}">
        <p14:creationId xmlns:p14="http://schemas.microsoft.com/office/powerpoint/2010/main" val="1837159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2E3011A-3442-9F73-391A-6ADF22F6B5D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938337" y="723646"/>
            <a:ext cx="7777163" cy="6055987"/>
          </a:xfrm>
          <a:prstGeom prst="rect">
            <a:avLst/>
          </a:prstGeom>
        </p:spPr>
      </p:pic>
    </p:spTree>
    <p:extLst>
      <p:ext uri="{BB962C8B-B14F-4D97-AF65-F5344CB8AC3E}">
        <p14:creationId xmlns:p14="http://schemas.microsoft.com/office/powerpoint/2010/main" val="2849193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79715-663E-A1EA-FA6E-52DCCC123E6E}"/>
              </a:ext>
            </a:extLst>
          </p:cNvPr>
          <p:cNvSpPr>
            <a:spLocks noGrp="1"/>
          </p:cNvSpPr>
          <p:nvPr>
            <p:ph type="title"/>
          </p:nvPr>
        </p:nvSpPr>
        <p:spPr>
          <a:xfrm>
            <a:off x="793790" y="805278"/>
            <a:ext cx="10515600" cy="1325563"/>
          </a:xfrm>
        </p:spPr>
        <p:txBody>
          <a:bodyPr/>
          <a:lstStyle/>
          <a:p>
            <a:r>
              <a:rPr lang="en-US" dirty="0"/>
              <a:t>What is </a:t>
            </a:r>
            <a:r>
              <a:rPr lang="en-US" dirty="0" err="1"/>
              <a:t>Jupyter</a:t>
            </a:r>
            <a:r>
              <a:rPr lang="en-US" dirty="0"/>
              <a:t> Notebook? </a:t>
            </a:r>
          </a:p>
        </p:txBody>
      </p:sp>
      <p:pic>
        <p:nvPicPr>
          <p:cNvPr id="7" name="Picture 6" descr="A logo with text and circles  AI-generated content may be incorrect.">
            <a:extLst>
              <a:ext uri="{FF2B5EF4-FFF2-40B4-BE49-F238E27FC236}">
                <a16:creationId xmlns:a16="http://schemas.microsoft.com/office/drawing/2014/main" id="{F8696820-290B-AFC3-BB38-2723B9583A7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886825" y="3038474"/>
            <a:ext cx="2032000" cy="2183925"/>
          </a:xfrm>
          <a:prstGeom prst="rect">
            <a:avLst/>
          </a:prstGeom>
        </p:spPr>
      </p:pic>
      <p:sp>
        <p:nvSpPr>
          <p:cNvPr id="10" name="Shape 2">
            <a:extLst>
              <a:ext uri="{FF2B5EF4-FFF2-40B4-BE49-F238E27FC236}">
                <a16:creationId xmlns:a16="http://schemas.microsoft.com/office/drawing/2014/main" id="{E9839B3A-07EF-D9FC-A35B-0708159705FA}"/>
              </a:ext>
            </a:extLst>
          </p:cNvPr>
          <p:cNvSpPr/>
          <p:nvPr/>
        </p:nvSpPr>
        <p:spPr>
          <a:xfrm>
            <a:off x="793790" y="2130841"/>
            <a:ext cx="510302" cy="510302"/>
          </a:xfrm>
          <a:prstGeom prst="roundRect">
            <a:avLst>
              <a:gd name="adj" fmla="val 18669"/>
            </a:avLst>
          </a:prstGeom>
          <a:solidFill>
            <a:srgbClr val="CCEDFF"/>
          </a:solidFill>
          <a:ln w="7620">
            <a:solidFill>
              <a:srgbClr val="B2D3E5"/>
            </a:solidFill>
            <a:prstDash val="solid"/>
          </a:ln>
        </p:spPr>
        <p:txBody>
          <a:bodyPr/>
          <a:lstStyle/>
          <a:p>
            <a:endParaRPr lang="en-US" sz="2400">
              <a:latin typeface="Aptos" panose="020B0004020202020204" pitchFamily="34" charset="0"/>
            </a:endParaRPr>
          </a:p>
        </p:txBody>
      </p:sp>
      <p:pic>
        <p:nvPicPr>
          <p:cNvPr id="11" name="Image 1" descr="preencoded.png">
            <a:extLst>
              <a:ext uri="{FF2B5EF4-FFF2-40B4-BE49-F238E27FC236}">
                <a16:creationId xmlns:a16="http://schemas.microsoft.com/office/drawing/2014/main" id="{9F5DD6AF-2FFB-6183-EABE-5F6EF0F43AB8}"/>
              </a:ext>
            </a:extLst>
          </p:cNvPr>
          <p:cNvPicPr>
            <a:picLocks noChangeAspect="1"/>
          </p:cNvPicPr>
          <p:nvPr/>
        </p:nvPicPr>
        <p:blipFill>
          <a:blip r:embed="rId3"/>
          <a:stretch>
            <a:fillRect/>
          </a:stretch>
        </p:blipFill>
        <p:spPr>
          <a:xfrm>
            <a:off x="878860" y="2173347"/>
            <a:ext cx="340162" cy="425291"/>
          </a:xfrm>
          <a:prstGeom prst="rect">
            <a:avLst/>
          </a:prstGeom>
        </p:spPr>
      </p:pic>
      <p:sp>
        <p:nvSpPr>
          <p:cNvPr id="12" name="Text 3">
            <a:extLst>
              <a:ext uri="{FF2B5EF4-FFF2-40B4-BE49-F238E27FC236}">
                <a16:creationId xmlns:a16="http://schemas.microsoft.com/office/drawing/2014/main" id="{A0F4439A-5ACA-11CB-8539-A505E1EA160D}"/>
              </a:ext>
            </a:extLst>
          </p:cNvPr>
          <p:cNvSpPr/>
          <p:nvPr/>
        </p:nvSpPr>
        <p:spPr>
          <a:xfrm>
            <a:off x="1530906" y="2208708"/>
            <a:ext cx="3193852" cy="354330"/>
          </a:xfrm>
          <a:prstGeom prst="rect">
            <a:avLst/>
          </a:prstGeom>
          <a:noFill/>
          <a:ln/>
        </p:spPr>
        <p:txBody>
          <a:bodyPr wrap="none" lIns="0" tIns="0" rIns="0" bIns="0" rtlCol="0" anchor="t"/>
          <a:lstStyle/>
          <a:p>
            <a:pPr marL="0" indent="0" algn="l">
              <a:lnSpc>
                <a:spcPts val="2750"/>
              </a:lnSpc>
              <a:buNone/>
            </a:pPr>
            <a:r>
              <a:rPr lang="en-US" sz="2400" b="1" dirty="0">
                <a:solidFill>
                  <a:srgbClr val="000000"/>
                </a:solidFill>
                <a:latin typeface="Aptos" panose="020B0004020202020204" pitchFamily="34" charset="0"/>
                <a:ea typeface="Playfair Display Bold" pitchFamily="34" charset="-122"/>
                <a:cs typeface="Playfair Display Bold" pitchFamily="34" charset="-120"/>
              </a:rPr>
              <a:t>Interactive Environment</a:t>
            </a:r>
            <a:endParaRPr lang="en-US" sz="2400" dirty="0">
              <a:latin typeface="Aptos" panose="020B0004020202020204" pitchFamily="34" charset="0"/>
            </a:endParaRPr>
          </a:p>
        </p:txBody>
      </p:sp>
      <p:sp>
        <p:nvSpPr>
          <p:cNvPr id="13" name="Text 4">
            <a:extLst>
              <a:ext uri="{FF2B5EF4-FFF2-40B4-BE49-F238E27FC236}">
                <a16:creationId xmlns:a16="http://schemas.microsoft.com/office/drawing/2014/main" id="{518AA724-C5F5-DA1B-F6C6-E14BA78F719F}"/>
              </a:ext>
            </a:extLst>
          </p:cNvPr>
          <p:cNvSpPr/>
          <p:nvPr/>
        </p:nvSpPr>
        <p:spPr>
          <a:xfrm>
            <a:off x="1530906" y="2699127"/>
            <a:ext cx="6819305" cy="362903"/>
          </a:xfrm>
          <a:prstGeom prst="rect">
            <a:avLst/>
          </a:prstGeom>
          <a:noFill/>
          <a:ln/>
        </p:spPr>
        <p:txBody>
          <a:bodyPr wrap="none" lIns="0" tIns="0" rIns="0" bIns="0" rtlCol="0" anchor="t"/>
          <a:lstStyle/>
          <a:p>
            <a:pPr marL="0" indent="0" algn="l">
              <a:lnSpc>
                <a:spcPts val="2850"/>
              </a:lnSpc>
              <a:buNone/>
            </a:pPr>
            <a:r>
              <a:rPr lang="en-US" dirty="0">
                <a:solidFill>
                  <a:srgbClr val="000000"/>
                </a:solidFill>
                <a:latin typeface="Aptos" panose="020B0004020202020204" pitchFamily="34" charset="0"/>
                <a:ea typeface="Inter" pitchFamily="34" charset="-122"/>
                <a:cs typeface="Inter" pitchFamily="34" charset="-120"/>
              </a:rPr>
              <a:t>Create documents that mix code, output, and explanatory text.</a:t>
            </a:r>
            <a:endParaRPr lang="en-US" dirty="0">
              <a:latin typeface="Aptos" panose="020B0004020202020204" pitchFamily="34" charset="0"/>
            </a:endParaRPr>
          </a:p>
        </p:txBody>
      </p:sp>
      <p:sp>
        <p:nvSpPr>
          <p:cNvPr id="14" name="Shape 5">
            <a:extLst>
              <a:ext uri="{FF2B5EF4-FFF2-40B4-BE49-F238E27FC236}">
                <a16:creationId xmlns:a16="http://schemas.microsoft.com/office/drawing/2014/main" id="{528143B1-D011-BA61-6384-52497E1039D3}"/>
              </a:ext>
            </a:extLst>
          </p:cNvPr>
          <p:cNvSpPr/>
          <p:nvPr/>
        </p:nvSpPr>
        <p:spPr>
          <a:xfrm>
            <a:off x="793790" y="3272532"/>
            <a:ext cx="510302" cy="510302"/>
          </a:xfrm>
          <a:prstGeom prst="roundRect">
            <a:avLst>
              <a:gd name="adj" fmla="val 18669"/>
            </a:avLst>
          </a:prstGeom>
          <a:solidFill>
            <a:srgbClr val="CCEDFF"/>
          </a:solidFill>
          <a:ln w="7620">
            <a:solidFill>
              <a:srgbClr val="B2D3E5"/>
            </a:solidFill>
            <a:prstDash val="solid"/>
          </a:ln>
        </p:spPr>
        <p:txBody>
          <a:bodyPr/>
          <a:lstStyle/>
          <a:p>
            <a:endParaRPr lang="en-US" sz="2400">
              <a:latin typeface="Aptos" panose="020B0004020202020204" pitchFamily="34" charset="0"/>
            </a:endParaRPr>
          </a:p>
        </p:txBody>
      </p:sp>
      <p:pic>
        <p:nvPicPr>
          <p:cNvPr id="15" name="Image 2" descr="preencoded.png">
            <a:extLst>
              <a:ext uri="{FF2B5EF4-FFF2-40B4-BE49-F238E27FC236}">
                <a16:creationId xmlns:a16="http://schemas.microsoft.com/office/drawing/2014/main" id="{12C69BCC-0C68-FA89-AC88-020D67288E84}"/>
              </a:ext>
            </a:extLst>
          </p:cNvPr>
          <p:cNvPicPr>
            <a:picLocks noChangeAspect="1"/>
          </p:cNvPicPr>
          <p:nvPr/>
        </p:nvPicPr>
        <p:blipFill>
          <a:blip r:embed="rId4"/>
          <a:stretch>
            <a:fillRect/>
          </a:stretch>
        </p:blipFill>
        <p:spPr>
          <a:xfrm>
            <a:off x="878860" y="3315037"/>
            <a:ext cx="340162" cy="425291"/>
          </a:xfrm>
          <a:prstGeom prst="rect">
            <a:avLst/>
          </a:prstGeom>
        </p:spPr>
      </p:pic>
      <p:sp>
        <p:nvSpPr>
          <p:cNvPr id="16" name="Text 6">
            <a:extLst>
              <a:ext uri="{FF2B5EF4-FFF2-40B4-BE49-F238E27FC236}">
                <a16:creationId xmlns:a16="http://schemas.microsoft.com/office/drawing/2014/main" id="{76774ED9-0D8E-B449-BE75-4360EA9BA47D}"/>
              </a:ext>
            </a:extLst>
          </p:cNvPr>
          <p:cNvSpPr/>
          <p:nvPr/>
        </p:nvSpPr>
        <p:spPr>
          <a:xfrm>
            <a:off x="1530906" y="3350399"/>
            <a:ext cx="2835235" cy="354330"/>
          </a:xfrm>
          <a:prstGeom prst="rect">
            <a:avLst/>
          </a:prstGeom>
          <a:noFill/>
          <a:ln/>
        </p:spPr>
        <p:txBody>
          <a:bodyPr wrap="none" lIns="0" tIns="0" rIns="0" bIns="0" rtlCol="0" anchor="t"/>
          <a:lstStyle/>
          <a:p>
            <a:pPr marL="0" indent="0" algn="l">
              <a:lnSpc>
                <a:spcPts val="2750"/>
              </a:lnSpc>
              <a:buNone/>
            </a:pPr>
            <a:r>
              <a:rPr lang="en-US" sz="2400" b="1" dirty="0">
                <a:solidFill>
                  <a:srgbClr val="000000"/>
                </a:solidFill>
                <a:latin typeface="Aptos" panose="020B0004020202020204" pitchFamily="34" charset="0"/>
                <a:ea typeface="Playfair Display Bold" pitchFamily="34" charset="-122"/>
                <a:cs typeface="Playfair Display Bold" pitchFamily="34" charset="-120"/>
              </a:rPr>
              <a:t>Cell-Based Structure</a:t>
            </a:r>
            <a:endParaRPr lang="en-US" sz="2400" dirty="0">
              <a:latin typeface="Aptos" panose="020B0004020202020204" pitchFamily="34" charset="0"/>
            </a:endParaRPr>
          </a:p>
        </p:txBody>
      </p:sp>
      <p:sp>
        <p:nvSpPr>
          <p:cNvPr id="17" name="Text 7">
            <a:extLst>
              <a:ext uri="{FF2B5EF4-FFF2-40B4-BE49-F238E27FC236}">
                <a16:creationId xmlns:a16="http://schemas.microsoft.com/office/drawing/2014/main" id="{E9D161C0-21DE-5CCE-BD37-1D710A66FC19}"/>
              </a:ext>
            </a:extLst>
          </p:cNvPr>
          <p:cNvSpPr/>
          <p:nvPr/>
        </p:nvSpPr>
        <p:spPr>
          <a:xfrm>
            <a:off x="1530906" y="3840818"/>
            <a:ext cx="6819305" cy="725805"/>
          </a:xfrm>
          <a:prstGeom prst="rect">
            <a:avLst/>
          </a:prstGeom>
          <a:noFill/>
          <a:ln/>
        </p:spPr>
        <p:txBody>
          <a:bodyPr wrap="square" lIns="0" tIns="0" rIns="0" bIns="0" rtlCol="0" anchor="t"/>
          <a:lstStyle/>
          <a:p>
            <a:pPr marL="0" indent="0" algn="l">
              <a:lnSpc>
                <a:spcPts val="2850"/>
              </a:lnSpc>
              <a:buNone/>
            </a:pPr>
            <a:r>
              <a:rPr lang="en-US" dirty="0">
                <a:solidFill>
                  <a:srgbClr val="000000"/>
                </a:solidFill>
                <a:latin typeface="Aptos" panose="020B0004020202020204" pitchFamily="34" charset="0"/>
                <a:ea typeface="Inter" pitchFamily="34" charset="-122"/>
                <a:cs typeface="Inter" pitchFamily="34" charset="-120"/>
              </a:rPr>
              <a:t>Break work into steps (cells), run each step, and see results immediately.</a:t>
            </a:r>
            <a:endParaRPr lang="en-US" dirty="0">
              <a:latin typeface="Aptos" panose="020B0004020202020204" pitchFamily="34" charset="0"/>
            </a:endParaRPr>
          </a:p>
        </p:txBody>
      </p:sp>
      <p:sp>
        <p:nvSpPr>
          <p:cNvPr id="18" name="Shape 8">
            <a:extLst>
              <a:ext uri="{FF2B5EF4-FFF2-40B4-BE49-F238E27FC236}">
                <a16:creationId xmlns:a16="http://schemas.microsoft.com/office/drawing/2014/main" id="{509F8274-523A-59C2-D147-96BA08307295}"/>
              </a:ext>
            </a:extLst>
          </p:cNvPr>
          <p:cNvSpPr/>
          <p:nvPr/>
        </p:nvSpPr>
        <p:spPr>
          <a:xfrm>
            <a:off x="793790" y="4642704"/>
            <a:ext cx="510302" cy="510302"/>
          </a:xfrm>
          <a:prstGeom prst="roundRect">
            <a:avLst>
              <a:gd name="adj" fmla="val 18669"/>
            </a:avLst>
          </a:prstGeom>
          <a:solidFill>
            <a:srgbClr val="CCEDFF"/>
          </a:solidFill>
          <a:ln w="7620">
            <a:solidFill>
              <a:srgbClr val="B2D3E5"/>
            </a:solidFill>
            <a:prstDash val="solid"/>
          </a:ln>
        </p:spPr>
        <p:txBody>
          <a:bodyPr/>
          <a:lstStyle/>
          <a:p>
            <a:endParaRPr lang="en-US" sz="2400">
              <a:latin typeface="Aptos" panose="020B0004020202020204" pitchFamily="34" charset="0"/>
            </a:endParaRPr>
          </a:p>
        </p:txBody>
      </p:sp>
      <p:pic>
        <p:nvPicPr>
          <p:cNvPr id="19" name="Image 3" descr="preencoded.png">
            <a:extLst>
              <a:ext uri="{FF2B5EF4-FFF2-40B4-BE49-F238E27FC236}">
                <a16:creationId xmlns:a16="http://schemas.microsoft.com/office/drawing/2014/main" id="{B049108F-63CF-82F7-3814-62A920CEA157}"/>
              </a:ext>
            </a:extLst>
          </p:cNvPr>
          <p:cNvPicPr>
            <a:picLocks noChangeAspect="1"/>
          </p:cNvPicPr>
          <p:nvPr/>
        </p:nvPicPr>
        <p:blipFill>
          <a:blip r:embed="rId5"/>
          <a:stretch>
            <a:fillRect/>
          </a:stretch>
        </p:blipFill>
        <p:spPr>
          <a:xfrm>
            <a:off x="878860" y="4685209"/>
            <a:ext cx="340162" cy="425291"/>
          </a:xfrm>
          <a:prstGeom prst="rect">
            <a:avLst/>
          </a:prstGeom>
        </p:spPr>
      </p:pic>
      <p:sp>
        <p:nvSpPr>
          <p:cNvPr id="20" name="Text 9">
            <a:extLst>
              <a:ext uri="{FF2B5EF4-FFF2-40B4-BE49-F238E27FC236}">
                <a16:creationId xmlns:a16="http://schemas.microsoft.com/office/drawing/2014/main" id="{70B74460-1EFC-8653-269C-EA052933E5B5}"/>
              </a:ext>
            </a:extLst>
          </p:cNvPr>
          <p:cNvSpPr/>
          <p:nvPr/>
        </p:nvSpPr>
        <p:spPr>
          <a:xfrm>
            <a:off x="1530906" y="4720571"/>
            <a:ext cx="2836902" cy="354330"/>
          </a:xfrm>
          <a:prstGeom prst="rect">
            <a:avLst/>
          </a:prstGeom>
          <a:noFill/>
          <a:ln/>
        </p:spPr>
        <p:txBody>
          <a:bodyPr wrap="none" lIns="0" tIns="0" rIns="0" bIns="0" rtlCol="0" anchor="t"/>
          <a:lstStyle/>
          <a:p>
            <a:pPr marL="0" indent="0" algn="l">
              <a:lnSpc>
                <a:spcPts val="2750"/>
              </a:lnSpc>
              <a:buNone/>
            </a:pPr>
            <a:r>
              <a:rPr lang="en-US" sz="2400" b="1" dirty="0">
                <a:solidFill>
                  <a:srgbClr val="000000"/>
                </a:solidFill>
                <a:latin typeface="Aptos" panose="020B0004020202020204" pitchFamily="34" charset="0"/>
                <a:ea typeface="Playfair Display Bold" pitchFamily="34" charset="-122"/>
                <a:cs typeface="Playfair Display Bold" pitchFamily="34" charset="-120"/>
              </a:rPr>
              <a:t>Visualization Support</a:t>
            </a:r>
            <a:endParaRPr lang="en-US" sz="2400" dirty="0">
              <a:latin typeface="Aptos" panose="020B0004020202020204" pitchFamily="34" charset="0"/>
            </a:endParaRPr>
          </a:p>
        </p:txBody>
      </p:sp>
      <p:sp>
        <p:nvSpPr>
          <p:cNvPr id="21" name="Text 10">
            <a:extLst>
              <a:ext uri="{FF2B5EF4-FFF2-40B4-BE49-F238E27FC236}">
                <a16:creationId xmlns:a16="http://schemas.microsoft.com/office/drawing/2014/main" id="{4EA8EB27-C646-6A75-29B6-D864965A19CC}"/>
              </a:ext>
            </a:extLst>
          </p:cNvPr>
          <p:cNvSpPr/>
          <p:nvPr/>
        </p:nvSpPr>
        <p:spPr>
          <a:xfrm>
            <a:off x="1530906" y="5210989"/>
            <a:ext cx="6819305" cy="362903"/>
          </a:xfrm>
          <a:prstGeom prst="rect">
            <a:avLst/>
          </a:prstGeom>
          <a:noFill/>
          <a:ln/>
        </p:spPr>
        <p:txBody>
          <a:bodyPr wrap="none" lIns="0" tIns="0" rIns="0" bIns="0" rtlCol="0" anchor="t"/>
          <a:lstStyle/>
          <a:p>
            <a:pPr marL="0" indent="0" algn="l">
              <a:lnSpc>
                <a:spcPts val="2850"/>
              </a:lnSpc>
              <a:buNone/>
            </a:pPr>
            <a:r>
              <a:rPr lang="en-US" dirty="0">
                <a:solidFill>
                  <a:srgbClr val="000000"/>
                </a:solidFill>
                <a:latin typeface="Aptos" panose="020B0004020202020204" pitchFamily="34" charset="0"/>
                <a:ea typeface="Inter" pitchFamily="34" charset="-122"/>
                <a:cs typeface="Inter" pitchFamily="34" charset="-120"/>
              </a:rPr>
              <a:t>Display charts and graphs directly in your notebook.</a:t>
            </a:r>
            <a:endParaRPr lang="en-US" dirty="0">
              <a:latin typeface="Aptos" panose="020B0004020202020204" pitchFamily="34" charset="0"/>
            </a:endParaRPr>
          </a:p>
        </p:txBody>
      </p:sp>
      <p:sp>
        <p:nvSpPr>
          <p:cNvPr id="22" name="Shape 11">
            <a:extLst>
              <a:ext uri="{FF2B5EF4-FFF2-40B4-BE49-F238E27FC236}">
                <a16:creationId xmlns:a16="http://schemas.microsoft.com/office/drawing/2014/main" id="{9CC2B0DA-10AA-935C-F10F-DC1CEE5C7FE0}"/>
              </a:ext>
            </a:extLst>
          </p:cNvPr>
          <p:cNvSpPr/>
          <p:nvPr/>
        </p:nvSpPr>
        <p:spPr>
          <a:xfrm>
            <a:off x="793790" y="5721291"/>
            <a:ext cx="510302" cy="510302"/>
          </a:xfrm>
          <a:prstGeom prst="roundRect">
            <a:avLst>
              <a:gd name="adj" fmla="val 18669"/>
            </a:avLst>
          </a:prstGeom>
          <a:solidFill>
            <a:srgbClr val="CCEDFF"/>
          </a:solidFill>
          <a:ln w="7620">
            <a:solidFill>
              <a:srgbClr val="B2D3E5"/>
            </a:solidFill>
            <a:prstDash val="solid"/>
          </a:ln>
        </p:spPr>
        <p:txBody>
          <a:bodyPr/>
          <a:lstStyle/>
          <a:p>
            <a:endParaRPr lang="en-US" sz="2400">
              <a:latin typeface="Aptos" panose="020B0004020202020204" pitchFamily="34" charset="0"/>
            </a:endParaRPr>
          </a:p>
        </p:txBody>
      </p:sp>
      <p:pic>
        <p:nvPicPr>
          <p:cNvPr id="23" name="Image 4" descr="preencoded.png">
            <a:extLst>
              <a:ext uri="{FF2B5EF4-FFF2-40B4-BE49-F238E27FC236}">
                <a16:creationId xmlns:a16="http://schemas.microsoft.com/office/drawing/2014/main" id="{83BB0CDC-B0C1-7E7B-F63A-ED26612637F1}"/>
              </a:ext>
            </a:extLst>
          </p:cNvPr>
          <p:cNvPicPr>
            <a:picLocks noChangeAspect="1"/>
          </p:cNvPicPr>
          <p:nvPr/>
        </p:nvPicPr>
        <p:blipFill>
          <a:blip r:embed="rId6"/>
          <a:stretch>
            <a:fillRect/>
          </a:stretch>
        </p:blipFill>
        <p:spPr>
          <a:xfrm>
            <a:off x="878860" y="5763796"/>
            <a:ext cx="340162" cy="425291"/>
          </a:xfrm>
          <a:prstGeom prst="rect">
            <a:avLst/>
          </a:prstGeom>
        </p:spPr>
      </p:pic>
      <p:sp>
        <p:nvSpPr>
          <p:cNvPr id="24" name="Text 12">
            <a:extLst>
              <a:ext uri="{FF2B5EF4-FFF2-40B4-BE49-F238E27FC236}">
                <a16:creationId xmlns:a16="http://schemas.microsoft.com/office/drawing/2014/main" id="{EB74939F-C703-6F5C-BB15-D62C370AF2A5}"/>
              </a:ext>
            </a:extLst>
          </p:cNvPr>
          <p:cNvSpPr/>
          <p:nvPr/>
        </p:nvSpPr>
        <p:spPr>
          <a:xfrm>
            <a:off x="1530906" y="5799157"/>
            <a:ext cx="2835235" cy="354330"/>
          </a:xfrm>
          <a:prstGeom prst="rect">
            <a:avLst/>
          </a:prstGeom>
          <a:noFill/>
          <a:ln/>
        </p:spPr>
        <p:txBody>
          <a:bodyPr wrap="none" lIns="0" tIns="0" rIns="0" bIns="0" rtlCol="0" anchor="t"/>
          <a:lstStyle/>
          <a:p>
            <a:pPr marL="0" indent="0" algn="l">
              <a:lnSpc>
                <a:spcPts val="2750"/>
              </a:lnSpc>
              <a:buNone/>
            </a:pPr>
            <a:r>
              <a:rPr lang="en-US" sz="2400" b="1" dirty="0">
                <a:solidFill>
                  <a:srgbClr val="000000"/>
                </a:solidFill>
                <a:latin typeface="Aptos" panose="020B0004020202020204" pitchFamily="34" charset="0"/>
                <a:ea typeface="Playfair Display Bold" pitchFamily="34" charset="-122"/>
                <a:cs typeface="Playfair Display Bold" pitchFamily="34" charset="-120"/>
              </a:rPr>
              <a:t>Shareable Format</a:t>
            </a:r>
            <a:endParaRPr lang="en-US" sz="2400" dirty="0">
              <a:latin typeface="Aptos" panose="020B0004020202020204" pitchFamily="34" charset="0"/>
            </a:endParaRPr>
          </a:p>
        </p:txBody>
      </p:sp>
      <p:sp>
        <p:nvSpPr>
          <p:cNvPr id="25" name="Text 13">
            <a:extLst>
              <a:ext uri="{FF2B5EF4-FFF2-40B4-BE49-F238E27FC236}">
                <a16:creationId xmlns:a16="http://schemas.microsoft.com/office/drawing/2014/main" id="{F600646C-D4BE-91AF-9A42-E77FCDB623DC}"/>
              </a:ext>
            </a:extLst>
          </p:cNvPr>
          <p:cNvSpPr/>
          <p:nvPr/>
        </p:nvSpPr>
        <p:spPr>
          <a:xfrm>
            <a:off x="1530906" y="6189087"/>
            <a:ext cx="6819305" cy="362903"/>
          </a:xfrm>
          <a:prstGeom prst="rect">
            <a:avLst/>
          </a:prstGeom>
          <a:noFill/>
          <a:ln/>
        </p:spPr>
        <p:txBody>
          <a:bodyPr wrap="none" lIns="0" tIns="0" rIns="0" bIns="0" rtlCol="0" anchor="t"/>
          <a:lstStyle/>
          <a:p>
            <a:pPr marL="0" indent="0" algn="l">
              <a:lnSpc>
                <a:spcPts val="2850"/>
              </a:lnSpc>
              <a:buNone/>
            </a:pPr>
            <a:r>
              <a:rPr lang="en-US" dirty="0">
                <a:solidFill>
                  <a:srgbClr val="000000"/>
                </a:solidFill>
                <a:latin typeface="Aptos" panose="020B0004020202020204" pitchFamily="34" charset="0"/>
                <a:ea typeface="Inter" pitchFamily="34" charset="-122"/>
                <a:cs typeface="Inter" pitchFamily="34" charset="-120"/>
              </a:rPr>
              <a:t>Easy to share your analysis and results with others.</a:t>
            </a:r>
            <a:endParaRPr lang="en-US" dirty="0">
              <a:latin typeface="Aptos" panose="020B0004020202020204" pitchFamily="34" charset="0"/>
            </a:endParaRPr>
          </a:p>
        </p:txBody>
      </p:sp>
    </p:spTree>
    <p:extLst>
      <p:ext uri="{BB962C8B-B14F-4D97-AF65-F5344CB8AC3E}">
        <p14:creationId xmlns:p14="http://schemas.microsoft.com/office/powerpoint/2010/main" val="2748194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AD309-C36D-59FB-93C4-D8A59B1D72A3}"/>
              </a:ext>
            </a:extLst>
          </p:cNvPr>
          <p:cNvSpPr>
            <a:spLocks noGrp="1"/>
          </p:cNvSpPr>
          <p:nvPr>
            <p:ph type="title"/>
          </p:nvPr>
        </p:nvSpPr>
        <p:spPr/>
        <p:txBody>
          <a:bodyPr/>
          <a:lstStyle/>
          <a:p>
            <a:r>
              <a:rPr lang="en-US" dirty="0"/>
              <a:t>Option 2: Google </a:t>
            </a:r>
            <a:r>
              <a:rPr lang="en-US" dirty="0" err="1"/>
              <a:t>Colab</a:t>
            </a:r>
            <a:endParaRPr lang="en-US" dirty="0"/>
          </a:p>
        </p:txBody>
      </p:sp>
      <p:sp>
        <p:nvSpPr>
          <p:cNvPr id="3" name="Content Placeholder 2">
            <a:extLst>
              <a:ext uri="{FF2B5EF4-FFF2-40B4-BE49-F238E27FC236}">
                <a16:creationId xmlns:a16="http://schemas.microsoft.com/office/drawing/2014/main" id="{44A7C25F-D274-65CE-CB6C-9C0CDA93A4A5}"/>
              </a:ext>
            </a:extLst>
          </p:cNvPr>
          <p:cNvSpPr>
            <a:spLocks noGrp="1"/>
          </p:cNvSpPr>
          <p:nvPr>
            <p:ph idx="1"/>
          </p:nvPr>
        </p:nvSpPr>
        <p:spPr/>
        <p:txBody>
          <a:bodyPr/>
          <a:lstStyle/>
          <a:p>
            <a:r>
              <a:rPr lang="en-US" dirty="0"/>
              <a:t>If installing software is an issue or you want to get started quickly, Google </a:t>
            </a:r>
            <a:r>
              <a:rPr lang="en-US" dirty="0" err="1"/>
              <a:t>Colab</a:t>
            </a:r>
            <a:r>
              <a:rPr lang="en-US" dirty="0"/>
              <a:t> is a fantastic option. </a:t>
            </a:r>
          </a:p>
          <a:p>
            <a:r>
              <a:rPr lang="en-US" dirty="0" err="1"/>
              <a:t>Colab</a:t>
            </a:r>
            <a:r>
              <a:rPr lang="en-US" dirty="0"/>
              <a:t> is essentially a </a:t>
            </a:r>
            <a:r>
              <a:rPr lang="en-US" dirty="0" err="1"/>
              <a:t>Jupyter</a:t>
            </a:r>
            <a:r>
              <a:rPr lang="en-US" dirty="0"/>
              <a:t> Notebook hosted by Google on the cloud, and it’s free to use (with some limitations) if you have a Google account.</a:t>
            </a:r>
          </a:p>
          <a:p>
            <a:endParaRPr lang="en-US" dirty="0"/>
          </a:p>
        </p:txBody>
      </p:sp>
      <p:sp>
        <p:nvSpPr>
          <p:cNvPr id="4" name="AutoShape 2">
            <a:extLst>
              <a:ext uri="{FF2B5EF4-FFF2-40B4-BE49-F238E27FC236}">
                <a16:creationId xmlns:a16="http://schemas.microsoft.com/office/drawing/2014/main" id="{00F5017F-9BCD-27D6-3415-24C6EA9DD95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a:extLst>
              <a:ext uri="{FF2B5EF4-FFF2-40B4-BE49-F238E27FC236}">
                <a16:creationId xmlns:a16="http://schemas.microsoft.com/office/drawing/2014/main" id="{87C96C87-48C3-EB89-5B89-EFC0C836875F}"/>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Graphic 8">
            <a:extLst>
              <a:ext uri="{FF2B5EF4-FFF2-40B4-BE49-F238E27FC236}">
                <a16:creationId xmlns:a16="http://schemas.microsoft.com/office/drawing/2014/main" id="{5D149880-E803-5444-2D55-6C9E14A718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000874" y="3909433"/>
            <a:ext cx="5405437" cy="3330398"/>
          </a:xfrm>
          <a:prstGeom prst="rect">
            <a:avLst/>
          </a:prstGeom>
        </p:spPr>
      </p:pic>
    </p:spTree>
    <p:extLst>
      <p:ext uri="{BB962C8B-B14F-4D97-AF65-F5344CB8AC3E}">
        <p14:creationId xmlns:p14="http://schemas.microsoft.com/office/powerpoint/2010/main" val="9754773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CB2FC-EF4A-BB5C-FE60-40AF23BD4841}"/>
              </a:ext>
            </a:extLst>
          </p:cNvPr>
          <p:cNvSpPr>
            <a:spLocks noGrp="1"/>
          </p:cNvSpPr>
          <p:nvPr>
            <p:ph type="title"/>
          </p:nvPr>
        </p:nvSpPr>
        <p:spPr/>
        <p:txBody>
          <a:bodyPr/>
          <a:lstStyle/>
          <a:p>
            <a:r>
              <a:rPr lang="en-US" dirty="0"/>
              <a:t>Google </a:t>
            </a:r>
            <a:r>
              <a:rPr lang="en-US" dirty="0" err="1"/>
              <a:t>Colab</a:t>
            </a:r>
            <a:endParaRPr lang="en-US" dirty="0"/>
          </a:p>
        </p:txBody>
      </p:sp>
      <p:sp>
        <p:nvSpPr>
          <p:cNvPr id="3" name="Content Placeholder 2">
            <a:extLst>
              <a:ext uri="{FF2B5EF4-FFF2-40B4-BE49-F238E27FC236}">
                <a16:creationId xmlns:a16="http://schemas.microsoft.com/office/drawing/2014/main" id="{E822CC2F-9597-84FC-D840-63B8F7D39DAE}"/>
              </a:ext>
            </a:extLst>
          </p:cNvPr>
          <p:cNvSpPr>
            <a:spLocks noGrp="1"/>
          </p:cNvSpPr>
          <p:nvPr>
            <p:ph idx="1"/>
          </p:nvPr>
        </p:nvSpPr>
        <p:spPr>
          <a:xfrm>
            <a:off x="838200" y="2604051"/>
            <a:ext cx="3790950" cy="3572911"/>
          </a:xfrm>
        </p:spPr>
        <p:txBody>
          <a:bodyPr/>
          <a:lstStyle/>
          <a:p>
            <a:r>
              <a:rPr lang="en-US" dirty="0"/>
              <a:t>Go to</a:t>
            </a:r>
            <a:r>
              <a:rPr lang="en-US" dirty="0">
                <a:sym typeface="Wingdings" pitchFamily="2" charset="2"/>
              </a:rPr>
              <a:t></a:t>
            </a:r>
            <a:r>
              <a:rPr lang="en-US" dirty="0"/>
              <a:t> </a:t>
            </a:r>
            <a:r>
              <a:rPr lang="en-US" dirty="0">
                <a:hlinkClick r:id="rId3"/>
              </a:rPr>
              <a:t>https://colab.research.google.com </a:t>
            </a:r>
            <a:endParaRPr lang="en-US" dirty="0"/>
          </a:p>
          <a:p>
            <a:r>
              <a:rPr lang="en-US" dirty="0"/>
              <a:t>If prompted, sign in with your Google account.</a:t>
            </a:r>
          </a:p>
          <a:p>
            <a:endParaRPr lang="en-US" dirty="0"/>
          </a:p>
        </p:txBody>
      </p:sp>
      <p:pic>
        <p:nvPicPr>
          <p:cNvPr id="5" name="Picture 4" descr="A screenshot of a computer  AI-generated content may be incorrect.">
            <a:extLst>
              <a:ext uri="{FF2B5EF4-FFF2-40B4-BE49-F238E27FC236}">
                <a16:creationId xmlns:a16="http://schemas.microsoft.com/office/drawing/2014/main" id="{94F77AC7-92A3-7500-ED1E-623F59E004D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929188" y="1898831"/>
            <a:ext cx="7034212" cy="4596559"/>
          </a:xfrm>
          <a:prstGeom prst="rect">
            <a:avLst/>
          </a:prstGeom>
        </p:spPr>
      </p:pic>
    </p:spTree>
    <p:extLst>
      <p:ext uri="{BB962C8B-B14F-4D97-AF65-F5344CB8AC3E}">
        <p14:creationId xmlns:p14="http://schemas.microsoft.com/office/powerpoint/2010/main" val="793432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66998-B4EA-CC62-ACB1-967F79FEF562}"/>
              </a:ext>
            </a:extLst>
          </p:cNvPr>
          <p:cNvSpPr>
            <a:spLocks noGrp="1"/>
          </p:cNvSpPr>
          <p:nvPr>
            <p:ph type="title"/>
          </p:nvPr>
        </p:nvSpPr>
        <p:spPr/>
        <p:txBody>
          <a:bodyPr/>
          <a:lstStyle/>
          <a:p>
            <a:r>
              <a:rPr lang="en-US" dirty="0"/>
              <a:t>Google </a:t>
            </a:r>
            <a:r>
              <a:rPr lang="en-US" dirty="0" err="1"/>
              <a:t>Colab</a:t>
            </a:r>
            <a:endParaRPr lang="en-US" dirty="0"/>
          </a:p>
        </p:txBody>
      </p:sp>
      <p:pic>
        <p:nvPicPr>
          <p:cNvPr id="5" name="Content Placeholder 4" descr="A screenshot of a computer  AI-generated content may be incorrect.">
            <a:extLst>
              <a:ext uri="{FF2B5EF4-FFF2-40B4-BE49-F238E27FC236}">
                <a16:creationId xmlns:a16="http://schemas.microsoft.com/office/drawing/2014/main" id="{A546E93B-F574-2C0F-9C47-8166045BD219}"/>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5000625" y="1601828"/>
            <a:ext cx="6353175" cy="4975185"/>
          </a:xfrm>
        </p:spPr>
      </p:pic>
      <p:sp>
        <p:nvSpPr>
          <p:cNvPr id="6" name="Content Placeholder 2">
            <a:extLst>
              <a:ext uri="{FF2B5EF4-FFF2-40B4-BE49-F238E27FC236}">
                <a16:creationId xmlns:a16="http://schemas.microsoft.com/office/drawing/2014/main" id="{A6EF9376-7BAF-29C4-D8D8-8B9E9E9BD3DB}"/>
              </a:ext>
            </a:extLst>
          </p:cNvPr>
          <p:cNvSpPr txBox="1">
            <a:spLocks/>
          </p:cNvSpPr>
          <p:nvPr/>
        </p:nvSpPr>
        <p:spPr>
          <a:xfrm>
            <a:off x="838200" y="2604051"/>
            <a:ext cx="3790950" cy="357291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Create a Notebook </a:t>
            </a:r>
          </a:p>
          <a:p>
            <a:r>
              <a:rPr lang="en-US" dirty="0"/>
              <a:t>It looks and works almost exactly like a </a:t>
            </a:r>
            <a:r>
              <a:rPr lang="en-US" dirty="0" err="1"/>
              <a:t>Jupyter</a:t>
            </a:r>
            <a:r>
              <a:rPr lang="en-US" dirty="0"/>
              <a:t> Notebook.</a:t>
            </a:r>
          </a:p>
          <a:p>
            <a:r>
              <a:rPr lang="en-US" dirty="0"/>
              <a:t>It uses Google cloud servers. </a:t>
            </a:r>
          </a:p>
          <a:p>
            <a:r>
              <a:rPr lang="en-US" dirty="0"/>
              <a:t>If you need to use a local file, you need to upload it.</a:t>
            </a:r>
          </a:p>
        </p:txBody>
      </p:sp>
    </p:spTree>
    <p:extLst>
      <p:ext uri="{BB962C8B-B14F-4D97-AF65-F5344CB8AC3E}">
        <p14:creationId xmlns:p14="http://schemas.microsoft.com/office/powerpoint/2010/main" val="33206997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82D3F-07C6-FB0A-3548-D6909BCCCA3F}"/>
              </a:ext>
            </a:extLst>
          </p:cNvPr>
          <p:cNvSpPr>
            <a:spLocks noGrp="1"/>
          </p:cNvSpPr>
          <p:nvPr>
            <p:ph type="title"/>
          </p:nvPr>
        </p:nvSpPr>
        <p:spPr/>
        <p:txBody>
          <a:bodyPr/>
          <a:lstStyle/>
          <a:p>
            <a:r>
              <a:rPr lang="en-US" dirty="0"/>
              <a:t>Other Options</a:t>
            </a:r>
          </a:p>
        </p:txBody>
      </p:sp>
      <p:sp>
        <p:nvSpPr>
          <p:cNvPr id="3" name="Content Placeholder 2">
            <a:extLst>
              <a:ext uri="{FF2B5EF4-FFF2-40B4-BE49-F238E27FC236}">
                <a16:creationId xmlns:a16="http://schemas.microsoft.com/office/drawing/2014/main" id="{F9603444-27E0-82FA-8F68-A302E4C5AAA1}"/>
              </a:ext>
            </a:extLst>
          </p:cNvPr>
          <p:cNvSpPr>
            <a:spLocks noGrp="1"/>
          </p:cNvSpPr>
          <p:nvPr>
            <p:ph idx="1"/>
          </p:nvPr>
        </p:nvSpPr>
        <p:spPr>
          <a:xfrm>
            <a:off x="838200" y="2230989"/>
            <a:ext cx="10515600" cy="3572911"/>
          </a:xfrm>
        </p:spPr>
        <p:txBody>
          <a:bodyPr/>
          <a:lstStyle/>
          <a:p>
            <a:r>
              <a:rPr lang="en-US" dirty="0"/>
              <a:t>There are many other options to use for Python.</a:t>
            </a:r>
          </a:p>
        </p:txBody>
      </p:sp>
      <p:pic>
        <p:nvPicPr>
          <p:cNvPr id="8196" name="Picture 4" descr="Python Tool Review: Using PyCharm for Python Development - and More |  Caktus Group">
            <a:extLst>
              <a:ext uri="{FF2B5EF4-FFF2-40B4-BE49-F238E27FC236}">
                <a16:creationId xmlns:a16="http://schemas.microsoft.com/office/drawing/2014/main" id="{8A039D71-617F-7A3E-BAF2-60982A7F8831}"/>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57224" y="3429000"/>
            <a:ext cx="2295525" cy="22955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0363598-DE57-A2E2-6657-3D54B8776E92}"/>
              </a:ext>
            </a:extLst>
          </p:cNvPr>
          <p:cNvSpPr txBox="1"/>
          <p:nvPr/>
        </p:nvSpPr>
        <p:spPr>
          <a:xfrm>
            <a:off x="1143000" y="5849182"/>
            <a:ext cx="1106650" cy="369332"/>
          </a:xfrm>
          <a:prstGeom prst="rect">
            <a:avLst/>
          </a:prstGeom>
          <a:noFill/>
        </p:spPr>
        <p:txBody>
          <a:bodyPr wrap="none" rtlCol="0">
            <a:spAutoFit/>
          </a:bodyPr>
          <a:lstStyle/>
          <a:p>
            <a:r>
              <a:rPr lang="en-US" dirty="0"/>
              <a:t>PyCharm</a:t>
            </a:r>
          </a:p>
        </p:txBody>
      </p:sp>
      <p:sp>
        <p:nvSpPr>
          <p:cNvPr id="5" name="AutoShape 6" descr="Spyder (software) - Wikipedia">
            <a:extLst>
              <a:ext uri="{FF2B5EF4-FFF2-40B4-BE49-F238E27FC236}">
                <a16:creationId xmlns:a16="http://schemas.microsoft.com/office/drawing/2014/main" id="{6925D14A-FA9D-52DB-10E5-B77B7778258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Graphic 7">
            <a:extLst>
              <a:ext uri="{FF2B5EF4-FFF2-40B4-BE49-F238E27FC236}">
                <a16:creationId xmlns:a16="http://schemas.microsoft.com/office/drawing/2014/main" id="{B1709378-DE02-99FE-792B-83AB82DF7D5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62350" y="3429000"/>
            <a:ext cx="4762500" cy="2374900"/>
          </a:xfrm>
          <a:prstGeom prst="rect">
            <a:avLst/>
          </a:prstGeom>
        </p:spPr>
      </p:pic>
      <p:pic>
        <p:nvPicPr>
          <p:cNvPr id="8202" name="Picture 10" descr="Visual Studio Code - Wikiversity">
            <a:extLst>
              <a:ext uri="{FF2B5EF4-FFF2-40B4-BE49-F238E27FC236}">
                <a16:creationId xmlns:a16="http://schemas.microsoft.com/office/drawing/2014/main" id="{B4608038-AE7B-F4B5-D145-8078DE4DB807}"/>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8629650" y="3276600"/>
            <a:ext cx="2781300" cy="27813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28963B8-CEE8-D42D-5894-A50B912948EE}"/>
              </a:ext>
            </a:extLst>
          </p:cNvPr>
          <p:cNvSpPr txBox="1"/>
          <p:nvPr/>
        </p:nvSpPr>
        <p:spPr>
          <a:xfrm>
            <a:off x="10018205" y="6218514"/>
            <a:ext cx="1030795" cy="369332"/>
          </a:xfrm>
          <a:prstGeom prst="rect">
            <a:avLst/>
          </a:prstGeom>
          <a:noFill/>
        </p:spPr>
        <p:txBody>
          <a:bodyPr wrap="none" rtlCol="0">
            <a:spAutoFit/>
          </a:bodyPr>
          <a:lstStyle/>
          <a:p>
            <a:r>
              <a:rPr lang="en-US" dirty="0"/>
              <a:t>VS Code</a:t>
            </a:r>
          </a:p>
        </p:txBody>
      </p:sp>
    </p:spTree>
    <p:extLst>
      <p:ext uri="{BB962C8B-B14F-4D97-AF65-F5344CB8AC3E}">
        <p14:creationId xmlns:p14="http://schemas.microsoft.com/office/powerpoint/2010/main" val="34346295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D64AC-6548-0AE8-FFAA-FDAB1F8A533B}"/>
              </a:ext>
            </a:extLst>
          </p:cNvPr>
          <p:cNvSpPr>
            <a:spLocks noGrp="1"/>
          </p:cNvSpPr>
          <p:nvPr>
            <p:ph type="title"/>
          </p:nvPr>
        </p:nvSpPr>
        <p:spPr/>
        <p:txBody>
          <a:bodyPr/>
          <a:lstStyle/>
          <a:p>
            <a:r>
              <a:rPr lang="en-US" dirty="0"/>
              <a:t>Why </a:t>
            </a:r>
            <a:r>
              <a:rPr lang="en-US" dirty="0" err="1"/>
              <a:t>Jupyter</a:t>
            </a:r>
            <a:r>
              <a:rPr lang="en-US" dirty="0"/>
              <a:t> in this class?</a:t>
            </a:r>
          </a:p>
        </p:txBody>
      </p:sp>
      <p:sp>
        <p:nvSpPr>
          <p:cNvPr id="3" name="Content Placeholder 2">
            <a:extLst>
              <a:ext uri="{FF2B5EF4-FFF2-40B4-BE49-F238E27FC236}">
                <a16:creationId xmlns:a16="http://schemas.microsoft.com/office/drawing/2014/main" id="{6599450D-FA54-EAE2-62AE-498FFEA3374E}"/>
              </a:ext>
            </a:extLst>
          </p:cNvPr>
          <p:cNvSpPr>
            <a:spLocks noGrp="1"/>
          </p:cNvSpPr>
          <p:nvPr>
            <p:ph idx="1"/>
          </p:nvPr>
        </p:nvSpPr>
        <p:spPr>
          <a:xfrm>
            <a:off x="838200" y="2286000"/>
            <a:ext cx="7625203" cy="3962399"/>
          </a:xfrm>
        </p:spPr>
        <p:txBody>
          <a:bodyPr>
            <a:normAutofit/>
          </a:bodyPr>
          <a:lstStyle/>
          <a:p>
            <a:r>
              <a:rPr lang="en-US" dirty="0"/>
              <a:t>Jupyter implements the literate programming paradigm: code, output, and narrative coexist in one document — making analysis self-documenting and reproducible. Required by many research journals and data competitions.etween code. </a:t>
            </a:r>
          </a:p>
          <a:p>
            <a:r>
              <a:rPr lang="en-US" dirty="0"/>
              <a:t>To add a text cell in </a:t>
            </a:r>
            <a:r>
              <a:rPr lang="en-US" dirty="0" err="1"/>
              <a:t>Jupyter</a:t>
            </a:r>
            <a:r>
              <a:rPr lang="en-US" dirty="0"/>
              <a:t>, switch the cell to “Markdown” mode and you can write descriptions in plain English (and even include math or images). </a:t>
            </a:r>
          </a:p>
          <a:p>
            <a:r>
              <a:rPr lang="en-US" dirty="0"/>
              <a:t>Markdown supports LaTeX math, hyperlinks, images, and tables — a single .ipynb file can contain a complete analysis from data loading to conclusions, shareable as a PDF or web page.nalysis easier to follow.</a:t>
            </a:r>
          </a:p>
          <a:p>
            <a:endParaRPr lang="en-US" dirty="0"/>
          </a:p>
        </p:txBody>
      </p:sp>
      <p:pic>
        <p:nvPicPr>
          <p:cNvPr id="4" name="Picture 3" descr="A logo with text and circles  AI-generated content may be incorrect.">
            <a:extLst>
              <a:ext uri="{FF2B5EF4-FFF2-40B4-BE49-F238E27FC236}">
                <a16:creationId xmlns:a16="http://schemas.microsoft.com/office/drawing/2014/main" id="{BC9F3F6D-52B7-3430-20F5-6604FAD35540}"/>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8677716" y="2652399"/>
            <a:ext cx="2890397" cy="3106501"/>
          </a:xfrm>
          <a:prstGeom prst="rect">
            <a:avLst/>
          </a:prstGeom>
        </p:spPr>
      </p:pic>
    </p:spTree>
    <p:extLst>
      <p:ext uri="{BB962C8B-B14F-4D97-AF65-F5344CB8AC3E}">
        <p14:creationId xmlns:p14="http://schemas.microsoft.com/office/powerpoint/2010/main" val="7324683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E0485-DF61-F875-434E-35191022E396}"/>
              </a:ext>
            </a:extLst>
          </p:cNvPr>
          <p:cNvSpPr>
            <a:spLocks noGrp="1"/>
          </p:cNvSpPr>
          <p:nvPr>
            <p:ph type="title"/>
          </p:nvPr>
        </p:nvSpPr>
        <p:spPr/>
        <p:txBody>
          <a:bodyPr/>
          <a:lstStyle/>
          <a:p>
            <a:r>
              <a:rPr lang="en-US" dirty="0"/>
              <a:t>Navigating the </a:t>
            </a:r>
            <a:r>
              <a:rPr lang="en-US" dirty="0" err="1"/>
              <a:t>Jupyter</a:t>
            </a:r>
            <a:r>
              <a:rPr lang="en-US" dirty="0"/>
              <a:t> Notebook Interface</a:t>
            </a:r>
          </a:p>
        </p:txBody>
      </p:sp>
      <p:pic>
        <p:nvPicPr>
          <p:cNvPr id="4" name="Picture 3" descr="A screenshot of a computer  AI-generated content may be incorrect.">
            <a:extLst>
              <a:ext uri="{FF2B5EF4-FFF2-40B4-BE49-F238E27FC236}">
                <a16:creationId xmlns:a16="http://schemas.microsoft.com/office/drawing/2014/main" id="{AD662A62-F156-1A95-28AB-13FFD23E5B60}"/>
              </a:ext>
            </a:extLst>
          </p:cNvPr>
          <p:cNvPicPr>
            <a:picLocks noChangeAspect="1"/>
          </p:cNvPicPr>
          <p:nvPr/>
        </p:nvPicPr>
        <p:blipFill>
          <a:blip r:embed="rId2" cstate="screen">
            <a:extLst>
              <a:ext uri="{28A0092B-C50C-407E-A947-70E740481C1C}">
                <a14:useLocalDpi xmlns:a14="http://schemas.microsoft.com/office/drawing/2010/main"/>
              </a:ext>
            </a:extLst>
          </a:blip>
          <a:srcRect l="-173"/>
          <a:stretch>
            <a:fillRect/>
          </a:stretch>
        </p:blipFill>
        <p:spPr>
          <a:xfrm>
            <a:off x="383848" y="2895326"/>
            <a:ext cx="11693852" cy="3076024"/>
          </a:xfrm>
          <a:prstGeom prst="rect">
            <a:avLst/>
          </a:prstGeom>
        </p:spPr>
      </p:pic>
    </p:spTree>
    <p:extLst>
      <p:ext uri="{BB962C8B-B14F-4D97-AF65-F5344CB8AC3E}">
        <p14:creationId xmlns:p14="http://schemas.microsoft.com/office/powerpoint/2010/main" val="37413047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69E7C33-094B-CDB0-C5B9-FE54F16F07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FB0714-60BD-F7BF-C1D2-439C6AA39A44}"/>
              </a:ext>
            </a:extLst>
          </p:cNvPr>
          <p:cNvSpPr>
            <a:spLocks noGrp="1"/>
          </p:cNvSpPr>
          <p:nvPr>
            <p:ph type="title"/>
          </p:nvPr>
        </p:nvSpPr>
        <p:spPr>
          <a:xfrm>
            <a:off x="838200" y="453407"/>
            <a:ext cx="10515600" cy="1325563"/>
          </a:xfrm>
        </p:spPr>
        <p:txBody>
          <a:bodyPr/>
          <a:lstStyle/>
          <a:p>
            <a:r>
              <a:rPr lang="en-US" dirty="0"/>
              <a:t>Navigating the </a:t>
            </a:r>
            <a:r>
              <a:rPr lang="en-US" dirty="0" err="1"/>
              <a:t>Jupyter</a:t>
            </a:r>
            <a:r>
              <a:rPr lang="en-US" dirty="0"/>
              <a:t> Notebook Interface</a:t>
            </a:r>
          </a:p>
        </p:txBody>
      </p:sp>
      <p:pic>
        <p:nvPicPr>
          <p:cNvPr id="4" name="Picture 3" descr="A screenshot of a computer  AI-generated content may be incorrect.">
            <a:extLst>
              <a:ext uri="{FF2B5EF4-FFF2-40B4-BE49-F238E27FC236}">
                <a16:creationId xmlns:a16="http://schemas.microsoft.com/office/drawing/2014/main" id="{4236FF8B-BB7C-C6DA-4D2D-FCFE7D7E4C71}"/>
              </a:ext>
            </a:extLst>
          </p:cNvPr>
          <p:cNvPicPr>
            <a:picLocks noChangeAspect="1"/>
          </p:cNvPicPr>
          <p:nvPr/>
        </p:nvPicPr>
        <p:blipFill>
          <a:blip r:embed="rId3" cstate="screen">
            <a:extLst>
              <a:ext uri="{28A0092B-C50C-407E-A947-70E740481C1C}">
                <a14:useLocalDpi xmlns:a14="http://schemas.microsoft.com/office/drawing/2010/main"/>
              </a:ext>
            </a:extLst>
          </a:blip>
          <a:srcRect l="-515"/>
          <a:stretch>
            <a:fillRect/>
          </a:stretch>
        </p:blipFill>
        <p:spPr>
          <a:xfrm>
            <a:off x="3885758" y="1766856"/>
            <a:ext cx="6529830" cy="5091144"/>
          </a:xfrm>
          <a:prstGeom prst="rect">
            <a:avLst/>
          </a:prstGeom>
        </p:spPr>
      </p:pic>
      <p:sp>
        <p:nvSpPr>
          <p:cNvPr id="5" name="Oval 4">
            <a:extLst>
              <a:ext uri="{FF2B5EF4-FFF2-40B4-BE49-F238E27FC236}">
                <a16:creationId xmlns:a16="http://schemas.microsoft.com/office/drawing/2014/main" id="{B125B203-9BFC-D3D4-1165-2B769381F3B2}"/>
              </a:ext>
            </a:extLst>
          </p:cNvPr>
          <p:cNvSpPr/>
          <p:nvPr/>
        </p:nvSpPr>
        <p:spPr>
          <a:xfrm>
            <a:off x="3885758" y="2304013"/>
            <a:ext cx="5557838" cy="600075"/>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6" name="TextBox 5">
            <a:extLst>
              <a:ext uri="{FF2B5EF4-FFF2-40B4-BE49-F238E27FC236}">
                <a16:creationId xmlns:a16="http://schemas.microsoft.com/office/drawing/2014/main" id="{6C068D7D-1647-C749-890E-05D462548B81}"/>
              </a:ext>
            </a:extLst>
          </p:cNvPr>
          <p:cNvSpPr txBox="1"/>
          <p:nvPr/>
        </p:nvSpPr>
        <p:spPr>
          <a:xfrm>
            <a:off x="1826726" y="1934681"/>
            <a:ext cx="1120820"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Menu bar</a:t>
            </a:r>
          </a:p>
        </p:txBody>
      </p:sp>
      <p:cxnSp>
        <p:nvCxnSpPr>
          <p:cNvPr id="8" name="Straight Arrow Connector 7">
            <a:extLst>
              <a:ext uri="{FF2B5EF4-FFF2-40B4-BE49-F238E27FC236}">
                <a16:creationId xmlns:a16="http://schemas.microsoft.com/office/drawing/2014/main" id="{54C86D90-2139-C28F-9EEA-0176F7C33283}"/>
              </a:ext>
            </a:extLst>
          </p:cNvPr>
          <p:cNvCxnSpPr>
            <a:stCxn id="5" idx="2"/>
            <a:endCxn id="6" idx="3"/>
          </p:cNvCxnSpPr>
          <p:nvPr/>
        </p:nvCxnSpPr>
        <p:spPr>
          <a:xfrm flipH="1" flipV="1">
            <a:off x="2947546" y="2119347"/>
            <a:ext cx="938212" cy="4847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FDB8438-BF31-D9D5-8114-19BF45283F3E}"/>
              </a:ext>
            </a:extLst>
          </p:cNvPr>
          <p:cNvSpPr txBox="1"/>
          <p:nvPr/>
        </p:nvSpPr>
        <p:spPr>
          <a:xfrm>
            <a:off x="1471613" y="2786063"/>
            <a:ext cx="966098"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Tool bar</a:t>
            </a:r>
          </a:p>
        </p:txBody>
      </p:sp>
      <p:sp>
        <p:nvSpPr>
          <p:cNvPr id="10" name="Oval 9">
            <a:extLst>
              <a:ext uri="{FF2B5EF4-FFF2-40B4-BE49-F238E27FC236}">
                <a16:creationId xmlns:a16="http://schemas.microsoft.com/office/drawing/2014/main" id="{83DB1BB3-753D-B0D6-BEB1-908D9D7A7C29}"/>
              </a:ext>
            </a:extLst>
          </p:cNvPr>
          <p:cNvSpPr/>
          <p:nvPr/>
        </p:nvSpPr>
        <p:spPr>
          <a:xfrm>
            <a:off x="3909570" y="2786063"/>
            <a:ext cx="5557838" cy="600075"/>
          </a:xfrm>
          <a:prstGeom prst="ellipse">
            <a:avLst/>
          </a:prstGeom>
          <a:noFill/>
          <a:ln w="2857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0911EE34-871F-6325-C2D0-1A9FAB60462F}"/>
              </a:ext>
            </a:extLst>
          </p:cNvPr>
          <p:cNvCxnSpPr>
            <a:stCxn id="10" idx="2"/>
            <a:endCxn id="9" idx="3"/>
          </p:cNvCxnSpPr>
          <p:nvPr/>
        </p:nvCxnSpPr>
        <p:spPr>
          <a:xfrm flipH="1" flipV="1">
            <a:off x="2437711" y="2970729"/>
            <a:ext cx="1471859" cy="1153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Oval 12">
            <a:extLst>
              <a:ext uri="{FF2B5EF4-FFF2-40B4-BE49-F238E27FC236}">
                <a16:creationId xmlns:a16="http://schemas.microsoft.com/office/drawing/2014/main" id="{BA0DEB36-883F-223E-1BEA-18B7FA08B2F1}"/>
              </a:ext>
            </a:extLst>
          </p:cNvPr>
          <p:cNvSpPr/>
          <p:nvPr/>
        </p:nvSpPr>
        <p:spPr>
          <a:xfrm>
            <a:off x="4586288" y="4456665"/>
            <a:ext cx="2800350" cy="600075"/>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4" name="Oval 13">
            <a:extLst>
              <a:ext uri="{FF2B5EF4-FFF2-40B4-BE49-F238E27FC236}">
                <a16:creationId xmlns:a16="http://schemas.microsoft.com/office/drawing/2014/main" id="{D46C2A12-FE07-950B-72F8-035F62B5D3A0}"/>
              </a:ext>
            </a:extLst>
          </p:cNvPr>
          <p:cNvSpPr/>
          <p:nvPr/>
        </p:nvSpPr>
        <p:spPr>
          <a:xfrm>
            <a:off x="4586288" y="4972050"/>
            <a:ext cx="2800350" cy="600075"/>
          </a:xfrm>
          <a:prstGeom prst="ellipse">
            <a:avLst/>
          </a:prstGeom>
          <a:noFill/>
          <a:ln w="2857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5" name="TextBox 14">
            <a:extLst>
              <a:ext uri="{FF2B5EF4-FFF2-40B4-BE49-F238E27FC236}">
                <a16:creationId xmlns:a16="http://schemas.microsoft.com/office/drawing/2014/main" id="{430DF214-6610-0B32-6585-A17D027DA979}"/>
              </a:ext>
            </a:extLst>
          </p:cNvPr>
          <p:cNvSpPr txBox="1"/>
          <p:nvPr/>
        </p:nvSpPr>
        <p:spPr>
          <a:xfrm>
            <a:off x="1954662" y="4312428"/>
            <a:ext cx="1289135"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Input Code</a:t>
            </a:r>
          </a:p>
        </p:txBody>
      </p:sp>
      <p:sp>
        <p:nvSpPr>
          <p:cNvPr id="16" name="TextBox 15">
            <a:extLst>
              <a:ext uri="{FF2B5EF4-FFF2-40B4-BE49-F238E27FC236}">
                <a16:creationId xmlns:a16="http://schemas.microsoft.com/office/drawing/2014/main" id="{359D7D02-C8CD-765B-B0EE-9480F99A0609}"/>
              </a:ext>
            </a:extLst>
          </p:cNvPr>
          <p:cNvSpPr txBox="1"/>
          <p:nvPr/>
        </p:nvSpPr>
        <p:spPr>
          <a:xfrm>
            <a:off x="2170842" y="5056740"/>
            <a:ext cx="889987"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Output</a:t>
            </a:r>
          </a:p>
        </p:txBody>
      </p:sp>
      <p:cxnSp>
        <p:nvCxnSpPr>
          <p:cNvPr id="18" name="Straight Arrow Connector 17">
            <a:extLst>
              <a:ext uri="{FF2B5EF4-FFF2-40B4-BE49-F238E27FC236}">
                <a16:creationId xmlns:a16="http://schemas.microsoft.com/office/drawing/2014/main" id="{D3B1192A-34DE-05ED-1043-5D945E7F07B9}"/>
              </a:ext>
            </a:extLst>
          </p:cNvPr>
          <p:cNvCxnSpPr>
            <a:endCxn id="15" idx="3"/>
          </p:cNvCxnSpPr>
          <p:nvPr/>
        </p:nvCxnSpPr>
        <p:spPr>
          <a:xfrm flipH="1" flipV="1">
            <a:off x="3243797" y="4497094"/>
            <a:ext cx="1342491" cy="2596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F7C6638A-ECF2-2E92-A5D9-6A3990AE4AC6}"/>
              </a:ext>
            </a:extLst>
          </p:cNvPr>
          <p:cNvCxnSpPr>
            <a:stCxn id="14" idx="2"/>
            <a:endCxn id="16" idx="3"/>
          </p:cNvCxnSpPr>
          <p:nvPr/>
        </p:nvCxnSpPr>
        <p:spPr>
          <a:xfrm flipH="1" flipV="1">
            <a:off x="3060829" y="5241406"/>
            <a:ext cx="1525459" cy="306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C11D035C-2676-6072-246B-717EC0BC4AD1}"/>
              </a:ext>
            </a:extLst>
          </p:cNvPr>
          <p:cNvSpPr/>
          <p:nvPr/>
        </p:nvSpPr>
        <p:spPr>
          <a:xfrm>
            <a:off x="6386070" y="2806634"/>
            <a:ext cx="557213" cy="528638"/>
          </a:xfrm>
          <a:prstGeom prst="ellipse">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22" name="TextBox 21">
            <a:extLst>
              <a:ext uri="{FF2B5EF4-FFF2-40B4-BE49-F238E27FC236}">
                <a16:creationId xmlns:a16="http://schemas.microsoft.com/office/drawing/2014/main" id="{672BDBFD-4464-A2DE-9256-4977A34B7179}"/>
              </a:ext>
            </a:extLst>
          </p:cNvPr>
          <p:cNvSpPr txBox="1"/>
          <p:nvPr/>
        </p:nvSpPr>
        <p:spPr>
          <a:xfrm>
            <a:off x="10598001" y="3796787"/>
            <a:ext cx="1286634"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Run button</a:t>
            </a:r>
          </a:p>
        </p:txBody>
      </p:sp>
      <p:cxnSp>
        <p:nvCxnSpPr>
          <p:cNvPr id="26" name="Straight Arrow Connector 25">
            <a:extLst>
              <a:ext uri="{FF2B5EF4-FFF2-40B4-BE49-F238E27FC236}">
                <a16:creationId xmlns:a16="http://schemas.microsoft.com/office/drawing/2014/main" id="{C2ABBFFA-31E2-1615-D495-13B258ABEDE9}"/>
              </a:ext>
            </a:extLst>
          </p:cNvPr>
          <p:cNvCxnSpPr>
            <a:stCxn id="21" idx="6"/>
            <a:endCxn id="22" idx="1"/>
          </p:cNvCxnSpPr>
          <p:nvPr/>
        </p:nvCxnSpPr>
        <p:spPr>
          <a:xfrm>
            <a:off x="6943283" y="3070953"/>
            <a:ext cx="3654718" cy="9105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425570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27337-BEDE-6452-0CE6-6F57977FE227}"/>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8306447D-3E0C-77F2-4BE5-25AEB724DAB6}"/>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645318" y="1555"/>
            <a:ext cx="10901363" cy="6856445"/>
          </a:xfrm>
        </p:spPr>
      </p:pic>
    </p:spTree>
    <p:extLst>
      <p:ext uri="{BB962C8B-B14F-4D97-AF65-F5344CB8AC3E}">
        <p14:creationId xmlns:p14="http://schemas.microsoft.com/office/powerpoint/2010/main" val="2026927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C39F9-2CD2-70BB-D4E1-D1625B03F86A}"/>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CD3358A5-DBC7-F715-9F8D-6F44FD863383}"/>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525864" y="228600"/>
            <a:ext cx="10176912" cy="6400799"/>
          </a:xfrm>
        </p:spPr>
      </p:pic>
    </p:spTree>
    <p:extLst>
      <p:ext uri="{BB962C8B-B14F-4D97-AF65-F5344CB8AC3E}">
        <p14:creationId xmlns:p14="http://schemas.microsoft.com/office/powerpoint/2010/main" val="3652667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Content Placeholder 4" descr="A screenshot of a computer  AI-generated content may be incorrect.">
            <a:extLst>
              <a:ext uri="{FF2B5EF4-FFF2-40B4-BE49-F238E27FC236}">
                <a16:creationId xmlns:a16="http://schemas.microsoft.com/office/drawing/2014/main" id="{2FB15927-D988-DEBE-DE82-A310B23C5350}"/>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194542" y="1704731"/>
            <a:ext cx="11802915" cy="3939869"/>
          </a:xfrm>
        </p:spPr>
      </p:pic>
      <p:sp>
        <p:nvSpPr>
          <p:cNvPr id="6" name="TextBox 5">
            <a:extLst>
              <a:ext uri="{FF2B5EF4-FFF2-40B4-BE49-F238E27FC236}">
                <a16:creationId xmlns:a16="http://schemas.microsoft.com/office/drawing/2014/main" id="{D7996E1B-E0C8-0A97-A1F4-72D1DA6B5C72}"/>
              </a:ext>
            </a:extLst>
          </p:cNvPr>
          <p:cNvSpPr txBox="1"/>
          <p:nvPr/>
        </p:nvSpPr>
        <p:spPr>
          <a:xfrm>
            <a:off x="6972300" y="3674665"/>
            <a:ext cx="1183337"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b="1" dirty="0">
                <a:solidFill>
                  <a:srgbClr val="FF0000"/>
                </a:solidFill>
              </a:rPr>
              <a:t>Code cell</a:t>
            </a:r>
          </a:p>
        </p:txBody>
      </p:sp>
      <p:sp>
        <p:nvSpPr>
          <p:cNvPr id="7" name="TextBox 6">
            <a:extLst>
              <a:ext uri="{FF2B5EF4-FFF2-40B4-BE49-F238E27FC236}">
                <a16:creationId xmlns:a16="http://schemas.microsoft.com/office/drawing/2014/main" id="{F1B63E1F-4FC4-2F8F-C3AD-1E2EB788F798}"/>
              </a:ext>
            </a:extLst>
          </p:cNvPr>
          <p:cNvSpPr txBox="1"/>
          <p:nvPr/>
        </p:nvSpPr>
        <p:spPr>
          <a:xfrm>
            <a:off x="6972300" y="4155677"/>
            <a:ext cx="3819251"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b="1" dirty="0">
                <a:solidFill>
                  <a:srgbClr val="FF0000"/>
                </a:solidFill>
              </a:rPr>
              <a:t>Output, after you hit the run button</a:t>
            </a:r>
          </a:p>
        </p:txBody>
      </p:sp>
      <p:sp>
        <p:nvSpPr>
          <p:cNvPr id="8" name="TextBox 7">
            <a:extLst>
              <a:ext uri="{FF2B5EF4-FFF2-40B4-BE49-F238E27FC236}">
                <a16:creationId xmlns:a16="http://schemas.microsoft.com/office/drawing/2014/main" id="{69D65F98-0A53-7732-933C-DE4B089CE2BC}"/>
              </a:ext>
            </a:extLst>
          </p:cNvPr>
          <p:cNvSpPr txBox="1"/>
          <p:nvPr/>
        </p:nvSpPr>
        <p:spPr>
          <a:xfrm>
            <a:off x="6095999" y="4634703"/>
            <a:ext cx="1717971"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b="1" dirty="0">
                <a:solidFill>
                  <a:srgbClr val="FF0000"/>
                </a:solidFill>
              </a:rPr>
              <a:t>Markdown cell</a:t>
            </a:r>
          </a:p>
        </p:txBody>
      </p:sp>
      <p:sp>
        <p:nvSpPr>
          <p:cNvPr id="13" name="TextBox 12">
            <a:extLst>
              <a:ext uri="{FF2B5EF4-FFF2-40B4-BE49-F238E27FC236}">
                <a16:creationId xmlns:a16="http://schemas.microsoft.com/office/drawing/2014/main" id="{AB7D8D73-ED63-960F-DB28-06462AEBED35}"/>
              </a:ext>
            </a:extLst>
          </p:cNvPr>
          <p:cNvSpPr txBox="1"/>
          <p:nvPr/>
        </p:nvSpPr>
        <p:spPr>
          <a:xfrm>
            <a:off x="2452688" y="844068"/>
            <a:ext cx="1890710"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b="1" dirty="0">
                <a:solidFill>
                  <a:srgbClr val="FF0000"/>
                </a:solidFill>
              </a:rPr>
              <a:t>Notebook Name</a:t>
            </a:r>
          </a:p>
        </p:txBody>
      </p:sp>
      <p:cxnSp>
        <p:nvCxnSpPr>
          <p:cNvPr id="15" name="Straight Arrow Connector 14">
            <a:extLst>
              <a:ext uri="{FF2B5EF4-FFF2-40B4-BE49-F238E27FC236}">
                <a16:creationId xmlns:a16="http://schemas.microsoft.com/office/drawing/2014/main" id="{7D2FE320-0A3C-CAD1-9619-D8565F5F6B6B}"/>
              </a:ext>
            </a:extLst>
          </p:cNvPr>
          <p:cNvCxnSpPr>
            <a:cxnSpLocks/>
          </p:cNvCxnSpPr>
          <p:nvPr/>
        </p:nvCxnSpPr>
        <p:spPr>
          <a:xfrm flipH="1">
            <a:off x="2957513" y="1213400"/>
            <a:ext cx="497680" cy="6296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58E18690-7CA1-894F-5F06-27FF13ADB785}"/>
              </a:ext>
            </a:extLst>
          </p:cNvPr>
          <p:cNvSpPr/>
          <p:nvPr/>
        </p:nvSpPr>
        <p:spPr>
          <a:xfrm>
            <a:off x="585788" y="3460352"/>
            <a:ext cx="485775" cy="428625"/>
          </a:xfrm>
          <a:prstGeom prst="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0" name="TextBox 19">
            <a:extLst>
              <a:ext uri="{FF2B5EF4-FFF2-40B4-BE49-F238E27FC236}">
                <a16:creationId xmlns:a16="http://schemas.microsoft.com/office/drawing/2014/main" id="{005646BB-8606-1795-B29C-AB7D4588BE3F}"/>
              </a:ext>
            </a:extLst>
          </p:cNvPr>
          <p:cNvSpPr txBox="1"/>
          <p:nvPr/>
        </p:nvSpPr>
        <p:spPr>
          <a:xfrm>
            <a:off x="342900" y="6013932"/>
            <a:ext cx="2375202"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dirty="0"/>
              <a:t>Number of executions</a:t>
            </a:r>
          </a:p>
        </p:txBody>
      </p:sp>
      <p:cxnSp>
        <p:nvCxnSpPr>
          <p:cNvPr id="22" name="Straight Arrow Connector 21">
            <a:extLst>
              <a:ext uri="{FF2B5EF4-FFF2-40B4-BE49-F238E27FC236}">
                <a16:creationId xmlns:a16="http://schemas.microsoft.com/office/drawing/2014/main" id="{75368C4B-EBAE-5190-D620-1742341F4FB9}"/>
              </a:ext>
            </a:extLst>
          </p:cNvPr>
          <p:cNvCxnSpPr>
            <a:stCxn id="20" idx="0"/>
            <a:endCxn id="19" idx="2"/>
          </p:cNvCxnSpPr>
          <p:nvPr/>
        </p:nvCxnSpPr>
        <p:spPr>
          <a:xfrm flipH="1" flipV="1">
            <a:off x="828676" y="3888977"/>
            <a:ext cx="701825" cy="21249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11672424-C86A-2022-CFD1-CE903BB5681A}"/>
              </a:ext>
            </a:extLst>
          </p:cNvPr>
          <p:cNvSpPr/>
          <p:nvPr/>
        </p:nvSpPr>
        <p:spPr>
          <a:xfrm>
            <a:off x="7135206" y="2605475"/>
            <a:ext cx="2208819" cy="428625"/>
          </a:xfrm>
          <a:prstGeom prst="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5" name="TextBox 24">
            <a:extLst>
              <a:ext uri="{FF2B5EF4-FFF2-40B4-BE49-F238E27FC236}">
                <a16:creationId xmlns:a16="http://schemas.microsoft.com/office/drawing/2014/main" id="{30F33C1F-51F2-A9F3-B1B6-33B6296899D6}"/>
              </a:ext>
            </a:extLst>
          </p:cNvPr>
          <p:cNvSpPr txBox="1"/>
          <p:nvPr/>
        </p:nvSpPr>
        <p:spPr>
          <a:xfrm>
            <a:off x="9115425" y="5882091"/>
            <a:ext cx="2882032"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Adds code/markdown line above or below</a:t>
            </a:r>
          </a:p>
        </p:txBody>
      </p:sp>
      <p:cxnSp>
        <p:nvCxnSpPr>
          <p:cNvPr id="27" name="Straight Arrow Connector 26">
            <a:extLst>
              <a:ext uri="{FF2B5EF4-FFF2-40B4-BE49-F238E27FC236}">
                <a16:creationId xmlns:a16="http://schemas.microsoft.com/office/drawing/2014/main" id="{35C1D937-25C4-24EB-FBE8-A5DF0F7DBA3C}"/>
              </a:ext>
            </a:extLst>
          </p:cNvPr>
          <p:cNvCxnSpPr>
            <a:stCxn id="25" idx="0"/>
          </p:cNvCxnSpPr>
          <p:nvPr/>
        </p:nvCxnSpPr>
        <p:spPr>
          <a:xfrm flipV="1">
            <a:off x="10556441" y="3918186"/>
            <a:ext cx="459222" cy="19639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09C9613A-E323-ABC5-EBF8-4632183F8E10}"/>
              </a:ext>
            </a:extLst>
          </p:cNvPr>
          <p:cNvSpPr/>
          <p:nvPr/>
        </p:nvSpPr>
        <p:spPr>
          <a:xfrm>
            <a:off x="10748689" y="3509346"/>
            <a:ext cx="857523" cy="428625"/>
          </a:xfrm>
          <a:prstGeom prst="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9" name="TextBox 28">
            <a:extLst>
              <a:ext uri="{FF2B5EF4-FFF2-40B4-BE49-F238E27FC236}">
                <a16:creationId xmlns:a16="http://schemas.microsoft.com/office/drawing/2014/main" id="{D152D636-5569-43A0-13C8-724D17D3A4F8}"/>
              </a:ext>
            </a:extLst>
          </p:cNvPr>
          <p:cNvSpPr txBox="1"/>
          <p:nvPr/>
        </p:nvSpPr>
        <p:spPr>
          <a:xfrm>
            <a:off x="7894145" y="1398355"/>
            <a:ext cx="2680684"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Shows the running engine on the backend</a:t>
            </a:r>
          </a:p>
        </p:txBody>
      </p:sp>
      <p:cxnSp>
        <p:nvCxnSpPr>
          <p:cNvPr id="31" name="Straight Arrow Connector 30">
            <a:extLst>
              <a:ext uri="{FF2B5EF4-FFF2-40B4-BE49-F238E27FC236}">
                <a16:creationId xmlns:a16="http://schemas.microsoft.com/office/drawing/2014/main" id="{A2235A50-7B45-5ADC-68B8-046AAC35D6B7}"/>
              </a:ext>
            </a:extLst>
          </p:cNvPr>
          <p:cNvCxnSpPr>
            <a:stCxn id="29" idx="2"/>
          </p:cNvCxnSpPr>
          <p:nvPr/>
        </p:nvCxnSpPr>
        <p:spPr>
          <a:xfrm flipH="1">
            <a:off x="8239615" y="2044686"/>
            <a:ext cx="994872" cy="5607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943613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DB9E6-630C-7EC9-5430-1C1B6E6282CF}"/>
              </a:ext>
            </a:extLst>
          </p:cNvPr>
          <p:cNvSpPr>
            <a:spLocks noGrp="1"/>
          </p:cNvSpPr>
          <p:nvPr>
            <p:ph type="title"/>
          </p:nvPr>
        </p:nvSpPr>
        <p:spPr/>
        <p:txBody>
          <a:bodyPr/>
          <a:lstStyle/>
          <a:p>
            <a:r>
              <a:rPr lang="en-US" dirty="0"/>
              <a:t>Try it yourself!</a:t>
            </a:r>
          </a:p>
        </p:txBody>
      </p:sp>
      <p:sp>
        <p:nvSpPr>
          <p:cNvPr id="3" name="Content Placeholder 2">
            <a:extLst>
              <a:ext uri="{FF2B5EF4-FFF2-40B4-BE49-F238E27FC236}">
                <a16:creationId xmlns:a16="http://schemas.microsoft.com/office/drawing/2014/main" id="{9E27BB73-0D15-3AD9-B36F-8A26BCCA6A28}"/>
              </a:ext>
            </a:extLst>
          </p:cNvPr>
          <p:cNvSpPr>
            <a:spLocks noGrp="1"/>
          </p:cNvSpPr>
          <p:nvPr>
            <p:ph idx="1"/>
          </p:nvPr>
        </p:nvSpPr>
        <p:spPr/>
        <p:txBody>
          <a:bodyPr/>
          <a:lstStyle/>
          <a:p>
            <a:r>
              <a:rPr lang="en-US" dirty="0"/>
              <a:t>Start the </a:t>
            </a:r>
            <a:r>
              <a:rPr lang="en-US" dirty="0" err="1"/>
              <a:t>Jupyter</a:t>
            </a:r>
            <a:r>
              <a:rPr lang="en-US" dirty="0"/>
              <a:t> Notebook</a:t>
            </a:r>
          </a:p>
          <a:p>
            <a:r>
              <a:rPr lang="en-US" dirty="0"/>
              <a:t>Create a new notebook (under Documents or folder of your choice)</a:t>
            </a:r>
          </a:p>
          <a:p>
            <a:r>
              <a:rPr lang="en-US" dirty="0"/>
              <a:t>Write the following into the code line:</a:t>
            </a:r>
          </a:p>
          <a:p>
            <a:pPr lvl="1"/>
            <a:r>
              <a:rPr lang="en-US" dirty="0"/>
              <a:t>print(“Hello, Python!”)</a:t>
            </a:r>
          </a:p>
          <a:p>
            <a:r>
              <a:rPr lang="en-US" dirty="0"/>
              <a:t>Run it!</a:t>
            </a:r>
          </a:p>
          <a:p>
            <a:endParaRPr lang="en-US" dirty="0"/>
          </a:p>
        </p:txBody>
      </p:sp>
      <p:pic>
        <p:nvPicPr>
          <p:cNvPr id="5" name="Picture 4" descr="A screen shot of a computer  AI-generated content may be incorrect.">
            <a:extLst>
              <a:ext uri="{FF2B5EF4-FFF2-40B4-BE49-F238E27FC236}">
                <a16:creationId xmlns:a16="http://schemas.microsoft.com/office/drawing/2014/main" id="{4BF9C633-738B-8CD3-E11D-05387EE6ED1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96000" y="4694481"/>
            <a:ext cx="5555518" cy="2128837"/>
          </a:xfrm>
          <a:prstGeom prst="rect">
            <a:avLst/>
          </a:prstGeom>
        </p:spPr>
      </p:pic>
    </p:spTree>
    <p:extLst>
      <p:ext uri="{BB962C8B-B14F-4D97-AF65-F5344CB8AC3E}">
        <p14:creationId xmlns:p14="http://schemas.microsoft.com/office/powerpoint/2010/main" val="29583292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9AF37-BC61-CD9A-4C08-3C3CB029A1DE}"/>
              </a:ext>
            </a:extLst>
          </p:cNvPr>
          <p:cNvSpPr>
            <a:spLocks noGrp="1"/>
          </p:cNvSpPr>
          <p:nvPr>
            <p:ph type="title"/>
          </p:nvPr>
        </p:nvSpPr>
        <p:spPr/>
        <p:txBody>
          <a:bodyPr/>
          <a:lstStyle/>
          <a:p>
            <a:r>
              <a:rPr lang="en-US" b="1" dirty="0"/>
              <a:t>What is Pandas?</a:t>
            </a:r>
            <a:endParaRPr lang="en-US" dirty="0"/>
          </a:p>
        </p:txBody>
      </p:sp>
      <p:sp>
        <p:nvSpPr>
          <p:cNvPr id="3" name="Content Placeholder 2">
            <a:extLst>
              <a:ext uri="{FF2B5EF4-FFF2-40B4-BE49-F238E27FC236}">
                <a16:creationId xmlns:a16="http://schemas.microsoft.com/office/drawing/2014/main" id="{84A943AD-41B0-AD40-B09F-DE55F253860C}"/>
              </a:ext>
            </a:extLst>
          </p:cNvPr>
          <p:cNvSpPr>
            <a:spLocks noGrp="1"/>
          </p:cNvSpPr>
          <p:nvPr>
            <p:ph idx="1"/>
          </p:nvPr>
        </p:nvSpPr>
        <p:spPr/>
        <p:txBody>
          <a:bodyPr>
            <a:normAutofit/>
          </a:bodyPr>
          <a:lstStyle/>
          <a:p>
            <a:pPr lvl="0"/>
            <a:r>
              <a:rPr lang="en-US" sz="3600" b="1" dirty="0"/>
              <a:t>pandas is the standard Python library for tabular data — built on NumPy arrays for speed. The primary data structure (DataFrame) was inspired by R’s data.frame.</a:t>
            </a:r>
            <a:endParaRPr lang="en-US" sz="3600" dirty="0"/>
          </a:p>
          <a:p>
            <a:pPr lvl="0"/>
            <a:r>
              <a:rPr lang="en-US" sz="3600" dirty="0"/>
              <a:t>Core EDA workflow: load → inspect dtypes → clean → transform → aggregate → visualize. pandas handles every step. Most real-world datasets live in DataFrames first.</a:t>
            </a:r>
          </a:p>
          <a:p>
            <a:pPr lvl="0"/>
            <a:r>
              <a:rPr lang="en-US" sz="3600" dirty="0"/>
              <a:t>Main data structures:</a:t>
            </a:r>
          </a:p>
          <a:p>
            <a:pPr lvl="1"/>
            <a:r>
              <a:rPr lang="en-US" sz="3200" b="1" dirty="0"/>
              <a:t>Series</a:t>
            </a:r>
            <a:r>
              <a:rPr lang="en-US" sz="3200" dirty="0"/>
              <a:t>: 1D labeled array. Each column of a DataFrame is a Series. Supports vectorized operations — no loops needed.</a:t>
            </a:r>
          </a:p>
          <a:p>
            <a:pPr lvl="1"/>
            <a:r>
              <a:rPr lang="en-US" sz="3200" b="1" dirty="0" err="1"/>
              <a:t>DataFrame</a:t>
            </a:r>
            <a:r>
              <a:rPr lang="en-US" sz="3200" dirty="0"/>
              <a:t>: 2D labeled table with a row index and named columns. Think SQL table or Excel sheet — with the full power of Python.</a:t>
            </a:r>
          </a:p>
          <a:p>
            <a:pPr marL="0" indent="0">
              <a:buNone/>
            </a:pPr>
            <a:endParaRPr lang="en-US" sz="3600" dirty="0"/>
          </a:p>
        </p:txBody>
      </p:sp>
    </p:spTree>
    <p:extLst>
      <p:ext uri="{BB962C8B-B14F-4D97-AF65-F5344CB8AC3E}">
        <p14:creationId xmlns:p14="http://schemas.microsoft.com/office/powerpoint/2010/main" val="19996237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7C969-611C-CF2E-754C-0A47671CBB0E}"/>
              </a:ext>
            </a:extLst>
          </p:cNvPr>
          <p:cNvSpPr>
            <a:spLocks noGrp="1"/>
          </p:cNvSpPr>
          <p:nvPr>
            <p:ph type="ctrTitle"/>
          </p:nvPr>
        </p:nvSpPr>
        <p:spPr/>
        <p:txBody>
          <a:bodyPr/>
          <a:lstStyle/>
          <a:p>
            <a:r>
              <a:rPr lang="en-US" dirty="0"/>
              <a:t>Analysis Steps</a:t>
            </a:r>
          </a:p>
        </p:txBody>
      </p:sp>
      <p:sp>
        <p:nvSpPr>
          <p:cNvPr id="3" name="Subtitle 2">
            <a:extLst>
              <a:ext uri="{FF2B5EF4-FFF2-40B4-BE49-F238E27FC236}">
                <a16:creationId xmlns:a16="http://schemas.microsoft.com/office/drawing/2014/main" id="{86442D6A-90AA-1760-235B-2F7469784C52}"/>
              </a:ext>
            </a:extLst>
          </p:cNvPr>
          <p:cNvSpPr>
            <a:spLocks noGrp="1"/>
          </p:cNvSpPr>
          <p:nvPr>
            <p:ph type="subTitle" idx="1"/>
          </p:nvPr>
        </p:nvSpPr>
        <p:spPr/>
        <p:txBody>
          <a:bodyPr/>
          <a:lstStyle/>
          <a:p>
            <a:endParaRPr lang="en-US" dirty="0"/>
          </a:p>
        </p:txBody>
      </p:sp>
      <p:sp>
        <p:nvSpPr>
          <p:cNvPr id="10" name="Steps"/>
          <p:cNvSpPr>
            <a:spLocks noGrp="1"/>
          </p:cNvSpPr>
          <p:nvPr/>
        </p:nvSpPr>
        <p:spPr>
          <a:xfrm>
            <a:off x="457200" y="1371600"/>
            <a:ext cx="11354400" cy="5029200"/>
          </a:xfrm>
          <a:prstGeom prst="rect">
            <a:avLst/>
          </a:prstGeom>
        </p:spPr>
        <p:txBody>
          <a:bodyPr>
            <a:normAutofit/>
          </a:bodyPr>
          <a:lstStyle/>
          <a:p>
            <a:r>
              <a:rPr lang="en-US" sz="1800" b="1" dirty="0"/>
              <a:t>The 5-Step EDA Workflow in Python:</a:t>
            </a:r>
          </a:p>
          <a:p>
            <a:r>
              <a:rPr lang="en-US" sz="1700" dirty="0"/>
              <a:t>Step 1 — Import libraries: pandas, NumPy, matplotlib, seaborn. Every analysis starts here.</a:t>
            </a:r>
          </a:p>
          <a:p>
            <a:r>
              <a:rPr lang="en-US" sz="1700" dirty="0"/>
              <a:t>Step 2 — Load the dataset: pd.read_csv(). Check df.shape immediately — does the row count match what you expect?</a:t>
            </a:r>
          </a:p>
          <a:p>
            <a:r>
              <a:rPr lang="en-US" sz="1700" dirty="0"/>
              <a:t>Step 3 — Data audit: df.head(), df.dtypes, df.info(), df.describe(). Flag type mismatches and missing values before any analysis.</a:t>
            </a:r>
          </a:p>
          <a:p>
            <a:r>
              <a:rPr lang="en-US" sz="1700" dirty="0"/>
              <a:t>Step 4 — Answer specific questions: compute statistics (mean, median, groupby, value_counts). Each answer raises new questions — that’s EDA.</a:t>
            </a:r>
          </a:p>
          <a:p>
            <a:r>
              <a:rPr lang="en-US" sz="1700" dirty="0"/>
              <a:t>Step 5 — Visualize: histograms for distributions, bar charts for categories, scatter plots for relationships. Always interpret shape, not just numbers.</a:t>
            </a:r>
          </a:p>
        </p:txBody>
      </p:sp>
    </p:spTree>
    <p:extLst>
      <p:ext uri="{BB962C8B-B14F-4D97-AF65-F5344CB8AC3E}">
        <p14:creationId xmlns:p14="http://schemas.microsoft.com/office/powerpoint/2010/main" val="13207198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BBAEE-4BD3-DA33-F0B5-A8C0310BF109}"/>
              </a:ext>
            </a:extLst>
          </p:cNvPr>
          <p:cNvSpPr>
            <a:spLocks noGrp="1"/>
          </p:cNvSpPr>
          <p:nvPr>
            <p:ph type="title"/>
          </p:nvPr>
        </p:nvSpPr>
        <p:spPr/>
        <p:txBody>
          <a:bodyPr/>
          <a:lstStyle/>
          <a:p>
            <a:r>
              <a:rPr lang="en-US" dirty="0"/>
              <a:t>Step 1: Import Libraries </a:t>
            </a:r>
          </a:p>
        </p:txBody>
      </p:sp>
      <p:sp>
        <p:nvSpPr>
          <p:cNvPr id="3" name="Content Placeholder 2">
            <a:extLst>
              <a:ext uri="{FF2B5EF4-FFF2-40B4-BE49-F238E27FC236}">
                <a16:creationId xmlns:a16="http://schemas.microsoft.com/office/drawing/2014/main" id="{44D15F48-85C6-7FF5-0C87-A79D88361DB1}"/>
              </a:ext>
            </a:extLst>
          </p:cNvPr>
          <p:cNvSpPr>
            <a:spLocks noGrp="1"/>
          </p:cNvSpPr>
          <p:nvPr>
            <p:ph idx="1"/>
          </p:nvPr>
        </p:nvSpPr>
        <p:spPr/>
        <p:txBody>
          <a:bodyPr/>
          <a:lstStyle/>
          <a:p>
            <a:r>
              <a:rPr lang="en-US" dirty="0"/>
              <a:t>Import </a:t>
            </a:r>
          </a:p>
          <a:p>
            <a:pPr lvl="1"/>
            <a:r>
              <a:rPr lang="en-US" dirty="0"/>
              <a:t>matplotlib for plotting</a:t>
            </a:r>
          </a:p>
          <a:p>
            <a:pPr lvl="1"/>
            <a:r>
              <a:rPr lang="en-US" dirty="0"/>
              <a:t>pandas for data frame</a:t>
            </a:r>
          </a:p>
          <a:p>
            <a:pPr lvl="1"/>
            <a:r>
              <a:rPr lang="en-US" dirty="0"/>
              <a:t>NumPy for numeric analyses</a:t>
            </a:r>
          </a:p>
          <a:p>
            <a:pPr lvl="1"/>
            <a:endParaRPr lang="en-US" dirty="0"/>
          </a:p>
          <a:p>
            <a:r>
              <a:rPr lang="en-US" dirty="0"/>
              <a:t>How can we import them?</a:t>
            </a:r>
          </a:p>
          <a:p>
            <a:pPr lvl="1"/>
            <a:r>
              <a:rPr lang="en-US" dirty="0"/>
              <a:t>(Answer is on the next slide)</a:t>
            </a:r>
          </a:p>
        </p:txBody>
      </p:sp>
      <p:pic>
        <p:nvPicPr>
          <p:cNvPr id="1030" name="Picture 6" descr="Matplotlib - Python Library - Studyopedia">
            <a:extLst>
              <a:ext uri="{FF2B5EF4-FFF2-40B4-BE49-F238E27FC236}">
                <a16:creationId xmlns:a16="http://schemas.microsoft.com/office/drawing/2014/main" id="{AC3A2D80-5556-CD5E-AD31-E5FFD160B8AD}"/>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8224838" y="2300287"/>
            <a:ext cx="2857500" cy="15875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4E0CB344-9582-C14D-7F72-B2981F0205E8}"/>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393042" y="3625850"/>
            <a:ext cx="2960758" cy="119818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25628FE7-1EE3-AE26-04B0-3E8FFFBEA7C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8393042" y="4946063"/>
            <a:ext cx="3248025" cy="14616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85155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3DDCE-DDE6-31FF-5378-3676D5DD2C47}"/>
              </a:ext>
            </a:extLst>
          </p:cNvPr>
          <p:cNvSpPr>
            <a:spLocks noGrp="1"/>
          </p:cNvSpPr>
          <p:nvPr>
            <p:ph type="title"/>
          </p:nvPr>
        </p:nvSpPr>
        <p:spPr/>
        <p:txBody>
          <a:bodyPr/>
          <a:lstStyle/>
          <a:p>
            <a:r>
              <a:rPr lang="en-US" dirty="0"/>
              <a:t>Step 1: Import Libraries </a:t>
            </a:r>
          </a:p>
        </p:txBody>
      </p:sp>
      <p:sp>
        <p:nvSpPr>
          <p:cNvPr id="3" name="Content Placeholder 2">
            <a:extLst>
              <a:ext uri="{FF2B5EF4-FFF2-40B4-BE49-F238E27FC236}">
                <a16:creationId xmlns:a16="http://schemas.microsoft.com/office/drawing/2014/main" id="{78CF6BFC-2317-4FFC-9297-63D608BA1843}"/>
              </a:ext>
            </a:extLst>
          </p:cNvPr>
          <p:cNvSpPr>
            <a:spLocks noGrp="1"/>
          </p:cNvSpPr>
          <p:nvPr>
            <p:ph idx="1"/>
          </p:nvPr>
        </p:nvSpPr>
        <p:spPr/>
        <p:txBody>
          <a:bodyPr/>
          <a:lstStyle/>
          <a:p>
            <a:r>
              <a:rPr lang="en-US" dirty="0"/>
              <a:t>We use the </a:t>
            </a:r>
            <a:r>
              <a:rPr lang="en-US" dirty="0">
                <a:solidFill>
                  <a:srgbClr val="0000FF"/>
                </a:solidFill>
                <a:latin typeface="Consolas" panose="020B0609020204030204" pitchFamily="49" charset="0"/>
                <a:ea typeface="Times New Roman" panose="02020603050405020304" pitchFamily="18" charset="0"/>
                <a:cs typeface="Courier New" panose="02070309020205020404" pitchFamily="49" charset="0"/>
              </a:rPr>
              <a:t>import</a:t>
            </a:r>
            <a:r>
              <a:rPr lang="en-US" dirty="0"/>
              <a:t> function. </a:t>
            </a:r>
          </a:p>
          <a:p>
            <a:r>
              <a:rPr lang="en-US" dirty="0"/>
              <a:t>Provide the package name.</a:t>
            </a:r>
          </a:p>
          <a:p>
            <a:r>
              <a:rPr lang="en-US" dirty="0"/>
              <a:t>Use </a:t>
            </a:r>
            <a:r>
              <a:rPr lang="en-US" dirty="0">
                <a:solidFill>
                  <a:srgbClr val="0000FF"/>
                </a:solidFill>
                <a:latin typeface="Consolas" panose="020B0609020204030204" pitchFamily="49" charset="0"/>
                <a:ea typeface="Times New Roman" panose="02020603050405020304" pitchFamily="18" charset="0"/>
                <a:cs typeface="Courier New" panose="02070309020205020404" pitchFamily="49" charset="0"/>
              </a:rPr>
              <a:t>as </a:t>
            </a:r>
            <a:r>
              <a:rPr lang="en-US" dirty="0"/>
              <a:t>function to define the short name we want to use.</a:t>
            </a:r>
          </a:p>
          <a:p>
            <a:r>
              <a:rPr lang="en-US" dirty="0"/>
              <a:t>Provide the definition.</a:t>
            </a:r>
          </a:p>
        </p:txBody>
      </p:sp>
      <p:sp>
        <p:nvSpPr>
          <p:cNvPr id="5" name="TextBox 4">
            <a:extLst>
              <a:ext uri="{FF2B5EF4-FFF2-40B4-BE49-F238E27FC236}">
                <a16:creationId xmlns:a16="http://schemas.microsoft.com/office/drawing/2014/main" id="{9D1BB484-593B-BE70-F147-9B459398A265}"/>
              </a:ext>
            </a:extLst>
          </p:cNvPr>
          <p:cNvSpPr txBox="1"/>
          <p:nvPr/>
        </p:nvSpPr>
        <p:spPr>
          <a:xfrm>
            <a:off x="1066800" y="4739282"/>
            <a:ext cx="7650957" cy="1200329"/>
          </a:xfrm>
          <a:prstGeom prst="rect">
            <a:avLst/>
          </a:prstGeom>
          <a:noFill/>
        </p:spPr>
        <p:txBody>
          <a:bodyPr wrap="square">
            <a:spAutoFit/>
          </a:bodyPr>
          <a:lstStyle/>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import</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pandas </a:t>
            </a:r>
            <a:r>
              <a:rPr lang="en-US" sz="24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as</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pd</a:t>
            </a:r>
            <a:endParaRPr lang="en-US" sz="40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import</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numpy</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4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as</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np</a:t>
            </a:r>
            <a:endParaRPr lang="en-US" sz="4000" dirty="0">
              <a:effectLst/>
              <a:latin typeface="Times New Roman" panose="02020603050405020304" pitchFamily="18" charset="0"/>
              <a:ea typeface="Times New Roman" panose="02020603050405020304" pitchFamily="18" charset="0"/>
            </a:endParaRPr>
          </a:p>
          <a:p>
            <a:pPr marL="0" marR="0">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import</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matplotlib.pyplot</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4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as</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plt</a:t>
            </a:r>
            <a:endParaRPr lang="en-US" sz="4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6036098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5237-BF13-27B1-D0D7-623F4A073B5C}"/>
              </a:ext>
            </a:extLst>
          </p:cNvPr>
          <p:cNvSpPr>
            <a:spLocks noGrp="1"/>
          </p:cNvSpPr>
          <p:nvPr>
            <p:ph type="title"/>
          </p:nvPr>
        </p:nvSpPr>
        <p:spPr/>
        <p:txBody>
          <a:bodyPr/>
          <a:lstStyle/>
          <a:p>
            <a:r>
              <a:rPr lang="en-US" dirty="0"/>
              <a:t>Step 1: Import Libraries </a:t>
            </a:r>
          </a:p>
        </p:txBody>
      </p:sp>
      <p:sp>
        <p:nvSpPr>
          <p:cNvPr id="3" name="Content Placeholder 2">
            <a:extLst>
              <a:ext uri="{FF2B5EF4-FFF2-40B4-BE49-F238E27FC236}">
                <a16:creationId xmlns:a16="http://schemas.microsoft.com/office/drawing/2014/main" id="{EB89544B-BED8-5174-A18D-52F3025A6836}"/>
              </a:ext>
            </a:extLst>
          </p:cNvPr>
          <p:cNvSpPr>
            <a:spLocks noGrp="1"/>
          </p:cNvSpPr>
          <p:nvPr>
            <p:ph idx="1"/>
          </p:nvPr>
        </p:nvSpPr>
        <p:spPr/>
        <p:txBody>
          <a:bodyPr/>
          <a:lstStyle/>
          <a:p>
            <a:r>
              <a:rPr lang="en-US" dirty="0"/>
              <a:t>If everything is loaded correctly you wont see any output. </a:t>
            </a:r>
          </a:p>
        </p:txBody>
      </p:sp>
      <p:pic>
        <p:nvPicPr>
          <p:cNvPr id="5" name="Picture 4" descr="A screenshot of a computer  AI-generated content may be incorrect.">
            <a:extLst>
              <a:ext uri="{FF2B5EF4-FFF2-40B4-BE49-F238E27FC236}">
                <a16:creationId xmlns:a16="http://schemas.microsoft.com/office/drawing/2014/main" id="{D25637A7-19B1-5D1E-3BC5-9CB4870B9FD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44699" y="3747568"/>
            <a:ext cx="8403933" cy="2011331"/>
          </a:xfrm>
          <a:prstGeom prst="rect">
            <a:avLst/>
          </a:prstGeom>
        </p:spPr>
      </p:pic>
    </p:spTree>
    <p:extLst>
      <p:ext uri="{BB962C8B-B14F-4D97-AF65-F5344CB8AC3E}">
        <p14:creationId xmlns:p14="http://schemas.microsoft.com/office/powerpoint/2010/main" val="13965606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3C42E-6C47-CD13-62B2-CDB04FF2FD2C}"/>
              </a:ext>
            </a:extLst>
          </p:cNvPr>
          <p:cNvSpPr>
            <a:spLocks noGrp="1"/>
          </p:cNvSpPr>
          <p:nvPr>
            <p:ph type="title"/>
          </p:nvPr>
        </p:nvSpPr>
        <p:spPr/>
        <p:txBody>
          <a:bodyPr/>
          <a:lstStyle/>
          <a:p>
            <a:r>
              <a:rPr lang="en-US" dirty="0"/>
              <a:t>Step 2: Load the Dataset </a:t>
            </a:r>
          </a:p>
        </p:txBody>
      </p:sp>
      <p:sp>
        <p:nvSpPr>
          <p:cNvPr id="3" name="Content Placeholder 2">
            <a:extLst>
              <a:ext uri="{FF2B5EF4-FFF2-40B4-BE49-F238E27FC236}">
                <a16:creationId xmlns:a16="http://schemas.microsoft.com/office/drawing/2014/main" id="{03707E4E-80EC-378F-31F9-65682B90DD9E}"/>
              </a:ext>
            </a:extLst>
          </p:cNvPr>
          <p:cNvSpPr>
            <a:spLocks noGrp="1"/>
          </p:cNvSpPr>
          <p:nvPr>
            <p:ph idx="1"/>
          </p:nvPr>
        </p:nvSpPr>
        <p:spPr/>
        <p:txBody>
          <a:bodyPr/>
          <a:lstStyle/>
          <a:p>
            <a:r>
              <a:rPr lang="en-US" dirty="0"/>
              <a:t>Make sure </a:t>
            </a:r>
            <a:r>
              <a:rPr lang="en-US" dirty="0" err="1"/>
              <a:t>car_data.csv</a:t>
            </a:r>
            <a:r>
              <a:rPr lang="en-US" dirty="0"/>
              <a:t> is in the current directory or provide the path. </a:t>
            </a:r>
          </a:p>
          <a:p>
            <a:r>
              <a:rPr lang="en-US" dirty="0"/>
              <a:t>Define your name data frame name, for short we like to call it </a:t>
            </a:r>
            <a:r>
              <a:rPr lang="en-US" dirty="0" err="1"/>
              <a:t>df</a:t>
            </a:r>
            <a:r>
              <a:rPr lang="en-US" dirty="0"/>
              <a:t>.</a:t>
            </a:r>
          </a:p>
          <a:p>
            <a:r>
              <a:rPr lang="en-US" dirty="0"/>
              <a:t>Use panda -now pd in our environment- to read the </a:t>
            </a:r>
          </a:p>
          <a:p>
            <a:r>
              <a:rPr lang="en-US" dirty="0"/>
              <a:t>Check whether it worked!</a:t>
            </a:r>
          </a:p>
        </p:txBody>
      </p:sp>
      <p:sp>
        <p:nvSpPr>
          <p:cNvPr id="5" name="TextBox 4">
            <a:extLst>
              <a:ext uri="{FF2B5EF4-FFF2-40B4-BE49-F238E27FC236}">
                <a16:creationId xmlns:a16="http://schemas.microsoft.com/office/drawing/2014/main" id="{1DB57AC2-1A73-14B5-73C9-F36FFD0F1373}"/>
              </a:ext>
            </a:extLst>
          </p:cNvPr>
          <p:cNvSpPr txBox="1"/>
          <p:nvPr/>
        </p:nvSpPr>
        <p:spPr>
          <a:xfrm>
            <a:off x="987879" y="5167991"/>
            <a:ext cx="10286999" cy="830997"/>
          </a:xfrm>
          <a:prstGeom prst="rect">
            <a:avLst/>
          </a:prstGeom>
          <a:noFill/>
        </p:spPr>
        <p:txBody>
          <a:bodyPr wrap="square">
            <a:spAutoFit/>
          </a:bodyPr>
          <a:lstStyle/>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 </a:t>
            </a: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pd.read_csv</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err="1">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car_data.csv</a:t>
            </a:r>
            <a:r>
              <a:rPr lang="en-US" sz="24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4000" dirty="0">
              <a:effectLst/>
              <a:latin typeface="Times New Roman" panose="02020603050405020304" pitchFamily="18" charset="0"/>
              <a:ea typeface="Times New Roman" panose="02020603050405020304" pitchFamily="18" charset="0"/>
            </a:endParaRPr>
          </a:p>
          <a:p>
            <a:pPr marL="0" marR="0">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print</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"Data loaded. Number of rows and columns:"</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df.shape</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4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9578149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92C26-43FD-E07E-5DD1-4F275F8A4706}"/>
              </a:ext>
            </a:extLst>
          </p:cNvPr>
          <p:cNvSpPr>
            <a:spLocks noGrp="1"/>
          </p:cNvSpPr>
          <p:nvPr>
            <p:ph type="title"/>
          </p:nvPr>
        </p:nvSpPr>
        <p:spPr/>
        <p:txBody>
          <a:bodyPr/>
          <a:lstStyle/>
          <a:p>
            <a:r>
              <a:rPr lang="en-US" dirty="0"/>
              <a:t>Step 2: Load the Dataset </a:t>
            </a:r>
          </a:p>
        </p:txBody>
      </p:sp>
      <p:sp>
        <p:nvSpPr>
          <p:cNvPr id="3" name="Content Placeholder 2">
            <a:extLst>
              <a:ext uri="{FF2B5EF4-FFF2-40B4-BE49-F238E27FC236}">
                <a16:creationId xmlns:a16="http://schemas.microsoft.com/office/drawing/2014/main" id="{C1899A07-CF88-C3A3-6448-9140D7D780C6}"/>
              </a:ext>
            </a:extLst>
          </p:cNvPr>
          <p:cNvSpPr>
            <a:spLocks noGrp="1"/>
          </p:cNvSpPr>
          <p:nvPr>
            <p:ph idx="1"/>
          </p:nvPr>
        </p:nvSpPr>
        <p:spPr>
          <a:xfrm>
            <a:off x="838200" y="2424663"/>
            <a:ext cx="10515600" cy="4176162"/>
          </a:xfrm>
        </p:spPr>
        <p:txBody>
          <a:bodyPr>
            <a:normAutofit/>
          </a:bodyPr>
          <a:lstStyle/>
          <a:p>
            <a:r>
              <a:rPr lang="en-US" dirty="0"/>
              <a:t>It will create the following output:</a:t>
            </a:r>
          </a:p>
          <a:p>
            <a:endParaRPr lang="en-US" dirty="0"/>
          </a:p>
          <a:p>
            <a:endParaRPr lang="en-US" dirty="0"/>
          </a:p>
          <a:p>
            <a:endParaRPr lang="en-US" dirty="0"/>
          </a:p>
          <a:p>
            <a:endParaRPr lang="en-US" dirty="0"/>
          </a:p>
          <a:p>
            <a:r>
              <a:rPr lang="en-US" dirty="0"/>
              <a:t>Within the </a:t>
            </a:r>
            <a:r>
              <a:rPr lang="en-US" dirty="0">
                <a:solidFill>
                  <a:srgbClr val="0000FF"/>
                </a:solidFill>
                <a:latin typeface="Consolas" panose="020B0609020204030204" pitchFamily="49" charset="0"/>
                <a:ea typeface="Times New Roman" panose="02020603050405020304" pitchFamily="18" charset="0"/>
                <a:cs typeface="Courier New" panose="02070309020205020404" pitchFamily="49" charset="0"/>
              </a:rPr>
              <a:t>print</a:t>
            </a:r>
            <a:r>
              <a:rPr lang="en-US" dirty="0"/>
              <a:t> function, we define the text </a:t>
            </a:r>
            <a:r>
              <a:rPr lang="en-US" dirty="0">
                <a:solidFill>
                  <a:srgbClr val="A31515"/>
                </a:solidFill>
                <a:latin typeface="Consolas" panose="020B0609020204030204" pitchFamily="49" charset="0"/>
                <a:ea typeface="Times New Roman" panose="02020603050405020304" pitchFamily="18" charset="0"/>
                <a:cs typeface="Courier New" panose="02070309020205020404" pitchFamily="49" charset="0"/>
              </a:rPr>
              <a:t>"Data loaded. Number of rows and columns:" </a:t>
            </a:r>
            <a:r>
              <a:rPr lang="en-US" dirty="0"/>
              <a:t>and the function to print. </a:t>
            </a:r>
          </a:p>
          <a:p>
            <a:r>
              <a:rPr lang="en-US" dirty="0"/>
              <a:t>In this example we printed </a:t>
            </a:r>
            <a:r>
              <a:rPr lang="en-US" dirty="0" err="1">
                <a:solidFill>
                  <a:srgbClr val="000000"/>
                </a:solidFill>
                <a:latin typeface="Consolas" panose="020B0609020204030204" pitchFamily="49" charset="0"/>
                <a:ea typeface="Times New Roman" panose="02020603050405020304" pitchFamily="18" charset="0"/>
                <a:cs typeface="Courier New" panose="02070309020205020404" pitchFamily="49" charset="0"/>
              </a:rPr>
              <a:t>df.shape</a:t>
            </a:r>
            <a:endParaRPr lang="en-US" dirty="0"/>
          </a:p>
        </p:txBody>
      </p:sp>
      <p:pic>
        <p:nvPicPr>
          <p:cNvPr id="4" name="Content Placeholder 6" descr="A close-up of a computer code  AI-generated content may be incorrect.">
            <a:extLst>
              <a:ext uri="{FF2B5EF4-FFF2-40B4-BE49-F238E27FC236}">
                <a16:creationId xmlns:a16="http://schemas.microsoft.com/office/drawing/2014/main" id="{9FDF0615-1210-3CF5-5D90-C072DF17F228}"/>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346200" y="3096419"/>
            <a:ext cx="9499600" cy="1701800"/>
          </a:xfrm>
          <a:prstGeom prst="rect">
            <a:avLst/>
          </a:prstGeom>
        </p:spPr>
      </p:pic>
    </p:spTree>
    <p:extLst>
      <p:ext uri="{BB962C8B-B14F-4D97-AF65-F5344CB8AC3E}">
        <p14:creationId xmlns:p14="http://schemas.microsoft.com/office/powerpoint/2010/main" val="10008389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A3235-8831-1191-7773-65004A86D7F5}"/>
              </a:ext>
            </a:extLst>
          </p:cNvPr>
          <p:cNvSpPr>
            <a:spLocks noGrp="1"/>
          </p:cNvSpPr>
          <p:nvPr>
            <p:ph type="title"/>
          </p:nvPr>
        </p:nvSpPr>
        <p:spPr/>
        <p:txBody>
          <a:bodyPr/>
          <a:lstStyle/>
          <a:p>
            <a:r>
              <a:rPr lang="en-US" dirty="0"/>
              <a:t>Step 3: Quick Data Peek</a:t>
            </a:r>
          </a:p>
        </p:txBody>
      </p:sp>
      <p:sp>
        <p:nvSpPr>
          <p:cNvPr id="3" name="Content Placeholder 2">
            <a:extLst>
              <a:ext uri="{FF2B5EF4-FFF2-40B4-BE49-F238E27FC236}">
                <a16:creationId xmlns:a16="http://schemas.microsoft.com/office/drawing/2014/main" id="{0F7B85AE-42E8-E67C-AFE9-54BEA8378780}"/>
              </a:ext>
            </a:extLst>
          </p:cNvPr>
          <p:cNvSpPr>
            <a:spLocks noGrp="1"/>
          </p:cNvSpPr>
          <p:nvPr>
            <p:ph idx="1"/>
          </p:nvPr>
        </p:nvSpPr>
        <p:spPr/>
        <p:txBody>
          <a:bodyPr/>
          <a:lstStyle/>
          <a:p>
            <a:r>
              <a:rPr lang="en-US" dirty="0"/>
              <a:t>After every data load, run these four commands before anything else: </a:t>
            </a:r>
            <a:r>
              <a:rPr lang="en-US" dirty="0" err="1">
                <a:solidFill>
                  <a:srgbClr val="000000"/>
                </a:solidFill>
                <a:latin typeface="Consolas" panose="020B0609020204030204" pitchFamily="49" charset="0"/>
                <a:ea typeface="Times New Roman" panose="02020603050405020304" pitchFamily="18" charset="0"/>
                <a:cs typeface="Courier New" panose="02070309020205020404" pitchFamily="49" charset="0"/>
              </a:rPr>
              <a:t>df.head</a:t>
            </a:r>
            <a:r>
              <a:rPr lang="en-US"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r>
              <a:rPr lang="en-US" dirty="0"/>
              <a:t>and </a:t>
            </a:r>
            <a:r>
              <a:rPr lang="en-US" dirty="0" err="1">
                <a:solidFill>
                  <a:srgbClr val="000000"/>
                </a:solidFill>
                <a:latin typeface="Consolas" panose="020B0609020204030204" pitchFamily="49" charset="0"/>
                <a:ea typeface="Times New Roman" panose="02020603050405020304" pitchFamily="18" charset="0"/>
                <a:cs typeface="Courier New" panose="02070309020205020404" pitchFamily="49" charset="0"/>
              </a:rPr>
              <a:t>df.describe</a:t>
            </a:r>
            <a:r>
              <a:rPr lang="en-US"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r>
              <a:rPr lang="en-US" dirty="0"/>
              <a:t>functions.</a:t>
            </a:r>
          </a:p>
          <a:p>
            <a:r>
              <a:rPr lang="en-US" dirty="0" err="1">
                <a:solidFill>
                  <a:srgbClr val="000000"/>
                </a:solidFill>
                <a:latin typeface="Consolas" panose="020B0609020204030204" pitchFamily="49" charset="0"/>
                <a:ea typeface="Times New Roman" panose="02020603050405020304" pitchFamily="18" charset="0"/>
                <a:cs typeface="Courier New" panose="02070309020205020404" pitchFamily="49" charset="0"/>
              </a:rPr>
              <a:t>df.head</a:t>
            </a:r>
            <a:r>
              <a:rPr lang="en-US"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r>
              <a:rPr lang="en-US" dirty="0"/>
              <a:t>outputs the first number of rows we ask for.</a:t>
            </a:r>
          </a:p>
          <a:p>
            <a:r>
              <a:rPr lang="en-US" dirty="0" err="1">
                <a:solidFill>
                  <a:srgbClr val="000000"/>
                </a:solidFill>
                <a:latin typeface="Consolas" panose="020B0609020204030204" pitchFamily="49" charset="0"/>
                <a:ea typeface="Times New Roman" panose="02020603050405020304" pitchFamily="18" charset="0"/>
                <a:cs typeface="Courier New" panose="02070309020205020404" pitchFamily="49" charset="0"/>
              </a:rPr>
              <a:t>df.describe</a:t>
            </a:r>
            <a:r>
              <a:rPr lang="en-US"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r>
              <a:rPr lang="en-US" dirty="0"/>
              <a:t>provides the summary statistics.</a:t>
            </a:r>
          </a:p>
        </p:txBody>
      </p:sp>
      <p:sp>
        <p:nvSpPr>
          <p:cNvPr id="5" name="TextBox 4">
            <a:extLst>
              <a:ext uri="{FF2B5EF4-FFF2-40B4-BE49-F238E27FC236}">
                <a16:creationId xmlns:a16="http://schemas.microsoft.com/office/drawing/2014/main" id="{0D493B74-0DB0-AA54-B3D4-A4A5F172363E}"/>
              </a:ext>
            </a:extLst>
          </p:cNvPr>
          <p:cNvSpPr txBox="1"/>
          <p:nvPr/>
        </p:nvSpPr>
        <p:spPr>
          <a:xfrm>
            <a:off x="1190625" y="4976633"/>
            <a:ext cx="4905375" cy="1200329"/>
          </a:xfrm>
          <a:prstGeom prst="rect">
            <a:avLst/>
          </a:prstGeom>
          <a:noFill/>
        </p:spPr>
        <p:txBody>
          <a:bodyPr wrap="square">
            <a:spAutoFit/>
          </a:bodyPr>
          <a:lstStyle/>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df.head</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a:solidFill>
                  <a:srgbClr val="006666"/>
                </a:solidFill>
                <a:effectLst/>
                <a:latin typeface="Consolas" panose="020B0609020204030204" pitchFamily="49" charset="0"/>
                <a:ea typeface="Times New Roman" panose="02020603050405020304" pitchFamily="18" charset="0"/>
                <a:cs typeface="Courier New" panose="02070309020205020404" pitchFamily="49" charset="0"/>
              </a:rPr>
              <a:t>5</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df.describe</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4000" dirty="0">
              <a:effectLst/>
              <a:latin typeface="Times New Roman" panose="02020603050405020304" pitchFamily="18" charset="0"/>
              <a:ea typeface="Times New Roman" panose="02020603050405020304" pitchFamily="18" charset="0"/>
            </a:endParaRPr>
          </a:p>
          <a:p>
            <a:pPr marL="0" marR="0">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US" sz="4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830842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684B7-ABF0-A515-83AA-774EFD73E274}"/>
              </a:ext>
            </a:extLst>
          </p:cNvPr>
          <p:cNvSpPr>
            <a:spLocks noGrp="1"/>
          </p:cNvSpPr>
          <p:nvPr>
            <p:ph type="title"/>
          </p:nvPr>
        </p:nvSpPr>
        <p:spPr/>
        <p:txBody>
          <a:bodyPr/>
          <a:lstStyle/>
          <a:p>
            <a:r>
              <a:rPr lang="en-US" dirty="0"/>
              <a:t>Step 3: Quick Data Peek</a:t>
            </a:r>
          </a:p>
        </p:txBody>
      </p:sp>
      <p:pic>
        <p:nvPicPr>
          <p:cNvPr id="7" name="Picture 6" descr="A table with numbers and letters  AI-generated content may be incorrect.">
            <a:extLst>
              <a:ext uri="{FF2B5EF4-FFF2-40B4-BE49-F238E27FC236}">
                <a16:creationId xmlns:a16="http://schemas.microsoft.com/office/drawing/2014/main" id="{6F115072-F48C-17EA-03B1-EDD565E0ED2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71448" y="2723082"/>
            <a:ext cx="11648411" cy="3035818"/>
          </a:xfrm>
          <a:prstGeom prst="rect">
            <a:avLst/>
          </a:prstGeom>
        </p:spPr>
      </p:pic>
    </p:spTree>
    <p:extLst>
      <p:ext uri="{BB962C8B-B14F-4D97-AF65-F5344CB8AC3E}">
        <p14:creationId xmlns:p14="http://schemas.microsoft.com/office/powerpoint/2010/main" val="126594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5EBD6-109A-4459-27F2-7169172A0D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0A2ECA-533E-8B58-A7B1-E732B0323726}"/>
              </a:ext>
            </a:extLst>
          </p:cNvPr>
          <p:cNvSpPr>
            <a:spLocks noGrp="1"/>
          </p:cNvSpPr>
          <p:nvPr>
            <p:ph type="title"/>
          </p:nvPr>
        </p:nvSpPr>
        <p:spPr/>
        <p:txBody>
          <a:bodyPr/>
          <a:lstStyle/>
          <a:p>
            <a:r>
              <a:rPr lang="en-US" dirty="0"/>
              <a:t>Step 3: Quick Data Peek</a:t>
            </a:r>
          </a:p>
        </p:txBody>
      </p:sp>
      <p:pic>
        <p:nvPicPr>
          <p:cNvPr id="4" name="Picture 3" descr="A screenshot of a graph  AI-generated content may be incorrect.">
            <a:extLst>
              <a:ext uri="{FF2B5EF4-FFF2-40B4-BE49-F238E27FC236}">
                <a16:creationId xmlns:a16="http://schemas.microsoft.com/office/drawing/2014/main" id="{727D2965-70DC-91CD-0DBE-0F20DA39FFA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3825" y="2424663"/>
            <a:ext cx="11944350" cy="3902442"/>
          </a:xfrm>
          <a:prstGeom prst="rect">
            <a:avLst/>
          </a:prstGeom>
        </p:spPr>
      </p:pic>
    </p:spTree>
    <p:extLst>
      <p:ext uri="{BB962C8B-B14F-4D97-AF65-F5344CB8AC3E}">
        <p14:creationId xmlns:p14="http://schemas.microsoft.com/office/powerpoint/2010/main" val="23113920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50699-0F0E-7588-FA65-5178E47FD556}"/>
              </a:ext>
            </a:extLst>
          </p:cNvPr>
          <p:cNvSpPr>
            <a:spLocks noGrp="1"/>
          </p:cNvSpPr>
          <p:nvPr>
            <p:ph type="title"/>
          </p:nvPr>
        </p:nvSpPr>
        <p:spPr/>
        <p:txBody>
          <a:bodyPr/>
          <a:lstStyle/>
          <a:p>
            <a:r>
              <a:rPr lang="en-US" dirty="0"/>
              <a:t>Let’s check the size</a:t>
            </a:r>
          </a:p>
        </p:txBody>
      </p:sp>
      <p:sp>
        <p:nvSpPr>
          <p:cNvPr id="3" name="Content Placeholder 2">
            <a:extLst>
              <a:ext uri="{FF2B5EF4-FFF2-40B4-BE49-F238E27FC236}">
                <a16:creationId xmlns:a16="http://schemas.microsoft.com/office/drawing/2014/main" id="{8B65F7C4-7F0F-A03E-0C3A-9E470FEC5DD4}"/>
              </a:ext>
            </a:extLst>
          </p:cNvPr>
          <p:cNvSpPr>
            <a:spLocks noGrp="1"/>
          </p:cNvSpPr>
          <p:nvPr>
            <p:ph idx="1"/>
          </p:nvPr>
        </p:nvSpPr>
        <p:spPr/>
        <p:txBody>
          <a:bodyPr/>
          <a:lstStyle/>
          <a:p>
            <a:r>
              <a:rPr lang="en-US" dirty="0"/>
              <a:t>You can check the size of the data frame by </a:t>
            </a:r>
            <a:r>
              <a:rPr lang="en-US" dirty="0" err="1"/>
              <a:t>df.shape</a:t>
            </a:r>
            <a:r>
              <a:rPr lang="en-US" dirty="0"/>
              <a:t> function.</a:t>
            </a:r>
          </a:p>
          <a:p>
            <a:endParaRPr lang="en-US" dirty="0"/>
          </a:p>
          <a:p>
            <a:endParaRPr lang="en-US" dirty="0"/>
          </a:p>
          <a:p>
            <a:endParaRPr lang="en-US" dirty="0"/>
          </a:p>
          <a:p>
            <a:endParaRPr lang="en-US" dirty="0"/>
          </a:p>
          <a:p>
            <a:r>
              <a:rPr lang="en-US" dirty="0"/>
              <a:t>It shows the number of rows and columns.</a:t>
            </a:r>
          </a:p>
        </p:txBody>
      </p:sp>
      <p:pic>
        <p:nvPicPr>
          <p:cNvPr id="5" name="Picture 4" descr="A screenshot of a computer  AI-generated content may be incorrect.">
            <a:extLst>
              <a:ext uri="{FF2B5EF4-FFF2-40B4-BE49-F238E27FC236}">
                <a16:creationId xmlns:a16="http://schemas.microsoft.com/office/drawing/2014/main" id="{4D838D32-DF20-0888-4C39-9A909C6FD2CF}"/>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768850" y="3159125"/>
            <a:ext cx="2425700" cy="1625600"/>
          </a:xfrm>
          <a:prstGeom prst="rect">
            <a:avLst/>
          </a:prstGeom>
        </p:spPr>
      </p:pic>
    </p:spTree>
    <p:extLst>
      <p:ext uri="{BB962C8B-B14F-4D97-AF65-F5344CB8AC3E}">
        <p14:creationId xmlns:p14="http://schemas.microsoft.com/office/powerpoint/2010/main" val="20300176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F8697-F2B4-73B4-26C1-F2248B639EBB}"/>
              </a:ext>
            </a:extLst>
          </p:cNvPr>
          <p:cNvSpPr>
            <a:spLocks noGrp="1"/>
          </p:cNvSpPr>
          <p:nvPr>
            <p:ph type="title"/>
          </p:nvPr>
        </p:nvSpPr>
        <p:spPr/>
        <p:txBody>
          <a:bodyPr/>
          <a:lstStyle/>
          <a:p>
            <a:r>
              <a:rPr lang="en-US" dirty="0"/>
              <a:t>Information about the variables</a:t>
            </a:r>
          </a:p>
        </p:txBody>
      </p:sp>
      <p:sp>
        <p:nvSpPr>
          <p:cNvPr id="3" name="Content Placeholder 2">
            <a:extLst>
              <a:ext uri="{FF2B5EF4-FFF2-40B4-BE49-F238E27FC236}">
                <a16:creationId xmlns:a16="http://schemas.microsoft.com/office/drawing/2014/main" id="{11A143E4-12C2-3AC6-E3E8-6F1A6F581AB4}"/>
              </a:ext>
            </a:extLst>
          </p:cNvPr>
          <p:cNvSpPr>
            <a:spLocks noGrp="1"/>
          </p:cNvSpPr>
          <p:nvPr>
            <p:ph idx="1"/>
          </p:nvPr>
        </p:nvSpPr>
        <p:spPr>
          <a:xfrm>
            <a:off x="838200" y="2314577"/>
            <a:ext cx="10515600" cy="3572911"/>
          </a:xfrm>
        </p:spPr>
        <p:txBody>
          <a:bodyPr/>
          <a:lstStyle/>
          <a:p>
            <a:r>
              <a:rPr lang="en-US" dirty="0"/>
              <a:t>To see column names and types we can use </a:t>
            </a:r>
            <a:r>
              <a:rPr lang="en-US" dirty="0" err="1"/>
              <a:t>df.info</a:t>
            </a:r>
            <a:r>
              <a:rPr lang="en-US" dirty="0"/>
              <a:t>()</a:t>
            </a:r>
          </a:p>
          <a:p>
            <a:r>
              <a:rPr lang="en-US" dirty="0"/>
              <a:t>int64 and float64 are continuous data</a:t>
            </a:r>
          </a:p>
        </p:txBody>
      </p:sp>
      <p:pic>
        <p:nvPicPr>
          <p:cNvPr id="5" name="Picture 4" descr="A screenshot of a computer  AI-generated content may be incorrect.">
            <a:extLst>
              <a:ext uri="{FF2B5EF4-FFF2-40B4-BE49-F238E27FC236}">
                <a16:creationId xmlns:a16="http://schemas.microsoft.com/office/drawing/2014/main" id="{1748CFD2-449E-80FF-0408-3623483520F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200900" y="2865881"/>
            <a:ext cx="4275183" cy="3806382"/>
          </a:xfrm>
          <a:prstGeom prst="rect">
            <a:avLst/>
          </a:prstGeom>
        </p:spPr>
      </p:pic>
    </p:spTree>
    <p:extLst>
      <p:ext uri="{BB962C8B-B14F-4D97-AF65-F5344CB8AC3E}">
        <p14:creationId xmlns:p14="http://schemas.microsoft.com/office/powerpoint/2010/main" val="4477249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37F21-A3C0-EF08-060E-71412A51A3A8}"/>
              </a:ext>
            </a:extLst>
          </p:cNvPr>
          <p:cNvSpPr>
            <a:spLocks noGrp="1"/>
          </p:cNvSpPr>
          <p:nvPr>
            <p:ph type="title"/>
          </p:nvPr>
        </p:nvSpPr>
        <p:spPr>
          <a:xfrm>
            <a:off x="869033" y="860426"/>
            <a:ext cx="10515600" cy="1325563"/>
          </a:xfrm>
        </p:spPr>
        <p:txBody>
          <a:bodyPr/>
          <a:lstStyle/>
          <a:p>
            <a:r>
              <a:rPr lang="en-US" dirty="0"/>
              <a:t>Summary Statistics</a:t>
            </a:r>
          </a:p>
        </p:txBody>
      </p:sp>
      <p:sp>
        <p:nvSpPr>
          <p:cNvPr id="3" name="Content Placeholder 2">
            <a:extLst>
              <a:ext uri="{FF2B5EF4-FFF2-40B4-BE49-F238E27FC236}">
                <a16:creationId xmlns:a16="http://schemas.microsoft.com/office/drawing/2014/main" id="{7427B67C-31A2-7444-EB75-C6DD5A3301D8}"/>
              </a:ext>
            </a:extLst>
          </p:cNvPr>
          <p:cNvSpPr>
            <a:spLocks noGrp="1"/>
          </p:cNvSpPr>
          <p:nvPr>
            <p:ph idx="1"/>
          </p:nvPr>
        </p:nvSpPr>
        <p:spPr>
          <a:xfrm>
            <a:off x="838200" y="1900239"/>
            <a:ext cx="10515600" cy="3572911"/>
          </a:xfrm>
        </p:spPr>
        <p:txBody>
          <a:bodyPr/>
          <a:lstStyle/>
          <a:p>
            <a:r>
              <a:rPr lang="en-US" dirty="0" err="1"/>
              <a:t>df.describe</a:t>
            </a:r>
            <a:r>
              <a:rPr lang="en-US" dirty="0"/>
              <a:t> provides summary statistics for all the numeric variables.</a:t>
            </a:r>
          </a:p>
        </p:txBody>
      </p:sp>
      <p:pic>
        <p:nvPicPr>
          <p:cNvPr id="5" name="Picture 4" descr="A screenshot of a graph  AI-generated content may be incorrect.">
            <a:extLst>
              <a:ext uri="{FF2B5EF4-FFF2-40B4-BE49-F238E27FC236}">
                <a16:creationId xmlns:a16="http://schemas.microsoft.com/office/drawing/2014/main" id="{4CF0CA7F-67E0-056A-4743-D2C86A227C5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1667" y="2843213"/>
            <a:ext cx="12130333" cy="4014787"/>
          </a:xfrm>
          <a:prstGeom prst="rect">
            <a:avLst/>
          </a:prstGeom>
        </p:spPr>
      </p:pic>
    </p:spTree>
    <p:extLst>
      <p:ext uri="{BB962C8B-B14F-4D97-AF65-F5344CB8AC3E}">
        <p14:creationId xmlns:p14="http://schemas.microsoft.com/office/powerpoint/2010/main" val="30329413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C9F8F-ED8C-AF0A-CC9F-A186C58AD482}"/>
              </a:ext>
            </a:extLst>
          </p:cNvPr>
          <p:cNvSpPr>
            <a:spLocks noGrp="1"/>
          </p:cNvSpPr>
          <p:nvPr>
            <p:ph type="title"/>
          </p:nvPr>
        </p:nvSpPr>
        <p:spPr/>
        <p:txBody>
          <a:bodyPr/>
          <a:lstStyle/>
          <a:p>
            <a:r>
              <a:rPr lang="en-US" dirty="0"/>
              <a:t>Attention!</a:t>
            </a:r>
          </a:p>
        </p:txBody>
      </p:sp>
      <p:sp>
        <p:nvSpPr>
          <p:cNvPr id="3" name="Content Placeholder 2">
            <a:extLst>
              <a:ext uri="{FF2B5EF4-FFF2-40B4-BE49-F238E27FC236}">
                <a16:creationId xmlns:a16="http://schemas.microsoft.com/office/drawing/2014/main" id="{38B8A58E-A005-297D-4425-6C726A1BBF3C}"/>
              </a:ext>
            </a:extLst>
          </p:cNvPr>
          <p:cNvSpPr>
            <a:spLocks noGrp="1"/>
          </p:cNvSpPr>
          <p:nvPr>
            <p:ph idx="1"/>
          </p:nvPr>
        </p:nvSpPr>
        <p:spPr>
          <a:xfrm>
            <a:off x="838200" y="2604051"/>
            <a:ext cx="7505700" cy="3572911"/>
          </a:xfrm>
        </p:spPr>
        <p:txBody>
          <a:bodyPr/>
          <a:lstStyle/>
          <a:p>
            <a:r>
              <a:rPr lang="en-US" b="1" dirty="0"/>
              <a:t>Always</a:t>
            </a:r>
            <a:r>
              <a:rPr lang="en-US" dirty="0"/>
              <a:t> validate your data with these 5 checks: </a:t>
            </a:r>
          </a:p>
          <a:p>
            <a:r>
              <a:rPr lang="en-US" b="1" dirty="0"/>
              <a:t>Always</a:t>
            </a:r>
            <a:r>
              <a:rPr lang="en-US" dirty="0"/>
              <a:t>(1) df.shape — expected row count? (2) df.dtypes — types match data dictionary? (3) df.describe() — min/max plausible? (4) df.isnull().sum() — missing values? (5) Mean vs median — similar or diverging? </a:t>
            </a:r>
          </a:p>
          <a:p>
            <a:endParaRPr lang="en-US" dirty="0"/>
          </a:p>
        </p:txBody>
      </p:sp>
      <p:pic>
        <p:nvPicPr>
          <p:cNvPr id="9" name="Picture 8" descr="A yellow triangle with a black exclamation mark  AI-generated content may be incorrect.">
            <a:extLst>
              <a:ext uri="{FF2B5EF4-FFF2-40B4-BE49-F238E27FC236}">
                <a16:creationId xmlns:a16="http://schemas.microsoft.com/office/drawing/2014/main" id="{101EEF90-30F2-1CAA-BEEB-27B60953C455}"/>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8439149" y="2604051"/>
            <a:ext cx="2914651" cy="2629760"/>
          </a:xfrm>
          <a:prstGeom prst="rect">
            <a:avLst/>
          </a:prstGeom>
        </p:spPr>
      </p:pic>
    </p:spTree>
    <p:extLst>
      <p:ext uri="{BB962C8B-B14F-4D97-AF65-F5344CB8AC3E}">
        <p14:creationId xmlns:p14="http://schemas.microsoft.com/office/powerpoint/2010/main" val="25523108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F2967-9DC9-28F3-1171-4443117B695E}"/>
              </a:ext>
            </a:extLst>
          </p:cNvPr>
          <p:cNvSpPr>
            <a:spLocks noGrp="1"/>
          </p:cNvSpPr>
          <p:nvPr>
            <p:ph type="title"/>
          </p:nvPr>
        </p:nvSpPr>
        <p:spPr/>
        <p:txBody>
          <a:bodyPr/>
          <a:lstStyle/>
          <a:p>
            <a:r>
              <a:rPr lang="en-US" dirty="0"/>
              <a:t>Step 4: Specific Analysis Questions </a:t>
            </a:r>
          </a:p>
        </p:txBody>
      </p:sp>
      <p:sp>
        <p:nvSpPr>
          <p:cNvPr id="3" name="Content Placeholder 2">
            <a:extLst>
              <a:ext uri="{FF2B5EF4-FFF2-40B4-BE49-F238E27FC236}">
                <a16:creationId xmlns:a16="http://schemas.microsoft.com/office/drawing/2014/main" id="{08752467-F01F-B262-6639-DB37850EB34F}"/>
              </a:ext>
            </a:extLst>
          </p:cNvPr>
          <p:cNvSpPr>
            <a:spLocks noGrp="1"/>
          </p:cNvSpPr>
          <p:nvPr>
            <p:ph idx="1"/>
          </p:nvPr>
        </p:nvSpPr>
        <p:spPr>
          <a:xfrm>
            <a:off x="838200" y="2604051"/>
            <a:ext cx="7962900" cy="3572911"/>
          </a:xfrm>
        </p:spPr>
        <p:txBody>
          <a:bodyPr/>
          <a:lstStyle/>
          <a:p>
            <a:r>
              <a:rPr lang="en-US" dirty="0"/>
              <a:t>Let’s answer a couple of questions with our data:</a:t>
            </a:r>
          </a:p>
          <a:p>
            <a:endParaRPr lang="en-US" dirty="0"/>
          </a:p>
          <a:p>
            <a:pPr marL="0" indent="0">
              <a:buNone/>
            </a:pPr>
            <a:r>
              <a:rPr lang="en-US" dirty="0"/>
              <a:t>Question 1: </a:t>
            </a:r>
            <a:r>
              <a:rPr lang="en-US" i="1" dirty="0"/>
              <a:t>What is the average and median MPG of these cars?</a:t>
            </a:r>
          </a:p>
          <a:p>
            <a:endParaRPr lang="en-US" dirty="0"/>
          </a:p>
        </p:txBody>
      </p:sp>
      <p:pic>
        <p:nvPicPr>
          <p:cNvPr id="4" name="Image 0" descr="preencoded.png">
            <a:extLst>
              <a:ext uri="{FF2B5EF4-FFF2-40B4-BE49-F238E27FC236}">
                <a16:creationId xmlns:a16="http://schemas.microsoft.com/office/drawing/2014/main" id="{460F76AA-E2AD-E0D8-A5EE-35F7BC0F060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244013" y="2429423"/>
            <a:ext cx="2747962" cy="4121943"/>
          </a:xfrm>
          <a:prstGeom prst="rect">
            <a:avLst/>
          </a:prstGeom>
        </p:spPr>
      </p:pic>
    </p:spTree>
    <p:extLst>
      <p:ext uri="{BB962C8B-B14F-4D97-AF65-F5344CB8AC3E}">
        <p14:creationId xmlns:p14="http://schemas.microsoft.com/office/powerpoint/2010/main" val="8322113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1E169-68CE-B8E7-231E-785E3195B8FF}"/>
              </a:ext>
            </a:extLst>
          </p:cNvPr>
          <p:cNvSpPr>
            <a:spLocks noGrp="1"/>
          </p:cNvSpPr>
          <p:nvPr>
            <p:ph type="title"/>
          </p:nvPr>
        </p:nvSpPr>
        <p:spPr/>
        <p:txBody>
          <a:bodyPr/>
          <a:lstStyle/>
          <a:p>
            <a:r>
              <a:rPr lang="en-US" dirty="0"/>
              <a:t>Step 4: Question 1</a:t>
            </a:r>
          </a:p>
        </p:txBody>
      </p:sp>
      <p:sp>
        <p:nvSpPr>
          <p:cNvPr id="3" name="Content Placeholder 2">
            <a:extLst>
              <a:ext uri="{FF2B5EF4-FFF2-40B4-BE49-F238E27FC236}">
                <a16:creationId xmlns:a16="http://schemas.microsoft.com/office/drawing/2014/main" id="{53B70CB5-F1C6-8845-DB6F-FC2F0F4BB695}"/>
              </a:ext>
            </a:extLst>
          </p:cNvPr>
          <p:cNvSpPr>
            <a:spLocks noGrp="1"/>
          </p:cNvSpPr>
          <p:nvPr>
            <p:ph idx="1"/>
          </p:nvPr>
        </p:nvSpPr>
        <p:spPr/>
        <p:txBody>
          <a:bodyPr/>
          <a:lstStyle/>
          <a:p>
            <a:r>
              <a:rPr lang="en-US" dirty="0"/>
              <a:t>We will use the </a:t>
            </a:r>
            <a:r>
              <a:rPr lang="en-US"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mean</a:t>
            </a:r>
            <a:r>
              <a:rPr lang="en-US" dirty="0"/>
              <a:t> function for average and the </a:t>
            </a:r>
            <a:r>
              <a:rPr lang="en-US"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median </a:t>
            </a:r>
            <a:r>
              <a:rPr lang="en-US" dirty="0"/>
              <a:t>function for the median value.</a:t>
            </a:r>
          </a:p>
          <a:p>
            <a:r>
              <a:rPr lang="en-US" dirty="0"/>
              <a:t>You can simply get the output of the mean by</a:t>
            </a:r>
          </a:p>
          <a:p>
            <a:pPr lvl="1"/>
            <a:r>
              <a:rPr lang="en-US" dirty="0" err="1">
                <a:solidFill>
                  <a:srgbClr val="000000"/>
                </a:solidFill>
                <a:latin typeface="Consolas" panose="020B0609020204030204" pitchFamily="49" charset="0"/>
                <a:ea typeface="Times New Roman" panose="02020603050405020304" pitchFamily="18" charset="0"/>
                <a:cs typeface="Courier New" panose="02070309020205020404" pitchFamily="49" charset="0"/>
              </a:rPr>
              <a:t>df</a:t>
            </a:r>
            <a:r>
              <a:rPr lang="en-US"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a:t>
            </a:r>
            <a:r>
              <a:rPr lang="en-US" dirty="0">
                <a:solidFill>
                  <a:srgbClr val="A31515"/>
                </a:solidFill>
                <a:latin typeface="Consolas" panose="020B0609020204030204" pitchFamily="49" charset="0"/>
                <a:ea typeface="Times New Roman" panose="02020603050405020304" pitchFamily="18" charset="0"/>
                <a:cs typeface="Courier New" panose="02070309020205020404" pitchFamily="49" charset="0"/>
              </a:rPr>
              <a:t>"mpg"</a:t>
            </a:r>
            <a:r>
              <a:rPr lang="en-US"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].mean() </a:t>
            </a:r>
          </a:p>
          <a:p>
            <a:pPr lvl="1"/>
            <a:r>
              <a:rPr lang="en-US" dirty="0"/>
              <a:t>But the below code produces nicer output</a:t>
            </a:r>
          </a:p>
        </p:txBody>
      </p:sp>
      <p:sp>
        <p:nvSpPr>
          <p:cNvPr id="5" name="TextBox 4">
            <a:extLst>
              <a:ext uri="{FF2B5EF4-FFF2-40B4-BE49-F238E27FC236}">
                <a16:creationId xmlns:a16="http://schemas.microsoft.com/office/drawing/2014/main" id="{EE33FB07-E228-19FB-5A6E-C2BEA89A0860}"/>
              </a:ext>
            </a:extLst>
          </p:cNvPr>
          <p:cNvSpPr txBox="1"/>
          <p:nvPr/>
        </p:nvSpPr>
        <p:spPr>
          <a:xfrm>
            <a:off x="178592" y="4789404"/>
            <a:ext cx="8893969" cy="1938992"/>
          </a:xfrm>
          <a:prstGeom prst="rect">
            <a:avLst/>
          </a:prstGeom>
          <a:noFill/>
        </p:spPr>
        <p:txBody>
          <a:bodyPr wrap="square">
            <a:spAutoFit/>
          </a:bodyPr>
          <a:lstStyle/>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avg_mpg</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 </a:t>
            </a: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"mpg"</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].mean()</a:t>
            </a:r>
            <a:endParaRPr lang="en-US" sz="40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median_mpg</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 </a:t>
            </a: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"mpg"</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].median()</a:t>
            </a:r>
            <a:endParaRPr lang="en-US" sz="40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print</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f</a:t>
            </a:r>
            <a:r>
              <a:rPr lang="en-US" sz="2400" dirty="0" err="1">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"Average</a:t>
            </a:r>
            <a:r>
              <a:rPr lang="en-US" sz="24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 MPG = {avg_mpg:.2f}"</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40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print</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f</a:t>
            </a:r>
            <a:r>
              <a:rPr lang="en-US" sz="2400" dirty="0" err="1">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"Median</a:t>
            </a:r>
            <a:r>
              <a:rPr lang="en-US" sz="24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 MPG = {median_mpg:.2f}"</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4000" dirty="0">
              <a:effectLst/>
              <a:latin typeface="Times New Roman" panose="02020603050405020304" pitchFamily="18" charset="0"/>
              <a:ea typeface="Times New Roman" panose="02020603050405020304" pitchFamily="18" charset="0"/>
            </a:endParaRPr>
          </a:p>
          <a:p>
            <a:pPr marL="0" marR="0">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US" sz="4000" dirty="0">
              <a:effectLst/>
              <a:latin typeface="Times New Roman" panose="02020603050405020304" pitchFamily="18" charset="0"/>
              <a:ea typeface="Times New Roman" panose="02020603050405020304" pitchFamily="18" charset="0"/>
            </a:endParaRPr>
          </a:p>
        </p:txBody>
      </p:sp>
      <p:sp>
        <p:nvSpPr>
          <p:cNvPr id="6" name="TextBox 5">
            <a:extLst>
              <a:ext uri="{FF2B5EF4-FFF2-40B4-BE49-F238E27FC236}">
                <a16:creationId xmlns:a16="http://schemas.microsoft.com/office/drawing/2014/main" id="{5D4E6BB8-9784-3CEF-A857-18A308CEDD92}"/>
              </a:ext>
            </a:extLst>
          </p:cNvPr>
          <p:cNvSpPr txBox="1"/>
          <p:nvPr/>
        </p:nvSpPr>
        <p:spPr>
          <a:xfrm>
            <a:off x="7200900" y="5072062"/>
            <a:ext cx="4457700"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f-string formatting to print the values with 2 decimal places (:.2f)</a:t>
            </a:r>
          </a:p>
        </p:txBody>
      </p:sp>
      <p:cxnSp>
        <p:nvCxnSpPr>
          <p:cNvPr id="8" name="Straight Arrow Connector 7">
            <a:extLst>
              <a:ext uri="{FF2B5EF4-FFF2-40B4-BE49-F238E27FC236}">
                <a16:creationId xmlns:a16="http://schemas.microsoft.com/office/drawing/2014/main" id="{AB633FCA-E678-4808-4FB8-CF7C6CE1DFD0}"/>
              </a:ext>
            </a:extLst>
          </p:cNvPr>
          <p:cNvCxnSpPr>
            <a:cxnSpLocks/>
            <a:stCxn id="6" idx="1"/>
          </p:cNvCxnSpPr>
          <p:nvPr/>
        </p:nvCxnSpPr>
        <p:spPr>
          <a:xfrm flipH="1">
            <a:off x="6343650" y="5395228"/>
            <a:ext cx="857250" cy="3231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213137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DA746-D231-A27C-0CD9-61E17418D3B2}"/>
              </a:ext>
            </a:extLst>
          </p:cNvPr>
          <p:cNvSpPr>
            <a:spLocks noGrp="1"/>
          </p:cNvSpPr>
          <p:nvPr>
            <p:ph type="title"/>
          </p:nvPr>
        </p:nvSpPr>
        <p:spPr/>
        <p:txBody>
          <a:bodyPr/>
          <a:lstStyle/>
          <a:p>
            <a:r>
              <a:rPr lang="en-US" dirty="0"/>
              <a:t>Step 4: Question 1</a:t>
            </a:r>
          </a:p>
        </p:txBody>
      </p:sp>
      <p:sp>
        <p:nvSpPr>
          <p:cNvPr id="3" name="Content Placeholder 2">
            <a:extLst>
              <a:ext uri="{FF2B5EF4-FFF2-40B4-BE49-F238E27FC236}">
                <a16:creationId xmlns:a16="http://schemas.microsoft.com/office/drawing/2014/main" id="{4BF9BDE6-4260-2F61-C165-8A2F752203F1}"/>
              </a:ext>
            </a:extLst>
          </p:cNvPr>
          <p:cNvSpPr>
            <a:spLocks noGrp="1"/>
          </p:cNvSpPr>
          <p:nvPr>
            <p:ph idx="1"/>
          </p:nvPr>
        </p:nvSpPr>
        <p:spPr>
          <a:xfrm>
            <a:off x="838200" y="5247239"/>
            <a:ext cx="10515600" cy="982111"/>
          </a:xfrm>
        </p:spPr>
        <p:txBody>
          <a:bodyPr>
            <a:normAutofit fontScale="92500" lnSpcReduction="20000"/>
          </a:bodyPr>
          <a:lstStyle/>
          <a:p>
            <a:r>
              <a:rPr lang="en-US" dirty="0"/>
              <a:t>Mean MPG = 21.30, Median MPG = 20.00. The mean exceeds the median — a signature of right skew. A few high-MPG cars (e.g., 40+ MPG compact imports) pull the mean upward. The median is the better “typical” value here. This is why we always compute both.an is 20, which suggests the distribution might be a bit skewed by some high MPG values </a:t>
            </a:r>
          </a:p>
        </p:txBody>
      </p:sp>
      <p:pic>
        <p:nvPicPr>
          <p:cNvPr id="4" name="Picture 3">
            <a:extLst>
              <a:ext uri="{FF2B5EF4-FFF2-40B4-BE49-F238E27FC236}">
                <a16:creationId xmlns:a16="http://schemas.microsoft.com/office/drawing/2014/main" id="{002FB661-3593-2C7B-1371-8AF12850F3B9}"/>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667000" y="2604051"/>
            <a:ext cx="6858000" cy="2463800"/>
          </a:xfrm>
          <a:prstGeom prst="rect">
            <a:avLst/>
          </a:prstGeom>
        </p:spPr>
      </p:pic>
    </p:spTree>
    <p:extLst>
      <p:ext uri="{BB962C8B-B14F-4D97-AF65-F5344CB8AC3E}">
        <p14:creationId xmlns:p14="http://schemas.microsoft.com/office/powerpoint/2010/main" val="1177770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ADCAB-8859-6835-DED8-717EAE589F5E}"/>
              </a:ext>
            </a:extLst>
          </p:cNvPr>
          <p:cNvSpPr>
            <a:spLocks noGrp="1"/>
          </p:cNvSpPr>
          <p:nvPr>
            <p:ph type="title"/>
          </p:nvPr>
        </p:nvSpPr>
        <p:spPr/>
        <p:txBody>
          <a:bodyPr/>
          <a:lstStyle/>
          <a:p>
            <a:r>
              <a:rPr lang="en-US" dirty="0"/>
              <a:t>Step 4: Question 2</a:t>
            </a:r>
          </a:p>
        </p:txBody>
      </p:sp>
      <p:sp>
        <p:nvSpPr>
          <p:cNvPr id="3" name="Content Placeholder 2">
            <a:extLst>
              <a:ext uri="{FF2B5EF4-FFF2-40B4-BE49-F238E27FC236}">
                <a16:creationId xmlns:a16="http://schemas.microsoft.com/office/drawing/2014/main" id="{B4F53F98-FE16-E89D-EC31-977FE32CA3FE}"/>
              </a:ext>
            </a:extLst>
          </p:cNvPr>
          <p:cNvSpPr>
            <a:spLocks noGrp="1"/>
          </p:cNvSpPr>
          <p:nvPr>
            <p:ph idx="1"/>
          </p:nvPr>
        </p:nvSpPr>
        <p:spPr/>
        <p:txBody>
          <a:bodyPr/>
          <a:lstStyle/>
          <a:p>
            <a:r>
              <a:rPr lang="en-US" dirty="0"/>
              <a:t>Question 2: </a:t>
            </a:r>
            <a:r>
              <a:rPr lang="en-US" i="1" dirty="0"/>
              <a:t>How many cars are produced abroad?</a:t>
            </a:r>
          </a:p>
          <a:p>
            <a:endParaRPr lang="en-US" dirty="0"/>
          </a:p>
          <a:p>
            <a:r>
              <a:rPr lang="en-US" dirty="0"/>
              <a:t>Think which variable we should use</a:t>
            </a:r>
          </a:p>
          <a:p>
            <a:r>
              <a:rPr lang="en-US" dirty="0"/>
              <a:t>Think which function we should use</a:t>
            </a:r>
          </a:p>
        </p:txBody>
      </p:sp>
      <p:pic>
        <p:nvPicPr>
          <p:cNvPr id="5" name="Picture 4" descr="A close-up of a sports car  AI-generated content may be incorrect.">
            <a:extLst>
              <a:ext uri="{FF2B5EF4-FFF2-40B4-BE49-F238E27FC236}">
                <a16:creationId xmlns:a16="http://schemas.microsoft.com/office/drawing/2014/main" id="{6122093A-2337-FD66-DBB0-885E8166492E}"/>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7385444" y="4027255"/>
            <a:ext cx="3968356" cy="2329095"/>
          </a:xfrm>
          <a:prstGeom prst="rect">
            <a:avLst/>
          </a:prstGeom>
        </p:spPr>
      </p:pic>
    </p:spTree>
    <p:extLst>
      <p:ext uri="{BB962C8B-B14F-4D97-AF65-F5344CB8AC3E}">
        <p14:creationId xmlns:p14="http://schemas.microsoft.com/office/powerpoint/2010/main" val="36861765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1D5F9-C135-3950-576B-F55738B844D2}"/>
              </a:ext>
            </a:extLst>
          </p:cNvPr>
          <p:cNvSpPr>
            <a:spLocks noGrp="1"/>
          </p:cNvSpPr>
          <p:nvPr>
            <p:ph type="title"/>
          </p:nvPr>
        </p:nvSpPr>
        <p:spPr/>
        <p:txBody>
          <a:bodyPr/>
          <a:lstStyle/>
          <a:p>
            <a:r>
              <a:rPr lang="en-US" dirty="0"/>
              <a:t>Step 4: Question 2</a:t>
            </a:r>
          </a:p>
        </p:txBody>
      </p:sp>
      <p:sp>
        <p:nvSpPr>
          <p:cNvPr id="3" name="Content Placeholder 2">
            <a:extLst>
              <a:ext uri="{FF2B5EF4-FFF2-40B4-BE49-F238E27FC236}">
                <a16:creationId xmlns:a16="http://schemas.microsoft.com/office/drawing/2014/main" id="{C16EC47B-B60C-0746-3FB8-16F6F6379618}"/>
              </a:ext>
            </a:extLst>
          </p:cNvPr>
          <p:cNvSpPr>
            <a:spLocks noGrp="1"/>
          </p:cNvSpPr>
          <p:nvPr>
            <p:ph idx="1"/>
          </p:nvPr>
        </p:nvSpPr>
        <p:spPr/>
        <p:txBody>
          <a:bodyPr/>
          <a:lstStyle/>
          <a:p>
            <a:r>
              <a:rPr lang="en-US" dirty="0"/>
              <a:t>We will use the variable “foreign”</a:t>
            </a:r>
          </a:p>
          <a:p>
            <a:r>
              <a:rPr lang="en-US" dirty="0"/>
              <a:t>We need to use the </a:t>
            </a:r>
            <a:r>
              <a:rPr lang="en-US" dirty="0" err="1">
                <a:solidFill>
                  <a:srgbClr val="000000"/>
                </a:solidFill>
                <a:latin typeface="Consolas" panose="020B0609020204030204" pitchFamily="49" charset="0"/>
                <a:ea typeface="Times New Roman" panose="02020603050405020304" pitchFamily="18" charset="0"/>
                <a:cs typeface="Courier New" panose="02070309020205020404" pitchFamily="49" charset="0"/>
              </a:rPr>
              <a:t>value_counts</a:t>
            </a:r>
            <a:r>
              <a:rPr lang="en-US" dirty="0"/>
              <a:t> function</a:t>
            </a:r>
          </a:p>
          <a:p>
            <a:r>
              <a:rPr lang="en-US" dirty="0"/>
              <a:t>Using </a:t>
            </a:r>
            <a:r>
              <a:rPr lang="en-US" dirty="0">
                <a:solidFill>
                  <a:srgbClr val="0000FF"/>
                </a:solidFill>
                <a:latin typeface="Consolas" panose="020B0609020204030204" pitchFamily="49" charset="0"/>
                <a:ea typeface="Times New Roman" panose="02020603050405020304" pitchFamily="18" charset="0"/>
                <a:cs typeface="Courier New" panose="02070309020205020404" pitchFamily="49" charset="0"/>
              </a:rPr>
              <a:t>print </a:t>
            </a:r>
            <a:r>
              <a:rPr lang="en-US" dirty="0"/>
              <a:t>function allows us to have nice output with explanation</a:t>
            </a:r>
          </a:p>
        </p:txBody>
      </p:sp>
      <p:sp>
        <p:nvSpPr>
          <p:cNvPr id="5" name="TextBox 4">
            <a:extLst>
              <a:ext uri="{FF2B5EF4-FFF2-40B4-BE49-F238E27FC236}">
                <a16:creationId xmlns:a16="http://schemas.microsoft.com/office/drawing/2014/main" id="{04CBEFCB-ED70-8581-E3B0-D7F442687D6B}"/>
              </a:ext>
            </a:extLst>
          </p:cNvPr>
          <p:cNvSpPr txBox="1"/>
          <p:nvPr/>
        </p:nvSpPr>
        <p:spPr>
          <a:xfrm>
            <a:off x="2035967" y="4791967"/>
            <a:ext cx="8465345" cy="1384995"/>
          </a:xfrm>
          <a:prstGeom prst="rect">
            <a:avLst/>
          </a:prstGeom>
          <a:noFill/>
        </p:spPr>
        <p:txBody>
          <a:bodyPr wrap="square">
            <a:spAutoFit/>
          </a:bodyPr>
          <a:lstStyle/>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for_counts</a:t>
            </a:r>
            <a:r>
              <a:rPr lang="en-US" sz="2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 </a:t>
            </a:r>
            <a:r>
              <a:rPr lang="en-US" sz="2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a:t>
            </a:r>
            <a:r>
              <a:rPr lang="en-US" sz="2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"foreign"</a:t>
            </a:r>
            <a:r>
              <a:rPr lang="en-US" sz="2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value_counts</a:t>
            </a:r>
            <a:r>
              <a:rPr lang="en-US" sz="2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4400" dirty="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print</a:t>
            </a:r>
            <a:r>
              <a:rPr lang="en-US" sz="2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800" dirty="0">
                <a:solidFill>
                  <a:srgbClr val="A31515"/>
                </a:solidFill>
                <a:latin typeface="Consolas" panose="020B0609020204030204" pitchFamily="49" charset="0"/>
                <a:ea typeface="Times New Roman" panose="02020603050405020304" pitchFamily="18" charset="0"/>
                <a:cs typeface="Courier New" panose="02070309020205020404" pitchFamily="49" charset="0"/>
              </a:rPr>
              <a:t>"Foreign </a:t>
            </a:r>
            <a:r>
              <a:rPr lang="en-US" sz="2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Production </a:t>
            </a:r>
            <a:r>
              <a:rPr lang="en-US" sz="2800" dirty="0">
                <a:solidFill>
                  <a:srgbClr val="A31515"/>
                </a:solidFill>
                <a:latin typeface="Consolas" panose="020B0609020204030204" pitchFamily="49" charset="0"/>
                <a:ea typeface="Times New Roman" panose="02020603050405020304" pitchFamily="18" charset="0"/>
                <a:cs typeface="Courier New" panose="02070309020205020404" pitchFamily="49" charset="0"/>
              </a:rPr>
              <a:t>C</a:t>
            </a:r>
            <a:r>
              <a:rPr lang="en-US" sz="2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ounts:"</a:t>
            </a:r>
            <a:r>
              <a:rPr lang="en-US" sz="2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4400" dirty="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print</a:t>
            </a:r>
            <a:r>
              <a:rPr lang="en-US" sz="2800"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a:t>
            </a:r>
            <a:r>
              <a:rPr lang="en-US" sz="2800" dirty="0" err="1">
                <a:solidFill>
                  <a:srgbClr val="000000"/>
                </a:solidFill>
                <a:latin typeface="Consolas" panose="020B0609020204030204" pitchFamily="49" charset="0"/>
                <a:ea typeface="Times New Roman" panose="02020603050405020304" pitchFamily="18" charset="0"/>
                <a:cs typeface="Courier New" panose="02070309020205020404" pitchFamily="49" charset="0"/>
              </a:rPr>
              <a:t>for_</a:t>
            </a:r>
            <a:r>
              <a:rPr lang="en-US" sz="2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counts</a:t>
            </a:r>
            <a:r>
              <a:rPr lang="en-US" sz="2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4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7255879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22849-A6B6-AF41-A351-7E8D7934104F}"/>
              </a:ext>
            </a:extLst>
          </p:cNvPr>
          <p:cNvSpPr>
            <a:spLocks noGrp="1"/>
          </p:cNvSpPr>
          <p:nvPr>
            <p:ph type="title"/>
          </p:nvPr>
        </p:nvSpPr>
        <p:spPr/>
        <p:txBody>
          <a:bodyPr/>
          <a:lstStyle/>
          <a:p>
            <a:r>
              <a:rPr lang="en-US" dirty="0"/>
              <a:t>Step 4: Question 2</a:t>
            </a:r>
          </a:p>
        </p:txBody>
      </p:sp>
      <p:pic>
        <p:nvPicPr>
          <p:cNvPr id="5" name="Content Placeholder 4" descr="A screenshot of a computer code  AI-generated content may be incorrect.">
            <a:extLst>
              <a:ext uri="{FF2B5EF4-FFF2-40B4-BE49-F238E27FC236}">
                <a16:creationId xmlns:a16="http://schemas.microsoft.com/office/drawing/2014/main" id="{C65A7008-DD54-E067-EA5B-BF651D3D742F}"/>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3343275" y="2321963"/>
            <a:ext cx="5505450" cy="2940533"/>
          </a:xfrm>
        </p:spPr>
      </p:pic>
      <p:sp>
        <p:nvSpPr>
          <p:cNvPr id="7" name="Content Placeholder 2">
            <a:extLst>
              <a:ext uri="{FF2B5EF4-FFF2-40B4-BE49-F238E27FC236}">
                <a16:creationId xmlns:a16="http://schemas.microsoft.com/office/drawing/2014/main" id="{0DB5F7F3-1E9B-7250-3207-AED58CE7BA4A}"/>
              </a:ext>
            </a:extLst>
          </p:cNvPr>
          <p:cNvSpPr txBox="1">
            <a:spLocks/>
          </p:cNvSpPr>
          <p:nvPr/>
        </p:nvSpPr>
        <p:spPr>
          <a:xfrm>
            <a:off x="838200" y="5262496"/>
            <a:ext cx="10515600" cy="9811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Answer: There are 22 foreign and 52 domestic cars.</a:t>
            </a:r>
          </a:p>
        </p:txBody>
      </p:sp>
    </p:spTree>
    <p:extLst>
      <p:ext uri="{BB962C8B-B14F-4D97-AF65-F5344CB8AC3E}">
        <p14:creationId xmlns:p14="http://schemas.microsoft.com/office/powerpoint/2010/main" val="4612175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5C05B-89A4-F07C-403A-FD32D6B9A0BB}"/>
              </a:ext>
            </a:extLst>
          </p:cNvPr>
          <p:cNvSpPr>
            <a:spLocks noGrp="1"/>
          </p:cNvSpPr>
          <p:nvPr>
            <p:ph type="title"/>
          </p:nvPr>
        </p:nvSpPr>
        <p:spPr/>
        <p:txBody>
          <a:bodyPr/>
          <a:lstStyle/>
          <a:p>
            <a:r>
              <a:rPr lang="en-US" dirty="0"/>
              <a:t>Step 4: Question 3</a:t>
            </a:r>
          </a:p>
        </p:txBody>
      </p:sp>
      <p:sp>
        <p:nvSpPr>
          <p:cNvPr id="3" name="Content Placeholder 2">
            <a:extLst>
              <a:ext uri="{FF2B5EF4-FFF2-40B4-BE49-F238E27FC236}">
                <a16:creationId xmlns:a16="http://schemas.microsoft.com/office/drawing/2014/main" id="{1E1122D3-AEFB-8F90-50B4-A6557DFA171E}"/>
              </a:ext>
            </a:extLst>
          </p:cNvPr>
          <p:cNvSpPr>
            <a:spLocks noGrp="1"/>
          </p:cNvSpPr>
          <p:nvPr>
            <p:ph idx="1"/>
          </p:nvPr>
        </p:nvSpPr>
        <p:spPr/>
        <p:txBody>
          <a:bodyPr/>
          <a:lstStyle/>
          <a:p>
            <a:r>
              <a:rPr lang="en-US" dirty="0"/>
              <a:t>Question 3: </a:t>
            </a:r>
            <a:r>
              <a:rPr lang="en-US" i="1" dirty="0"/>
              <a:t>Does the price of cars differ by where they are produced?</a:t>
            </a:r>
          </a:p>
          <a:p>
            <a:r>
              <a:rPr lang="en-US" i="1" dirty="0"/>
              <a:t>Two variables</a:t>
            </a:r>
          </a:p>
          <a:p>
            <a:pPr lvl="1"/>
            <a:r>
              <a:rPr lang="en-US" i="1" dirty="0"/>
              <a:t>Production location</a:t>
            </a:r>
          </a:p>
          <a:p>
            <a:pPr lvl="1"/>
            <a:r>
              <a:rPr lang="en-US" i="1" dirty="0"/>
              <a:t>Price</a:t>
            </a:r>
          </a:p>
          <a:p>
            <a:r>
              <a:rPr lang="en-US" dirty="0"/>
              <a:t>Need to compute the average price for foreign and domestic cars</a:t>
            </a:r>
          </a:p>
          <a:p>
            <a:r>
              <a:rPr lang="en-US" dirty="0"/>
              <a:t>Use </a:t>
            </a:r>
            <a:r>
              <a:rPr lang="en-US" dirty="0" err="1"/>
              <a:t>groupby</a:t>
            </a:r>
            <a:r>
              <a:rPr lang="en-US" dirty="0"/>
              <a:t>() function</a:t>
            </a:r>
          </a:p>
        </p:txBody>
      </p:sp>
    </p:spTree>
    <p:extLst>
      <p:ext uri="{BB962C8B-B14F-4D97-AF65-F5344CB8AC3E}">
        <p14:creationId xmlns:p14="http://schemas.microsoft.com/office/powerpoint/2010/main" val="4231479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BA1E7-4867-5CB1-3529-45F841E661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F580BE-86B6-D33D-CAEE-F83C6DC395B7}"/>
              </a:ext>
            </a:extLst>
          </p:cNvPr>
          <p:cNvSpPr>
            <a:spLocks noGrp="1"/>
          </p:cNvSpPr>
          <p:nvPr>
            <p:ph type="title"/>
          </p:nvPr>
        </p:nvSpPr>
        <p:spPr/>
        <p:txBody>
          <a:bodyPr/>
          <a:lstStyle/>
          <a:p>
            <a:r>
              <a:rPr lang="en-US" dirty="0"/>
              <a:t>Step 4: Question 3</a:t>
            </a:r>
          </a:p>
        </p:txBody>
      </p:sp>
      <p:sp>
        <p:nvSpPr>
          <p:cNvPr id="3" name="Content Placeholder 2">
            <a:extLst>
              <a:ext uri="{FF2B5EF4-FFF2-40B4-BE49-F238E27FC236}">
                <a16:creationId xmlns:a16="http://schemas.microsoft.com/office/drawing/2014/main" id="{49DF1901-5A26-B47A-5543-3244CF2F0F24}"/>
              </a:ext>
            </a:extLst>
          </p:cNvPr>
          <p:cNvSpPr>
            <a:spLocks noGrp="1"/>
          </p:cNvSpPr>
          <p:nvPr>
            <p:ph idx="1"/>
          </p:nvPr>
        </p:nvSpPr>
        <p:spPr>
          <a:xfrm>
            <a:off x="838200" y="2604052"/>
            <a:ext cx="10515600" cy="743306"/>
          </a:xfrm>
        </p:spPr>
        <p:txBody>
          <a:bodyPr/>
          <a:lstStyle/>
          <a:p>
            <a:r>
              <a:rPr lang="en-US" dirty="0"/>
              <a:t>Use </a:t>
            </a:r>
            <a:r>
              <a:rPr lang="en-US" dirty="0" err="1"/>
              <a:t>groupby</a:t>
            </a:r>
            <a:r>
              <a:rPr lang="en-US" dirty="0"/>
              <a:t>() function</a:t>
            </a:r>
          </a:p>
        </p:txBody>
      </p:sp>
      <p:pic>
        <p:nvPicPr>
          <p:cNvPr id="7" name="Picture 6">
            <a:extLst>
              <a:ext uri="{FF2B5EF4-FFF2-40B4-BE49-F238E27FC236}">
                <a16:creationId xmlns:a16="http://schemas.microsoft.com/office/drawing/2014/main" id="{BBC66AB3-4C8A-A1B8-A7EB-1F1508AD05CB}"/>
              </a:ext>
            </a:extLst>
          </p:cNvPr>
          <p:cNvPicPr>
            <a:picLocks noChangeAspect="1"/>
          </p:cNvPicPr>
          <p:nvPr/>
        </p:nvPicPr>
        <p:blipFill>
          <a:blip r:embed="rId3"/>
          <a:stretch>
            <a:fillRect/>
          </a:stretch>
        </p:blipFill>
        <p:spPr>
          <a:xfrm>
            <a:off x="163286" y="3611117"/>
            <a:ext cx="11936673" cy="1671606"/>
          </a:xfrm>
          <a:prstGeom prst="rect">
            <a:avLst/>
          </a:prstGeom>
        </p:spPr>
      </p:pic>
    </p:spTree>
    <p:extLst>
      <p:ext uri="{BB962C8B-B14F-4D97-AF65-F5344CB8AC3E}">
        <p14:creationId xmlns:p14="http://schemas.microsoft.com/office/powerpoint/2010/main" val="22846778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E12E1-51DF-2E75-AA96-A08251D6D26B}"/>
              </a:ext>
            </a:extLst>
          </p:cNvPr>
          <p:cNvSpPr>
            <a:spLocks noGrp="1"/>
          </p:cNvSpPr>
          <p:nvPr>
            <p:ph type="title"/>
          </p:nvPr>
        </p:nvSpPr>
        <p:spPr/>
        <p:txBody>
          <a:bodyPr/>
          <a:lstStyle/>
          <a:p>
            <a:r>
              <a:rPr lang="en-US" dirty="0"/>
              <a:t>Step 5: Visualization</a:t>
            </a:r>
          </a:p>
        </p:txBody>
      </p:sp>
      <p:sp>
        <p:nvSpPr>
          <p:cNvPr id="3" name="Text Placeholder 2">
            <a:extLst>
              <a:ext uri="{FF2B5EF4-FFF2-40B4-BE49-F238E27FC236}">
                <a16:creationId xmlns:a16="http://schemas.microsoft.com/office/drawing/2014/main" id="{20EB075E-C033-96C8-E3B0-3DF04688DAB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560170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2D474-48DD-AFF7-62B4-1B7CA16DB66C}"/>
              </a:ext>
            </a:extLst>
          </p:cNvPr>
          <p:cNvSpPr>
            <a:spLocks noGrp="1"/>
          </p:cNvSpPr>
          <p:nvPr>
            <p:ph type="title"/>
          </p:nvPr>
        </p:nvSpPr>
        <p:spPr/>
        <p:txBody>
          <a:bodyPr/>
          <a:lstStyle/>
          <a:p>
            <a:r>
              <a:rPr lang="en-US" dirty="0"/>
              <a:t>Basic Plotting in Python (Matplotlib)</a:t>
            </a:r>
          </a:p>
        </p:txBody>
      </p:sp>
      <p:sp>
        <p:nvSpPr>
          <p:cNvPr id="3" name="Content Placeholder 2">
            <a:extLst>
              <a:ext uri="{FF2B5EF4-FFF2-40B4-BE49-F238E27FC236}">
                <a16:creationId xmlns:a16="http://schemas.microsoft.com/office/drawing/2014/main" id="{50B23461-918F-9CE9-8233-54A758C35DCA}"/>
              </a:ext>
            </a:extLst>
          </p:cNvPr>
          <p:cNvSpPr>
            <a:spLocks noGrp="1"/>
          </p:cNvSpPr>
          <p:nvPr>
            <p:ph idx="1"/>
          </p:nvPr>
        </p:nvSpPr>
        <p:spPr/>
        <p:txBody>
          <a:bodyPr/>
          <a:lstStyle/>
          <a:p>
            <a:r>
              <a:rPr lang="en-US" dirty="0"/>
              <a:t>Python has multiple plotting libraries. </a:t>
            </a:r>
          </a:p>
          <a:p>
            <a:r>
              <a:rPr lang="en-US" dirty="0"/>
              <a:t>The foundational one is Matplotlib, which provides low-level plotting functions.</a:t>
            </a:r>
          </a:p>
          <a:p>
            <a:r>
              <a:rPr lang="en-US" dirty="0"/>
              <a:t>Let’s import the package as “</a:t>
            </a:r>
            <a:r>
              <a:rPr lang="en-US" dirty="0" err="1"/>
              <a:t>plt</a:t>
            </a:r>
            <a:r>
              <a:rPr lang="en-US" dirty="0"/>
              <a:t>”. </a:t>
            </a:r>
          </a:p>
        </p:txBody>
      </p:sp>
      <p:pic>
        <p:nvPicPr>
          <p:cNvPr id="10242" name="Picture 2" descr="Banner">
            <a:extLst>
              <a:ext uri="{FF2B5EF4-FFF2-40B4-BE49-F238E27FC236}">
                <a16:creationId xmlns:a16="http://schemas.microsoft.com/office/drawing/2014/main" id="{6DA87467-341B-FB56-699A-A6BD793A13C8}"/>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7299262" y="4964875"/>
            <a:ext cx="4764150" cy="15880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close up of a web address  AI-generated content may be incorrect.">
            <a:extLst>
              <a:ext uri="{FF2B5EF4-FFF2-40B4-BE49-F238E27FC236}">
                <a16:creationId xmlns:a16="http://schemas.microsoft.com/office/drawing/2014/main" id="{FD971B0A-2644-0CE8-AD6E-87B481B2651C}"/>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112837" y="5231850"/>
            <a:ext cx="5194300" cy="1054100"/>
          </a:xfrm>
          <a:prstGeom prst="rect">
            <a:avLst/>
          </a:prstGeom>
        </p:spPr>
      </p:pic>
    </p:spTree>
    <p:extLst>
      <p:ext uri="{BB962C8B-B14F-4D97-AF65-F5344CB8AC3E}">
        <p14:creationId xmlns:p14="http://schemas.microsoft.com/office/powerpoint/2010/main" val="40539427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DFEC2-1100-C244-ED81-74CCEB52FBE0}"/>
              </a:ext>
            </a:extLst>
          </p:cNvPr>
          <p:cNvSpPr>
            <a:spLocks noGrp="1"/>
          </p:cNvSpPr>
          <p:nvPr>
            <p:ph type="title"/>
          </p:nvPr>
        </p:nvSpPr>
        <p:spPr>
          <a:xfrm>
            <a:off x="838200" y="436318"/>
            <a:ext cx="10515600" cy="1325563"/>
          </a:xfrm>
        </p:spPr>
        <p:txBody>
          <a:bodyPr/>
          <a:lstStyle/>
          <a:p>
            <a:r>
              <a:rPr lang="en-US" dirty="0"/>
              <a:t>Step 5: Visualization</a:t>
            </a:r>
          </a:p>
        </p:txBody>
      </p:sp>
      <p:sp>
        <p:nvSpPr>
          <p:cNvPr id="4" name="Content Placeholder 3">
            <a:extLst>
              <a:ext uri="{FF2B5EF4-FFF2-40B4-BE49-F238E27FC236}">
                <a16:creationId xmlns:a16="http://schemas.microsoft.com/office/drawing/2014/main" id="{A1E3FD20-460D-EFB2-814F-D080BFBD5FCF}"/>
              </a:ext>
            </a:extLst>
          </p:cNvPr>
          <p:cNvSpPr>
            <a:spLocks noGrp="1"/>
          </p:cNvSpPr>
          <p:nvPr>
            <p:ph idx="1"/>
          </p:nvPr>
        </p:nvSpPr>
        <p:spPr/>
        <p:txBody>
          <a:bodyPr/>
          <a:lstStyle/>
          <a:p>
            <a:r>
              <a:rPr lang="en-US" dirty="0"/>
              <a:t>How is miles per gallon is distributed?</a:t>
            </a:r>
          </a:p>
          <a:p>
            <a:r>
              <a:rPr lang="en-US" dirty="0"/>
              <a:t>A histogram shows the distribution of a continuous numeric variable by grouping values into “bins” (ranges) and plotting bars for the count of observations in each bin. </a:t>
            </a:r>
          </a:p>
          <a:p>
            <a:endParaRPr lang="en-US" dirty="0"/>
          </a:p>
        </p:txBody>
      </p:sp>
    </p:spTree>
    <p:extLst>
      <p:ext uri="{BB962C8B-B14F-4D97-AF65-F5344CB8AC3E}">
        <p14:creationId xmlns:p14="http://schemas.microsoft.com/office/powerpoint/2010/main" val="27336854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290DE-4A23-6375-B198-064A0FFC27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815ABD-4827-6A87-F475-21DBBE9CEE37}"/>
              </a:ext>
            </a:extLst>
          </p:cNvPr>
          <p:cNvSpPr>
            <a:spLocks noGrp="1"/>
          </p:cNvSpPr>
          <p:nvPr>
            <p:ph type="title"/>
          </p:nvPr>
        </p:nvSpPr>
        <p:spPr>
          <a:xfrm>
            <a:off x="838200" y="436318"/>
            <a:ext cx="10515600" cy="1325563"/>
          </a:xfrm>
        </p:spPr>
        <p:txBody>
          <a:bodyPr/>
          <a:lstStyle/>
          <a:p>
            <a:r>
              <a:rPr lang="en-US" dirty="0"/>
              <a:t>Histogram of MPG in Python</a:t>
            </a:r>
          </a:p>
        </p:txBody>
      </p:sp>
      <p:pic>
        <p:nvPicPr>
          <p:cNvPr id="10" name="Content Placeholder 9">
            <a:extLst>
              <a:ext uri="{FF2B5EF4-FFF2-40B4-BE49-F238E27FC236}">
                <a16:creationId xmlns:a16="http://schemas.microsoft.com/office/drawing/2014/main" id="{C74F17F7-332B-D4A9-6CD7-65A9E3D8D2EC}"/>
              </a:ext>
            </a:extLst>
          </p:cNvPr>
          <p:cNvPicPr>
            <a:picLocks noGrp="1" noChangeAspect="1"/>
          </p:cNvPicPr>
          <p:nvPr>
            <p:ph idx="1"/>
          </p:nvPr>
        </p:nvPicPr>
        <p:blipFill>
          <a:blip r:embed="rId3"/>
          <a:stretch>
            <a:fillRect/>
          </a:stretch>
        </p:blipFill>
        <p:spPr>
          <a:xfrm>
            <a:off x="163287" y="2930029"/>
            <a:ext cx="11680040" cy="2874778"/>
          </a:xfrm>
        </p:spPr>
      </p:pic>
    </p:spTree>
    <p:extLst>
      <p:ext uri="{BB962C8B-B14F-4D97-AF65-F5344CB8AC3E}">
        <p14:creationId xmlns:p14="http://schemas.microsoft.com/office/powerpoint/2010/main" val="3618706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C0FA5-FA78-E247-5E45-3B693633F3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0D6EAD-C9AF-C339-1561-3EB49FE65B32}"/>
              </a:ext>
            </a:extLst>
          </p:cNvPr>
          <p:cNvSpPr>
            <a:spLocks noGrp="1"/>
          </p:cNvSpPr>
          <p:nvPr>
            <p:ph type="title"/>
          </p:nvPr>
        </p:nvSpPr>
        <p:spPr>
          <a:xfrm>
            <a:off x="838200" y="436318"/>
            <a:ext cx="10515600" cy="1325563"/>
          </a:xfrm>
        </p:spPr>
        <p:txBody>
          <a:bodyPr/>
          <a:lstStyle/>
          <a:p>
            <a:r>
              <a:rPr lang="en-US" dirty="0"/>
              <a:t>Histogram of MPG in Python</a:t>
            </a:r>
          </a:p>
        </p:txBody>
      </p:sp>
      <p:pic>
        <p:nvPicPr>
          <p:cNvPr id="5" name="Content Placeholder 4" descr="A screen shot of a graph  AI-generated content may be incorrect.">
            <a:extLst>
              <a:ext uri="{FF2B5EF4-FFF2-40B4-BE49-F238E27FC236}">
                <a16:creationId xmlns:a16="http://schemas.microsoft.com/office/drawing/2014/main" id="{59DE13B7-8AA5-CB8D-84C6-BAA8F02EABA4}"/>
              </a:ext>
            </a:extLst>
          </p:cNvPr>
          <p:cNvPicPr>
            <a:picLocks noGrp="1" noChangeAspect="1"/>
          </p:cNvPicPr>
          <p:nvPr>
            <p:ph idx="1"/>
          </p:nvPr>
        </p:nvPicPr>
        <p:blipFill>
          <a:blip r:embed="rId3" cstate="screen">
            <a:extLst>
              <a:ext uri="{28A0092B-C50C-407E-A947-70E740481C1C}">
                <a14:useLocalDpi xmlns:a14="http://schemas.microsoft.com/office/drawing/2010/main"/>
              </a:ext>
            </a:extLst>
          </a:blip>
          <a:srcRect/>
          <a:stretch>
            <a:fillRect/>
          </a:stretch>
        </p:blipFill>
        <p:spPr>
          <a:xfrm>
            <a:off x="2555422" y="1564389"/>
            <a:ext cx="7652657" cy="5149173"/>
          </a:xfrm>
        </p:spPr>
      </p:pic>
    </p:spTree>
    <p:extLst>
      <p:ext uri="{BB962C8B-B14F-4D97-AF65-F5344CB8AC3E}">
        <p14:creationId xmlns:p14="http://schemas.microsoft.com/office/powerpoint/2010/main" val="11900045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9DAFF-759D-62B0-F1AC-735B9F9A0A9D}"/>
              </a:ext>
            </a:extLst>
          </p:cNvPr>
          <p:cNvSpPr>
            <a:spLocks noGrp="1"/>
          </p:cNvSpPr>
          <p:nvPr>
            <p:ph type="title"/>
          </p:nvPr>
        </p:nvSpPr>
        <p:spPr/>
        <p:txBody>
          <a:bodyPr/>
          <a:lstStyle/>
          <a:p>
            <a:r>
              <a:rPr lang="en-US" dirty="0"/>
              <a:t>Histogram of MPG in Python</a:t>
            </a:r>
          </a:p>
        </p:txBody>
      </p:sp>
      <p:sp>
        <p:nvSpPr>
          <p:cNvPr id="3" name="Content Placeholder 2">
            <a:extLst>
              <a:ext uri="{FF2B5EF4-FFF2-40B4-BE49-F238E27FC236}">
                <a16:creationId xmlns:a16="http://schemas.microsoft.com/office/drawing/2014/main" id="{0AE1B5E4-4698-00C8-22DA-8B8C46EF6AFE}"/>
              </a:ext>
            </a:extLst>
          </p:cNvPr>
          <p:cNvSpPr>
            <a:spLocks noGrp="1"/>
          </p:cNvSpPr>
          <p:nvPr>
            <p:ph idx="1"/>
          </p:nvPr>
        </p:nvSpPr>
        <p:spPr/>
        <p:txBody>
          <a:bodyPr/>
          <a:lstStyle/>
          <a:p>
            <a:r>
              <a:rPr lang="en-US" dirty="0" err="1"/>
              <a:t>plt.hist</a:t>
            </a:r>
            <a:r>
              <a:rPr lang="en-US" dirty="0"/>
              <a:t>(</a:t>
            </a:r>
            <a:r>
              <a:rPr lang="en-US" dirty="0" err="1"/>
              <a:t>df</a:t>
            </a:r>
            <a:r>
              <a:rPr lang="en-US" dirty="0"/>
              <a:t>["mpg"], bins=10) creates a histogram with 10 intervals (bins).</a:t>
            </a:r>
          </a:p>
          <a:p>
            <a:r>
              <a:rPr lang="en-US" dirty="0"/>
              <a:t>color='</a:t>
            </a:r>
            <a:r>
              <a:rPr lang="en-US" dirty="0" err="1"/>
              <a:t>skyblue</a:t>
            </a:r>
            <a:r>
              <a:rPr lang="en-US" dirty="0"/>
              <a:t>', </a:t>
            </a:r>
            <a:r>
              <a:rPr lang="en-US" dirty="0" err="1"/>
              <a:t>edgecolor</a:t>
            </a:r>
            <a:r>
              <a:rPr lang="en-US" dirty="0"/>
              <a:t>='black' styles the bars (similar to R).</a:t>
            </a:r>
          </a:p>
          <a:p>
            <a:r>
              <a:rPr lang="en-US" dirty="0" err="1"/>
              <a:t>plt.title</a:t>
            </a:r>
            <a:r>
              <a:rPr lang="en-US" dirty="0"/>
              <a:t>, </a:t>
            </a:r>
            <a:r>
              <a:rPr lang="en-US" dirty="0" err="1"/>
              <a:t>plt.xlabel</a:t>
            </a:r>
            <a:r>
              <a:rPr lang="en-US" dirty="0"/>
              <a:t>, </a:t>
            </a:r>
            <a:r>
              <a:rPr lang="en-US" dirty="0" err="1"/>
              <a:t>plt.ylabel</a:t>
            </a:r>
            <a:r>
              <a:rPr lang="en-US" dirty="0"/>
              <a:t>: add title and axis labels as in R.</a:t>
            </a:r>
          </a:p>
          <a:p>
            <a:r>
              <a:rPr lang="en-US" dirty="0" err="1"/>
              <a:t>plt.show</a:t>
            </a:r>
            <a:r>
              <a:rPr lang="en-US" dirty="0"/>
              <a:t>() displays the plot — good practice, especially in scripts.</a:t>
            </a:r>
          </a:p>
          <a:p>
            <a:endParaRPr lang="en-US" dirty="0"/>
          </a:p>
        </p:txBody>
      </p:sp>
      <p:pic>
        <p:nvPicPr>
          <p:cNvPr id="5" name="Picture 4" descr="A screenshot of a computer code  AI-generated content may be incorrect.">
            <a:extLst>
              <a:ext uri="{FF2B5EF4-FFF2-40B4-BE49-F238E27FC236}">
                <a16:creationId xmlns:a16="http://schemas.microsoft.com/office/drawing/2014/main" id="{27C2DBFC-63E8-633A-3F6D-C669EFC4E43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617208" y="5023805"/>
            <a:ext cx="7772400" cy="1629394"/>
          </a:xfrm>
          <a:prstGeom prst="rect">
            <a:avLst/>
          </a:prstGeom>
        </p:spPr>
      </p:pic>
    </p:spTree>
    <p:extLst>
      <p:ext uri="{BB962C8B-B14F-4D97-AF65-F5344CB8AC3E}">
        <p14:creationId xmlns:p14="http://schemas.microsoft.com/office/powerpoint/2010/main" val="37253670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A7B36-21B1-58EE-D461-02EE47B9E50C}"/>
              </a:ext>
            </a:extLst>
          </p:cNvPr>
          <p:cNvSpPr>
            <a:spLocks noGrp="1"/>
          </p:cNvSpPr>
          <p:nvPr>
            <p:ph type="title"/>
          </p:nvPr>
        </p:nvSpPr>
        <p:spPr>
          <a:xfrm>
            <a:off x="838200" y="913363"/>
            <a:ext cx="10515600" cy="1325563"/>
          </a:xfrm>
        </p:spPr>
        <p:txBody>
          <a:bodyPr anchor="ctr">
            <a:normAutofit/>
          </a:bodyPr>
          <a:lstStyle/>
          <a:p>
            <a:r>
              <a:rPr lang="en-US" dirty="0"/>
              <a:t>Histogram – Interpretation </a:t>
            </a:r>
          </a:p>
        </p:txBody>
      </p:sp>
      <p:sp>
        <p:nvSpPr>
          <p:cNvPr id="3" name="Content Placeholder 2">
            <a:extLst>
              <a:ext uri="{FF2B5EF4-FFF2-40B4-BE49-F238E27FC236}">
                <a16:creationId xmlns:a16="http://schemas.microsoft.com/office/drawing/2014/main" id="{541CF78E-7F04-DD0E-F307-0556D1994682}"/>
              </a:ext>
            </a:extLst>
          </p:cNvPr>
          <p:cNvSpPr>
            <a:spLocks noGrp="1"/>
          </p:cNvSpPr>
          <p:nvPr>
            <p:ph sz="half" idx="1"/>
          </p:nvPr>
        </p:nvSpPr>
        <p:spPr>
          <a:xfrm>
            <a:off x="838200" y="2125144"/>
            <a:ext cx="5181600" cy="4351338"/>
          </a:xfrm>
        </p:spPr>
        <p:txBody>
          <a:bodyPr>
            <a:normAutofit/>
          </a:bodyPr>
          <a:lstStyle/>
          <a:p>
            <a:r>
              <a:rPr lang="en-US" sz="2000" dirty="0"/>
              <a:t>This histogram shows MPG distribution shape — each bar is a bin (value range), height is count. Shape tells you things no single statistic can: skewness, clusters, gaps, outliers. </a:t>
            </a:r>
          </a:p>
          <a:p>
            <a:r>
              <a:rPr lang="en-US" sz="2000" dirty="0"/>
              <a:t>This is right-skewed — the right tail is longer. Mean (21.3) &gt; Median (20.0) — a classic signature. A few fuel-efficient imports pull the mean upward. r MPG within a certain range. </a:t>
            </a:r>
          </a:p>
          <a:p>
            <a:r>
              <a:rPr lang="en-US" sz="2000" dirty="0"/>
              <a:t>The mode bin is 15–20 MPG. Ask: would you have predicted this shape from the mean alone? This is why visualization precedes modeling. </a:t>
            </a:r>
          </a:p>
          <a:p>
            <a:r>
              <a:rPr lang="en-US" sz="2000" dirty="0"/>
              <a:t>Compare with Python code: try bins=5 vs bins=20. Fewer bins over-smooth; too many bins show noise. The choice of bins is an analytical decision, not a technical one.</a:t>
            </a:r>
          </a:p>
        </p:txBody>
      </p:sp>
      <p:pic>
        <p:nvPicPr>
          <p:cNvPr id="4" name="Picture 3" descr="A graph of a distribution of cars  AI-generated content may be incorrect.">
            <a:extLst>
              <a:ext uri="{FF2B5EF4-FFF2-40B4-BE49-F238E27FC236}">
                <a16:creationId xmlns:a16="http://schemas.microsoft.com/office/drawing/2014/main" id="{C1589F08-9EFC-4C6C-D145-AE7FC056447C}"/>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6096000" y="2125144"/>
            <a:ext cx="5181600" cy="4351338"/>
          </a:xfrm>
          <a:prstGeom prst="rect">
            <a:avLst/>
          </a:prstGeom>
          <a:noFill/>
        </p:spPr>
      </p:pic>
    </p:spTree>
    <p:extLst>
      <p:ext uri="{BB962C8B-B14F-4D97-AF65-F5344CB8AC3E}">
        <p14:creationId xmlns:p14="http://schemas.microsoft.com/office/powerpoint/2010/main" val="16115549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17AFB-C73C-621E-5E19-8C4082FF7AF2}"/>
              </a:ext>
            </a:extLst>
          </p:cNvPr>
          <p:cNvSpPr>
            <a:spLocks noGrp="1"/>
          </p:cNvSpPr>
          <p:nvPr>
            <p:ph type="title"/>
          </p:nvPr>
        </p:nvSpPr>
        <p:spPr/>
        <p:txBody>
          <a:bodyPr/>
          <a:lstStyle/>
          <a:p>
            <a:r>
              <a:rPr lang="en-US" dirty="0"/>
              <a:t>Your Turn!</a:t>
            </a:r>
          </a:p>
        </p:txBody>
      </p:sp>
      <p:sp>
        <p:nvSpPr>
          <p:cNvPr id="3" name="Content Placeholder 2">
            <a:extLst>
              <a:ext uri="{FF2B5EF4-FFF2-40B4-BE49-F238E27FC236}">
                <a16:creationId xmlns:a16="http://schemas.microsoft.com/office/drawing/2014/main" id="{235AFF1A-6698-B82B-720E-AB851FB47C6A}"/>
              </a:ext>
            </a:extLst>
          </p:cNvPr>
          <p:cNvSpPr>
            <a:spLocks noGrp="1"/>
          </p:cNvSpPr>
          <p:nvPr>
            <p:ph idx="1"/>
          </p:nvPr>
        </p:nvSpPr>
        <p:spPr/>
        <p:txBody>
          <a:bodyPr/>
          <a:lstStyle/>
          <a:p>
            <a:r>
              <a:rPr lang="en-US" dirty="0"/>
              <a:t>Plot a histogram of car price. How does it look like? Do the prices usually similar? Does the distribution look skewed?</a:t>
            </a:r>
          </a:p>
          <a:p>
            <a:endParaRPr lang="en-US" dirty="0"/>
          </a:p>
          <a:p>
            <a:r>
              <a:rPr lang="en-US" dirty="0"/>
              <a:t>Think which function you need to use!</a:t>
            </a:r>
          </a:p>
          <a:p>
            <a:endParaRPr lang="en-US" dirty="0"/>
          </a:p>
        </p:txBody>
      </p:sp>
      <p:pic>
        <p:nvPicPr>
          <p:cNvPr id="4" name="Picture 3">
            <a:extLst>
              <a:ext uri="{FF2B5EF4-FFF2-40B4-BE49-F238E27FC236}">
                <a16:creationId xmlns:a16="http://schemas.microsoft.com/office/drawing/2014/main" id="{85032C4C-528F-E2EE-9686-5FBF6045A76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229600" y="3773488"/>
            <a:ext cx="2582862" cy="2582862"/>
          </a:xfrm>
          <a:prstGeom prst="rect">
            <a:avLst/>
          </a:prstGeom>
        </p:spPr>
      </p:pic>
    </p:spTree>
    <p:extLst>
      <p:ext uri="{BB962C8B-B14F-4D97-AF65-F5344CB8AC3E}">
        <p14:creationId xmlns:p14="http://schemas.microsoft.com/office/powerpoint/2010/main" val="247114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024E9-9738-4958-78F1-C4B563DFB069}"/>
              </a:ext>
            </a:extLst>
          </p:cNvPr>
          <p:cNvSpPr>
            <a:spLocks noGrp="1"/>
          </p:cNvSpPr>
          <p:nvPr>
            <p:ph type="title"/>
          </p:nvPr>
        </p:nvSpPr>
        <p:spPr/>
        <p:txBody>
          <a:bodyPr/>
          <a:lstStyle/>
          <a:p>
            <a:r>
              <a:rPr lang="en-US" dirty="0"/>
              <a:t>Your Turn!</a:t>
            </a:r>
          </a:p>
        </p:txBody>
      </p:sp>
      <p:pic>
        <p:nvPicPr>
          <p:cNvPr id="5" name="Content Placeholder 4" descr="A graph of a distribution of car prices  AI-generated content may be incorrect.">
            <a:extLst>
              <a:ext uri="{FF2B5EF4-FFF2-40B4-BE49-F238E27FC236}">
                <a16:creationId xmlns:a16="http://schemas.microsoft.com/office/drawing/2014/main" id="{650CD772-AFE2-109F-CB52-FC285481011E}"/>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6457950" y="2210894"/>
            <a:ext cx="5510885" cy="4444888"/>
          </a:xfrm>
        </p:spPr>
      </p:pic>
      <p:sp>
        <p:nvSpPr>
          <p:cNvPr id="7" name="TextBox 6">
            <a:extLst>
              <a:ext uri="{FF2B5EF4-FFF2-40B4-BE49-F238E27FC236}">
                <a16:creationId xmlns:a16="http://schemas.microsoft.com/office/drawing/2014/main" id="{AF0074A9-55CC-B9D9-AB84-C1DA59290CAC}"/>
              </a:ext>
            </a:extLst>
          </p:cNvPr>
          <p:cNvSpPr txBox="1"/>
          <p:nvPr/>
        </p:nvSpPr>
        <p:spPr>
          <a:xfrm>
            <a:off x="357188" y="3127713"/>
            <a:ext cx="6100762" cy="2031325"/>
          </a:xfrm>
          <a:prstGeom prst="rect">
            <a:avLst/>
          </a:prstGeom>
          <a:noFill/>
        </p:spPr>
        <p:txBody>
          <a:bodyPr wrap="square">
            <a:spAutoFit/>
          </a:bodyPr>
          <a:lstStyle/>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plt.hist</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A31515"/>
                </a:solidFill>
                <a:latin typeface="Consolas" panose="020B0609020204030204" pitchFamily="49" charset="0"/>
                <a:ea typeface="Times New Roman" panose="02020603050405020304" pitchFamily="18" charset="0"/>
                <a:cs typeface="Courier New" panose="02070309020205020404" pitchFamily="49" charset="0"/>
              </a:rPr>
              <a:t>”price</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bins=</a:t>
            </a:r>
            <a:r>
              <a:rPr lang="en-US" sz="1800" dirty="0">
                <a:solidFill>
                  <a:srgbClr val="006666"/>
                </a:solidFill>
                <a:latin typeface="Consolas" panose="020B0609020204030204" pitchFamily="49" charset="0"/>
                <a:ea typeface="Times New Roman" panose="02020603050405020304" pitchFamily="18" charset="0"/>
                <a:cs typeface="Courier New" panose="02070309020205020404" pitchFamily="49" charset="0"/>
              </a:rPr>
              <a:t>10</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color=</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err="1">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skyblue</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edgecolor</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'black'</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plt.title</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"Distribution of Car </a:t>
            </a:r>
            <a:r>
              <a:rPr lang="en-US" dirty="0">
                <a:solidFill>
                  <a:srgbClr val="A31515"/>
                </a:solidFill>
                <a:latin typeface="Consolas" panose="020B0609020204030204" pitchFamily="49" charset="0"/>
                <a:ea typeface="Times New Roman" panose="02020603050405020304" pitchFamily="18" charset="0"/>
                <a:cs typeface="Courier New" panose="02070309020205020404" pitchFamily="49" charset="0"/>
              </a:rPr>
              <a:t>Prices</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plt.xlabel</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A31515"/>
                </a:solidFill>
                <a:latin typeface="Consolas" panose="020B0609020204030204" pitchFamily="49" charset="0"/>
                <a:ea typeface="Times New Roman" panose="02020603050405020304" pitchFamily="18" charset="0"/>
                <a:cs typeface="Courier New" panose="02070309020205020404" pitchFamily="49" charset="0"/>
              </a:rPr>
              <a:t>"Car Price</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dirty="0">
                <a:solidFill>
                  <a:srgbClr val="A31515"/>
                </a:solidFill>
                <a:latin typeface="Consolas" panose="020B0609020204030204" pitchFamily="49" charset="0"/>
                <a:ea typeface="Times New Roman" panose="02020603050405020304" pitchFamily="18" charset="0"/>
                <a:cs typeface="Courier New" panose="02070309020205020404" pitchFamily="49" charset="0"/>
              </a:rPr>
              <a:t>Dollar</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plt.ylabel</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"Number of Cars"</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plt.show</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a:p>
            <a:pPr marL="0" marR="0">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US" sz="3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508470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6F13D-17CF-DC10-CEC1-630FE06285E1}"/>
              </a:ext>
            </a:extLst>
          </p:cNvPr>
          <p:cNvSpPr>
            <a:spLocks noGrp="1"/>
          </p:cNvSpPr>
          <p:nvPr>
            <p:ph type="title"/>
          </p:nvPr>
        </p:nvSpPr>
        <p:spPr/>
        <p:txBody>
          <a:bodyPr/>
          <a:lstStyle/>
          <a:p>
            <a:r>
              <a:rPr lang="en-US" dirty="0"/>
              <a:t>Step 5: Visualization</a:t>
            </a:r>
          </a:p>
        </p:txBody>
      </p:sp>
      <p:sp>
        <p:nvSpPr>
          <p:cNvPr id="3" name="Content Placeholder 2">
            <a:extLst>
              <a:ext uri="{FF2B5EF4-FFF2-40B4-BE49-F238E27FC236}">
                <a16:creationId xmlns:a16="http://schemas.microsoft.com/office/drawing/2014/main" id="{7CA62E32-E11B-A540-AF9B-FDAF4EDB0B60}"/>
              </a:ext>
            </a:extLst>
          </p:cNvPr>
          <p:cNvSpPr>
            <a:spLocks noGrp="1"/>
          </p:cNvSpPr>
          <p:nvPr>
            <p:ph idx="1"/>
          </p:nvPr>
        </p:nvSpPr>
        <p:spPr/>
        <p:txBody>
          <a:bodyPr/>
          <a:lstStyle/>
          <a:p>
            <a:r>
              <a:rPr lang="en-US" dirty="0"/>
              <a:t>Question: What percent of cars are produced abroad?</a:t>
            </a:r>
          </a:p>
          <a:p>
            <a:r>
              <a:rPr lang="en-US" dirty="0"/>
              <a:t>For categorical data,  it shows rectangular bars with heights or lengths proportional to the values that they represent.</a:t>
            </a:r>
          </a:p>
          <a:p>
            <a:endParaRPr lang="en-US" dirty="0"/>
          </a:p>
        </p:txBody>
      </p:sp>
    </p:spTree>
    <p:extLst>
      <p:ext uri="{BB962C8B-B14F-4D97-AF65-F5344CB8AC3E}">
        <p14:creationId xmlns:p14="http://schemas.microsoft.com/office/powerpoint/2010/main" val="4676750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85392-18FF-8B25-7F05-86DB4E621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922EFB-ACD0-03EE-F888-996F8B4C9946}"/>
              </a:ext>
            </a:extLst>
          </p:cNvPr>
          <p:cNvSpPr>
            <a:spLocks noGrp="1"/>
          </p:cNvSpPr>
          <p:nvPr>
            <p:ph type="title"/>
          </p:nvPr>
        </p:nvSpPr>
        <p:spPr/>
        <p:txBody>
          <a:bodyPr/>
          <a:lstStyle/>
          <a:p>
            <a:r>
              <a:rPr lang="en-US" dirty="0"/>
              <a:t>Bar Chart in Python</a:t>
            </a:r>
          </a:p>
        </p:txBody>
      </p:sp>
      <p:pic>
        <p:nvPicPr>
          <p:cNvPr id="19" name="Picture 18" descr="A computer code with text  AI-generated content may be incorrect.">
            <a:extLst>
              <a:ext uri="{FF2B5EF4-FFF2-40B4-BE49-F238E27FC236}">
                <a16:creationId xmlns:a16="http://schemas.microsoft.com/office/drawing/2014/main" id="{6CE0B365-5F55-B7D5-B357-0BDB2E5DFEA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23874" y="2255700"/>
            <a:ext cx="7291389" cy="2201376"/>
          </a:xfrm>
          <a:prstGeom prst="rect">
            <a:avLst/>
          </a:prstGeom>
        </p:spPr>
      </p:pic>
      <p:pic>
        <p:nvPicPr>
          <p:cNvPr id="6" name="Picture 5">
            <a:extLst>
              <a:ext uri="{FF2B5EF4-FFF2-40B4-BE49-F238E27FC236}">
                <a16:creationId xmlns:a16="http://schemas.microsoft.com/office/drawing/2014/main" id="{93297BD8-B7D9-81E8-0BF9-792215CD6DB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043738" y="3088902"/>
            <a:ext cx="4881563" cy="3769098"/>
          </a:xfrm>
          <a:prstGeom prst="rect">
            <a:avLst/>
          </a:prstGeom>
        </p:spPr>
      </p:pic>
    </p:spTree>
    <p:extLst>
      <p:ext uri="{BB962C8B-B14F-4D97-AF65-F5344CB8AC3E}">
        <p14:creationId xmlns:p14="http://schemas.microsoft.com/office/powerpoint/2010/main" val="283366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90D35-CF16-1F67-83F8-871CD7159079}"/>
              </a:ext>
            </a:extLst>
          </p:cNvPr>
          <p:cNvSpPr>
            <a:spLocks noGrp="1"/>
          </p:cNvSpPr>
          <p:nvPr>
            <p:ph type="title"/>
          </p:nvPr>
        </p:nvSpPr>
        <p:spPr/>
        <p:txBody>
          <a:bodyPr/>
          <a:lstStyle/>
          <a:p>
            <a:r>
              <a:rPr lang="en-US" dirty="0"/>
              <a:t>Bar Chart in Python</a:t>
            </a:r>
          </a:p>
        </p:txBody>
      </p:sp>
      <p:pic>
        <p:nvPicPr>
          <p:cNvPr id="9" name="Picture 8" descr="A computer code with text  AI-generated content may be incorrect.">
            <a:extLst>
              <a:ext uri="{FF2B5EF4-FFF2-40B4-BE49-F238E27FC236}">
                <a16:creationId xmlns:a16="http://schemas.microsoft.com/office/drawing/2014/main" id="{31390A2C-92CF-0D20-066F-FE8DDD3E3A5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066925" y="3260038"/>
            <a:ext cx="7772400" cy="2346600"/>
          </a:xfrm>
          <a:prstGeom prst="rect">
            <a:avLst/>
          </a:prstGeom>
        </p:spPr>
      </p:pic>
      <p:sp>
        <p:nvSpPr>
          <p:cNvPr id="10" name="Oval 9">
            <a:extLst>
              <a:ext uri="{FF2B5EF4-FFF2-40B4-BE49-F238E27FC236}">
                <a16:creationId xmlns:a16="http://schemas.microsoft.com/office/drawing/2014/main" id="{88556FD8-B713-8246-2A28-FC584928BD34}"/>
              </a:ext>
            </a:extLst>
          </p:cNvPr>
          <p:cNvSpPr/>
          <p:nvPr/>
        </p:nvSpPr>
        <p:spPr>
          <a:xfrm>
            <a:off x="5700713" y="3260038"/>
            <a:ext cx="2100262" cy="340412"/>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0131AA73-5B8F-B720-D115-08AAA94ABFCF}"/>
              </a:ext>
            </a:extLst>
          </p:cNvPr>
          <p:cNvCxnSpPr>
            <a:cxnSpLocks/>
            <a:stCxn id="10" idx="0"/>
            <a:endCxn id="13" idx="2"/>
          </p:cNvCxnSpPr>
          <p:nvPr/>
        </p:nvCxnSpPr>
        <p:spPr>
          <a:xfrm flipV="1">
            <a:off x="6750844" y="2657684"/>
            <a:ext cx="1271229" cy="6023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B692B77F-5623-3064-7B76-7FAF04D46F58}"/>
              </a:ext>
            </a:extLst>
          </p:cNvPr>
          <p:cNvSpPr txBox="1"/>
          <p:nvPr/>
        </p:nvSpPr>
        <p:spPr>
          <a:xfrm>
            <a:off x="6529388" y="2288352"/>
            <a:ext cx="2985369"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Creates the frequency table </a:t>
            </a:r>
          </a:p>
        </p:txBody>
      </p:sp>
      <p:sp>
        <p:nvSpPr>
          <p:cNvPr id="15" name="TextBox 14">
            <a:extLst>
              <a:ext uri="{FF2B5EF4-FFF2-40B4-BE49-F238E27FC236}">
                <a16:creationId xmlns:a16="http://schemas.microsoft.com/office/drawing/2014/main" id="{BF171000-5D41-0B40-F879-459662E7173B}"/>
              </a:ext>
            </a:extLst>
          </p:cNvPr>
          <p:cNvSpPr txBox="1"/>
          <p:nvPr/>
        </p:nvSpPr>
        <p:spPr>
          <a:xfrm>
            <a:off x="3519375" y="2288352"/>
            <a:ext cx="1932857"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Selects the specific variable</a:t>
            </a:r>
          </a:p>
        </p:txBody>
      </p:sp>
      <p:sp>
        <p:nvSpPr>
          <p:cNvPr id="16" name="Oval 15">
            <a:extLst>
              <a:ext uri="{FF2B5EF4-FFF2-40B4-BE49-F238E27FC236}">
                <a16:creationId xmlns:a16="http://schemas.microsoft.com/office/drawing/2014/main" id="{686D0DA5-4E78-9102-A5D7-2E32307B318E}"/>
              </a:ext>
            </a:extLst>
          </p:cNvPr>
          <p:cNvSpPr/>
          <p:nvPr/>
        </p:nvSpPr>
        <p:spPr>
          <a:xfrm>
            <a:off x="3662363" y="3257551"/>
            <a:ext cx="2100262" cy="340412"/>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937BCDBB-BCAA-AE0D-74EF-E345F1104FF9}"/>
              </a:ext>
            </a:extLst>
          </p:cNvPr>
          <p:cNvCxnSpPr>
            <a:stCxn id="16" idx="0"/>
            <a:endCxn id="15" idx="2"/>
          </p:cNvCxnSpPr>
          <p:nvPr/>
        </p:nvCxnSpPr>
        <p:spPr>
          <a:xfrm flipH="1" flipV="1">
            <a:off x="4485804" y="2934683"/>
            <a:ext cx="226690" cy="3228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Oval 18">
            <a:extLst>
              <a:ext uri="{FF2B5EF4-FFF2-40B4-BE49-F238E27FC236}">
                <a16:creationId xmlns:a16="http://schemas.microsoft.com/office/drawing/2014/main" id="{D1719685-77CD-4264-8FB0-E73FC9BF12B6}"/>
              </a:ext>
            </a:extLst>
          </p:cNvPr>
          <p:cNvSpPr/>
          <p:nvPr/>
        </p:nvSpPr>
        <p:spPr>
          <a:xfrm>
            <a:off x="3128956" y="3581405"/>
            <a:ext cx="3914781" cy="339426"/>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0" name="TextBox 19">
            <a:extLst>
              <a:ext uri="{FF2B5EF4-FFF2-40B4-BE49-F238E27FC236}">
                <a16:creationId xmlns:a16="http://schemas.microsoft.com/office/drawing/2014/main" id="{40B47EA0-728B-278A-CB5C-4EE15224EDCB}"/>
              </a:ext>
            </a:extLst>
          </p:cNvPr>
          <p:cNvSpPr txBox="1"/>
          <p:nvPr/>
        </p:nvSpPr>
        <p:spPr>
          <a:xfrm>
            <a:off x="1028700" y="6000750"/>
            <a:ext cx="3387851"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Provides the values on the x-axis</a:t>
            </a:r>
          </a:p>
        </p:txBody>
      </p:sp>
      <p:cxnSp>
        <p:nvCxnSpPr>
          <p:cNvPr id="22" name="Straight Arrow Connector 21">
            <a:extLst>
              <a:ext uri="{FF2B5EF4-FFF2-40B4-BE49-F238E27FC236}">
                <a16:creationId xmlns:a16="http://schemas.microsoft.com/office/drawing/2014/main" id="{C0E299AE-E50B-A435-C72D-99F5CF46EA9A}"/>
              </a:ext>
            </a:extLst>
          </p:cNvPr>
          <p:cNvCxnSpPr>
            <a:stCxn id="19" idx="4"/>
            <a:endCxn id="20" idx="0"/>
          </p:cNvCxnSpPr>
          <p:nvPr/>
        </p:nvCxnSpPr>
        <p:spPr>
          <a:xfrm flipH="1">
            <a:off x="2722626" y="3920831"/>
            <a:ext cx="2363721" cy="20799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D72E5780-BCBC-F568-7DE2-19D8125CCCB9}"/>
              </a:ext>
            </a:extLst>
          </p:cNvPr>
          <p:cNvSpPr txBox="1"/>
          <p:nvPr/>
        </p:nvSpPr>
        <p:spPr>
          <a:xfrm>
            <a:off x="6328146" y="6000750"/>
            <a:ext cx="3387851"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Provides the values on the y-axis</a:t>
            </a:r>
          </a:p>
        </p:txBody>
      </p:sp>
      <p:sp>
        <p:nvSpPr>
          <p:cNvPr id="24" name="Oval 23">
            <a:extLst>
              <a:ext uri="{FF2B5EF4-FFF2-40B4-BE49-F238E27FC236}">
                <a16:creationId xmlns:a16="http://schemas.microsoft.com/office/drawing/2014/main" id="{87AED0C8-B24B-EBB5-7878-A136CE5ACFA0}"/>
              </a:ext>
            </a:extLst>
          </p:cNvPr>
          <p:cNvSpPr/>
          <p:nvPr/>
        </p:nvSpPr>
        <p:spPr>
          <a:xfrm>
            <a:off x="7253299" y="3569603"/>
            <a:ext cx="2462697" cy="351227"/>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894014F5-CB8C-28FE-5D8C-63C14940A6E8}"/>
              </a:ext>
            </a:extLst>
          </p:cNvPr>
          <p:cNvCxnSpPr>
            <a:stCxn id="24" idx="4"/>
            <a:endCxn id="23" idx="0"/>
          </p:cNvCxnSpPr>
          <p:nvPr/>
        </p:nvCxnSpPr>
        <p:spPr>
          <a:xfrm flipH="1">
            <a:off x="8022072" y="3920830"/>
            <a:ext cx="462576" cy="20799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Left Brace 26">
            <a:extLst>
              <a:ext uri="{FF2B5EF4-FFF2-40B4-BE49-F238E27FC236}">
                <a16:creationId xmlns:a16="http://schemas.microsoft.com/office/drawing/2014/main" id="{7ABB8146-D8AD-C358-5A5F-6BC8E08610E7}"/>
              </a:ext>
            </a:extLst>
          </p:cNvPr>
          <p:cNvSpPr/>
          <p:nvPr/>
        </p:nvSpPr>
        <p:spPr>
          <a:xfrm>
            <a:off x="1657351" y="4200525"/>
            <a:ext cx="455294" cy="95726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8" name="TextBox 27">
            <a:extLst>
              <a:ext uri="{FF2B5EF4-FFF2-40B4-BE49-F238E27FC236}">
                <a16:creationId xmlns:a16="http://schemas.microsoft.com/office/drawing/2014/main" id="{CB475AC2-E2F6-5EB4-1B7A-B93625F6D2CB}"/>
              </a:ext>
            </a:extLst>
          </p:cNvPr>
          <p:cNvSpPr txBox="1"/>
          <p:nvPr/>
        </p:nvSpPr>
        <p:spPr>
          <a:xfrm>
            <a:off x="150928" y="4355990"/>
            <a:ext cx="1426830"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Title and axis labels</a:t>
            </a:r>
          </a:p>
        </p:txBody>
      </p:sp>
      <p:sp>
        <p:nvSpPr>
          <p:cNvPr id="31" name="Oval 30">
            <a:extLst>
              <a:ext uri="{FF2B5EF4-FFF2-40B4-BE49-F238E27FC236}">
                <a16:creationId xmlns:a16="http://schemas.microsoft.com/office/drawing/2014/main" id="{B3AAEFE1-7E2D-1B4B-5AE8-52BAFEA7E1A4}"/>
              </a:ext>
            </a:extLst>
          </p:cNvPr>
          <p:cNvSpPr/>
          <p:nvPr/>
        </p:nvSpPr>
        <p:spPr>
          <a:xfrm>
            <a:off x="1762134" y="5150308"/>
            <a:ext cx="1900229" cy="351227"/>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32" name="TextBox 31">
            <a:extLst>
              <a:ext uri="{FF2B5EF4-FFF2-40B4-BE49-F238E27FC236}">
                <a16:creationId xmlns:a16="http://schemas.microsoft.com/office/drawing/2014/main" id="{A91B0BD4-ADD4-CFAA-3E0B-FB32C81CDE9A}"/>
              </a:ext>
            </a:extLst>
          </p:cNvPr>
          <p:cNvSpPr txBox="1"/>
          <p:nvPr/>
        </p:nvSpPr>
        <p:spPr>
          <a:xfrm>
            <a:off x="4496920" y="5172923"/>
            <a:ext cx="1568122"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Prints the plot</a:t>
            </a:r>
          </a:p>
        </p:txBody>
      </p:sp>
      <p:cxnSp>
        <p:nvCxnSpPr>
          <p:cNvPr id="34" name="Straight Arrow Connector 33">
            <a:extLst>
              <a:ext uri="{FF2B5EF4-FFF2-40B4-BE49-F238E27FC236}">
                <a16:creationId xmlns:a16="http://schemas.microsoft.com/office/drawing/2014/main" id="{BA03F81C-D8CD-E185-D4C3-CC15CC55F9DA}"/>
              </a:ext>
            </a:extLst>
          </p:cNvPr>
          <p:cNvCxnSpPr>
            <a:endCxn id="32" idx="1"/>
          </p:cNvCxnSpPr>
          <p:nvPr/>
        </p:nvCxnSpPr>
        <p:spPr>
          <a:xfrm>
            <a:off x="3662363" y="5325921"/>
            <a:ext cx="834557" cy="316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32945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41E5E-C020-6312-D25C-74C287B5B030}"/>
              </a:ext>
            </a:extLst>
          </p:cNvPr>
          <p:cNvSpPr>
            <a:spLocks noGrp="1"/>
          </p:cNvSpPr>
          <p:nvPr>
            <p:ph type="title"/>
          </p:nvPr>
        </p:nvSpPr>
        <p:spPr/>
        <p:txBody>
          <a:bodyPr/>
          <a:lstStyle/>
          <a:p>
            <a:r>
              <a:rPr lang="en-US" dirty="0"/>
              <a:t>Your turn</a:t>
            </a:r>
          </a:p>
        </p:txBody>
      </p:sp>
      <p:sp>
        <p:nvSpPr>
          <p:cNvPr id="3" name="Content Placeholder 2">
            <a:extLst>
              <a:ext uri="{FF2B5EF4-FFF2-40B4-BE49-F238E27FC236}">
                <a16:creationId xmlns:a16="http://schemas.microsoft.com/office/drawing/2014/main" id="{41FD1A47-7547-1F17-14CE-F6A7F8C3868D}"/>
              </a:ext>
            </a:extLst>
          </p:cNvPr>
          <p:cNvSpPr>
            <a:spLocks noGrp="1"/>
          </p:cNvSpPr>
          <p:nvPr>
            <p:ph idx="1"/>
          </p:nvPr>
        </p:nvSpPr>
        <p:spPr/>
        <p:txBody>
          <a:bodyPr/>
          <a:lstStyle/>
          <a:p>
            <a:r>
              <a:rPr lang="en-US" dirty="0"/>
              <a:t>This time, let’s draw a histogram for the car prices.</a:t>
            </a:r>
          </a:p>
          <a:p>
            <a:r>
              <a:rPr lang="en-US" dirty="0"/>
              <a:t>Which variable we should use? – “price”</a:t>
            </a:r>
          </a:p>
          <a:p>
            <a:r>
              <a:rPr lang="en-US" dirty="0"/>
              <a:t>Which function we should use? – </a:t>
            </a:r>
            <a:r>
              <a:rPr lang="en-US" dirty="0" err="1">
                <a:solidFill>
                  <a:srgbClr val="000000"/>
                </a:solidFill>
                <a:latin typeface="Consolas" panose="020B0609020204030204" pitchFamily="49" charset="0"/>
                <a:ea typeface="Times New Roman" panose="02020603050405020304" pitchFamily="18" charset="0"/>
                <a:cs typeface="Courier New" panose="02070309020205020404" pitchFamily="49" charset="0"/>
              </a:rPr>
              <a:t>plt.hist</a:t>
            </a:r>
            <a:r>
              <a:rPr lang="en-US"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endParaRPr lang="en-US" dirty="0"/>
          </a:p>
        </p:txBody>
      </p:sp>
      <p:sp>
        <p:nvSpPr>
          <p:cNvPr id="5" name="TextBox 4">
            <a:extLst>
              <a:ext uri="{FF2B5EF4-FFF2-40B4-BE49-F238E27FC236}">
                <a16:creationId xmlns:a16="http://schemas.microsoft.com/office/drawing/2014/main" id="{139191FF-E35C-3A05-59B0-7076A7D809B0}"/>
              </a:ext>
            </a:extLst>
          </p:cNvPr>
          <p:cNvSpPr txBox="1"/>
          <p:nvPr/>
        </p:nvSpPr>
        <p:spPr>
          <a:xfrm>
            <a:off x="2143127" y="4180344"/>
            <a:ext cx="8186736" cy="2677656"/>
          </a:xfrm>
          <a:prstGeom prst="rect">
            <a:avLst/>
          </a:prstGeom>
          <a:noFill/>
        </p:spPr>
        <p:txBody>
          <a:bodyPr wrap="square">
            <a:spAutoFit/>
          </a:bodyPr>
          <a:lstStyle/>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plt.hist</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a:solidFill>
                  <a:srgbClr val="A31515"/>
                </a:solidFill>
                <a:latin typeface="Consolas" panose="020B0609020204030204" pitchFamily="49" charset="0"/>
                <a:ea typeface="Times New Roman" panose="02020603050405020304" pitchFamily="18" charset="0"/>
                <a:cs typeface="Courier New" panose="02070309020205020404" pitchFamily="49" charset="0"/>
              </a:rPr>
              <a:t>"price</a:t>
            </a:r>
            <a:r>
              <a:rPr lang="en-US" sz="24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bins=</a:t>
            </a:r>
            <a:r>
              <a:rPr lang="en-US" sz="2400" dirty="0">
                <a:solidFill>
                  <a:srgbClr val="006666"/>
                </a:solidFill>
                <a:effectLst/>
                <a:latin typeface="Consolas" panose="020B0609020204030204" pitchFamily="49" charset="0"/>
                <a:ea typeface="Times New Roman" panose="02020603050405020304" pitchFamily="18" charset="0"/>
                <a:cs typeface="Courier New" panose="02070309020205020404" pitchFamily="49" charset="0"/>
              </a:rPr>
              <a:t>8</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color=</a:t>
            </a:r>
            <a:r>
              <a:rPr lang="en-US" sz="24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err="1">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skyblue</a:t>
            </a:r>
            <a:r>
              <a:rPr lang="en-US" sz="24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edgecolor</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'black'</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40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plt.title</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"Distribution of Car Prices"</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4000" dirty="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plt.xlabel</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a:solidFill>
                  <a:srgbClr val="A31515"/>
                </a:solidFill>
                <a:latin typeface="Consolas" panose="020B0609020204030204" pitchFamily="49" charset="0"/>
                <a:ea typeface="Times New Roman" panose="02020603050405020304" pitchFamily="18" charset="0"/>
                <a:cs typeface="Courier New" panose="02070309020205020404" pitchFamily="49" charset="0"/>
              </a:rPr>
              <a:t>"Car </a:t>
            </a:r>
            <a:r>
              <a:rPr lang="en-US" sz="24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Price (Dollar) "</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40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plt.ylabel</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"Number of Cars"</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40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plt.show</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4000" dirty="0">
              <a:effectLst/>
              <a:latin typeface="Times New Roman" panose="02020603050405020304" pitchFamily="18" charset="0"/>
              <a:ea typeface="Times New Roman" panose="02020603050405020304" pitchFamily="18" charset="0"/>
            </a:endParaRPr>
          </a:p>
          <a:p>
            <a:pPr marL="0" marR="0">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US" sz="4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262879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630DE-9561-FBA5-DE4D-01E9216D906F}"/>
              </a:ext>
            </a:extLst>
          </p:cNvPr>
          <p:cNvSpPr>
            <a:spLocks noGrp="1"/>
          </p:cNvSpPr>
          <p:nvPr>
            <p:ph type="title"/>
          </p:nvPr>
        </p:nvSpPr>
        <p:spPr/>
        <p:txBody>
          <a:bodyPr/>
          <a:lstStyle/>
          <a:p>
            <a:r>
              <a:rPr lang="en-US" dirty="0"/>
              <a:t>Let’s exercise</a:t>
            </a:r>
          </a:p>
        </p:txBody>
      </p:sp>
      <p:sp>
        <p:nvSpPr>
          <p:cNvPr id="3" name="Content Placeholder 2">
            <a:extLst>
              <a:ext uri="{FF2B5EF4-FFF2-40B4-BE49-F238E27FC236}">
                <a16:creationId xmlns:a16="http://schemas.microsoft.com/office/drawing/2014/main" id="{841203E1-FAAF-15E2-C68D-09BEACE7E03A}"/>
              </a:ext>
            </a:extLst>
          </p:cNvPr>
          <p:cNvSpPr>
            <a:spLocks noGrp="1"/>
          </p:cNvSpPr>
          <p:nvPr>
            <p:ph idx="1"/>
          </p:nvPr>
        </p:nvSpPr>
        <p:spPr/>
        <p:txBody>
          <a:bodyPr/>
          <a:lstStyle/>
          <a:p>
            <a:r>
              <a:rPr lang="en-US" dirty="0"/>
              <a:t>Before plotting, formulate a hypothesis: what direction do you expect? What physics principle explains it? After plotting: describe direction, form (linear/curved?), strength, and any outliers.</a:t>
            </a:r>
          </a:p>
          <a:p>
            <a:r>
              <a:rPr lang="en-US" dirty="0"/>
              <a:t>Let’s get a scatterplot.</a:t>
            </a:r>
          </a:p>
          <a:p>
            <a:r>
              <a:rPr lang="en-US" dirty="0"/>
              <a:t>Hint: use </a:t>
            </a:r>
            <a:r>
              <a:rPr lang="en-US" i="1" dirty="0" err="1"/>
              <a:t>plt.scatter</a:t>
            </a:r>
            <a:r>
              <a:rPr lang="en-US" i="1" dirty="0"/>
              <a:t>(x, y)</a:t>
            </a:r>
            <a:r>
              <a:rPr lang="en-US" dirty="0"/>
              <a:t> or </a:t>
            </a:r>
            <a:r>
              <a:rPr lang="en-US" dirty="0" err="1"/>
              <a:t>sns.scatterplot</a:t>
            </a:r>
            <a:r>
              <a:rPr lang="en-US" dirty="0"/>
              <a:t>(x=, y=, data=)</a:t>
            </a:r>
          </a:p>
        </p:txBody>
      </p:sp>
      <p:pic>
        <p:nvPicPr>
          <p:cNvPr id="4" name="Picture 3">
            <a:extLst>
              <a:ext uri="{FF2B5EF4-FFF2-40B4-BE49-F238E27FC236}">
                <a16:creationId xmlns:a16="http://schemas.microsoft.com/office/drawing/2014/main" id="{2B0D2A3F-44BE-0126-B964-D91420991AA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286626" y="4078772"/>
            <a:ext cx="3644816" cy="2429877"/>
          </a:xfrm>
          <a:prstGeom prst="rect">
            <a:avLst/>
          </a:prstGeom>
        </p:spPr>
      </p:pic>
    </p:spTree>
    <p:extLst>
      <p:ext uri="{BB962C8B-B14F-4D97-AF65-F5344CB8AC3E}">
        <p14:creationId xmlns:p14="http://schemas.microsoft.com/office/powerpoint/2010/main" val="42707856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01F58-A5D5-B17B-71AE-43013C235AE1}"/>
              </a:ext>
            </a:extLst>
          </p:cNvPr>
          <p:cNvSpPr>
            <a:spLocks noGrp="1"/>
          </p:cNvSpPr>
          <p:nvPr>
            <p:ph type="title"/>
          </p:nvPr>
        </p:nvSpPr>
        <p:spPr/>
        <p:txBody>
          <a:bodyPr/>
          <a:lstStyle/>
          <a:p>
            <a:r>
              <a:rPr lang="en-US" dirty="0"/>
              <a:t>Let’s exercise</a:t>
            </a:r>
          </a:p>
        </p:txBody>
      </p:sp>
      <p:pic>
        <p:nvPicPr>
          <p:cNvPr id="11" name="Content Placeholder 10">
            <a:extLst>
              <a:ext uri="{FF2B5EF4-FFF2-40B4-BE49-F238E27FC236}">
                <a16:creationId xmlns:a16="http://schemas.microsoft.com/office/drawing/2014/main" id="{F751C8AB-901E-B48F-4584-8DAA8AD2FC20}"/>
              </a:ext>
            </a:extLst>
          </p:cNvPr>
          <p:cNvPicPr>
            <a:picLocks noGrp="1" noChangeAspect="1"/>
          </p:cNvPicPr>
          <p:nvPr>
            <p:ph idx="1"/>
          </p:nvPr>
        </p:nvPicPr>
        <p:blipFill>
          <a:blip r:embed="rId3" cstate="screen">
            <a:extLst>
              <a:ext uri="{28A0092B-C50C-407E-A947-70E740481C1C}">
                <a14:useLocalDpi xmlns:a14="http://schemas.microsoft.com/office/drawing/2010/main"/>
              </a:ext>
            </a:extLst>
          </a:blip>
          <a:stretch>
            <a:fillRect/>
          </a:stretch>
        </p:blipFill>
        <p:spPr>
          <a:xfrm>
            <a:off x="0" y="2710543"/>
            <a:ext cx="12124836" cy="2677569"/>
          </a:xfrm>
        </p:spPr>
      </p:pic>
    </p:spTree>
    <p:extLst>
      <p:ext uri="{BB962C8B-B14F-4D97-AF65-F5344CB8AC3E}">
        <p14:creationId xmlns:p14="http://schemas.microsoft.com/office/powerpoint/2010/main" val="31495982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264C8-568A-E695-6C78-31E6D4449C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9DC36E-5EB6-BEE6-6AF2-D1253741F3FD}"/>
              </a:ext>
            </a:extLst>
          </p:cNvPr>
          <p:cNvSpPr>
            <a:spLocks noGrp="1"/>
          </p:cNvSpPr>
          <p:nvPr>
            <p:ph type="title"/>
          </p:nvPr>
        </p:nvSpPr>
        <p:spPr/>
        <p:txBody>
          <a:bodyPr/>
          <a:lstStyle/>
          <a:p>
            <a:r>
              <a:rPr lang="en-US" dirty="0"/>
              <a:t>Let’s exercise</a:t>
            </a:r>
          </a:p>
        </p:txBody>
      </p:sp>
      <p:pic>
        <p:nvPicPr>
          <p:cNvPr id="6" name="Content Placeholder 5" descr="A graph with blue dots  AI-generated content may be incorrect.">
            <a:extLst>
              <a:ext uri="{FF2B5EF4-FFF2-40B4-BE49-F238E27FC236}">
                <a16:creationId xmlns:a16="http://schemas.microsoft.com/office/drawing/2014/main" id="{25A31317-9095-D8FA-CF7C-EABC30C1D710}"/>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6096000" y="2019573"/>
            <a:ext cx="5553075" cy="4501980"/>
          </a:xfrm>
        </p:spPr>
      </p:pic>
      <p:sp>
        <p:nvSpPr>
          <p:cNvPr id="7" name="TextBox 6">
            <a:extLst>
              <a:ext uri="{FF2B5EF4-FFF2-40B4-BE49-F238E27FC236}">
                <a16:creationId xmlns:a16="http://schemas.microsoft.com/office/drawing/2014/main" id="{B66DEC11-EC45-33B2-58D0-8131F60DD99D}"/>
              </a:ext>
            </a:extLst>
          </p:cNvPr>
          <p:cNvSpPr txBox="1"/>
          <p:nvPr/>
        </p:nvSpPr>
        <p:spPr>
          <a:xfrm>
            <a:off x="838200" y="2254626"/>
            <a:ext cx="4610804" cy="4031873"/>
          </a:xfrm>
          <a:prstGeom prst="rect">
            <a:avLst/>
          </a:prstGeom>
          <a:noFill/>
        </p:spPr>
        <p:txBody>
          <a:bodyPr wrap="square" rtlCol="0">
            <a:spAutoFit/>
          </a:bodyPr>
          <a:lstStyle/>
          <a:p>
            <a:r>
              <a:rPr lang="en-US" sz="3200" dirty="0"/>
              <a:t>Interpretation: As car weight increases, miles per gallon (MPG) generally decreases, indicating that heavier cars tend to be less fuel efficient.</a:t>
            </a:r>
          </a:p>
          <a:p>
            <a:endParaRPr lang="en-US" sz="3200" dirty="0"/>
          </a:p>
        </p:txBody>
      </p:sp>
    </p:spTree>
    <p:extLst>
      <p:ext uri="{BB962C8B-B14F-4D97-AF65-F5344CB8AC3E}">
        <p14:creationId xmlns:p14="http://schemas.microsoft.com/office/powerpoint/2010/main" val="16801803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44B14-CEA4-D385-57D1-0957205E6BEA}"/>
              </a:ext>
            </a:extLst>
          </p:cNvPr>
          <p:cNvSpPr>
            <a:spLocks noGrp="1"/>
          </p:cNvSpPr>
          <p:nvPr>
            <p:ph type="title"/>
          </p:nvPr>
        </p:nvSpPr>
        <p:spPr/>
        <p:txBody>
          <a:bodyPr/>
          <a:lstStyle/>
          <a:p>
            <a:r>
              <a:rPr lang="en-US" dirty="0"/>
              <a:t>Assignment</a:t>
            </a:r>
          </a:p>
        </p:txBody>
      </p:sp>
      <p:sp>
        <p:nvSpPr>
          <p:cNvPr id="3" name="Content Placeholder 2">
            <a:extLst>
              <a:ext uri="{FF2B5EF4-FFF2-40B4-BE49-F238E27FC236}">
                <a16:creationId xmlns:a16="http://schemas.microsoft.com/office/drawing/2014/main" id="{23BDB536-8FAD-E5B6-A3C6-DE3A25CF89C5}"/>
              </a:ext>
            </a:extLst>
          </p:cNvPr>
          <p:cNvSpPr>
            <a:spLocks noGrp="1"/>
          </p:cNvSpPr>
          <p:nvPr>
            <p:ph idx="1"/>
          </p:nvPr>
        </p:nvSpPr>
        <p:spPr/>
        <p:txBody>
          <a:bodyPr>
            <a:normAutofit/>
          </a:bodyPr>
          <a:lstStyle/>
          <a:p>
            <a:r>
              <a:rPr lang="en-US" sz="2400" dirty="0"/>
              <a:t>Dataset Investigation Rubric — for your chosen dataset, complete each step and document your findings: Step 1 — Load with </a:t>
            </a:r>
            <a:r>
              <a:rPr lang="en-US" sz="2400" dirty="0" err="1"/>
              <a:t>pd.read_csv</a:t>
            </a:r>
            <a:r>
              <a:rPr lang="en-US" sz="2400" dirty="0"/>
              <a:t>(), then run:</a:t>
            </a:r>
          </a:p>
          <a:p>
            <a:pPr lvl="1"/>
            <a:r>
              <a:rPr lang="en-US" sz="2000" dirty="0" err="1"/>
              <a:t>df.head</a:t>
            </a:r>
            <a:r>
              <a:rPr lang="en-US" sz="2000" dirty="0"/>
              <a:t>()</a:t>
            </a:r>
          </a:p>
          <a:p>
            <a:pPr lvl="1"/>
            <a:r>
              <a:rPr lang="en-US" sz="2000" dirty="0" err="1"/>
              <a:t>df.describe</a:t>
            </a:r>
            <a:r>
              <a:rPr lang="en-US" sz="2000" dirty="0"/>
              <a:t>()</a:t>
            </a:r>
          </a:p>
          <a:p>
            <a:pPr lvl="1"/>
            <a:r>
              <a:rPr lang="en-US" sz="2000" dirty="0" err="1"/>
              <a:t>df.shape</a:t>
            </a:r>
            <a:endParaRPr lang="en-US" sz="2000" dirty="0"/>
          </a:p>
          <a:p>
            <a:pPr lvl="1"/>
            <a:r>
              <a:rPr lang="en-US" sz="2000" dirty="0"/>
              <a:t>df.info()</a:t>
            </a:r>
          </a:p>
          <a:p>
            <a:r>
              <a:rPr lang="en-US" sz="2400" dirty="0"/>
              <a:t>Step 2 — Type audit: run df.dtypes. Flag any columns that look numerical but should be categorical (e.g., IDs, zip codes). Step 3 — Analysis: for each numerical variable of interest, compute mean, median, std, and IQR. Note where mean and median diverge.</a:t>
            </a:r>
          </a:p>
          <a:p>
            <a:pPr lvl="1"/>
            <a:r>
              <a:rPr lang="en-US" sz="2000" dirty="0"/>
              <a:t>Plot bar charts or histograms.</a:t>
            </a:r>
          </a:p>
          <a:p>
            <a:pPr lvl="1"/>
            <a:r>
              <a:rPr lang="en-US" sz="2000" dirty="0"/>
              <a:t>Calculate the frequencies or average statistics (mean and median).</a:t>
            </a:r>
          </a:p>
          <a:p>
            <a:r>
              <a:rPr lang="en-US" sz="2400" dirty="0"/>
              <a:t>Step 4 — Visualization: at least one histogram (with appropriate bin count), one bar chart for a categorical variable. Step 5 — Interpretation: for each plot, write 2–3 sentences connecting the visual pattern to a statistical concept (skewness, outliers, or mode).</a:t>
            </a:r>
          </a:p>
        </p:txBody>
      </p:sp>
    </p:spTree>
    <p:extLst>
      <p:ext uri="{BB962C8B-B14F-4D97-AF65-F5344CB8AC3E}">
        <p14:creationId xmlns:p14="http://schemas.microsoft.com/office/powerpoint/2010/main" val="4638273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BFFB7-C6FC-5E9C-1EAB-71AE22667BFF}"/>
              </a:ext>
            </a:extLst>
          </p:cNvPr>
          <p:cNvSpPr>
            <a:spLocks noGrp="1"/>
          </p:cNvSpPr>
          <p:nvPr>
            <p:ph type="title"/>
          </p:nvPr>
        </p:nvSpPr>
        <p:spPr/>
        <p:txBody>
          <a:bodyPr/>
          <a:lstStyle/>
          <a:p>
            <a:r>
              <a:rPr lang="en-US" dirty="0"/>
              <a:t>Your Turn!</a:t>
            </a:r>
          </a:p>
        </p:txBody>
      </p:sp>
      <p:sp>
        <p:nvSpPr>
          <p:cNvPr id="3" name="Content Placeholder 2">
            <a:extLst>
              <a:ext uri="{FF2B5EF4-FFF2-40B4-BE49-F238E27FC236}">
                <a16:creationId xmlns:a16="http://schemas.microsoft.com/office/drawing/2014/main" id="{80A398C2-CBBD-6054-2AE8-F77F47B84789}"/>
              </a:ext>
            </a:extLst>
          </p:cNvPr>
          <p:cNvSpPr>
            <a:spLocks noGrp="1"/>
          </p:cNvSpPr>
          <p:nvPr>
            <p:ph idx="1"/>
          </p:nvPr>
        </p:nvSpPr>
        <p:spPr/>
        <p:txBody>
          <a:bodyPr/>
          <a:lstStyle/>
          <a:p>
            <a:r>
              <a:rPr lang="en-US" dirty="0"/>
              <a:t>Compute the median price and compare it to the mean price in Python.</a:t>
            </a:r>
          </a:p>
          <a:p>
            <a:endParaRPr lang="en-US" dirty="0"/>
          </a:p>
        </p:txBody>
      </p:sp>
      <p:pic>
        <p:nvPicPr>
          <p:cNvPr id="4" name="Picture 3">
            <a:extLst>
              <a:ext uri="{FF2B5EF4-FFF2-40B4-BE49-F238E27FC236}">
                <a16:creationId xmlns:a16="http://schemas.microsoft.com/office/drawing/2014/main" id="{42B9E6DF-BE51-0FA7-1AB3-5D557D44331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629525" y="3269908"/>
            <a:ext cx="3340100" cy="3340100"/>
          </a:xfrm>
          <a:prstGeom prst="rect">
            <a:avLst/>
          </a:prstGeom>
        </p:spPr>
      </p:pic>
    </p:spTree>
    <p:extLst>
      <p:ext uri="{BB962C8B-B14F-4D97-AF65-F5344CB8AC3E}">
        <p14:creationId xmlns:p14="http://schemas.microsoft.com/office/powerpoint/2010/main" val="39054461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EA4A4-062C-E034-3BC6-751B4E60C0F1}"/>
              </a:ext>
            </a:extLst>
          </p:cNvPr>
          <p:cNvSpPr>
            <a:spLocks noGrp="1"/>
          </p:cNvSpPr>
          <p:nvPr>
            <p:ph type="title"/>
          </p:nvPr>
        </p:nvSpPr>
        <p:spPr/>
        <p:txBody>
          <a:bodyPr/>
          <a:lstStyle/>
          <a:p>
            <a:r>
              <a:rPr lang="en-US" dirty="0"/>
              <a:t>Your Turn!</a:t>
            </a:r>
          </a:p>
        </p:txBody>
      </p:sp>
      <p:pic>
        <p:nvPicPr>
          <p:cNvPr id="8" name="Content Placeholder 7" descr="A screenshot of a computer code  AI-generated content may be incorrect.">
            <a:extLst>
              <a:ext uri="{FF2B5EF4-FFF2-40B4-BE49-F238E27FC236}">
                <a16:creationId xmlns:a16="http://schemas.microsoft.com/office/drawing/2014/main" id="{4029BB1A-3895-BD12-39B1-67F9A9DEC1E2}"/>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rcRect/>
          <a:stretch>
            <a:fillRect/>
          </a:stretch>
        </p:blipFill>
        <p:spPr>
          <a:xfrm>
            <a:off x="3905387" y="4377013"/>
            <a:ext cx="4381226" cy="826710"/>
          </a:xfrm>
        </p:spPr>
      </p:pic>
      <p:sp>
        <p:nvSpPr>
          <p:cNvPr id="6" name="TextBox 5">
            <a:extLst>
              <a:ext uri="{FF2B5EF4-FFF2-40B4-BE49-F238E27FC236}">
                <a16:creationId xmlns:a16="http://schemas.microsoft.com/office/drawing/2014/main" id="{EE44C0DE-CA26-E465-AEB7-440D367DBAC7}"/>
              </a:ext>
            </a:extLst>
          </p:cNvPr>
          <p:cNvSpPr txBox="1"/>
          <p:nvPr/>
        </p:nvSpPr>
        <p:spPr>
          <a:xfrm>
            <a:off x="838200" y="2496100"/>
            <a:ext cx="7505701" cy="1569660"/>
          </a:xfrm>
          <a:prstGeom prst="rect">
            <a:avLst/>
          </a:prstGeom>
          <a:noFill/>
        </p:spPr>
        <p:txBody>
          <a:bodyPr wrap="square">
            <a:spAutoFit/>
          </a:bodyPr>
          <a:lstStyle/>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avg_price</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 </a:t>
            </a: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a:solidFill>
                  <a:srgbClr val="A31515"/>
                </a:solidFill>
                <a:latin typeface="Consolas" panose="020B0609020204030204" pitchFamily="49" charset="0"/>
                <a:ea typeface="Times New Roman" panose="02020603050405020304" pitchFamily="18" charset="0"/>
                <a:cs typeface="Courier New" panose="02070309020205020404" pitchFamily="49" charset="0"/>
              </a:rPr>
              <a:t>"price</a:t>
            </a:r>
            <a:r>
              <a:rPr lang="en-US" sz="24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].mean()</a:t>
            </a:r>
            <a:endParaRPr lang="en-US" sz="4000" dirty="0">
              <a:effectLst/>
              <a:latin typeface="Times New Roman" panose="02020603050405020304" pitchFamily="18" charset="0"/>
              <a:ea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median_price</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 </a:t>
            </a: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df</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a:solidFill>
                  <a:srgbClr val="A31515"/>
                </a:solidFill>
                <a:latin typeface="Consolas" panose="020B0609020204030204" pitchFamily="49" charset="0"/>
                <a:ea typeface="Times New Roman" panose="02020603050405020304" pitchFamily="18" charset="0"/>
                <a:cs typeface="Courier New" panose="02070309020205020404" pitchFamily="49" charset="0"/>
              </a:rPr>
              <a:t>"price"</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].median()</a:t>
            </a:r>
            <a:endParaRPr lang="en-US" sz="40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print</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f</a:t>
            </a:r>
            <a:r>
              <a:rPr lang="en-US" sz="2400" dirty="0" err="1">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"Average</a:t>
            </a:r>
            <a:r>
              <a:rPr lang="en-US" sz="24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 Price = {avg_price:.2f}"</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4000" dirty="0">
              <a:effectLst/>
              <a:latin typeface="Times New Roman" panose="02020603050405020304" pitchFamily="18" charset="0"/>
              <a:ea typeface="Times New Roman" panose="02020603050405020304" pitchFamily="18" charset="0"/>
            </a:endParaRPr>
          </a:p>
          <a:p>
            <a:pPr marL="0" marR="0">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print</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f</a:t>
            </a:r>
            <a:r>
              <a:rPr lang="en-US" sz="2400" dirty="0" err="1">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"Median</a:t>
            </a:r>
            <a:r>
              <a:rPr lang="en-US" sz="24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400" dirty="0">
                <a:solidFill>
                  <a:srgbClr val="A31515"/>
                </a:solidFill>
                <a:latin typeface="Consolas" panose="020B0609020204030204" pitchFamily="49" charset="0"/>
                <a:ea typeface="Times New Roman" panose="02020603050405020304" pitchFamily="18" charset="0"/>
                <a:cs typeface="Courier New" panose="02070309020205020404" pitchFamily="49" charset="0"/>
              </a:rPr>
              <a:t>Price</a:t>
            </a:r>
            <a:r>
              <a:rPr lang="en-US" sz="24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 = {median_</a:t>
            </a:r>
            <a:r>
              <a:rPr lang="en-US" sz="2400" dirty="0">
                <a:solidFill>
                  <a:srgbClr val="A31515"/>
                </a:solidFill>
                <a:latin typeface="Consolas" panose="020B0609020204030204" pitchFamily="49" charset="0"/>
                <a:ea typeface="Times New Roman" panose="02020603050405020304" pitchFamily="18" charset="0"/>
                <a:cs typeface="Courier New" panose="02070309020205020404" pitchFamily="49" charset="0"/>
              </a:rPr>
              <a:t>price</a:t>
            </a:r>
            <a:r>
              <a:rPr lang="en-US" sz="24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:.2f}"</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4000" dirty="0">
              <a:effectLst/>
              <a:latin typeface="Times New Roman" panose="02020603050405020304" pitchFamily="18" charset="0"/>
              <a:ea typeface="Times New Roman" panose="02020603050405020304" pitchFamily="18" charset="0"/>
            </a:endParaRPr>
          </a:p>
        </p:txBody>
      </p:sp>
      <p:sp>
        <p:nvSpPr>
          <p:cNvPr id="9" name="TextBox 8">
            <a:extLst>
              <a:ext uri="{FF2B5EF4-FFF2-40B4-BE49-F238E27FC236}">
                <a16:creationId xmlns:a16="http://schemas.microsoft.com/office/drawing/2014/main" id="{2F91FCF1-4352-F94F-8E05-9C8E431DD316}"/>
              </a:ext>
            </a:extLst>
          </p:cNvPr>
          <p:cNvSpPr txBox="1"/>
          <p:nvPr/>
        </p:nvSpPr>
        <p:spPr>
          <a:xfrm>
            <a:off x="1238250" y="5514976"/>
            <a:ext cx="9715500" cy="707886"/>
          </a:xfrm>
          <a:prstGeom prst="rect">
            <a:avLst/>
          </a:prstGeom>
          <a:noFill/>
        </p:spPr>
        <p:txBody>
          <a:bodyPr wrap="square" rtlCol="0">
            <a:spAutoFit/>
          </a:bodyPr>
          <a:lstStyle/>
          <a:p>
            <a:r>
              <a:rPr lang="en-US" sz="2000" dirty="0"/>
              <a:t>Interpretation: Average car price is $6,165.26 and median is $5,006.50, The mean ($6,165) exceeds the median ($5,007) — right skew from a small number of expensive luxury cars. The median better represents the typical car price. Coefficient of variation = sd/mean ≈ 57% — substantial variability.</a:t>
            </a:r>
          </a:p>
        </p:txBody>
      </p:sp>
    </p:spTree>
    <p:extLst>
      <p:ext uri="{BB962C8B-B14F-4D97-AF65-F5344CB8AC3E}">
        <p14:creationId xmlns:p14="http://schemas.microsoft.com/office/powerpoint/2010/main" val="37839684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24572428-1CA5-BFE8-0FA0-41CDBA67876E}"/>
              </a:ext>
            </a:extLst>
          </p:cNvPr>
          <p:cNvSpPr/>
          <p:nvPr/>
        </p:nvSpPr>
        <p:spPr>
          <a:xfrm>
            <a:off x="661492" y="1422996"/>
            <a:ext cx="5133082" cy="590649"/>
          </a:xfrm>
          <a:prstGeom prst="rect">
            <a:avLst/>
          </a:prstGeom>
          <a:noFill/>
          <a:ln/>
        </p:spPr>
        <p:txBody>
          <a:bodyPr wrap="none" lIns="0" tIns="0" rIns="0" bIns="0" rtlCol="0" anchor="t"/>
          <a:lstStyle/>
          <a:p>
            <a:pPr>
              <a:lnSpc>
                <a:spcPts val="4625"/>
              </a:lnSpc>
            </a:pPr>
            <a:r>
              <a:rPr lang="en-US" sz="3708" b="1" dirty="0">
                <a:solidFill>
                  <a:srgbClr val="000000"/>
                </a:solidFill>
                <a:latin typeface="Aptos" panose="020B0004020202020204" pitchFamily="34" charset="0"/>
                <a:ea typeface="Playfair Display Bold" pitchFamily="34" charset="-122"/>
                <a:cs typeface="Playfair Display Bold" pitchFamily="34" charset="-120"/>
              </a:rPr>
              <a:t>Reflection: R vs. Python</a:t>
            </a:r>
            <a:endParaRPr lang="en-US" sz="3708" dirty="0">
              <a:latin typeface="Aptos" panose="020B0004020202020204" pitchFamily="34" charset="0"/>
            </a:endParaRPr>
          </a:p>
        </p:txBody>
      </p:sp>
      <p:sp>
        <p:nvSpPr>
          <p:cNvPr id="5" name="Text 1">
            <a:extLst>
              <a:ext uri="{FF2B5EF4-FFF2-40B4-BE49-F238E27FC236}">
                <a16:creationId xmlns:a16="http://schemas.microsoft.com/office/drawing/2014/main" id="{3F680FF2-8883-D224-E946-E84870632545}"/>
              </a:ext>
            </a:extLst>
          </p:cNvPr>
          <p:cNvSpPr/>
          <p:nvPr/>
        </p:nvSpPr>
        <p:spPr>
          <a:xfrm>
            <a:off x="1864520" y="2574826"/>
            <a:ext cx="2426394" cy="295275"/>
          </a:xfrm>
          <a:prstGeom prst="rect">
            <a:avLst/>
          </a:prstGeom>
          <a:noFill/>
          <a:ln/>
        </p:spPr>
        <p:txBody>
          <a:bodyPr wrap="none" lIns="0" tIns="0" rIns="0" bIns="0" rtlCol="0" anchor="t"/>
          <a:lstStyle/>
          <a:p>
            <a:pPr algn="r">
              <a:lnSpc>
                <a:spcPts val="2292"/>
              </a:lnSpc>
            </a:pPr>
            <a:r>
              <a:rPr lang="en-US" sz="1833" b="1" dirty="0">
                <a:solidFill>
                  <a:srgbClr val="000000"/>
                </a:solidFill>
                <a:latin typeface="Aptos" panose="020B0004020202020204" pitchFamily="34" charset="0"/>
                <a:ea typeface="Playfair Display Bold" pitchFamily="34" charset="-122"/>
                <a:cs typeface="Playfair Display Bold" pitchFamily="34" charset="-120"/>
              </a:rPr>
              <a:t>Speed of Development</a:t>
            </a:r>
            <a:endParaRPr lang="en-US" sz="1833" dirty="0">
              <a:latin typeface="Aptos" panose="020B0004020202020204" pitchFamily="34" charset="0"/>
            </a:endParaRPr>
          </a:p>
        </p:txBody>
      </p:sp>
      <p:sp>
        <p:nvSpPr>
          <p:cNvPr id="6" name="Text 2">
            <a:extLst>
              <a:ext uri="{FF2B5EF4-FFF2-40B4-BE49-F238E27FC236}">
                <a16:creationId xmlns:a16="http://schemas.microsoft.com/office/drawing/2014/main" id="{6F403112-6E66-9839-19E2-94A39C3F8387}"/>
              </a:ext>
            </a:extLst>
          </p:cNvPr>
          <p:cNvSpPr/>
          <p:nvPr/>
        </p:nvSpPr>
        <p:spPr>
          <a:xfrm>
            <a:off x="661492" y="2983508"/>
            <a:ext cx="3629422" cy="604838"/>
          </a:xfrm>
          <a:prstGeom prst="rect">
            <a:avLst/>
          </a:prstGeom>
          <a:noFill/>
          <a:ln/>
        </p:spPr>
        <p:txBody>
          <a:bodyPr wrap="square" lIns="0" tIns="0" rIns="0" bIns="0" rtlCol="0" anchor="t"/>
          <a:lstStyle/>
          <a:p>
            <a:pPr algn="r">
              <a:lnSpc>
                <a:spcPts val="2375"/>
              </a:lnSpc>
            </a:pPr>
            <a:r>
              <a:rPr lang="en-US" sz="1458" dirty="0">
                <a:solidFill>
                  <a:srgbClr val="000000"/>
                </a:solidFill>
                <a:latin typeface="Aptos" panose="020B0004020202020204" pitchFamily="34" charset="0"/>
                <a:ea typeface="Inter" pitchFamily="34" charset="-122"/>
                <a:cs typeface="Inter" pitchFamily="34" charset="-120"/>
              </a:rPr>
              <a:t>R: one-line summary() with quartiles for all columns. Python: df.describe() + df.dtypes separate. For statistical analysis, R often has fewer keystrokes. For ML pipelines, Python wins.</a:t>
            </a:r>
            <a:endParaRPr lang="en-US" sz="1458" dirty="0">
              <a:latin typeface="Aptos" panose="020B0004020202020204" pitchFamily="34" charset="0"/>
            </a:endParaRPr>
          </a:p>
        </p:txBody>
      </p:sp>
      <p:pic>
        <p:nvPicPr>
          <p:cNvPr id="7" name="Image 0" descr="preencoded.png">
            <a:extLst>
              <a:ext uri="{FF2B5EF4-FFF2-40B4-BE49-F238E27FC236}">
                <a16:creationId xmlns:a16="http://schemas.microsoft.com/office/drawing/2014/main" id="{85F43301-52D5-273C-8D40-0E39385B8354}"/>
              </a:ext>
            </a:extLst>
          </p:cNvPr>
          <p:cNvPicPr>
            <a:picLocks noChangeAspect="1"/>
          </p:cNvPicPr>
          <p:nvPr/>
        </p:nvPicPr>
        <p:blipFill>
          <a:blip r:embed="rId2"/>
          <a:stretch>
            <a:fillRect/>
          </a:stretch>
        </p:blipFill>
        <p:spPr>
          <a:xfrm>
            <a:off x="4574382" y="2391669"/>
            <a:ext cx="3043238" cy="3043238"/>
          </a:xfrm>
          <a:prstGeom prst="rect">
            <a:avLst/>
          </a:prstGeom>
        </p:spPr>
      </p:pic>
      <p:sp>
        <p:nvSpPr>
          <p:cNvPr id="8" name="Shape 3">
            <a:extLst>
              <a:ext uri="{FF2B5EF4-FFF2-40B4-BE49-F238E27FC236}">
                <a16:creationId xmlns:a16="http://schemas.microsoft.com/office/drawing/2014/main" id="{A6A418FF-4DF6-AB42-05F8-D06941A3F257}"/>
              </a:ext>
            </a:extLst>
          </p:cNvPr>
          <p:cNvSpPr/>
          <p:nvPr/>
        </p:nvSpPr>
        <p:spPr>
          <a:xfrm>
            <a:off x="4824115" y="2641402"/>
            <a:ext cx="472480" cy="472480"/>
          </a:xfrm>
          <a:prstGeom prst="roundRect">
            <a:avLst>
              <a:gd name="adj" fmla="val 1611154"/>
            </a:avLst>
          </a:prstGeom>
          <a:solidFill>
            <a:srgbClr val="CCEDFF"/>
          </a:solidFill>
          <a:ln w="7620">
            <a:solidFill>
              <a:srgbClr val="B2D3E5"/>
            </a:solidFill>
            <a:prstDash val="solid"/>
          </a:ln>
        </p:spPr>
        <p:txBody>
          <a:bodyPr/>
          <a:lstStyle/>
          <a:p>
            <a:endParaRPr lang="en-US" sz="1500">
              <a:latin typeface="Aptos" panose="020B0004020202020204" pitchFamily="34" charset="0"/>
            </a:endParaRPr>
          </a:p>
        </p:txBody>
      </p:sp>
      <p:pic>
        <p:nvPicPr>
          <p:cNvPr id="9" name="Image 1" descr="preencoded.png">
            <a:extLst>
              <a:ext uri="{FF2B5EF4-FFF2-40B4-BE49-F238E27FC236}">
                <a16:creationId xmlns:a16="http://schemas.microsoft.com/office/drawing/2014/main" id="{0C00521D-7DE0-E8F0-5D65-FF0D40C40C76}"/>
              </a:ext>
            </a:extLst>
          </p:cNvPr>
          <p:cNvPicPr>
            <a:picLocks noChangeAspect="1"/>
          </p:cNvPicPr>
          <p:nvPr/>
        </p:nvPicPr>
        <p:blipFill>
          <a:blip r:embed="rId3"/>
          <a:stretch>
            <a:fillRect/>
          </a:stretch>
        </p:blipFill>
        <p:spPr>
          <a:xfrm>
            <a:off x="4953993" y="2744688"/>
            <a:ext cx="212626" cy="265807"/>
          </a:xfrm>
          <a:prstGeom prst="rect">
            <a:avLst/>
          </a:prstGeom>
        </p:spPr>
      </p:pic>
      <p:sp>
        <p:nvSpPr>
          <p:cNvPr id="10" name="Text 4">
            <a:extLst>
              <a:ext uri="{FF2B5EF4-FFF2-40B4-BE49-F238E27FC236}">
                <a16:creationId xmlns:a16="http://schemas.microsoft.com/office/drawing/2014/main" id="{AD80C800-32F8-2F0A-BE31-C300B92D3C61}"/>
              </a:ext>
            </a:extLst>
          </p:cNvPr>
          <p:cNvSpPr/>
          <p:nvPr/>
        </p:nvSpPr>
        <p:spPr>
          <a:xfrm>
            <a:off x="7901087" y="2574826"/>
            <a:ext cx="2362696" cy="295275"/>
          </a:xfrm>
          <a:prstGeom prst="rect">
            <a:avLst/>
          </a:prstGeom>
          <a:noFill/>
          <a:ln/>
        </p:spPr>
        <p:txBody>
          <a:bodyPr wrap="none" lIns="0" tIns="0" rIns="0" bIns="0" rtlCol="0" anchor="t"/>
          <a:lstStyle/>
          <a:p>
            <a:pPr>
              <a:lnSpc>
                <a:spcPts val="2292"/>
              </a:lnSpc>
            </a:pPr>
            <a:r>
              <a:rPr lang="en-US" sz="1833" b="1" dirty="0">
                <a:solidFill>
                  <a:srgbClr val="000000"/>
                </a:solidFill>
                <a:latin typeface="Aptos" panose="020B0004020202020204" pitchFamily="34" charset="0"/>
                <a:ea typeface="Playfair Display Bold" pitchFamily="34" charset="-122"/>
                <a:cs typeface="Playfair Display Bold" pitchFamily="34" charset="-120"/>
              </a:rPr>
              <a:t>Visualization</a:t>
            </a:r>
            <a:endParaRPr lang="en-US" sz="1833" dirty="0">
              <a:latin typeface="Aptos" panose="020B0004020202020204" pitchFamily="34" charset="0"/>
            </a:endParaRPr>
          </a:p>
        </p:txBody>
      </p:sp>
      <p:sp>
        <p:nvSpPr>
          <p:cNvPr id="11" name="Text 5">
            <a:extLst>
              <a:ext uri="{FF2B5EF4-FFF2-40B4-BE49-F238E27FC236}">
                <a16:creationId xmlns:a16="http://schemas.microsoft.com/office/drawing/2014/main" id="{ACB019B5-2A72-3D95-0001-AA24427AEB46}"/>
              </a:ext>
            </a:extLst>
          </p:cNvPr>
          <p:cNvSpPr/>
          <p:nvPr/>
        </p:nvSpPr>
        <p:spPr>
          <a:xfrm>
            <a:off x="7901087" y="2983508"/>
            <a:ext cx="3629422" cy="604838"/>
          </a:xfrm>
          <a:prstGeom prst="rect">
            <a:avLst/>
          </a:prstGeom>
          <a:noFill/>
          <a:ln/>
        </p:spPr>
        <p:txBody>
          <a:bodyPr wrap="square" lIns="0" tIns="0" rIns="0" bIns="0" rtlCol="0" anchor="t"/>
          <a:lstStyle/>
          <a:p>
            <a:pPr>
              <a:lnSpc>
                <a:spcPts val="2375"/>
              </a:lnSpc>
            </a:pPr>
            <a:r>
              <a:rPr lang="en-US" sz="1458" dirty="0">
                <a:solidFill>
                  <a:srgbClr val="000000"/>
                </a:solidFill>
                <a:latin typeface="Aptos" panose="020B0004020202020204" pitchFamily="34" charset="0"/>
                <a:ea typeface="Inter" pitchFamily="34" charset="-122"/>
                <a:cs typeface="Inter" pitchFamily="34" charset="-120"/>
              </a:rPr>
              <a:t>R’s ggplot2 (grammar of graphics) is more principled — every chart is data + aesthetics + geometry. Python’s matplotlib is more imperative but seaborn wraps it more cleanly for statistical plots.</a:t>
            </a:r>
            <a:endParaRPr lang="en-US" sz="1458" dirty="0">
              <a:latin typeface="Aptos" panose="020B0004020202020204" pitchFamily="34" charset="0"/>
            </a:endParaRPr>
          </a:p>
        </p:txBody>
      </p:sp>
      <p:pic>
        <p:nvPicPr>
          <p:cNvPr id="12" name="Image 2" descr="preencoded.png">
            <a:extLst>
              <a:ext uri="{FF2B5EF4-FFF2-40B4-BE49-F238E27FC236}">
                <a16:creationId xmlns:a16="http://schemas.microsoft.com/office/drawing/2014/main" id="{313F98A4-D569-90B6-24E3-26670F240864}"/>
              </a:ext>
            </a:extLst>
          </p:cNvPr>
          <p:cNvPicPr>
            <a:picLocks noChangeAspect="1"/>
          </p:cNvPicPr>
          <p:nvPr/>
        </p:nvPicPr>
        <p:blipFill>
          <a:blip r:embed="rId4"/>
          <a:stretch>
            <a:fillRect/>
          </a:stretch>
        </p:blipFill>
        <p:spPr>
          <a:xfrm>
            <a:off x="4574382" y="2391669"/>
            <a:ext cx="3043238" cy="3043238"/>
          </a:xfrm>
          <a:prstGeom prst="rect">
            <a:avLst/>
          </a:prstGeom>
        </p:spPr>
      </p:pic>
      <p:sp>
        <p:nvSpPr>
          <p:cNvPr id="13" name="Shape 6">
            <a:extLst>
              <a:ext uri="{FF2B5EF4-FFF2-40B4-BE49-F238E27FC236}">
                <a16:creationId xmlns:a16="http://schemas.microsoft.com/office/drawing/2014/main" id="{0D1D7BFB-8C5E-0A9E-1F09-DBCD1816869C}"/>
              </a:ext>
            </a:extLst>
          </p:cNvPr>
          <p:cNvSpPr/>
          <p:nvPr/>
        </p:nvSpPr>
        <p:spPr>
          <a:xfrm>
            <a:off x="6895307" y="2641402"/>
            <a:ext cx="472480" cy="472480"/>
          </a:xfrm>
          <a:prstGeom prst="roundRect">
            <a:avLst>
              <a:gd name="adj" fmla="val 1611154"/>
            </a:avLst>
          </a:prstGeom>
          <a:solidFill>
            <a:srgbClr val="CCEDFF"/>
          </a:solidFill>
          <a:ln w="7620">
            <a:solidFill>
              <a:srgbClr val="B2D3E5"/>
            </a:solidFill>
            <a:prstDash val="solid"/>
          </a:ln>
        </p:spPr>
        <p:txBody>
          <a:bodyPr/>
          <a:lstStyle/>
          <a:p>
            <a:endParaRPr lang="en-US" sz="1500">
              <a:latin typeface="Aptos" panose="020B0004020202020204" pitchFamily="34" charset="0"/>
            </a:endParaRPr>
          </a:p>
        </p:txBody>
      </p:sp>
      <p:pic>
        <p:nvPicPr>
          <p:cNvPr id="14" name="Image 3" descr="preencoded.png">
            <a:extLst>
              <a:ext uri="{FF2B5EF4-FFF2-40B4-BE49-F238E27FC236}">
                <a16:creationId xmlns:a16="http://schemas.microsoft.com/office/drawing/2014/main" id="{E96A18E7-870D-DDA4-D6C7-71401E892B4B}"/>
              </a:ext>
            </a:extLst>
          </p:cNvPr>
          <p:cNvPicPr>
            <a:picLocks noChangeAspect="1"/>
          </p:cNvPicPr>
          <p:nvPr/>
        </p:nvPicPr>
        <p:blipFill>
          <a:blip r:embed="rId5"/>
          <a:stretch>
            <a:fillRect/>
          </a:stretch>
        </p:blipFill>
        <p:spPr>
          <a:xfrm>
            <a:off x="7025184" y="2744688"/>
            <a:ext cx="212626" cy="265807"/>
          </a:xfrm>
          <a:prstGeom prst="rect">
            <a:avLst/>
          </a:prstGeom>
        </p:spPr>
      </p:pic>
      <p:sp>
        <p:nvSpPr>
          <p:cNvPr id="15" name="Text 7">
            <a:extLst>
              <a:ext uri="{FF2B5EF4-FFF2-40B4-BE49-F238E27FC236}">
                <a16:creationId xmlns:a16="http://schemas.microsoft.com/office/drawing/2014/main" id="{F4277D16-DF39-FA4B-E240-078F64B7F386}"/>
              </a:ext>
            </a:extLst>
          </p:cNvPr>
          <p:cNvSpPr/>
          <p:nvPr/>
        </p:nvSpPr>
        <p:spPr>
          <a:xfrm>
            <a:off x="7901087" y="4238129"/>
            <a:ext cx="2362696" cy="295275"/>
          </a:xfrm>
          <a:prstGeom prst="rect">
            <a:avLst/>
          </a:prstGeom>
          <a:noFill/>
          <a:ln/>
        </p:spPr>
        <p:txBody>
          <a:bodyPr wrap="none" lIns="0" tIns="0" rIns="0" bIns="0" rtlCol="0" anchor="t"/>
          <a:lstStyle/>
          <a:p>
            <a:pPr>
              <a:lnSpc>
                <a:spcPts val="2292"/>
              </a:lnSpc>
            </a:pPr>
            <a:r>
              <a:rPr lang="en-US" sz="1833" b="1" dirty="0">
                <a:solidFill>
                  <a:srgbClr val="000000"/>
                </a:solidFill>
                <a:latin typeface="Aptos" panose="020B0004020202020204" pitchFamily="34" charset="0"/>
                <a:ea typeface="Playfair Display Bold" pitchFamily="34" charset="-122"/>
                <a:cs typeface="Playfair Display Bold" pitchFamily="34" charset="-120"/>
              </a:rPr>
              <a:t>Integration</a:t>
            </a:r>
            <a:endParaRPr lang="en-US" sz="1833" dirty="0">
              <a:latin typeface="Aptos" panose="020B0004020202020204" pitchFamily="34" charset="0"/>
            </a:endParaRPr>
          </a:p>
        </p:txBody>
      </p:sp>
      <p:sp>
        <p:nvSpPr>
          <p:cNvPr id="16" name="Text 8">
            <a:extLst>
              <a:ext uri="{FF2B5EF4-FFF2-40B4-BE49-F238E27FC236}">
                <a16:creationId xmlns:a16="http://schemas.microsoft.com/office/drawing/2014/main" id="{C5B77EA5-AE92-1DC4-78C0-A1539FC1CCA1}"/>
              </a:ext>
            </a:extLst>
          </p:cNvPr>
          <p:cNvSpPr/>
          <p:nvPr/>
        </p:nvSpPr>
        <p:spPr>
          <a:xfrm>
            <a:off x="7901087" y="4646811"/>
            <a:ext cx="3629422" cy="604838"/>
          </a:xfrm>
          <a:prstGeom prst="rect">
            <a:avLst/>
          </a:prstGeom>
          <a:noFill/>
          <a:ln/>
        </p:spPr>
        <p:txBody>
          <a:bodyPr wrap="square" lIns="0" tIns="0" rIns="0" bIns="0" rtlCol="0" anchor="t"/>
          <a:lstStyle/>
          <a:p>
            <a:pPr>
              <a:lnSpc>
                <a:spcPts val="2375"/>
              </a:lnSpc>
            </a:pPr>
            <a:r>
              <a:rPr lang="en-US" sz="1458" dirty="0">
                <a:solidFill>
                  <a:srgbClr val="000000"/>
                </a:solidFill>
                <a:latin typeface="Aptos" panose="020B0004020202020204" pitchFamily="34" charset="0"/>
                <a:ea typeface="Inter" pitchFamily="34" charset="-122"/>
                <a:cs typeface="Inter" pitchFamily="34" charset="-120"/>
              </a:rPr>
              <a:t>Python integrates with APIs, web services, databases, ML frameworks, and cloud platforms. R integrates tightly with academic publishing (R Markdown, Quarto). Most data teams use both.</a:t>
            </a:r>
            <a:endParaRPr lang="en-US" sz="1458" dirty="0">
              <a:latin typeface="Aptos" panose="020B0004020202020204" pitchFamily="34" charset="0"/>
            </a:endParaRPr>
          </a:p>
        </p:txBody>
      </p:sp>
      <p:pic>
        <p:nvPicPr>
          <p:cNvPr id="17" name="Image 4" descr="preencoded.png">
            <a:extLst>
              <a:ext uri="{FF2B5EF4-FFF2-40B4-BE49-F238E27FC236}">
                <a16:creationId xmlns:a16="http://schemas.microsoft.com/office/drawing/2014/main" id="{72AE2921-D141-E247-9D91-2A1A9A5921DB}"/>
              </a:ext>
            </a:extLst>
          </p:cNvPr>
          <p:cNvPicPr>
            <a:picLocks noChangeAspect="1"/>
          </p:cNvPicPr>
          <p:nvPr/>
        </p:nvPicPr>
        <p:blipFill>
          <a:blip r:embed="rId6"/>
          <a:stretch>
            <a:fillRect/>
          </a:stretch>
        </p:blipFill>
        <p:spPr>
          <a:xfrm>
            <a:off x="4574382" y="2391669"/>
            <a:ext cx="3043238" cy="3043238"/>
          </a:xfrm>
          <a:prstGeom prst="rect">
            <a:avLst/>
          </a:prstGeom>
        </p:spPr>
      </p:pic>
      <p:sp>
        <p:nvSpPr>
          <p:cNvPr id="18" name="Shape 9">
            <a:extLst>
              <a:ext uri="{FF2B5EF4-FFF2-40B4-BE49-F238E27FC236}">
                <a16:creationId xmlns:a16="http://schemas.microsoft.com/office/drawing/2014/main" id="{5290CFC7-1BC0-58FF-C38C-FBE109DEADC4}"/>
              </a:ext>
            </a:extLst>
          </p:cNvPr>
          <p:cNvSpPr/>
          <p:nvPr/>
        </p:nvSpPr>
        <p:spPr>
          <a:xfrm>
            <a:off x="6895307" y="4712593"/>
            <a:ext cx="472480" cy="472480"/>
          </a:xfrm>
          <a:prstGeom prst="roundRect">
            <a:avLst>
              <a:gd name="adj" fmla="val 1611154"/>
            </a:avLst>
          </a:prstGeom>
          <a:solidFill>
            <a:srgbClr val="CCEDFF"/>
          </a:solidFill>
          <a:ln w="7620">
            <a:solidFill>
              <a:srgbClr val="B2D3E5"/>
            </a:solidFill>
            <a:prstDash val="solid"/>
          </a:ln>
        </p:spPr>
        <p:txBody>
          <a:bodyPr/>
          <a:lstStyle/>
          <a:p>
            <a:endParaRPr lang="en-US" sz="1500">
              <a:latin typeface="Aptos" panose="020B0004020202020204" pitchFamily="34" charset="0"/>
            </a:endParaRPr>
          </a:p>
        </p:txBody>
      </p:sp>
      <p:pic>
        <p:nvPicPr>
          <p:cNvPr id="19" name="Image 5" descr="preencoded.png">
            <a:extLst>
              <a:ext uri="{FF2B5EF4-FFF2-40B4-BE49-F238E27FC236}">
                <a16:creationId xmlns:a16="http://schemas.microsoft.com/office/drawing/2014/main" id="{9B8745E2-C806-243F-1C21-4CE8611E346F}"/>
              </a:ext>
            </a:extLst>
          </p:cNvPr>
          <p:cNvPicPr>
            <a:picLocks noChangeAspect="1"/>
          </p:cNvPicPr>
          <p:nvPr/>
        </p:nvPicPr>
        <p:blipFill>
          <a:blip r:embed="rId7"/>
          <a:stretch>
            <a:fillRect/>
          </a:stretch>
        </p:blipFill>
        <p:spPr>
          <a:xfrm>
            <a:off x="7025184" y="4815880"/>
            <a:ext cx="212626" cy="265807"/>
          </a:xfrm>
          <a:prstGeom prst="rect">
            <a:avLst/>
          </a:prstGeom>
        </p:spPr>
      </p:pic>
      <p:sp>
        <p:nvSpPr>
          <p:cNvPr id="20" name="Text 10">
            <a:extLst>
              <a:ext uri="{FF2B5EF4-FFF2-40B4-BE49-F238E27FC236}">
                <a16:creationId xmlns:a16="http://schemas.microsoft.com/office/drawing/2014/main" id="{D311F02F-8CFA-9247-378E-CEE301B6C8C0}"/>
              </a:ext>
            </a:extLst>
          </p:cNvPr>
          <p:cNvSpPr/>
          <p:nvPr/>
        </p:nvSpPr>
        <p:spPr>
          <a:xfrm>
            <a:off x="1928218" y="4389338"/>
            <a:ext cx="2362696" cy="295275"/>
          </a:xfrm>
          <a:prstGeom prst="rect">
            <a:avLst/>
          </a:prstGeom>
          <a:noFill/>
          <a:ln/>
        </p:spPr>
        <p:txBody>
          <a:bodyPr wrap="none" lIns="0" tIns="0" rIns="0" bIns="0" rtlCol="0" anchor="t"/>
          <a:lstStyle/>
          <a:p>
            <a:pPr algn="r">
              <a:lnSpc>
                <a:spcPts val="2292"/>
              </a:lnSpc>
            </a:pPr>
            <a:r>
              <a:rPr lang="en-US" sz="1833" b="1" dirty="0">
                <a:solidFill>
                  <a:srgbClr val="000000"/>
                </a:solidFill>
                <a:latin typeface="Aptos" panose="020B0004020202020204" pitchFamily="34" charset="0"/>
                <a:ea typeface="Playfair Display Bold" pitchFamily="34" charset="-122"/>
                <a:cs typeface="Playfair Display Bold" pitchFamily="34" charset="-120"/>
              </a:rPr>
              <a:t>Learning Curve</a:t>
            </a:r>
            <a:endParaRPr lang="en-US" sz="1833" dirty="0">
              <a:latin typeface="Aptos" panose="020B0004020202020204" pitchFamily="34" charset="0"/>
            </a:endParaRPr>
          </a:p>
        </p:txBody>
      </p:sp>
      <p:sp>
        <p:nvSpPr>
          <p:cNvPr id="21" name="Text 11">
            <a:extLst>
              <a:ext uri="{FF2B5EF4-FFF2-40B4-BE49-F238E27FC236}">
                <a16:creationId xmlns:a16="http://schemas.microsoft.com/office/drawing/2014/main" id="{38327B6A-E256-EDDF-6569-27D96915FFA0}"/>
              </a:ext>
            </a:extLst>
          </p:cNvPr>
          <p:cNvSpPr/>
          <p:nvPr/>
        </p:nvSpPr>
        <p:spPr>
          <a:xfrm>
            <a:off x="661492" y="4798021"/>
            <a:ext cx="3629422" cy="302419"/>
          </a:xfrm>
          <a:prstGeom prst="rect">
            <a:avLst/>
          </a:prstGeom>
          <a:noFill/>
          <a:ln/>
        </p:spPr>
        <p:txBody>
          <a:bodyPr wrap="none" lIns="0" tIns="0" rIns="0" bIns="0" rtlCol="0" anchor="t"/>
          <a:lstStyle/>
          <a:p>
            <a:pPr algn="r">
              <a:lnSpc>
                <a:spcPts val="2375"/>
              </a:lnSpc>
            </a:pPr>
            <a:r>
              <a:rPr lang="en-US" sz="1458" dirty="0">
                <a:solidFill>
                  <a:srgbClr val="000000"/>
                </a:solidFill>
                <a:latin typeface="Aptos" panose="020B0004020202020204" pitchFamily="34" charset="0"/>
                <a:ea typeface="Inter" pitchFamily="34" charset="-122"/>
                <a:cs typeface="Inter" pitchFamily="34" charset="-120"/>
              </a:rPr>
              <a:t>R: function-centric (everything is a function call). Python: object-oriented (methods called on objects). Both are learnable — the concepts transfer; only the syntax differs.</a:t>
            </a:r>
            <a:endParaRPr lang="en-US" sz="1458" dirty="0">
              <a:latin typeface="Aptos" panose="020B0004020202020204" pitchFamily="34" charset="0"/>
            </a:endParaRPr>
          </a:p>
        </p:txBody>
      </p:sp>
      <p:pic>
        <p:nvPicPr>
          <p:cNvPr id="22" name="Image 6" descr="preencoded.png">
            <a:extLst>
              <a:ext uri="{FF2B5EF4-FFF2-40B4-BE49-F238E27FC236}">
                <a16:creationId xmlns:a16="http://schemas.microsoft.com/office/drawing/2014/main" id="{FCA8BCA4-DABE-FD9C-2F6A-DCF31F7F7FD6}"/>
              </a:ext>
            </a:extLst>
          </p:cNvPr>
          <p:cNvPicPr>
            <a:picLocks noChangeAspect="1"/>
          </p:cNvPicPr>
          <p:nvPr/>
        </p:nvPicPr>
        <p:blipFill>
          <a:blip r:embed="rId8"/>
          <a:stretch>
            <a:fillRect/>
          </a:stretch>
        </p:blipFill>
        <p:spPr>
          <a:xfrm>
            <a:off x="4574382" y="2391669"/>
            <a:ext cx="3043238" cy="3043238"/>
          </a:xfrm>
          <a:prstGeom prst="rect">
            <a:avLst/>
          </a:prstGeom>
        </p:spPr>
      </p:pic>
      <p:sp>
        <p:nvSpPr>
          <p:cNvPr id="23" name="Shape 12">
            <a:extLst>
              <a:ext uri="{FF2B5EF4-FFF2-40B4-BE49-F238E27FC236}">
                <a16:creationId xmlns:a16="http://schemas.microsoft.com/office/drawing/2014/main" id="{15757C67-EBF0-1106-1721-1456853D44E9}"/>
              </a:ext>
            </a:extLst>
          </p:cNvPr>
          <p:cNvSpPr/>
          <p:nvPr/>
        </p:nvSpPr>
        <p:spPr>
          <a:xfrm>
            <a:off x="4824115" y="4712593"/>
            <a:ext cx="472480" cy="472480"/>
          </a:xfrm>
          <a:prstGeom prst="roundRect">
            <a:avLst>
              <a:gd name="adj" fmla="val 1611154"/>
            </a:avLst>
          </a:prstGeom>
          <a:solidFill>
            <a:srgbClr val="CCEDFF"/>
          </a:solidFill>
          <a:ln w="7620">
            <a:solidFill>
              <a:srgbClr val="B2D3E5"/>
            </a:solidFill>
            <a:prstDash val="solid"/>
          </a:ln>
        </p:spPr>
        <p:txBody>
          <a:bodyPr/>
          <a:lstStyle/>
          <a:p>
            <a:endParaRPr lang="en-US" sz="1500">
              <a:latin typeface="Aptos" panose="020B0004020202020204" pitchFamily="34" charset="0"/>
            </a:endParaRPr>
          </a:p>
        </p:txBody>
      </p:sp>
      <p:pic>
        <p:nvPicPr>
          <p:cNvPr id="24" name="Image 7" descr="preencoded.png">
            <a:extLst>
              <a:ext uri="{FF2B5EF4-FFF2-40B4-BE49-F238E27FC236}">
                <a16:creationId xmlns:a16="http://schemas.microsoft.com/office/drawing/2014/main" id="{F15EFDC6-08E2-93FE-10A1-E206438907E7}"/>
              </a:ext>
            </a:extLst>
          </p:cNvPr>
          <p:cNvPicPr>
            <a:picLocks noChangeAspect="1"/>
          </p:cNvPicPr>
          <p:nvPr/>
        </p:nvPicPr>
        <p:blipFill>
          <a:blip r:embed="rId9"/>
          <a:stretch>
            <a:fillRect/>
          </a:stretch>
        </p:blipFill>
        <p:spPr>
          <a:xfrm>
            <a:off x="4953993" y="4815880"/>
            <a:ext cx="212626" cy="265807"/>
          </a:xfrm>
          <a:prstGeom prst="rect">
            <a:avLst/>
          </a:prstGeom>
        </p:spPr>
      </p:pic>
    </p:spTree>
    <p:extLst>
      <p:ext uri="{BB962C8B-B14F-4D97-AF65-F5344CB8AC3E}">
        <p14:creationId xmlns:p14="http://schemas.microsoft.com/office/powerpoint/2010/main" val="7525644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A28B369E-C5D8-61B8-91DD-20CC3443DA8B}"/>
              </a:ext>
            </a:extLst>
          </p:cNvPr>
          <p:cNvPicPr>
            <a:picLocks noChangeAspect="1"/>
          </p:cNvPicPr>
          <p:nvPr/>
        </p:nvPicPr>
        <p:blipFill>
          <a:blip r:embed="rId2"/>
          <a:stretch>
            <a:fillRect/>
          </a:stretch>
        </p:blipFill>
        <p:spPr>
          <a:xfrm>
            <a:off x="0" y="0"/>
            <a:ext cx="4572000" cy="6858000"/>
          </a:xfrm>
          <a:prstGeom prst="rect">
            <a:avLst/>
          </a:prstGeom>
        </p:spPr>
      </p:pic>
      <p:sp>
        <p:nvSpPr>
          <p:cNvPr id="18" name="Text 0">
            <a:extLst>
              <a:ext uri="{FF2B5EF4-FFF2-40B4-BE49-F238E27FC236}">
                <a16:creationId xmlns:a16="http://schemas.microsoft.com/office/drawing/2014/main" id="{B9E7F7ED-FDC0-9D4A-1745-BD064A4CF1A5}"/>
              </a:ext>
            </a:extLst>
          </p:cNvPr>
          <p:cNvSpPr/>
          <p:nvPr/>
        </p:nvSpPr>
        <p:spPr>
          <a:xfrm>
            <a:off x="5135663" y="1046361"/>
            <a:ext cx="6227961" cy="541536"/>
          </a:xfrm>
          <a:prstGeom prst="rect">
            <a:avLst/>
          </a:prstGeom>
          <a:noFill/>
          <a:ln/>
        </p:spPr>
        <p:txBody>
          <a:bodyPr wrap="none" lIns="0" tIns="0" rIns="0" bIns="0" rtlCol="0" anchor="t"/>
          <a:lstStyle/>
          <a:p>
            <a:pPr>
              <a:lnSpc>
                <a:spcPts val="4250"/>
              </a:lnSpc>
            </a:pPr>
            <a:r>
              <a:rPr lang="en-US" sz="3375" b="1" dirty="0">
                <a:solidFill>
                  <a:srgbClr val="000000"/>
                </a:solidFill>
                <a:latin typeface="Aptos" panose="020B0004020202020204" pitchFamily="34" charset="0"/>
                <a:ea typeface="Playfair Display Bold" pitchFamily="34" charset="-122"/>
                <a:cs typeface="Playfair Display Bold" pitchFamily="34" charset="-120"/>
              </a:rPr>
              <a:t>Being Bilingual in Data Science</a:t>
            </a:r>
            <a:endParaRPr lang="en-US" sz="3375" dirty="0">
              <a:latin typeface="Aptos" panose="020B0004020202020204" pitchFamily="34" charset="0"/>
            </a:endParaRPr>
          </a:p>
        </p:txBody>
      </p:sp>
      <p:sp>
        <p:nvSpPr>
          <p:cNvPr id="19" name="Shape 1">
            <a:extLst>
              <a:ext uri="{FF2B5EF4-FFF2-40B4-BE49-F238E27FC236}">
                <a16:creationId xmlns:a16="http://schemas.microsoft.com/office/drawing/2014/main" id="{DE7B3CE1-24AC-850A-36DB-F57E26B0F7CD}"/>
              </a:ext>
            </a:extLst>
          </p:cNvPr>
          <p:cNvSpPr/>
          <p:nvPr/>
        </p:nvSpPr>
        <p:spPr>
          <a:xfrm>
            <a:off x="5135662" y="1847751"/>
            <a:ext cx="6406952" cy="1011039"/>
          </a:xfrm>
          <a:prstGeom prst="roundRect">
            <a:avLst>
              <a:gd name="adj" fmla="val 7199"/>
            </a:avLst>
          </a:prstGeom>
          <a:solidFill>
            <a:srgbClr val="CCEDFF"/>
          </a:solidFill>
          <a:ln w="7620">
            <a:solidFill>
              <a:srgbClr val="B2D3E5"/>
            </a:solidFill>
            <a:prstDash val="solid"/>
          </a:ln>
        </p:spPr>
        <p:txBody>
          <a:bodyPr/>
          <a:lstStyle/>
          <a:p>
            <a:endParaRPr lang="en-US" sz="1500">
              <a:latin typeface="Aptos" panose="020B0004020202020204" pitchFamily="34" charset="0"/>
            </a:endParaRPr>
          </a:p>
        </p:txBody>
      </p:sp>
      <p:sp>
        <p:nvSpPr>
          <p:cNvPr id="20" name="Text 2">
            <a:extLst>
              <a:ext uri="{FF2B5EF4-FFF2-40B4-BE49-F238E27FC236}">
                <a16:creationId xmlns:a16="http://schemas.microsoft.com/office/drawing/2014/main" id="{5CF15324-C039-27E0-A0F8-B56009D73A8E}"/>
              </a:ext>
            </a:extLst>
          </p:cNvPr>
          <p:cNvSpPr/>
          <p:nvPr/>
        </p:nvSpPr>
        <p:spPr>
          <a:xfrm>
            <a:off x="5315248" y="2027336"/>
            <a:ext cx="2166143" cy="270668"/>
          </a:xfrm>
          <a:prstGeom prst="rect">
            <a:avLst/>
          </a:prstGeom>
          <a:noFill/>
          <a:ln/>
        </p:spPr>
        <p:txBody>
          <a:bodyPr wrap="none" lIns="0" tIns="0" rIns="0" bIns="0" rtlCol="0" anchor="t"/>
          <a:lstStyle/>
          <a:p>
            <a:pPr>
              <a:lnSpc>
                <a:spcPts val="2125"/>
              </a:lnSpc>
            </a:pPr>
            <a:r>
              <a:rPr lang="en-US" sz="1667" b="1" dirty="0">
                <a:solidFill>
                  <a:srgbClr val="000000"/>
                </a:solidFill>
                <a:latin typeface="Aptos" panose="020B0004020202020204" pitchFamily="34" charset="0"/>
                <a:ea typeface="Playfair Display Bold" pitchFamily="34" charset="-122"/>
                <a:cs typeface="Playfair Display Bold" pitchFamily="34" charset="-120"/>
              </a:rPr>
              <a:t>Flexibility</a:t>
            </a:r>
            <a:endParaRPr lang="en-US" sz="1667" dirty="0">
              <a:latin typeface="Aptos" panose="020B0004020202020204" pitchFamily="34" charset="0"/>
            </a:endParaRPr>
          </a:p>
        </p:txBody>
      </p:sp>
      <p:sp>
        <p:nvSpPr>
          <p:cNvPr id="21" name="Text 3">
            <a:extLst>
              <a:ext uri="{FF2B5EF4-FFF2-40B4-BE49-F238E27FC236}">
                <a16:creationId xmlns:a16="http://schemas.microsoft.com/office/drawing/2014/main" id="{32DC598C-A5EE-7CB7-0730-A529DE74FE06}"/>
              </a:ext>
            </a:extLst>
          </p:cNvPr>
          <p:cNvSpPr/>
          <p:nvPr/>
        </p:nvSpPr>
        <p:spPr>
          <a:xfrm>
            <a:off x="5315248" y="2401887"/>
            <a:ext cx="6047780" cy="277317"/>
          </a:xfrm>
          <a:prstGeom prst="rect">
            <a:avLst/>
          </a:prstGeom>
          <a:noFill/>
          <a:ln/>
        </p:spPr>
        <p:txBody>
          <a:bodyPr wrap="none" lIns="0" tIns="0" rIns="0" bIns="0" rtlCol="0" anchor="t"/>
          <a:lstStyle/>
          <a:p>
            <a:pPr>
              <a:lnSpc>
                <a:spcPts val="2167"/>
              </a:lnSpc>
            </a:pPr>
            <a:r>
              <a:rPr lang="en-US" sz="1333" dirty="0">
                <a:solidFill>
                  <a:srgbClr val="000000"/>
                </a:solidFill>
                <a:latin typeface="Aptos" panose="020B0004020202020204" pitchFamily="34" charset="0"/>
                <a:ea typeface="Inter" pitchFamily="34" charset="-122"/>
                <a:cs typeface="Inter" pitchFamily="34" charset="-120"/>
              </a:rPr>
              <a:t>pandas + matplotlib for quick EDA; ggplot2 + dplyr for statistical reporting; scikit-learn (Python) for ML; Stan/brms (R) for Bayesian modeling. The question isn’t which is better — it’s which is right for this job.</a:t>
            </a:r>
            <a:endParaRPr lang="en-US" sz="1333" dirty="0">
              <a:latin typeface="Aptos" panose="020B0004020202020204" pitchFamily="34" charset="0"/>
            </a:endParaRPr>
          </a:p>
        </p:txBody>
      </p:sp>
      <p:sp>
        <p:nvSpPr>
          <p:cNvPr id="22" name="Shape 4">
            <a:extLst>
              <a:ext uri="{FF2B5EF4-FFF2-40B4-BE49-F238E27FC236}">
                <a16:creationId xmlns:a16="http://schemas.microsoft.com/office/drawing/2014/main" id="{2FD3FC71-CA8D-60D0-A486-0214A7E7EB7D}"/>
              </a:ext>
            </a:extLst>
          </p:cNvPr>
          <p:cNvSpPr/>
          <p:nvPr/>
        </p:nvSpPr>
        <p:spPr>
          <a:xfrm>
            <a:off x="5135662" y="3032026"/>
            <a:ext cx="6406952" cy="1011039"/>
          </a:xfrm>
          <a:prstGeom prst="roundRect">
            <a:avLst>
              <a:gd name="adj" fmla="val 7199"/>
            </a:avLst>
          </a:prstGeom>
          <a:solidFill>
            <a:srgbClr val="CCEDFF"/>
          </a:solidFill>
          <a:ln w="7620">
            <a:solidFill>
              <a:srgbClr val="B2D3E5"/>
            </a:solidFill>
            <a:prstDash val="solid"/>
          </a:ln>
        </p:spPr>
        <p:txBody>
          <a:bodyPr/>
          <a:lstStyle/>
          <a:p>
            <a:endParaRPr lang="en-US" sz="1500">
              <a:latin typeface="Aptos" panose="020B0004020202020204" pitchFamily="34" charset="0"/>
            </a:endParaRPr>
          </a:p>
        </p:txBody>
      </p:sp>
      <p:sp>
        <p:nvSpPr>
          <p:cNvPr id="23" name="Text 5">
            <a:extLst>
              <a:ext uri="{FF2B5EF4-FFF2-40B4-BE49-F238E27FC236}">
                <a16:creationId xmlns:a16="http://schemas.microsoft.com/office/drawing/2014/main" id="{289FFBBF-FEA7-FDAE-EDF1-4621F292720A}"/>
              </a:ext>
            </a:extLst>
          </p:cNvPr>
          <p:cNvSpPr/>
          <p:nvPr/>
        </p:nvSpPr>
        <p:spPr>
          <a:xfrm>
            <a:off x="5315248" y="3211611"/>
            <a:ext cx="2166143" cy="270668"/>
          </a:xfrm>
          <a:prstGeom prst="rect">
            <a:avLst/>
          </a:prstGeom>
          <a:noFill/>
          <a:ln/>
        </p:spPr>
        <p:txBody>
          <a:bodyPr wrap="none" lIns="0" tIns="0" rIns="0" bIns="0" rtlCol="0" anchor="t"/>
          <a:lstStyle/>
          <a:p>
            <a:pPr>
              <a:lnSpc>
                <a:spcPts val="2125"/>
              </a:lnSpc>
            </a:pPr>
            <a:r>
              <a:rPr lang="en-US" sz="1667" b="1" dirty="0">
                <a:solidFill>
                  <a:srgbClr val="000000"/>
                </a:solidFill>
                <a:latin typeface="Aptos" panose="020B0004020202020204" pitchFamily="34" charset="0"/>
                <a:ea typeface="Playfair Display Bold" pitchFamily="34" charset="-122"/>
                <a:cs typeface="Playfair Display Bold" pitchFamily="34" charset="-120"/>
              </a:rPr>
              <a:t>Collaboration</a:t>
            </a:r>
            <a:endParaRPr lang="en-US" sz="1667" dirty="0">
              <a:latin typeface="Aptos" panose="020B0004020202020204" pitchFamily="34" charset="0"/>
            </a:endParaRPr>
          </a:p>
        </p:txBody>
      </p:sp>
      <p:sp>
        <p:nvSpPr>
          <p:cNvPr id="24" name="Text 6">
            <a:extLst>
              <a:ext uri="{FF2B5EF4-FFF2-40B4-BE49-F238E27FC236}">
                <a16:creationId xmlns:a16="http://schemas.microsoft.com/office/drawing/2014/main" id="{14BCA78B-EF3E-3CC1-5D1C-456E1A18D134}"/>
              </a:ext>
            </a:extLst>
          </p:cNvPr>
          <p:cNvSpPr/>
          <p:nvPr/>
        </p:nvSpPr>
        <p:spPr>
          <a:xfrm>
            <a:off x="5315248" y="3586162"/>
            <a:ext cx="6047780" cy="277317"/>
          </a:xfrm>
          <a:prstGeom prst="rect">
            <a:avLst/>
          </a:prstGeom>
          <a:noFill/>
          <a:ln/>
        </p:spPr>
        <p:txBody>
          <a:bodyPr wrap="none" lIns="0" tIns="0" rIns="0" bIns="0" rtlCol="0" anchor="t"/>
          <a:lstStyle/>
          <a:p>
            <a:pPr>
              <a:lnSpc>
                <a:spcPts val="2167"/>
              </a:lnSpc>
            </a:pPr>
            <a:r>
              <a:rPr lang="en-US" sz="1333" dirty="0">
                <a:solidFill>
                  <a:srgbClr val="000000"/>
                </a:solidFill>
                <a:latin typeface="Aptos" panose="020B0004020202020204" pitchFamily="34" charset="0"/>
                <a:ea typeface="Inter" pitchFamily="34" charset="-122"/>
                <a:cs typeface="Inter" pitchFamily="34" charset="-120"/>
              </a:rPr>
              <a:t>Most industry data teams are bilingual. A Python-only analyst who can’t read an R script will miss insights from 50% of the academic literature. Vice versa for R-only analysts missing Python ML tools.</a:t>
            </a:r>
            <a:endParaRPr lang="en-US" sz="1333" dirty="0">
              <a:latin typeface="Aptos" panose="020B0004020202020204" pitchFamily="34" charset="0"/>
            </a:endParaRPr>
          </a:p>
        </p:txBody>
      </p:sp>
      <p:sp>
        <p:nvSpPr>
          <p:cNvPr id="25" name="Shape 7">
            <a:extLst>
              <a:ext uri="{FF2B5EF4-FFF2-40B4-BE49-F238E27FC236}">
                <a16:creationId xmlns:a16="http://schemas.microsoft.com/office/drawing/2014/main" id="{585137EC-3FFC-2E9E-B0CB-25D74699EF1D}"/>
              </a:ext>
            </a:extLst>
          </p:cNvPr>
          <p:cNvSpPr/>
          <p:nvPr/>
        </p:nvSpPr>
        <p:spPr>
          <a:xfrm>
            <a:off x="5135662" y="4216301"/>
            <a:ext cx="6406952" cy="1011039"/>
          </a:xfrm>
          <a:prstGeom prst="roundRect">
            <a:avLst>
              <a:gd name="adj" fmla="val 7199"/>
            </a:avLst>
          </a:prstGeom>
          <a:solidFill>
            <a:srgbClr val="CCEDFF"/>
          </a:solidFill>
          <a:ln w="7620">
            <a:solidFill>
              <a:srgbClr val="B2D3E5"/>
            </a:solidFill>
            <a:prstDash val="solid"/>
          </a:ln>
        </p:spPr>
        <p:txBody>
          <a:bodyPr/>
          <a:lstStyle/>
          <a:p>
            <a:endParaRPr lang="en-US" sz="1500">
              <a:latin typeface="Aptos" panose="020B0004020202020204" pitchFamily="34" charset="0"/>
            </a:endParaRPr>
          </a:p>
        </p:txBody>
      </p:sp>
      <p:sp>
        <p:nvSpPr>
          <p:cNvPr id="26" name="Text 8">
            <a:extLst>
              <a:ext uri="{FF2B5EF4-FFF2-40B4-BE49-F238E27FC236}">
                <a16:creationId xmlns:a16="http://schemas.microsoft.com/office/drawing/2014/main" id="{568847B3-EA64-875C-1789-76943F70C9BF}"/>
              </a:ext>
            </a:extLst>
          </p:cNvPr>
          <p:cNvSpPr/>
          <p:nvPr/>
        </p:nvSpPr>
        <p:spPr>
          <a:xfrm>
            <a:off x="5315248" y="4395886"/>
            <a:ext cx="2166143" cy="270668"/>
          </a:xfrm>
          <a:prstGeom prst="rect">
            <a:avLst/>
          </a:prstGeom>
          <a:noFill/>
          <a:ln/>
        </p:spPr>
        <p:txBody>
          <a:bodyPr wrap="none" lIns="0" tIns="0" rIns="0" bIns="0" rtlCol="0" anchor="t"/>
          <a:lstStyle/>
          <a:p>
            <a:pPr>
              <a:lnSpc>
                <a:spcPts val="2125"/>
              </a:lnSpc>
            </a:pPr>
            <a:r>
              <a:rPr lang="en-US" sz="1667" b="1" dirty="0">
                <a:solidFill>
                  <a:srgbClr val="000000"/>
                </a:solidFill>
                <a:latin typeface="Aptos" panose="020B0004020202020204" pitchFamily="34" charset="0"/>
                <a:ea typeface="Playfair Display Bold" pitchFamily="34" charset="-122"/>
                <a:cs typeface="Playfair Display Bold" pitchFamily="34" charset="-120"/>
              </a:rPr>
              <a:t>Career Advantage</a:t>
            </a:r>
            <a:endParaRPr lang="en-US" sz="1667" dirty="0">
              <a:latin typeface="Aptos" panose="020B0004020202020204" pitchFamily="34" charset="0"/>
            </a:endParaRPr>
          </a:p>
        </p:txBody>
      </p:sp>
      <p:sp>
        <p:nvSpPr>
          <p:cNvPr id="27" name="Text 9">
            <a:extLst>
              <a:ext uri="{FF2B5EF4-FFF2-40B4-BE49-F238E27FC236}">
                <a16:creationId xmlns:a16="http://schemas.microsoft.com/office/drawing/2014/main" id="{EC94213A-9E80-362D-29B5-447AED2EF04C}"/>
              </a:ext>
            </a:extLst>
          </p:cNvPr>
          <p:cNvSpPr/>
          <p:nvPr/>
        </p:nvSpPr>
        <p:spPr>
          <a:xfrm>
            <a:off x="5315248" y="4770437"/>
            <a:ext cx="6047780" cy="277317"/>
          </a:xfrm>
          <a:prstGeom prst="rect">
            <a:avLst/>
          </a:prstGeom>
          <a:noFill/>
          <a:ln/>
        </p:spPr>
        <p:txBody>
          <a:bodyPr wrap="none" lIns="0" tIns="0" rIns="0" bIns="0" rtlCol="0" anchor="t"/>
          <a:lstStyle/>
          <a:p>
            <a:pPr>
              <a:lnSpc>
                <a:spcPts val="2167"/>
              </a:lnSpc>
            </a:pPr>
            <a:r>
              <a:rPr lang="en-US" sz="1333" dirty="0">
                <a:solidFill>
                  <a:srgbClr val="000000"/>
                </a:solidFill>
                <a:latin typeface="Aptos" panose="020B0004020202020204" pitchFamily="34" charset="0"/>
                <a:ea typeface="Inter" pitchFamily="34" charset="-122"/>
                <a:cs typeface="Inter" pitchFamily="34" charset="-120"/>
              </a:rPr>
              <a:t>Top data science job postings increasingly list both. Kaggle competitions and academic research often require Python; pharma, finance, and social science research often require R. Knowing both doubles your reach.</a:t>
            </a:r>
            <a:endParaRPr lang="en-US" sz="1333" dirty="0">
              <a:latin typeface="Aptos" panose="020B0004020202020204" pitchFamily="34" charset="0"/>
            </a:endParaRPr>
          </a:p>
        </p:txBody>
      </p:sp>
      <p:sp>
        <p:nvSpPr>
          <p:cNvPr id="28" name="Shape 10">
            <a:extLst>
              <a:ext uri="{FF2B5EF4-FFF2-40B4-BE49-F238E27FC236}">
                <a16:creationId xmlns:a16="http://schemas.microsoft.com/office/drawing/2014/main" id="{C37659CF-6671-34D6-3A63-779C5286D6A6}"/>
              </a:ext>
            </a:extLst>
          </p:cNvPr>
          <p:cNvSpPr/>
          <p:nvPr/>
        </p:nvSpPr>
        <p:spPr>
          <a:xfrm>
            <a:off x="5135662" y="5400576"/>
            <a:ext cx="6406952" cy="1011039"/>
          </a:xfrm>
          <a:prstGeom prst="roundRect">
            <a:avLst>
              <a:gd name="adj" fmla="val 7199"/>
            </a:avLst>
          </a:prstGeom>
          <a:solidFill>
            <a:srgbClr val="CCEDFF"/>
          </a:solidFill>
          <a:ln w="7620">
            <a:solidFill>
              <a:srgbClr val="B2D3E5"/>
            </a:solidFill>
            <a:prstDash val="solid"/>
          </a:ln>
        </p:spPr>
        <p:txBody>
          <a:bodyPr/>
          <a:lstStyle/>
          <a:p>
            <a:endParaRPr lang="en-US" sz="1500">
              <a:latin typeface="Aptos" panose="020B0004020202020204" pitchFamily="34" charset="0"/>
            </a:endParaRPr>
          </a:p>
        </p:txBody>
      </p:sp>
      <p:sp>
        <p:nvSpPr>
          <p:cNvPr id="29" name="Text 11">
            <a:extLst>
              <a:ext uri="{FF2B5EF4-FFF2-40B4-BE49-F238E27FC236}">
                <a16:creationId xmlns:a16="http://schemas.microsoft.com/office/drawing/2014/main" id="{43C26DF4-E78A-163B-34EA-88405E2BFE3F}"/>
              </a:ext>
            </a:extLst>
          </p:cNvPr>
          <p:cNvSpPr/>
          <p:nvPr/>
        </p:nvSpPr>
        <p:spPr>
          <a:xfrm>
            <a:off x="5315248" y="5580161"/>
            <a:ext cx="2166143" cy="270668"/>
          </a:xfrm>
          <a:prstGeom prst="rect">
            <a:avLst/>
          </a:prstGeom>
          <a:noFill/>
          <a:ln/>
        </p:spPr>
        <p:txBody>
          <a:bodyPr wrap="none" lIns="0" tIns="0" rIns="0" bIns="0" rtlCol="0" anchor="t"/>
          <a:lstStyle/>
          <a:p>
            <a:pPr>
              <a:lnSpc>
                <a:spcPts val="2125"/>
              </a:lnSpc>
            </a:pPr>
            <a:r>
              <a:rPr lang="en-US" sz="1667" b="1" dirty="0">
                <a:solidFill>
                  <a:srgbClr val="000000"/>
                </a:solidFill>
                <a:latin typeface="Aptos" panose="020B0004020202020204" pitchFamily="34" charset="0"/>
                <a:ea typeface="Playfair Display Bold" pitchFamily="34" charset="-122"/>
                <a:cs typeface="Playfair Display Bold" pitchFamily="34" charset="-120"/>
              </a:rPr>
              <a:t>Learning Transfer</a:t>
            </a:r>
            <a:endParaRPr lang="en-US" sz="1667" dirty="0">
              <a:latin typeface="Aptos" panose="020B0004020202020204" pitchFamily="34" charset="0"/>
            </a:endParaRPr>
          </a:p>
        </p:txBody>
      </p:sp>
      <p:sp>
        <p:nvSpPr>
          <p:cNvPr id="30" name="Text 12">
            <a:extLst>
              <a:ext uri="{FF2B5EF4-FFF2-40B4-BE49-F238E27FC236}">
                <a16:creationId xmlns:a16="http://schemas.microsoft.com/office/drawing/2014/main" id="{9DC3327D-C31A-1BEF-6ED1-5DD1C66E83EC}"/>
              </a:ext>
            </a:extLst>
          </p:cNvPr>
          <p:cNvSpPr/>
          <p:nvPr/>
        </p:nvSpPr>
        <p:spPr>
          <a:xfrm>
            <a:off x="5315248" y="5954712"/>
            <a:ext cx="6047780" cy="277317"/>
          </a:xfrm>
          <a:prstGeom prst="rect">
            <a:avLst/>
          </a:prstGeom>
          <a:noFill/>
          <a:ln/>
        </p:spPr>
        <p:txBody>
          <a:bodyPr wrap="none" lIns="0" tIns="0" rIns="0" bIns="0" rtlCol="0" anchor="t"/>
          <a:lstStyle/>
          <a:p>
            <a:pPr>
              <a:lnSpc>
                <a:spcPts val="2167"/>
              </a:lnSpc>
            </a:pPr>
            <a:r>
              <a:rPr lang="en-US" sz="1333" dirty="0">
                <a:solidFill>
                  <a:srgbClr val="000000"/>
                </a:solidFill>
                <a:latin typeface="Aptos" panose="020B0004020202020204" pitchFamily="34" charset="0"/>
                <a:ea typeface="Inter" pitchFamily="34" charset="-122"/>
                <a:cs typeface="Inter" pitchFamily="34" charset="-120"/>
              </a:rPr>
              <a:t>Data frames, vectorization, the split-apply-combine pattern, and the grammar of graphics are language-agnostic concepts. Learn them once; apply them everywhere — including in coding agents.</a:t>
            </a:r>
            <a:endParaRPr lang="en-US" sz="1333" dirty="0">
              <a:latin typeface="Aptos" panose="020B0004020202020204" pitchFamily="34" charset="0"/>
            </a:endParaRPr>
          </a:p>
        </p:txBody>
      </p:sp>
    </p:spTree>
    <p:extLst>
      <p:ext uri="{BB962C8B-B14F-4D97-AF65-F5344CB8AC3E}">
        <p14:creationId xmlns:p14="http://schemas.microsoft.com/office/powerpoint/2010/main" val="40951899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901C29D3-FC2F-4C20-1D0B-E20C5955EE20}"/>
              </a:ext>
            </a:extLst>
          </p:cNvPr>
          <p:cNvPicPr>
            <a:picLocks noChangeAspect="1"/>
          </p:cNvPicPr>
          <p:nvPr/>
        </p:nvPicPr>
        <p:blipFill>
          <a:blip r:embed="rId2"/>
          <a:stretch>
            <a:fillRect/>
          </a:stretch>
        </p:blipFill>
        <p:spPr>
          <a:xfrm>
            <a:off x="0" y="0"/>
            <a:ext cx="4572000" cy="6858000"/>
          </a:xfrm>
          <a:prstGeom prst="rect">
            <a:avLst/>
          </a:prstGeom>
        </p:spPr>
      </p:pic>
      <p:sp>
        <p:nvSpPr>
          <p:cNvPr id="5" name="Text 0">
            <a:extLst>
              <a:ext uri="{FF2B5EF4-FFF2-40B4-BE49-F238E27FC236}">
                <a16:creationId xmlns:a16="http://schemas.microsoft.com/office/drawing/2014/main" id="{EF47C439-9565-46A5-1151-93DD548E9649}"/>
              </a:ext>
            </a:extLst>
          </p:cNvPr>
          <p:cNvSpPr/>
          <p:nvPr/>
        </p:nvSpPr>
        <p:spPr>
          <a:xfrm>
            <a:off x="5233492" y="724595"/>
            <a:ext cx="4725492" cy="590649"/>
          </a:xfrm>
          <a:prstGeom prst="rect">
            <a:avLst/>
          </a:prstGeom>
          <a:noFill/>
          <a:ln/>
        </p:spPr>
        <p:txBody>
          <a:bodyPr wrap="none" lIns="0" tIns="0" rIns="0" bIns="0" rtlCol="0" anchor="t"/>
          <a:lstStyle/>
          <a:p>
            <a:pPr>
              <a:lnSpc>
                <a:spcPts val="4625"/>
              </a:lnSpc>
            </a:pPr>
            <a:r>
              <a:rPr lang="en-US" sz="3708" b="1" dirty="0">
                <a:solidFill>
                  <a:srgbClr val="000000"/>
                </a:solidFill>
                <a:latin typeface="Aptos" panose="020B0004020202020204" pitchFamily="34" charset="0"/>
                <a:ea typeface="Playfair Display Bold" pitchFamily="34" charset="-122"/>
                <a:cs typeface="Playfair Display Bold" pitchFamily="34" charset="-120"/>
              </a:rPr>
              <a:t>Chapter 4 Summary</a:t>
            </a:r>
            <a:endParaRPr lang="en-US" sz="3708" dirty="0">
              <a:latin typeface="Aptos" panose="020B0004020202020204" pitchFamily="34" charset="0"/>
            </a:endParaRPr>
          </a:p>
        </p:txBody>
      </p:sp>
      <p:sp>
        <p:nvSpPr>
          <p:cNvPr id="6" name="Shape 1">
            <a:extLst>
              <a:ext uri="{FF2B5EF4-FFF2-40B4-BE49-F238E27FC236}">
                <a16:creationId xmlns:a16="http://schemas.microsoft.com/office/drawing/2014/main" id="{85533C58-7901-72D0-C0BA-C6BCC14AC896}"/>
              </a:ext>
            </a:extLst>
          </p:cNvPr>
          <p:cNvSpPr/>
          <p:nvPr/>
        </p:nvSpPr>
        <p:spPr>
          <a:xfrm>
            <a:off x="5425799" y="2100263"/>
            <a:ext cx="45719" cy="4187230"/>
          </a:xfrm>
          <a:prstGeom prst="roundRect">
            <a:avLst>
              <a:gd name="adj" fmla="val 312558"/>
            </a:avLst>
          </a:prstGeom>
          <a:solidFill>
            <a:srgbClr val="B2D3E5"/>
          </a:solidFill>
          <a:ln/>
        </p:spPr>
        <p:txBody>
          <a:bodyPr/>
          <a:lstStyle/>
          <a:p>
            <a:endParaRPr lang="en-US" sz="1500">
              <a:latin typeface="Aptos" panose="020B0004020202020204" pitchFamily="34" charset="0"/>
            </a:endParaRPr>
          </a:p>
        </p:txBody>
      </p:sp>
      <p:sp>
        <p:nvSpPr>
          <p:cNvPr id="7" name="Shape 2">
            <a:extLst>
              <a:ext uri="{FF2B5EF4-FFF2-40B4-BE49-F238E27FC236}">
                <a16:creationId xmlns:a16="http://schemas.microsoft.com/office/drawing/2014/main" id="{30D430E6-4C15-CB73-E02A-109119C5F477}"/>
              </a:ext>
            </a:extLst>
          </p:cNvPr>
          <p:cNvSpPr/>
          <p:nvPr/>
        </p:nvSpPr>
        <p:spPr>
          <a:xfrm>
            <a:off x="5633343" y="1886050"/>
            <a:ext cx="567035" cy="25400"/>
          </a:xfrm>
          <a:prstGeom prst="roundRect">
            <a:avLst>
              <a:gd name="adj" fmla="val 312558"/>
            </a:avLst>
          </a:prstGeom>
          <a:solidFill>
            <a:srgbClr val="B2D3E5"/>
          </a:solidFill>
          <a:ln/>
        </p:spPr>
        <p:txBody>
          <a:bodyPr/>
          <a:lstStyle/>
          <a:p>
            <a:endParaRPr lang="en-US" sz="1500">
              <a:latin typeface="Aptos" panose="020B0004020202020204" pitchFamily="34" charset="0"/>
            </a:endParaRPr>
          </a:p>
        </p:txBody>
      </p:sp>
      <p:sp>
        <p:nvSpPr>
          <p:cNvPr id="8" name="Shape 3">
            <a:extLst>
              <a:ext uri="{FF2B5EF4-FFF2-40B4-BE49-F238E27FC236}">
                <a16:creationId xmlns:a16="http://schemas.microsoft.com/office/drawing/2014/main" id="{65CAFD60-891D-40EF-0694-A3B80DB2F572}"/>
              </a:ext>
            </a:extLst>
          </p:cNvPr>
          <p:cNvSpPr/>
          <p:nvPr/>
        </p:nvSpPr>
        <p:spPr>
          <a:xfrm>
            <a:off x="5233492" y="1686124"/>
            <a:ext cx="425252" cy="425252"/>
          </a:xfrm>
          <a:prstGeom prst="roundRect">
            <a:avLst>
              <a:gd name="adj" fmla="val 18669"/>
            </a:avLst>
          </a:prstGeom>
          <a:solidFill>
            <a:srgbClr val="CCEDFF"/>
          </a:solidFill>
          <a:ln w="7620">
            <a:solidFill>
              <a:srgbClr val="B2D3E5"/>
            </a:solidFill>
            <a:prstDash val="solid"/>
          </a:ln>
        </p:spPr>
        <p:txBody>
          <a:bodyPr/>
          <a:lstStyle/>
          <a:p>
            <a:endParaRPr lang="en-US" sz="1500">
              <a:latin typeface="Aptos" panose="020B0004020202020204" pitchFamily="34" charset="0"/>
            </a:endParaRPr>
          </a:p>
        </p:txBody>
      </p:sp>
      <p:pic>
        <p:nvPicPr>
          <p:cNvPr id="9" name="Image 1" descr="preencoded.png">
            <a:extLst>
              <a:ext uri="{FF2B5EF4-FFF2-40B4-BE49-F238E27FC236}">
                <a16:creationId xmlns:a16="http://schemas.microsoft.com/office/drawing/2014/main" id="{1D22D710-F5B3-B187-7DEF-558EBAFA807A}"/>
              </a:ext>
            </a:extLst>
          </p:cNvPr>
          <p:cNvPicPr>
            <a:picLocks noChangeAspect="1"/>
          </p:cNvPicPr>
          <p:nvPr/>
        </p:nvPicPr>
        <p:blipFill>
          <a:blip r:embed="rId3"/>
          <a:stretch>
            <a:fillRect/>
          </a:stretch>
        </p:blipFill>
        <p:spPr>
          <a:xfrm>
            <a:off x="5304384" y="1722936"/>
            <a:ext cx="283468" cy="354409"/>
          </a:xfrm>
          <a:prstGeom prst="rect">
            <a:avLst/>
          </a:prstGeom>
        </p:spPr>
      </p:pic>
      <p:sp>
        <p:nvSpPr>
          <p:cNvPr id="10" name="Text 4">
            <a:extLst>
              <a:ext uri="{FF2B5EF4-FFF2-40B4-BE49-F238E27FC236}">
                <a16:creationId xmlns:a16="http://schemas.microsoft.com/office/drawing/2014/main" id="{3CF0C8F4-D5B0-26D5-6374-A5109F833C4B}"/>
              </a:ext>
            </a:extLst>
          </p:cNvPr>
          <p:cNvSpPr/>
          <p:nvPr/>
        </p:nvSpPr>
        <p:spPr>
          <a:xfrm>
            <a:off x="6391176" y="1751013"/>
            <a:ext cx="2943523" cy="295275"/>
          </a:xfrm>
          <a:prstGeom prst="rect">
            <a:avLst/>
          </a:prstGeom>
          <a:noFill/>
          <a:ln/>
        </p:spPr>
        <p:txBody>
          <a:bodyPr wrap="none" lIns="0" tIns="0" rIns="0" bIns="0" rtlCol="0" anchor="t"/>
          <a:lstStyle/>
          <a:p>
            <a:pPr>
              <a:lnSpc>
                <a:spcPts val="2292"/>
              </a:lnSpc>
            </a:pPr>
            <a:r>
              <a:rPr lang="en-US" sz="1833" b="1" dirty="0">
                <a:solidFill>
                  <a:srgbClr val="000000"/>
                </a:solidFill>
                <a:latin typeface="Aptos" panose="020B0004020202020204" pitchFamily="34" charset="0"/>
                <a:ea typeface="Playfair Display Bold" pitchFamily="34" charset="-122"/>
                <a:cs typeface="Playfair Display Bold" pitchFamily="34" charset="-120"/>
              </a:rPr>
              <a:t>Python Environment Setup</a:t>
            </a:r>
            <a:endParaRPr lang="en-US" sz="1833" dirty="0">
              <a:latin typeface="Aptos" panose="020B0004020202020204" pitchFamily="34" charset="0"/>
            </a:endParaRPr>
          </a:p>
        </p:txBody>
      </p:sp>
      <p:sp>
        <p:nvSpPr>
          <p:cNvPr id="11" name="Text 5">
            <a:extLst>
              <a:ext uri="{FF2B5EF4-FFF2-40B4-BE49-F238E27FC236}">
                <a16:creationId xmlns:a16="http://schemas.microsoft.com/office/drawing/2014/main" id="{59AD7DDE-48C1-471C-C0DB-CAD05433E6DF}"/>
              </a:ext>
            </a:extLst>
          </p:cNvPr>
          <p:cNvSpPr/>
          <p:nvPr/>
        </p:nvSpPr>
        <p:spPr>
          <a:xfrm>
            <a:off x="6391176" y="2159695"/>
            <a:ext cx="5139333" cy="604838"/>
          </a:xfrm>
          <a:prstGeom prst="rect">
            <a:avLst/>
          </a:prstGeom>
          <a:noFill/>
          <a:ln/>
        </p:spPr>
        <p:txBody>
          <a:bodyPr wrap="square" lIns="0" tIns="0" rIns="0" bIns="0" rtlCol="0" anchor="t"/>
          <a:lstStyle/>
          <a:p>
            <a:pPr>
              <a:lnSpc>
                <a:spcPts val="2375"/>
              </a:lnSpc>
            </a:pPr>
            <a:r>
              <a:rPr lang="en-US" sz="1458" dirty="0">
                <a:solidFill>
                  <a:srgbClr val="000000"/>
                </a:solidFill>
                <a:latin typeface="Aptos" panose="020B0004020202020204" pitchFamily="34" charset="0"/>
                <a:ea typeface="Inter" pitchFamily="34" charset="-122"/>
                <a:cs typeface="Inter" pitchFamily="34" charset="-120"/>
              </a:rPr>
              <a:t>Jupyter’s literate programming model (code + prose + output) enables reproducible analysis. Anaconda or Google Colab provide the full scientific Python stack out of the box.</a:t>
            </a:r>
            <a:endParaRPr lang="en-US" sz="1458" dirty="0">
              <a:latin typeface="Aptos" panose="020B0004020202020204" pitchFamily="34" charset="0"/>
            </a:endParaRPr>
          </a:p>
        </p:txBody>
      </p:sp>
      <p:sp>
        <p:nvSpPr>
          <p:cNvPr id="12" name="Shape 6">
            <a:extLst>
              <a:ext uri="{FF2B5EF4-FFF2-40B4-BE49-F238E27FC236}">
                <a16:creationId xmlns:a16="http://schemas.microsoft.com/office/drawing/2014/main" id="{5338DD38-9B0E-7A6B-7DA7-6A4D58306479}"/>
              </a:ext>
            </a:extLst>
          </p:cNvPr>
          <p:cNvSpPr/>
          <p:nvPr/>
        </p:nvSpPr>
        <p:spPr>
          <a:xfrm>
            <a:off x="5633343" y="3240336"/>
            <a:ext cx="567035" cy="25400"/>
          </a:xfrm>
          <a:prstGeom prst="roundRect">
            <a:avLst>
              <a:gd name="adj" fmla="val 312558"/>
            </a:avLst>
          </a:prstGeom>
          <a:solidFill>
            <a:srgbClr val="B2D3E5"/>
          </a:solidFill>
          <a:ln/>
        </p:spPr>
        <p:txBody>
          <a:bodyPr/>
          <a:lstStyle/>
          <a:p>
            <a:endParaRPr lang="en-US" sz="1500">
              <a:latin typeface="Aptos" panose="020B0004020202020204" pitchFamily="34" charset="0"/>
            </a:endParaRPr>
          </a:p>
        </p:txBody>
      </p:sp>
      <p:sp>
        <p:nvSpPr>
          <p:cNvPr id="13" name="Shape 7">
            <a:extLst>
              <a:ext uri="{FF2B5EF4-FFF2-40B4-BE49-F238E27FC236}">
                <a16:creationId xmlns:a16="http://schemas.microsoft.com/office/drawing/2014/main" id="{CDDA5190-CFA5-FEEB-6F67-4EAF7669120B}"/>
              </a:ext>
            </a:extLst>
          </p:cNvPr>
          <p:cNvSpPr/>
          <p:nvPr/>
        </p:nvSpPr>
        <p:spPr>
          <a:xfrm>
            <a:off x="5233492" y="3040410"/>
            <a:ext cx="425252" cy="425252"/>
          </a:xfrm>
          <a:prstGeom prst="roundRect">
            <a:avLst>
              <a:gd name="adj" fmla="val 18669"/>
            </a:avLst>
          </a:prstGeom>
          <a:solidFill>
            <a:srgbClr val="CCEDFF"/>
          </a:solidFill>
          <a:ln w="7620">
            <a:solidFill>
              <a:srgbClr val="B2D3E5"/>
            </a:solidFill>
            <a:prstDash val="solid"/>
          </a:ln>
        </p:spPr>
        <p:txBody>
          <a:bodyPr/>
          <a:lstStyle/>
          <a:p>
            <a:endParaRPr lang="en-US" sz="1500">
              <a:latin typeface="Aptos" panose="020B0004020202020204" pitchFamily="34" charset="0"/>
            </a:endParaRPr>
          </a:p>
        </p:txBody>
      </p:sp>
      <p:pic>
        <p:nvPicPr>
          <p:cNvPr id="14" name="Image 2" descr="preencoded.png">
            <a:extLst>
              <a:ext uri="{FF2B5EF4-FFF2-40B4-BE49-F238E27FC236}">
                <a16:creationId xmlns:a16="http://schemas.microsoft.com/office/drawing/2014/main" id="{0DEDDEAA-7F6B-A0DC-410A-DDB334697AE8}"/>
              </a:ext>
            </a:extLst>
          </p:cNvPr>
          <p:cNvPicPr>
            <a:picLocks noChangeAspect="1"/>
          </p:cNvPicPr>
          <p:nvPr/>
        </p:nvPicPr>
        <p:blipFill>
          <a:blip r:embed="rId4"/>
          <a:stretch>
            <a:fillRect/>
          </a:stretch>
        </p:blipFill>
        <p:spPr>
          <a:xfrm>
            <a:off x="5304384" y="3075832"/>
            <a:ext cx="283468" cy="354409"/>
          </a:xfrm>
          <a:prstGeom prst="rect">
            <a:avLst/>
          </a:prstGeom>
        </p:spPr>
      </p:pic>
      <p:sp>
        <p:nvSpPr>
          <p:cNvPr id="15" name="Text 8">
            <a:extLst>
              <a:ext uri="{FF2B5EF4-FFF2-40B4-BE49-F238E27FC236}">
                <a16:creationId xmlns:a16="http://schemas.microsoft.com/office/drawing/2014/main" id="{5B27AE3E-7C89-047D-53E4-E0B31E5883B0}"/>
              </a:ext>
            </a:extLst>
          </p:cNvPr>
          <p:cNvSpPr/>
          <p:nvPr/>
        </p:nvSpPr>
        <p:spPr>
          <a:xfrm>
            <a:off x="6391176" y="3105299"/>
            <a:ext cx="2673846" cy="295275"/>
          </a:xfrm>
          <a:prstGeom prst="rect">
            <a:avLst/>
          </a:prstGeom>
          <a:noFill/>
          <a:ln/>
        </p:spPr>
        <p:txBody>
          <a:bodyPr wrap="none" lIns="0" tIns="0" rIns="0" bIns="0" rtlCol="0" anchor="t"/>
          <a:lstStyle/>
          <a:p>
            <a:pPr>
              <a:lnSpc>
                <a:spcPts val="2292"/>
              </a:lnSpc>
            </a:pPr>
            <a:r>
              <a:rPr lang="en-US" sz="1833" b="1" dirty="0">
                <a:solidFill>
                  <a:srgbClr val="000000"/>
                </a:solidFill>
                <a:latin typeface="Aptos" panose="020B0004020202020204" pitchFamily="34" charset="0"/>
                <a:ea typeface="Playfair Display Bold" pitchFamily="34" charset="-122"/>
                <a:cs typeface="Playfair Display Bold" pitchFamily="34" charset="-120"/>
              </a:rPr>
              <a:t>pandas for Data Analysis</a:t>
            </a:r>
            <a:endParaRPr lang="en-US" sz="1833" dirty="0">
              <a:latin typeface="Aptos" panose="020B0004020202020204" pitchFamily="34" charset="0"/>
            </a:endParaRPr>
          </a:p>
        </p:txBody>
      </p:sp>
      <p:sp>
        <p:nvSpPr>
          <p:cNvPr id="16" name="Text 9">
            <a:extLst>
              <a:ext uri="{FF2B5EF4-FFF2-40B4-BE49-F238E27FC236}">
                <a16:creationId xmlns:a16="http://schemas.microsoft.com/office/drawing/2014/main" id="{F0108FF7-E468-B986-6804-6EA723705B2A}"/>
              </a:ext>
            </a:extLst>
          </p:cNvPr>
          <p:cNvSpPr/>
          <p:nvPr/>
        </p:nvSpPr>
        <p:spPr>
          <a:xfrm>
            <a:off x="6391175" y="3507978"/>
            <a:ext cx="5139333" cy="604838"/>
          </a:xfrm>
          <a:prstGeom prst="rect">
            <a:avLst/>
          </a:prstGeom>
          <a:noFill/>
          <a:ln/>
        </p:spPr>
        <p:txBody>
          <a:bodyPr wrap="square" lIns="0" tIns="0" rIns="0" bIns="0" rtlCol="0" anchor="t"/>
          <a:lstStyle/>
          <a:p>
            <a:pPr>
              <a:lnSpc>
                <a:spcPts val="2375"/>
              </a:lnSpc>
            </a:pPr>
            <a:r>
              <a:rPr lang="en-US" sz="1458" dirty="0">
                <a:solidFill>
                  <a:srgbClr val="000000"/>
                </a:solidFill>
                <a:latin typeface="Aptos" panose="020B0004020202020204" pitchFamily="34" charset="0"/>
                <a:ea typeface="Inter" pitchFamily="34" charset="-122"/>
                <a:cs typeface="Inter" pitchFamily="34" charset="-120"/>
              </a:rPr>
              <a:t>5-step EDA: import → load → audit (dtypes, shape, nulls) → analyze (mean/median/groupby/value_counts) → visualize. Always validate before computing statistics.</a:t>
            </a:r>
            <a:endParaRPr lang="en-US" sz="1458" dirty="0">
              <a:latin typeface="Aptos" panose="020B0004020202020204" pitchFamily="34" charset="0"/>
            </a:endParaRPr>
          </a:p>
        </p:txBody>
      </p:sp>
      <p:sp>
        <p:nvSpPr>
          <p:cNvPr id="17" name="Shape 10">
            <a:extLst>
              <a:ext uri="{FF2B5EF4-FFF2-40B4-BE49-F238E27FC236}">
                <a16:creationId xmlns:a16="http://schemas.microsoft.com/office/drawing/2014/main" id="{A9A40F60-00E8-11AD-7D15-39DC60353826}"/>
              </a:ext>
            </a:extLst>
          </p:cNvPr>
          <p:cNvSpPr/>
          <p:nvPr/>
        </p:nvSpPr>
        <p:spPr>
          <a:xfrm>
            <a:off x="5633343" y="4458148"/>
            <a:ext cx="567035" cy="25400"/>
          </a:xfrm>
          <a:prstGeom prst="roundRect">
            <a:avLst>
              <a:gd name="adj" fmla="val 312558"/>
            </a:avLst>
          </a:prstGeom>
          <a:solidFill>
            <a:srgbClr val="B2D3E5"/>
          </a:solidFill>
          <a:ln/>
        </p:spPr>
        <p:txBody>
          <a:bodyPr/>
          <a:lstStyle/>
          <a:p>
            <a:endParaRPr lang="en-US" sz="1500">
              <a:latin typeface="Aptos" panose="020B0004020202020204" pitchFamily="34" charset="0"/>
            </a:endParaRPr>
          </a:p>
        </p:txBody>
      </p:sp>
      <p:sp>
        <p:nvSpPr>
          <p:cNvPr id="18" name="Shape 11">
            <a:extLst>
              <a:ext uri="{FF2B5EF4-FFF2-40B4-BE49-F238E27FC236}">
                <a16:creationId xmlns:a16="http://schemas.microsoft.com/office/drawing/2014/main" id="{A9A86DF5-4FD9-B5AF-C1C9-4765BADBC1BC}"/>
              </a:ext>
            </a:extLst>
          </p:cNvPr>
          <p:cNvSpPr/>
          <p:nvPr/>
        </p:nvSpPr>
        <p:spPr>
          <a:xfrm>
            <a:off x="5233492" y="4258222"/>
            <a:ext cx="425252" cy="425252"/>
          </a:xfrm>
          <a:prstGeom prst="roundRect">
            <a:avLst>
              <a:gd name="adj" fmla="val 18669"/>
            </a:avLst>
          </a:prstGeom>
          <a:solidFill>
            <a:srgbClr val="CCEDFF"/>
          </a:solidFill>
          <a:ln w="7620">
            <a:solidFill>
              <a:srgbClr val="B2D3E5"/>
            </a:solidFill>
            <a:prstDash val="solid"/>
          </a:ln>
        </p:spPr>
        <p:txBody>
          <a:bodyPr/>
          <a:lstStyle/>
          <a:p>
            <a:endParaRPr lang="en-US" sz="1500">
              <a:latin typeface="Aptos" panose="020B0004020202020204" pitchFamily="34" charset="0"/>
            </a:endParaRPr>
          </a:p>
        </p:txBody>
      </p:sp>
      <p:sp>
        <p:nvSpPr>
          <p:cNvPr id="19" name="Text 12">
            <a:extLst>
              <a:ext uri="{FF2B5EF4-FFF2-40B4-BE49-F238E27FC236}">
                <a16:creationId xmlns:a16="http://schemas.microsoft.com/office/drawing/2014/main" id="{01763B25-BF63-765C-1B03-008C44C3189D}"/>
              </a:ext>
            </a:extLst>
          </p:cNvPr>
          <p:cNvSpPr/>
          <p:nvPr/>
        </p:nvSpPr>
        <p:spPr>
          <a:xfrm>
            <a:off x="5304384" y="4399213"/>
            <a:ext cx="283468" cy="354409"/>
          </a:xfrm>
          <a:prstGeom prst="rect">
            <a:avLst/>
          </a:prstGeom>
          <a:noFill/>
          <a:ln/>
        </p:spPr>
        <p:txBody>
          <a:bodyPr wrap="none" lIns="0" tIns="0" rIns="0" bIns="0" rtlCol="0" anchor="t"/>
          <a:lstStyle/>
          <a:p>
            <a:pPr algn="ctr">
              <a:lnSpc>
                <a:spcPts val="2208"/>
              </a:lnSpc>
            </a:pPr>
            <a:r>
              <a:rPr lang="en-US" sz="2208" dirty="0">
                <a:latin typeface="Aptos" panose="020B0004020202020204" pitchFamily="34" charset="0"/>
              </a:rPr>
              <a:t>📈</a:t>
            </a:r>
          </a:p>
        </p:txBody>
      </p:sp>
      <p:sp>
        <p:nvSpPr>
          <p:cNvPr id="20" name="Text 13">
            <a:extLst>
              <a:ext uri="{FF2B5EF4-FFF2-40B4-BE49-F238E27FC236}">
                <a16:creationId xmlns:a16="http://schemas.microsoft.com/office/drawing/2014/main" id="{D93C6A6D-709C-A48B-4344-E5DC9D7A57E6}"/>
              </a:ext>
            </a:extLst>
          </p:cNvPr>
          <p:cNvSpPr/>
          <p:nvPr/>
        </p:nvSpPr>
        <p:spPr>
          <a:xfrm>
            <a:off x="6391176" y="4323111"/>
            <a:ext cx="2974975" cy="295275"/>
          </a:xfrm>
          <a:prstGeom prst="rect">
            <a:avLst/>
          </a:prstGeom>
          <a:noFill/>
          <a:ln/>
        </p:spPr>
        <p:txBody>
          <a:bodyPr wrap="none" lIns="0" tIns="0" rIns="0" bIns="0" rtlCol="0" anchor="t"/>
          <a:lstStyle/>
          <a:p>
            <a:pPr>
              <a:lnSpc>
                <a:spcPts val="2292"/>
              </a:lnSpc>
            </a:pPr>
            <a:r>
              <a:rPr lang="en-US" sz="1833" b="1" dirty="0">
                <a:solidFill>
                  <a:srgbClr val="000000"/>
                </a:solidFill>
                <a:latin typeface="Aptos" panose="020B0004020202020204" pitchFamily="34" charset="0"/>
                <a:ea typeface="Playfair Display Bold" pitchFamily="34" charset="-122"/>
                <a:cs typeface="Playfair Display Bold" pitchFamily="34" charset="-120"/>
              </a:rPr>
              <a:t>Matplotlib for Visualization</a:t>
            </a:r>
            <a:endParaRPr lang="en-US" sz="1833" dirty="0">
              <a:latin typeface="Aptos" panose="020B0004020202020204" pitchFamily="34" charset="0"/>
            </a:endParaRPr>
          </a:p>
        </p:txBody>
      </p:sp>
      <p:sp>
        <p:nvSpPr>
          <p:cNvPr id="21" name="Text 14">
            <a:extLst>
              <a:ext uri="{FF2B5EF4-FFF2-40B4-BE49-F238E27FC236}">
                <a16:creationId xmlns:a16="http://schemas.microsoft.com/office/drawing/2014/main" id="{20B7AAF1-A702-0DB6-BA79-CCAD3CA694A8}"/>
              </a:ext>
            </a:extLst>
          </p:cNvPr>
          <p:cNvSpPr/>
          <p:nvPr/>
        </p:nvSpPr>
        <p:spPr>
          <a:xfrm>
            <a:off x="6391176" y="4731794"/>
            <a:ext cx="5139333" cy="302419"/>
          </a:xfrm>
          <a:prstGeom prst="rect">
            <a:avLst/>
          </a:prstGeom>
          <a:noFill/>
          <a:ln/>
        </p:spPr>
        <p:txBody>
          <a:bodyPr wrap="none" lIns="0" tIns="0" rIns="0" bIns="0" rtlCol="0" anchor="t"/>
          <a:lstStyle/>
          <a:p>
            <a:pPr>
              <a:lnSpc>
                <a:spcPts val="2375"/>
              </a:lnSpc>
            </a:pPr>
            <a:r>
              <a:rPr lang="en-US" sz="1458" dirty="0">
                <a:solidFill>
                  <a:srgbClr val="000000"/>
                </a:solidFill>
                <a:latin typeface="Aptos" panose="020B0004020202020204" pitchFamily="34" charset="0"/>
                <a:ea typeface="Inter" pitchFamily="34" charset="-122"/>
                <a:cs typeface="Inter" pitchFamily="34" charset="-120"/>
              </a:rPr>
              <a:t>Histograms (distributions), bar charts (categories), scatter plots (relationships). Interpret shape, not just numbers — skewness, outliers, and clustering are only visible in plots.</a:t>
            </a:r>
            <a:endParaRPr lang="en-US" sz="1458" dirty="0">
              <a:latin typeface="Aptos" panose="020B0004020202020204" pitchFamily="34" charset="0"/>
            </a:endParaRPr>
          </a:p>
        </p:txBody>
      </p:sp>
      <p:sp>
        <p:nvSpPr>
          <p:cNvPr id="22" name="Shape 15">
            <a:extLst>
              <a:ext uri="{FF2B5EF4-FFF2-40B4-BE49-F238E27FC236}">
                <a16:creationId xmlns:a16="http://schemas.microsoft.com/office/drawing/2014/main" id="{EF22E71E-4BCE-2FA6-ECCB-A8BEAC70458D}"/>
              </a:ext>
            </a:extLst>
          </p:cNvPr>
          <p:cNvSpPr/>
          <p:nvPr/>
        </p:nvSpPr>
        <p:spPr>
          <a:xfrm>
            <a:off x="5633343" y="5711428"/>
            <a:ext cx="567035" cy="25400"/>
          </a:xfrm>
          <a:prstGeom prst="roundRect">
            <a:avLst>
              <a:gd name="adj" fmla="val 312558"/>
            </a:avLst>
          </a:prstGeom>
          <a:solidFill>
            <a:srgbClr val="B2D3E5"/>
          </a:solidFill>
          <a:ln/>
        </p:spPr>
        <p:txBody>
          <a:bodyPr/>
          <a:lstStyle/>
          <a:p>
            <a:endParaRPr lang="en-US" sz="1500">
              <a:latin typeface="Aptos" panose="020B0004020202020204" pitchFamily="34" charset="0"/>
            </a:endParaRPr>
          </a:p>
        </p:txBody>
      </p:sp>
      <p:sp>
        <p:nvSpPr>
          <p:cNvPr id="23" name="Shape 16">
            <a:extLst>
              <a:ext uri="{FF2B5EF4-FFF2-40B4-BE49-F238E27FC236}">
                <a16:creationId xmlns:a16="http://schemas.microsoft.com/office/drawing/2014/main" id="{A5E6297A-0684-3DA7-480B-2122E4CC0E5F}"/>
              </a:ext>
            </a:extLst>
          </p:cNvPr>
          <p:cNvSpPr/>
          <p:nvPr/>
        </p:nvSpPr>
        <p:spPr>
          <a:xfrm>
            <a:off x="5233492" y="5511502"/>
            <a:ext cx="425252" cy="425252"/>
          </a:xfrm>
          <a:prstGeom prst="roundRect">
            <a:avLst>
              <a:gd name="adj" fmla="val 18669"/>
            </a:avLst>
          </a:prstGeom>
          <a:solidFill>
            <a:srgbClr val="CCEDFF"/>
          </a:solidFill>
          <a:ln w="7620">
            <a:solidFill>
              <a:srgbClr val="B2D3E5"/>
            </a:solidFill>
            <a:prstDash val="solid"/>
          </a:ln>
        </p:spPr>
        <p:txBody>
          <a:bodyPr/>
          <a:lstStyle/>
          <a:p>
            <a:endParaRPr lang="en-US" sz="1500">
              <a:latin typeface="Aptos" panose="020B0004020202020204" pitchFamily="34" charset="0"/>
            </a:endParaRPr>
          </a:p>
        </p:txBody>
      </p:sp>
      <p:pic>
        <p:nvPicPr>
          <p:cNvPr id="24" name="Image 3" descr="preencoded.png">
            <a:extLst>
              <a:ext uri="{FF2B5EF4-FFF2-40B4-BE49-F238E27FC236}">
                <a16:creationId xmlns:a16="http://schemas.microsoft.com/office/drawing/2014/main" id="{909FC8A5-45B2-E10E-6809-220F2E49095F}"/>
              </a:ext>
            </a:extLst>
          </p:cNvPr>
          <p:cNvPicPr>
            <a:picLocks noChangeAspect="1"/>
          </p:cNvPicPr>
          <p:nvPr/>
        </p:nvPicPr>
        <p:blipFill>
          <a:blip r:embed="rId5"/>
          <a:stretch>
            <a:fillRect/>
          </a:stretch>
        </p:blipFill>
        <p:spPr>
          <a:xfrm>
            <a:off x="5304384" y="5546924"/>
            <a:ext cx="283468" cy="354409"/>
          </a:xfrm>
          <a:prstGeom prst="rect">
            <a:avLst/>
          </a:prstGeom>
        </p:spPr>
      </p:pic>
      <p:sp>
        <p:nvSpPr>
          <p:cNvPr id="25" name="Text 17">
            <a:extLst>
              <a:ext uri="{FF2B5EF4-FFF2-40B4-BE49-F238E27FC236}">
                <a16:creationId xmlns:a16="http://schemas.microsoft.com/office/drawing/2014/main" id="{1A50EBA4-AB52-81C0-EA06-16A860063343}"/>
              </a:ext>
            </a:extLst>
          </p:cNvPr>
          <p:cNvSpPr/>
          <p:nvPr/>
        </p:nvSpPr>
        <p:spPr>
          <a:xfrm>
            <a:off x="6391176" y="5576392"/>
            <a:ext cx="2586732" cy="295275"/>
          </a:xfrm>
          <a:prstGeom prst="rect">
            <a:avLst/>
          </a:prstGeom>
          <a:noFill/>
          <a:ln/>
        </p:spPr>
        <p:txBody>
          <a:bodyPr wrap="none" lIns="0" tIns="0" rIns="0" bIns="0" rtlCol="0" anchor="t"/>
          <a:lstStyle/>
          <a:p>
            <a:pPr>
              <a:lnSpc>
                <a:spcPts val="2292"/>
              </a:lnSpc>
            </a:pPr>
            <a:r>
              <a:rPr lang="en-US" sz="1833" b="1" dirty="0">
                <a:solidFill>
                  <a:srgbClr val="000000"/>
                </a:solidFill>
                <a:latin typeface="Aptos" panose="020B0004020202020204" pitchFamily="34" charset="0"/>
                <a:ea typeface="Playfair Display Bold" pitchFamily="34" charset="-122"/>
                <a:cs typeface="Playfair Display Bold" pitchFamily="34" charset="-120"/>
              </a:rPr>
              <a:t>Guided Coding Practice</a:t>
            </a:r>
            <a:endParaRPr lang="en-US" sz="1833" dirty="0">
              <a:latin typeface="Aptos" panose="020B0004020202020204" pitchFamily="34" charset="0"/>
            </a:endParaRPr>
          </a:p>
        </p:txBody>
      </p:sp>
      <p:sp>
        <p:nvSpPr>
          <p:cNvPr id="26" name="Text 18">
            <a:extLst>
              <a:ext uri="{FF2B5EF4-FFF2-40B4-BE49-F238E27FC236}">
                <a16:creationId xmlns:a16="http://schemas.microsoft.com/office/drawing/2014/main" id="{A5FDC44B-7689-9523-8EE7-ACA24DE8C41E}"/>
              </a:ext>
            </a:extLst>
          </p:cNvPr>
          <p:cNvSpPr/>
          <p:nvPr/>
        </p:nvSpPr>
        <p:spPr>
          <a:xfrm>
            <a:off x="6391176" y="5985074"/>
            <a:ext cx="5139333" cy="302419"/>
          </a:xfrm>
          <a:prstGeom prst="rect">
            <a:avLst/>
          </a:prstGeom>
          <a:noFill/>
          <a:ln/>
        </p:spPr>
        <p:txBody>
          <a:bodyPr wrap="none" lIns="0" tIns="0" rIns="0" bIns="0" rtlCol="0" anchor="t"/>
          <a:lstStyle/>
          <a:p>
            <a:pPr>
              <a:lnSpc>
                <a:spcPts val="2375"/>
              </a:lnSpc>
            </a:pPr>
            <a:r>
              <a:rPr lang="en-US" sz="1458" dirty="0">
                <a:solidFill>
                  <a:srgbClr val="000000"/>
                </a:solidFill>
                <a:latin typeface="Aptos" panose="020B0004020202020204" pitchFamily="34" charset="0"/>
                <a:ea typeface="Inter" pitchFamily="34" charset="-122"/>
                <a:cs typeface="Inter" pitchFamily="34" charset="-120"/>
              </a:rPr>
              <a:t>R vs. Python: both are industry-standard. R excels in statistical modeling and reproducible reports; Python excels in ML pipelines and production. Professional data scientists use both.</a:t>
            </a:r>
            <a:endParaRPr lang="en-US" sz="1458" dirty="0">
              <a:latin typeface="Aptos" panose="020B0004020202020204" pitchFamily="34" charset="0"/>
            </a:endParaRPr>
          </a:p>
        </p:txBody>
      </p:sp>
    </p:spTree>
    <p:extLst>
      <p:ext uri="{BB962C8B-B14F-4D97-AF65-F5344CB8AC3E}">
        <p14:creationId xmlns:p14="http://schemas.microsoft.com/office/powerpoint/2010/main" val="3834928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23193-FA3B-0EC6-3E0A-FD87E85AEA54}"/>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9C107DBD-DFF0-F017-28B4-3AC4AD3D6B0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5581954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7EAAE-F344-0C6F-1882-B2A8C757BFE1}"/>
              </a:ext>
            </a:extLst>
          </p:cNvPr>
          <p:cNvSpPr>
            <a:spLocks noGrp="1"/>
          </p:cNvSpPr>
          <p:nvPr>
            <p:ph type="title"/>
          </p:nvPr>
        </p:nvSpPr>
        <p:spPr/>
        <p:txBody>
          <a:bodyPr/>
          <a:lstStyle/>
          <a:p>
            <a:r>
              <a:rPr lang="en-US" dirty="0"/>
              <a:t>Get the mean for a specific variable</a:t>
            </a:r>
          </a:p>
        </p:txBody>
      </p:sp>
      <p:sp>
        <p:nvSpPr>
          <p:cNvPr id="3" name="Content Placeholder 2">
            <a:extLst>
              <a:ext uri="{FF2B5EF4-FFF2-40B4-BE49-F238E27FC236}">
                <a16:creationId xmlns:a16="http://schemas.microsoft.com/office/drawing/2014/main" id="{2BEE9F10-9065-4AC4-F76D-D082E6225D51}"/>
              </a:ext>
            </a:extLst>
          </p:cNvPr>
          <p:cNvSpPr>
            <a:spLocks noGrp="1"/>
          </p:cNvSpPr>
          <p:nvPr>
            <p:ph idx="1"/>
          </p:nvPr>
        </p:nvSpPr>
        <p:spPr/>
        <p:txBody>
          <a:bodyPr/>
          <a:lstStyle/>
          <a:p>
            <a:r>
              <a:rPr lang="en-US" dirty="0" err="1"/>
              <a:t>df</a:t>
            </a:r>
            <a:r>
              <a:rPr lang="en-US" dirty="0"/>
              <a:t>["mpg"] helps selecting the “mpg” column</a:t>
            </a:r>
          </a:p>
          <a:p>
            <a:r>
              <a:rPr lang="en-US" dirty="0"/>
              <a:t>“.mean()” provide the mean value.</a:t>
            </a:r>
          </a:p>
          <a:p>
            <a:r>
              <a:rPr lang="en-US" dirty="0"/>
              <a:t>Here is the working code: </a:t>
            </a:r>
            <a:r>
              <a:rPr lang="en-US" dirty="0" err="1"/>
              <a:t>df</a:t>
            </a:r>
            <a:r>
              <a:rPr lang="en-US" dirty="0"/>
              <a:t>["mpg"].mean</a:t>
            </a:r>
          </a:p>
        </p:txBody>
      </p:sp>
      <p:pic>
        <p:nvPicPr>
          <p:cNvPr id="5" name="Picture 4" descr="A close-up of a computer code  AI-generated content may be incorrect.">
            <a:extLst>
              <a:ext uri="{FF2B5EF4-FFF2-40B4-BE49-F238E27FC236}">
                <a16:creationId xmlns:a16="http://schemas.microsoft.com/office/drawing/2014/main" id="{605F161C-578F-FD95-138A-308612CA41BC}"/>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838200" y="4390506"/>
            <a:ext cx="6782162" cy="1965844"/>
          </a:xfrm>
          <a:prstGeom prst="rect">
            <a:avLst/>
          </a:prstGeom>
        </p:spPr>
      </p:pic>
      <p:sp>
        <p:nvSpPr>
          <p:cNvPr id="6" name="TextBox 5">
            <a:extLst>
              <a:ext uri="{FF2B5EF4-FFF2-40B4-BE49-F238E27FC236}">
                <a16:creationId xmlns:a16="http://schemas.microsoft.com/office/drawing/2014/main" id="{32A76088-DF67-1499-417D-06E375EFA942}"/>
              </a:ext>
            </a:extLst>
          </p:cNvPr>
          <p:cNvSpPr txBox="1"/>
          <p:nvPr/>
        </p:nvSpPr>
        <p:spPr>
          <a:xfrm flipH="1">
            <a:off x="8144146" y="4437612"/>
            <a:ext cx="2685870" cy="1938992"/>
          </a:xfrm>
          <a:prstGeom prst="rect">
            <a:avLst/>
          </a:prstGeom>
          <a:noFill/>
        </p:spPr>
        <p:txBody>
          <a:bodyPr wrap="square" rtlCol="0">
            <a:spAutoFit/>
          </a:bodyPr>
          <a:lstStyle/>
          <a:p>
            <a:r>
              <a:rPr lang="en-US" sz="2000" dirty="0"/>
              <a:t>Note: Here we saved the calculated mean value as “</a:t>
            </a:r>
            <a:r>
              <a:rPr lang="en-US" sz="2000" dirty="0" err="1"/>
              <a:t>avg_mpg</a:t>
            </a:r>
            <a:r>
              <a:rPr lang="en-US" sz="2000" dirty="0"/>
              <a:t>” object. After that we use print to print a nice output.</a:t>
            </a:r>
          </a:p>
        </p:txBody>
      </p:sp>
    </p:spTree>
    <p:extLst>
      <p:ext uri="{BB962C8B-B14F-4D97-AF65-F5344CB8AC3E}">
        <p14:creationId xmlns:p14="http://schemas.microsoft.com/office/powerpoint/2010/main" val="17032433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26E63-82C1-5ED1-7209-BD80FD068749}"/>
              </a:ext>
            </a:extLst>
          </p:cNvPr>
          <p:cNvSpPr>
            <a:spLocks noGrp="1"/>
          </p:cNvSpPr>
          <p:nvPr>
            <p:ph type="title"/>
          </p:nvPr>
        </p:nvSpPr>
        <p:spPr/>
        <p:txBody>
          <a:bodyPr/>
          <a:lstStyle/>
          <a:p>
            <a:r>
              <a:rPr lang="en-US" dirty="0"/>
              <a:t>Frequency counts</a:t>
            </a:r>
          </a:p>
        </p:txBody>
      </p:sp>
      <p:sp>
        <p:nvSpPr>
          <p:cNvPr id="3" name="Content Placeholder 2">
            <a:extLst>
              <a:ext uri="{FF2B5EF4-FFF2-40B4-BE49-F238E27FC236}">
                <a16:creationId xmlns:a16="http://schemas.microsoft.com/office/drawing/2014/main" id="{A4BEC07A-3DB2-2EBC-B04C-2BE1EE28528C}"/>
              </a:ext>
            </a:extLst>
          </p:cNvPr>
          <p:cNvSpPr>
            <a:spLocks noGrp="1"/>
          </p:cNvSpPr>
          <p:nvPr>
            <p:ph idx="1"/>
          </p:nvPr>
        </p:nvSpPr>
        <p:spPr/>
        <p:txBody>
          <a:bodyPr/>
          <a:lstStyle/>
          <a:p>
            <a:pPr lvl="0"/>
            <a:r>
              <a:rPr lang="en-US" dirty="0"/>
              <a:t>To count occurrences like we did with table(</a:t>
            </a:r>
            <a:r>
              <a:rPr lang="en-US" dirty="0" err="1"/>
              <a:t>car_data$cyl</a:t>
            </a:r>
            <a:r>
              <a:rPr lang="en-US" dirty="0"/>
              <a:t>) in R, pandas offers </a:t>
            </a:r>
            <a:r>
              <a:rPr lang="en-US" dirty="0" err="1"/>
              <a:t>value_counts</a:t>
            </a:r>
            <a:r>
              <a:rPr lang="en-US" dirty="0"/>
              <a:t>()</a:t>
            </a:r>
          </a:p>
        </p:txBody>
      </p:sp>
      <p:pic>
        <p:nvPicPr>
          <p:cNvPr id="5" name="Picture 4" descr="A screenshot of a computer code  AI-generated content may be incorrect.">
            <a:extLst>
              <a:ext uri="{FF2B5EF4-FFF2-40B4-BE49-F238E27FC236}">
                <a16:creationId xmlns:a16="http://schemas.microsoft.com/office/drawing/2014/main" id="{AC8EE4B0-A29C-515A-EE42-F4F0C3A201E5}"/>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509963" y="3625849"/>
            <a:ext cx="4800600" cy="2336800"/>
          </a:xfrm>
          <a:prstGeom prst="rect">
            <a:avLst/>
          </a:prstGeom>
        </p:spPr>
      </p:pic>
    </p:spTree>
    <p:extLst>
      <p:ext uri="{BB962C8B-B14F-4D97-AF65-F5344CB8AC3E}">
        <p14:creationId xmlns:p14="http://schemas.microsoft.com/office/powerpoint/2010/main" val="478260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612A0-0857-1558-88D3-4A6E95FDEAF9}"/>
              </a:ext>
            </a:extLst>
          </p:cNvPr>
          <p:cNvSpPr>
            <a:spLocks noGrp="1"/>
          </p:cNvSpPr>
          <p:nvPr>
            <p:ph type="title"/>
          </p:nvPr>
        </p:nvSpPr>
        <p:spPr>
          <a:xfrm>
            <a:off x="837605" y="1126729"/>
            <a:ext cx="10515600" cy="1325563"/>
          </a:xfrm>
        </p:spPr>
        <p:txBody>
          <a:bodyPr/>
          <a:lstStyle/>
          <a:p>
            <a:r>
              <a:rPr lang="en-US" dirty="0">
                <a:solidFill>
                  <a:srgbClr val="000000"/>
                </a:solidFill>
                <a:latin typeface="Aptos" panose="020B0004020202020204" pitchFamily="34" charset="0"/>
                <a:ea typeface="Playfair Display Bold" pitchFamily="34" charset="-122"/>
                <a:cs typeface="Playfair Display Bold" pitchFamily="34" charset="-120"/>
              </a:rPr>
              <a:t>R vs. Python: Syntax Comparison</a:t>
            </a:r>
            <a:br>
              <a:rPr lang="en-US" dirty="0">
                <a:latin typeface="Aptos" panose="020B0004020202020204" pitchFamily="34" charset="0"/>
              </a:rPr>
            </a:br>
            <a:endParaRPr lang="en-US" dirty="0"/>
          </a:p>
        </p:txBody>
      </p:sp>
      <p:sp>
        <p:nvSpPr>
          <p:cNvPr id="5" name="Shape 1">
            <a:extLst>
              <a:ext uri="{FF2B5EF4-FFF2-40B4-BE49-F238E27FC236}">
                <a16:creationId xmlns:a16="http://schemas.microsoft.com/office/drawing/2014/main" id="{F69D0181-EC2E-D399-66BE-DB51B5A5D0ED}"/>
              </a:ext>
            </a:extLst>
          </p:cNvPr>
          <p:cNvSpPr/>
          <p:nvPr/>
        </p:nvSpPr>
        <p:spPr>
          <a:xfrm>
            <a:off x="601365" y="1983635"/>
            <a:ext cx="10989270" cy="2975570"/>
          </a:xfrm>
          <a:prstGeom prst="roundRect">
            <a:avLst>
              <a:gd name="adj" fmla="val 2426"/>
            </a:avLst>
          </a:prstGeom>
          <a:noFill/>
          <a:ln w="7620">
            <a:solidFill>
              <a:srgbClr val="000000">
                <a:alpha val="8000"/>
              </a:srgbClr>
            </a:solidFill>
            <a:prstDash val="solid"/>
          </a:ln>
        </p:spPr>
        <p:txBody>
          <a:bodyPr/>
          <a:lstStyle/>
          <a:p>
            <a:endParaRPr lang="en-US" sz="4400">
              <a:latin typeface="Aptos" panose="020B0004020202020204" pitchFamily="34" charset="0"/>
            </a:endParaRPr>
          </a:p>
        </p:txBody>
      </p:sp>
      <p:sp>
        <p:nvSpPr>
          <p:cNvPr id="6" name="Shape 2">
            <a:extLst>
              <a:ext uri="{FF2B5EF4-FFF2-40B4-BE49-F238E27FC236}">
                <a16:creationId xmlns:a16="http://schemas.microsoft.com/office/drawing/2014/main" id="{0B1EFD10-C65A-B108-A6DF-152B13955C55}"/>
              </a:ext>
            </a:extLst>
          </p:cNvPr>
          <p:cNvSpPr/>
          <p:nvPr/>
        </p:nvSpPr>
        <p:spPr>
          <a:xfrm>
            <a:off x="607715" y="1989985"/>
            <a:ext cx="10975380" cy="493812"/>
          </a:xfrm>
          <a:prstGeom prst="rect">
            <a:avLst/>
          </a:prstGeom>
          <a:solidFill>
            <a:srgbClr val="FFFFFF">
              <a:alpha val="4000"/>
            </a:srgbClr>
          </a:solidFill>
          <a:ln/>
        </p:spPr>
        <p:txBody>
          <a:bodyPr/>
          <a:lstStyle/>
          <a:p>
            <a:endParaRPr lang="en-US" sz="2800">
              <a:latin typeface="Aptos" panose="020B0004020202020204" pitchFamily="34" charset="0"/>
            </a:endParaRPr>
          </a:p>
        </p:txBody>
      </p:sp>
      <p:sp>
        <p:nvSpPr>
          <p:cNvPr id="7" name="Text 3">
            <a:extLst>
              <a:ext uri="{FF2B5EF4-FFF2-40B4-BE49-F238E27FC236}">
                <a16:creationId xmlns:a16="http://schemas.microsoft.com/office/drawing/2014/main" id="{2EF64D87-BA7A-2DF4-6E32-DF7756DF7072}"/>
              </a:ext>
            </a:extLst>
          </p:cNvPr>
          <p:cNvSpPr/>
          <p:nvPr/>
        </p:nvSpPr>
        <p:spPr>
          <a:xfrm>
            <a:off x="780852" y="2099424"/>
            <a:ext cx="3311327" cy="274935"/>
          </a:xfrm>
          <a:prstGeom prst="rect">
            <a:avLst/>
          </a:prstGeom>
          <a:noFill/>
          <a:ln/>
        </p:spPr>
        <p:txBody>
          <a:bodyPr wrap="none" lIns="0" tIns="0" rIns="0" bIns="0" rtlCol="0" anchor="t"/>
          <a:lstStyle/>
          <a:p>
            <a:pPr>
              <a:lnSpc>
                <a:spcPts val="2125"/>
              </a:lnSpc>
            </a:pPr>
            <a:r>
              <a:rPr lang="en-US" sz="2400" b="1" dirty="0">
                <a:solidFill>
                  <a:srgbClr val="000000"/>
                </a:solidFill>
                <a:latin typeface="Aptos" panose="020B0004020202020204" pitchFamily="34" charset="0"/>
                <a:ea typeface="Inter" pitchFamily="34" charset="-122"/>
                <a:cs typeface="Inter" pitchFamily="34" charset="-120"/>
              </a:rPr>
              <a:t>Task</a:t>
            </a:r>
            <a:endParaRPr lang="en-US" sz="2400" b="1" dirty="0">
              <a:latin typeface="Aptos" panose="020B0004020202020204" pitchFamily="34" charset="0"/>
            </a:endParaRPr>
          </a:p>
        </p:txBody>
      </p:sp>
      <p:sp>
        <p:nvSpPr>
          <p:cNvPr id="8" name="Text 4">
            <a:extLst>
              <a:ext uri="{FF2B5EF4-FFF2-40B4-BE49-F238E27FC236}">
                <a16:creationId xmlns:a16="http://schemas.microsoft.com/office/drawing/2014/main" id="{D737E2DC-4C94-E8D1-36EE-131FCFF6BC91}"/>
              </a:ext>
            </a:extLst>
          </p:cNvPr>
          <p:cNvSpPr/>
          <p:nvPr/>
        </p:nvSpPr>
        <p:spPr>
          <a:xfrm>
            <a:off x="4442023" y="2099424"/>
            <a:ext cx="3308152" cy="274935"/>
          </a:xfrm>
          <a:prstGeom prst="rect">
            <a:avLst/>
          </a:prstGeom>
          <a:noFill/>
          <a:ln/>
        </p:spPr>
        <p:txBody>
          <a:bodyPr wrap="none" lIns="0" tIns="0" rIns="0" bIns="0" rtlCol="0" anchor="t"/>
          <a:lstStyle/>
          <a:p>
            <a:pPr>
              <a:lnSpc>
                <a:spcPts val="2125"/>
              </a:lnSpc>
            </a:pPr>
            <a:r>
              <a:rPr lang="en-US" sz="2400" b="1" dirty="0">
                <a:solidFill>
                  <a:srgbClr val="000000"/>
                </a:solidFill>
                <a:latin typeface="Aptos" panose="020B0004020202020204" pitchFamily="34" charset="0"/>
                <a:ea typeface="Inter" pitchFamily="34" charset="-122"/>
                <a:cs typeface="Inter" pitchFamily="34" charset="-120"/>
              </a:rPr>
              <a:t>R Syntax</a:t>
            </a:r>
            <a:endParaRPr lang="en-US" sz="2400" b="1" dirty="0">
              <a:latin typeface="Aptos" panose="020B0004020202020204" pitchFamily="34" charset="0"/>
            </a:endParaRPr>
          </a:p>
        </p:txBody>
      </p:sp>
      <p:sp>
        <p:nvSpPr>
          <p:cNvPr id="9" name="Text 5">
            <a:extLst>
              <a:ext uri="{FF2B5EF4-FFF2-40B4-BE49-F238E27FC236}">
                <a16:creationId xmlns:a16="http://schemas.microsoft.com/office/drawing/2014/main" id="{FBCBBD16-CCF9-B603-C02A-9C10323830D6}"/>
              </a:ext>
            </a:extLst>
          </p:cNvPr>
          <p:cNvSpPr/>
          <p:nvPr/>
        </p:nvSpPr>
        <p:spPr>
          <a:xfrm>
            <a:off x="8100020" y="2099424"/>
            <a:ext cx="3311327" cy="274935"/>
          </a:xfrm>
          <a:prstGeom prst="rect">
            <a:avLst/>
          </a:prstGeom>
          <a:noFill/>
          <a:ln/>
        </p:spPr>
        <p:txBody>
          <a:bodyPr wrap="none" lIns="0" tIns="0" rIns="0" bIns="0" rtlCol="0" anchor="t"/>
          <a:lstStyle/>
          <a:p>
            <a:pPr>
              <a:lnSpc>
                <a:spcPts val="2125"/>
              </a:lnSpc>
            </a:pPr>
            <a:r>
              <a:rPr lang="en-US" sz="2400" b="1" dirty="0">
                <a:solidFill>
                  <a:srgbClr val="000000"/>
                </a:solidFill>
                <a:latin typeface="Aptos" panose="020B0004020202020204" pitchFamily="34" charset="0"/>
                <a:ea typeface="Inter" pitchFamily="34" charset="-122"/>
                <a:cs typeface="Inter" pitchFamily="34" charset="-120"/>
              </a:rPr>
              <a:t>Python (pandas) Syntax</a:t>
            </a:r>
            <a:endParaRPr lang="en-US" sz="2400" b="1" dirty="0">
              <a:latin typeface="Aptos" panose="020B0004020202020204" pitchFamily="34" charset="0"/>
            </a:endParaRPr>
          </a:p>
        </p:txBody>
      </p:sp>
      <p:sp>
        <p:nvSpPr>
          <p:cNvPr id="10" name="Shape 6">
            <a:extLst>
              <a:ext uri="{FF2B5EF4-FFF2-40B4-BE49-F238E27FC236}">
                <a16:creationId xmlns:a16="http://schemas.microsoft.com/office/drawing/2014/main" id="{6453DA28-3ADB-A564-84F6-02E0D3CA9DA4}"/>
              </a:ext>
            </a:extLst>
          </p:cNvPr>
          <p:cNvSpPr/>
          <p:nvPr/>
        </p:nvSpPr>
        <p:spPr>
          <a:xfrm>
            <a:off x="607715" y="2483797"/>
            <a:ext cx="10975380" cy="493812"/>
          </a:xfrm>
          <a:prstGeom prst="rect">
            <a:avLst/>
          </a:prstGeom>
          <a:solidFill>
            <a:srgbClr val="000000">
              <a:alpha val="4000"/>
            </a:srgbClr>
          </a:solidFill>
          <a:ln/>
        </p:spPr>
        <p:txBody>
          <a:bodyPr/>
          <a:lstStyle/>
          <a:p>
            <a:endParaRPr lang="en-US" sz="2800">
              <a:latin typeface="Aptos" panose="020B0004020202020204" pitchFamily="34" charset="0"/>
            </a:endParaRPr>
          </a:p>
        </p:txBody>
      </p:sp>
      <p:sp>
        <p:nvSpPr>
          <p:cNvPr id="11" name="Text 7">
            <a:extLst>
              <a:ext uri="{FF2B5EF4-FFF2-40B4-BE49-F238E27FC236}">
                <a16:creationId xmlns:a16="http://schemas.microsoft.com/office/drawing/2014/main" id="{A451C960-5DF6-2A72-42D3-17E5634BAC7E}"/>
              </a:ext>
            </a:extLst>
          </p:cNvPr>
          <p:cNvSpPr/>
          <p:nvPr/>
        </p:nvSpPr>
        <p:spPr>
          <a:xfrm>
            <a:off x="780852" y="2593235"/>
            <a:ext cx="3311327" cy="274935"/>
          </a:xfrm>
          <a:prstGeom prst="rect">
            <a:avLst/>
          </a:prstGeom>
          <a:noFill/>
          <a:ln/>
        </p:spPr>
        <p:txBody>
          <a:bodyPr wrap="none" lIns="0" tIns="0" rIns="0" bIns="0" rtlCol="0" anchor="t"/>
          <a:lstStyle/>
          <a:p>
            <a:pPr>
              <a:lnSpc>
                <a:spcPts val="2125"/>
              </a:lnSpc>
            </a:pPr>
            <a:r>
              <a:rPr lang="en-US" sz="2400" dirty="0">
                <a:solidFill>
                  <a:srgbClr val="000000"/>
                </a:solidFill>
                <a:latin typeface="Aptos" panose="020B0004020202020204" pitchFamily="34" charset="0"/>
                <a:ea typeface="Inter" pitchFamily="34" charset="-122"/>
                <a:cs typeface="Inter" pitchFamily="34" charset="-120"/>
              </a:rPr>
              <a:t>Reading data</a:t>
            </a:r>
            <a:endParaRPr lang="en-US" sz="2400" dirty="0">
              <a:latin typeface="Aptos" panose="020B0004020202020204" pitchFamily="34" charset="0"/>
            </a:endParaRPr>
          </a:p>
        </p:txBody>
      </p:sp>
      <p:sp>
        <p:nvSpPr>
          <p:cNvPr id="12" name="Text 8">
            <a:extLst>
              <a:ext uri="{FF2B5EF4-FFF2-40B4-BE49-F238E27FC236}">
                <a16:creationId xmlns:a16="http://schemas.microsoft.com/office/drawing/2014/main" id="{18194E23-D0C3-6743-CB53-9A5AC2B4CC45}"/>
              </a:ext>
            </a:extLst>
          </p:cNvPr>
          <p:cNvSpPr/>
          <p:nvPr/>
        </p:nvSpPr>
        <p:spPr>
          <a:xfrm>
            <a:off x="4442023" y="2593235"/>
            <a:ext cx="3308152" cy="274935"/>
          </a:xfrm>
          <a:prstGeom prst="rect">
            <a:avLst/>
          </a:prstGeom>
          <a:noFill/>
          <a:ln/>
        </p:spPr>
        <p:txBody>
          <a:bodyPr wrap="none" lIns="0" tIns="0" rIns="0" bIns="0" rtlCol="0" anchor="t"/>
          <a:lstStyle/>
          <a:p>
            <a:pPr>
              <a:lnSpc>
                <a:spcPts val="2125"/>
              </a:lnSpc>
            </a:pPr>
            <a:r>
              <a:rPr lang="en-US" sz="2400" dirty="0">
                <a:solidFill>
                  <a:srgbClr val="000000"/>
                </a:solidFill>
                <a:latin typeface="Aptos" panose="020B0004020202020204" pitchFamily="34" charset="0"/>
                <a:ea typeface="Inter" pitchFamily="34" charset="-122"/>
                <a:cs typeface="Inter" pitchFamily="34" charset="-120"/>
              </a:rPr>
              <a:t>read.csv("file.csv")</a:t>
            </a:r>
            <a:endParaRPr lang="en-US" sz="2400" dirty="0">
              <a:latin typeface="Aptos" panose="020B0004020202020204" pitchFamily="34" charset="0"/>
            </a:endParaRPr>
          </a:p>
        </p:txBody>
      </p:sp>
      <p:sp>
        <p:nvSpPr>
          <p:cNvPr id="13" name="Text 9">
            <a:extLst>
              <a:ext uri="{FF2B5EF4-FFF2-40B4-BE49-F238E27FC236}">
                <a16:creationId xmlns:a16="http://schemas.microsoft.com/office/drawing/2014/main" id="{C3656371-B8B5-0CBF-629E-F0AABC6361FB}"/>
              </a:ext>
            </a:extLst>
          </p:cNvPr>
          <p:cNvSpPr/>
          <p:nvPr/>
        </p:nvSpPr>
        <p:spPr>
          <a:xfrm>
            <a:off x="8100020" y="2593235"/>
            <a:ext cx="3311327" cy="274935"/>
          </a:xfrm>
          <a:prstGeom prst="rect">
            <a:avLst/>
          </a:prstGeom>
          <a:noFill/>
          <a:ln/>
        </p:spPr>
        <p:txBody>
          <a:bodyPr wrap="none" lIns="0" tIns="0" rIns="0" bIns="0" rtlCol="0" anchor="t"/>
          <a:lstStyle/>
          <a:p>
            <a:pPr>
              <a:lnSpc>
                <a:spcPts val="2125"/>
              </a:lnSpc>
            </a:pPr>
            <a:r>
              <a:rPr lang="en-US" sz="2400" dirty="0">
                <a:solidFill>
                  <a:srgbClr val="000000"/>
                </a:solidFill>
                <a:latin typeface="Aptos" panose="020B0004020202020204" pitchFamily="34" charset="0"/>
                <a:ea typeface="Inter" pitchFamily="34" charset="-122"/>
                <a:cs typeface="Inter" pitchFamily="34" charset="-120"/>
              </a:rPr>
              <a:t>pd.read_csv("file.csv")</a:t>
            </a:r>
            <a:endParaRPr lang="en-US" sz="2400" dirty="0">
              <a:latin typeface="Aptos" panose="020B0004020202020204" pitchFamily="34" charset="0"/>
            </a:endParaRPr>
          </a:p>
        </p:txBody>
      </p:sp>
      <p:sp>
        <p:nvSpPr>
          <p:cNvPr id="14" name="Shape 10">
            <a:extLst>
              <a:ext uri="{FF2B5EF4-FFF2-40B4-BE49-F238E27FC236}">
                <a16:creationId xmlns:a16="http://schemas.microsoft.com/office/drawing/2014/main" id="{C93BE319-2E38-3896-406A-3BA076653910}"/>
              </a:ext>
            </a:extLst>
          </p:cNvPr>
          <p:cNvSpPr/>
          <p:nvPr/>
        </p:nvSpPr>
        <p:spPr>
          <a:xfrm>
            <a:off x="607715" y="2977608"/>
            <a:ext cx="10975380" cy="493812"/>
          </a:xfrm>
          <a:prstGeom prst="rect">
            <a:avLst/>
          </a:prstGeom>
          <a:solidFill>
            <a:srgbClr val="FFFFFF">
              <a:alpha val="4000"/>
            </a:srgbClr>
          </a:solidFill>
          <a:ln/>
        </p:spPr>
        <p:txBody>
          <a:bodyPr/>
          <a:lstStyle/>
          <a:p>
            <a:endParaRPr lang="en-US" sz="2800">
              <a:latin typeface="Aptos" panose="020B0004020202020204" pitchFamily="34" charset="0"/>
            </a:endParaRPr>
          </a:p>
        </p:txBody>
      </p:sp>
      <p:sp>
        <p:nvSpPr>
          <p:cNvPr id="15" name="Text 11">
            <a:extLst>
              <a:ext uri="{FF2B5EF4-FFF2-40B4-BE49-F238E27FC236}">
                <a16:creationId xmlns:a16="http://schemas.microsoft.com/office/drawing/2014/main" id="{68D36152-6050-6737-DCEE-3D24B81ACAF3}"/>
              </a:ext>
            </a:extLst>
          </p:cNvPr>
          <p:cNvSpPr/>
          <p:nvPr/>
        </p:nvSpPr>
        <p:spPr>
          <a:xfrm>
            <a:off x="780852" y="3087047"/>
            <a:ext cx="3311327" cy="274935"/>
          </a:xfrm>
          <a:prstGeom prst="rect">
            <a:avLst/>
          </a:prstGeom>
          <a:noFill/>
          <a:ln/>
        </p:spPr>
        <p:txBody>
          <a:bodyPr wrap="none" lIns="0" tIns="0" rIns="0" bIns="0" rtlCol="0" anchor="t"/>
          <a:lstStyle/>
          <a:p>
            <a:pPr>
              <a:lnSpc>
                <a:spcPts val="2125"/>
              </a:lnSpc>
            </a:pPr>
            <a:r>
              <a:rPr lang="en-US" sz="2400" dirty="0">
                <a:solidFill>
                  <a:srgbClr val="000000"/>
                </a:solidFill>
                <a:latin typeface="Aptos" panose="020B0004020202020204" pitchFamily="34" charset="0"/>
                <a:ea typeface="Inter" pitchFamily="34" charset="-122"/>
                <a:cs typeface="Inter" pitchFamily="34" charset="-120"/>
              </a:rPr>
              <a:t>Viewing data</a:t>
            </a:r>
            <a:endParaRPr lang="en-US" sz="2400" dirty="0">
              <a:latin typeface="Aptos" panose="020B0004020202020204" pitchFamily="34" charset="0"/>
            </a:endParaRPr>
          </a:p>
        </p:txBody>
      </p:sp>
      <p:sp>
        <p:nvSpPr>
          <p:cNvPr id="16" name="Text 12">
            <a:extLst>
              <a:ext uri="{FF2B5EF4-FFF2-40B4-BE49-F238E27FC236}">
                <a16:creationId xmlns:a16="http://schemas.microsoft.com/office/drawing/2014/main" id="{B6D680B8-4210-66FA-3405-877F4583DAF1}"/>
              </a:ext>
            </a:extLst>
          </p:cNvPr>
          <p:cNvSpPr/>
          <p:nvPr/>
        </p:nvSpPr>
        <p:spPr>
          <a:xfrm>
            <a:off x="4442023" y="3087047"/>
            <a:ext cx="3308152" cy="274935"/>
          </a:xfrm>
          <a:prstGeom prst="rect">
            <a:avLst/>
          </a:prstGeom>
          <a:noFill/>
          <a:ln/>
        </p:spPr>
        <p:txBody>
          <a:bodyPr wrap="none" lIns="0" tIns="0" rIns="0" bIns="0" rtlCol="0" anchor="t"/>
          <a:lstStyle/>
          <a:p>
            <a:pPr>
              <a:lnSpc>
                <a:spcPts val="2125"/>
              </a:lnSpc>
            </a:pPr>
            <a:r>
              <a:rPr lang="en-US" sz="2400" dirty="0">
                <a:solidFill>
                  <a:srgbClr val="000000"/>
                </a:solidFill>
                <a:latin typeface="Aptos" panose="020B0004020202020204" pitchFamily="34" charset="0"/>
                <a:ea typeface="Inter" pitchFamily="34" charset="-122"/>
                <a:cs typeface="Inter" pitchFamily="34" charset="-120"/>
              </a:rPr>
              <a:t>head(df)</a:t>
            </a:r>
            <a:endParaRPr lang="en-US" sz="2400" dirty="0">
              <a:latin typeface="Aptos" panose="020B0004020202020204" pitchFamily="34" charset="0"/>
            </a:endParaRPr>
          </a:p>
        </p:txBody>
      </p:sp>
      <p:sp>
        <p:nvSpPr>
          <p:cNvPr id="17" name="Text 13">
            <a:extLst>
              <a:ext uri="{FF2B5EF4-FFF2-40B4-BE49-F238E27FC236}">
                <a16:creationId xmlns:a16="http://schemas.microsoft.com/office/drawing/2014/main" id="{9B3A4DE4-DD4C-350F-7425-1C60FB505630}"/>
              </a:ext>
            </a:extLst>
          </p:cNvPr>
          <p:cNvSpPr/>
          <p:nvPr/>
        </p:nvSpPr>
        <p:spPr>
          <a:xfrm>
            <a:off x="8100020" y="3087047"/>
            <a:ext cx="3311327" cy="274935"/>
          </a:xfrm>
          <a:prstGeom prst="rect">
            <a:avLst/>
          </a:prstGeom>
          <a:noFill/>
          <a:ln/>
        </p:spPr>
        <p:txBody>
          <a:bodyPr wrap="none" lIns="0" tIns="0" rIns="0" bIns="0" rtlCol="0" anchor="t"/>
          <a:lstStyle/>
          <a:p>
            <a:pPr>
              <a:lnSpc>
                <a:spcPts val="2125"/>
              </a:lnSpc>
            </a:pPr>
            <a:r>
              <a:rPr lang="en-US" sz="2400" dirty="0">
                <a:solidFill>
                  <a:srgbClr val="000000"/>
                </a:solidFill>
                <a:latin typeface="Aptos" panose="020B0004020202020204" pitchFamily="34" charset="0"/>
                <a:ea typeface="Inter" pitchFamily="34" charset="-122"/>
                <a:cs typeface="Inter" pitchFamily="34" charset="-120"/>
              </a:rPr>
              <a:t>df.head()</a:t>
            </a:r>
            <a:endParaRPr lang="en-US" sz="2400" dirty="0">
              <a:latin typeface="Aptos" panose="020B0004020202020204" pitchFamily="34" charset="0"/>
            </a:endParaRPr>
          </a:p>
        </p:txBody>
      </p:sp>
      <p:sp>
        <p:nvSpPr>
          <p:cNvPr id="18" name="Shape 14">
            <a:extLst>
              <a:ext uri="{FF2B5EF4-FFF2-40B4-BE49-F238E27FC236}">
                <a16:creationId xmlns:a16="http://schemas.microsoft.com/office/drawing/2014/main" id="{5D4AF659-E5CB-6039-585A-1B31553CC4A4}"/>
              </a:ext>
            </a:extLst>
          </p:cNvPr>
          <p:cNvSpPr/>
          <p:nvPr/>
        </p:nvSpPr>
        <p:spPr>
          <a:xfrm>
            <a:off x="607715" y="3471420"/>
            <a:ext cx="10975380" cy="493812"/>
          </a:xfrm>
          <a:prstGeom prst="rect">
            <a:avLst/>
          </a:prstGeom>
          <a:solidFill>
            <a:srgbClr val="000000">
              <a:alpha val="4000"/>
            </a:srgbClr>
          </a:solidFill>
          <a:ln/>
        </p:spPr>
        <p:txBody>
          <a:bodyPr/>
          <a:lstStyle/>
          <a:p>
            <a:endParaRPr lang="en-US" sz="2800">
              <a:latin typeface="Aptos" panose="020B0004020202020204" pitchFamily="34" charset="0"/>
            </a:endParaRPr>
          </a:p>
        </p:txBody>
      </p:sp>
      <p:sp>
        <p:nvSpPr>
          <p:cNvPr id="19" name="Text 15">
            <a:extLst>
              <a:ext uri="{FF2B5EF4-FFF2-40B4-BE49-F238E27FC236}">
                <a16:creationId xmlns:a16="http://schemas.microsoft.com/office/drawing/2014/main" id="{5DFCC708-F884-1672-1092-0981C017B10B}"/>
              </a:ext>
            </a:extLst>
          </p:cNvPr>
          <p:cNvSpPr/>
          <p:nvPr/>
        </p:nvSpPr>
        <p:spPr>
          <a:xfrm>
            <a:off x="780852" y="3580859"/>
            <a:ext cx="3311327" cy="274935"/>
          </a:xfrm>
          <a:prstGeom prst="rect">
            <a:avLst/>
          </a:prstGeom>
          <a:noFill/>
          <a:ln/>
        </p:spPr>
        <p:txBody>
          <a:bodyPr wrap="none" lIns="0" tIns="0" rIns="0" bIns="0" rtlCol="0" anchor="t"/>
          <a:lstStyle/>
          <a:p>
            <a:pPr>
              <a:lnSpc>
                <a:spcPts val="2125"/>
              </a:lnSpc>
            </a:pPr>
            <a:r>
              <a:rPr lang="en-US" sz="2400" dirty="0">
                <a:solidFill>
                  <a:srgbClr val="000000"/>
                </a:solidFill>
                <a:latin typeface="Aptos" panose="020B0004020202020204" pitchFamily="34" charset="0"/>
                <a:ea typeface="Inter" pitchFamily="34" charset="-122"/>
                <a:cs typeface="Inter" pitchFamily="34" charset="-120"/>
              </a:rPr>
              <a:t>Summary stats</a:t>
            </a:r>
            <a:endParaRPr lang="en-US" sz="2400" dirty="0">
              <a:latin typeface="Aptos" panose="020B0004020202020204" pitchFamily="34" charset="0"/>
            </a:endParaRPr>
          </a:p>
        </p:txBody>
      </p:sp>
      <p:sp>
        <p:nvSpPr>
          <p:cNvPr id="20" name="Text 16">
            <a:extLst>
              <a:ext uri="{FF2B5EF4-FFF2-40B4-BE49-F238E27FC236}">
                <a16:creationId xmlns:a16="http://schemas.microsoft.com/office/drawing/2014/main" id="{681309D9-D65D-243B-6DF4-06B0D0FEEBE9}"/>
              </a:ext>
            </a:extLst>
          </p:cNvPr>
          <p:cNvSpPr/>
          <p:nvPr/>
        </p:nvSpPr>
        <p:spPr>
          <a:xfrm>
            <a:off x="4442023" y="3580859"/>
            <a:ext cx="3308152" cy="274935"/>
          </a:xfrm>
          <a:prstGeom prst="rect">
            <a:avLst/>
          </a:prstGeom>
          <a:noFill/>
          <a:ln/>
        </p:spPr>
        <p:txBody>
          <a:bodyPr wrap="none" lIns="0" tIns="0" rIns="0" bIns="0" rtlCol="0" anchor="t"/>
          <a:lstStyle/>
          <a:p>
            <a:pPr>
              <a:lnSpc>
                <a:spcPts val="2125"/>
              </a:lnSpc>
            </a:pPr>
            <a:r>
              <a:rPr lang="en-US" sz="2400" dirty="0">
                <a:solidFill>
                  <a:srgbClr val="000000"/>
                </a:solidFill>
                <a:latin typeface="Aptos" panose="020B0004020202020204" pitchFamily="34" charset="0"/>
                <a:ea typeface="Inter" pitchFamily="34" charset="-122"/>
                <a:cs typeface="Inter" pitchFamily="34" charset="-120"/>
              </a:rPr>
              <a:t>summary(df)</a:t>
            </a:r>
            <a:endParaRPr lang="en-US" sz="2400" dirty="0">
              <a:latin typeface="Aptos" panose="020B0004020202020204" pitchFamily="34" charset="0"/>
            </a:endParaRPr>
          </a:p>
        </p:txBody>
      </p:sp>
      <p:sp>
        <p:nvSpPr>
          <p:cNvPr id="21" name="Text 17">
            <a:extLst>
              <a:ext uri="{FF2B5EF4-FFF2-40B4-BE49-F238E27FC236}">
                <a16:creationId xmlns:a16="http://schemas.microsoft.com/office/drawing/2014/main" id="{68C6B333-BABD-0072-8836-DD966BEF44D7}"/>
              </a:ext>
            </a:extLst>
          </p:cNvPr>
          <p:cNvSpPr/>
          <p:nvPr/>
        </p:nvSpPr>
        <p:spPr>
          <a:xfrm>
            <a:off x="8100020" y="3580859"/>
            <a:ext cx="3311327" cy="274935"/>
          </a:xfrm>
          <a:prstGeom prst="rect">
            <a:avLst/>
          </a:prstGeom>
          <a:noFill/>
          <a:ln/>
        </p:spPr>
        <p:txBody>
          <a:bodyPr wrap="none" lIns="0" tIns="0" rIns="0" bIns="0" rtlCol="0" anchor="t"/>
          <a:lstStyle/>
          <a:p>
            <a:pPr>
              <a:lnSpc>
                <a:spcPts val="2125"/>
              </a:lnSpc>
            </a:pPr>
            <a:r>
              <a:rPr lang="en-US" sz="2400" dirty="0">
                <a:solidFill>
                  <a:srgbClr val="000000"/>
                </a:solidFill>
                <a:latin typeface="Aptos" panose="020B0004020202020204" pitchFamily="34" charset="0"/>
                <a:ea typeface="Inter" pitchFamily="34" charset="-122"/>
                <a:cs typeface="Inter" pitchFamily="34" charset="-120"/>
              </a:rPr>
              <a:t>df.describe()</a:t>
            </a:r>
            <a:endParaRPr lang="en-US" sz="2400" dirty="0">
              <a:latin typeface="Aptos" panose="020B0004020202020204" pitchFamily="34" charset="0"/>
            </a:endParaRPr>
          </a:p>
        </p:txBody>
      </p:sp>
      <p:sp>
        <p:nvSpPr>
          <p:cNvPr id="22" name="Shape 18">
            <a:extLst>
              <a:ext uri="{FF2B5EF4-FFF2-40B4-BE49-F238E27FC236}">
                <a16:creationId xmlns:a16="http://schemas.microsoft.com/office/drawing/2014/main" id="{0415FA81-99C9-C79C-E48B-EF52B4C097AF}"/>
              </a:ext>
            </a:extLst>
          </p:cNvPr>
          <p:cNvSpPr/>
          <p:nvPr/>
        </p:nvSpPr>
        <p:spPr>
          <a:xfrm>
            <a:off x="607715" y="3965233"/>
            <a:ext cx="10975380" cy="493812"/>
          </a:xfrm>
          <a:prstGeom prst="rect">
            <a:avLst/>
          </a:prstGeom>
          <a:solidFill>
            <a:srgbClr val="FFFFFF">
              <a:alpha val="4000"/>
            </a:srgbClr>
          </a:solidFill>
          <a:ln/>
        </p:spPr>
        <p:txBody>
          <a:bodyPr/>
          <a:lstStyle/>
          <a:p>
            <a:endParaRPr lang="en-US" sz="2800">
              <a:latin typeface="Aptos" panose="020B0004020202020204" pitchFamily="34" charset="0"/>
            </a:endParaRPr>
          </a:p>
        </p:txBody>
      </p:sp>
      <p:sp>
        <p:nvSpPr>
          <p:cNvPr id="23" name="Text 19">
            <a:extLst>
              <a:ext uri="{FF2B5EF4-FFF2-40B4-BE49-F238E27FC236}">
                <a16:creationId xmlns:a16="http://schemas.microsoft.com/office/drawing/2014/main" id="{106EC499-87FC-B9DD-93C5-C29A23FC775A}"/>
              </a:ext>
            </a:extLst>
          </p:cNvPr>
          <p:cNvSpPr/>
          <p:nvPr/>
        </p:nvSpPr>
        <p:spPr>
          <a:xfrm>
            <a:off x="780852" y="4074670"/>
            <a:ext cx="3311327" cy="274935"/>
          </a:xfrm>
          <a:prstGeom prst="rect">
            <a:avLst/>
          </a:prstGeom>
          <a:noFill/>
          <a:ln/>
        </p:spPr>
        <p:txBody>
          <a:bodyPr wrap="none" lIns="0" tIns="0" rIns="0" bIns="0" rtlCol="0" anchor="t"/>
          <a:lstStyle/>
          <a:p>
            <a:pPr>
              <a:lnSpc>
                <a:spcPts val="2125"/>
              </a:lnSpc>
            </a:pPr>
            <a:r>
              <a:rPr lang="en-US" sz="2400" dirty="0">
                <a:solidFill>
                  <a:srgbClr val="000000"/>
                </a:solidFill>
                <a:latin typeface="Aptos" panose="020B0004020202020204" pitchFamily="34" charset="0"/>
                <a:ea typeface="Inter" pitchFamily="34" charset="-122"/>
                <a:cs typeface="Inter" pitchFamily="34" charset="-120"/>
              </a:rPr>
              <a:t>Accessing column</a:t>
            </a:r>
            <a:endParaRPr lang="en-US" sz="2400" dirty="0">
              <a:latin typeface="Aptos" panose="020B0004020202020204" pitchFamily="34" charset="0"/>
            </a:endParaRPr>
          </a:p>
        </p:txBody>
      </p:sp>
      <p:sp>
        <p:nvSpPr>
          <p:cNvPr id="24" name="Text 20">
            <a:extLst>
              <a:ext uri="{FF2B5EF4-FFF2-40B4-BE49-F238E27FC236}">
                <a16:creationId xmlns:a16="http://schemas.microsoft.com/office/drawing/2014/main" id="{5EFFD52C-4064-5568-9D69-38AEAF998C82}"/>
              </a:ext>
            </a:extLst>
          </p:cNvPr>
          <p:cNvSpPr/>
          <p:nvPr/>
        </p:nvSpPr>
        <p:spPr>
          <a:xfrm>
            <a:off x="4442023" y="4074670"/>
            <a:ext cx="3308152" cy="274935"/>
          </a:xfrm>
          <a:prstGeom prst="rect">
            <a:avLst/>
          </a:prstGeom>
          <a:noFill/>
          <a:ln/>
        </p:spPr>
        <p:txBody>
          <a:bodyPr wrap="none" lIns="0" tIns="0" rIns="0" bIns="0" rtlCol="0" anchor="t"/>
          <a:lstStyle/>
          <a:p>
            <a:pPr>
              <a:lnSpc>
                <a:spcPts val="2125"/>
              </a:lnSpc>
            </a:pPr>
            <a:r>
              <a:rPr lang="en-US" sz="2400" dirty="0">
                <a:solidFill>
                  <a:srgbClr val="000000"/>
                </a:solidFill>
                <a:latin typeface="Aptos" panose="020B0004020202020204" pitchFamily="34" charset="0"/>
                <a:ea typeface="Inter" pitchFamily="34" charset="-122"/>
                <a:cs typeface="Inter" pitchFamily="34" charset="-120"/>
              </a:rPr>
              <a:t>df$col</a:t>
            </a:r>
            <a:endParaRPr lang="en-US" sz="2400" dirty="0">
              <a:latin typeface="Aptos" panose="020B0004020202020204" pitchFamily="34" charset="0"/>
            </a:endParaRPr>
          </a:p>
        </p:txBody>
      </p:sp>
      <p:sp>
        <p:nvSpPr>
          <p:cNvPr id="25" name="Text 21">
            <a:extLst>
              <a:ext uri="{FF2B5EF4-FFF2-40B4-BE49-F238E27FC236}">
                <a16:creationId xmlns:a16="http://schemas.microsoft.com/office/drawing/2014/main" id="{B1AD4D5E-9A1F-3207-771B-D9B70C372DD7}"/>
              </a:ext>
            </a:extLst>
          </p:cNvPr>
          <p:cNvSpPr/>
          <p:nvPr/>
        </p:nvSpPr>
        <p:spPr>
          <a:xfrm>
            <a:off x="8100020" y="4074670"/>
            <a:ext cx="3311327" cy="274935"/>
          </a:xfrm>
          <a:prstGeom prst="rect">
            <a:avLst/>
          </a:prstGeom>
          <a:noFill/>
          <a:ln/>
        </p:spPr>
        <p:txBody>
          <a:bodyPr wrap="none" lIns="0" tIns="0" rIns="0" bIns="0" rtlCol="0" anchor="t"/>
          <a:lstStyle/>
          <a:p>
            <a:pPr>
              <a:lnSpc>
                <a:spcPts val="2125"/>
              </a:lnSpc>
            </a:pPr>
            <a:r>
              <a:rPr lang="en-US" sz="2400" dirty="0">
                <a:solidFill>
                  <a:srgbClr val="000000"/>
                </a:solidFill>
                <a:latin typeface="Aptos" panose="020B0004020202020204" pitchFamily="34" charset="0"/>
                <a:ea typeface="Inter" pitchFamily="34" charset="-122"/>
                <a:cs typeface="Inter" pitchFamily="34" charset="-120"/>
              </a:rPr>
              <a:t>df["col"]</a:t>
            </a:r>
            <a:endParaRPr lang="en-US" sz="2400" dirty="0">
              <a:latin typeface="Aptos" panose="020B0004020202020204" pitchFamily="34" charset="0"/>
            </a:endParaRPr>
          </a:p>
        </p:txBody>
      </p:sp>
      <p:sp>
        <p:nvSpPr>
          <p:cNvPr id="26" name="Shape 22">
            <a:extLst>
              <a:ext uri="{FF2B5EF4-FFF2-40B4-BE49-F238E27FC236}">
                <a16:creationId xmlns:a16="http://schemas.microsoft.com/office/drawing/2014/main" id="{F5856D32-4251-5D72-8E06-EE362708EDF0}"/>
              </a:ext>
            </a:extLst>
          </p:cNvPr>
          <p:cNvSpPr/>
          <p:nvPr/>
        </p:nvSpPr>
        <p:spPr>
          <a:xfrm>
            <a:off x="607715" y="4459044"/>
            <a:ext cx="10975380" cy="493812"/>
          </a:xfrm>
          <a:prstGeom prst="rect">
            <a:avLst/>
          </a:prstGeom>
          <a:solidFill>
            <a:srgbClr val="000000">
              <a:alpha val="4000"/>
            </a:srgbClr>
          </a:solidFill>
          <a:ln/>
        </p:spPr>
        <p:txBody>
          <a:bodyPr/>
          <a:lstStyle/>
          <a:p>
            <a:endParaRPr lang="en-US" sz="2800">
              <a:latin typeface="Aptos" panose="020B0004020202020204" pitchFamily="34" charset="0"/>
            </a:endParaRPr>
          </a:p>
        </p:txBody>
      </p:sp>
      <p:sp>
        <p:nvSpPr>
          <p:cNvPr id="27" name="Text 23">
            <a:extLst>
              <a:ext uri="{FF2B5EF4-FFF2-40B4-BE49-F238E27FC236}">
                <a16:creationId xmlns:a16="http://schemas.microsoft.com/office/drawing/2014/main" id="{0C2A964E-CCC0-F23D-6C60-229A47637ADF}"/>
              </a:ext>
            </a:extLst>
          </p:cNvPr>
          <p:cNvSpPr/>
          <p:nvPr/>
        </p:nvSpPr>
        <p:spPr>
          <a:xfrm>
            <a:off x="780852" y="4568483"/>
            <a:ext cx="3311327" cy="274935"/>
          </a:xfrm>
          <a:prstGeom prst="rect">
            <a:avLst/>
          </a:prstGeom>
          <a:noFill/>
          <a:ln/>
        </p:spPr>
        <p:txBody>
          <a:bodyPr wrap="none" lIns="0" tIns="0" rIns="0" bIns="0" rtlCol="0" anchor="t"/>
          <a:lstStyle/>
          <a:p>
            <a:pPr>
              <a:lnSpc>
                <a:spcPts val="2125"/>
              </a:lnSpc>
            </a:pPr>
            <a:r>
              <a:rPr lang="en-US" sz="2400" dirty="0">
                <a:solidFill>
                  <a:srgbClr val="000000"/>
                </a:solidFill>
                <a:latin typeface="Aptos" panose="020B0004020202020204" pitchFamily="34" charset="0"/>
                <a:ea typeface="Inter" pitchFamily="34" charset="-122"/>
                <a:cs typeface="Inter" pitchFamily="34" charset="-120"/>
              </a:rPr>
              <a:t>Mean of column</a:t>
            </a:r>
            <a:endParaRPr lang="en-US" sz="2400" dirty="0">
              <a:latin typeface="Aptos" panose="020B0004020202020204" pitchFamily="34" charset="0"/>
            </a:endParaRPr>
          </a:p>
        </p:txBody>
      </p:sp>
      <p:sp>
        <p:nvSpPr>
          <p:cNvPr id="28" name="Text 24">
            <a:extLst>
              <a:ext uri="{FF2B5EF4-FFF2-40B4-BE49-F238E27FC236}">
                <a16:creationId xmlns:a16="http://schemas.microsoft.com/office/drawing/2014/main" id="{82C7C883-350A-CDDA-8E76-472F0A4603A0}"/>
              </a:ext>
            </a:extLst>
          </p:cNvPr>
          <p:cNvSpPr/>
          <p:nvPr/>
        </p:nvSpPr>
        <p:spPr>
          <a:xfrm>
            <a:off x="4442023" y="4568483"/>
            <a:ext cx="3308152" cy="274935"/>
          </a:xfrm>
          <a:prstGeom prst="rect">
            <a:avLst/>
          </a:prstGeom>
          <a:noFill/>
          <a:ln/>
        </p:spPr>
        <p:txBody>
          <a:bodyPr wrap="none" lIns="0" tIns="0" rIns="0" bIns="0" rtlCol="0" anchor="t"/>
          <a:lstStyle/>
          <a:p>
            <a:pPr>
              <a:lnSpc>
                <a:spcPts val="2125"/>
              </a:lnSpc>
            </a:pPr>
            <a:r>
              <a:rPr lang="en-US" sz="2400" dirty="0">
                <a:solidFill>
                  <a:srgbClr val="000000"/>
                </a:solidFill>
                <a:latin typeface="Aptos" panose="020B0004020202020204" pitchFamily="34" charset="0"/>
                <a:ea typeface="Inter" pitchFamily="34" charset="-122"/>
                <a:cs typeface="Inter" pitchFamily="34" charset="-120"/>
              </a:rPr>
              <a:t>mean(df$col)</a:t>
            </a:r>
            <a:endParaRPr lang="en-US" sz="2400" dirty="0">
              <a:latin typeface="Aptos" panose="020B0004020202020204" pitchFamily="34" charset="0"/>
            </a:endParaRPr>
          </a:p>
        </p:txBody>
      </p:sp>
      <p:sp>
        <p:nvSpPr>
          <p:cNvPr id="29" name="Text 25">
            <a:extLst>
              <a:ext uri="{FF2B5EF4-FFF2-40B4-BE49-F238E27FC236}">
                <a16:creationId xmlns:a16="http://schemas.microsoft.com/office/drawing/2014/main" id="{8EF638D4-5976-17CB-F419-A47C097D32D3}"/>
              </a:ext>
            </a:extLst>
          </p:cNvPr>
          <p:cNvSpPr/>
          <p:nvPr/>
        </p:nvSpPr>
        <p:spPr>
          <a:xfrm>
            <a:off x="8100020" y="4568483"/>
            <a:ext cx="3311327" cy="274935"/>
          </a:xfrm>
          <a:prstGeom prst="rect">
            <a:avLst/>
          </a:prstGeom>
          <a:noFill/>
          <a:ln/>
        </p:spPr>
        <p:txBody>
          <a:bodyPr wrap="none" lIns="0" tIns="0" rIns="0" bIns="0" rtlCol="0" anchor="t"/>
          <a:lstStyle/>
          <a:p>
            <a:pPr>
              <a:lnSpc>
                <a:spcPts val="2125"/>
              </a:lnSpc>
            </a:pPr>
            <a:r>
              <a:rPr lang="en-US" sz="2400" dirty="0">
                <a:solidFill>
                  <a:srgbClr val="000000"/>
                </a:solidFill>
                <a:latin typeface="Aptos" panose="020B0004020202020204" pitchFamily="34" charset="0"/>
                <a:ea typeface="Inter" pitchFamily="34" charset="-122"/>
                <a:cs typeface="Inter" pitchFamily="34" charset="-120"/>
              </a:rPr>
              <a:t>df["col"].mean()</a:t>
            </a:r>
            <a:endParaRPr lang="en-US" sz="2400" dirty="0">
              <a:latin typeface="Aptos" panose="020B0004020202020204" pitchFamily="34" charset="0"/>
            </a:endParaRPr>
          </a:p>
        </p:txBody>
      </p:sp>
      <p:sp>
        <p:nvSpPr>
          <p:cNvPr id="31" name="Shape 18">
            <a:extLst>
              <a:ext uri="{FF2B5EF4-FFF2-40B4-BE49-F238E27FC236}">
                <a16:creationId xmlns:a16="http://schemas.microsoft.com/office/drawing/2014/main" id="{E3813CE2-1BEB-7D45-81D2-CEEB4833BEE5}"/>
              </a:ext>
            </a:extLst>
          </p:cNvPr>
          <p:cNvSpPr/>
          <p:nvPr/>
        </p:nvSpPr>
        <p:spPr>
          <a:xfrm>
            <a:off x="615255" y="4959206"/>
            <a:ext cx="10975380" cy="493812"/>
          </a:xfrm>
          <a:prstGeom prst="rect">
            <a:avLst/>
          </a:prstGeom>
          <a:solidFill>
            <a:srgbClr val="FFFFFF">
              <a:alpha val="4000"/>
            </a:srgbClr>
          </a:solidFill>
          <a:ln/>
        </p:spPr>
        <p:txBody>
          <a:bodyPr/>
          <a:lstStyle/>
          <a:p>
            <a:endParaRPr lang="en-US" sz="2800">
              <a:latin typeface="Aptos" panose="020B0004020202020204" pitchFamily="34" charset="0"/>
            </a:endParaRPr>
          </a:p>
        </p:txBody>
      </p:sp>
      <p:sp>
        <p:nvSpPr>
          <p:cNvPr id="32" name="Text 19">
            <a:extLst>
              <a:ext uri="{FF2B5EF4-FFF2-40B4-BE49-F238E27FC236}">
                <a16:creationId xmlns:a16="http://schemas.microsoft.com/office/drawing/2014/main" id="{F4FC65F5-02E5-EAF8-D367-D4DD5561AEC2}"/>
              </a:ext>
            </a:extLst>
          </p:cNvPr>
          <p:cNvSpPr/>
          <p:nvPr/>
        </p:nvSpPr>
        <p:spPr>
          <a:xfrm>
            <a:off x="788392" y="5068643"/>
            <a:ext cx="3311327" cy="274935"/>
          </a:xfrm>
          <a:prstGeom prst="rect">
            <a:avLst/>
          </a:prstGeom>
          <a:noFill/>
          <a:ln/>
        </p:spPr>
        <p:txBody>
          <a:bodyPr wrap="none" lIns="0" tIns="0" rIns="0" bIns="0" rtlCol="0" anchor="t"/>
          <a:lstStyle/>
          <a:p>
            <a:pPr>
              <a:lnSpc>
                <a:spcPts val="2125"/>
              </a:lnSpc>
            </a:pPr>
            <a:r>
              <a:rPr lang="en-US" sz="2400" dirty="0">
                <a:solidFill>
                  <a:srgbClr val="000000"/>
                </a:solidFill>
                <a:latin typeface="Aptos" panose="020B0004020202020204" pitchFamily="34" charset="0"/>
                <a:ea typeface="Inter" pitchFamily="34" charset="-122"/>
                <a:cs typeface="Inter" pitchFamily="34" charset="-120"/>
              </a:rPr>
              <a:t>Frequency count</a:t>
            </a:r>
            <a:endParaRPr lang="en-US" sz="2400" dirty="0">
              <a:latin typeface="Aptos" panose="020B0004020202020204" pitchFamily="34" charset="0"/>
            </a:endParaRPr>
          </a:p>
        </p:txBody>
      </p:sp>
      <p:sp>
        <p:nvSpPr>
          <p:cNvPr id="33" name="Text 20">
            <a:extLst>
              <a:ext uri="{FF2B5EF4-FFF2-40B4-BE49-F238E27FC236}">
                <a16:creationId xmlns:a16="http://schemas.microsoft.com/office/drawing/2014/main" id="{23463EEE-7CFA-5362-170A-7478F0C8E93B}"/>
              </a:ext>
            </a:extLst>
          </p:cNvPr>
          <p:cNvSpPr/>
          <p:nvPr/>
        </p:nvSpPr>
        <p:spPr>
          <a:xfrm>
            <a:off x="4449563" y="5068643"/>
            <a:ext cx="3308152" cy="274935"/>
          </a:xfrm>
          <a:prstGeom prst="rect">
            <a:avLst/>
          </a:prstGeom>
          <a:noFill/>
          <a:ln/>
        </p:spPr>
        <p:txBody>
          <a:bodyPr wrap="none" lIns="0" tIns="0" rIns="0" bIns="0" rtlCol="0" anchor="t"/>
          <a:lstStyle/>
          <a:p>
            <a:pPr>
              <a:lnSpc>
                <a:spcPts val="2125"/>
              </a:lnSpc>
            </a:pPr>
            <a:r>
              <a:rPr lang="en-US" sz="2400" dirty="0">
                <a:solidFill>
                  <a:srgbClr val="000000"/>
                </a:solidFill>
                <a:latin typeface="Aptos" panose="020B0004020202020204" pitchFamily="34" charset="0"/>
                <a:ea typeface="Inter" pitchFamily="34" charset="-122"/>
                <a:cs typeface="Inter" pitchFamily="34" charset="-120"/>
              </a:rPr>
              <a:t>table(</a:t>
            </a:r>
            <a:r>
              <a:rPr lang="en-US" sz="2400" dirty="0" err="1">
                <a:solidFill>
                  <a:srgbClr val="000000"/>
                </a:solidFill>
                <a:latin typeface="Aptos" panose="020B0004020202020204" pitchFamily="34" charset="0"/>
                <a:ea typeface="Inter" pitchFamily="34" charset="-122"/>
                <a:cs typeface="Inter" pitchFamily="34" charset="-120"/>
              </a:rPr>
              <a:t>df$col</a:t>
            </a:r>
            <a:r>
              <a:rPr lang="en-US" sz="2400" dirty="0">
                <a:solidFill>
                  <a:srgbClr val="000000"/>
                </a:solidFill>
                <a:latin typeface="Aptos" panose="020B0004020202020204" pitchFamily="34" charset="0"/>
                <a:ea typeface="Inter" pitchFamily="34" charset="-122"/>
                <a:cs typeface="Inter" pitchFamily="34" charset="-120"/>
              </a:rPr>
              <a:t>) </a:t>
            </a:r>
            <a:endParaRPr lang="en-US" sz="2400" dirty="0">
              <a:latin typeface="Aptos" panose="020B0004020202020204" pitchFamily="34" charset="0"/>
            </a:endParaRPr>
          </a:p>
        </p:txBody>
      </p:sp>
      <p:sp>
        <p:nvSpPr>
          <p:cNvPr id="34" name="Text 21">
            <a:extLst>
              <a:ext uri="{FF2B5EF4-FFF2-40B4-BE49-F238E27FC236}">
                <a16:creationId xmlns:a16="http://schemas.microsoft.com/office/drawing/2014/main" id="{14515765-DDF6-3316-845C-3A7F94C09798}"/>
              </a:ext>
            </a:extLst>
          </p:cNvPr>
          <p:cNvSpPr/>
          <p:nvPr/>
        </p:nvSpPr>
        <p:spPr>
          <a:xfrm>
            <a:off x="8107560" y="5068643"/>
            <a:ext cx="3311327" cy="274935"/>
          </a:xfrm>
          <a:prstGeom prst="rect">
            <a:avLst/>
          </a:prstGeom>
          <a:noFill/>
          <a:ln/>
        </p:spPr>
        <p:txBody>
          <a:bodyPr wrap="none" lIns="0" tIns="0" rIns="0" bIns="0" rtlCol="0" anchor="t"/>
          <a:lstStyle/>
          <a:p>
            <a:pPr>
              <a:lnSpc>
                <a:spcPts val="2125"/>
              </a:lnSpc>
            </a:pPr>
            <a:r>
              <a:rPr lang="en-US" sz="2400" dirty="0" err="1">
                <a:solidFill>
                  <a:srgbClr val="000000"/>
                </a:solidFill>
                <a:latin typeface="Aptos" panose="020B0004020202020204" pitchFamily="34" charset="0"/>
                <a:ea typeface="Inter" pitchFamily="34" charset="-122"/>
                <a:cs typeface="Inter" pitchFamily="34" charset="-120"/>
              </a:rPr>
              <a:t>df</a:t>
            </a:r>
            <a:r>
              <a:rPr lang="en-US" sz="2400" dirty="0">
                <a:solidFill>
                  <a:srgbClr val="000000"/>
                </a:solidFill>
                <a:latin typeface="Aptos" panose="020B0004020202020204" pitchFamily="34" charset="0"/>
                <a:ea typeface="Inter" pitchFamily="34" charset="-122"/>
                <a:cs typeface="Inter" pitchFamily="34" charset="-120"/>
              </a:rPr>
              <a:t>["col"].</a:t>
            </a:r>
            <a:r>
              <a:rPr lang="en-US" sz="2400" dirty="0" err="1">
                <a:solidFill>
                  <a:srgbClr val="000000"/>
                </a:solidFill>
                <a:latin typeface="Aptos" panose="020B0004020202020204" pitchFamily="34" charset="0"/>
                <a:ea typeface="Inter" pitchFamily="34" charset="-122"/>
                <a:cs typeface="Inter" pitchFamily="34" charset="-120"/>
              </a:rPr>
              <a:t>value_counts</a:t>
            </a:r>
            <a:r>
              <a:rPr lang="en-US" sz="2400" dirty="0">
                <a:solidFill>
                  <a:srgbClr val="000000"/>
                </a:solidFill>
                <a:latin typeface="Aptos" panose="020B0004020202020204" pitchFamily="34" charset="0"/>
                <a:ea typeface="Inter" pitchFamily="34" charset="-122"/>
                <a:cs typeface="Inter" pitchFamily="34" charset="-120"/>
              </a:rPr>
              <a:t>()</a:t>
            </a:r>
          </a:p>
        </p:txBody>
      </p:sp>
      <p:sp>
        <p:nvSpPr>
          <p:cNvPr id="35" name="Shape 22">
            <a:extLst>
              <a:ext uri="{FF2B5EF4-FFF2-40B4-BE49-F238E27FC236}">
                <a16:creationId xmlns:a16="http://schemas.microsoft.com/office/drawing/2014/main" id="{609CFF5A-3C84-314F-825B-914E3E3CED82}"/>
              </a:ext>
            </a:extLst>
          </p:cNvPr>
          <p:cNvSpPr/>
          <p:nvPr/>
        </p:nvSpPr>
        <p:spPr>
          <a:xfrm>
            <a:off x="601365" y="5453015"/>
            <a:ext cx="10975380" cy="493812"/>
          </a:xfrm>
          <a:prstGeom prst="rect">
            <a:avLst/>
          </a:prstGeom>
          <a:solidFill>
            <a:srgbClr val="000000">
              <a:alpha val="4000"/>
            </a:srgbClr>
          </a:solidFill>
          <a:ln/>
        </p:spPr>
        <p:txBody>
          <a:bodyPr/>
          <a:lstStyle/>
          <a:p>
            <a:endParaRPr lang="en-US" sz="2800">
              <a:latin typeface="Aptos" panose="020B0004020202020204" pitchFamily="34" charset="0"/>
            </a:endParaRPr>
          </a:p>
        </p:txBody>
      </p:sp>
      <p:sp>
        <p:nvSpPr>
          <p:cNvPr id="36" name="Text 23">
            <a:extLst>
              <a:ext uri="{FF2B5EF4-FFF2-40B4-BE49-F238E27FC236}">
                <a16:creationId xmlns:a16="http://schemas.microsoft.com/office/drawing/2014/main" id="{E4179A52-906A-2954-A009-398DC254E88F}"/>
              </a:ext>
            </a:extLst>
          </p:cNvPr>
          <p:cNvSpPr/>
          <p:nvPr/>
        </p:nvSpPr>
        <p:spPr>
          <a:xfrm>
            <a:off x="774502" y="5562454"/>
            <a:ext cx="3311327" cy="274935"/>
          </a:xfrm>
          <a:prstGeom prst="rect">
            <a:avLst/>
          </a:prstGeom>
          <a:noFill/>
          <a:ln/>
        </p:spPr>
        <p:txBody>
          <a:bodyPr wrap="none" lIns="0" tIns="0" rIns="0" bIns="0" rtlCol="0" anchor="t"/>
          <a:lstStyle/>
          <a:p>
            <a:pPr>
              <a:lnSpc>
                <a:spcPts val="2125"/>
              </a:lnSpc>
            </a:pPr>
            <a:r>
              <a:rPr lang="en-US" sz="2400" dirty="0">
                <a:solidFill>
                  <a:srgbClr val="000000"/>
                </a:solidFill>
                <a:latin typeface="Aptos" panose="020B0004020202020204" pitchFamily="34" charset="0"/>
                <a:ea typeface="Inter" pitchFamily="34" charset="-122"/>
                <a:cs typeface="Inter" pitchFamily="34" charset="-120"/>
              </a:rPr>
              <a:t>Installing packages</a:t>
            </a:r>
            <a:endParaRPr lang="en-US" sz="2400" dirty="0">
              <a:latin typeface="Aptos" panose="020B0004020202020204" pitchFamily="34" charset="0"/>
            </a:endParaRPr>
          </a:p>
        </p:txBody>
      </p:sp>
      <p:sp>
        <p:nvSpPr>
          <p:cNvPr id="37" name="Text 24">
            <a:extLst>
              <a:ext uri="{FF2B5EF4-FFF2-40B4-BE49-F238E27FC236}">
                <a16:creationId xmlns:a16="http://schemas.microsoft.com/office/drawing/2014/main" id="{0B084698-CD07-C9C7-2D0F-3CB734024C6F}"/>
              </a:ext>
            </a:extLst>
          </p:cNvPr>
          <p:cNvSpPr/>
          <p:nvPr/>
        </p:nvSpPr>
        <p:spPr>
          <a:xfrm>
            <a:off x="4435673" y="5562454"/>
            <a:ext cx="3308152" cy="274935"/>
          </a:xfrm>
          <a:prstGeom prst="rect">
            <a:avLst/>
          </a:prstGeom>
          <a:noFill/>
          <a:ln/>
        </p:spPr>
        <p:txBody>
          <a:bodyPr wrap="none" lIns="0" tIns="0" rIns="0" bIns="0" rtlCol="0" anchor="t"/>
          <a:lstStyle/>
          <a:p>
            <a:pPr>
              <a:lnSpc>
                <a:spcPts val="2125"/>
              </a:lnSpc>
            </a:pPr>
            <a:r>
              <a:rPr lang="en-US" sz="2400" dirty="0" err="1">
                <a:solidFill>
                  <a:srgbClr val="000000"/>
                </a:solidFill>
                <a:latin typeface="Aptos" panose="020B0004020202020204" pitchFamily="34" charset="0"/>
                <a:ea typeface="Inter" pitchFamily="34" charset="-122"/>
                <a:cs typeface="Inter" pitchFamily="34" charset="-120"/>
              </a:rPr>
              <a:t>install.packages</a:t>
            </a:r>
            <a:r>
              <a:rPr lang="en-US" sz="2400" dirty="0">
                <a:solidFill>
                  <a:srgbClr val="000000"/>
                </a:solidFill>
                <a:latin typeface="Aptos" panose="020B0004020202020204" pitchFamily="34" charset="0"/>
                <a:ea typeface="Inter" pitchFamily="34" charset="-122"/>
                <a:cs typeface="Inter" pitchFamily="34" charset="-120"/>
              </a:rPr>
              <a:t>("pkg") </a:t>
            </a:r>
            <a:endParaRPr lang="en-US" sz="2400" dirty="0">
              <a:latin typeface="Aptos" panose="020B0004020202020204" pitchFamily="34" charset="0"/>
            </a:endParaRPr>
          </a:p>
        </p:txBody>
      </p:sp>
      <p:sp>
        <p:nvSpPr>
          <p:cNvPr id="38" name="Text 25">
            <a:extLst>
              <a:ext uri="{FF2B5EF4-FFF2-40B4-BE49-F238E27FC236}">
                <a16:creationId xmlns:a16="http://schemas.microsoft.com/office/drawing/2014/main" id="{B43AD763-E1C1-2EDD-6804-2B68FBDAAD11}"/>
              </a:ext>
            </a:extLst>
          </p:cNvPr>
          <p:cNvSpPr/>
          <p:nvPr/>
        </p:nvSpPr>
        <p:spPr>
          <a:xfrm>
            <a:off x="8093670" y="5562454"/>
            <a:ext cx="3311327" cy="274935"/>
          </a:xfrm>
          <a:prstGeom prst="rect">
            <a:avLst/>
          </a:prstGeom>
          <a:noFill/>
          <a:ln/>
        </p:spPr>
        <p:txBody>
          <a:bodyPr wrap="none" lIns="0" tIns="0" rIns="0" bIns="0" rtlCol="0" anchor="t"/>
          <a:lstStyle/>
          <a:p>
            <a:pPr>
              <a:lnSpc>
                <a:spcPts val="2125"/>
              </a:lnSpc>
            </a:pPr>
            <a:r>
              <a:rPr lang="en-US" sz="2400" dirty="0">
                <a:solidFill>
                  <a:srgbClr val="000000"/>
                </a:solidFill>
                <a:latin typeface="Aptos" panose="020B0004020202020204" pitchFamily="34" charset="0"/>
                <a:ea typeface="Inter" pitchFamily="34" charset="-122"/>
                <a:cs typeface="Inter" pitchFamily="34" charset="-120"/>
              </a:rPr>
              <a:t>pip install pkg (in terminal) </a:t>
            </a:r>
            <a:endParaRPr lang="en-US" sz="2400" dirty="0">
              <a:latin typeface="Aptos" panose="020B0004020202020204" pitchFamily="34" charset="0"/>
            </a:endParaRPr>
          </a:p>
        </p:txBody>
      </p:sp>
      <p:sp>
        <p:nvSpPr>
          <p:cNvPr id="39" name="Shape 18">
            <a:extLst>
              <a:ext uri="{FF2B5EF4-FFF2-40B4-BE49-F238E27FC236}">
                <a16:creationId xmlns:a16="http://schemas.microsoft.com/office/drawing/2014/main" id="{5C962F79-E90F-94DF-6BFD-41227658FB86}"/>
              </a:ext>
            </a:extLst>
          </p:cNvPr>
          <p:cNvSpPr/>
          <p:nvPr/>
        </p:nvSpPr>
        <p:spPr>
          <a:xfrm>
            <a:off x="615255" y="5946825"/>
            <a:ext cx="10975380" cy="493812"/>
          </a:xfrm>
          <a:prstGeom prst="rect">
            <a:avLst/>
          </a:prstGeom>
          <a:solidFill>
            <a:srgbClr val="FFFFFF">
              <a:alpha val="4000"/>
            </a:srgbClr>
          </a:solidFill>
          <a:ln/>
        </p:spPr>
        <p:txBody>
          <a:bodyPr/>
          <a:lstStyle/>
          <a:p>
            <a:endParaRPr lang="en-US" sz="2800">
              <a:latin typeface="Aptos" panose="020B0004020202020204" pitchFamily="34" charset="0"/>
            </a:endParaRPr>
          </a:p>
        </p:txBody>
      </p:sp>
      <p:sp>
        <p:nvSpPr>
          <p:cNvPr id="40" name="Text 19">
            <a:extLst>
              <a:ext uri="{FF2B5EF4-FFF2-40B4-BE49-F238E27FC236}">
                <a16:creationId xmlns:a16="http://schemas.microsoft.com/office/drawing/2014/main" id="{509CC540-A5FC-44F7-BCA8-2F01F5128688}"/>
              </a:ext>
            </a:extLst>
          </p:cNvPr>
          <p:cNvSpPr/>
          <p:nvPr/>
        </p:nvSpPr>
        <p:spPr>
          <a:xfrm>
            <a:off x="788392" y="6056262"/>
            <a:ext cx="3311327" cy="274935"/>
          </a:xfrm>
          <a:prstGeom prst="rect">
            <a:avLst/>
          </a:prstGeom>
          <a:noFill/>
          <a:ln/>
        </p:spPr>
        <p:txBody>
          <a:bodyPr wrap="none" lIns="0" tIns="0" rIns="0" bIns="0" rtlCol="0" anchor="t"/>
          <a:lstStyle/>
          <a:p>
            <a:pPr>
              <a:lnSpc>
                <a:spcPts val="2125"/>
              </a:lnSpc>
            </a:pPr>
            <a:r>
              <a:rPr lang="en-US" sz="2400" dirty="0">
                <a:solidFill>
                  <a:srgbClr val="000000"/>
                </a:solidFill>
                <a:latin typeface="Aptos" panose="020B0004020202020204" pitchFamily="34" charset="0"/>
                <a:ea typeface="Inter" pitchFamily="34" charset="-122"/>
                <a:cs typeface="Inter" pitchFamily="34" charset="-120"/>
              </a:rPr>
              <a:t>Call package from library</a:t>
            </a:r>
            <a:endParaRPr lang="en-US" sz="2400" dirty="0">
              <a:latin typeface="Aptos" panose="020B0004020202020204" pitchFamily="34" charset="0"/>
            </a:endParaRPr>
          </a:p>
        </p:txBody>
      </p:sp>
      <p:sp>
        <p:nvSpPr>
          <p:cNvPr id="41" name="Text 20">
            <a:extLst>
              <a:ext uri="{FF2B5EF4-FFF2-40B4-BE49-F238E27FC236}">
                <a16:creationId xmlns:a16="http://schemas.microsoft.com/office/drawing/2014/main" id="{473DEF74-0AA2-D753-AC1D-3DFF85454A18}"/>
              </a:ext>
            </a:extLst>
          </p:cNvPr>
          <p:cNvSpPr/>
          <p:nvPr/>
        </p:nvSpPr>
        <p:spPr>
          <a:xfrm>
            <a:off x="4449563" y="6056262"/>
            <a:ext cx="3308152" cy="274935"/>
          </a:xfrm>
          <a:prstGeom prst="rect">
            <a:avLst/>
          </a:prstGeom>
          <a:noFill/>
          <a:ln/>
        </p:spPr>
        <p:txBody>
          <a:bodyPr wrap="none" lIns="0" tIns="0" rIns="0" bIns="0" rtlCol="0" anchor="t"/>
          <a:lstStyle/>
          <a:p>
            <a:pPr>
              <a:lnSpc>
                <a:spcPts val="2125"/>
              </a:lnSpc>
            </a:pPr>
            <a:r>
              <a:rPr lang="en-US" sz="2400" dirty="0">
                <a:solidFill>
                  <a:srgbClr val="000000"/>
                </a:solidFill>
                <a:latin typeface="Aptos" panose="020B0004020202020204" pitchFamily="34" charset="0"/>
                <a:ea typeface="Inter" pitchFamily="34" charset="-122"/>
              </a:rPr>
              <a:t>library</a:t>
            </a:r>
            <a:r>
              <a:rPr lang="en-US" sz="2400" dirty="0">
                <a:latin typeface="Aptos" panose="020B0004020202020204" pitchFamily="34" charset="0"/>
              </a:rPr>
              <a:t>(pkg) </a:t>
            </a:r>
          </a:p>
        </p:txBody>
      </p:sp>
      <p:sp>
        <p:nvSpPr>
          <p:cNvPr id="42" name="Text 21">
            <a:extLst>
              <a:ext uri="{FF2B5EF4-FFF2-40B4-BE49-F238E27FC236}">
                <a16:creationId xmlns:a16="http://schemas.microsoft.com/office/drawing/2014/main" id="{E100F511-AB37-52AB-C233-A160B2CB2DA5}"/>
              </a:ext>
            </a:extLst>
          </p:cNvPr>
          <p:cNvSpPr/>
          <p:nvPr/>
        </p:nvSpPr>
        <p:spPr>
          <a:xfrm>
            <a:off x="8107560" y="6056262"/>
            <a:ext cx="3311327" cy="274935"/>
          </a:xfrm>
          <a:prstGeom prst="rect">
            <a:avLst/>
          </a:prstGeom>
          <a:noFill/>
          <a:ln/>
        </p:spPr>
        <p:txBody>
          <a:bodyPr wrap="none" lIns="0" tIns="0" rIns="0" bIns="0" rtlCol="0" anchor="t"/>
          <a:lstStyle/>
          <a:p>
            <a:pPr>
              <a:lnSpc>
                <a:spcPts val="2125"/>
              </a:lnSpc>
            </a:pPr>
            <a:r>
              <a:rPr lang="en-US" sz="2400" dirty="0"/>
              <a:t>import pkg </a:t>
            </a:r>
            <a:endParaRPr lang="en-US" sz="2400" dirty="0">
              <a:solidFill>
                <a:srgbClr val="000000"/>
              </a:solidFill>
              <a:latin typeface="Aptos" panose="020B0004020202020204" pitchFamily="34" charset="0"/>
              <a:ea typeface="Inter" pitchFamily="34" charset="-122"/>
              <a:cs typeface="Inter" pitchFamily="34" charset="-120"/>
            </a:endParaRPr>
          </a:p>
        </p:txBody>
      </p:sp>
    </p:spTree>
    <p:extLst>
      <p:ext uri="{BB962C8B-B14F-4D97-AF65-F5344CB8AC3E}">
        <p14:creationId xmlns:p14="http://schemas.microsoft.com/office/powerpoint/2010/main" val="12064903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5535" y="1196791"/>
            <a:ext cx="10442944" cy="2387600"/>
          </a:xfrm>
        </p:spPr>
        <p:txBody>
          <a:bodyPr>
            <a:normAutofit/>
          </a:bodyPr>
          <a:lstStyle/>
          <a:p>
            <a:r>
              <a:rPr lang="en-US" dirty="0"/>
              <a:t>Chapter 4: Data Analysis in Python</a:t>
            </a:r>
            <a:endParaRPr dirty="0"/>
          </a:p>
        </p:txBody>
      </p:sp>
      <p:sp>
        <p:nvSpPr>
          <p:cNvPr id="3" name="Subtitle 2"/>
          <p:cNvSpPr>
            <a:spLocks noGrp="1"/>
          </p:cNvSpPr>
          <p:nvPr>
            <p:ph type="subTitle" idx="1"/>
          </p:nvPr>
        </p:nvSpPr>
        <p:spPr>
          <a:xfrm>
            <a:off x="1524000" y="4231758"/>
            <a:ext cx="9144000" cy="1026042"/>
          </a:xfrm>
        </p:spPr>
        <p:txBody>
          <a:bodyPr/>
          <a:lstStyle/>
          <a:p>
            <a:endParaRPr dirty="0"/>
          </a:p>
        </p:txBody>
      </p:sp>
      <p:sp>
        <p:nvSpPr>
          <p:cNvPr id="5" name="Subtitle"/>
          <p:cNvSpPr>
            <a:spLocks noGrp="1"/>
          </p:cNvSpPr>
          <p:nvPr>
            <p:ph type="subTitle" idx="1"/>
          </p:nvPr>
        </p:nvSpPr>
        <p:spPr/>
        <p:txBody>
          <a:bodyPr/>
          <a:lstStyle/>
          <a:p>
            <a:r>
              <a:rPr lang="en-US" dirty="0"/>
              <a:t>Coding Agents for Python-Based EDA</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457200" y="228600"/>
            <a:ext cx="11354400" cy="1143000"/>
          </a:xfrm>
        </p:spPr>
        <p:txBody>
          <a:bodyPr/>
          <a:lstStyle/>
          <a:p>
            <a:r>
              <a:rPr lang="en-US" dirty="0"/>
              <a:t>Python + Coding Agent: EDA Workflow</a:t>
            </a:r>
          </a:p>
        </p:txBody>
      </p:sp>
      <p:sp>
        <p:nvSpPr>
          <p:cNvPr id="3" name="Content"/>
          <p:cNvSpPr>
            <a:spLocks noGrp="1"/>
          </p:cNvSpPr>
          <p:nvPr>
            <p:ph idx="1"/>
          </p:nvPr>
        </p:nvSpPr>
        <p:spPr>
          <a:xfrm>
            <a:off x="457200" y="1485900"/>
            <a:ext cx="11354400" cy="4857300"/>
          </a:xfrm>
        </p:spPr>
        <p:txBody>
          <a:bodyPr>
            <a:normAutofit/>
          </a:bodyPr>
          <a:lstStyle/>
          <a:p>
            <a:r>
              <a:rPr lang="en-US" sz="1900" b="1" dirty="0"/>
              <a:t>An agent can execute your entire EDA pipeline — but only if you give it precise, analytical instructions:</a:t>
            </a:r>
          </a:p>
          <a:p>
            <a:r>
              <a:rPr lang="en-US" sz="1800" dirty="0"/>
              <a:t>Weak: "Analyze the data." → Agent produces arbitrary outputs with no analytical focus.</a:t>
            </a:r>
          </a:p>
          <a:p>
            <a:r>
              <a:rPr lang="en-US" sz="1800" dirty="0"/>
              <a:t>Strong: "Load car_data.csv. Run df.shape, df.dtypes, df.describe(), and df.isnull().sum(). Report any columns with null values or dtypes that look wrong. Then compute mean and median for all numerical columns and flag where they differ by more than 10%."</a:t>
            </a:r>
          </a:p>
          <a:p>
            <a:r>
              <a:rPr lang="en-US" sz="1900" b="1" dirty="0"/>
              <a:t>The 4-step agent loop for EDA:</a:t>
            </a:r>
          </a:p>
          <a:p>
            <a:r>
              <a:rPr lang="en-US" sz="1800" dirty="0"/>
              <a:t>1. You set the analytical question. 2. Agent writes and runs pandas code. 3. You evaluate the output — does it actually answer the question? Are dtypes right? Is the sample size expected? 4. You iterate with follow-up questions.</a:t>
            </a:r>
          </a:p>
          <a:p>
            <a:r>
              <a:rPr lang="en-US" sz="1800" dirty="0"/>
              <a:t>Key risk: agents confidently produce wrong code. Always cross-check — df.shape should match the expected row count, df.describe() min/max should be physically plausible.</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457200" y="228600"/>
            <a:ext cx="11354400" cy="1143000"/>
          </a:xfrm>
        </p:spPr>
        <p:txBody>
          <a:bodyPr/>
          <a:lstStyle/>
          <a:p>
            <a:r>
              <a:rPr lang="en-US" dirty="0"/>
              <a:t>Seaborn: Statistical Visualization in Python</a:t>
            </a:r>
          </a:p>
        </p:txBody>
      </p:sp>
      <p:sp>
        <p:nvSpPr>
          <p:cNvPr id="3" name="Content"/>
          <p:cNvSpPr>
            <a:spLocks noGrp="1"/>
          </p:cNvSpPr>
          <p:nvPr>
            <p:ph idx="1"/>
          </p:nvPr>
        </p:nvSpPr>
        <p:spPr>
          <a:xfrm>
            <a:off x="457200" y="1485900"/>
            <a:ext cx="11354400" cy="4857300"/>
          </a:xfrm>
        </p:spPr>
        <p:txBody>
          <a:bodyPr>
            <a:normAutofit/>
          </a:bodyPr>
          <a:lstStyle/>
          <a:p>
            <a:r>
              <a:rPr lang="en-US" sz="1900" b="1" dirty="0"/>
              <a:t>Why seaborn over matplotlib for statistical plots:</a:t>
            </a:r>
          </a:p>
          <a:p>
            <a:r>
              <a:rPr lang="en-US" sz="1800" dirty="0"/>
              <a:t>matplotlib is imperative (you specify every detail). seaborn is declarative — built on matplotlib, it generates statistically-informed plots in one line.</a:t>
            </a:r>
          </a:p>
          <a:p>
            <a:r>
              <a:rPr lang="en-US" sz="1900" b="1" dirty="0"/>
              <a:t>Key seaborn functions for EDA:</a:t>
            </a:r>
          </a:p>
          <a:p>
            <a:r>
              <a:rPr lang="en-US" sz="1800" dirty="0"/>
              <a:t>sns.histplot(df, x="mpg", kde=True) — histogram with kernel density estimate overlay</a:t>
            </a:r>
          </a:p>
          <a:p>
            <a:r>
              <a:rPr lang="en-US" sz="1800" dirty="0"/>
              <a:t>sns.boxplot(df, x="foreign", y="price") — compare price distributions across groups in one call</a:t>
            </a:r>
          </a:p>
          <a:p>
            <a:r>
              <a:rPr lang="en-US" sz="1800" dirty="0"/>
              <a:t>sns.scatterplot(df, x="weight", y="mpg", hue="foreign") — scatter colored by category</a:t>
            </a:r>
          </a:p>
          <a:p>
            <a:r>
              <a:rPr lang="en-US" sz="1800" dirty="0"/>
              <a:t>sns.heatmap(df.corr(), annot=True) — correlation matrix for all numerical variables at once</a:t>
            </a:r>
          </a:p>
          <a:p>
            <a:r>
              <a:rPr lang="en-US" sz="1800" b="1" dirty="0"/>
              <a:t>Ask your coding agent: "Reproduce our EDA plots using seaborn. Add a KDE overlay to the MPG histogram and a regression line to the scatter plot."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457200" y="228600"/>
            <a:ext cx="11354400" cy="1143000"/>
          </a:xfrm>
        </p:spPr>
        <p:txBody>
          <a:bodyPr/>
          <a:lstStyle/>
          <a:p>
            <a:r>
              <a:rPr lang="en-US" dirty="0"/>
              <a:t>Hands-On: Agent-Assisted Python EDA</a:t>
            </a:r>
          </a:p>
        </p:txBody>
      </p:sp>
      <p:sp>
        <p:nvSpPr>
          <p:cNvPr id="3" name="Content"/>
          <p:cNvSpPr>
            <a:spLocks noGrp="1"/>
          </p:cNvSpPr>
          <p:nvPr>
            <p:ph idx="1"/>
          </p:nvPr>
        </p:nvSpPr>
        <p:spPr>
          <a:xfrm>
            <a:off x="457200" y="1485900"/>
            <a:ext cx="11354400" cy="4857300"/>
          </a:xfrm>
        </p:spPr>
        <p:txBody>
          <a:bodyPr>
            <a:normAutofit/>
          </a:bodyPr>
          <a:lstStyle/>
          <a:p>
            <a:r>
              <a:rPr lang="en-US" sz="1900" b="1" dirty="0"/>
              <a:t>Activity (pairs, 25 minutes) — use car_data.csv with a coding agent in Jupyter:</a:t>
            </a:r>
          </a:p>
          <a:p>
            <a:r>
              <a:rPr lang="en-US" sz="1800" dirty="0"/>
              <a:t>Step 1 — Audit: Prompt the agent to run df.shape, df.dtypes, df.describe(), and df.isnull().sum(). Review every output. Flag any dtype that looks wrong.</a:t>
            </a:r>
          </a:p>
          <a:p>
            <a:r>
              <a:rPr lang="en-US" sz="1800" dirty="0"/>
              <a:t>Step 2 — Statistics: Ask for mean, median, and std of all numerical columns. Which variable has the highest coefficient of variation (std/mean)? What does that tell you?</a:t>
            </a:r>
          </a:p>
          <a:p>
            <a:r>
              <a:rPr lang="en-US" sz="1800" dirty="0"/>
              <a:t>Step 3 — Visualization: Request a seaborn histplot for mpg and price, a boxplot comparing price by foreign/domestic, and a scatter of weight vs. mpg with a regression line.</a:t>
            </a:r>
          </a:p>
          <a:p>
            <a:r>
              <a:rPr lang="en-US" sz="1800" dirty="0"/>
              <a:t>Step 4 — Interpretation: For each plot, write one sentence connecting the shape to a statistical concept (skewness, outlier, correlation). Does the agent’s interpretation match yours?</a:t>
            </a:r>
          </a:p>
          <a:p>
            <a:r>
              <a:rPr lang="en-US" sz="1800" b="1" dirty="0"/>
              <a:t>Challenge: ask the agent a deliberately vague question. Evaluate whether its output answers a meaningful analytical question or just produces output.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457200" y="228600"/>
            <a:ext cx="11354400" cy="1143000"/>
          </a:xfrm>
        </p:spPr>
        <p:txBody>
          <a:bodyPr/>
          <a:lstStyle/>
          <a:p>
            <a:r>
              <a:rPr lang="en-US" dirty="0"/>
              <a:t>Chapter 4: What You Can Do Now</a:t>
            </a:r>
          </a:p>
        </p:txBody>
      </p:sp>
      <p:sp>
        <p:nvSpPr>
          <p:cNvPr id="3" name="Content"/>
          <p:cNvSpPr>
            <a:spLocks noGrp="1"/>
          </p:cNvSpPr>
          <p:nvPr>
            <p:ph idx="1"/>
          </p:nvPr>
        </p:nvSpPr>
        <p:spPr>
          <a:xfrm>
            <a:off x="457200" y="1485900"/>
            <a:ext cx="11354400" cy="4857300"/>
          </a:xfrm>
        </p:spPr>
        <p:txBody>
          <a:bodyPr>
            <a:normAutofit/>
          </a:bodyPr>
          <a:lstStyle/>
          <a:p>
            <a:r>
              <a:rPr lang="en-US" sz="1900" b="1" dirty="0"/>
              <a:t>Python environment:</a:t>
            </a:r>
          </a:p>
          <a:p>
            <a:r>
              <a:rPr lang="en-US" sz="1800" dirty="0"/>
              <a:t>✓ Set up Jupyter (Anaconda or Google Colab) and run the 5-step EDA workflow from import to visualization.</a:t>
            </a:r>
          </a:p>
          <a:p>
            <a:r>
              <a:rPr lang="en-US" sz="1900" b="1" dirty="0"/>
              <a:t>Data analysis in Python:</a:t>
            </a:r>
          </a:p>
          <a:p>
            <a:r>
              <a:rPr lang="en-US" sz="1800" dirty="0"/>
              <a:t>✓ Load CSV with pd.read_csv(). Audit with df.shape, df.dtypes, df.describe(), df.isnull().sum(). Flag mismatches before computing statistics.</a:t>
            </a:r>
          </a:p>
          <a:p>
            <a:r>
              <a:rPr lang="en-US" sz="1800" dirty="0"/>
              <a:t>✓ Compute mean, median, std, IQR, value_counts(), and groupby() aggregations. Interpret when mean and median diverge and why.</a:t>
            </a:r>
          </a:p>
          <a:p>
            <a:r>
              <a:rPr lang="en-US" sz="1800" dirty="0"/>
              <a:t>✓ Create matplotlib histograms, bar charts, and scatter plots. Generate seaborn statistical plots (histplot with KDE, boxplot, heatmap).</a:t>
            </a:r>
          </a:p>
          <a:p>
            <a:r>
              <a:rPr lang="en-US" sz="1900" b="1" dirty="0"/>
              <a:t>Bilingual data science:</a:t>
            </a:r>
          </a:p>
          <a:p>
            <a:r>
              <a:rPr lang="en-US" sz="1800" dirty="0"/>
              <a:t>✓ Map equivalent operations between R and Python (summary() ↔ describe(), $ ↔ df["col"], tapply() ↔ groupby()). Know when to use each language.</a:t>
            </a:r>
          </a:p>
          <a:p>
            <a:r>
              <a:rPr lang="en-US" sz="1800" dirty="0"/>
              <a:t>✓ Direct a coding agent to perform full EDA in Python, evaluate its outputs critically, and iterate with precise analytical follow-up prompts.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6630</TotalTime>
  <Words>4316</Words>
  <Application>Microsoft Office PowerPoint</Application>
  <PresentationFormat>Widescreen</PresentationFormat>
  <Paragraphs>408</Paragraphs>
  <Slides>77</Slides>
  <Notes>18</Notes>
  <HiddenSlides>29</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77</vt:i4>
      </vt:variant>
    </vt:vector>
  </HeadingPairs>
  <TitlesOfParts>
    <vt:vector size="84" baseType="lpstr">
      <vt:lpstr>Aptos</vt:lpstr>
      <vt:lpstr>Aptos Display</vt:lpstr>
      <vt:lpstr>Arial</vt:lpstr>
      <vt:lpstr>Consolas</vt:lpstr>
      <vt:lpstr>Times New Roman</vt:lpstr>
      <vt:lpstr>Wingdings</vt:lpstr>
      <vt:lpstr>Office Theme</vt:lpstr>
      <vt:lpstr>Chapter 4: Data Analysis in Python</vt:lpstr>
      <vt:lpstr>Why Python for Data Analysis?</vt:lpstr>
      <vt:lpstr>PowerPoint Presentation</vt:lpstr>
      <vt:lpstr>Real World Examples</vt:lpstr>
      <vt:lpstr>Real World Examples</vt:lpstr>
      <vt:lpstr>Setting Up Python: Anaconda and Jupyter Notebooks</vt:lpstr>
      <vt:lpstr>Install Anaconda (Python + Jupyter) </vt:lpstr>
      <vt:lpstr>Install Anaconda (Python + Jupyter) </vt:lpstr>
      <vt:lpstr>Launch Jupyter Notebook </vt:lpstr>
      <vt:lpstr>PowerPoint Presentation</vt:lpstr>
      <vt:lpstr>Launch Jupyter Notebook – via Command Line</vt:lpstr>
      <vt:lpstr>PowerPoint Presentation</vt:lpstr>
      <vt:lpstr>What is Jupyter Notebook? </vt:lpstr>
      <vt:lpstr>Option 2: Google Colab</vt:lpstr>
      <vt:lpstr>Google Colab</vt:lpstr>
      <vt:lpstr>Google Colab</vt:lpstr>
      <vt:lpstr>Other Options</vt:lpstr>
      <vt:lpstr>Why Jupyter in this class?</vt:lpstr>
      <vt:lpstr>Navigating the Jupyter Notebook Interface</vt:lpstr>
      <vt:lpstr>Navigating the Jupyter Notebook Interface</vt:lpstr>
      <vt:lpstr>PowerPoint Presentation</vt:lpstr>
      <vt:lpstr>PowerPoint Presentation</vt:lpstr>
      <vt:lpstr>PowerPoint Presentation</vt:lpstr>
      <vt:lpstr>Try it yourself!</vt:lpstr>
      <vt:lpstr>What is Pandas?</vt:lpstr>
      <vt:lpstr>Analysis Steps</vt:lpstr>
      <vt:lpstr>Step 1: Import Libraries </vt:lpstr>
      <vt:lpstr>Step 1: Import Libraries </vt:lpstr>
      <vt:lpstr>Step 1: Import Libraries </vt:lpstr>
      <vt:lpstr>Step 2: Load the Dataset </vt:lpstr>
      <vt:lpstr>Step 2: Load the Dataset </vt:lpstr>
      <vt:lpstr>Step 3: Quick Data Peek</vt:lpstr>
      <vt:lpstr>Step 3: Quick Data Peek</vt:lpstr>
      <vt:lpstr>Step 3: Quick Data Peek</vt:lpstr>
      <vt:lpstr>Let’s check the size</vt:lpstr>
      <vt:lpstr>Information about the variables</vt:lpstr>
      <vt:lpstr>Summary Statistics</vt:lpstr>
      <vt:lpstr>Attention!</vt:lpstr>
      <vt:lpstr>Step 4: Specific Analysis Questions </vt:lpstr>
      <vt:lpstr>Step 4: Question 1</vt:lpstr>
      <vt:lpstr>Step 4: Question 1</vt:lpstr>
      <vt:lpstr>Step 4: Question 2</vt:lpstr>
      <vt:lpstr>Step 4: Question 2</vt:lpstr>
      <vt:lpstr>Step 4: Question 2</vt:lpstr>
      <vt:lpstr>Step 4: Question 3</vt:lpstr>
      <vt:lpstr>Step 4: Question 3</vt:lpstr>
      <vt:lpstr>Step 5: Visualization</vt:lpstr>
      <vt:lpstr>Basic Plotting in Python (Matplotlib)</vt:lpstr>
      <vt:lpstr>Step 5: Visualization</vt:lpstr>
      <vt:lpstr>Histogram of MPG in Python</vt:lpstr>
      <vt:lpstr>Histogram of MPG in Python</vt:lpstr>
      <vt:lpstr>Histogram of MPG in Python</vt:lpstr>
      <vt:lpstr>Histogram – Interpretation </vt:lpstr>
      <vt:lpstr>Your Turn!</vt:lpstr>
      <vt:lpstr>Your Turn!</vt:lpstr>
      <vt:lpstr>Step 5: Visualization</vt:lpstr>
      <vt:lpstr>Bar Chart in Python</vt:lpstr>
      <vt:lpstr>Bar Chart in Python</vt:lpstr>
      <vt:lpstr>Your turn</vt:lpstr>
      <vt:lpstr>Let’s exercise</vt:lpstr>
      <vt:lpstr>Let’s exercise</vt:lpstr>
      <vt:lpstr>Let’s exercise</vt:lpstr>
      <vt:lpstr>Assignment</vt:lpstr>
      <vt:lpstr>Your Turn!</vt:lpstr>
      <vt:lpstr>Your Turn!</vt:lpstr>
      <vt:lpstr>PowerPoint Presentation</vt:lpstr>
      <vt:lpstr>PowerPoint Presentation</vt:lpstr>
      <vt:lpstr>PowerPoint Presentation</vt:lpstr>
      <vt:lpstr>PowerPoint Presentation</vt:lpstr>
      <vt:lpstr>Get the mean for a specific variable</vt:lpstr>
      <vt:lpstr>Frequency counts</vt:lpstr>
      <vt:lpstr>R vs. Python: Syntax Comparison </vt:lpstr>
      <vt:lpstr>Chapter 4: Data Analysis in Python</vt:lpstr>
      <vt:lpstr>Python + Coding Agent: EDA Workflow</vt:lpstr>
      <vt:lpstr>Seaborn: Statistical Visualization in Python</vt:lpstr>
      <vt:lpstr>Hands-On: Agent-Assisted Python EDA</vt:lpstr>
      <vt:lpstr>Chapter 4: What You Can Do Now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Michelle Yin</dc:creator>
  <cp:lastModifiedBy>Burhan Ogut</cp:lastModifiedBy>
  <cp:revision>26</cp:revision>
  <dcterms:created xsi:type="dcterms:W3CDTF">2025-04-09T18:08:05Z</dcterms:created>
  <dcterms:modified xsi:type="dcterms:W3CDTF">2026-04-20T19:52:03Z</dcterms:modified>
</cp:coreProperties>
</file>