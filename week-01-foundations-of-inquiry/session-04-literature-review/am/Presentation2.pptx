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3" r:id="rId2"/>
    <p:sldId id="364" r:id="rId3"/>
    <p:sldId id="367" r:id="rId4"/>
    <p:sldId id="646" r:id="rId5"/>
    <p:sldId id="663" r:id="rId6"/>
    <p:sldId id="662" r:id="rId7"/>
    <p:sldId id="665" r:id="rId8"/>
    <p:sldId id="421" r:id="rId9"/>
    <p:sldId id="422" r:id="rId10"/>
    <p:sldId id="423" r:id="rId11"/>
    <p:sldId id="424" r:id="rId12"/>
    <p:sldId id="648" r:id="rId13"/>
    <p:sldId id="664" r:id="rId14"/>
    <p:sldId id="649" r:id="rId15"/>
    <p:sldId id="661" r:id="rId16"/>
    <p:sldId id="660" r:id="rId17"/>
    <p:sldId id="659" r:id="rId18"/>
    <p:sldId id="650" r:id="rId19"/>
    <p:sldId id="373" r:id="rId20"/>
    <p:sldId id="372" r:id="rId21"/>
    <p:sldId id="652" r:id="rId22"/>
    <p:sldId id="403" r:id="rId23"/>
    <p:sldId id="64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29"/>
  </p:normalViewPr>
  <p:slideViewPr>
    <p:cSldViewPr snapToGrid="0">
      <p:cViewPr varScale="1">
        <p:scale>
          <a:sx n="108" d="100"/>
          <a:sy n="108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108FB-9720-4045-AF94-1B3B43DF60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B527E-CD9B-C260-8EEA-9C15E64C6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96FFB-0428-795D-71C1-A3D9D61F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A8C96-B3CB-B56E-5185-6621BE2F7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F43F3-596D-00D9-B411-2B68CC3E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5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F6F3A-4E37-2F73-C75D-AF191BE0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868D-2635-A486-0C76-42F72B0C6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23D30-1929-7EDA-0114-FCA185A3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62001-615F-52FE-98A2-6C69376A0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E717B-5130-7693-FE97-5A474AF66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20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2D0F-0066-CEA6-B587-DFFE5EA6A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BD205-339B-D5D4-9FCA-BDDEEE94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DC790-6EA8-DFBE-B427-495DD1AE7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3EC62-68A6-3B98-17D7-62BF6BDC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E56862-344A-1C02-EB9D-46C09B09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3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F0A05-917F-7E6F-B9B2-52AF6193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79446-B8B5-7F1E-E839-569482228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2D211F-281D-8719-42EB-BA0E1B7E84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F4746-9FC0-BDF3-A6F0-E2DEE986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111F9-C71A-2BAB-BB07-B2282681B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CD40D-C474-C66D-C42D-99648257F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09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42A8-6106-692C-0A30-B2A52674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ABE62-9840-080E-EE82-78A9BF66C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354E3-BD7F-1E82-1062-B00677A5F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6EA17-6BCC-5021-FAF7-63CF69250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8F0081-21A5-51BF-3B91-342FC03F1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931FF-AFC7-1142-522A-7358BE9EA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2ACEED-041A-BCB2-CF81-BB522F20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F2004-882C-ED40-5A98-DAA92BF46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2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4CAB-E9E0-430D-7BAB-EB0088EAC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A155E4-E9E3-8943-C4F0-2D39BCE6C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BB7EA2-141D-F0A7-8523-AF406F4D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EF2AB6-4E59-B119-ABD3-406D31A5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7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93DA12-07EF-2071-3F3D-BF2EED86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AC9C6-B6EB-0779-6630-0732FB308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42AC9-2414-800B-9EBE-9744B2A8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631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BFFB9-1E87-90CA-184A-94B209D13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1D3D3-F186-BC32-4266-A5581841D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2ED86-7AC0-E970-2675-DE7BD93AE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ECFFA-369B-28B9-8656-5B9B78784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07679B-4F67-2B5B-9201-8AF0DF2F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483DC-9BBD-4BD8-1DF0-E5C6BE38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16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5B5BE-F456-ACA0-1103-22864480F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DE719-F634-050E-7366-58DC596FC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C56D9-B596-C6D2-9F70-A58B22435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19F6F-C275-00B3-CD00-08C0D444A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986DFE-98F1-CD45-75ED-0F618A8E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E87CE3-E887-5A51-46AA-5FA478EAB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49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DE0D-961B-A2D4-5B66-4D1EFB1AD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3229F-63FA-9963-7799-4BDD2BD29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513E1-91F6-7D86-4E00-DA7F7B42B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C81BD-5285-D089-D015-A2BDD43D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B21B6-CF87-22EA-4CE2-CEE185E66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73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361A68-DFCE-7DF1-51C8-01AB3F476C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ABB576-D4A1-90ED-E9B8-C076DED7F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F6085-92D7-1047-E103-F2C23B0BC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4F9F8-01F7-8750-8FE8-42992A0F8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2F7EE-5488-79A1-15B2-CF0CC241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3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7" descr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7038" y="1277"/>
            <a:ext cx="2564962" cy="586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9" descr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88" y="6486580"/>
            <a:ext cx="3389313" cy="166688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3787"/>
            <a:ext cx="2844801" cy="36512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931528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250B-5032-69C0-21B7-CAE8FCA01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38D49-5DD3-92AA-FC76-6A3CF7D15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85CCD-A07B-BD16-E34D-A93844640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5A0BD-014A-604C-B2DC-79FFBCB8E178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3CDEA-BA53-3538-3164-71F37DE3ED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678AF-00F4-B0C8-3C42-C561A13159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8EB26-CE4A-1348-8213-FD0E0593F0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8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RESEARCH METHODS…"/>
          <p:cNvSpPr txBox="1"/>
          <p:nvPr/>
        </p:nvSpPr>
        <p:spPr>
          <a:xfrm>
            <a:off x="853752" y="1470895"/>
            <a:ext cx="10191636" cy="2564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8099" tIns="38100" rIns="38099" bIns="38100" anchor="t">
            <a:spAutoFit/>
          </a:bodyPr>
          <a:lstStyle/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RESEARCH METHODS</a:t>
            </a:r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5000"/>
          </a:p>
          <a:p>
            <a:pPr algn="ctr">
              <a:lnSpc>
                <a:spcPct val="90000"/>
              </a:lnSpc>
              <a:defRPr sz="60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5000"/>
              <a:t>DAY </a:t>
            </a:r>
            <a:r>
              <a:rPr lang="en-US" sz="5000"/>
              <a:t>4</a:t>
            </a:r>
            <a:endParaRPr sz="5000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  <a:p>
            <a:pPr algn="ctr" defTabSz="380985">
              <a:defRPr sz="16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333"/>
          </a:p>
        </p:txBody>
      </p:sp>
      <p:sp>
        <p:nvSpPr>
          <p:cNvPr id="1812" name="Rectangle"/>
          <p:cNvSpPr/>
          <p:nvPr/>
        </p:nvSpPr>
        <p:spPr>
          <a:xfrm>
            <a:off x="-62743" y="-81"/>
            <a:ext cx="9701771" cy="58674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099" rIns="38099" anchor="ctr"/>
          <a:lstStyle/>
          <a:p>
            <a:endParaRPr sz="150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Text 0"/>
          <p:cNvSpPr txBox="1"/>
          <p:nvPr/>
        </p:nvSpPr>
        <p:spPr>
          <a:xfrm>
            <a:off x="661492" y="1971278"/>
            <a:ext cx="4476078" cy="25979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lnSpc>
                <a:spcPts val="4583"/>
              </a:lnSpc>
              <a:defRPr sz="5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4666" dirty="0"/>
              <a:t>Welcome Back </a:t>
            </a:r>
            <a:r>
              <a:rPr sz="4666"/>
              <a:t>to Day </a:t>
            </a:r>
            <a:r>
              <a:rPr lang="en-US" sz="4666"/>
              <a:t>4</a:t>
            </a:r>
            <a:r>
              <a:rPr sz="4666"/>
              <a:t>! </a:t>
            </a:r>
          </a:p>
          <a:p>
            <a:pPr>
              <a:lnSpc>
                <a:spcPts val="4583"/>
              </a:lnSpc>
              <a:defRPr sz="5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4666"/>
          </a:p>
          <a:p>
            <a:pPr>
              <a:lnSpc>
                <a:spcPts val="3417"/>
              </a:lnSpc>
              <a:defRPr sz="2700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2250"/>
              <a:t>Today we </a:t>
            </a:r>
            <a:r>
              <a:rPr lang="en-US" sz="2250"/>
              <a:t>delve into literature search!</a:t>
            </a:r>
            <a:endParaRPr sz="2250"/>
          </a:p>
        </p:txBody>
      </p:sp>
      <p:pic>
        <p:nvPicPr>
          <p:cNvPr id="181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310" y="853965"/>
            <a:ext cx="4002691" cy="60040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Text 0"/>
          <p:cNvSpPr txBox="1"/>
          <p:nvPr/>
        </p:nvSpPr>
        <p:spPr>
          <a:xfrm>
            <a:off x="553839" y="435173"/>
            <a:ext cx="3986669" cy="531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600"/>
              </a:lnSpc>
              <a:defRPr sz="37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083"/>
              <a:t>The Research Process</a:t>
            </a:r>
          </a:p>
        </p:txBody>
      </p:sp>
      <p:sp>
        <p:nvSpPr>
          <p:cNvPr id="1831" name="Text 1"/>
          <p:cNvSpPr txBox="1"/>
          <p:nvPr/>
        </p:nvSpPr>
        <p:spPr>
          <a:xfrm>
            <a:off x="553840" y="1245990"/>
            <a:ext cx="6591869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The journey from question to insight follows these essential steps:</a:t>
            </a:r>
          </a:p>
        </p:txBody>
      </p:sp>
      <p:pic>
        <p:nvPicPr>
          <p:cNvPr id="183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39" y="1677194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1833" name="Text 2"/>
          <p:cNvSpPr txBox="1"/>
          <p:nvPr/>
        </p:nvSpPr>
        <p:spPr>
          <a:xfrm>
            <a:off x="1582340" y="1835349"/>
            <a:ext cx="169918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Ask a Question</a:t>
            </a:r>
          </a:p>
        </p:txBody>
      </p:sp>
      <p:sp>
        <p:nvSpPr>
          <p:cNvPr id="1834" name="Text 3"/>
          <p:cNvSpPr txBox="1"/>
          <p:nvPr/>
        </p:nvSpPr>
        <p:spPr>
          <a:xfrm>
            <a:off x="1582340" y="2177455"/>
            <a:ext cx="546861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Formulate a clear, specific question worth investigating</a:t>
            </a:r>
          </a:p>
        </p:txBody>
      </p:sp>
      <p:pic>
        <p:nvPicPr>
          <p:cNvPr id="1835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39" y="2626618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836" name="Text 4"/>
          <p:cNvSpPr txBox="1"/>
          <p:nvPr/>
        </p:nvSpPr>
        <p:spPr>
          <a:xfrm>
            <a:off x="1582340" y="2784773"/>
            <a:ext cx="2228174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Gather Information</a:t>
            </a:r>
          </a:p>
        </p:txBody>
      </p:sp>
      <p:sp>
        <p:nvSpPr>
          <p:cNvPr id="1837" name="Text 5"/>
          <p:cNvSpPr txBox="1"/>
          <p:nvPr/>
        </p:nvSpPr>
        <p:spPr>
          <a:xfrm>
            <a:off x="1582341" y="3126880"/>
            <a:ext cx="7405169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Review the literature &amp; collect relevant data through appropriate methods</a:t>
            </a:r>
          </a:p>
        </p:txBody>
      </p:sp>
      <p:pic>
        <p:nvPicPr>
          <p:cNvPr id="1838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39" y="3576042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839" name="Text 6"/>
          <p:cNvSpPr txBox="1"/>
          <p:nvPr/>
        </p:nvSpPr>
        <p:spPr>
          <a:xfrm>
            <a:off x="1582341" y="3734197"/>
            <a:ext cx="2749151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Analyze the Information</a:t>
            </a:r>
          </a:p>
        </p:txBody>
      </p:sp>
      <p:sp>
        <p:nvSpPr>
          <p:cNvPr id="1840" name="Text 7"/>
          <p:cNvSpPr txBox="1"/>
          <p:nvPr/>
        </p:nvSpPr>
        <p:spPr>
          <a:xfrm>
            <a:off x="1582340" y="4076303"/>
            <a:ext cx="4747197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Examine data for patterns, trends, and meaning</a:t>
            </a:r>
          </a:p>
        </p:txBody>
      </p:sp>
      <p:pic>
        <p:nvPicPr>
          <p:cNvPr id="1841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839" y="4525466"/>
            <a:ext cx="791170" cy="949426"/>
          </a:xfrm>
          <a:prstGeom prst="rect">
            <a:avLst/>
          </a:prstGeom>
          <a:ln w="12700">
            <a:miter lim="400000"/>
          </a:ln>
        </p:spPr>
      </p:pic>
      <p:sp>
        <p:nvSpPr>
          <p:cNvPr id="1842" name="Text 8"/>
          <p:cNvSpPr txBox="1"/>
          <p:nvPr/>
        </p:nvSpPr>
        <p:spPr>
          <a:xfrm>
            <a:off x="1582340" y="4683621"/>
            <a:ext cx="2090316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Draw Conclusions</a:t>
            </a:r>
          </a:p>
        </p:txBody>
      </p:sp>
      <p:sp>
        <p:nvSpPr>
          <p:cNvPr id="1843" name="Text 9"/>
          <p:cNvSpPr txBox="1"/>
          <p:nvPr/>
        </p:nvSpPr>
        <p:spPr>
          <a:xfrm>
            <a:off x="1582340" y="5025727"/>
            <a:ext cx="581287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Develop evidence-based answers to your original question</a:t>
            </a:r>
          </a:p>
        </p:txBody>
      </p:sp>
      <p:pic>
        <p:nvPicPr>
          <p:cNvPr id="1844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39" y="5474890"/>
            <a:ext cx="791170" cy="949425"/>
          </a:xfrm>
          <a:prstGeom prst="rect">
            <a:avLst/>
          </a:prstGeom>
          <a:ln w="12700">
            <a:miter lim="400000"/>
          </a:ln>
        </p:spPr>
      </p:pic>
      <p:sp>
        <p:nvSpPr>
          <p:cNvPr id="1845" name="Text 10"/>
          <p:cNvSpPr txBox="1"/>
          <p:nvPr/>
        </p:nvSpPr>
        <p:spPr>
          <a:xfrm>
            <a:off x="1582341" y="5633046"/>
            <a:ext cx="1715213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Share Findings</a:t>
            </a:r>
          </a:p>
        </p:txBody>
      </p:sp>
      <p:sp>
        <p:nvSpPr>
          <p:cNvPr id="1846" name="Text 11"/>
          <p:cNvSpPr txBox="1"/>
          <p:nvPr/>
        </p:nvSpPr>
        <p:spPr>
          <a:xfrm>
            <a:off x="1582340" y="5975151"/>
            <a:ext cx="5745868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300"/>
              </a:lnSpc>
              <a:defRPr sz="23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917"/>
              <a:t>Communicate results effectively to appropriate audiences</a:t>
            </a:r>
          </a:p>
        </p:txBody>
      </p:sp>
      <p:sp>
        <p:nvSpPr>
          <p:cNvPr id="1848" name="Line"/>
          <p:cNvSpPr/>
          <p:nvPr/>
        </p:nvSpPr>
        <p:spPr>
          <a:xfrm>
            <a:off x="9895417" y="3252236"/>
            <a:ext cx="1240177" cy="1"/>
          </a:xfrm>
          <a:prstGeom prst="line">
            <a:avLst/>
          </a:prstGeom>
          <a:ln w="139700">
            <a:solidFill>
              <a:schemeClr val="accent5"/>
            </a:solidFill>
            <a:miter lim="400000"/>
            <a:headEnd type="triangle"/>
          </a:ln>
        </p:spPr>
        <p:txBody>
          <a:bodyPr lIns="38099" rIns="38099"/>
          <a:lstStyle/>
          <a:p>
            <a:endParaRPr sz="150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8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734D-554A-3A50-6FFC-8FA38F270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F130E0-E219-84BA-E701-19E3FAC5B65B}"/>
              </a:ext>
            </a:extLst>
          </p:cNvPr>
          <p:cNvSpPr txBox="1"/>
          <p:nvPr/>
        </p:nvSpPr>
        <p:spPr>
          <a:xfrm>
            <a:off x="166742" y="185563"/>
            <a:ext cx="5241783" cy="335963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New Slide to introduce Warm Up Activity </a:t>
            </a:r>
            <a:endParaRPr lang="en-US" sz="1500"/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Curriculum says:</a:t>
            </a:r>
            <a:endParaRPr lang="en-US" sz="1500"/>
          </a:p>
          <a:p>
            <a:pPr algn="ctr"/>
            <a:r>
              <a:rPr lang="en-US" sz="200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Display 5 sources (one peer-reviewed article, one blog post, one Wikipedia entry, one newspaper article, one government report). Students rank from most to least credible and justify. </a:t>
            </a:r>
          </a:p>
        </p:txBody>
      </p:sp>
    </p:spTree>
    <p:extLst>
      <p:ext uri="{BB962C8B-B14F-4D97-AF65-F5344CB8AC3E}">
        <p14:creationId xmlns:p14="http://schemas.microsoft.com/office/powerpoint/2010/main" val="270923898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91CE-848B-F5A9-6710-DA54DFC54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Text 0">
            <a:extLst>
              <a:ext uri="{FF2B5EF4-FFF2-40B4-BE49-F238E27FC236}">
                <a16:creationId xmlns:a16="http://schemas.microsoft.com/office/drawing/2014/main" id="{F60AF0CA-88CA-E335-562F-CD3CA2EFE970}"/>
              </a:ext>
            </a:extLst>
          </p:cNvPr>
          <p:cNvSpPr txBox="1"/>
          <p:nvPr/>
        </p:nvSpPr>
        <p:spPr>
          <a:xfrm>
            <a:off x="4102577" y="1579072"/>
            <a:ext cx="3872855" cy="2401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t">
            <a:spAutoFit/>
          </a:bodyPr>
          <a:lstStyle>
            <a:lvl1pPr>
              <a:lnSpc>
                <a:spcPts val="38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 dirty="0"/>
              <a:t>Literature Review</a:t>
            </a:r>
          </a:p>
          <a:p>
            <a:endParaRPr lang="en-US" sz="3667" dirty="0"/>
          </a:p>
          <a:p>
            <a:pPr marL="476231" indent="-476231">
              <a:buFont typeface="Arial"/>
              <a:buChar char="•"/>
            </a:pPr>
            <a:r>
              <a:rPr lang="en-US" sz="3000" b="0" dirty="0"/>
              <a:t>What is it? </a:t>
            </a:r>
          </a:p>
          <a:p>
            <a:pPr marL="476231" indent="-476231">
              <a:buFont typeface="Arial"/>
              <a:buChar char="•"/>
            </a:pPr>
            <a:r>
              <a:rPr lang="en-US" sz="3000" b="0" dirty="0"/>
              <a:t>How to do it? </a:t>
            </a:r>
          </a:p>
          <a:p>
            <a:pPr marL="476231" indent="-476231">
              <a:buFont typeface="Arial"/>
              <a:buChar char="•"/>
            </a:pPr>
            <a:r>
              <a:rPr lang="en-US" sz="3000" b="0" dirty="0"/>
              <a:t>How to do it well?</a:t>
            </a:r>
          </a:p>
        </p:txBody>
      </p:sp>
      <p:pic>
        <p:nvPicPr>
          <p:cNvPr id="3079" name="Image 0" descr="Image 0">
            <a:extLst>
              <a:ext uri="{FF2B5EF4-FFF2-40B4-BE49-F238E27FC236}">
                <a16:creationId xmlns:a16="http://schemas.microsoft.com/office/drawing/2014/main" id="{A29A7F07-34C4-25B0-4C57-41BF96A7A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6336"/>
            <a:ext cx="3681109" cy="552166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0207281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629E1-619E-9FF7-EDE7-036DE11A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1" name="Text 0">
            <a:extLst>
              <a:ext uri="{FF2B5EF4-FFF2-40B4-BE49-F238E27FC236}">
                <a16:creationId xmlns:a16="http://schemas.microsoft.com/office/drawing/2014/main" id="{DFDB3914-1016-5FAF-389D-88BEE8027F8F}"/>
              </a:ext>
            </a:extLst>
          </p:cNvPr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What is a Literature Review? </a:t>
            </a:r>
          </a:p>
        </p:txBody>
      </p:sp>
      <p:sp>
        <p:nvSpPr>
          <p:cNvPr id="3082" name="Text 1">
            <a:extLst>
              <a:ext uri="{FF2B5EF4-FFF2-40B4-BE49-F238E27FC236}">
                <a16:creationId xmlns:a16="http://schemas.microsoft.com/office/drawing/2014/main" id="{1DC794AE-27E7-2E40-534E-F212D9E8D363}"/>
              </a:ext>
            </a:extLst>
          </p:cNvPr>
          <p:cNvSpPr txBox="1"/>
          <p:nvPr/>
        </p:nvSpPr>
        <p:spPr>
          <a:xfrm>
            <a:off x="618675" y="2548575"/>
            <a:ext cx="10954650" cy="2067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333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A literature review is a summary and analysis of what has already been written on a topic.</a:t>
            </a:r>
            <a:br>
              <a:rPr sz="2250"/>
            </a:br>
            <a:endParaRPr sz="2250"/>
          </a:p>
          <a:p>
            <a:pPr>
              <a:lnSpc>
                <a:spcPts val="2333"/>
              </a:lnSpc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It helps you: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Understand what’s already known,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See where there are gaps or debates,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Avoid repeating others’ work,</a:t>
            </a:r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700">
                <a:latin typeface="Inter"/>
                <a:ea typeface="Inter"/>
                <a:cs typeface="Inter"/>
                <a:sym typeface="Inter"/>
              </a:defRPr>
            </a:pPr>
            <a:r>
              <a:rPr sz="2250"/>
              <a:t>And build a strong foundation for your own research.</a:t>
            </a:r>
          </a:p>
        </p:txBody>
      </p:sp>
      <p:sp>
        <p:nvSpPr>
          <p:cNvPr id="3083" name="Shape 2">
            <a:extLst>
              <a:ext uri="{FF2B5EF4-FFF2-40B4-BE49-F238E27FC236}">
                <a16:creationId xmlns:a16="http://schemas.microsoft.com/office/drawing/2014/main" id="{AEE3F214-73DD-2AE0-479A-686963A0152F}"/>
              </a:ext>
            </a:extLst>
          </p:cNvPr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  <p:extLst>
      <p:ext uri="{BB962C8B-B14F-4D97-AF65-F5344CB8AC3E}">
        <p14:creationId xmlns:p14="http://schemas.microsoft.com/office/powerpoint/2010/main" val="2217452258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9856D-4947-421C-4120-4C093E76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Text 0">
            <a:extLst>
              <a:ext uri="{FF2B5EF4-FFF2-40B4-BE49-F238E27FC236}">
                <a16:creationId xmlns:a16="http://schemas.microsoft.com/office/drawing/2014/main" id="{6F716EC6-FD8A-8919-ED37-276A38CB753C}"/>
              </a:ext>
            </a:extLst>
          </p:cNvPr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Conduct a Lit Review</a:t>
            </a:r>
          </a:p>
        </p:txBody>
      </p:sp>
      <p:sp>
        <p:nvSpPr>
          <p:cNvPr id="3086" name="Text 1">
            <a:extLst>
              <a:ext uri="{FF2B5EF4-FFF2-40B4-BE49-F238E27FC236}">
                <a16:creationId xmlns:a16="http://schemas.microsoft.com/office/drawing/2014/main" id="{B214C335-4154-8424-BB8A-14660E70F1FD}"/>
              </a:ext>
            </a:extLst>
          </p:cNvPr>
          <p:cNvSpPr txBox="1"/>
          <p:nvPr/>
        </p:nvSpPr>
        <p:spPr>
          <a:xfrm>
            <a:off x="618675" y="2287591"/>
            <a:ext cx="10954650" cy="2949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1: Clarify Your Topic or Research Question</a:t>
            </a:r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2: Search for Reliable Sources</a:t>
            </a:r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 dirty="0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lang="en-US" sz="2167" b="1" dirty="0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 b="1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 b="1" dirty="0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lang="en-US" sz="2167"/>
          </a:p>
        </p:txBody>
      </p:sp>
      <p:sp>
        <p:nvSpPr>
          <p:cNvPr id="3087" name="Shape 2">
            <a:extLst>
              <a:ext uri="{FF2B5EF4-FFF2-40B4-BE49-F238E27FC236}">
                <a16:creationId xmlns:a16="http://schemas.microsoft.com/office/drawing/2014/main" id="{D640A1BA-266A-531E-783E-3945B90FA888}"/>
              </a:ext>
            </a:extLst>
          </p:cNvPr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01570068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Text 0"/>
          <p:cNvSpPr txBox="1"/>
          <p:nvPr/>
        </p:nvSpPr>
        <p:spPr>
          <a:xfrm>
            <a:off x="661491" y="1734045"/>
            <a:ext cx="6668492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Reliable vs. Unreliable Sources</a:t>
            </a:r>
          </a:p>
        </p:txBody>
      </p:sp>
      <p:sp>
        <p:nvSpPr>
          <p:cNvPr id="2296" name="Text 1"/>
          <p:cNvSpPr txBox="1"/>
          <p:nvPr/>
        </p:nvSpPr>
        <p:spPr>
          <a:xfrm>
            <a:off x="661491" y="2797174"/>
            <a:ext cx="2127185" cy="3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6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Reliable Sources</a:t>
            </a:r>
          </a:p>
        </p:txBody>
      </p:sp>
      <p:sp>
        <p:nvSpPr>
          <p:cNvPr id="2297" name="Text 2"/>
          <p:cNvSpPr txBox="1"/>
          <p:nvPr/>
        </p:nvSpPr>
        <p:spPr>
          <a:xfrm>
            <a:off x="661491" y="3281461"/>
            <a:ext cx="3546484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Backed by verifiable evidence</a:t>
            </a:r>
          </a:p>
        </p:txBody>
      </p:sp>
      <p:sp>
        <p:nvSpPr>
          <p:cNvPr id="2298" name="Text 3"/>
          <p:cNvSpPr txBox="1"/>
          <p:nvPr/>
        </p:nvSpPr>
        <p:spPr>
          <a:xfrm>
            <a:off x="661491" y="3649960"/>
            <a:ext cx="2385461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Created by experts</a:t>
            </a:r>
          </a:p>
        </p:txBody>
      </p:sp>
      <p:sp>
        <p:nvSpPr>
          <p:cNvPr id="2299" name="Text 4"/>
          <p:cNvSpPr txBox="1"/>
          <p:nvPr/>
        </p:nvSpPr>
        <p:spPr>
          <a:xfrm>
            <a:off x="661491" y="4018458"/>
            <a:ext cx="3194977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Undergo review processes</a:t>
            </a:r>
          </a:p>
        </p:txBody>
      </p:sp>
      <p:sp>
        <p:nvSpPr>
          <p:cNvPr id="2300" name="Text 5"/>
          <p:cNvSpPr txBox="1"/>
          <p:nvPr/>
        </p:nvSpPr>
        <p:spPr>
          <a:xfrm>
            <a:off x="661491" y="4386957"/>
            <a:ext cx="3365730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Transparent about methods</a:t>
            </a:r>
          </a:p>
        </p:txBody>
      </p:sp>
      <p:sp>
        <p:nvSpPr>
          <p:cNvPr id="2301" name="Text 6"/>
          <p:cNvSpPr txBox="1"/>
          <p:nvPr/>
        </p:nvSpPr>
        <p:spPr>
          <a:xfrm>
            <a:off x="661491" y="4755456"/>
            <a:ext cx="2234201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Cite their sources</a:t>
            </a:r>
          </a:p>
        </p:txBody>
      </p:sp>
      <p:sp>
        <p:nvSpPr>
          <p:cNvPr id="2302" name="Text 7"/>
          <p:cNvSpPr txBox="1"/>
          <p:nvPr/>
        </p:nvSpPr>
        <p:spPr>
          <a:xfrm>
            <a:off x="6332933" y="2797174"/>
            <a:ext cx="2425344" cy="3225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600" b="1">
                <a:solidFill>
                  <a:srgbClr val="94175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167"/>
              <a:t>Unreliable Sources</a:t>
            </a:r>
          </a:p>
        </p:txBody>
      </p:sp>
      <p:sp>
        <p:nvSpPr>
          <p:cNvPr id="2303" name="Text 8"/>
          <p:cNvSpPr txBox="1"/>
          <p:nvPr/>
        </p:nvSpPr>
        <p:spPr>
          <a:xfrm>
            <a:off x="6332934" y="3281461"/>
            <a:ext cx="2297745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Lack transparency</a:t>
            </a:r>
          </a:p>
        </p:txBody>
      </p:sp>
      <p:sp>
        <p:nvSpPr>
          <p:cNvPr id="2304" name="Text 9"/>
          <p:cNvSpPr txBox="1"/>
          <p:nvPr/>
        </p:nvSpPr>
        <p:spPr>
          <a:xfrm>
            <a:off x="6332934" y="3649960"/>
            <a:ext cx="4041299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Anonymous or unclear authorship</a:t>
            </a:r>
          </a:p>
        </p:txBody>
      </p:sp>
      <p:sp>
        <p:nvSpPr>
          <p:cNvPr id="2305" name="Text 10"/>
          <p:cNvSpPr txBox="1"/>
          <p:nvPr/>
        </p:nvSpPr>
        <p:spPr>
          <a:xfrm>
            <a:off x="6332933" y="4018458"/>
            <a:ext cx="2888868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Sensationalist language</a:t>
            </a:r>
          </a:p>
        </p:txBody>
      </p:sp>
      <p:sp>
        <p:nvSpPr>
          <p:cNvPr id="2306" name="Text 11"/>
          <p:cNvSpPr txBox="1"/>
          <p:nvPr/>
        </p:nvSpPr>
        <p:spPr>
          <a:xfrm>
            <a:off x="6332934" y="4386957"/>
            <a:ext cx="2682081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One-sided arguments</a:t>
            </a:r>
          </a:p>
        </p:txBody>
      </p:sp>
      <p:sp>
        <p:nvSpPr>
          <p:cNvPr id="2307" name="Text 12"/>
          <p:cNvSpPr txBox="1"/>
          <p:nvPr/>
        </p:nvSpPr>
        <p:spPr>
          <a:xfrm>
            <a:off x="6332934" y="4755456"/>
            <a:ext cx="2153475" cy="339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lnSpc>
                <a:spcPts val="2800"/>
              </a:lnSpc>
              <a:buSzPct val="100000"/>
              <a:buChar char="•"/>
              <a:defRPr sz="25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2083"/>
              <a:t>Missing citations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081711DE-7D93-87CA-5920-1676AE140E85}"/>
              </a:ext>
            </a:extLst>
          </p:cNvPr>
          <p:cNvSpPr txBox="1"/>
          <p:nvPr/>
        </p:nvSpPr>
        <p:spPr>
          <a:xfrm>
            <a:off x="5442500" y="5388519"/>
            <a:ext cx="5241783" cy="692495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9pPr>
          </a:lstStyle>
          <a:p>
            <a:pPr algn="ctr"/>
            <a:r>
              <a:rPr lang="en-US" sz="200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Consider adding journal impact and funding </a:t>
            </a:r>
            <a:r>
              <a:rPr lang="en-US" sz="2000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transparency to the list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Text 0"/>
          <p:cNvSpPr txBox="1"/>
          <p:nvPr/>
        </p:nvSpPr>
        <p:spPr>
          <a:xfrm>
            <a:off x="477144" y="374848"/>
            <a:ext cx="4627870" cy="461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4000"/>
              </a:lnSpc>
              <a:defRPr sz="3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2667"/>
              <a:t>Examples of Reliable Sources</a:t>
            </a:r>
          </a:p>
        </p:txBody>
      </p:sp>
      <p:pic>
        <p:nvPicPr>
          <p:cNvPr id="231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42" y="1073447"/>
            <a:ext cx="2681587" cy="1657253"/>
          </a:xfrm>
          <a:prstGeom prst="rect">
            <a:avLst/>
          </a:prstGeom>
          <a:ln w="12700">
            <a:miter lim="400000"/>
          </a:ln>
        </p:spPr>
      </p:pic>
      <p:sp>
        <p:nvSpPr>
          <p:cNvPr id="2312" name="Text 1"/>
          <p:cNvSpPr txBox="1"/>
          <p:nvPr/>
        </p:nvSpPr>
        <p:spPr>
          <a:xfrm>
            <a:off x="477142" y="2901057"/>
            <a:ext cx="373500" cy="23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333"/>
              <a:t>CDC</a:t>
            </a:r>
          </a:p>
        </p:txBody>
      </p:sp>
      <p:sp>
        <p:nvSpPr>
          <p:cNvPr id="2313" name="Text 2"/>
          <p:cNvSpPr txBox="1"/>
          <p:nvPr/>
        </p:nvSpPr>
        <p:spPr>
          <a:xfrm>
            <a:off x="477142" y="3195836"/>
            <a:ext cx="2681587" cy="226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Centers for Disease Control and Prevention</a:t>
            </a:r>
          </a:p>
        </p:txBody>
      </p:sp>
      <p:pic>
        <p:nvPicPr>
          <p:cNvPr id="231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9086" y="1073447"/>
            <a:ext cx="2681685" cy="1657352"/>
          </a:xfrm>
          <a:prstGeom prst="rect">
            <a:avLst/>
          </a:prstGeom>
          <a:ln w="12700">
            <a:miter lim="400000"/>
          </a:ln>
        </p:spPr>
      </p:pic>
      <p:sp>
        <p:nvSpPr>
          <p:cNvPr id="2315" name="Text 3"/>
          <p:cNvSpPr txBox="1"/>
          <p:nvPr/>
        </p:nvSpPr>
        <p:spPr>
          <a:xfrm>
            <a:off x="3329086" y="2901156"/>
            <a:ext cx="450444" cy="23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333"/>
              <a:t>NASA</a:t>
            </a:r>
          </a:p>
        </p:txBody>
      </p:sp>
      <p:sp>
        <p:nvSpPr>
          <p:cNvPr id="2316" name="Text 4"/>
          <p:cNvSpPr txBox="1"/>
          <p:nvPr/>
        </p:nvSpPr>
        <p:spPr>
          <a:xfrm>
            <a:off x="3329086" y="3195935"/>
            <a:ext cx="2681685" cy="226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National Aeronautics and Space Administration</a:t>
            </a:r>
          </a:p>
        </p:txBody>
      </p:sp>
      <p:pic>
        <p:nvPicPr>
          <p:cNvPr id="2317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129" y="1073447"/>
            <a:ext cx="2681685" cy="1657352"/>
          </a:xfrm>
          <a:prstGeom prst="rect">
            <a:avLst/>
          </a:prstGeom>
          <a:ln w="12700">
            <a:miter lim="400000"/>
          </a:ln>
        </p:spPr>
      </p:pic>
      <p:sp>
        <p:nvSpPr>
          <p:cNvPr id="2318" name="Text 5"/>
          <p:cNvSpPr txBox="1"/>
          <p:nvPr/>
        </p:nvSpPr>
        <p:spPr>
          <a:xfrm>
            <a:off x="6181129" y="2901156"/>
            <a:ext cx="453650" cy="23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333"/>
              <a:t>NEJM</a:t>
            </a:r>
          </a:p>
        </p:txBody>
      </p:sp>
      <p:sp>
        <p:nvSpPr>
          <p:cNvPr id="2319" name="Text 6"/>
          <p:cNvSpPr txBox="1"/>
          <p:nvPr/>
        </p:nvSpPr>
        <p:spPr>
          <a:xfrm>
            <a:off x="6181129" y="3195935"/>
            <a:ext cx="1356140" cy="226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Academic Medical Journal</a:t>
            </a:r>
          </a:p>
        </p:txBody>
      </p:sp>
      <p:pic>
        <p:nvPicPr>
          <p:cNvPr id="232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3173" y="1073447"/>
            <a:ext cx="2681685" cy="1657352"/>
          </a:xfrm>
          <a:prstGeom prst="rect">
            <a:avLst/>
          </a:prstGeom>
          <a:ln w="12700">
            <a:miter lim="400000"/>
          </a:ln>
        </p:spPr>
      </p:pic>
      <p:sp>
        <p:nvSpPr>
          <p:cNvPr id="2321" name="Text 7"/>
          <p:cNvSpPr txBox="1"/>
          <p:nvPr/>
        </p:nvSpPr>
        <p:spPr>
          <a:xfrm>
            <a:off x="9033173" y="2901156"/>
            <a:ext cx="1447512" cy="23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333"/>
              <a:t>US Census Bureau</a:t>
            </a:r>
          </a:p>
        </p:txBody>
      </p:sp>
      <p:sp>
        <p:nvSpPr>
          <p:cNvPr id="2322" name="Text 8"/>
          <p:cNvSpPr txBox="1"/>
          <p:nvPr/>
        </p:nvSpPr>
        <p:spPr>
          <a:xfrm>
            <a:off x="9033172" y="3195935"/>
            <a:ext cx="1327286" cy="226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Federal Statistical Agency</a:t>
            </a:r>
          </a:p>
        </p:txBody>
      </p:sp>
      <p:pic>
        <p:nvPicPr>
          <p:cNvPr id="2323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142" y="3904754"/>
            <a:ext cx="2681587" cy="1657252"/>
          </a:xfrm>
          <a:prstGeom prst="rect">
            <a:avLst/>
          </a:prstGeom>
          <a:ln w="12700">
            <a:miter lim="400000"/>
          </a:ln>
        </p:spPr>
      </p:pic>
      <p:sp>
        <p:nvSpPr>
          <p:cNvPr id="2324" name="Text 9"/>
          <p:cNvSpPr txBox="1"/>
          <p:nvPr/>
        </p:nvSpPr>
        <p:spPr>
          <a:xfrm>
            <a:off x="477143" y="5732363"/>
            <a:ext cx="437620" cy="23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333"/>
              <a:t>WHO</a:t>
            </a:r>
          </a:p>
        </p:txBody>
      </p:sp>
      <p:sp>
        <p:nvSpPr>
          <p:cNvPr id="2325" name="Text 10"/>
          <p:cNvSpPr txBox="1"/>
          <p:nvPr/>
        </p:nvSpPr>
        <p:spPr>
          <a:xfrm>
            <a:off x="477143" y="6027142"/>
            <a:ext cx="1391407" cy="226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World Health Organization</a:t>
            </a:r>
          </a:p>
        </p:txBody>
      </p:sp>
      <p:pic>
        <p:nvPicPr>
          <p:cNvPr id="2326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9086" y="3904755"/>
            <a:ext cx="2681685" cy="1657351"/>
          </a:xfrm>
          <a:prstGeom prst="rect">
            <a:avLst/>
          </a:prstGeom>
          <a:ln w="12700">
            <a:miter lim="400000"/>
          </a:ln>
        </p:spPr>
      </p:pic>
      <p:sp>
        <p:nvSpPr>
          <p:cNvPr id="2327" name="Text 11"/>
          <p:cNvSpPr txBox="1"/>
          <p:nvPr/>
        </p:nvSpPr>
        <p:spPr>
          <a:xfrm>
            <a:off x="3329086" y="5732463"/>
            <a:ext cx="1625445" cy="23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333"/>
              <a:t>National Geographic</a:t>
            </a:r>
          </a:p>
        </p:txBody>
      </p:sp>
      <p:sp>
        <p:nvSpPr>
          <p:cNvPr id="2328" name="Text 12"/>
          <p:cNvSpPr txBox="1"/>
          <p:nvPr/>
        </p:nvSpPr>
        <p:spPr>
          <a:xfrm>
            <a:off x="3329086" y="6027242"/>
            <a:ext cx="1774525" cy="226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Science and Education Publication</a:t>
            </a:r>
          </a:p>
        </p:txBody>
      </p:sp>
      <p:pic>
        <p:nvPicPr>
          <p:cNvPr id="2329" name="Image 6" descr="Imag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129" y="3904755"/>
            <a:ext cx="2681685" cy="1657351"/>
          </a:xfrm>
          <a:prstGeom prst="rect">
            <a:avLst/>
          </a:prstGeom>
          <a:ln w="12700">
            <a:miter lim="400000"/>
          </a:ln>
        </p:spPr>
      </p:pic>
      <p:sp>
        <p:nvSpPr>
          <p:cNvPr id="2330" name="Text 13"/>
          <p:cNvSpPr txBox="1"/>
          <p:nvPr/>
        </p:nvSpPr>
        <p:spPr>
          <a:xfrm>
            <a:off x="6181129" y="5732463"/>
            <a:ext cx="1000274" cy="23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333"/>
              <a:t>Smithsonian</a:t>
            </a:r>
          </a:p>
        </p:txBody>
      </p:sp>
      <p:sp>
        <p:nvSpPr>
          <p:cNvPr id="2331" name="Text 14"/>
          <p:cNvSpPr txBox="1"/>
          <p:nvPr/>
        </p:nvSpPr>
        <p:spPr>
          <a:xfrm>
            <a:off x="6181130" y="6027242"/>
            <a:ext cx="1755289" cy="226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Research and Museum Institution</a:t>
            </a:r>
          </a:p>
        </p:txBody>
      </p:sp>
      <p:pic>
        <p:nvPicPr>
          <p:cNvPr id="2332" name="Image 7" descr="Imag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3173" y="3904755"/>
            <a:ext cx="2681685" cy="1657351"/>
          </a:xfrm>
          <a:prstGeom prst="rect">
            <a:avLst/>
          </a:prstGeom>
          <a:ln w="12700">
            <a:miter lim="400000"/>
          </a:ln>
        </p:spPr>
      </p:pic>
      <p:sp>
        <p:nvSpPr>
          <p:cNvPr id="2333" name="Text 15"/>
          <p:cNvSpPr txBox="1"/>
          <p:nvPr/>
        </p:nvSpPr>
        <p:spPr>
          <a:xfrm>
            <a:off x="9033173" y="5732463"/>
            <a:ext cx="336631" cy="230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6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333"/>
              <a:t>APA</a:t>
            </a:r>
          </a:p>
        </p:txBody>
      </p:sp>
      <p:sp>
        <p:nvSpPr>
          <p:cNvPr id="2334" name="Text 16"/>
          <p:cNvSpPr txBox="1"/>
          <p:nvPr/>
        </p:nvSpPr>
        <p:spPr>
          <a:xfrm>
            <a:off x="9033173" y="6027242"/>
            <a:ext cx="1838645" cy="226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American Psychological Association</a:t>
            </a:r>
          </a:p>
        </p:txBody>
      </p:sp>
      <p:sp>
        <p:nvSpPr>
          <p:cNvPr id="2335" name="Text 17"/>
          <p:cNvSpPr txBox="1"/>
          <p:nvPr/>
        </p:nvSpPr>
        <p:spPr>
          <a:xfrm>
            <a:off x="477143" y="6398617"/>
            <a:ext cx="7633500" cy="226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0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000"/>
              <a:t>These institutions are known for rigorous research methods, expert review processes, and commitment to accuracy in their published information.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Text 0"/>
          <p:cNvSpPr txBox="1"/>
          <p:nvPr/>
        </p:nvSpPr>
        <p:spPr>
          <a:xfrm>
            <a:off x="661491" y="1263750"/>
            <a:ext cx="683520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Why Source Evaluation Matters</a:t>
            </a:r>
          </a:p>
        </p:txBody>
      </p:sp>
      <p:pic>
        <p:nvPicPr>
          <p:cNvPr id="233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1957" y="2232422"/>
            <a:ext cx="1793380" cy="1089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744" y="2745780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2341" name="Text 1"/>
          <p:cNvSpPr txBox="1"/>
          <p:nvPr/>
        </p:nvSpPr>
        <p:spPr>
          <a:xfrm>
            <a:off x="4464348" y="2421433"/>
            <a:ext cx="1990930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Credible Research</a:t>
            </a:r>
          </a:p>
        </p:txBody>
      </p:sp>
      <p:sp>
        <p:nvSpPr>
          <p:cNvPr id="2342" name="Text 2"/>
          <p:cNvSpPr txBox="1"/>
          <p:nvPr/>
        </p:nvSpPr>
        <p:spPr>
          <a:xfrm>
            <a:off x="4464347" y="2830115"/>
            <a:ext cx="330975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Strong sources lead to respected conclusions</a:t>
            </a:r>
          </a:p>
        </p:txBody>
      </p:sp>
      <p:sp>
        <p:nvSpPr>
          <p:cNvPr id="2343" name="Shape 3"/>
          <p:cNvSpPr/>
          <p:nvPr/>
        </p:nvSpPr>
        <p:spPr>
          <a:xfrm>
            <a:off x="4322564" y="3332460"/>
            <a:ext cx="7160718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344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5317" y="3368773"/>
            <a:ext cx="3586758" cy="1089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5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744" y="3747193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2346" name="Text 4"/>
          <p:cNvSpPr txBox="1"/>
          <p:nvPr/>
        </p:nvSpPr>
        <p:spPr>
          <a:xfrm>
            <a:off x="5361086" y="3557785"/>
            <a:ext cx="3507370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Protection from Misinformation</a:t>
            </a:r>
          </a:p>
        </p:txBody>
      </p:sp>
      <p:sp>
        <p:nvSpPr>
          <p:cNvPr id="2347" name="Text 5"/>
          <p:cNvSpPr txBox="1"/>
          <p:nvPr/>
        </p:nvSpPr>
        <p:spPr>
          <a:xfrm>
            <a:off x="5361086" y="3966469"/>
            <a:ext cx="3609771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Critical evaluation prevents spreading falsehoods</a:t>
            </a:r>
          </a:p>
        </p:txBody>
      </p:sp>
      <p:sp>
        <p:nvSpPr>
          <p:cNvPr id="2348" name="Shape 6"/>
          <p:cNvSpPr/>
          <p:nvPr/>
        </p:nvSpPr>
        <p:spPr>
          <a:xfrm>
            <a:off x="5219303" y="4468813"/>
            <a:ext cx="6263978" cy="12701"/>
          </a:xfrm>
          <a:prstGeom prst="roundRect">
            <a:avLst>
              <a:gd name="adj" fmla="val 50000"/>
            </a:avLst>
          </a:prstGeom>
          <a:solidFill>
            <a:srgbClr val="B2D3E5"/>
          </a:solidFill>
          <a:ln w="12700">
            <a:miter lim="400000"/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349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579" y="4505127"/>
            <a:ext cx="5380138" cy="1089125"/>
          </a:xfrm>
          <a:prstGeom prst="rect">
            <a:avLst/>
          </a:prstGeom>
          <a:ln w="12700">
            <a:miter lim="400000"/>
          </a:ln>
        </p:spPr>
      </p:pic>
      <p:pic>
        <p:nvPicPr>
          <p:cNvPr id="2350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5644" y="4883546"/>
            <a:ext cx="265808" cy="332185"/>
          </a:xfrm>
          <a:prstGeom prst="rect">
            <a:avLst/>
          </a:prstGeom>
          <a:ln w="12700">
            <a:miter lim="400000"/>
          </a:ln>
        </p:spPr>
      </p:pic>
      <p:sp>
        <p:nvSpPr>
          <p:cNvPr id="2351" name="Text 7"/>
          <p:cNvSpPr txBox="1"/>
          <p:nvPr/>
        </p:nvSpPr>
        <p:spPr>
          <a:xfrm>
            <a:off x="6257726" y="4694138"/>
            <a:ext cx="3375924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Critical Thinking Development</a:t>
            </a:r>
          </a:p>
        </p:txBody>
      </p:sp>
      <p:sp>
        <p:nvSpPr>
          <p:cNvPr id="2352" name="Text 8"/>
          <p:cNvSpPr txBox="1"/>
          <p:nvPr/>
        </p:nvSpPr>
        <p:spPr>
          <a:xfrm>
            <a:off x="6257726" y="5102819"/>
            <a:ext cx="3188502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Evaluating sources builds essential life skills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85886" cy="6428828"/>
          </a:xfrm>
          <a:prstGeom prst="rect">
            <a:avLst/>
          </a:prstGeom>
          <a:ln w="12700">
            <a:miter lim="400000"/>
          </a:ln>
        </p:spPr>
      </p:pic>
      <p:sp>
        <p:nvSpPr>
          <p:cNvPr id="2356" name="Text 0"/>
          <p:cNvSpPr txBox="1"/>
          <p:nvPr/>
        </p:nvSpPr>
        <p:spPr>
          <a:xfrm>
            <a:off x="5233491" y="721717"/>
            <a:ext cx="6171561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Red Flags of Misinformation</a:t>
            </a:r>
          </a:p>
        </p:txBody>
      </p:sp>
      <p:sp>
        <p:nvSpPr>
          <p:cNvPr id="2357" name="Shape 1"/>
          <p:cNvSpPr/>
          <p:nvPr/>
        </p:nvSpPr>
        <p:spPr>
          <a:xfrm>
            <a:off x="5233491" y="1595834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358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383" y="1631256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359" name="Text 2"/>
          <p:cNvSpPr txBox="1"/>
          <p:nvPr/>
        </p:nvSpPr>
        <p:spPr>
          <a:xfrm>
            <a:off x="5847754" y="1660724"/>
            <a:ext cx="2369238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Sensational Language</a:t>
            </a:r>
          </a:p>
        </p:txBody>
      </p:sp>
      <p:sp>
        <p:nvSpPr>
          <p:cNvPr id="2360" name="Text 3"/>
          <p:cNvSpPr txBox="1"/>
          <p:nvPr/>
        </p:nvSpPr>
        <p:spPr>
          <a:xfrm>
            <a:off x="5847755" y="2069405"/>
            <a:ext cx="5682754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"You won't believe this!" or excessive punctuation for shock value</a:t>
            </a:r>
          </a:p>
        </p:txBody>
      </p:sp>
      <p:sp>
        <p:nvSpPr>
          <p:cNvPr id="2361" name="Shape 4"/>
          <p:cNvSpPr/>
          <p:nvPr/>
        </p:nvSpPr>
        <p:spPr>
          <a:xfrm>
            <a:off x="5233491" y="2766516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362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4383" y="2801938"/>
            <a:ext cx="283469" cy="354409"/>
          </a:xfrm>
          <a:prstGeom prst="rect">
            <a:avLst/>
          </a:prstGeom>
          <a:ln w="12700">
            <a:miter lim="400000"/>
          </a:ln>
        </p:spPr>
      </p:pic>
      <p:sp>
        <p:nvSpPr>
          <p:cNvPr id="2363" name="Text 5"/>
          <p:cNvSpPr txBox="1"/>
          <p:nvPr/>
        </p:nvSpPr>
        <p:spPr>
          <a:xfrm>
            <a:off x="5847754" y="2767906"/>
            <a:ext cx="213359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Missing Attribution</a:t>
            </a:r>
          </a:p>
        </p:txBody>
      </p:sp>
      <p:sp>
        <p:nvSpPr>
          <p:cNvPr id="2364" name="Text 6"/>
          <p:cNvSpPr txBox="1"/>
          <p:nvPr/>
        </p:nvSpPr>
        <p:spPr>
          <a:xfrm>
            <a:off x="5847754" y="3176587"/>
            <a:ext cx="3512180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No clear author, source, or supporting evidence</a:t>
            </a:r>
          </a:p>
        </p:txBody>
      </p:sp>
      <p:sp>
        <p:nvSpPr>
          <p:cNvPr id="2365" name="Shape 7"/>
          <p:cNvSpPr/>
          <p:nvPr/>
        </p:nvSpPr>
        <p:spPr>
          <a:xfrm>
            <a:off x="5233491" y="3920530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366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383" y="3955950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367" name="Text 8"/>
          <p:cNvSpPr txBox="1"/>
          <p:nvPr/>
        </p:nvSpPr>
        <p:spPr>
          <a:xfrm>
            <a:off x="5847755" y="3921919"/>
            <a:ext cx="2619307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One-Sided Presentation</a:t>
            </a:r>
          </a:p>
        </p:txBody>
      </p:sp>
      <p:sp>
        <p:nvSpPr>
          <p:cNvPr id="2368" name="Text 9"/>
          <p:cNvSpPr txBox="1"/>
          <p:nvPr/>
        </p:nvSpPr>
        <p:spPr>
          <a:xfrm>
            <a:off x="5847755" y="4330601"/>
            <a:ext cx="4351961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No acknowledgment of alternative perspectives or debates</a:t>
            </a:r>
          </a:p>
        </p:txBody>
      </p:sp>
      <p:sp>
        <p:nvSpPr>
          <p:cNvPr id="2369" name="Shape 10"/>
          <p:cNvSpPr/>
          <p:nvPr/>
        </p:nvSpPr>
        <p:spPr>
          <a:xfrm>
            <a:off x="5233491" y="5074543"/>
            <a:ext cx="425253" cy="425253"/>
          </a:xfrm>
          <a:prstGeom prst="roundRect">
            <a:avLst>
              <a:gd name="adj" fmla="val 18669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pic>
        <p:nvPicPr>
          <p:cNvPr id="2370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4383" y="5109964"/>
            <a:ext cx="283469" cy="354410"/>
          </a:xfrm>
          <a:prstGeom prst="rect">
            <a:avLst/>
          </a:prstGeom>
          <a:ln w="12700">
            <a:miter lim="400000"/>
          </a:ln>
        </p:spPr>
      </p:pic>
      <p:sp>
        <p:nvSpPr>
          <p:cNvPr id="2371" name="Text 11"/>
          <p:cNvSpPr txBox="1"/>
          <p:nvPr/>
        </p:nvSpPr>
        <p:spPr>
          <a:xfrm>
            <a:off x="5847754" y="5075932"/>
            <a:ext cx="2354812" cy="3127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833"/>
              <a:t>Extraordinary Claims</a:t>
            </a:r>
          </a:p>
        </p:txBody>
      </p:sp>
      <p:sp>
        <p:nvSpPr>
          <p:cNvPr id="2372" name="Text 12"/>
          <p:cNvSpPr txBox="1"/>
          <p:nvPr/>
        </p:nvSpPr>
        <p:spPr>
          <a:xfrm>
            <a:off x="5847754" y="5484614"/>
            <a:ext cx="3498778" cy="317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800"/>
              </a:lnSpc>
              <a:defRPr sz="17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rPr sz="1417"/>
              <a:t>Bold statements without proportional evidence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0"/>
                                        <p:tgtEl>
                                          <p:spTgt spid="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3000"/>
                                        <p:tgtEl>
                                          <p:spTgt spid="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3000"/>
                                        <p:tgtEl>
                                          <p:spTgt spid="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3000"/>
                                        <p:tgtEl>
                                          <p:spTgt spid="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3000"/>
                                        <p:tgtEl>
                                          <p:spTgt spid="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0"/>
                            </p:stCondLst>
                            <p:childTnLst>
                              <p:par>
                                <p:cTn id="25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3000"/>
                                        <p:tgtEl>
                                          <p:spTgt spid="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0"/>
                            </p:stCondLst>
                            <p:childTnLst>
                              <p:par>
                                <p:cTn id="29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3000"/>
                                        <p:tgtEl>
                                          <p:spTgt spid="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0"/>
                            </p:stCondLst>
                            <p:childTnLst>
                              <p:par>
                                <p:cTn id="33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3000"/>
                                        <p:tgtEl>
                                          <p:spTgt spid="2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000"/>
                            </p:stCondLst>
                            <p:childTnLst>
                              <p:par>
                                <p:cTn id="37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3000"/>
                                        <p:tgtEl>
                                          <p:spTgt spid="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000"/>
                            </p:stCondLst>
                            <p:childTnLst>
                              <p:par>
                                <p:cTn id="41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3000"/>
                                        <p:tgtEl>
                                          <p:spTgt spid="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0"/>
                            </p:stCondLst>
                            <p:childTnLst>
                              <p:par>
                                <p:cTn id="45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3000"/>
                                        <p:tgtEl>
                                          <p:spTgt spid="2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3000"/>
                            </p:stCondLst>
                            <p:childTnLst>
                              <p:par>
                                <p:cTn id="49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3000"/>
                                        <p:tgtEl>
                                          <p:spTgt spid="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6000"/>
                            </p:stCondLst>
                            <p:childTnLst>
                              <p:par>
                                <p:cTn id="53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3000"/>
                                        <p:tgtEl>
                                          <p:spTgt spid="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9000"/>
                            </p:stCondLst>
                            <p:childTnLst>
                              <p:par>
                                <p:cTn id="57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3000"/>
                                        <p:tgtEl>
                                          <p:spTgt spid="2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2000"/>
                            </p:stCondLst>
                            <p:childTnLst>
                              <p:par>
                                <p:cTn id="61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3000"/>
                                        <p:tgtEl>
                                          <p:spTgt spid="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5000"/>
                            </p:stCondLst>
                            <p:childTnLst>
                              <p:par>
                                <p:cTn id="65" presetID="9" presetClass="entr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3000"/>
                                        <p:tgtEl>
                                          <p:spTgt spid="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" grpId="0" animBg="1" advAuto="0"/>
      <p:bldP spid="2358" grpId="0" animBg="1" advAuto="0"/>
      <p:bldP spid="2359" grpId="0" animBg="1" advAuto="0"/>
      <p:bldP spid="2360" grpId="0" animBg="1" advAuto="0"/>
      <p:bldP spid="2361" grpId="0" animBg="1" advAuto="0"/>
      <p:bldP spid="2362" grpId="0" animBg="1" advAuto="0"/>
      <p:bldP spid="2363" grpId="0" animBg="1" advAuto="0"/>
      <p:bldP spid="2364" grpId="0" animBg="1" advAuto="0"/>
      <p:bldP spid="2365" grpId="0" animBg="1" advAuto="0"/>
      <p:bldP spid="2366" grpId="0" animBg="1" advAuto="0"/>
      <p:bldP spid="2367" grpId="0" animBg="1" advAuto="0"/>
      <p:bldP spid="2368" grpId="0" animBg="1" advAuto="0"/>
      <p:bldP spid="2369" grpId="0" animBg="1" advAuto="0"/>
      <p:bldP spid="2370" grpId="0" animBg="1" advAuto="0"/>
      <p:bldP spid="2371" grpId="0" animBg="1" advAuto="0"/>
      <p:bldP spid="2372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741FE-5E54-BA07-D65D-B380081B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165B9D-C339-2CB2-7F55-36DB88CCDCB6}"/>
              </a:ext>
            </a:extLst>
          </p:cNvPr>
          <p:cNvSpPr txBox="1"/>
          <p:nvPr/>
        </p:nvSpPr>
        <p:spPr>
          <a:xfrm>
            <a:off x="166742" y="185564"/>
            <a:ext cx="5241783" cy="3052052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New Slide to Lecture on Types </a:t>
            </a:r>
            <a:r>
              <a:rPr lang="en-US" sz="2833" b="1">
                <a:highlight>
                  <a:srgbClr val="FFFF00"/>
                </a:highlight>
              </a:rPr>
              <a:t>of Sources</a:t>
            </a:r>
            <a:endParaRPr lang="en-US" sz="1500" dirty="0"/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Curriculum says:</a:t>
            </a:r>
            <a:endParaRPr lang="en-US" sz="1500"/>
          </a:p>
          <a:p>
            <a:pPr algn="ctr"/>
            <a:r>
              <a:rPr lang="en-US" sz="1667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Primary vs. secondary vs. tertiary sources. </a:t>
            </a:r>
            <a:endParaRPr lang="en-US" sz="1667">
              <a:latin typeface="Aptos"/>
              <a:cs typeface="Arial"/>
            </a:endParaRPr>
          </a:p>
          <a:p>
            <a:pPr algn="ctr"/>
            <a:endParaRPr lang="en-US" sz="1667" dirty="0">
              <a:solidFill>
                <a:srgbClr val="111111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algn="ctr"/>
            <a:r>
              <a:rPr lang="en-US" sz="1667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Peer-reviewed journals vs. grey literature. </a:t>
            </a:r>
            <a:br>
              <a:rPr lang="en-US" sz="1500" dirty="0"/>
            </a:b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28651849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4A8B-94BA-B505-ED68-A4E10924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557952-8DB8-7E6B-2934-1C9E5BA5D817}"/>
              </a:ext>
            </a:extLst>
          </p:cNvPr>
          <p:cNvSpPr txBox="1"/>
          <p:nvPr/>
        </p:nvSpPr>
        <p:spPr>
          <a:xfrm>
            <a:off x="166742" y="185563"/>
            <a:ext cx="5241783" cy="2590387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New Slide to briefly mention </a:t>
            </a:r>
            <a:r>
              <a:rPr lang="en-US" sz="2833" b="1">
                <a:highlight>
                  <a:srgbClr val="FFFF00"/>
                </a:highlight>
              </a:rPr>
              <a:t>the basic structure of an </a:t>
            </a:r>
            <a:r>
              <a:rPr lang="en-US" sz="2833" b="1" dirty="0">
                <a:highlight>
                  <a:srgbClr val="FFFF00"/>
                </a:highlight>
              </a:rPr>
              <a:t>article</a:t>
            </a:r>
            <a:endParaRPr lang="en-US" sz="1500" dirty="0"/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Curriculum says:</a:t>
            </a:r>
            <a:endParaRPr lang="en-US" sz="1500"/>
          </a:p>
          <a:p>
            <a:pPr algn="ctr"/>
            <a:r>
              <a:rPr lang="en-US" sz="1667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One of todays goals is for </a:t>
            </a:r>
            <a:r>
              <a:rPr lang="en-US" sz="1667" dirty="0" err="1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studens</a:t>
            </a:r>
            <a:r>
              <a:rPr lang="en-US" sz="1667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 to understand the basic structure of an academic article</a:t>
            </a:r>
            <a:endParaRPr lang="en-US" sz="1667" dirty="0">
              <a:latin typeface="Aptos"/>
              <a:cs typeface="Arial"/>
            </a:endParaRPr>
          </a:p>
          <a:p>
            <a:pPr algn="ctr"/>
            <a:endParaRPr lang="en-US" sz="1667" dirty="0">
              <a:solidFill>
                <a:srgbClr val="111111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751491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DC46D-5EC7-45D9-7B66-23AAC8DAE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0B1094-71BD-F122-CBFF-95BF4A6CD79A}"/>
              </a:ext>
            </a:extLst>
          </p:cNvPr>
          <p:cNvSpPr txBox="1"/>
          <p:nvPr/>
        </p:nvSpPr>
        <p:spPr>
          <a:xfrm>
            <a:off x="166742" y="185563"/>
            <a:ext cx="5241783" cy="4052518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New Slide to Lecture on how to </a:t>
            </a:r>
            <a:r>
              <a:rPr lang="en-US" sz="2833" b="1">
                <a:highlight>
                  <a:srgbClr val="FFFF00"/>
                </a:highlight>
              </a:rPr>
              <a:t>read an abstract efficiently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Curriculum says:</a:t>
            </a:r>
            <a:endParaRPr lang="en-US" sz="1500"/>
          </a:p>
          <a:p>
            <a:pPr algn="ctr"/>
            <a:r>
              <a:rPr lang="en-US" sz="1667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 How to read an abstract efficiently: (1) What was the research question? (2) How did they study it? (3) What did they find? (4) What did they conclude? </a:t>
            </a:r>
            <a:endParaRPr lang="en-US" sz="1667">
              <a:latin typeface="Aptos"/>
              <a:cs typeface="Arial"/>
            </a:endParaRPr>
          </a:p>
          <a:p>
            <a:pPr algn="ctr"/>
            <a:endParaRPr lang="en-US" sz="1667" dirty="0">
              <a:solidFill>
                <a:srgbClr val="111111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algn="ctr"/>
            <a:endParaRPr lang="en-US" sz="1667" dirty="0">
              <a:solidFill>
                <a:srgbClr val="111111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algn="ctr"/>
            <a:r>
              <a:rPr lang="en-US" sz="1667" b="1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ACTIVITY</a:t>
            </a:r>
            <a:r>
              <a:rPr lang="en-US" sz="1667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: Speed-reading an abstract in 90 seconds.</a:t>
            </a:r>
            <a:endParaRPr lang="en-US" sz="1667"/>
          </a:p>
          <a:p>
            <a:pPr algn="ctr"/>
            <a:br>
              <a:rPr lang="en-US" sz="1500" dirty="0"/>
            </a:b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1594084879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9856D-4947-421C-4120-4C093E76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Text 0">
            <a:extLst>
              <a:ext uri="{FF2B5EF4-FFF2-40B4-BE49-F238E27FC236}">
                <a16:creationId xmlns:a16="http://schemas.microsoft.com/office/drawing/2014/main" id="{6F716EC6-FD8A-8919-ED37-276A38CB753C}"/>
              </a:ext>
            </a:extLst>
          </p:cNvPr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Conduct a Lit Review</a:t>
            </a:r>
          </a:p>
        </p:txBody>
      </p:sp>
      <p:sp>
        <p:nvSpPr>
          <p:cNvPr id="3086" name="Text 1">
            <a:extLst>
              <a:ext uri="{FF2B5EF4-FFF2-40B4-BE49-F238E27FC236}">
                <a16:creationId xmlns:a16="http://schemas.microsoft.com/office/drawing/2014/main" id="{B214C335-4154-8424-BB8A-14660E70F1FD}"/>
              </a:ext>
            </a:extLst>
          </p:cNvPr>
          <p:cNvSpPr txBox="1"/>
          <p:nvPr/>
        </p:nvSpPr>
        <p:spPr>
          <a:xfrm>
            <a:off x="618675" y="2287591"/>
            <a:ext cx="10954650" cy="3834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1: Clarify Your Topic or Research Question</a:t>
            </a:r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2: Search for Reliable Sources</a:t>
            </a:r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3: Skim and Select</a:t>
            </a:r>
          </a:p>
          <a:p>
            <a:pPr marL="216950" indent="-216950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Read abstracts first to decide if the source is relevant.</a:t>
            </a:r>
          </a:p>
          <a:p>
            <a:pPr marL="216950" indent="-216950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Choose a mix of recent, relevant, and diverse perspectives.</a:t>
            </a:r>
          </a:p>
          <a:p>
            <a:pPr marL="216950" indent="-216950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Aim for at least 5–10 solid sources (depending on assignment length).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sz="2167" b="1" dirty="0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</p:txBody>
      </p:sp>
      <p:sp>
        <p:nvSpPr>
          <p:cNvPr id="3087" name="Shape 2">
            <a:extLst>
              <a:ext uri="{FF2B5EF4-FFF2-40B4-BE49-F238E27FC236}">
                <a16:creationId xmlns:a16="http://schemas.microsoft.com/office/drawing/2014/main" id="{D640A1BA-266A-531E-783E-3945B90FA888}"/>
              </a:ext>
            </a:extLst>
          </p:cNvPr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5C17E44-EF26-611F-2BCB-830A365DEA92}"/>
              </a:ext>
            </a:extLst>
          </p:cNvPr>
          <p:cNvSpPr txBox="1"/>
          <p:nvPr/>
        </p:nvSpPr>
        <p:spPr>
          <a:xfrm>
            <a:off x="1894149" y="247804"/>
            <a:ext cx="9468450" cy="606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lang="en-US" sz="2667" b="0" i="1">
                <a:solidFill>
                  <a:schemeClr val="accent2"/>
                </a:solidFill>
              </a:rPr>
              <a:t>Let's Go Back to Where We Left of</a:t>
            </a:r>
          </a:p>
        </p:txBody>
      </p:sp>
    </p:spTree>
    <p:extLst>
      <p:ext uri="{BB962C8B-B14F-4D97-AF65-F5344CB8AC3E}">
        <p14:creationId xmlns:p14="http://schemas.microsoft.com/office/powerpoint/2010/main" val="3488709247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3FC9-EA73-7D89-CC21-B48DBD84A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Text 0">
            <a:extLst>
              <a:ext uri="{FF2B5EF4-FFF2-40B4-BE49-F238E27FC236}">
                <a16:creationId xmlns:a16="http://schemas.microsoft.com/office/drawing/2014/main" id="{CDE34C55-AA2D-7B2C-B3CF-62639211205D}"/>
              </a:ext>
            </a:extLst>
          </p:cNvPr>
          <p:cNvSpPr txBox="1"/>
          <p:nvPr/>
        </p:nvSpPr>
        <p:spPr>
          <a:xfrm>
            <a:off x="607971" y="1402937"/>
            <a:ext cx="9468450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How to Conduct a Lit Review</a:t>
            </a:r>
          </a:p>
        </p:txBody>
      </p:sp>
      <p:sp>
        <p:nvSpPr>
          <p:cNvPr id="3090" name="Text 1">
            <a:extLst>
              <a:ext uri="{FF2B5EF4-FFF2-40B4-BE49-F238E27FC236}">
                <a16:creationId xmlns:a16="http://schemas.microsoft.com/office/drawing/2014/main" id="{32C3A1AB-CA92-DAD1-FC36-B1DB01709378}"/>
              </a:ext>
            </a:extLst>
          </p:cNvPr>
          <p:cNvSpPr txBox="1"/>
          <p:nvPr/>
        </p:nvSpPr>
        <p:spPr>
          <a:xfrm>
            <a:off x="618675" y="2287591"/>
            <a:ext cx="10954650" cy="38343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lang="en-US" sz="2167">
                <a:latin typeface="Segoe UI"/>
                <a:cs typeface="Segoe UI"/>
              </a:rPr>
              <a:t>Step 4: Take Notes</a:t>
            </a:r>
          </a:p>
          <a:p>
            <a:pPr marL="216950" indent="-216950">
              <a:lnSpc>
                <a:spcPts val="2333"/>
              </a:lnSpc>
              <a:buFont typeface="Arial"/>
              <a:buChar char="•"/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lang="en-US" sz="2167">
                <a:latin typeface="Arial"/>
                <a:cs typeface="Arial"/>
              </a:rPr>
              <a:t>Write down the main point of each source.</a:t>
            </a:r>
          </a:p>
          <a:p>
            <a:pPr marL="216950" indent="-216950">
              <a:lnSpc>
                <a:spcPts val="2333"/>
              </a:lnSpc>
              <a:buFont typeface="Arial"/>
              <a:buChar char="•"/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lang="en-US" sz="2167">
                <a:latin typeface="Arial"/>
                <a:cs typeface="Arial"/>
              </a:rPr>
              <a:t>Note how it relates to your topic, and any key quotes or data.</a:t>
            </a:r>
          </a:p>
          <a:p>
            <a:pPr marL="216950" indent="-216950">
              <a:lnSpc>
                <a:spcPts val="2333"/>
              </a:lnSpc>
              <a:buFont typeface="Arial"/>
              <a:buChar char="•"/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lang="en-US" sz="2167">
                <a:latin typeface="Arial"/>
                <a:cs typeface="Arial"/>
              </a:rPr>
              <a:t>Use color coding or a chart to organize themes or arguments.</a:t>
            </a:r>
            <a:endParaRPr lang="en-US"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endParaRPr lang="en-US" sz="2167" dirty="0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5: Group by Themes or Ideas</a:t>
            </a:r>
          </a:p>
          <a:p>
            <a:pPr marL="216950" indent="-216950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Don’t stop at summarizing each article one by one.</a:t>
            </a:r>
          </a:p>
          <a:p>
            <a:pPr marL="216950" indent="-216950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Instead, group your notes by common themes, disagreements, or trends.</a:t>
            </a:r>
          </a:p>
          <a:p>
            <a:pPr marL="216950" indent="-216950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Ask: What do these sources have in common? How do they differ?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6: Start Writing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/>
          </a:p>
          <a:p>
            <a:pPr>
              <a:lnSpc>
                <a:spcPts val="2333"/>
              </a:lnSpc>
              <a:defRPr sz="2600" b="1">
                <a:latin typeface="Inter"/>
                <a:ea typeface="Inter"/>
                <a:cs typeface="Inter"/>
                <a:sym typeface="Inter"/>
              </a:defRPr>
            </a:pPr>
            <a:r>
              <a:rPr sz="2167"/>
              <a:t>Step 7: Cite Everything</a:t>
            </a:r>
            <a:r>
              <a:rPr lang="en-US" sz="2167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167">
                <a:solidFill>
                  <a:schemeClr val="bg2">
                    <a:lumMod val="60000"/>
                    <a:lumOff val="40000"/>
                  </a:schemeClr>
                </a:solidFill>
              </a:rPr>
              <a:t>(we will cover how, next week)</a:t>
            </a:r>
            <a:endParaRPr sz="2167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91" name="Shape 2">
            <a:extLst>
              <a:ext uri="{FF2B5EF4-FFF2-40B4-BE49-F238E27FC236}">
                <a16:creationId xmlns:a16="http://schemas.microsoft.com/office/drawing/2014/main" id="{CC33595D-6807-E98F-1429-3B29075DE8DE}"/>
              </a:ext>
            </a:extLst>
          </p:cNvPr>
          <p:cNvSpPr/>
          <p:nvPr/>
        </p:nvSpPr>
        <p:spPr>
          <a:xfrm>
            <a:off x="661492" y="4570016"/>
            <a:ext cx="302420" cy="302420"/>
          </a:xfrm>
          <a:prstGeom prst="roundRect">
            <a:avLst>
              <a:gd name="adj" fmla="val 50000"/>
            </a:avLst>
          </a:prstGeom>
          <a:ln w="7620">
            <a:solidFill>
              <a:srgbClr val="FFFFFF"/>
            </a:solidFill>
          </a:ln>
        </p:spPr>
        <p:txBody>
          <a:bodyPr lIns="38099" rIns="38099"/>
          <a:lstStyle/>
          <a:p>
            <a:endParaRPr sz="1500"/>
          </a:p>
        </p:txBody>
      </p:sp>
    </p:spTree>
    <p:extLst>
      <p:ext uri="{BB962C8B-B14F-4D97-AF65-F5344CB8AC3E}">
        <p14:creationId xmlns:p14="http://schemas.microsoft.com/office/powerpoint/2010/main" val="33543623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F52A0-1D24-C908-C337-554C0D3DF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Text 0">
            <a:extLst>
              <a:ext uri="{FF2B5EF4-FFF2-40B4-BE49-F238E27FC236}">
                <a16:creationId xmlns:a16="http://schemas.microsoft.com/office/drawing/2014/main" id="{9DA606AD-BC15-44D0-E7F4-BB94368AC7C3}"/>
              </a:ext>
            </a:extLst>
          </p:cNvPr>
          <p:cNvSpPr txBox="1"/>
          <p:nvPr/>
        </p:nvSpPr>
        <p:spPr>
          <a:xfrm>
            <a:off x="470319" y="556033"/>
            <a:ext cx="6032101" cy="824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3167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Literature Review Template</a:t>
            </a:r>
          </a:p>
          <a:p>
            <a:pPr>
              <a:lnSpc>
                <a:spcPts val="3167"/>
              </a:lnSpc>
              <a:defRPr sz="4400" i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/>
              <a:t>Short Version</a:t>
            </a:r>
          </a:p>
        </p:txBody>
      </p:sp>
      <p:sp>
        <p:nvSpPr>
          <p:cNvPr id="3094" name="Begin with a short introduction:…">
            <a:extLst>
              <a:ext uri="{FF2B5EF4-FFF2-40B4-BE49-F238E27FC236}">
                <a16:creationId xmlns:a16="http://schemas.microsoft.com/office/drawing/2014/main" id="{EE010FF5-CCA5-7AD4-120F-A69E12E17B15}"/>
              </a:ext>
            </a:extLst>
          </p:cNvPr>
          <p:cNvSpPr txBox="1"/>
          <p:nvPr/>
        </p:nvSpPr>
        <p:spPr>
          <a:xfrm>
            <a:off x="4149249" y="1791161"/>
            <a:ext cx="7313946" cy="30418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8099" rIns="38099">
            <a:spAutoFit/>
          </a:bodyPr>
          <a:lstStyle/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Begin with a short introduction: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What is your topic?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Why is it important?</a:t>
            </a:r>
          </a:p>
          <a:p>
            <a:pPr>
              <a:lnSpc>
                <a:spcPts val="2333"/>
              </a:lnSpc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Body: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Share what other studies have found.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Organize the body by themes, not by author.</a:t>
            </a:r>
            <a:endParaRPr sz="191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endParaRPr sz="2167" b="1"/>
          </a:p>
          <a:p>
            <a:pPr marL="217228" indent="-217228">
              <a:lnSpc>
                <a:spcPts val="2333"/>
              </a:lnSpc>
              <a:buSzPct val="100000"/>
              <a:buChar char="•"/>
              <a:defRPr sz="2600">
                <a:latin typeface="Inter"/>
                <a:ea typeface="Inter"/>
                <a:cs typeface="Inter"/>
                <a:sym typeface="Inter"/>
              </a:defRPr>
            </a:pPr>
            <a:r>
              <a:rPr sz="2167" b="1"/>
              <a:t>End with a summary: </a:t>
            </a:r>
          </a:p>
          <a:p>
            <a:pPr marL="534715" lvl="1" indent="-217228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Clarify how your project connects to past research.</a:t>
            </a:r>
          </a:p>
        </p:txBody>
      </p:sp>
      <p:pic>
        <p:nvPicPr>
          <p:cNvPr id="3095" name="Image 0" descr="Image 0">
            <a:extLst>
              <a:ext uri="{FF2B5EF4-FFF2-40B4-BE49-F238E27FC236}">
                <a16:creationId xmlns:a16="http://schemas.microsoft.com/office/drawing/2014/main" id="{4F6B468B-5FA5-ADEE-13DE-CDC9C3FA6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5368"/>
            <a:ext cx="3312243" cy="499263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1006FF-A006-788B-22F1-5DF7A15C1D45}"/>
              </a:ext>
            </a:extLst>
          </p:cNvPr>
          <p:cNvSpPr txBox="1"/>
          <p:nvPr/>
        </p:nvSpPr>
        <p:spPr>
          <a:xfrm>
            <a:off x="166742" y="185564"/>
            <a:ext cx="2048178" cy="4436469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Not in Curriculum but it may be good to teach it here. At least mention it </a:t>
            </a:r>
            <a:r>
              <a:rPr lang="en-US" sz="2833" b="1">
                <a:highlight>
                  <a:srgbClr val="FFFF00"/>
                </a:highlight>
              </a:rPr>
              <a:t>briefly.</a:t>
            </a:r>
            <a:endParaRPr lang="en-US" sz="2833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7730907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2E7AF-E5C3-F4EE-06B8-BAF09CB0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2EC638-8946-3EE6-B8E8-661B28D62EC1}"/>
              </a:ext>
            </a:extLst>
          </p:cNvPr>
          <p:cNvSpPr txBox="1"/>
          <p:nvPr/>
        </p:nvSpPr>
        <p:spPr>
          <a:xfrm>
            <a:off x="166742" y="185563"/>
            <a:ext cx="5241783" cy="5796521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New Slide to introduce </a:t>
            </a:r>
            <a:r>
              <a:rPr lang="en-US" sz="2667" b="1">
                <a:solidFill>
                  <a:srgbClr val="344E6B"/>
                </a:solidFill>
                <a:highlight>
                  <a:srgbClr val="FFFF00"/>
                </a:highlight>
                <a:latin typeface="Arial"/>
                <a:cs typeface="Arial"/>
              </a:rPr>
              <a:t>Tools: </a:t>
            </a:r>
            <a:r>
              <a:rPr lang="en-US" sz="2667" b="1" dirty="0">
                <a:solidFill>
                  <a:srgbClr val="344E6B"/>
                </a:solidFill>
                <a:highlight>
                  <a:srgbClr val="FFFF00"/>
                </a:highlight>
                <a:latin typeface="Arial"/>
                <a:cs typeface="Arial"/>
              </a:rPr>
              <a:t>Google Scholar, PubMed, ERIC, JSTOR, Wikipedia as entry point </a:t>
            </a:r>
            <a:endParaRPr lang="en-US" sz="2667" b="1" dirty="0">
              <a:highlight>
                <a:srgbClr val="FFFF00"/>
              </a:highlight>
            </a:endParaRPr>
          </a:p>
          <a:p>
            <a:pPr algn="ctr"/>
            <a:endParaRPr lang="en-US" sz="4500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Curriculum says:</a:t>
            </a:r>
            <a:endParaRPr lang="en-US" sz="1500"/>
          </a:p>
          <a:p>
            <a:pPr algn="ctr"/>
            <a:r>
              <a:rPr lang="en-US" sz="1667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lang="en-US" sz="2000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Demonstrate: Search 'sleep adolescents academic performance' in Google Scholar. </a:t>
            </a:r>
            <a:endParaRPr lang="en-US" sz="2000">
              <a:latin typeface="Aptos"/>
              <a:cs typeface="Arial"/>
            </a:endParaRPr>
          </a:p>
          <a:p>
            <a:pPr algn="ctr"/>
            <a:endParaRPr lang="en-US" sz="2000" dirty="0">
              <a:solidFill>
                <a:srgbClr val="111111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algn="ctr"/>
            <a:r>
              <a:rPr lang="en-US" sz="200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Show how to: read an abstract, check </a:t>
            </a:r>
            <a:r>
              <a:rPr lang="en-US" sz="2000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citations, find full text, use 'Cited by' to find more recent work. </a:t>
            </a:r>
            <a:endParaRPr lang="en-US" sz="2000">
              <a:latin typeface="Aptos"/>
              <a:cs typeface="Arial"/>
            </a:endParaRPr>
          </a:p>
          <a:p>
            <a:pPr algn="ctr"/>
            <a:endParaRPr lang="en-US" sz="2000" dirty="0">
              <a:solidFill>
                <a:srgbClr val="111111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algn="ctr"/>
            <a:r>
              <a:rPr lang="en-US" sz="200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Introduce the Source </a:t>
            </a:r>
            <a:r>
              <a:rPr lang="en-US" sz="2000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Tracker handout.</a:t>
            </a:r>
            <a:endParaRPr lang="en-US" sz="2000">
              <a:cs typeface="Arial"/>
            </a:endParaRPr>
          </a:p>
          <a:p>
            <a:pPr algn="ctr"/>
            <a:br>
              <a:rPr lang="en-US" sz="1500" dirty="0"/>
            </a:b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97580065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256689" cy="6385034"/>
          </a:xfrm>
          <a:prstGeom prst="rect">
            <a:avLst/>
          </a:prstGeom>
          <a:ln w="12700">
            <a:miter lim="400000"/>
          </a:ln>
        </p:spPr>
      </p:pic>
      <p:sp>
        <p:nvSpPr>
          <p:cNvPr id="1880" name="Text 0"/>
          <p:cNvSpPr txBox="1"/>
          <p:nvPr/>
        </p:nvSpPr>
        <p:spPr>
          <a:xfrm>
            <a:off x="5233491" y="831652"/>
            <a:ext cx="5767605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Efficient Literature Search</a:t>
            </a:r>
          </a:p>
        </p:txBody>
      </p:sp>
      <p:sp>
        <p:nvSpPr>
          <p:cNvPr id="1881" name="Shape 1"/>
          <p:cNvSpPr/>
          <p:nvPr/>
        </p:nvSpPr>
        <p:spPr>
          <a:xfrm>
            <a:off x="5159408" y="1589352"/>
            <a:ext cx="3054054" cy="2561091"/>
          </a:xfrm>
          <a:prstGeom prst="roundRect">
            <a:avLst>
              <a:gd name="adj" fmla="val 3100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882" name="Text 2"/>
          <p:cNvSpPr txBox="1"/>
          <p:nvPr/>
        </p:nvSpPr>
        <p:spPr>
          <a:xfrm>
            <a:off x="5354770" y="1784714"/>
            <a:ext cx="1889941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Smart Keywords</a:t>
            </a:r>
          </a:p>
        </p:txBody>
      </p:sp>
      <p:sp>
        <p:nvSpPr>
          <p:cNvPr id="1883" name="Text 3"/>
          <p:cNvSpPr txBox="1"/>
          <p:nvPr/>
        </p:nvSpPr>
        <p:spPr>
          <a:xfrm>
            <a:off x="5354770" y="2193396"/>
            <a:ext cx="2663330" cy="17697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Choosing </a:t>
            </a:r>
            <a:r>
              <a:rPr sz="1917" b="1">
                <a:solidFill>
                  <a:srgbClr val="941751"/>
                </a:solidFill>
              </a:rPr>
              <a:t>keywords</a:t>
            </a:r>
            <a:r>
              <a:rPr sz="1917"/>
              <a:t> that would help you find the right content. 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Try </a:t>
            </a:r>
            <a:r>
              <a:rPr sz="1917" b="1">
                <a:solidFill>
                  <a:srgbClr val="941751"/>
                </a:solidFill>
              </a:rPr>
              <a:t>synonyms</a:t>
            </a:r>
            <a:r>
              <a:rPr sz="1917"/>
              <a:t>.  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Use </a:t>
            </a:r>
            <a:r>
              <a:rPr sz="1917">
                <a:solidFill>
                  <a:srgbClr val="941751"/>
                </a:solidFill>
              </a:rPr>
              <a:t>quotation marks</a:t>
            </a:r>
            <a:r>
              <a:rPr sz="1917"/>
              <a:t> “Climate Change”</a:t>
            </a:r>
          </a:p>
        </p:txBody>
      </p:sp>
      <p:sp>
        <p:nvSpPr>
          <p:cNvPr id="1884" name="Shape 5"/>
          <p:cNvSpPr/>
          <p:nvPr/>
        </p:nvSpPr>
        <p:spPr>
          <a:xfrm>
            <a:off x="8402473" y="1588225"/>
            <a:ext cx="3528429" cy="2563346"/>
          </a:xfrm>
          <a:prstGeom prst="roundRect">
            <a:avLst>
              <a:gd name="adj" fmla="val 309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885" name="Text 6"/>
          <p:cNvSpPr txBox="1"/>
          <p:nvPr/>
        </p:nvSpPr>
        <p:spPr>
          <a:xfrm>
            <a:off x="8597834" y="1784715"/>
            <a:ext cx="2226572" cy="29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25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917"/>
              <a:t>Intentional </a:t>
            </a:r>
            <a:r>
              <a:rPr sz="1917">
                <a:solidFill>
                  <a:srgbClr val="941751"/>
                </a:solidFill>
              </a:rPr>
              <a:t>Sources</a:t>
            </a:r>
          </a:p>
        </p:txBody>
      </p:sp>
      <p:sp>
        <p:nvSpPr>
          <p:cNvPr id="1886" name="Text 7"/>
          <p:cNvSpPr txBox="1"/>
          <p:nvPr/>
        </p:nvSpPr>
        <p:spPr>
          <a:xfrm>
            <a:off x="8597834" y="2193396"/>
            <a:ext cx="3294857" cy="1474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Google Scholar - if available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Library access to databases (and use filters)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 dirty="0"/>
              <a:t>Reliable sites with .</a:t>
            </a:r>
            <a:r>
              <a:rPr sz="1917" dirty="0" err="1"/>
              <a:t>edu</a:t>
            </a:r>
            <a:r>
              <a:rPr sz="1917" dirty="0"/>
              <a:t> .gov or trusted organizations</a:t>
            </a:r>
          </a:p>
        </p:txBody>
      </p:sp>
      <p:sp>
        <p:nvSpPr>
          <p:cNvPr id="1887" name="Shape 9"/>
          <p:cNvSpPr/>
          <p:nvPr/>
        </p:nvSpPr>
        <p:spPr>
          <a:xfrm>
            <a:off x="5159408" y="4232223"/>
            <a:ext cx="6755574" cy="2058711"/>
          </a:xfrm>
          <a:prstGeom prst="roundRect">
            <a:avLst>
              <a:gd name="adj" fmla="val 3857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pPr>
              <a:defRPr sz="2300"/>
            </a:pPr>
            <a:endParaRPr sz="1917"/>
          </a:p>
        </p:txBody>
      </p:sp>
      <p:sp>
        <p:nvSpPr>
          <p:cNvPr id="1888" name="Text 10"/>
          <p:cNvSpPr txBox="1"/>
          <p:nvPr/>
        </p:nvSpPr>
        <p:spPr>
          <a:xfrm>
            <a:off x="5354771" y="4277718"/>
            <a:ext cx="1676741" cy="315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3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1917"/>
              <a:t>Initial Reading</a:t>
            </a:r>
          </a:p>
        </p:txBody>
      </p:sp>
      <p:sp>
        <p:nvSpPr>
          <p:cNvPr id="1889" name="Text 11"/>
          <p:cNvSpPr txBox="1"/>
          <p:nvPr/>
        </p:nvSpPr>
        <p:spPr>
          <a:xfrm>
            <a:off x="5354770" y="4686398"/>
            <a:ext cx="6500393" cy="1474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Abstract - summary to read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Conclusions section 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Review the graphs</a:t>
            </a:r>
          </a:p>
          <a:p>
            <a:pPr marL="142033" indent="-142033">
              <a:lnSpc>
                <a:spcPts val="2333"/>
              </a:lnSpc>
              <a:buSzPct val="100000"/>
              <a:buChar char="•"/>
              <a:defRPr sz="2300">
                <a:latin typeface="Inter"/>
                <a:ea typeface="Inter"/>
                <a:cs typeface="Inter"/>
                <a:sym typeface="Inter"/>
              </a:defRPr>
            </a:pPr>
            <a:r>
              <a:rPr sz="1917"/>
              <a:t>Track and maybe “rate” what you find using a “Source Tracker”. ;)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" grpId="0" animBg="1" advAuto="0"/>
      <p:bldP spid="1885" grpId="0" animBg="1" advAuto="0"/>
      <p:bldP spid="1886" grpId="0" animBg="1" advAuto="0"/>
      <p:bldP spid="1887" grpId="0" animBg="1" advAuto="0"/>
      <p:bldP spid="1888" grpId="0" animBg="1" advAuto="0"/>
      <p:bldP spid="1889" grpId="0" animBg="1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Text 0"/>
          <p:cNvSpPr txBox="1"/>
          <p:nvPr/>
        </p:nvSpPr>
        <p:spPr>
          <a:xfrm>
            <a:off x="4767824" y="1630043"/>
            <a:ext cx="6189195" cy="548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583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3667" dirty="0">
                <a:solidFill>
                  <a:srgbClr val="941751"/>
                </a:solidFill>
              </a:rPr>
              <a:t>Activity: </a:t>
            </a:r>
            <a:r>
              <a:rPr lang="en-US" sz="3667"/>
              <a:t>Scavenger</a:t>
            </a:r>
            <a:r>
              <a:rPr lang="en-US" sz="3667" dirty="0"/>
              <a:t> Hunting</a:t>
            </a:r>
            <a:r>
              <a:rPr sz="3667" dirty="0"/>
              <a:t>!</a:t>
            </a:r>
          </a:p>
        </p:txBody>
      </p:sp>
      <p:sp>
        <p:nvSpPr>
          <p:cNvPr id="1876" name="Text 2"/>
          <p:cNvSpPr txBox="1"/>
          <p:nvPr/>
        </p:nvSpPr>
        <p:spPr>
          <a:xfrm>
            <a:off x="4817644" y="2663944"/>
            <a:ext cx="6070516" cy="3282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>
            <a:spAutoFit/>
          </a:bodyPr>
          <a:lstStyle/>
          <a:p>
            <a:pPr>
              <a:lnSpc>
                <a:spcPts val="2333"/>
              </a:lnSpc>
              <a:defRPr sz="3100">
                <a:latin typeface="Inter"/>
                <a:ea typeface="Inter"/>
                <a:cs typeface="Inter"/>
                <a:sym typeface="Inter"/>
              </a:defRPr>
            </a:pPr>
            <a:r>
              <a:rPr sz="2583" dirty="0"/>
              <a:t>Let’s see </a:t>
            </a:r>
            <a:r>
              <a:rPr lang="en-US" sz="2583"/>
              <a:t>how your key variables are defined by the experts.</a:t>
            </a:r>
            <a:endParaRPr lang="en-US" sz="2583" dirty="0"/>
          </a:p>
          <a:p>
            <a:pPr>
              <a:lnSpc>
                <a:spcPts val="2333"/>
              </a:lnSpc>
              <a:defRPr sz="3100">
                <a:latin typeface="Inter"/>
                <a:ea typeface="Inter"/>
                <a:cs typeface="Inter"/>
                <a:sym typeface="Inter"/>
              </a:defRPr>
            </a:pPr>
            <a:endParaRPr lang="en-US" sz="2583" dirty="0"/>
          </a:p>
          <a:p>
            <a:pPr>
              <a:lnSpc>
                <a:spcPts val="2333"/>
              </a:lnSpc>
              <a:defRPr sz="3100">
                <a:latin typeface="Inter"/>
                <a:ea typeface="Inter"/>
                <a:cs typeface="Inter"/>
                <a:sym typeface="Inter"/>
              </a:defRPr>
            </a:pPr>
            <a:endParaRPr lang="en-US" sz="2583" dirty="0"/>
          </a:p>
          <a:p>
            <a:pPr>
              <a:lnSpc>
                <a:spcPts val="2333"/>
              </a:lnSpc>
              <a:defRPr sz="3100">
                <a:latin typeface="Inter"/>
                <a:ea typeface="Inter"/>
                <a:cs typeface="Inter"/>
                <a:sym typeface="Inter"/>
              </a:defRPr>
            </a:pPr>
            <a:r>
              <a:rPr sz="2583"/>
              <a:t>Use your </a:t>
            </a:r>
            <a:r>
              <a:rPr sz="2583" b="1"/>
              <a:t>Source Tracker </a:t>
            </a:r>
            <a:r>
              <a:rPr sz="2583"/>
              <a:t>doc! </a:t>
            </a:r>
          </a:p>
          <a:p>
            <a:pPr>
              <a:lnSpc>
                <a:spcPts val="2333"/>
              </a:lnSpc>
              <a:defRPr sz="3100">
                <a:latin typeface="Inter"/>
                <a:ea typeface="Inter"/>
                <a:cs typeface="Inter"/>
                <a:sym typeface="Inter"/>
              </a:defRPr>
            </a:pPr>
            <a:endParaRPr lang="en-US" sz="2583" dirty="0"/>
          </a:p>
          <a:p>
            <a:pPr algn="ctr">
              <a:defRPr sz="3100">
                <a:latin typeface="Inter"/>
                <a:ea typeface="Inter"/>
                <a:cs typeface="Inter"/>
                <a:sym typeface="Inter"/>
              </a:defRPr>
            </a:pPr>
            <a:r>
              <a:rPr lang="en-US" sz="2333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Must find: (1) one peer-reviewed source, (2) one government/institutional data source.</a:t>
            </a:r>
            <a:endParaRPr lang="en-US" sz="2333">
              <a:latin typeface="Arial"/>
              <a:cs typeface="Arial"/>
            </a:endParaRPr>
          </a:p>
          <a:p>
            <a:pPr algn="ctr">
              <a:defRPr sz="3100">
                <a:latin typeface="Inter"/>
                <a:ea typeface="Inter"/>
                <a:cs typeface="Inter"/>
                <a:sym typeface="Inter"/>
              </a:defRPr>
            </a:pPr>
            <a:br>
              <a:rPr lang="en-US" sz="2583" dirty="0">
                <a:latin typeface="Aptos"/>
              </a:rPr>
            </a:br>
            <a:endParaRPr lang="en-US" sz="2583" dirty="0">
              <a:latin typeface="Aptos"/>
            </a:endParaRPr>
          </a:p>
        </p:txBody>
      </p:sp>
      <p:pic>
        <p:nvPicPr>
          <p:cNvPr id="187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4256689" cy="638503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5925F58A-B6D3-95AB-826D-7C7979CC5C9B}"/>
              </a:ext>
            </a:extLst>
          </p:cNvPr>
          <p:cNvSpPr txBox="1"/>
          <p:nvPr/>
        </p:nvSpPr>
        <p:spPr>
          <a:xfrm>
            <a:off x="166742" y="185564"/>
            <a:ext cx="5241783" cy="5206680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Aptos"/>
              </a:defRPr>
            </a:lvl9pPr>
          </a:lstStyle>
          <a:p>
            <a:pPr algn="ctr"/>
            <a:r>
              <a:rPr lang="en-US" sz="2833" b="1">
                <a:highlight>
                  <a:srgbClr val="FFFF00"/>
                </a:highlight>
              </a:rPr>
              <a:t>UPDATED </a:t>
            </a:r>
            <a:endParaRPr lang="en-US" sz="2667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this</a:t>
            </a:r>
            <a:r>
              <a:rPr lang="en-US" sz="2833" b="1" dirty="0">
                <a:highlight>
                  <a:srgbClr val="FFFF00"/>
                </a:highlight>
                <a:latin typeface="Aptos"/>
                <a:cs typeface="Arial"/>
              </a:rPr>
              <a:t> slide for: 'Define that Variable'  + Article Scavenger Hunt </a:t>
            </a:r>
            <a:endParaRPr lang="en-US" sz="2667" b="1">
              <a:highlight>
                <a:srgbClr val="FFFF00"/>
              </a:highlight>
            </a:endParaRPr>
          </a:p>
          <a:p>
            <a:pPr algn="ctr"/>
            <a:endParaRPr lang="en-US" sz="4500" b="1" dirty="0">
              <a:highlight>
                <a:srgbClr val="FFFF00"/>
              </a:highlight>
            </a:endParaRPr>
          </a:p>
          <a:p>
            <a:pPr algn="ctr"/>
            <a:r>
              <a:rPr lang="en-US" sz="2833" b="1">
                <a:highlight>
                  <a:srgbClr val="FFFF00"/>
                </a:highlight>
              </a:rPr>
              <a:t>Curriculum says:</a:t>
            </a:r>
            <a:endParaRPr lang="en-US" sz="1500"/>
          </a:p>
          <a:p>
            <a:pPr algn="ctr"/>
            <a:r>
              <a:rPr lang="en-US" sz="1667" dirty="0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 </a:t>
            </a:r>
            <a:r>
              <a:rPr lang="en-US" sz="1667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Teams search for credible definitions of their key variables and at least one article that examines their research question or a related one. Use the Source Tracker. </a:t>
            </a:r>
            <a:endParaRPr lang="en-US" sz="1667">
              <a:latin typeface="Aptos"/>
              <a:cs typeface="Arial"/>
            </a:endParaRPr>
          </a:p>
          <a:p>
            <a:pPr algn="ctr"/>
            <a:endParaRPr lang="en-US" sz="1667" dirty="0">
              <a:solidFill>
                <a:srgbClr val="111111"/>
              </a:solidFill>
              <a:highlight>
                <a:srgbClr val="FFFF00"/>
              </a:highlight>
              <a:latin typeface="Arial"/>
              <a:cs typeface="Arial"/>
            </a:endParaRPr>
          </a:p>
          <a:p>
            <a:pPr algn="ctr"/>
            <a:r>
              <a:rPr lang="en-US" sz="1667">
                <a:solidFill>
                  <a:srgbClr val="111111"/>
                </a:solidFill>
                <a:highlight>
                  <a:srgbClr val="FFFF00"/>
                </a:highlight>
                <a:latin typeface="Arial"/>
                <a:cs typeface="Arial"/>
              </a:rPr>
              <a:t>Must find: (1) one peer-reviewed source, (2) one government/institutional data source.</a:t>
            </a:r>
            <a:endParaRPr lang="en-US" sz="1667">
              <a:cs typeface="Arial"/>
            </a:endParaRPr>
          </a:p>
          <a:p>
            <a:pPr algn="ctr"/>
            <a:br>
              <a:rPr lang="en-US" sz="1500" dirty="0"/>
            </a:br>
            <a:endParaRPr lang="en-US" sz="1500" dirty="0"/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853B6-A06E-4BD7-3CCB-CE9C883A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A1B708-D7F8-2455-9E60-635063CB3B87}"/>
              </a:ext>
            </a:extLst>
          </p:cNvPr>
          <p:cNvSpPr txBox="1"/>
          <p:nvPr/>
        </p:nvSpPr>
        <p:spPr>
          <a:xfrm>
            <a:off x="166742" y="185564"/>
            <a:ext cx="4523464" cy="6309033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NEW SLIDE </a:t>
            </a:r>
            <a:r>
              <a:rPr lang="en-US" sz="2833" b="1">
                <a:highlight>
                  <a:srgbClr val="FFFF00"/>
                </a:highlight>
              </a:rPr>
              <a:t>NEEDED 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1500" b="1">
                <a:highlight>
                  <a:srgbClr val="FFFF00"/>
                </a:highlight>
                <a:ea typeface="+mn-lt"/>
                <a:cs typeface="+mn-lt"/>
              </a:rPr>
              <a:t> Scientific Storytelling: Summarizing for an Audience</a:t>
            </a:r>
            <a:r>
              <a:rPr lang="en-US" sz="1500" b="1">
                <a:highlight>
                  <a:srgbClr val="FFFF00"/>
                </a:highlight>
                <a:latin typeface="Aptos"/>
                <a:ea typeface="+mn-lt"/>
                <a:cs typeface="Arial"/>
              </a:rPr>
              <a:t> (15 min)</a:t>
            </a:r>
            <a:endParaRPr lang="en-US" sz="1500">
              <a:latin typeface="Aptos"/>
              <a:cs typeface="Arial"/>
            </a:endParaRPr>
          </a:p>
          <a:p>
            <a:pPr algn="ctr"/>
            <a:endParaRPr lang="en-US" sz="1500" b="1" dirty="0">
              <a:highlight>
                <a:srgbClr val="FFFF00"/>
              </a:highlight>
              <a:latin typeface="Aptos"/>
              <a:ea typeface="+mn-lt"/>
              <a:cs typeface="Arial"/>
            </a:endParaRPr>
          </a:p>
          <a:p>
            <a:pPr algn="ctr"/>
            <a:r>
              <a:rPr lang="en-US" sz="1500">
                <a:highlight>
                  <a:srgbClr val="FFFF00"/>
                </a:highlight>
                <a:latin typeface="Aptos"/>
                <a:ea typeface="+mn-lt"/>
                <a:cs typeface="Arial"/>
              </a:rPr>
              <a:t>Each team member writes a 2-sentence summary of one source they found: (1) What was the study about? (2) What did it find? Practice: 'According to [Author, Year], researchers found that...' </a:t>
            </a:r>
            <a:endParaRPr lang="en-US" sz="1500">
              <a:latin typeface="Aptos"/>
              <a:ea typeface="+mn-lt"/>
              <a:cs typeface="Arial"/>
            </a:endParaRPr>
          </a:p>
          <a:p>
            <a:pPr algn="ctr"/>
            <a:endParaRPr lang="en-US" sz="1500" dirty="0">
              <a:highlight>
                <a:srgbClr val="FFFF00"/>
              </a:highlight>
              <a:latin typeface="Aptos"/>
              <a:ea typeface="+mn-lt"/>
              <a:cs typeface="Arial"/>
            </a:endParaRPr>
          </a:p>
          <a:p>
            <a:pPr algn="ctr"/>
            <a:r>
              <a:rPr lang="en-US" sz="1500">
                <a:highlight>
                  <a:srgbClr val="FFFF00"/>
                </a:highlight>
                <a:latin typeface="Aptos"/>
                <a:ea typeface="+mn-lt"/>
                <a:cs typeface="Arial"/>
              </a:rPr>
              <a:t>Read aloud to partner. </a:t>
            </a:r>
            <a:endParaRPr lang="en-US" sz="1500">
              <a:latin typeface="Aptos"/>
              <a:ea typeface="+mn-lt"/>
              <a:cs typeface="Arial"/>
            </a:endParaRPr>
          </a:p>
          <a:p>
            <a:pPr algn="ctr"/>
            <a:endParaRPr lang="en-US" sz="1500" dirty="0">
              <a:highlight>
                <a:srgbClr val="FFFF00"/>
              </a:highlight>
              <a:latin typeface="Aptos"/>
              <a:ea typeface="+mn-lt"/>
              <a:cs typeface="Arial"/>
            </a:endParaRPr>
          </a:p>
          <a:p>
            <a:pPr algn="ctr"/>
            <a:r>
              <a:rPr lang="en-US" sz="1500">
                <a:highlight>
                  <a:srgbClr val="FFFF00"/>
                </a:highlight>
                <a:latin typeface="Aptos"/>
                <a:ea typeface="+mn-lt"/>
                <a:cs typeface="Arial"/>
              </a:rPr>
              <a:t>Practice tone: formal but accessible.</a:t>
            </a:r>
            <a:endParaRPr lang="en-US" sz="1500">
              <a:latin typeface="Aptos"/>
            </a:endParaRPr>
          </a:p>
          <a:p>
            <a:pPr algn="ctr"/>
            <a:endParaRPr lang="en-US" sz="1500" dirty="0"/>
          </a:p>
          <a:p>
            <a:pPr algn="ctr"/>
            <a:endParaRPr lang="en-US" sz="1500" dirty="0"/>
          </a:p>
          <a:p>
            <a:pPr algn="ctr"/>
            <a:r>
              <a:rPr lang="en-US" sz="2333" b="1" dirty="0"/>
              <a:t>I WOULD PERSONALLY CHANGE THE CONTENT TO </a:t>
            </a:r>
            <a:r>
              <a:rPr lang="en-US" sz="2333" b="1"/>
              <a:t>SPEAK OUT THE VARIABLE DEFINITION ACTIVITY WE </a:t>
            </a:r>
            <a:r>
              <a:rPr lang="en-US" sz="2333" b="1" dirty="0"/>
              <a:t>JUST COMPLETED</a:t>
            </a:r>
            <a:br>
              <a:rPr lang="en-US" sz="1500" dirty="0"/>
            </a:br>
            <a:endParaRPr lang="en-US" sz="1500"/>
          </a:p>
          <a:p>
            <a:pPr algn="ctr"/>
            <a:br>
              <a:rPr lang="en-US" sz="1500" dirty="0"/>
            </a:br>
            <a:endParaRPr lang="en-US" sz="1500" dirty="0"/>
          </a:p>
          <a:p>
            <a:pPr algn="ctr"/>
            <a:endParaRPr lang="en-US" sz="15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5151900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380" y="700690"/>
            <a:ext cx="3935541" cy="5903311"/>
          </a:xfrm>
          <a:prstGeom prst="rect">
            <a:avLst/>
          </a:prstGeom>
          <a:ln w="12700">
            <a:miter lim="400000"/>
          </a:ln>
        </p:spPr>
      </p:pic>
      <p:sp>
        <p:nvSpPr>
          <p:cNvPr id="2217" name="Text 0"/>
          <p:cNvSpPr txBox="1"/>
          <p:nvPr/>
        </p:nvSpPr>
        <p:spPr>
          <a:xfrm>
            <a:off x="661492" y="1043087"/>
            <a:ext cx="2436564" cy="635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500"/>
              </a:lnSpc>
              <a:defRPr sz="44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lvl1pPr>
          </a:lstStyle>
          <a:p>
            <a:r>
              <a:rPr sz="3667"/>
              <a:t>Homework</a:t>
            </a:r>
          </a:p>
        </p:txBody>
      </p:sp>
      <p:sp>
        <p:nvSpPr>
          <p:cNvPr id="2218" name="Shape 1"/>
          <p:cNvSpPr/>
          <p:nvPr/>
        </p:nvSpPr>
        <p:spPr>
          <a:xfrm>
            <a:off x="661492" y="1917204"/>
            <a:ext cx="5883258" cy="4276298"/>
          </a:xfrm>
          <a:prstGeom prst="roundRect">
            <a:avLst>
              <a:gd name="adj" fmla="val 1862"/>
            </a:avLst>
          </a:prstGeom>
          <a:solidFill>
            <a:srgbClr val="CCEDFF"/>
          </a:solidFill>
          <a:ln w="7620">
            <a:solidFill>
              <a:srgbClr val="B2D3E5"/>
            </a:solidFill>
          </a:ln>
        </p:spPr>
        <p:txBody>
          <a:bodyPr lIns="38099" rIns="38099"/>
          <a:lstStyle/>
          <a:p>
            <a:endParaRPr sz="1500"/>
          </a:p>
        </p:txBody>
      </p:sp>
      <p:sp>
        <p:nvSpPr>
          <p:cNvPr id="2219" name="Text 2"/>
          <p:cNvSpPr txBox="1"/>
          <p:nvPr/>
        </p:nvSpPr>
        <p:spPr>
          <a:xfrm>
            <a:off x="856853" y="2112565"/>
            <a:ext cx="5492536" cy="4108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Handout 3 “Literature Review &amp; Research Methodology” - Review what you learned about lit review, refine your research questions and hypothesis, start reflecting on your methodology. 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 dirty="0"/>
              <a:t>Diving into the literature and keeping track of your resources through “Source Tracker”. Cover 1-2 articles today, and share your notes with one another.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  <a:p>
            <a:pPr marL="183808" indent="-183808">
              <a:lnSpc>
                <a:spcPts val="2250"/>
              </a:lnSpc>
              <a:buSzPct val="100000"/>
              <a:buChar char="•"/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r>
              <a:rPr sz="1833"/>
              <a:t>Look into your data-set to make sure that your question and hypothesis can be studied with the information provided there. </a:t>
            </a:r>
          </a:p>
          <a:p>
            <a:pPr>
              <a:lnSpc>
                <a:spcPts val="2250"/>
              </a:lnSpc>
              <a:defRPr sz="2200" b="1">
                <a:latin typeface="Playfair Display Bold"/>
                <a:ea typeface="Playfair Display Bold"/>
                <a:cs typeface="Playfair Display Bold"/>
                <a:sym typeface="Playfair Display Bold"/>
              </a:defRPr>
            </a:pPr>
            <a:endParaRPr sz="1833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580D8B-ECBB-69D4-937C-085FB6A26994}"/>
              </a:ext>
            </a:extLst>
          </p:cNvPr>
          <p:cNvSpPr txBox="1"/>
          <p:nvPr/>
        </p:nvSpPr>
        <p:spPr>
          <a:xfrm>
            <a:off x="166742" y="185563"/>
            <a:ext cx="3882803" cy="782239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>
                <a:highlight>
                  <a:srgbClr val="FFFF00"/>
                </a:highlight>
              </a:rPr>
              <a:t>UPDATE TO REFLECT NEW HW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1500" b="1">
                <a:highlight>
                  <a:srgbClr val="FFFF00"/>
                </a:highlight>
              </a:rPr>
              <a:t>After-Class Team Session  (3:15 – 5:15 PM)</a:t>
            </a:r>
            <a:endParaRPr lang="en-US" sz="1500"/>
          </a:p>
          <a:p>
            <a:pPr algn="ctr"/>
            <a:r>
              <a:rPr lang="en-US" sz="1500">
                <a:highlight>
                  <a:srgbClr val="FFFF00"/>
                </a:highlight>
              </a:rPr>
              <a:t>Teams work with TA / peer mentor available. Produce a tangible output before dinner. Not free time.</a:t>
            </a:r>
            <a:endParaRPr lang="en-US" sz="1500"/>
          </a:p>
          <a:p>
            <a:pPr algn="ctr"/>
            <a:r>
              <a:rPr lang="en-US" sz="1500">
                <a:highlight>
                  <a:srgbClr val="FFFF00"/>
                </a:highlight>
              </a:rPr>
              <a:t>Begin Team Literature Review Template — each member contributes 1 source summary (author, year, finding, relevance to your question)</a:t>
            </a:r>
            <a:endParaRPr lang="en-US" sz="1500"/>
          </a:p>
          <a:p>
            <a:pPr algn="ctr"/>
            <a:r>
              <a:rPr lang="en-US" sz="1500">
                <a:highlight>
                  <a:srgbClr val="FFFF00"/>
                </a:highlight>
              </a:rPr>
              <a:t>Search Google Scholar or PubMed for 2 additional sources. Apply CRAAP test to assess quality before logging</a:t>
            </a:r>
          </a:p>
          <a:p>
            <a:pPr algn="ctr"/>
            <a:endParaRPr lang="en-US" sz="1500" b="1" dirty="0">
              <a:highlight>
                <a:srgbClr val="FFFF00"/>
              </a:highlight>
            </a:endParaRPr>
          </a:p>
          <a:p>
            <a:pPr algn="ctr"/>
            <a:r>
              <a:rPr lang="en-US" sz="1500" b="1">
                <a:highlight>
                  <a:srgbClr val="FFFF00"/>
                </a:highlight>
              </a:rPr>
              <a:t>Evening Work Period  (7:00 – 9:00 PM)</a:t>
            </a:r>
            <a:endParaRPr lang="en-US" sz="1500"/>
          </a:p>
          <a:p>
            <a:pPr algn="ctr"/>
            <a:r>
              <a:rPr lang="en-US" sz="1500">
                <a:highlight>
                  <a:srgbClr val="FFFF00"/>
                </a:highlight>
              </a:rPr>
              <a:t>Individual + partner work during CTD RTA study hours. TA available for drop-in questions.</a:t>
            </a:r>
            <a:endParaRPr lang="en-US" sz="1500"/>
          </a:p>
          <a:p>
            <a:pPr algn="ctr"/>
            <a:r>
              <a:rPr lang="en-US" sz="1500">
                <a:highlight>
                  <a:srgbClr val="FFFF00"/>
                </a:highlight>
              </a:rPr>
              <a:t>Individual Mission Sheet Part 1: Document search strategy — keywords used, databases searched, quality criteria applied</a:t>
            </a:r>
            <a:endParaRPr lang="en-US" sz="1500"/>
          </a:p>
          <a:p>
            <a:pPr algn="ctr"/>
            <a:r>
              <a:rPr lang="en-US" sz="1500">
                <a:highlight>
                  <a:srgbClr val="FFFF00"/>
                </a:highlight>
              </a:rPr>
              <a:t>Individual Mission Sheet Part 2: Key source — identify one important article, assess quality, summarize one finding in your own words</a:t>
            </a:r>
            <a:endParaRPr lang="en-US" sz="1500"/>
          </a:p>
          <a:p>
            <a:pPr algn="ctr"/>
            <a:r>
              <a:rPr lang="en-US" sz="1500" dirty="0">
                <a:highlight>
                  <a:srgbClr val="FFFF00"/>
                </a:highlight>
              </a:rPr>
              <a:t>(</a:t>
            </a:r>
            <a:r>
              <a:rPr lang="en-US" sz="1500" dirty="0" err="1">
                <a:highlight>
                  <a:srgbClr val="FFFF00"/>
                </a:highlight>
              </a:rPr>
              <a:t>RcS</a:t>
            </a:r>
            <a:r>
              <a:rPr lang="en-US" sz="1500" dirty="0">
                <a:highlight>
                  <a:srgbClr val="FFFF00"/>
                </a:highlight>
              </a:rPr>
              <a:t>): Write the 'Beginning' paragraph of your literature review — introduce topic and define variables with 2+ citations in APA format</a:t>
            </a:r>
            <a:endParaRPr lang="en-US" sz="1500" dirty="0"/>
          </a:p>
          <a:p>
            <a:pPr algn="ctr"/>
            <a:endParaRPr lang="en-US" sz="1500" b="1" dirty="0">
              <a:highlight>
                <a:srgbClr val="FFFF00"/>
              </a:highlight>
            </a:endParaRPr>
          </a:p>
          <a:p>
            <a:pPr algn="ctr"/>
            <a:endParaRPr lang="en-US" sz="1500" b="1" dirty="0">
              <a:highlight>
                <a:srgbClr val="FFFF00"/>
              </a:highlight>
            </a:endParaRPr>
          </a:p>
          <a:p>
            <a:pPr algn="ctr"/>
            <a:endParaRPr lang="en-US" sz="2833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BECFA-03DD-77D1-A2F2-6E83A59BF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A66E62-1E8B-FC06-B59B-D32E04BE13BB}"/>
              </a:ext>
            </a:extLst>
          </p:cNvPr>
          <p:cNvSpPr txBox="1"/>
          <p:nvPr/>
        </p:nvSpPr>
        <p:spPr>
          <a:xfrm>
            <a:off x="166742" y="185563"/>
            <a:ext cx="4523464" cy="5385896"/>
          </a:xfrm>
          <a:prstGeom prst="rect">
            <a:avLst/>
          </a:prstGeom>
          <a:solidFill>
            <a:srgbClr val="FFFF00"/>
          </a:solidFill>
          <a:ln w="57150" cap="flat">
            <a:solidFill>
              <a:schemeClr val="accent2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33" b="1" dirty="0">
                <a:highlight>
                  <a:srgbClr val="FFFF00"/>
                </a:highlight>
              </a:rPr>
              <a:t>NEW SLIDE </a:t>
            </a:r>
            <a:r>
              <a:rPr lang="en-US" sz="2833" b="1">
                <a:highlight>
                  <a:srgbClr val="FFFF00"/>
                </a:highlight>
              </a:rPr>
              <a:t>NEEDED </a:t>
            </a:r>
          </a:p>
          <a:p>
            <a:pPr algn="ctr"/>
            <a:endParaRPr lang="en-US" sz="2833" b="1" dirty="0">
              <a:highlight>
                <a:srgbClr val="FFFF00"/>
              </a:highlight>
            </a:endParaRPr>
          </a:p>
          <a:p>
            <a:pPr algn="ctr"/>
            <a:r>
              <a:rPr lang="en-US" sz="1500" b="1">
                <a:highlight>
                  <a:srgbClr val="FFFF00"/>
                </a:highlight>
                <a:ea typeface="+mn-lt"/>
                <a:cs typeface="+mn-lt"/>
              </a:rPr>
              <a:t> Scientific Storytelling </a:t>
            </a:r>
            <a:r>
              <a:rPr lang="en-US" sz="3333" b="1">
                <a:highlight>
                  <a:srgbClr val="FFFF00"/>
                </a:highlight>
                <a:ea typeface="+mn-lt"/>
                <a:cs typeface="+mn-lt"/>
              </a:rPr>
              <a:t>—</a:t>
            </a:r>
            <a:r>
              <a:rPr lang="en-US" sz="2000" b="1">
                <a:solidFill>
                  <a:srgbClr val="344E6B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Summarizing for an Audience (15 min)</a:t>
            </a:r>
            <a:endParaRPr lang="en-US" sz="2000">
              <a:solidFill>
                <a:srgbClr val="344E6B"/>
              </a:solidFill>
              <a:latin typeface="Arial"/>
              <a:cs typeface="Arial"/>
            </a:endParaRPr>
          </a:p>
          <a:p>
            <a:pPr algn="ctr"/>
            <a:r>
              <a:rPr lang="en-US" sz="2000">
                <a:solidFill>
                  <a:srgbClr val="111111"/>
                </a:solidFill>
                <a:highlight>
                  <a:srgbClr val="FFFF00"/>
                </a:highlight>
                <a:latin typeface="Arial"/>
                <a:ea typeface="+mn-lt"/>
                <a:cs typeface="Arial"/>
              </a:rPr>
              <a:t>Each team member writes a 2-sentence summary of one source they found: (1) What was the study about? (2) What did it find? Practice: 'According to [Author, Year], researchers found that...' Read aloud to partner. Practice tone: formal but accessible.</a:t>
            </a:r>
            <a:endParaRPr lang="en-US" sz="2000"/>
          </a:p>
          <a:p>
            <a:pPr algn="ctr"/>
            <a:br>
              <a:rPr lang="en-US" sz="1500" dirty="0"/>
            </a:br>
            <a:endParaRPr lang="en-US" sz="1500" dirty="0"/>
          </a:p>
          <a:p>
            <a:pPr algn="ctr"/>
            <a:br>
              <a:rPr lang="en-US" sz="1500" dirty="0"/>
            </a:br>
            <a:endParaRPr lang="en-US" sz="1500" dirty="0"/>
          </a:p>
          <a:p>
            <a:pPr algn="ctr"/>
            <a:endParaRPr lang="en-US" sz="15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0356961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</Words>
  <Application>Microsoft Macintosh PowerPoint</Application>
  <PresentationFormat>Widescreen</PresentationFormat>
  <Paragraphs>226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Hussain Hadah</dc:creator>
  <cp:lastModifiedBy>Hussain Hadah</cp:lastModifiedBy>
  <cp:revision>1</cp:revision>
  <dcterms:created xsi:type="dcterms:W3CDTF">2026-06-21T22:14:58Z</dcterms:created>
  <dcterms:modified xsi:type="dcterms:W3CDTF">2026-06-21T22:15:50Z</dcterms:modified>
</cp:coreProperties>
</file>