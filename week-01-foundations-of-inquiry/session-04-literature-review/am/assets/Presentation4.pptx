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408" r:id="rId2"/>
    <p:sldId id="409" r:id="rId3"/>
    <p:sldId id="410" r:id="rId4"/>
    <p:sldId id="411" r:id="rId5"/>
    <p:sldId id="412" r:id="rId6"/>
    <p:sldId id="413" r:id="rId7"/>
    <p:sldId id="414" r:id="rId8"/>
    <p:sldId id="415" r:id="rId9"/>
    <p:sldId id="416" r:id="rId10"/>
    <p:sldId id="417" r:id="rId11"/>
    <p:sldId id="418" r:id="rId12"/>
    <p:sldId id="419" r:id="rId13"/>
    <p:sldId id="420" r:id="rId14"/>
    <p:sldId id="421" r:id="rId15"/>
    <p:sldId id="422" r:id="rId16"/>
    <p:sldId id="423" r:id="rId17"/>
    <p:sldId id="424" r:id="rId18"/>
    <p:sldId id="425" r:id="rId19"/>
    <p:sldId id="426" r:id="rId20"/>
    <p:sldId id="427" r:id="rId21"/>
    <p:sldId id="428" r:id="rId22"/>
    <p:sldId id="429" r:id="rId23"/>
    <p:sldId id="430" r:id="rId24"/>
    <p:sldId id="431" r:id="rId25"/>
    <p:sldId id="432" r:id="rId26"/>
    <p:sldId id="433" r:id="rId27"/>
    <p:sldId id="434" r:id="rId28"/>
    <p:sldId id="435" r:id="rId29"/>
    <p:sldId id="436" r:id="rId30"/>
    <p:sldId id="437" r:id="rId31"/>
    <p:sldId id="438" r:id="rId32"/>
    <p:sldId id="439" r:id="rId33"/>
    <p:sldId id="440" r:id="rId34"/>
    <p:sldId id="441" r:id="rId35"/>
    <p:sldId id="442" r:id="rId36"/>
    <p:sldId id="443" r:id="rId37"/>
    <p:sldId id="444" r:id="rId38"/>
    <p:sldId id="445" r:id="rId39"/>
    <p:sldId id="446" r:id="rId40"/>
    <p:sldId id="447" r:id="rId41"/>
    <p:sldId id="448" r:id="rId42"/>
    <p:sldId id="449" r:id="rId43"/>
    <p:sldId id="450" r:id="rId44"/>
    <p:sldId id="451" r:id="rId45"/>
    <p:sldId id="452" r:id="rId46"/>
    <p:sldId id="453" r:id="rId47"/>
    <p:sldId id="454" r:id="rId48"/>
    <p:sldId id="455" r:id="rId49"/>
    <p:sldId id="456" r:id="rId50"/>
    <p:sldId id="457"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66"/>
  </p:normalViewPr>
  <p:slideViewPr>
    <p:cSldViewPr snapToGrid="0">
      <p:cViewPr varScale="1">
        <p:scale>
          <a:sx n="126" d="100"/>
          <a:sy n="126" d="100"/>
        </p:scale>
        <p:origin x="232"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D5AEF-2CD3-5ECC-2D9A-4164C61566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AE41756-8C5B-ACA4-1348-5A1503ECB0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58FE63-8D1B-9857-024E-91EEBDA9ECF3}"/>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5" name="Footer Placeholder 4">
            <a:extLst>
              <a:ext uri="{FF2B5EF4-FFF2-40B4-BE49-F238E27FC236}">
                <a16:creationId xmlns:a16="http://schemas.microsoft.com/office/drawing/2014/main" id="{233D8F12-3DA3-4A4B-1AA8-8E190330DD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F098F-8F23-B27F-8AB5-F82289931D17}"/>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2098921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30522-7FE8-1230-B5CF-FDD2B7B9AF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DAF315-9653-29F5-EA29-C144FBF24D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CEF14F-6048-6DAD-BD67-83E38F98504B}"/>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5" name="Footer Placeholder 4">
            <a:extLst>
              <a:ext uri="{FF2B5EF4-FFF2-40B4-BE49-F238E27FC236}">
                <a16:creationId xmlns:a16="http://schemas.microsoft.com/office/drawing/2014/main" id="{C8914223-FDB4-D014-9650-209F72A6DC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286383-D69C-42A5-A189-E5B5F867989F}"/>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7693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0D7AE-5028-06D0-5605-5243DE1F31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D1B289-9CDA-24C5-40A5-C5B5FAED3B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DF0C0C-3FBD-98F0-99DD-C5461B3753A0}"/>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5" name="Footer Placeholder 4">
            <a:extLst>
              <a:ext uri="{FF2B5EF4-FFF2-40B4-BE49-F238E27FC236}">
                <a16:creationId xmlns:a16="http://schemas.microsoft.com/office/drawing/2014/main" id="{2754B6D9-A00F-7BB7-0E4A-DF77B0F807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B6946A-900C-EA45-5C4B-0CCC293EEE98}"/>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140318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85A74-F19D-1851-3107-42ED5D9123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F6059-DEC6-DD2D-4156-94EF181BA3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814795-F1E2-8310-F44F-0EE6D78D24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436192-6AC3-5FC1-965F-6CB4868854D1}"/>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6" name="Footer Placeholder 5">
            <a:extLst>
              <a:ext uri="{FF2B5EF4-FFF2-40B4-BE49-F238E27FC236}">
                <a16:creationId xmlns:a16="http://schemas.microsoft.com/office/drawing/2014/main" id="{C7A22520-E6BF-713A-0B3B-216717D0FB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1AC694-B2F5-A35A-8A11-46449486AFA6}"/>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1006514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916BD-BFD0-8CC8-A330-330BE14298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0D40B5-B870-5650-593F-C6B70578DA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C8C4BE-D594-C3F3-1042-4A90AE04BF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D864F3-7DD9-BE47-5DEF-E76A3FD577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79C178-9FDD-0B35-758A-57AEAAAA92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B0AD6C-FAC5-CB6C-F78C-6BAEED65DF07}"/>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8" name="Footer Placeholder 7">
            <a:extLst>
              <a:ext uri="{FF2B5EF4-FFF2-40B4-BE49-F238E27FC236}">
                <a16:creationId xmlns:a16="http://schemas.microsoft.com/office/drawing/2014/main" id="{9D912D5D-F275-36BF-B288-16065450D9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EC639A-9AB8-A334-80AB-3E210057C1DC}"/>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3922568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A0E2B-5E12-7B52-110E-9976430D6F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B14325-44E7-321C-61F8-CDA5471596B1}"/>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4" name="Footer Placeholder 3">
            <a:extLst>
              <a:ext uri="{FF2B5EF4-FFF2-40B4-BE49-F238E27FC236}">
                <a16:creationId xmlns:a16="http://schemas.microsoft.com/office/drawing/2014/main" id="{DD5E3541-3D75-5B2F-DD71-C4581588DC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4A882B-D1D4-7135-C4E3-9AAADD5BFFEA}"/>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3481740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0357F6-20B9-1FA4-79CA-041A9C2AAE15}"/>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3" name="Footer Placeholder 2">
            <a:extLst>
              <a:ext uri="{FF2B5EF4-FFF2-40B4-BE49-F238E27FC236}">
                <a16:creationId xmlns:a16="http://schemas.microsoft.com/office/drawing/2014/main" id="{7D23244F-DAAC-D5E3-C50A-A2F66DF7C2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673206-AB64-AA8F-73A2-35B0643904F4}"/>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359859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81243-F741-BF87-CF69-530045AC1F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F8DD25-6077-8392-6D65-1C2D5D2B4F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11BD34-C274-40F7-EC9F-3AEC559CC4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F6C5F4-3B5F-4798-B631-C2DB6657B8DD}"/>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6" name="Footer Placeholder 5">
            <a:extLst>
              <a:ext uri="{FF2B5EF4-FFF2-40B4-BE49-F238E27FC236}">
                <a16:creationId xmlns:a16="http://schemas.microsoft.com/office/drawing/2014/main" id="{BE4D9205-23FD-1037-C559-32CBA459D3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6143DC-B46D-F262-6FAB-48180C881BEF}"/>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1318527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930AB-0DB5-670E-17DD-37B5904C0E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99BF66-445A-04F5-CBD6-DDF8DECBF5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72EA6B-6589-7929-BCAD-9F8357E11B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DEF02B-0BE3-5C2B-1DE8-FC4043A392DC}"/>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6" name="Footer Placeholder 5">
            <a:extLst>
              <a:ext uri="{FF2B5EF4-FFF2-40B4-BE49-F238E27FC236}">
                <a16:creationId xmlns:a16="http://schemas.microsoft.com/office/drawing/2014/main" id="{747FC571-495D-C10C-ABD2-3616954406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F79E99-D9CE-2108-4546-6FA189D2C0DC}"/>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283240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EA2A6-960A-67B8-54A7-9AE2DCFE6C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80ED7C-30C7-6B2F-C4BB-A714CAE011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902D54-7885-6EBF-B066-E646492013B8}"/>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5" name="Footer Placeholder 4">
            <a:extLst>
              <a:ext uri="{FF2B5EF4-FFF2-40B4-BE49-F238E27FC236}">
                <a16:creationId xmlns:a16="http://schemas.microsoft.com/office/drawing/2014/main" id="{B8F85924-900B-1A9A-FA8B-6E61E152BA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4D5E5-2B42-6E74-E7F5-2EFB1CBFC051}"/>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1674392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D78DFB-0A02-00AF-7259-F7941E52BE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A4782E-0A29-B51E-4705-9E1D3DF1B2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66DC7A-64A2-8F27-DEFA-C622EC095043}"/>
              </a:ext>
            </a:extLst>
          </p:cNvPr>
          <p:cNvSpPr>
            <a:spLocks noGrp="1"/>
          </p:cNvSpPr>
          <p:nvPr>
            <p:ph type="dt" sz="half" idx="10"/>
          </p:nvPr>
        </p:nvSpPr>
        <p:spPr/>
        <p:txBody>
          <a:bodyPr/>
          <a:lstStyle/>
          <a:p>
            <a:fld id="{A375A21E-9956-6646-9EFD-CE4F19E23673}" type="datetimeFigureOut">
              <a:rPr lang="en-US" smtClean="0"/>
              <a:t>6/10/26</a:t>
            </a:fld>
            <a:endParaRPr lang="en-US"/>
          </a:p>
        </p:txBody>
      </p:sp>
      <p:sp>
        <p:nvSpPr>
          <p:cNvPr id="5" name="Footer Placeholder 4">
            <a:extLst>
              <a:ext uri="{FF2B5EF4-FFF2-40B4-BE49-F238E27FC236}">
                <a16:creationId xmlns:a16="http://schemas.microsoft.com/office/drawing/2014/main" id="{2ABFE7E0-2201-844A-1200-73ACDAFC34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4696BC-9B26-9E98-93DA-0DDA5D91B7F8}"/>
              </a:ext>
            </a:extLst>
          </p:cNvPr>
          <p:cNvSpPr>
            <a:spLocks noGrp="1"/>
          </p:cNvSpPr>
          <p:nvPr>
            <p:ph type="sldNum" sz="quarter" idx="12"/>
          </p:nvPr>
        </p:nvSpPr>
        <p:spPr/>
        <p:txBody>
          <a:bodyPr/>
          <a:lstStyle/>
          <a:p>
            <a:fld id="{321408FC-5A06-A444-B636-24F9FA2D5129}" type="slidenum">
              <a:rPr lang="en-US" smtClean="0"/>
              <a:t>‹#›</a:t>
            </a:fld>
            <a:endParaRPr lang="en-US"/>
          </a:p>
        </p:txBody>
      </p:sp>
    </p:spTree>
    <p:extLst>
      <p:ext uri="{BB962C8B-B14F-4D97-AF65-F5344CB8AC3E}">
        <p14:creationId xmlns:p14="http://schemas.microsoft.com/office/powerpoint/2010/main" val="2927042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Slide 1 master">
    <p:spTree>
      <p:nvGrpSpPr>
        <p:cNvPr id="1" name=""/>
        <p:cNvGrpSpPr/>
        <p:nvPr/>
      </p:nvGrpSpPr>
      <p:grpSpPr>
        <a:xfrm>
          <a:off x="0" y="0"/>
          <a:ext cx="0" cy="0"/>
          <a:chOff x="0" y="0"/>
          <a:chExt cx="0" cy="0"/>
        </a:xfrm>
      </p:grpSpPr>
      <p:pic>
        <p:nvPicPr>
          <p:cNvPr id="94" name="Picture 7" descr="Picture 7"/>
          <p:cNvPicPr>
            <a:picLocks noChangeAspect="1"/>
          </p:cNvPicPr>
          <p:nvPr/>
        </p:nvPicPr>
        <p:blipFill>
          <a:blip r:embed="rId2"/>
          <a:stretch>
            <a:fillRect/>
          </a:stretch>
        </p:blipFill>
        <p:spPr>
          <a:xfrm>
            <a:off x="9627038" y="1277"/>
            <a:ext cx="2564962" cy="586750"/>
          </a:xfrm>
          <a:prstGeom prst="rect">
            <a:avLst/>
          </a:prstGeom>
          <a:ln w="12700">
            <a:miter lim="400000"/>
          </a:ln>
        </p:spPr>
      </p:pic>
      <p:pic>
        <p:nvPicPr>
          <p:cNvPr id="95" name="Picture 9" descr="Picture 9"/>
          <p:cNvPicPr>
            <a:picLocks noChangeAspect="1"/>
          </p:cNvPicPr>
          <p:nvPr/>
        </p:nvPicPr>
        <p:blipFill>
          <a:blip r:embed="rId3"/>
          <a:stretch>
            <a:fillRect/>
          </a:stretch>
        </p:blipFill>
        <p:spPr>
          <a:xfrm>
            <a:off x="4474788" y="6486580"/>
            <a:ext cx="3389313" cy="166688"/>
          </a:xfrm>
          <a:prstGeom prst="rect">
            <a:avLst/>
          </a:prstGeom>
          <a:ln w="12700">
            <a:miter lim="400000"/>
          </a:ln>
        </p:spPr>
      </p:pic>
      <p:sp>
        <p:nvSpPr>
          <p:cNvPr id="96" name="Slide Number"/>
          <p:cNvSpPr txBox="1">
            <a:spLocks noGrp="1"/>
          </p:cNvSpPr>
          <p:nvPr>
            <p:ph type="sldNum" sz="quarter" idx="2"/>
          </p:nvPr>
        </p:nvSpPr>
        <p:spPr>
          <a:xfrm>
            <a:off x="5892800" y="6173787"/>
            <a:ext cx="2844801" cy="365126"/>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89342702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B6FB91-579F-52A4-3C2E-CA97A16F70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88A019-94E9-9DC6-FE50-074A99F508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D28D8-8D3A-9254-4D8A-BC0179480F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75A21E-9956-6646-9EFD-CE4F19E23673}" type="datetimeFigureOut">
              <a:rPr lang="en-US" smtClean="0"/>
              <a:t>6/10/26</a:t>
            </a:fld>
            <a:endParaRPr lang="en-US"/>
          </a:p>
        </p:txBody>
      </p:sp>
      <p:sp>
        <p:nvSpPr>
          <p:cNvPr id="5" name="Footer Placeholder 4">
            <a:extLst>
              <a:ext uri="{FF2B5EF4-FFF2-40B4-BE49-F238E27FC236}">
                <a16:creationId xmlns:a16="http://schemas.microsoft.com/office/drawing/2014/main" id="{ABCCD26F-CC48-9051-A106-25747FA1B3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80F4618-4EB4-8FD2-2B48-CEB3F9DF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1408FC-5A06-A444-B636-24F9FA2D5129}" type="slidenum">
              <a:rPr lang="en-US" smtClean="0"/>
              <a:t>‹#›</a:t>
            </a:fld>
            <a:endParaRPr lang="en-US"/>
          </a:p>
        </p:txBody>
      </p:sp>
    </p:spTree>
    <p:extLst>
      <p:ext uri="{BB962C8B-B14F-4D97-AF65-F5344CB8AC3E}">
        <p14:creationId xmlns:p14="http://schemas.microsoft.com/office/powerpoint/2010/main" val="2267578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2.xml"/><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2.xml"/><Relationship Id="rId5" Type="http://schemas.openxmlformats.org/officeDocument/2006/relationships/image" Target="../media/image61.png"/><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2.xml"/><Relationship Id="rId5" Type="http://schemas.openxmlformats.org/officeDocument/2006/relationships/image" Target="../media/image69.png"/><Relationship Id="rId4" Type="http://schemas.openxmlformats.org/officeDocument/2006/relationships/image" Target="../media/image68.png"/></Relationships>
</file>

<file path=ppt/slides/_rels/slide4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2.xml"/><Relationship Id="rId5" Type="http://schemas.openxmlformats.org/officeDocument/2006/relationships/image" Target="../media/image73.png"/><Relationship Id="rId4" Type="http://schemas.openxmlformats.org/officeDocument/2006/relationships/image" Target="../media/image72.png"/></Relationships>
</file>

<file path=ppt/slides/_rels/slide4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5" name="RESEARCH METHODS…"/>
          <p:cNvSpPr txBox="1"/>
          <p:nvPr/>
        </p:nvSpPr>
        <p:spPr>
          <a:xfrm>
            <a:off x="853752" y="1470895"/>
            <a:ext cx="10191636" cy="25800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p>
            <a:pPr algn="ctr">
              <a:lnSpc>
                <a:spcPct val="90000"/>
              </a:lnSpc>
              <a:defRPr sz="6000" b="1">
                <a:latin typeface="Playfair Display Bold"/>
                <a:ea typeface="Playfair Display Bold"/>
                <a:cs typeface="Playfair Display Bold"/>
                <a:sym typeface="Playfair Display Bold"/>
              </a:defRPr>
            </a:pPr>
            <a:r>
              <a:rPr sz="5000"/>
              <a:t>RESEARCH METHODS</a:t>
            </a:r>
          </a:p>
          <a:p>
            <a:pPr algn="ctr">
              <a:lnSpc>
                <a:spcPct val="90000"/>
              </a:lnSpc>
              <a:defRPr sz="6000" b="1">
                <a:latin typeface="Playfair Display Bold"/>
                <a:ea typeface="Playfair Display Bold"/>
                <a:cs typeface="Playfair Display Bold"/>
                <a:sym typeface="Playfair Display Bold"/>
              </a:defRPr>
            </a:pPr>
            <a:endParaRPr sz="5000"/>
          </a:p>
          <a:p>
            <a:pPr algn="ctr">
              <a:lnSpc>
                <a:spcPct val="90000"/>
              </a:lnSpc>
              <a:defRPr sz="6000" b="1">
                <a:latin typeface="Playfair Display Bold"/>
                <a:ea typeface="Playfair Display Bold"/>
                <a:cs typeface="Playfair Display Bold"/>
                <a:sym typeface="Playfair Display Bold"/>
              </a:defRPr>
            </a:pPr>
            <a:r>
              <a:rPr sz="5000"/>
              <a:t>DAY 4</a:t>
            </a:r>
          </a:p>
          <a:p>
            <a:pPr algn="ctr" defTabSz="380985">
              <a:defRPr sz="1600">
                <a:latin typeface="Playfair Display Bold"/>
                <a:ea typeface="Playfair Display Bold"/>
                <a:cs typeface="Playfair Display Bold"/>
                <a:sym typeface="Playfair Display Bold"/>
              </a:defRPr>
            </a:pPr>
            <a:endParaRPr sz="1333"/>
          </a:p>
          <a:p>
            <a:pPr algn="ctr" defTabSz="380985">
              <a:defRPr sz="1600">
                <a:latin typeface="Playfair Display Bold"/>
                <a:ea typeface="Playfair Display Bold"/>
                <a:cs typeface="Playfair Display Bold"/>
                <a:sym typeface="Playfair Display Bold"/>
              </a:defRPr>
            </a:pPr>
            <a:endParaRPr sz="1333"/>
          </a:p>
        </p:txBody>
      </p:sp>
      <p:sp>
        <p:nvSpPr>
          <p:cNvPr id="2256" name="Rectangle"/>
          <p:cNvSpPr/>
          <p:nvPr/>
        </p:nvSpPr>
        <p:spPr>
          <a:xfrm>
            <a:off x="-62743" y="-81"/>
            <a:ext cx="9701771" cy="586749"/>
          </a:xfrm>
          <a:prstGeom prst="rect">
            <a:avLst/>
          </a:prstGeom>
          <a:solidFill>
            <a:srgbClr val="FFFFFF"/>
          </a:solidFill>
          <a:ln w="12700">
            <a:miter lim="400000"/>
          </a:ln>
        </p:spPr>
        <p:txBody>
          <a:bodyPr lIns="38099" rIns="38099" anchor="ctr"/>
          <a:lstStyle/>
          <a:p>
            <a:endParaRPr sz="150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8" name="Text 0"/>
          <p:cNvSpPr txBox="1"/>
          <p:nvPr/>
        </p:nvSpPr>
        <p:spPr>
          <a:xfrm>
            <a:off x="661492" y="1971278"/>
            <a:ext cx="6297018"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Welcome to Day 4! </a:t>
            </a:r>
          </a:p>
        </p:txBody>
      </p:sp>
      <p:sp>
        <p:nvSpPr>
          <p:cNvPr id="2259" name="Shape 2"/>
          <p:cNvSpPr/>
          <p:nvPr/>
        </p:nvSpPr>
        <p:spPr>
          <a:xfrm>
            <a:off x="661492" y="4570016"/>
            <a:ext cx="302420" cy="302420"/>
          </a:xfrm>
          <a:prstGeom prst="roundRect">
            <a:avLst>
              <a:gd name="adj" fmla="val 50000"/>
            </a:avLst>
          </a:prstGeom>
          <a:ln w="7620">
            <a:solidFill>
              <a:srgbClr val="FFFFFF"/>
            </a:solidFill>
          </a:ln>
        </p:spPr>
        <p:txBody>
          <a:bodyPr lIns="38099" rIns="38099"/>
          <a:lstStyle/>
          <a:p>
            <a:endParaRPr sz="1500"/>
          </a:p>
        </p:txBody>
      </p:sp>
      <p:sp>
        <p:nvSpPr>
          <p:cNvPr id="2260" name="Text 0"/>
          <p:cNvSpPr txBox="1"/>
          <p:nvPr/>
        </p:nvSpPr>
        <p:spPr>
          <a:xfrm>
            <a:off x="619157" y="2978018"/>
            <a:ext cx="10312118" cy="11385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4583"/>
              </a:lnSpc>
              <a:defRPr sz="4400" b="1">
                <a:solidFill>
                  <a:srgbClr val="941751"/>
                </a:solidFill>
                <a:latin typeface="Playfair Display Bold"/>
                <a:ea typeface="Playfair Display Bold"/>
                <a:cs typeface="Playfair Display Bold"/>
                <a:sym typeface="Playfair Display Bold"/>
              </a:defRPr>
            </a:pPr>
            <a:r>
              <a:rPr sz="3667"/>
              <a:t>Let’s start with a fun Quiz!</a:t>
            </a:r>
          </a:p>
          <a:p>
            <a:pPr>
              <a:lnSpc>
                <a:spcPts val="4583"/>
              </a:lnSpc>
              <a:defRPr sz="4400">
                <a:latin typeface="Playfair Display Bold"/>
                <a:ea typeface="Playfair Display Bold"/>
                <a:cs typeface="Playfair Display Bold"/>
                <a:sym typeface="Playfair Display Bold"/>
              </a:defRPr>
            </a:pPr>
            <a:r>
              <a:rPr sz="3667"/>
              <a:t>And refresh our memories on source credibility.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2" name="Text 0"/>
          <p:cNvSpPr txBox="1"/>
          <p:nvPr/>
        </p:nvSpPr>
        <p:spPr>
          <a:xfrm>
            <a:off x="661491" y="1734045"/>
            <a:ext cx="226985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Question 1</a:t>
            </a:r>
          </a:p>
        </p:txBody>
      </p:sp>
      <p:sp>
        <p:nvSpPr>
          <p:cNvPr id="2263" name="Text 1"/>
          <p:cNvSpPr txBox="1"/>
          <p:nvPr/>
        </p:nvSpPr>
        <p:spPr>
          <a:xfrm>
            <a:off x="661491" y="2797174"/>
            <a:ext cx="10078080" cy="11798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2250"/>
              </a:lnSpc>
              <a:defRPr sz="3000" b="1">
                <a:latin typeface="Playfair Display Bold"/>
                <a:ea typeface="Playfair Display Bold"/>
                <a:cs typeface="Playfair Display Bold"/>
                <a:sym typeface="Playfair Display Bold"/>
              </a:defRPr>
            </a:pPr>
            <a:r>
              <a:rPr sz="2500"/>
              <a:t>True or False: A personal blog is a reliable source for scientific facts.</a:t>
            </a:r>
          </a:p>
          <a:p>
            <a:pPr>
              <a:lnSpc>
                <a:spcPts val="2250"/>
              </a:lnSpc>
              <a:defRPr sz="3000" b="1">
                <a:latin typeface="Playfair Display Bold"/>
                <a:ea typeface="Playfair Display Bold"/>
                <a:cs typeface="Playfair Display Bold"/>
                <a:sym typeface="Playfair Display Bold"/>
              </a:defRPr>
            </a:pPr>
            <a:endParaRPr sz="2500"/>
          </a:p>
          <a:p>
            <a:pPr>
              <a:lnSpc>
                <a:spcPts val="2250"/>
              </a:lnSpc>
              <a:defRPr sz="3000" b="1">
                <a:solidFill>
                  <a:srgbClr val="941751"/>
                </a:solidFill>
                <a:latin typeface="Playfair Display Bold"/>
                <a:ea typeface="Playfair Display Bold"/>
                <a:cs typeface="Playfair Display Bold"/>
                <a:sym typeface="Playfair Display Bold"/>
              </a:defRPr>
            </a:pPr>
            <a:endParaRPr sz="2500"/>
          </a:p>
          <a:p>
            <a:pPr>
              <a:lnSpc>
                <a:spcPts val="2250"/>
              </a:lnSpc>
              <a:defRPr sz="3000" b="1">
                <a:solidFill>
                  <a:srgbClr val="941751"/>
                </a:solidFill>
                <a:latin typeface="Playfair Display Bold"/>
                <a:ea typeface="Playfair Display Bold"/>
                <a:cs typeface="Playfair Display Bold"/>
                <a:sym typeface="Playfair Display Bold"/>
              </a:defRPr>
            </a:pPr>
            <a:r>
              <a:rPr sz="2500"/>
              <a:t>False!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6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6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6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6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 grpId="0" build="p" bldLvl="5"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5" name="Text 0"/>
          <p:cNvSpPr txBox="1"/>
          <p:nvPr/>
        </p:nvSpPr>
        <p:spPr>
          <a:xfrm>
            <a:off x="661491" y="1734045"/>
            <a:ext cx="2335576"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Question 2</a:t>
            </a:r>
          </a:p>
        </p:txBody>
      </p:sp>
      <p:sp>
        <p:nvSpPr>
          <p:cNvPr id="2266" name="Text 1"/>
          <p:cNvSpPr txBox="1"/>
          <p:nvPr/>
        </p:nvSpPr>
        <p:spPr>
          <a:xfrm>
            <a:off x="661491" y="2797175"/>
            <a:ext cx="13232790" cy="26930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defTabSz="380985">
              <a:defRPr sz="3000" b="1">
                <a:latin typeface="Arial"/>
                <a:ea typeface="Arial"/>
                <a:cs typeface="Arial"/>
                <a:sym typeface="Arial"/>
              </a:defRPr>
            </a:pPr>
            <a:r>
              <a:rPr sz="2500"/>
              <a:t>Which of the following is usually the MOST reliable for accurate scientific information?</a:t>
            </a:r>
          </a:p>
          <a:p>
            <a:pPr defTabSz="380985">
              <a:defRPr sz="3000">
                <a:latin typeface="Arial"/>
                <a:ea typeface="Arial"/>
                <a:cs typeface="Arial"/>
                <a:sym typeface="Arial"/>
              </a:defRPr>
            </a:pPr>
            <a:r>
              <a:rPr sz="2500"/>
              <a:t> A. Wikipedia</a:t>
            </a:r>
          </a:p>
          <a:p>
            <a:pPr defTabSz="380985">
              <a:defRPr sz="3000">
                <a:latin typeface="Arial"/>
                <a:ea typeface="Arial"/>
                <a:cs typeface="Arial"/>
                <a:sym typeface="Arial"/>
              </a:defRPr>
            </a:pPr>
            <a:r>
              <a:rPr sz="2500"/>
              <a:t> B. TikTok video</a:t>
            </a:r>
          </a:p>
          <a:p>
            <a:pPr defTabSz="380985">
              <a:defRPr sz="3000">
                <a:latin typeface="Arial"/>
                <a:ea typeface="Arial"/>
                <a:cs typeface="Arial"/>
                <a:sym typeface="Arial"/>
              </a:defRPr>
            </a:pPr>
            <a:r>
              <a:rPr sz="2500"/>
              <a:t> C. Peer-reviewed science journal</a:t>
            </a:r>
          </a:p>
          <a:p>
            <a:pPr defTabSz="380985">
              <a:defRPr sz="3000">
                <a:latin typeface="Arial"/>
                <a:ea typeface="Arial"/>
                <a:cs typeface="Arial"/>
                <a:sym typeface="Arial"/>
              </a:defRPr>
            </a:pPr>
            <a:r>
              <a:rPr sz="2500"/>
              <a:t> D. Reddit post</a:t>
            </a:r>
          </a:p>
          <a:p>
            <a:pPr defTabSz="380985">
              <a:defRPr sz="3000">
                <a:latin typeface="Arial"/>
                <a:ea typeface="Arial"/>
                <a:cs typeface="Arial"/>
                <a:sym typeface="Arial"/>
              </a:defRPr>
            </a:pPr>
            <a:endParaRPr sz="2500"/>
          </a:p>
          <a:p>
            <a:pPr defTabSz="380985">
              <a:defRPr sz="3000">
                <a:solidFill>
                  <a:srgbClr val="941751"/>
                </a:solidFill>
                <a:latin typeface="Arial"/>
                <a:ea typeface="Arial"/>
                <a:cs typeface="Arial"/>
                <a:sym typeface="Arial"/>
              </a:defRPr>
            </a:pPr>
            <a:r>
              <a:rPr sz="2500"/>
              <a:t>Answer: C</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6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6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6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6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6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26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266">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266">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2266">
                                            <p:txEl>
                                              <p:charRg st="181" end="18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6" grpId="0"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8" name="Text 0"/>
          <p:cNvSpPr txBox="1"/>
          <p:nvPr/>
        </p:nvSpPr>
        <p:spPr>
          <a:xfrm>
            <a:off x="661491" y="1734045"/>
            <a:ext cx="2319546"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Question 3</a:t>
            </a:r>
          </a:p>
        </p:txBody>
      </p:sp>
      <p:sp>
        <p:nvSpPr>
          <p:cNvPr id="2269" name="Text 1"/>
          <p:cNvSpPr txBox="1"/>
          <p:nvPr/>
        </p:nvSpPr>
        <p:spPr>
          <a:xfrm>
            <a:off x="661491" y="2797174"/>
            <a:ext cx="8824532" cy="30777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defTabSz="380985">
              <a:defRPr sz="3000" b="1">
                <a:latin typeface="Arial"/>
                <a:ea typeface="Arial"/>
                <a:cs typeface="Arial"/>
                <a:sym typeface="Arial"/>
              </a:defRPr>
            </a:pPr>
            <a:r>
              <a:rPr sz="2500"/>
              <a:t>What should you check to see if a website is trustworthy?</a:t>
            </a:r>
          </a:p>
          <a:p>
            <a:pPr defTabSz="380985">
              <a:defRPr sz="3000">
                <a:latin typeface="Arial"/>
                <a:ea typeface="Arial"/>
                <a:cs typeface="Arial"/>
                <a:sym typeface="Arial"/>
              </a:defRPr>
            </a:pPr>
            <a:r>
              <a:rPr sz="2500"/>
              <a:t>A. Its color and design</a:t>
            </a:r>
          </a:p>
          <a:p>
            <a:pPr defTabSz="380985">
              <a:defRPr sz="3000">
                <a:latin typeface="Arial"/>
                <a:ea typeface="Arial"/>
                <a:cs typeface="Arial"/>
                <a:sym typeface="Arial"/>
              </a:defRPr>
            </a:pPr>
            <a:r>
              <a:rPr sz="2500"/>
              <a:t>B. If it has ads</a:t>
            </a:r>
          </a:p>
          <a:p>
            <a:pPr defTabSz="380985">
              <a:defRPr sz="3000">
                <a:latin typeface="Arial"/>
                <a:ea typeface="Arial"/>
                <a:cs typeface="Arial"/>
                <a:sym typeface="Arial"/>
              </a:defRPr>
            </a:pPr>
            <a:r>
              <a:rPr sz="2500"/>
              <a:t>C. Who wrote it and when it was last updated</a:t>
            </a:r>
          </a:p>
          <a:p>
            <a:pPr defTabSz="380985">
              <a:defRPr sz="3000">
                <a:latin typeface="Arial"/>
                <a:ea typeface="Arial"/>
                <a:cs typeface="Arial"/>
                <a:sym typeface="Arial"/>
              </a:defRPr>
            </a:pPr>
            <a:r>
              <a:rPr sz="2500"/>
              <a:t>D. How many emojis it uses</a:t>
            </a:r>
          </a:p>
          <a:p>
            <a:pPr defTabSz="380985">
              <a:defRPr sz="3000">
                <a:latin typeface="Arial"/>
                <a:ea typeface="Arial"/>
                <a:cs typeface="Arial"/>
                <a:sym typeface="Arial"/>
              </a:defRPr>
            </a:pPr>
            <a:endParaRPr sz="2500"/>
          </a:p>
          <a:p>
            <a:pPr defTabSz="380985">
              <a:defRPr sz="3000">
                <a:latin typeface="Arial"/>
                <a:ea typeface="Arial"/>
                <a:cs typeface="Arial"/>
                <a:sym typeface="Arial"/>
              </a:defRPr>
            </a:pPr>
            <a:endParaRPr sz="2500"/>
          </a:p>
          <a:p>
            <a:pPr defTabSz="380985">
              <a:defRPr sz="3000">
                <a:solidFill>
                  <a:srgbClr val="941751"/>
                </a:solidFill>
                <a:latin typeface="Arial"/>
                <a:ea typeface="Arial"/>
                <a:cs typeface="Arial"/>
                <a:sym typeface="Arial"/>
              </a:defRPr>
            </a:pPr>
            <a:r>
              <a:rPr sz="2500"/>
              <a:t>Answer: C</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6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6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6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6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6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269">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269">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269">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2269">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2269">
                                            <p:txEl>
                                              <p:charRg st="183" end="18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9" grpId="0" build="p" bldLvl="5"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1" name="Text 0"/>
          <p:cNvSpPr txBox="1"/>
          <p:nvPr/>
        </p:nvSpPr>
        <p:spPr>
          <a:xfrm>
            <a:off x="661491" y="1734045"/>
            <a:ext cx="233878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Question 4</a:t>
            </a:r>
          </a:p>
        </p:txBody>
      </p:sp>
      <p:sp>
        <p:nvSpPr>
          <p:cNvPr id="2272" name="Text 1"/>
          <p:cNvSpPr txBox="1"/>
          <p:nvPr/>
        </p:nvSpPr>
        <p:spPr>
          <a:xfrm>
            <a:off x="661491" y="2797174"/>
            <a:ext cx="9342173" cy="30777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defTabSz="380985">
              <a:defRPr sz="3000" b="1">
                <a:latin typeface="Arial"/>
                <a:ea typeface="Arial"/>
                <a:cs typeface="Arial"/>
                <a:sym typeface="Arial"/>
              </a:defRPr>
            </a:pPr>
            <a:r>
              <a:rPr sz="2500"/>
              <a:t>Which source is the least likely to be biased?</a:t>
            </a:r>
          </a:p>
          <a:p>
            <a:pPr defTabSz="380985">
              <a:defRPr sz="3000">
                <a:latin typeface="Arial"/>
                <a:ea typeface="Arial"/>
                <a:cs typeface="Arial"/>
                <a:sym typeface="Arial"/>
              </a:defRPr>
            </a:pPr>
            <a:r>
              <a:rPr sz="2500"/>
              <a:t>A. A product review written by the company that made the product</a:t>
            </a:r>
          </a:p>
          <a:p>
            <a:pPr defTabSz="380985">
              <a:defRPr sz="3000">
                <a:latin typeface="Arial"/>
                <a:ea typeface="Arial"/>
                <a:cs typeface="Arial"/>
                <a:sym typeface="Arial"/>
              </a:defRPr>
            </a:pPr>
            <a:r>
              <a:rPr sz="2500"/>
              <a:t>B. A university study published in a journal</a:t>
            </a:r>
          </a:p>
          <a:p>
            <a:pPr defTabSz="380985">
              <a:defRPr sz="3000">
                <a:latin typeface="Arial"/>
                <a:ea typeface="Arial"/>
                <a:cs typeface="Arial"/>
                <a:sym typeface="Arial"/>
              </a:defRPr>
            </a:pPr>
            <a:r>
              <a:rPr sz="2500"/>
              <a:t>C. A celebrity’s opinion on a diet trend</a:t>
            </a:r>
          </a:p>
          <a:p>
            <a:pPr defTabSz="380985">
              <a:defRPr sz="3000">
                <a:latin typeface="Arial"/>
                <a:ea typeface="Arial"/>
                <a:cs typeface="Arial"/>
                <a:sym typeface="Arial"/>
              </a:defRPr>
            </a:pPr>
            <a:r>
              <a:rPr sz="2500"/>
              <a:t>D. A tweet from a random user</a:t>
            </a:r>
          </a:p>
          <a:p>
            <a:pPr defTabSz="380985">
              <a:defRPr sz="3000">
                <a:latin typeface="Arial"/>
                <a:ea typeface="Arial"/>
                <a:cs typeface="Arial"/>
                <a:sym typeface="Arial"/>
              </a:defRPr>
            </a:pPr>
            <a:endParaRPr sz="2500"/>
          </a:p>
          <a:p>
            <a:pPr defTabSz="380985">
              <a:defRPr sz="3000">
                <a:latin typeface="Arial"/>
                <a:ea typeface="Arial"/>
                <a:cs typeface="Arial"/>
                <a:sym typeface="Arial"/>
              </a:defRPr>
            </a:pPr>
            <a:endParaRPr sz="2500"/>
          </a:p>
          <a:p>
            <a:pPr defTabSz="380985">
              <a:defRPr sz="3000">
                <a:solidFill>
                  <a:srgbClr val="941751"/>
                </a:solidFill>
                <a:latin typeface="Arial"/>
                <a:ea typeface="Arial"/>
                <a:cs typeface="Arial"/>
                <a:sym typeface="Arial"/>
              </a:defRPr>
            </a:pPr>
            <a:r>
              <a:rPr sz="2500"/>
              <a:t>Answer: B</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72">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7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7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7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7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27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272">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272">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2272">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2272">
                                            <p:txEl>
                                              <p:charRg st="240" end="24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2" grpId="0" build="p" bldLvl="5"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4" name="Text 0"/>
          <p:cNvSpPr txBox="1"/>
          <p:nvPr/>
        </p:nvSpPr>
        <p:spPr>
          <a:xfrm>
            <a:off x="661491" y="1734045"/>
            <a:ext cx="230672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Question 5</a:t>
            </a:r>
          </a:p>
        </p:txBody>
      </p:sp>
      <p:sp>
        <p:nvSpPr>
          <p:cNvPr id="2275" name="Text 1"/>
          <p:cNvSpPr txBox="1"/>
          <p:nvPr/>
        </p:nvSpPr>
        <p:spPr>
          <a:xfrm>
            <a:off x="661491" y="2797175"/>
            <a:ext cx="11059368" cy="14747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2250"/>
              </a:lnSpc>
              <a:defRPr sz="3000" b="1">
                <a:latin typeface="Playfair Display Bold"/>
                <a:ea typeface="Playfair Display Bold"/>
                <a:cs typeface="Playfair Display Bold"/>
                <a:sym typeface="Playfair Display Bold"/>
              </a:defRPr>
            </a:pPr>
            <a:r>
              <a:rPr sz="2500"/>
              <a:t>True or False:  An article that includes sources and references is more trustworthy than one that doesn’t.</a:t>
            </a:r>
          </a:p>
          <a:p>
            <a:pPr>
              <a:lnSpc>
                <a:spcPts val="2250"/>
              </a:lnSpc>
              <a:defRPr sz="3000" b="1">
                <a:latin typeface="Playfair Display Bold"/>
                <a:ea typeface="Playfair Display Bold"/>
                <a:cs typeface="Playfair Display Bold"/>
                <a:sym typeface="Playfair Display Bold"/>
              </a:defRPr>
            </a:pPr>
            <a:endParaRPr sz="2500"/>
          </a:p>
          <a:p>
            <a:pPr>
              <a:lnSpc>
                <a:spcPts val="2250"/>
              </a:lnSpc>
              <a:defRPr sz="3000" b="1">
                <a:solidFill>
                  <a:srgbClr val="941751"/>
                </a:solidFill>
                <a:latin typeface="Playfair Display Bold"/>
                <a:ea typeface="Playfair Display Bold"/>
                <a:cs typeface="Playfair Display Bold"/>
                <a:sym typeface="Playfair Display Bold"/>
              </a:defRPr>
            </a:pPr>
            <a:endParaRPr sz="2500"/>
          </a:p>
          <a:p>
            <a:pPr>
              <a:lnSpc>
                <a:spcPts val="2250"/>
              </a:lnSpc>
              <a:defRPr sz="3000" b="1">
                <a:solidFill>
                  <a:srgbClr val="941751"/>
                </a:solidFill>
                <a:latin typeface="Playfair Display Bold"/>
                <a:ea typeface="Playfair Display Bold"/>
                <a:cs typeface="Playfair Display Bold"/>
                <a:sym typeface="Playfair Display Bold"/>
              </a:defRPr>
            </a:pPr>
            <a:r>
              <a:rPr sz="2500"/>
              <a:t>True!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7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7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7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7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5" grpId="0" build="p" bldLvl="5"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7" name="Text 0"/>
          <p:cNvSpPr txBox="1"/>
          <p:nvPr/>
        </p:nvSpPr>
        <p:spPr>
          <a:xfrm>
            <a:off x="661491" y="1734045"/>
            <a:ext cx="235481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Question 6</a:t>
            </a:r>
          </a:p>
        </p:txBody>
      </p:sp>
      <p:sp>
        <p:nvSpPr>
          <p:cNvPr id="2278" name="Text 1"/>
          <p:cNvSpPr txBox="1"/>
          <p:nvPr/>
        </p:nvSpPr>
        <p:spPr>
          <a:xfrm>
            <a:off x="661491" y="2797174"/>
            <a:ext cx="10869018" cy="11798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2250"/>
              </a:lnSpc>
              <a:defRPr sz="3000" b="1">
                <a:latin typeface="Playfair Display Bold"/>
                <a:ea typeface="Playfair Display Bold"/>
                <a:cs typeface="Playfair Display Bold"/>
                <a:sym typeface="Playfair Display Bold"/>
              </a:defRPr>
            </a:pPr>
            <a:r>
              <a:rPr sz="2500"/>
              <a:t>True or False:  All information on the internet is true if it has lots of likes or views.</a:t>
            </a:r>
          </a:p>
          <a:p>
            <a:pPr>
              <a:lnSpc>
                <a:spcPts val="2250"/>
              </a:lnSpc>
              <a:defRPr sz="3000" b="1">
                <a:latin typeface="Playfair Display Bold"/>
                <a:ea typeface="Playfair Display Bold"/>
                <a:cs typeface="Playfair Display Bold"/>
                <a:sym typeface="Playfair Display Bold"/>
              </a:defRPr>
            </a:pPr>
            <a:endParaRPr sz="2500"/>
          </a:p>
          <a:p>
            <a:pPr>
              <a:lnSpc>
                <a:spcPts val="2250"/>
              </a:lnSpc>
              <a:defRPr sz="3000" b="1">
                <a:solidFill>
                  <a:srgbClr val="941751"/>
                </a:solidFill>
                <a:latin typeface="Playfair Display Bold"/>
                <a:ea typeface="Playfair Display Bold"/>
                <a:cs typeface="Playfair Display Bold"/>
                <a:sym typeface="Playfair Display Bold"/>
              </a:defRPr>
            </a:pPr>
            <a:r>
              <a:rPr sz="2500"/>
              <a:t>False!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7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7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7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7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8" grpId="0" build="p" bldLvl="5"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0" name="Text 0"/>
          <p:cNvSpPr txBox="1"/>
          <p:nvPr/>
        </p:nvSpPr>
        <p:spPr>
          <a:xfrm>
            <a:off x="661491" y="1734045"/>
            <a:ext cx="2303516"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Question 7</a:t>
            </a:r>
          </a:p>
        </p:txBody>
      </p:sp>
      <p:sp>
        <p:nvSpPr>
          <p:cNvPr id="2281" name="Text 1"/>
          <p:cNvSpPr txBox="1"/>
          <p:nvPr/>
        </p:nvSpPr>
        <p:spPr>
          <a:xfrm>
            <a:off x="661491" y="2807757"/>
            <a:ext cx="10971766" cy="20646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2250"/>
              </a:lnSpc>
              <a:defRPr sz="3000" b="1">
                <a:latin typeface="Playfair Display Bold"/>
                <a:ea typeface="Playfair Display Bold"/>
                <a:cs typeface="Playfair Display Bold"/>
                <a:sym typeface="Playfair Display Bold"/>
              </a:defRPr>
            </a:pPr>
            <a:r>
              <a:rPr sz="2500"/>
              <a:t>True or False:   It's okay to use Wikipedia as a starting point, but you should double-check the facts with more reliable sources.</a:t>
            </a:r>
          </a:p>
          <a:p>
            <a:pPr>
              <a:lnSpc>
                <a:spcPts val="2250"/>
              </a:lnSpc>
              <a:defRPr sz="3000" b="1">
                <a:latin typeface="Playfair Display Bold"/>
                <a:ea typeface="Playfair Display Bold"/>
                <a:cs typeface="Playfair Display Bold"/>
                <a:sym typeface="Playfair Display Bold"/>
              </a:defRPr>
            </a:pPr>
            <a:endParaRPr sz="2500"/>
          </a:p>
          <a:p>
            <a:pPr>
              <a:lnSpc>
                <a:spcPts val="2250"/>
              </a:lnSpc>
              <a:defRPr sz="3000" b="1">
                <a:solidFill>
                  <a:srgbClr val="942193"/>
                </a:solidFill>
                <a:latin typeface="Playfair Display Bold"/>
                <a:ea typeface="Playfair Display Bold"/>
                <a:cs typeface="Playfair Display Bold"/>
                <a:sym typeface="Playfair Display Bold"/>
              </a:defRPr>
            </a:pPr>
            <a:endParaRPr sz="2500"/>
          </a:p>
          <a:p>
            <a:pPr>
              <a:lnSpc>
                <a:spcPts val="2250"/>
              </a:lnSpc>
              <a:defRPr sz="3000" b="1">
                <a:solidFill>
                  <a:srgbClr val="942193"/>
                </a:solidFill>
                <a:latin typeface="Playfair Display Bold"/>
                <a:ea typeface="Playfair Display Bold"/>
                <a:cs typeface="Playfair Display Bold"/>
                <a:sym typeface="Playfair Display Bold"/>
              </a:defRPr>
            </a:pPr>
            <a:r>
              <a:rPr sz="2500"/>
              <a:t>False!</a:t>
            </a:r>
          </a:p>
          <a:p>
            <a:pPr>
              <a:lnSpc>
                <a:spcPts val="2250"/>
              </a:lnSpc>
              <a:defRPr sz="3000" b="1">
                <a:latin typeface="Playfair Display Bold"/>
                <a:ea typeface="Playfair Display Bold"/>
                <a:cs typeface="Playfair Display Bold"/>
                <a:sym typeface="Playfair Display Bold"/>
              </a:defRPr>
            </a:pPr>
            <a:endParaRPr sz="2500"/>
          </a:p>
          <a:p>
            <a:pPr>
              <a:lnSpc>
                <a:spcPts val="2250"/>
              </a:lnSpc>
              <a:defRPr sz="3000" b="1">
                <a:solidFill>
                  <a:srgbClr val="941751"/>
                </a:solidFill>
                <a:latin typeface="Playfair Display Bold"/>
                <a:ea typeface="Playfair Display Bold"/>
                <a:cs typeface="Playfair Display Bold"/>
                <a:sym typeface="Playfair Display Bold"/>
              </a:defRPr>
            </a:pPr>
            <a:r>
              <a:rPr sz="2500"/>
              <a:t>True!!!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81">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8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8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8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8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281">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28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1" grpId="0" build="p" bldLvl="5"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 name="Text 0"/>
          <p:cNvSpPr txBox="1"/>
          <p:nvPr/>
        </p:nvSpPr>
        <p:spPr>
          <a:xfrm>
            <a:off x="661491" y="1734045"/>
            <a:ext cx="235481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Question 8</a:t>
            </a:r>
          </a:p>
        </p:txBody>
      </p:sp>
      <p:sp>
        <p:nvSpPr>
          <p:cNvPr id="2284" name="Text 1"/>
          <p:cNvSpPr txBox="1"/>
          <p:nvPr/>
        </p:nvSpPr>
        <p:spPr>
          <a:xfrm>
            <a:off x="661491" y="2797174"/>
            <a:ext cx="10074756" cy="34624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defTabSz="380985">
              <a:defRPr sz="3000" b="1">
                <a:latin typeface="Arial"/>
                <a:ea typeface="Arial"/>
                <a:cs typeface="Arial"/>
                <a:sym typeface="Arial"/>
              </a:defRPr>
            </a:pPr>
            <a:r>
              <a:rPr sz="2500"/>
              <a:t> Which of these sources would most likely be considered a primary source?</a:t>
            </a:r>
          </a:p>
          <a:p>
            <a:pPr defTabSz="380985">
              <a:defRPr sz="3000">
                <a:latin typeface="Arial"/>
                <a:ea typeface="Arial"/>
                <a:cs typeface="Arial"/>
                <a:sym typeface="Arial"/>
              </a:defRPr>
            </a:pPr>
            <a:r>
              <a:rPr sz="2500"/>
              <a:t>A. A YouTube video about World War II</a:t>
            </a:r>
          </a:p>
          <a:p>
            <a:pPr defTabSz="380985">
              <a:defRPr sz="3000">
                <a:latin typeface="Arial"/>
                <a:ea typeface="Arial"/>
                <a:cs typeface="Arial"/>
                <a:sym typeface="Arial"/>
              </a:defRPr>
            </a:pPr>
            <a:r>
              <a:rPr sz="2500"/>
              <a:t>B. A soldier’s diary from World War II</a:t>
            </a:r>
          </a:p>
          <a:p>
            <a:pPr defTabSz="380985">
              <a:defRPr sz="3000">
                <a:latin typeface="Arial"/>
                <a:ea typeface="Arial"/>
                <a:cs typeface="Arial"/>
                <a:sym typeface="Arial"/>
              </a:defRPr>
            </a:pPr>
            <a:r>
              <a:rPr sz="2500"/>
              <a:t>C. A news article written last week about World War II</a:t>
            </a:r>
          </a:p>
          <a:p>
            <a:pPr defTabSz="380985">
              <a:defRPr sz="3000">
                <a:latin typeface="Arial"/>
                <a:ea typeface="Arial"/>
                <a:cs typeface="Arial"/>
                <a:sym typeface="Arial"/>
              </a:defRPr>
            </a:pPr>
            <a:r>
              <a:rPr sz="2500"/>
              <a:t>D. A textbook chapter on World War II</a:t>
            </a:r>
          </a:p>
          <a:p>
            <a:pPr defTabSz="380985">
              <a:defRPr sz="3000">
                <a:latin typeface="Arial"/>
                <a:ea typeface="Arial"/>
                <a:cs typeface="Arial"/>
                <a:sym typeface="Arial"/>
              </a:defRPr>
            </a:pPr>
            <a:endParaRPr sz="2500"/>
          </a:p>
          <a:p>
            <a:pPr defTabSz="380985">
              <a:defRPr sz="3000">
                <a:latin typeface="Arial"/>
                <a:ea typeface="Arial"/>
                <a:cs typeface="Arial"/>
                <a:sym typeface="Arial"/>
              </a:defRPr>
            </a:pPr>
            <a:endParaRPr sz="2500"/>
          </a:p>
          <a:p>
            <a:pPr defTabSz="380985">
              <a:defRPr sz="3000">
                <a:solidFill>
                  <a:srgbClr val="941751"/>
                </a:solidFill>
                <a:latin typeface="Arial"/>
                <a:ea typeface="Arial"/>
                <a:cs typeface="Arial"/>
                <a:sym typeface="Arial"/>
              </a:defRPr>
            </a:pPr>
            <a:r>
              <a:rPr sz="2500"/>
              <a:t>Answer: B</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84">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8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8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8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8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28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28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284">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2284">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2284">
                                            <p:txEl>
                                              <p:charRg st="256" end="25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4" grpId="0" build="p" bldLvl="5"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6" name="Text 0"/>
          <p:cNvSpPr txBox="1"/>
          <p:nvPr/>
        </p:nvSpPr>
        <p:spPr>
          <a:xfrm>
            <a:off x="661491" y="1734045"/>
            <a:ext cx="235000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Question 9</a:t>
            </a:r>
          </a:p>
        </p:txBody>
      </p:sp>
      <p:sp>
        <p:nvSpPr>
          <p:cNvPr id="2287" name="Text 1"/>
          <p:cNvSpPr txBox="1"/>
          <p:nvPr/>
        </p:nvSpPr>
        <p:spPr>
          <a:xfrm>
            <a:off x="661491" y="2797174"/>
            <a:ext cx="10591355" cy="34624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defTabSz="380985">
              <a:defRPr sz="3000" b="1">
                <a:latin typeface="Arial"/>
                <a:ea typeface="Arial"/>
                <a:cs typeface="Arial"/>
                <a:sym typeface="Arial"/>
              </a:defRPr>
            </a:pPr>
            <a:r>
              <a:rPr sz="2500"/>
              <a:t> Which of these sources is usually written by experts and reviewed before being published?</a:t>
            </a:r>
          </a:p>
          <a:p>
            <a:pPr defTabSz="380985">
              <a:defRPr sz="3000">
                <a:latin typeface="Arial"/>
                <a:ea typeface="Arial"/>
                <a:cs typeface="Arial"/>
                <a:sym typeface="Arial"/>
              </a:defRPr>
            </a:pPr>
            <a:r>
              <a:rPr sz="2500"/>
              <a:t>A. Peer-reviewed journal</a:t>
            </a:r>
          </a:p>
          <a:p>
            <a:pPr defTabSz="380985">
              <a:defRPr sz="3000">
                <a:latin typeface="Arial"/>
                <a:ea typeface="Arial"/>
                <a:cs typeface="Arial"/>
                <a:sym typeface="Arial"/>
              </a:defRPr>
            </a:pPr>
            <a:r>
              <a:rPr sz="2500"/>
              <a:t>B. Instagram story</a:t>
            </a:r>
          </a:p>
          <a:p>
            <a:pPr defTabSz="380985">
              <a:defRPr sz="3000">
                <a:latin typeface="Arial"/>
                <a:ea typeface="Arial"/>
                <a:cs typeface="Arial"/>
                <a:sym typeface="Arial"/>
              </a:defRPr>
            </a:pPr>
            <a:r>
              <a:rPr sz="2500"/>
              <a:t>C. Student opinion piece</a:t>
            </a:r>
          </a:p>
          <a:p>
            <a:pPr defTabSz="380985">
              <a:defRPr sz="3000">
                <a:latin typeface="Arial"/>
                <a:ea typeface="Arial"/>
                <a:cs typeface="Arial"/>
                <a:sym typeface="Arial"/>
              </a:defRPr>
            </a:pPr>
            <a:r>
              <a:rPr sz="2500"/>
              <a:t>D. Online ad</a:t>
            </a:r>
          </a:p>
          <a:p>
            <a:pPr defTabSz="380985">
              <a:defRPr sz="3000">
                <a:latin typeface="Arial"/>
                <a:ea typeface="Arial"/>
                <a:cs typeface="Arial"/>
                <a:sym typeface="Arial"/>
              </a:defRPr>
            </a:pPr>
            <a:endParaRPr sz="2500"/>
          </a:p>
          <a:p>
            <a:pPr defTabSz="380985">
              <a:defRPr sz="3000">
                <a:latin typeface="Arial"/>
                <a:ea typeface="Arial"/>
                <a:cs typeface="Arial"/>
                <a:sym typeface="Arial"/>
              </a:defRPr>
            </a:pPr>
            <a:endParaRPr sz="2500"/>
          </a:p>
          <a:p>
            <a:pPr defTabSz="380985">
              <a:defRPr sz="3000">
                <a:solidFill>
                  <a:srgbClr val="941751"/>
                </a:solidFill>
                <a:latin typeface="Arial"/>
                <a:ea typeface="Arial"/>
                <a:cs typeface="Arial"/>
                <a:sym typeface="Arial"/>
              </a:defRPr>
            </a:pPr>
            <a:r>
              <a:rPr sz="2500"/>
              <a:t>Answer: 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87">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8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8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8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8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28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287">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287">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2287">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2287">
                                            <p:txEl>
                                              <p:charRg st="185" end="18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7" grpId="0" build="p" bldLvl="5"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9" name="Text 0"/>
          <p:cNvSpPr txBox="1"/>
          <p:nvPr/>
        </p:nvSpPr>
        <p:spPr>
          <a:xfrm>
            <a:off x="661491" y="1734045"/>
            <a:ext cx="2572820"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Question 10</a:t>
            </a:r>
          </a:p>
        </p:txBody>
      </p:sp>
      <p:sp>
        <p:nvSpPr>
          <p:cNvPr id="2290" name="Text 1"/>
          <p:cNvSpPr txBox="1"/>
          <p:nvPr/>
        </p:nvSpPr>
        <p:spPr>
          <a:xfrm>
            <a:off x="661491" y="2797174"/>
            <a:ext cx="7424148" cy="30777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defTabSz="380985">
              <a:defRPr sz="3000" b="1">
                <a:latin typeface="Arial"/>
                <a:ea typeface="Arial"/>
                <a:cs typeface="Arial"/>
                <a:sym typeface="Arial"/>
              </a:defRPr>
            </a:pPr>
            <a:r>
              <a:rPr sz="2500"/>
              <a:t>Which of these shows bias in a source?</a:t>
            </a:r>
          </a:p>
          <a:p>
            <a:pPr defTabSz="380985">
              <a:defRPr sz="3000">
                <a:latin typeface="Arial"/>
                <a:ea typeface="Arial"/>
                <a:cs typeface="Arial"/>
                <a:sym typeface="Arial"/>
              </a:defRPr>
            </a:pPr>
            <a:r>
              <a:rPr sz="2500"/>
              <a:t>A. The author includes only one side of an argument</a:t>
            </a:r>
          </a:p>
          <a:p>
            <a:pPr defTabSz="380985">
              <a:defRPr sz="3000">
                <a:latin typeface="Arial"/>
                <a:ea typeface="Arial"/>
                <a:cs typeface="Arial"/>
                <a:sym typeface="Arial"/>
              </a:defRPr>
            </a:pPr>
            <a:r>
              <a:rPr sz="2500"/>
              <a:t>B. The source shows both pros and cons</a:t>
            </a:r>
          </a:p>
          <a:p>
            <a:pPr defTabSz="380985">
              <a:defRPr sz="3000">
                <a:latin typeface="Arial"/>
                <a:ea typeface="Arial"/>
                <a:cs typeface="Arial"/>
                <a:sym typeface="Arial"/>
              </a:defRPr>
            </a:pPr>
            <a:r>
              <a:rPr sz="2500"/>
              <a:t>C. The author lists sources at the end</a:t>
            </a:r>
          </a:p>
          <a:p>
            <a:pPr defTabSz="380985">
              <a:defRPr sz="3000">
                <a:latin typeface="Arial"/>
                <a:ea typeface="Arial"/>
                <a:cs typeface="Arial"/>
                <a:sym typeface="Arial"/>
              </a:defRPr>
            </a:pPr>
            <a:r>
              <a:rPr sz="2500"/>
              <a:t>D. The source has a publication date</a:t>
            </a:r>
          </a:p>
          <a:p>
            <a:pPr defTabSz="380985">
              <a:defRPr sz="3000">
                <a:latin typeface="Arial"/>
                <a:ea typeface="Arial"/>
                <a:cs typeface="Arial"/>
                <a:sym typeface="Arial"/>
              </a:defRPr>
            </a:pPr>
            <a:endParaRPr sz="2500"/>
          </a:p>
          <a:p>
            <a:pPr defTabSz="380985">
              <a:defRPr sz="3000">
                <a:latin typeface="Arial"/>
                <a:ea typeface="Arial"/>
                <a:cs typeface="Arial"/>
                <a:sym typeface="Arial"/>
              </a:defRPr>
            </a:pPr>
            <a:endParaRPr sz="2500"/>
          </a:p>
          <a:p>
            <a:pPr defTabSz="380985">
              <a:defRPr sz="3000">
                <a:solidFill>
                  <a:srgbClr val="941751"/>
                </a:solidFill>
                <a:latin typeface="Arial"/>
                <a:ea typeface="Arial"/>
                <a:cs typeface="Arial"/>
                <a:sym typeface="Arial"/>
              </a:defRPr>
            </a:pPr>
            <a:r>
              <a:rPr sz="2500"/>
              <a:t>Answer: 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9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9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9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9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9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29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29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290">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229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0" grpId="0" build="p" bldLvl="5"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2" name="Text 0"/>
          <p:cNvSpPr txBox="1"/>
          <p:nvPr/>
        </p:nvSpPr>
        <p:spPr>
          <a:xfrm>
            <a:off x="661491" y="1734045"/>
            <a:ext cx="3464090"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Bonus Question</a:t>
            </a:r>
          </a:p>
        </p:txBody>
      </p:sp>
      <p:sp>
        <p:nvSpPr>
          <p:cNvPr id="2293" name="Text 1"/>
          <p:cNvSpPr txBox="1"/>
          <p:nvPr/>
        </p:nvSpPr>
        <p:spPr>
          <a:xfrm>
            <a:off x="661491" y="2797175"/>
            <a:ext cx="10113793" cy="14747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2250"/>
              </a:lnSpc>
              <a:defRPr sz="3000" b="1">
                <a:latin typeface="Playfair Display Bold"/>
                <a:ea typeface="Playfair Display Bold"/>
                <a:cs typeface="Playfair Display Bold"/>
                <a:sym typeface="Playfair Display Bold"/>
              </a:defRPr>
            </a:pPr>
            <a:r>
              <a:rPr sz="2500"/>
              <a:t>True or False:  A website with lots of ads and pop-ups might not be a good place to find trustworthy information.</a:t>
            </a:r>
          </a:p>
          <a:p>
            <a:pPr>
              <a:lnSpc>
                <a:spcPts val="2250"/>
              </a:lnSpc>
              <a:defRPr sz="3000" b="1">
                <a:latin typeface="Playfair Display Bold"/>
                <a:ea typeface="Playfair Display Bold"/>
                <a:cs typeface="Playfair Display Bold"/>
                <a:sym typeface="Playfair Display Bold"/>
              </a:defRPr>
            </a:pPr>
            <a:endParaRPr sz="2500"/>
          </a:p>
          <a:p>
            <a:pPr>
              <a:lnSpc>
                <a:spcPts val="2250"/>
              </a:lnSpc>
              <a:defRPr sz="3000" b="1">
                <a:solidFill>
                  <a:srgbClr val="941751"/>
                </a:solidFill>
                <a:latin typeface="Playfair Display Bold"/>
                <a:ea typeface="Playfair Display Bold"/>
                <a:cs typeface="Playfair Display Bold"/>
                <a:sym typeface="Playfair Display Bold"/>
              </a:defRPr>
            </a:pPr>
            <a:endParaRPr sz="2500"/>
          </a:p>
          <a:p>
            <a:pPr>
              <a:lnSpc>
                <a:spcPts val="2250"/>
              </a:lnSpc>
              <a:defRPr sz="3000" b="1">
                <a:solidFill>
                  <a:srgbClr val="941751"/>
                </a:solidFill>
                <a:latin typeface="Playfair Display Bold"/>
                <a:ea typeface="Playfair Display Bold"/>
                <a:cs typeface="Playfair Display Bold"/>
                <a:sym typeface="Playfair Display Bold"/>
              </a:defRPr>
            </a:pPr>
            <a:r>
              <a:rPr sz="2500"/>
              <a:t>True!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9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9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9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9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9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 grpId="0" build="p" bldLvl="5"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5" name="Text 0"/>
          <p:cNvSpPr txBox="1"/>
          <p:nvPr/>
        </p:nvSpPr>
        <p:spPr>
          <a:xfrm>
            <a:off x="661491" y="1734045"/>
            <a:ext cx="666849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Reliable vs. Unreliable Sources</a:t>
            </a:r>
          </a:p>
        </p:txBody>
      </p:sp>
      <p:sp>
        <p:nvSpPr>
          <p:cNvPr id="2296" name="Text 1"/>
          <p:cNvSpPr txBox="1"/>
          <p:nvPr/>
        </p:nvSpPr>
        <p:spPr>
          <a:xfrm>
            <a:off x="661491" y="2797174"/>
            <a:ext cx="2127185" cy="3225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600" b="1">
                <a:solidFill>
                  <a:srgbClr val="941751"/>
                </a:solidFill>
                <a:latin typeface="Playfair Display Bold"/>
                <a:ea typeface="Playfair Display Bold"/>
                <a:cs typeface="Playfair Display Bold"/>
                <a:sym typeface="Playfair Display Bold"/>
              </a:defRPr>
            </a:lvl1pPr>
          </a:lstStyle>
          <a:p>
            <a:r>
              <a:rPr sz="2167"/>
              <a:t>Reliable Sources</a:t>
            </a:r>
          </a:p>
        </p:txBody>
      </p:sp>
      <p:sp>
        <p:nvSpPr>
          <p:cNvPr id="2297" name="Text 2"/>
          <p:cNvSpPr txBox="1"/>
          <p:nvPr/>
        </p:nvSpPr>
        <p:spPr>
          <a:xfrm>
            <a:off x="661491" y="3281461"/>
            <a:ext cx="3546484" cy="339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500">
                <a:latin typeface="Inter"/>
                <a:ea typeface="Inter"/>
                <a:cs typeface="Inter"/>
                <a:sym typeface="Inter"/>
              </a:defRPr>
            </a:lvl1pPr>
          </a:lstStyle>
          <a:p>
            <a:r>
              <a:rPr sz="2083"/>
              <a:t>Backed by verifiable evidence</a:t>
            </a:r>
          </a:p>
        </p:txBody>
      </p:sp>
      <p:sp>
        <p:nvSpPr>
          <p:cNvPr id="2298" name="Text 3"/>
          <p:cNvSpPr txBox="1"/>
          <p:nvPr/>
        </p:nvSpPr>
        <p:spPr>
          <a:xfrm>
            <a:off x="661491" y="3649960"/>
            <a:ext cx="2385461" cy="339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500">
                <a:latin typeface="Inter"/>
                <a:ea typeface="Inter"/>
                <a:cs typeface="Inter"/>
                <a:sym typeface="Inter"/>
              </a:defRPr>
            </a:lvl1pPr>
          </a:lstStyle>
          <a:p>
            <a:r>
              <a:rPr sz="2083"/>
              <a:t>Created by experts</a:t>
            </a:r>
          </a:p>
        </p:txBody>
      </p:sp>
      <p:sp>
        <p:nvSpPr>
          <p:cNvPr id="2299" name="Text 4"/>
          <p:cNvSpPr txBox="1"/>
          <p:nvPr/>
        </p:nvSpPr>
        <p:spPr>
          <a:xfrm>
            <a:off x="661491" y="4018458"/>
            <a:ext cx="3194977" cy="339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500">
                <a:latin typeface="Inter"/>
                <a:ea typeface="Inter"/>
                <a:cs typeface="Inter"/>
                <a:sym typeface="Inter"/>
              </a:defRPr>
            </a:lvl1pPr>
          </a:lstStyle>
          <a:p>
            <a:r>
              <a:rPr sz="2083"/>
              <a:t>Undergo review processes</a:t>
            </a:r>
          </a:p>
        </p:txBody>
      </p:sp>
      <p:sp>
        <p:nvSpPr>
          <p:cNvPr id="2300" name="Text 5"/>
          <p:cNvSpPr txBox="1"/>
          <p:nvPr/>
        </p:nvSpPr>
        <p:spPr>
          <a:xfrm>
            <a:off x="661491" y="4386957"/>
            <a:ext cx="3365730" cy="339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500">
                <a:latin typeface="Inter"/>
                <a:ea typeface="Inter"/>
                <a:cs typeface="Inter"/>
                <a:sym typeface="Inter"/>
              </a:defRPr>
            </a:lvl1pPr>
          </a:lstStyle>
          <a:p>
            <a:r>
              <a:rPr sz="2083"/>
              <a:t>Transparent about methods</a:t>
            </a:r>
          </a:p>
        </p:txBody>
      </p:sp>
      <p:sp>
        <p:nvSpPr>
          <p:cNvPr id="2301" name="Text 6"/>
          <p:cNvSpPr txBox="1"/>
          <p:nvPr/>
        </p:nvSpPr>
        <p:spPr>
          <a:xfrm>
            <a:off x="661491" y="4755456"/>
            <a:ext cx="2234201" cy="339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500">
                <a:latin typeface="Inter"/>
                <a:ea typeface="Inter"/>
                <a:cs typeface="Inter"/>
                <a:sym typeface="Inter"/>
              </a:defRPr>
            </a:lvl1pPr>
          </a:lstStyle>
          <a:p>
            <a:r>
              <a:rPr sz="2083"/>
              <a:t>Cite their sources</a:t>
            </a:r>
          </a:p>
        </p:txBody>
      </p:sp>
      <p:sp>
        <p:nvSpPr>
          <p:cNvPr id="2302" name="Text 7"/>
          <p:cNvSpPr txBox="1"/>
          <p:nvPr/>
        </p:nvSpPr>
        <p:spPr>
          <a:xfrm>
            <a:off x="6332933" y="2797174"/>
            <a:ext cx="2425344" cy="3225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600" b="1">
                <a:solidFill>
                  <a:srgbClr val="941751"/>
                </a:solidFill>
                <a:latin typeface="Playfair Display Bold"/>
                <a:ea typeface="Playfair Display Bold"/>
                <a:cs typeface="Playfair Display Bold"/>
                <a:sym typeface="Playfair Display Bold"/>
              </a:defRPr>
            </a:lvl1pPr>
          </a:lstStyle>
          <a:p>
            <a:r>
              <a:rPr sz="2167"/>
              <a:t>Unreliable Sources</a:t>
            </a:r>
          </a:p>
        </p:txBody>
      </p:sp>
      <p:sp>
        <p:nvSpPr>
          <p:cNvPr id="2303" name="Text 8"/>
          <p:cNvSpPr txBox="1"/>
          <p:nvPr/>
        </p:nvSpPr>
        <p:spPr>
          <a:xfrm>
            <a:off x="6332934" y="3281461"/>
            <a:ext cx="2297745" cy="339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500">
                <a:latin typeface="Inter"/>
                <a:ea typeface="Inter"/>
                <a:cs typeface="Inter"/>
                <a:sym typeface="Inter"/>
              </a:defRPr>
            </a:lvl1pPr>
          </a:lstStyle>
          <a:p>
            <a:r>
              <a:rPr sz="2083"/>
              <a:t>Lack transparency</a:t>
            </a:r>
          </a:p>
        </p:txBody>
      </p:sp>
      <p:sp>
        <p:nvSpPr>
          <p:cNvPr id="2304" name="Text 9"/>
          <p:cNvSpPr txBox="1"/>
          <p:nvPr/>
        </p:nvSpPr>
        <p:spPr>
          <a:xfrm>
            <a:off x="6332934" y="3649960"/>
            <a:ext cx="4041299" cy="339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500">
                <a:latin typeface="Inter"/>
                <a:ea typeface="Inter"/>
                <a:cs typeface="Inter"/>
                <a:sym typeface="Inter"/>
              </a:defRPr>
            </a:lvl1pPr>
          </a:lstStyle>
          <a:p>
            <a:r>
              <a:rPr sz="2083"/>
              <a:t>Anonymous or unclear authorship</a:t>
            </a:r>
          </a:p>
        </p:txBody>
      </p:sp>
      <p:sp>
        <p:nvSpPr>
          <p:cNvPr id="2305" name="Text 10"/>
          <p:cNvSpPr txBox="1"/>
          <p:nvPr/>
        </p:nvSpPr>
        <p:spPr>
          <a:xfrm>
            <a:off x="6332933" y="4018458"/>
            <a:ext cx="2888868" cy="339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500">
                <a:latin typeface="Inter"/>
                <a:ea typeface="Inter"/>
                <a:cs typeface="Inter"/>
                <a:sym typeface="Inter"/>
              </a:defRPr>
            </a:lvl1pPr>
          </a:lstStyle>
          <a:p>
            <a:r>
              <a:rPr sz="2083"/>
              <a:t>Sensationalist language</a:t>
            </a:r>
          </a:p>
        </p:txBody>
      </p:sp>
      <p:sp>
        <p:nvSpPr>
          <p:cNvPr id="2306" name="Text 11"/>
          <p:cNvSpPr txBox="1"/>
          <p:nvPr/>
        </p:nvSpPr>
        <p:spPr>
          <a:xfrm>
            <a:off x="6332934" y="4386957"/>
            <a:ext cx="2682081" cy="339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500">
                <a:latin typeface="Inter"/>
                <a:ea typeface="Inter"/>
                <a:cs typeface="Inter"/>
                <a:sym typeface="Inter"/>
              </a:defRPr>
            </a:lvl1pPr>
          </a:lstStyle>
          <a:p>
            <a:r>
              <a:rPr sz="2083"/>
              <a:t>One-sided arguments</a:t>
            </a:r>
          </a:p>
        </p:txBody>
      </p:sp>
      <p:sp>
        <p:nvSpPr>
          <p:cNvPr id="2307" name="Text 12"/>
          <p:cNvSpPr txBox="1"/>
          <p:nvPr/>
        </p:nvSpPr>
        <p:spPr>
          <a:xfrm>
            <a:off x="6332934" y="4755456"/>
            <a:ext cx="2153475" cy="3398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500">
                <a:latin typeface="Inter"/>
                <a:ea typeface="Inter"/>
                <a:cs typeface="Inter"/>
                <a:sym typeface="Inter"/>
              </a:defRPr>
            </a:lvl1pPr>
          </a:lstStyle>
          <a:p>
            <a:r>
              <a:rPr sz="2083"/>
              <a:t>Missing citations</a:t>
            </a:r>
          </a:p>
        </p:txBody>
      </p:sp>
      <p:sp>
        <p:nvSpPr>
          <p:cNvPr id="2308" name="Refresher"/>
          <p:cNvSpPr txBox="1"/>
          <p:nvPr/>
        </p:nvSpPr>
        <p:spPr>
          <a:xfrm>
            <a:off x="-3791" y="-165798"/>
            <a:ext cx="4293467" cy="645690"/>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lvl1pPr>
              <a:lnSpc>
                <a:spcPts val="5100"/>
              </a:lnSpc>
              <a:defRPr sz="2600" b="1" i="1">
                <a:solidFill>
                  <a:srgbClr val="FF9300"/>
                </a:solidFill>
                <a:latin typeface="Playfair Display Bold"/>
                <a:ea typeface="Playfair Display Bold"/>
                <a:cs typeface="Playfair Display Bold"/>
                <a:sym typeface="Playfair Display Bold"/>
              </a:defRPr>
            </a:lvl1pPr>
          </a:lstStyle>
          <a:p>
            <a:r>
              <a:rPr sz="2167"/>
              <a:t>Refresher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0" name="Text 0"/>
          <p:cNvSpPr txBox="1"/>
          <p:nvPr/>
        </p:nvSpPr>
        <p:spPr>
          <a:xfrm>
            <a:off x="477144" y="374848"/>
            <a:ext cx="4627870" cy="461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4000"/>
              </a:lnSpc>
              <a:defRPr sz="3200" b="1">
                <a:latin typeface="Playfair Display Bold"/>
                <a:ea typeface="Playfair Display Bold"/>
                <a:cs typeface="Playfair Display Bold"/>
                <a:sym typeface="Playfair Display Bold"/>
              </a:defRPr>
            </a:lvl1pPr>
          </a:lstStyle>
          <a:p>
            <a:r>
              <a:rPr sz="2667"/>
              <a:t>Examples of Reliable Sources</a:t>
            </a:r>
          </a:p>
        </p:txBody>
      </p:sp>
      <p:pic>
        <p:nvPicPr>
          <p:cNvPr id="2311" name="Image 0" descr="Image 0"/>
          <p:cNvPicPr>
            <a:picLocks noChangeAspect="1"/>
          </p:cNvPicPr>
          <p:nvPr/>
        </p:nvPicPr>
        <p:blipFill>
          <a:blip r:embed="rId2"/>
          <a:stretch>
            <a:fillRect/>
          </a:stretch>
        </p:blipFill>
        <p:spPr>
          <a:xfrm>
            <a:off x="477142" y="1073447"/>
            <a:ext cx="2681587" cy="1657253"/>
          </a:xfrm>
          <a:prstGeom prst="rect">
            <a:avLst/>
          </a:prstGeom>
          <a:ln w="12700">
            <a:miter lim="400000"/>
          </a:ln>
        </p:spPr>
      </p:pic>
      <p:sp>
        <p:nvSpPr>
          <p:cNvPr id="2312" name="Text 1"/>
          <p:cNvSpPr txBox="1"/>
          <p:nvPr/>
        </p:nvSpPr>
        <p:spPr>
          <a:xfrm>
            <a:off x="477142" y="2901057"/>
            <a:ext cx="373500" cy="230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600" b="1">
                <a:latin typeface="Playfair Display Bold"/>
                <a:ea typeface="Playfair Display Bold"/>
                <a:cs typeface="Playfair Display Bold"/>
                <a:sym typeface="Playfair Display Bold"/>
              </a:defRPr>
            </a:lvl1pPr>
          </a:lstStyle>
          <a:p>
            <a:r>
              <a:rPr sz="1333"/>
              <a:t>CDC</a:t>
            </a:r>
          </a:p>
        </p:txBody>
      </p:sp>
      <p:sp>
        <p:nvSpPr>
          <p:cNvPr id="2313" name="Text 2"/>
          <p:cNvSpPr txBox="1"/>
          <p:nvPr/>
        </p:nvSpPr>
        <p:spPr>
          <a:xfrm>
            <a:off x="477142" y="3195836"/>
            <a:ext cx="2681587" cy="226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000"/>
              </a:lnSpc>
              <a:defRPr sz="1200">
                <a:latin typeface="Inter"/>
                <a:ea typeface="Inter"/>
                <a:cs typeface="Inter"/>
                <a:sym typeface="Inter"/>
              </a:defRPr>
            </a:lvl1pPr>
          </a:lstStyle>
          <a:p>
            <a:r>
              <a:rPr sz="1000"/>
              <a:t>Centers for Disease Control and Prevention</a:t>
            </a:r>
          </a:p>
        </p:txBody>
      </p:sp>
      <p:pic>
        <p:nvPicPr>
          <p:cNvPr id="2314" name="Image 1" descr="Image 1"/>
          <p:cNvPicPr>
            <a:picLocks noChangeAspect="1"/>
          </p:cNvPicPr>
          <p:nvPr/>
        </p:nvPicPr>
        <p:blipFill>
          <a:blip r:embed="rId3"/>
          <a:stretch>
            <a:fillRect/>
          </a:stretch>
        </p:blipFill>
        <p:spPr>
          <a:xfrm>
            <a:off x="3329086" y="1073447"/>
            <a:ext cx="2681685" cy="1657352"/>
          </a:xfrm>
          <a:prstGeom prst="rect">
            <a:avLst/>
          </a:prstGeom>
          <a:ln w="12700">
            <a:miter lim="400000"/>
          </a:ln>
        </p:spPr>
      </p:pic>
      <p:sp>
        <p:nvSpPr>
          <p:cNvPr id="2315" name="Text 3"/>
          <p:cNvSpPr txBox="1"/>
          <p:nvPr/>
        </p:nvSpPr>
        <p:spPr>
          <a:xfrm>
            <a:off x="3329086" y="2901156"/>
            <a:ext cx="450444" cy="230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600" b="1">
                <a:latin typeface="Playfair Display Bold"/>
                <a:ea typeface="Playfair Display Bold"/>
                <a:cs typeface="Playfair Display Bold"/>
                <a:sym typeface="Playfair Display Bold"/>
              </a:defRPr>
            </a:lvl1pPr>
          </a:lstStyle>
          <a:p>
            <a:r>
              <a:rPr sz="1333"/>
              <a:t>NASA</a:t>
            </a:r>
          </a:p>
        </p:txBody>
      </p:sp>
      <p:sp>
        <p:nvSpPr>
          <p:cNvPr id="2316" name="Text 4"/>
          <p:cNvSpPr txBox="1"/>
          <p:nvPr/>
        </p:nvSpPr>
        <p:spPr>
          <a:xfrm>
            <a:off x="3329086" y="3195935"/>
            <a:ext cx="2681685" cy="226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000"/>
              </a:lnSpc>
              <a:defRPr sz="1200">
                <a:latin typeface="Inter"/>
                <a:ea typeface="Inter"/>
                <a:cs typeface="Inter"/>
                <a:sym typeface="Inter"/>
              </a:defRPr>
            </a:lvl1pPr>
          </a:lstStyle>
          <a:p>
            <a:r>
              <a:rPr sz="1000"/>
              <a:t>National Aeronautics and Space Administration</a:t>
            </a:r>
          </a:p>
        </p:txBody>
      </p:sp>
      <p:pic>
        <p:nvPicPr>
          <p:cNvPr id="2317" name="Image 2" descr="Image 2"/>
          <p:cNvPicPr>
            <a:picLocks noChangeAspect="1"/>
          </p:cNvPicPr>
          <p:nvPr/>
        </p:nvPicPr>
        <p:blipFill>
          <a:blip r:embed="rId4"/>
          <a:stretch>
            <a:fillRect/>
          </a:stretch>
        </p:blipFill>
        <p:spPr>
          <a:xfrm>
            <a:off x="6181129" y="1073447"/>
            <a:ext cx="2681685" cy="1657352"/>
          </a:xfrm>
          <a:prstGeom prst="rect">
            <a:avLst/>
          </a:prstGeom>
          <a:ln w="12700">
            <a:miter lim="400000"/>
          </a:ln>
        </p:spPr>
      </p:pic>
      <p:sp>
        <p:nvSpPr>
          <p:cNvPr id="2318" name="Text 5"/>
          <p:cNvSpPr txBox="1"/>
          <p:nvPr/>
        </p:nvSpPr>
        <p:spPr>
          <a:xfrm>
            <a:off x="6181129" y="2901156"/>
            <a:ext cx="453650" cy="230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600" b="1">
                <a:latin typeface="Playfair Display Bold"/>
                <a:ea typeface="Playfair Display Bold"/>
                <a:cs typeface="Playfair Display Bold"/>
                <a:sym typeface="Playfair Display Bold"/>
              </a:defRPr>
            </a:lvl1pPr>
          </a:lstStyle>
          <a:p>
            <a:r>
              <a:rPr sz="1333"/>
              <a:t>NEJM</a:t>
            </a:r>
          </a:p>
        </p:txBody>
      </p:sp>
      <p:sp>
        <p:nvSpPr>
          <p:cNvPr id="2319" name="Text 6"/>
          <p:cNvSpPr txBox="1"/>
          <p:nvPr/>
        </p:nvSpPr>
        <p:spPr>
          <a:xfrm>
            <a:off x="6181129" y="3195935"/>
            <a:ext cx="1356140" cy="226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200">
                <a:latin typeface="Inter"/>
                <a:ea typeface="Inter"/>
                <a:cs typeface="Inter"/>
                <a:sym typeface="Inter"/>
              </a:defRPr>
            </a:lvl1pPr>
          </a:lstStyle>
          <a:p>
            <a:r>
              <a:rPr sz="1000"/>
              <a:t>Academic Medical Journal</a:t>
            </a:r>
          </a:p>
        </p:txBody>
      </p:sp>
      <p:pic>
        <p:nvPicPr>
          <p:cNvPr id="2320" name="Image 3" descr="Image 3"/>
          <p:cNvPicPr>
            <a:picLocks noChangeAspect="1"/>
          </p:cNvPicPr>
          <p:nvPr/>
        </p:nvPicPr>
        <p:blipFill>
          <a:blip r:embed="rId5"/>
          <a:stretch>
            <a:fillRect/>
          </a:stretch>
        </p:blipFill>
        <p:spPr>
          <a:xfrm>
            <a:off x="9033173" y="1073447"/>
            <a:ext cx="2681685" cy="1657352"/>
          </a:xfrm>
          <a:prstGeom prst="rect">
            <a:avLst/>
          </a:prstGeom>
          <a:ln w="12700">
            <a:miter lim="400000"/>
          </a:ln>
        </p:spPr>
      </p:pic>
      <p:sp>
        <p:nvSpPr>
          <p:cNvPr id="2321" name="Text 7"/>
          <p:cNvSpPr txBox="1"/>
          <p:nvPr/>
        </p:nvSpPr>
        <p:spPr>
          <a:xfrm>
            <a:off x="9033173" y="2901156"/>
            <a:ext cx="1447512" cy="230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600" b="1">
                <a:latin typeface="Playfair Display Bold"/>
                <a:ea typeface="Playfair Display Bold"/>
                <a:cs typeface="Playfair Display Bold"/>
                <a:sym typeface="Playfair Display Bold"/>
              </a:defRPr>
            </a:lvl1pPr>
          </a:lstStyle>
          <a:p>
            <a:r>
              <a:rPr sz="1333"/>
              <a:t>US Census Bureau</a:t>
            </a:r>
          </a:p>
        </p:txBody>
      </p:sp>
      <p:sp>
        <p:nvSpPr>
          <p:cNvPr id="2322" name="Text 8"/>
          <p:cNvSpPr txBox="1"/>
          <p:nvPr/>
        </p:nvSpPr>
        <p:spPr>
          <a:xfrm>
            <a:off x="9033172" y="3195935"/>
            <a:ext cx="1327286" cy="226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200">
                <a:latin typeface="Inter"/>
                <a:ea typeface="Inter"/>
                <a:cs typeface="Inter"/>
                <a:sym typeface="Inter"/>
              </a:defRPr>
            </a:lvl1pPr>
          </a:lstStyle>
          <a:p>
            <a:r>
              <a:rPr sz="1000"/>
              <a:t>Federal Statistical Agency</a:t>
            </a:r>
          </a:p>
        </p:txBody>
      </p:sp>
      <p:pic>
        <p:nvPicPr>
          <p:cNvPr id="2323" name="Image 4" descr="Image 4"/>
          <p:cNvPicPr>
            <a:picLocks noChangeAspect="1"/>
          </p:cNvPicPr>
          <p:nvPr/>
        </p:nvPicPr>
        <p:blipFill>
          <a:blip r:embed="rId6"/>
          <a:stretch>
            <a:fillRect/>
          </a:stretch>
        </p:blipFill>
        <p:spPr>
          <a:xfrm>
            <a:off x="477142" y="3904754"/>
            <a:ext cx="2681587" cy="1657252"/>
          </a:xfrm>
          <a:prstGeom prst="rect">
            <a:avLst/>
          </a:prstGeom>
          <a:ln w="12700">
            <a:miter lim="400000"/>
          </a:ln>
        </p:spPr>
      </p:pic>
      <p:sp>
        <p:nvSpPr>
          <p:cNvPr id="2324" name="Text 9"/>
          <p:cNvSpPr txBox="1"/>
          <p:nvPr/>
        </p:nvSpPr>
        <p:spPr>
          <a:xfrm>
            <a:off x="477143" y="5732363"/>
            <a:ext cx="437620" cy="230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600" b="1">
                <a:latin typeface="Playfair Display Bold"/>
                <a:ea typeface="Playfair Display Bold"/>
                <a:cs typeface="Playfair Display Bold"/>
                <a:sym typeface="Playfair Display Bold"/>
              </a:defRPr>
            </a:lvl1pPr>
          </a:lstStyle>
          <a:p>
            <a:r>
              <a:rPr sz="1333"/>
              <a:t>WHO</a:t>
            </a:r>
          </a:p>
        </p:txBody>
      </p:sp>
      <p:sp>
        <p:nvSpPr>
          <p:cNvPr id="2325" name="Text 10"/>
          <p:cNvSpPr txBox="1"/>
          <p:nvPr/>
        </p:nvSpPr>
        <p:spPr>
          <a:xfrm>
            <a:off x="477143" y="6027142"/>
            <a:ext cx="1391407" cy="226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200">
                <a:latin typeface="Inter"/>
                <a:ea typeface="Inter"/>
                <a:cs typeface="Inter"/>
                <a:sym typeface="Inter"/>
              </a:defRPr>
            </a:lvl1pPr>
          </a:lstStyle>
          <a:p>
            <a:r>
              <a:rPr sz="1000"/>
              <a:t>World Health Organization</a:t>
            </a:r>
          </a:p>
        </p:txBody>
      </p:sp>
      <p:pic>
        <p:nvPicPr>
          <p:cNvPr id="2326" name="Image 5" descr="Image 5"/>
          <p:cNvPicPr>
            <a:picLocks noChangeAspect="1"/>
          </p:cNvPicPr>
          <p:nvPr/>
        </p:nvPicPr>
        <p:blipFill>
          <a:blip r:embed="rId7"/>
          <a:stretch>
            <a:fillRect/>
          </a:stretch>
        </p:blipFill>
        <p:spPr>
          <a:xfrm>
            <a:off x="3329086" y="3904755"/>
            <a:ext cx="2681685" cy="1657351"/>
          </a:xfrm>
          <a:prstGeom prst="rect">
            <a:avLst/>
          </a:prstGeom>
          <a:ln w="12700">
            <a:miter lim="400000"/>
          </a:ln>
        </p:spPr>
      </p:pic>
      <p:sp>
        <p:nvSpPr>
          <p:cNvPr id="2327" name="Text 11"/>
          <p:cNvSpPr txBox="1"/>
          <p:nvPr/>
        </p:nvSpPr>
        <p:spPr>
          <a:xfrm>
            <a:off x="3329086" y="5732463"/>
            <a:ext cx="1625445" cy="230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600" b="1">
                <a:latin typeface="Playfair Display Bold"/>
                <a:ea typeface="Playfair Display Bold"/>
                <a:cs typeface="Playfair Display Bold"/>
                <a:sym typeface="Playfair Display Bold"/>
              </a:defRPr>
            </a:lvl1pPr>
          </a:lstStyle>
          <a:p>
            <a:r>
              <a:rPr sz="1333"/>
              <a:t>National Geographic</a:t>
            </a:r>
          </a:p>
        </p:txBody>
      </p:sp>
      <p:sp>
        <p:nvSpPr>
          <p:cNvPr id="2328" name="Text 12"/>
          <p:cNvSpPr txBox="1"/>
          <p:nvPr/>
        </p:nvSpPr>
        <p:spPr>
          <a:xfrm>
            <a:off x="3329086" y="6027242"/>
            <a:ext cx="1774525" cy="226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200">
                <a:latin typeface="Inter"/>
                <a:ea typeface="Inter"/>
                <a:cs typeface="Inter"/>
                <a:sym typeface="Inter"/>
              </a:defRPr>
            </a:lvl1pPr>
          </a:lstStyle>
          <a:p>
            <a:r>
              <a:rPr sz="1000"/>
              <a:t>Science and Education Publication</a:t>
            </a:r>
          </a:p>
        </p:txBody>
      </p:sp>
      <p:pic>
        <p:nvPicPr>
          <p:cNvPr id="2329" name="Image 6" descr="Image 6"/>
          <p:cNvPicPr>
            <a:picLocks noChangeAspect="1"/>
          </p:cNvPicPr>
          <p:nvPr/>
        </p:nvPicPr>
        <p:blipFill>
          <a:blip r:embed="rId8"/>
          <a:stretch>
            <a:fillRect/>
          </a:stretch>
        </p:blipFill>
        <p:spPr>
          <a:xfrm>
            <a:off x="6181129" y="3904755"/>
            <a:ext cx="2681685" cy="1657351"/>
          </a:xfrm>
          <a:prstGeom prst="rect">
            <a:avLst/>
          </a:prstGeom>
          <a:ln w="12700">
            <a:miter lim="400000"/>
          </a:ln>
        </p:spPr>
      </p:pic>
      <p:sp>
        <p:nvSpPr>
          <p:cNvPr id="2330" name="Text 13"/>
          <p:cNvSpPr txBox="1"/>
          <p:nvPr/>
        </p:nvSpPr>
        <p:spPr>
          <a:xfrm>
            <a:off x="6181129" y="5732463"/>
            <a:ext cx="1000274" cy="230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600" b="1">
                <a:latin typeface="Playfair Display Bold"/>
                <a:ea typeface="Playfair Display Bold"/>
                <a:cs typeface="Playfair Display Bold"/>
                <a:sym typeface="Playfair Display Bold"/>
              </a:defRPr>
            </a:lvl1pPr>
          </a:lstStyle>
          <a:p>
            <a:r>
              <a:rPr sz="1333"/>
              <a:t>Smithsonian</a:t>
            </a:r>
          </a:p>
        </p:txBody>
      </p:sp>
      <p:sp>
        <p:nvSpPr>
          <p:cNvPr id="2331" name="Text 14"/>
          <p:cNvSpPr txBox="1"/>
          <p:nvPr/>
        </p:nvSpPr>
        <p:spPr>
          <a:xfrm>
            <a:off x="6181130" y="6027242"/>
            <a:ext cx="1755289" cy="226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200">
                <a:latin typeface="Inter"/>
                <a:ea typeface="Inter"/>
                <a:cs typeface="Inter"/>
                <a:sym typeface="Inter"/>
              </a:defRPr>
            </a:lvl1pPr>
          </a:lstStyle>
          <a:p>
            <a:r>
              <a:rPr sz="1000"/>
              <a:t>Research and Museum Institution</a:t>
            </a:r>
          </a:p>
        </p:txBody>
      </p:sp>
      <p:pic>
        <p:nvPicPr>
          <p:cNvPr id="2332" name="Image 7" descr="Image 7"/>
          <p:cNvPicPr>
            <a:picLocks noChangeAspect="1"/>
          </p:cNvPicPr>
          <p:nvPr/>
        </p:nvPicPr>
        <p:blipFill>
          <a:blip r:embed="rId9"/>
          <a:stretch>
            <a:fillRect/>
          </a:stretch>
        </p:blipFill>
        <p:spPr>
          <a:xfrm>
            <a:off x="9033173" y="3904755"/>
            <a:ext cx="2681685" cy="1657351"/>
          </a:xfrm>
          <a:prstGeom prst="rect">
            <a:avLst/>
          </a:prstGeom>
          <a:ln w="12700">
            <a:miter lim="400000"/>
          </a:ln>
        </p:spPr>
      </p:pic>
      <p:sp>
        <p:nvSpPr>
          <p:cNvPr id="2333" name="Text 15"/>
          <p:cNvSpPr txBox="1"/>
          <p:nvPr/>
        </p:nvSpPr>
        <p:spPr>
          <a:xfrm>
            <a:off x="9033173" y="5732463"/>
            <a:ext cx="336631" cy="230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600" b="1">
                <a:latin typeface="Playfair Display Bold"/>
                <a:ea typeface="Playfair Display Bold"/>
                <a:cs typeface="Playfair Display Bold"/>
                <a:sym typeface="Playfair Display Bold"/>
              </a:defRPr>
            </a:lvl1pPr>
          </a:lstStyle>
          <a:p>
            <a:r>
              <a:rPr sz="1333"/>
              <a:t>APA</a:t>
            </a:r>
          </a:p>
        </p:txBody>
      </p:sp>
      <p:sp>
        <p:nvSpPr>
          <p:cNvPr id="2334" name="Text 16"/>
          <p:cNvSpPr txBox="1"/>
          <p:nvPr/>
        </p:nvSpPr>
        <p:spPr>
          <a:xfrm>
            <a:off x="9033173" y="6027242"/>
            <a:ext cx="1838645" cy="226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200">
                <a:latin typeface="Inter"/>
                <a:ea typeface="Inter"/>
                <a:cs typeface="Inter"/>
                <a:sym typeface="Inter"/>
              </a:defRPr>
            </a:lvl1pPr>
          </a:lstStyle>
          <a:p>
            <a:r>
              <a:rPr sz="1000"/>
              <a:t>American Psychological Association</a:t>
            </a:r>
          </a:p>
        </p:txBody>
      </p:sp>
      <p:sp>
        <p:nvSpPr>
          <p:cNvPr id="2335" name="Text 17"/>
          <p:cNvSpPr txBox="1"/>
          <p:nvPr/>
        </p:nvSpPr>
        <p:spPr>
          <a:xfrm>
            <a:off x="477143" y="6398617"/>
            <a:ext cx="7633500" cy="226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000"/>
              </a:lnSpc>
              <a:defRPr sz="1200">
                <a:latin typeface="Inter"/>
                <a:ea typeface="Inter"/>
                <a:cs typeface="Inter"/>
                <a:sym typeface="Inter"/>
              </a:defRPr>
            </a:lvl1pPr>
          </a:lstStyle>
          <a:p>
            <a:r>
              <a:rPr sz="1000"/>
              <a:t>These institutions are known for rigorous research methods, expert review processes, and commitment to accuracy in their published information.</a:t>
            </a:r>
          </a:p>
        </p:txBody>
      </p:sp>
      <p:sp>
        <p:nvSpPr>
          <p:cNvPr id="2336" name="NEW!"/>
          <p:cNvSpPr txBox="1"/>
          <p:nvPr/>
        </p:nvSpPr>
        <p:spPr>
          <a:xfrm>
            <a:off x="-3791" y="-165798"/>
            <a:ext cx="4293467" cy="645690"/>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lvl1pPr>
              <a:lnSpc>
                <a:spcPts val="5100"/>
              </a:lnSpc>
              <a:defRPr sz="2600" b="1" i="1">
                <a:solidFill>
                  <a:srgbClr val="FF9300"/>
                </a:solidFill>
                <a:latin typeface="Playfair Display Bold"/>
                <a:ea typeface="Playfair Display Bold"/>
                <a:cs typeface="Playfair Display Bold"/>
                <a:sym typeface="Playfair Display Bold"/>
              </a:defRPr>
            </a:lvl1pPr>
          </a:lstStyle>
          <a:p>
            <a:r>
              <a:rPr sz="2167"/>
              <a:t>NEW! </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8" name="Text 0"/>
          <p:cNvSpPr txBox="1"/>
          <p:nvPr/>
        </p:nvSpPr>
        <p:spPr>
          <a:xfrm>
            <a:off x="661491" y="1263750"/>
            <a:ext cx="6835204"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Why Source Evaluation Matters</a:t>
            </a:r>
          </a:p>
        </p:txBody>
      </p:sp>
      <p:pic>
        <p:nvPicPr>
          <p:cNvPr id="2339" name="Image 0" descr="Image 0"/>
          <p:cNvPicPr>
            <a:picLocks noChangeAspect="1"/>
          </p:cNvPicPr>
          <p:nvPr/>
        </p:nvPicPr>
        <p:blipFill>
          <a:blip r:embed="rId2"/>
          <a:stretch>
            <a:fillRect/>
          </a:stretch>
        </p:blipFill>
        <p:spPr>
          <a:xfrm>
            <a:off x="2481957" y="2232422"/>
            <a:ext cx="1793380" cy="1089125"/>
          </a:xfrm>
          <a:prstGeom prst="rect">
            <a:avLst/>
          </a:prstGeom>
          <a:ln w="12700">
            <a:miter lim="400000"/>
          </a:ln>
        </p:spPr>
      </p:pic>
      <p:pic>
        <p:nvPicPr>
          <p:cNvPr id="2340" name="Image 1" descr="Image 1"/>
          <p:cNvPicPr>
            <a:picLocks noChangeAspect="1"/>
          </p:cNvPicPr>
          <p:nvPr/>
        </p:nvPicPr>
        <p:blipFill>
          <a:blip r:embed="rId3"/>
          <a:stretch>
            <a:fillRect/>
          </a:stretch>
        </p:blipFill>
        <p:spPr>
          <a:xfrm>
            <a:off x="3245744" y="2745780"/>
            <a:ext cx="265808" cy="332185"/>
          </a:xfrm>
          <a:prstGeom prst="rect">
            <a:avLst/>
          </a:prstGeom>
          <a:ln w="12700">
            <a:miter lim="400000"/>
          </a:ln>
        </p:spPr>
      </p:pic>
      <p:sp>
        <p:nvSpPr>
          <p:cNvPr id="2341" name="Text 1"/>
          <p:cNvSpPr txBox="1"/>
          <p:nvPr/>
        </p:nvSpPr>
        <p:spPr>
          <a:xfrm>
            <a:off x="4464348" y="2421433"/>
            <a:ext cx="1990930"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Credible Research</a:t>
            </a:r>
          </a:p>
        </p:txBody>
      </p:sp>
      <p:sp>
        <p:nvSpPr>
          <p:cNvPr id="2342" name="Text 2"/>
          <p:cNvSpPr txBox="1"/>
          <p:nvPr/>
        </p:nvSpPr>
        <p:spPr>
          <a:xfrm>
            <a:off x="4464347" y="2830115"/>
            <a:ext cx="3309752"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1700">
                <a:latin typeface="Inter"/>
                <a:ea typeface="Inter"/>
                <a:cs typeface="Inter"/>
                <a:sym typeface="Inter"/>
              </a:defRPr>
            </a:lvl1pPr>
          </a:lstStyle>
          <a:p>
            <a:r>
              <a:rPr sz="1417"/>
              <a:t>Strong sources lead to respected conclusions</a:t>
            </a:r>
          </a:p>
        </p:txBody>
      </p:sp>
      <p:sp>
        <p:nvSpPr>
          <p:cNvPr id="2343" name="Shape 3"/>
          <p:cNvSpPr/>
          <p:nvPr/>
        </p:nvSpPr>
        <p:spPr>
          <a:xfrm>
            <a:off x="4322564" y="3332460"/>
            <a:ext cx="7160718" cy="12701"/>
          </a:xfrm>
          <a:prstGeom prst="roundRect">
            <a:avLst>
              <a:gd name="adj" fmla="val 50000"/>
            </a:avLst>
          </a:prstGeom>
          <a:solidFill>
            <a:srgbClr val="B2D3E5"/>
          </a:solidFill>
          <a:ln w="12700">
            <a:miter lim="400000"/>
          </a:ln>
        </p:spPr>
        <p:txBody>
          <a:bodyPr lIns="38099" rIns="38099"/>
          <a:lstStyle/>
          <a:p>
            <a:endParaRPr sz="1500"/>
          </a:p>
        </p:txBody>
      </p:sp>
      <p:pic>
        <p:nvPicPr>
          <p:cNvPr id="2344" name="Image 2" descr="Image 2"/>
          <p:cNvPicPr>
            <a:picLocks noChangeAspect="1"/>
          </p:cNvPicPr>
          <p:nvPr/>
        </p:nvPicPr>
        <p:blipFill>
          <a:blip r:embed="rId4"/>
          <a:stretch>
            <a:fillRect/>
          </a:stretch>
        </p:blipFill>
        <p:spPr>
          <a:xfrm>
            <a:off x="1585317" y="3368773"/>
            <a:ext cx="3586758" cy="1089125"/>
          </a:xfrm>
          <a:prstGeom prst="rect">
            <a:avLst/>
          </a:prstGeom>
          <a:ln w="12700">
            <a:miter lim="400000"/>
          </a:ln>
        </p:spPr>
      </p:pic>
      <p:pic>
        <p:nvPicPr>
          <p:cNvPr id="2345" name="Image 3" descr="Image 3"/>
          <p:cNvPicPr>
            <a:picLocks noChangeAspect="1"/>
          </p:cNvPicPr>
          <p:nvPr/>
        </p:nvPicPr>
        <p:blipFill>
          <a:blip r:embed="rId5"/>
          <a:stretch>
            <a:fillRect/>
          </a:stretch>
        </p:blipFill>
        <p:spPr>
          <a:xfrm>
            <a:off x="3245744" y="3747193"/>
            <a:ext cx="265808" cy="332185"/>
          </a:xfrm>
          <a:prstGeom prst="rect">
            <a:avLst/>
          </a:prstGeom>
          <a:ln w="12700">
            <a:miter lim="400000"/>
          </a:ln>
        </p:spPr>
      </p:pic>
      <p:sp>
        <p:nvSpPr>
          <p:cNvPr id="2346" name="Text 4"/>
          <p:cNvSpPr txBox="1"/>
          <p:nvPr/>
        </p:nvSpPr>
        <p:spPr>
          <a:xfrm>
            <a:off x="5361086" y="3557785"/>
            <a:ext cx="3507370"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Protection from Misinformation</a:t>
            </a:r>
          </a:p>
        </p:txBody>
      </p:sp>
      <p:sp>
        <p:nvSpPr>
          <p:cNvPr id="2347" name="Text 5"/>
          <p:cNvSpPr txBox="1"/>
          <p:nvPr/>
        </p:nvSpPr>
        <p:spPr>
          <a:xfrm>
            <a:off x="5361086" y="3966469"/>
            <a:ext cx="3609771"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1700">
                <a:latin typeface="Inter"/>
                <a:ea typeface="Inter"/>
                <a:cs typeface="Inter"/>
                <a:sym typeface="Inter"/>
              </a:defRPr>
            </a:lvl1pPr>
          </a:lstStyle>
          <a:p>
            <a:r>
              <a:rPr sz="1417"/>
              <a:t>Critical evaluation prevents spreading falsehoods</a:t>
            </a:r>
          </a:p>
        </p:txBody>
      </p:sp>
      <p:sp>
        <p:nvSpPr>
          <p:cNvPr id="2348" name="Shape 6"/>
          <p:cNvSpPr/>
          <p:nvPr/>
        </p:nvSpPr>
        <p:spPr>
          <a:xfrm>
            <a:off x="5219303" y="4468813"/>
            <a:ext cx="6263978" cy="12701"/>
          </a:xfrm>
          <a:prstGeom prst="roundRect">
            <a:avLst>
              <a:gd name="adj" fmla="val 50000"/>
            </a:avLst>
          </a:prstGeom>
          <a:solidFill>
            <a:srgbClr val="B2D3E5"/>
          </a:solidFill>
          <a:ln w="12700">
            <a:miter lim="400000"/>
          </a:ln>
        </p:spPr>
        <p:txBody>
          <a:bodyPr lIns="38099" rIns="38099"/>
          <a:lstStyle/>
          <a:p>
            <a:endParaRPr sz="1500"/>
          </a:p>
        </p:txBody>
      </p:sp>
      <p:pic>
        <p:nvPicPr>
          <p:cNvPr id="2349" name="Image 4" descr="Image 4"/>
          <p:cNvPicPr>
            <a:picLocks noChangeAspect="1"/>
          </p:cNvPicPr>
          <p:nvPr/>
        </p:nvPicPr>
        <p:blipFill>
          <a:blip r:embed="rId6"/>
          <a:stretch>
            <a:fillRect/>
          </a:stretch>
        </p:blipFill>
        <p:spPr>
          <a:xfrm>
            <a:off x="688579" y="4505127"/>
            <a:ext cx="5380138" cy="1089125"/>
          </a:xfrm>
          <a:prstGeom prst="rect">
            <a:avLst/>
          </a:prstGeom>
          <a:ln w="12700">
            <a:miter lim="400000"/>
          </a:ln>
        </p:spPr>
      </p:pic>
      <p:pic>
        <p:nvPicPr>
          <p:cNvPr id="2350" name="Image 5" descr="Image 5"/>
          <p:cNvPicPr>
            <a:picLocks noChangeAspect="1"/>
          </p:cNvPicPr>
          <p:nvPr/>
        </p:nvPicPr>
        <p:blipFill>
          <a:blip r:embed="rId7"/>
          <a:stretch>
            <a:fillRect/>
          </a:stretch>
        </p:blipFill>
        <p:spPr>
          <a:xfrm>
            <a:off x="3245644" y="4883546"/>
            <a:ext cx="265808" cy="332185"/>
          </a:xfrm>
          <a:prstGeom prst="rect">
            <a:avLst/>
          </a:prstGeom>
          <a:ln w="12700">
            <a:miter lim="400000"/>
          </a:ln>
        </p:spPr>
      </p:pic>
      <p:sp>
        <p:nvSpPr>
          <p:cNvPr id="2351" name="Text 7"/>
          <p:cNvSpPr txBox="1"/>
          <p:nvPr/>
        </p:nvSpPr>
        <p:spPr>
          <a:xfrm>
            <a:off x="6257726" y="4694138"/>
            <a:ext cx="3375924"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Critical Thinking Development</a:t>
            </a:r>
          </a:p>
        </p:txBody>
      </p:sp>
      <p:sp>
        <p:nvSpPr>
          <p:cNvPr id="2352" name="Text 8"/>
          <p:cNvSpPr txBox="1"/>
          <p:nvPr/>
        </p:nvSpPr>
        <p:spPr>
          <a:xfrm>
            <a:off x="6257726" y="5102819"/>
            <a:ext cx="3188502"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1700">
                <a:latin typeface="Inter"/>
                <a:ea typeface="Inter"/>
                <a:cs typeface="Inter"/>
                <a:sym typeface="Inter"/>
              </a:defRPr>
            </a:lvl1pPr>
          </a:lstStyle>
          <a:p>
            <a:r>
              <a:rPr sz="1417"/>
              <a:t>Evaluating sources builds essential life skills</a:t>
            </a:r>
          </a:p>
        </p:txBody>
      </p:sp>
      <p:sp>
        <p:nvSpPr>
          <p:cNvPr id="2353" name="Refresher"/>
          <p:cNvSpPr txBox="1"/>
          <p:nvPr/>
        </p:nvSpPr>
        <p:spPr>
          <a:xfrm>
            <a:off x="-3791" y="-176382"/>
            <a:ext cx="4293467" cy="645690"/>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lvl1pPr>
              <a:lnSpc>
                <a:spcPts val="5100"/>
              </a:lnSpc>
              <a:defRPr sz="2600" b="1" i="1">
                <a:solidFill>
                  <a:srgbClr val="FF9300"/>
                </a:solidFill>
                <a:latin typeface="Playfair Display Bold"/>
                <a:ea typeface="Playfair Display Bold"/>
                <a:cs typeface="Playfair Display Bold"/>
                <a:sym typeface="Playfair Display Bold"/>
              </a:defRPr>
            </a:lvl1pPr>
          </a:lstStyle>
          <a:p>
            <a:r>
              <a:rPr sz="2167"/>
              <a:t>Refresher     </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 name="Image 0" descr="Image 0"/>
          <p:cNvPicPr>
            <a:picLocks noChangeAspect="1"/>
          </p:cNvPicPr>
          <p:nvPr/>
        </p:nvPicPr>
        <p:blipFill>
          <a:blip r:embed="rId2"/>
          <a:stretch>
            <a:fillRect/>
          </a:stretch>
        </p:blipFill>
        <p:spPr>
          <a:xfrm>
            <a:off x="0" y="0"/>
            <a:ext cx="4285886" cy="6428828"/>
          </a:xfrm>
          <a:prstGeom prst="rect">
            <a:avLst/>
          </a:prstGeom>
          <a:ln w="12700">
            <a:miter lim="400000"/>
          </a:ln>
        </p:spPr>
      </p:pic>
      <p:sp>
        <p:nvSpPr>
          <p:cNvPr id="2356" name="Text 0"/>
          <p:cNvSpPr txBox="1"/>
          <p:nvPr/>
        </p:nvSpPr>
        <p:spPr>
          <a:xfrm>
            <a:off x="5233491" y="721717"/>
            <a:ext cx="6171561"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Red Flags of Misinformation</a:t>
            </a:r>
          </a:p>
        </p:txBody>
      </p:sp>
      <p:sp>
        <p:nvSpPr>
          <p:cNvPr id="2357" name="Shape 1"/>
          <p:cNvSpPr/>
          <p:nvPr/>
        </p:nvSpPr>
        <p:spPr>
          <a:xfrm>
            <a:off x="5233491" y="1595834"/>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358" name="Image 1" descr="Image 1"/>
          <p:cNvPicPr>
            <a:picLocks noChangeAspect="1"/>
          </p:cNvPicPr>
          <p:nvPr/>
        </p:nvPicPr>
        <p:blipFill>
          <a:blip r:embed="rId3"/>
          <a:stretch>
            <a:fillRect/>
          </a:stretch>
        </p:blipFill>
        <p:spPr>
          <a:xfrm>
            <a:off x="5304383" y="1631256"/>
            <a:ext cx="283469" cy="354410"/>
          </a:xfrm>
          <a:prstGeom prst="rect">
            <a:avLst/>
          </a:prstGeom>
          <a:ln w="12700">
            <a:miter lim="400000"/>
          </a:ln>
        </p:spPr>
      </p:pic>
      <p:sp>
        <p:nvSpPr>
          <p:cNvPr id="2359" name="Text 2"/>
          <p:cNvSpPr txBox="1"/>
          <p:nvPr/>
        </p:nvSpPr>
        <p:spPr>
          <a:xfrm>
            <a:off x="5847754" y="1660724"/>
            <a:ext cx="2369238"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Sensational Language</a:t>
            </a:r>
          </a:p>
        </p:txBody>
      </p:sp>
      <p:sp>
        <p:nvSpPr>
          <p:cNvPr id="2360" name="Text 3"/>
          <p:cNvSpPr txBox="1"/>
          <p:nvPr/>
        </p:nvSpPr>
        <p:spPr>
          <a:xfrm>
            <a:off x="5847755" y="2069405"/>
            <a:ext cx="5682754"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"You won't believe this!" or excessive punctuation for shock value</a:t>
            </a:r>
          </a:p>
        </p:txBody>
      </p:sp>
      <p:sp>
        <p:nvSpPr>
          <p:cNvPr id="2361" name="Shape 4"/>
          <p:cNvSpPr/>
          <p:nvPr/>
        </p:nvSpPr>
        <p:spPr>
          <a:xfrm>
            <a:off x="5233491" y="2766516"/>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362" name="Image 2" descr="Image 2"/>
          <p:cNvPicPr>
            <a:picLocks noChangeAspect="1"/>
          </p:cNvPicPr>
          <p:nvPr/>
        </p:nvPicPr>
        <p:blipFill>
          <a:blip r:embed="rId4"/>
          <a:stretch>
            <a:fillRect/>
          </a:stretch>
        </p:blipFill>
        <p:spPr>
          <a:xfrm>
            <a:off x="5304383" y="2801938"/>
            <a:ext cx="283469" cy="354409"/>
          </a:xfrm>
          <a:prstGeom prst="rect">
            <a:avLst/>
          </a:prstGeom>
          <a:ln w="12700">
            <a:miter lim="400000"/>
          </a:ln>
        </p:spPr>
      </p:pic>
      <p:sp>
        <p:nvSpPr>
          <p:cNvPr id="2363" name="Text 5"/>
          <p:cNvSpPr txBox="1"/>
          <p:nvPr/>
        </p:nvSpPr>
        <p:spPr>
          <a:xfrm>
            <a:off x="5847754" y="2767906"/>
            <a:ext cx="2133597"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Missing Attribution</a:t>
            </a:r>
          </a:p>
        </p:txBody>
      </p:sp>
      <p:sp>
        <p:nvSpPr>
          <p:cNvPr id="2364" name="Text 6"/>
          <p:cNvSpPr txBox="1"/>
          <p:nvPr/>
        </p:nvSpPr>
        <p:spPr>
          <a:xfrm>
            <a:off x="5847754" y="3176587"/>
            <a:ext cx="3512180"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1700">
                <a:latin typeface="Inter"/>
                <a:ea typeface="Inter"/>
                <a:cs typeface="Inter"/>
                <a:sym typeface="Inter"/>
              </a:defRPr>
            </a:lvl1pPr>
          </a:lstStyle>
          <a:p>
            <a:r>
              <a:rPr sz="1417"/>
              <a:t>No clear author, source, or supporting evidence</a:t>
            </a:r>
          </a:p>
        </p:txBody>
      </p:sp>
      <p:sp>
        <p:nvSpPr>
          <p:cNvPr id="2365" name="Shape 7"/>
          <p:cNvSpPr/>
          <p:nvPr/>
        </p:nvSpPr>
        <p:spPr>
          <a:xfrm>
            <a:off x="5233491" y="3920530"/>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366" name="Image 3" descr="Image 3"/>
          <p:cNvPicPr>
            <a:picLocks noChangeAspect="1"/>
          </p:cNvPicPr>
          <p:nvPr/>
        </p:nvPicPr>
        <p:blipFill>
          <a:blip r:embed="rId5"/>
          <a:stretch>
            <a:fillRect/>
          </a:stretch>
        </p:blipFill>
        <p:spPr>
          <a:xfrm>
            <a:off x="5304383" y="3955950"/>
            <a:ext cx="283469" cy="354410"/>
          </a:xfrm>
          <a:prstGeom prst="rect">
            <a:avLst/>
          </a:prstGeom>
          <a:ln w="12700">
            <a:miter lim="400000"/>
          </a:ln>
        </p:spPr>
      </p:pic>
      <p:sp>
        <p:nvSpPr>
          <p:cNvPr id="2367" name="Text 8"/>
          <p:cNvSpPr txBox="1"/>
          <p:nvPr/>
        </p:nvSpPr>
        <p:spPr>
          <a:xfrm>
            <a:off x="5847755" y="3921919"/>
            <a:ext cx="2619307"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One-Sided Presentation</a:t>
            </a:r>
          </a:p>
        </p:txBody>
      </p:sp>
      <p:sp>
        <p:nvSpPr>
          <p:cNvPr id="2368" name="Text 9"/>
          <p:cNvSpPr txBox="1"/>
          <p:nvPr/>
        </p:nvSpPr>
        <p:spPr>
          <a:xfrm>
            <a:off x="5847755" y="4330601"/>
            <a:ext cx="4351961"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1700">
                <a:latin typeface="Inter"/>
                <a:ea typeface="Inter"/>
                <a:cs typeface="Inter"/>
                <a:sym typeface="Inter"/>
              </a:defRPr>
            </a:lvl1pPr>
          </a:lstStyle>
          <a:p>
            <a:r>
              <a:rPr sz="1417"/>
              <a:t>No acknowledgment of alternative perspectives or debates</a:t>
            </a:r>
          </a:p>
        </p:txBody>
      </p:sp>
      <p:sp>
        <p:nvSpPr>
          <p:cNvPr id="2369" name="Shape 10"/>
          <p:cNvSpPr/>
          <p:nvPr/>
        </p:nvSpPr>
        <p:spPr>
          <a:xfrm>
            <a:off x="5233491" y="5074543"/>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370" name="Image 4" descr="Image 4"/>
          <p:cNvPicPr>
            <a:picLocks noChangeAspect="1"/>
          </p:cNvPicPr>
          <p:nvPr/>
        </p:nvPicPr>
        <p:blipFill>
          <a:blip r:embed="rId6"/>
          <a:stretch>
            <a:fillRect/>
          </a:stretch>
        </p:blipFill>
        <p:spPr>
          <a:xfrm>
            <a:off x="5304383" y="5109964"/>
            <a:ext cx="283469" cy="354410"/>
          </a:xfrm>
          <a:prstGeom prst="rect">
            <a:avLst/>
          </a:prstGeom>
          <a:ln w="12700">
            <a:miter lim="400000"/>
          </a:ln>
        </p:spPr>
      </p:pic>
      <p:sp>
        <p:nvSpPr>
          <p:cNvPr id="2371" name="Text 11"/>
          <p:cNvSpPr txBox="1"/>
          <p:nvPr/>
        </p:nvSpPr>
        <p:spPr>
          <a:xfrm>
            <a:off x="5847754" y="5075932"/>
            <a:ext cx="2354812"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Extraordinary Claims</a:t>
            </a:r>
          </a:p>
        </p:txBody>
      </p:sp>
      <p:sp>
        <p:nvSpPr>
          <p:cNvPr id="2372" name="Text 12"/>
          <p:cNvSpPr txBox="1"/>
          <p:nvPr/>
        </p:nvSpPr>
        <p:spPr>
          <a:xfrm>
            <a:off x="5847754" y="5484614"/>
            <a:ext cx="3498778"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1700">
                <a:latin typeface="Inter"/>
                <a:ea typeface="Inter"/>
                <a:cs typeface="Inter"/>
                <a:sym typeface="Inter"/>
              </a:defRPr>
            </a:lvl1pPr>
          </a:lstStyle>
          <a:p>
            <a:r>
              <a:rPr sz="1417"/>
              <a:t>Bold statements without proportional evidence</a:t>
            </a:r>
          </a:p>
        </p:txBody>
      </p:sp>
      <p:sp>
        <p:nvSpPr>
          <p:cNvPr id="2373" name="Refresher"/>
          <p:cNvSpPr txBox="1"/>
          <p:nvPr/>
        </p:nvSpPr>
        <p:spPr>
          <a:xfrm>
            <a:off x="-3791" y="-165798"/>
            <a:ext cx="4293467" cy="645690"/>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lvl1pPr>
              <a:lnSpc>
                <a:spcPts val="5100"/>
              </a:lnSpc>
              <a:defRPr sz="2600" b="1" i="1">
                <a:solidFill>
                  <a:srgbClr val="FF9300"/>
                </a:solidFill>
                <a:latin typeface="Playfair Display Bold"/>
                <a:ea typeface="Playfair Display Bold"/>
                <a:cs typeface="Playfair Display Bold"/>
                <a:sym typeface="Playfair Display Bold"/>
              </a:defRPr>
            </a:lvl1pPr>
          </a:lstStyle>
          <a:p>
            <a:r>
              <a:rPr sz="2167"/>
              <a:t>Refresher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ntr" fill="hold" grpId="0" nodeType="clickEffect">
                                  <p:stCondLst>
                                    <p:cond delay="0"/>
                                  </p:stCondLst>
                                  <p:iterate>
                                    <p:tmAbs val="0"/>
                                  </p:iterate>
                                  <p:childTnLst>
                                    <p:set>
                                      <p:cBhvr>
                                        <p:cTn id="6" fill="hold"/>
                                        <p:tgtEl>
                                          <p:spTgt spid="2357"/>
                                        </p:tgtEl>
                                        <p:attrNameLst>
                                          <p:attrName>style.visibility</p:attrName>
                                        </p:attrNameLst>
                                      </p:cBhvr>
                                      <p:to>
                                        <p:strVal val="visible"/>
                                      </p:to>
                                    </p:set>
                                    <p:animEffect transition="in" filter="dissolve">
                                      <p:cBhvr>
                                        <p:cTn id="7" dur="3000"/>
                                        <p:tgtEl>
                                          <p:spTgt spid="2357"/>
                                        </p:tgtEl>
                                      </p:cBhvr>
                                    </p:animEffect>
                                  </p:childTnLst>
                                </p:cTn>
                              </p:par>
                            </p:childTnLst>
                          </p:cTn>
                        </p:par>
                        <p:par>
                          <p:cTn id="8" fill="hold">
                            <p:stCondLst>
                              <p:cond delay="3000"/>
                            </p:stCondLst>
                            <p:childTnLst>
                              <p:par>
                                <p:cTn id="9" presetID="9" presetClass="entr" fill="hold" grpId="0" nodeType="afterEffect">
                                  <p:stCondLst>
                                    <p:cond delay="0"/>
                                  </p:stCondLst>
                                  <p:iterate>
                                    <p:tmAbs val="0"/>
                                  </p:iterate>
                                  <p:childTnLst>
                                    <p:set>
                                      <p:cBhvr>
                                        <p:cTn id="10" fill="hold"/>
                                        <p:tgtEl>
                                          <p:spTgt spid="2358"/>
                                        </p:tgtEl>
                                        <p:attrNameLst>
                                          <p:attrName>style.visibility</p:attrName>
                                        </p:attrNameLst>
                                      </p:cBhvr>
                                      <p:to>
                                        <p:strVal val="visible"/>
                                      </p:to>
                                    </p:set>
                                    <p:animEffect transition="in" filter="dissolve">
                                      <p:cBhvr>
                                        <p:cTn id="11" dur="3000"/>
                                        <p:tgtEl>
                                          <p:spTgt spid="2358"/>
                                        </p:tgtEl>
                                      </p:cBhvr>
                                    </p:animEffect>
                                  </p:childTnLst>
                                </p:cTn>
                              </p:par>
                            </p:childTnLst>
                          </p:cTn>
                        </p:par>
                        <p:par>
                          <p:cTn id="12" fill="hold">
                            <p:stCondLst>
                              <p:cond delay="6000"/>
                            </p:stCondLst>
                            <p:childTnLst>
                              <p:par>
                                <p:cTn id="13" presetID="9" presetClass="entr" fill="hold" grpId="0" nodeType="afterEffect">
                                  <p:stCondLst>
                                    <p:cond delay="0"/>
                                  </p:stCondLst>
                                  <p:iterate>
                                    <p:tmAbs val="0"/>
                                  </p:iterate>
                                  <p:childTnLst>
                                    <p:set>
                                      <p:cBhvr>
                                        <p:cTn id="14" fill="hold"/>
                                        <p:tgtEl>
                                          <p:spTgt spid="2359"/>
                                        </p:tgtEl>
                                        <p:attrNameLst>
                                          <p:attrName>style.visibility</p:attrName>
                                        </p:attrNameLst>
                                      </p:cBhvr>
                                      <p:to>
                                        <p:strVal val="visible"/>
                                      </p:to>
                                    </p:set>
                                    <p:animEffect transition="in" filter="dissolve">
                                      <p:cBhvr>
                                        <p:cTn id="15" dur="3000"/>
                                        <p:tgtEl>
                                          <p:spTgt spid="2359"/>
                                        </p:tgtEl>
                                      </p:cBhvr>
                                    </p:animEffect>
                                  </p:childTnLst>
                                </p:cTn>
                              </p:par>
                            </p:childTnLst>
                          </p:cTn>
                        </p:par>
                        <p:par>
                          <p:cTn id="16" fill="hold">
                            <p:stCondLst>
                              <p:cond delay="9000"/>
                            </p:stCondLst>
                            <p:childTnLst>
                              <p:par>
                                <p:cTn id="17" presetID="9" presetClass="entr" fill="hold" grpId="0" nodeType="afterEffect">
                                  <p:stCondLst>
                                    <p:cond delay="0"/>
                                  </p:stCondLst>
                                  <p:iterate>
                                    <p:tmAbs val="0"/>
                                  </p:iterate>
                                  <p:childTnLst>
                                    <p:set>
                                      <p:cBhvr>
                                        <p:cTn id="18" fill="hold"/>
                                        <p:tgtEl>
                                          <p:spTgt spid="2360"/>
                                        </p:tgtEl>
                                        <p:attrNameLst>
                                          <p:attrName>style.visibility</p:attrName>
                                        </p:attrNameLst>
                                      </p:cBhvr>
                                      <p:to>
                                        <p:strVal val="visible"/>
                                      </p:to>
                                    </p:set>
                                    <p:animEffect transition="in" filter="dissolve">
                                      <p:cBhvr>
                                        <p:cTn id="19" dur="3000"/>
                                        <p:tgtEl>
                                          <p:spTgt spid="2360"/>
                                        </p:tgtEl>
                                      </p:cBhvr>
                                    </p:animEffect>
                                  </p:childTnLst>
                                </p:cTn>
                              </p:par>
                            </p:childTnLst>
                          </p:cTn>
                        </p:par>
                        <p:par>
                          <p:cTn id="20" fill="hold">
                            <p:stCondLst>
                              <p:cond delay="12000"/>
                            </p:stCondLst>
                            <p:childTnLst>
                              <p:par>
                                <p:cTn id="21" presetID="9" presetClass="entr" fill="hold" grpId="0" nodeType="afterEffect">
                                  <p:stCondLst>
                                    <p:cond delay="0"/>
                                  </p:stCondLst>
                                  <p:iterate>
                                    <p:tmAbs val="0"/>
                                  </p:iterate>
                                  <p:childTnLst>
                                    <p:set>
                                      <p:cBhvr>
                                        <p:cTn id="22" fill="hold"/>
                                        <p:tgtEl>
                                          <p:spTgt spid="2361"/>
                                        </p:tgtEl>
                                        <p:attrNameLst>
                                          <p:attrName>style.visibility</p:attrName>
                                        </p:attrNameLst>
                                      </p:cBhvr>
                                      <p:to>
                                        <p:strVal val="visible"/>
                                      </p:to>
                                    </p:set>
                                    <p:animEffect transition="in" filter="dissolve">
                                      <p:cBhvr>
                                        <p:cTn id="23" dur="3000"/>
                                        <p:tgtEl>
                                          <p:spTgt spid="2361"/>
                                        </p:tgtEl>
                                      </p:cBhvr>
                                    </p:animEffect>
                                  </p:childTnLst>
                                </p:cTn>
                              </p:par>
                            </p:childTnLst>
                          </p:cTn>
                        </p:par>
                        <p:par>
                          <p:cTn id="24" fill="hold">
                            <p:stCondLst>
                              <p:cond delay="15000"/>
                            </p:stCondLst>
                            <p:childTnLst>
                              <p:par>
                                <p:cTn id="25" presetID="9" presetClass="entr" fill="hold" grpId="0" nodeType="afterEffect">
                                  <p:stCondLst>
                                    <p:cond delay="0"/>
                                  </p:stCondLst>
                                  <p:iterate>
                                    <p:tmAbs val="0"/>
                                  </p:iterate>
                                  <p:childTnLst>
                                    <p:set>
                                      <p:cBhvr>
                                        <p:cTn id="26" fill="hold"/>
                                        <p:tgtEl>
                                          <p:spTgt spid="2363"/>
                                        </p:tgtEl>
                                        <p:attrNameLst>
                                          <p:attrName>style.visibility</p:attrName>
                                        </p:attrNameLst>
                                      </p:cBhvr>
                                      <p:to>
                                        <p:strVal val="visible"/>
                                      </p:to>
                                    </p:set>
                                    <p:animEffect transition="in" filter="dissolve">
                                      <p:cBhvr>
                                        <p:cTn id="27" dur="3000"/>
                                        <p:tgtEl>
                                          <p:spTgt spid="2363"/>
                                        </p:tgtEl>
                                      </p:cBhvr>
                                    </p:animEffect>
                                  </p:childTnLst>
                                </p:cTn>
                              </p:par>
                            </p:childTnLst>
                          </p:cTn>
                        </p:par>
                        <p:par>
                          <p:cTn id="28" fill="hold">
                            <p:stCondLst>
                              <p:cond delay="18000"/>
                            </p:stCondLst>
                            <p:childTnLst>
                              <p:par>
                                <p:cTn id="29" presetID="9" presetClass="entr" fill="hold" grpId="0" nodeType="afterEffect">
                                  <p:stCondLst>
                                    <p:cond delay="0"/>
                                  </p:stCondLst>
                                  <p:iterate>
                                    <p:tmAbs val="0"/>
                                  </p:iterate>
                                  <p:childTnLst>
                                    <p:set>
                                      <p:cBhvr>
                                        <p:cTn id="30" fill="hold"/>
                                        <p:tgtEl>
                                          <p:spTgt spid="2362"/>
                                        </p:tgtEl>
                                        <p:attrNameLst>
                                          <p:attrName>style.visibility</p:attrName>
                                        </p:attrNameLst>
                                      </p:cBhvr>
                                      <p:to>
                                        <p:strVal val="visible"/>
                                      </p:to>
                                    </p:set>
                                    <p:animEffect transition="in" filter="dissolve">
                                      <p:cBhvr>
                                        <p:cTn id="31" dur="3000"/>
                                        <p:tgtEl>
                                          <p:spTgt spid="2362"/>
                                        </p:tgtEl>
                                      </p:cBhvr>
                                    </p:animEffect>
                                  </p:childTnLst>
                                </p:cTn>
                              </p:par>
                            </p:childTnLst>
                          </p:cTn>
                        </p:par>
                        <p:par>
                          <p:cTn id="32" fill="hold">
                            <p:stCondLst>
                              <p:cond delay="21000"/>
                            </p:stCondLst>
                            <p:childTnLst>
                              <p:par>
                                <p:cTn id="33" presetID="9" presetClass="entr" fill="hold" grpId="0" nodeType="afterEffect">
                                  <p:stCondLst>
                                    <p:cond delay="0"/>
                                  </p:stCondLst>
                                  <p:iterate>
                                    <p:tmAbs val="0"/>
                                  </p:iterate>
                                  <p:childTnLst>
                                    <p:set>
                                      <p:cBhvr>
                                        <p:cTn id="34" fill="hold"/>
                                        <p:tgtEl>
                                          <p:spTgt spid="2364"/>
                                        </p:tgtEl>
                                        <p:attrNameLst>
                                          <p:attrName>style.visibility</p:attrName>
                                        </p:attrNameLst>
                                      </p:cBhvr>
                                      <p:to>
                                        <p:strVal val="visible"/>
                                      </p:to>
                                    </p:set>
                                    <p:animEffect transition="in" filter="dissolve">
                                      <p:cBhvr>
                                        <p:cTn id="35" dur="3000"/>
                                        <p:tgtEl>
                                          <p:spTgt spid="2364"/>
                                        </p:tgtEl>
                                      </p:cBhvr>
                                    </p:animEffect>
                                  </p:childTnLst>
                                </p:cTn>
                              </p:par>
                            </p:childTnLst>
                          </p:cTn>
                        </p:par>
                        <p:par>
                          <p:cTn id="36" fill="hold">
                            <p:stCondLst>
                              <p:cond delay="24000"/>
                            </p:stCondLst>
                            <p:childTnLst>
                              <p:par>
                                <p:cTn id="37" presetID="9" presetClass="entr" fill="hold" grpId="0" nodeType="afterEffect">
                                  <p:stCondLst>
                                    <p:cond delay="0"/>
                                  </p:stCondLst>
                                  <p:iterate>
                                    <p:tmAbs val="0"/>
                                  </p:iterate>
                                  <p:childTnLst>
                                    <p:set>
                                      <p:cBhvr>
                                        <p:cTn id="38" fill="hold"/>
                                        <p:tgtEl>
                                          <p:spTgt spid="2365"/>
                                        </p:tgtEl>
                                        <p:attrNameLst>
                                          <p:attrName>style.visibility</p:attrName>
                                        </p:attrNameLst>
                                      </p:cBhvr>
                                      <p:to>
                                        <p:strVal val="visible"/>
                                      </p:to>
                                    </p:set>
                                    <p:animEffect transition="in" filter="dissolve">
                                      <p:cBhvr>
                                        <p:cTn id="39" dur="3000"/>
                                        <p:tgtEl>
                                          <p:spTgt spid="2365"/>
                                        </p:tgtEl>
                                      </p:cBhvr>
                                    </p:animEffect>
                                  </p:childTnLst>
                                </p:cTn>
                              </p:par>
                            </p:childTnLst>
                          </p:cTn>
                        </p:par>
                        <p:par>
                          <p:cTn id="40" fill="hold">
                            <p:stCondLst>
                              <p:cond delay="27000"/>
                            </p:stCondLst>
                            <p:childTnLst>
                              <p:par>
                                <p:cTn id="41" presetID="9" presetClass="entr" fill="hold" grpId="0" nodeType="afterEffect">
                                  <p:stCondLst>
                                    <p:cond delay="0"/>
                                  </p:stCondLst>
                                  <p:iterate>
                                    <p:tmAbs val="0"/>
                                  </p:iterate>
                                  <p:childTnLst>
                                    <p:set>
                                      <p:cBhvr>
                                        <p:cTn id="42" fill="hold"/>
                                        <p:tgtEl>
                                          <p:spTgt spid="2367"/>
                                        </p:tgtEl>
                                        <p:attrNameLst>
                                          <p:attrName>style.visibility</p:attrName>
                                        </p:attrNameLst>
                                      </p:cBhvr>
                                      <p:to>
                                        <p:strVal val="visible"/>
                                      </p:to>
                                    </p:set>
                                    <p:animEffect transition="in" filter="dissolve">
                                      <p:cBhvr>
                                        <p:cTn id="43" dur="3000"/>
                                        <p:tgtEl>
                                          <p:spTgt spid="2367"/>
                                        </p:tgtEl>
                                      </p:cBhvr>
                                    </p:animEffect>
                                  </p:childTnLst>
                                </p:cTn>
                              </p:par>
                            </p:childTnLst>
                          </p:cTn>
                        </p:par>
                        <p:par>
                          <p:cTn id="44" fill="hold">
                            <p:stCondLst>
                              <p:cond delay="30000"/>
                            </p:stCondLst>
                            <p:childTnLst>
                              <p:par>
                                <p:cTn id="45" presetID="9" presetClass="entr" fill="hold" grpId="0" nodeType="afterEffect">
                                  <p:stCondLst>
                                    <p:cond delay="0"/>
                                  </p:stCondLst>
                                  <p:iterate>
                                    <p:tmAbs val="0"/>
                                  </p:iterate>
                                  <p:childTnLst>
                                    <p:set>
                                      <p:cBhvr>
                                        <p:cTn id="46" fill="hold"/>
                                        <p:tgtEl>
                                          <p:spTgt spid="2366"/>
                                        </p:tgtEl>
                                        <p:attrNameLst>
                                          <p:attrName>style.visibility</p:attrName>
                                        </p:attrNameLst>
                                      </p:cBhvr>
                                      <p:to>
                                        <p:strVal val="visible"/>
                                      </p:to>
                                    </p:set>
                                    <p:animEffect transition="in" filter="dissolve">
                                      <p:cBhvr>
                                        <p:cTn id="47" dur="3000"/>
                                        <p:tgtEl>
                                          <p:spTgt spid="2366"/>
                                        </p:tgtEl>
                                      </p:cBhvr>
                                    </p:animEffect>
                                  </p:childTnLst>
                                </p:cTn>
                              </p:par>
                            </p:childTnLst>
                          </p:cTn>
                        </p:par>
                        <p:par>
                          <p:cTn id="48" fill="hold">
                            <p:stCondLst>
                              <p:cond delay="33000"/>
                            </p:stCondLst>
                            <p:childTnLst>
                              <p:par>
                                <p:cTn id="49" presetID="9" presetClass="entr" fill="hold" grpId="0" nodeType="afterEffect">
                                  <p:stCondLst>
                                    <p:cond delay="0"/>
                                  </p:stCondLst>
                                  <p:iterate>
                                    <p:tmAbs val="0"/>
                                  </p:iterate>
                                  <p:childTnLst>
                                    <p:set>
                                      <p:cBhvr>
                                        <p:cTn id="50" fill="hold"/>
                                        <p:tgtEl>
                                          <p:spTgt spid="2368"/>
                                        </p:tgtEl>
                                        <p:attrNameLst>
                                          <p:attrName>style.visibility</p:attrName>
                                        </p:attrNameLst>
                                      </p:cBhvr>
                                      <p:to>
                                        <p:strVal val="visible"/>
                                      </p:to>
                                    </p:set>
                                    <p:animEffect transition="in" filter="dissolve">
                                      <p:cBhvr>
                                        <p:cTn id="51" dur="3000"/>
                                        <p:tgtEl>
                                          <p:spTgt spid="2368"/>
                                        </p:tgtEl>
                                      </p:cBhvr>
                                    </p:animEffect>
                                  </p:childTnLst>
                                </p:cTn>
                              </p:par>
                            </p:childTnLst>
                          </p:cTn>
                        </p:par>
                        <p:par>
                          <p:cTn id="52" fill="hold">
                            <p:stCondLst>
                              <p:cond delay="36000"/>
                            </p:stCondLst>
                            <p:childTnLst>
                              <p:par>
                                <p:cTn id="53" presetID="9" presetClass="entr" fill="hold" grpId="0" nodeType="afterEffect">
                                  <p:stCondLst>
                                    <p:cond delay="0"/>
                                  </p:stCondLst>
                                  <p:iterate>
                                    <p:tmAbs val="0"/>
                                  </p:iterate>
                                  <p:childTnLst>
                                    <p:set>
                                      <p:cBhvr>
                                        <p:cTn id="54" fill="hold"/>
                                        <p:tgtEl>
                                          <p:spTgt spid="2369"/>
                                        </p:tgtEl>
                                        <p:attrNameLst>
                                          <p:attrName>style.visibility</p:attrName>
                                        </p:attrNameLst>
                                      </p:cBhvr>
                                      <p:to>
                                        <p:strVal val="visible"/>
                                      </p:to>
                                    </p:set>
                                    <p:animEffect transition="in" filter="dissolve">
                                      <p:cBhvr>
                                        <p:cTn id="55" dur="3000"/>
                                        <p:tgtEl>
                                          <p:spTgt spid="2369"/>
                                        </p:tgtEl>
                                      </p:cBhvr>
                                    </p:animEffect>
                                  </p:childTnLst>
                                </p:cTn>
                              </p:par>
                            </p:childTnLst>
                          </p:cTn>
                        </p:par>
                        <p:par>
                          <p:cTn id="56" fill="hold">
                            <p:stCondLst>
                              <p:cond delay="39000"/>
                            </p:stCondLst>
                            <p:childTnLst>
                              <p:par>
                                <p:cTn id="57" presetID="9" presetClass="entr" fill="hold" grpId="0" nodeType="afterEffect">
                                  <p:stCondLst>
                                    <p:cond delay="0"/>
                                  </p:stCondLst>
                                  <p:iterate>
                                    <p:tmAbs val="0"/>
                                  </p:iterate>
                                  <p:childTnLst>
                                    <p:set>
                                      <p:cBhvr>
                                        <p:cTn id="58" fill="hold"/>
                                        <p:tgtEl>
                                          <p:spTgt spid="2371"/>
                                        </p:tgtEl>
                                        <p:attrNameLst>
                                          <p:attrName>style.visibility</p:attrName>
                                        </p:attrNameLst>
                                      </p:cBhvr>
                                      <p:to>
                                        <p:strVal val="visible"/>
                                      </p:to>
                                    </p:set>
                                    <p:animEffect transition="in" filter="dissolve">
                                      <p:cBhvr>
                                        <p:cTn id="59" dur="3000"/>
                                        <p:tgtEl>
                                          <p:spTgt spid="2371"/>
                                        </p:tgtEl>
                                      </p:cBhvr>
                                    </p:animEffect>
                                  </p:childTnLst>
                                </p:cTn>
                              </p:par>
                            </p:childTnLst>
                          </p:cTn>
                        </p:par>
                        <p:par>
                          <p:cTn id="60" fill="hold">
                            <p:stCondLst>
                              <p:cond delay="42000"/>
                            </p:stCondLst>
                            <p:childTnLst>
                              <p:par>
                                <p:cTn id="61" presetID="9" presetClass="entr" fill="hold" grpId="0" nodeType="afterEffect">
                                  <p:stCondLst>
                                    <p:cond delay="0"/>
                                  </p:stCondLst>
                                  <p:iterate>
                                    <p:tmAbs val="0"/>
                                  </p:iterate>
                                  <p:childTnLst>
                                    <p:set>
                                      <p:cBhvr>
                                        <p:cTn id="62" fill="hold"/>
                                        <p:tgtEl>
                                          <p:spTgt spid="2370"/>
                                        </p:tgtEl>
                                        <p:attrNameLst>
                                          <p:attrName>style.visibility</p:attrName>
                                        </p:attrNameLst>
                                      </p:cBhvr>
                                      <p:to>
                                        <p:strVal val="visible"/>
                                      </p:to>
                                    </p:set>
                                    <p:animEffect transition="in" filter="dissolve">
                                      <p:cBhvr>
                                        <p:cTn id="63" dur="3000"/>
                                        <p:tgtEl>
                                          <p:spTgt spid="2370"/>
                                        </p:tgtEl>
                                      </p:cBhvr>
                                    </p:animEffect>
                                  </p:childTnLst>
                                </p:cTn>
                              </p:par>
                            </p:childTnLst>
                          </p:cTn>
                        </p:par>
                        <p:par>
                          <p:cTn id="64" fill="hold">
                            <p:stCondLst>
                              <p:cond delay="45000"/>
                            </p:stCondLst>
                            <p:childTnLst>
                              <p:par>
                                <p:cTn id="65" presetID="9" presetClass="entr" fill="hold" grpId="0" nodeType="afterEffect">
                                  <p:stCondLst>
                                    <p:cond delay="0"/>
                                  </p:stCondLst>
                                  <p:iterate>
                                    <p:tmAbs val="0"/>
                                  </p:iterate>
                                  <p:childTnLst>
                                    <p:set>
                                      <p:cBhvr>
                                        <p:cTn id="66" fill="hold"/>
                                        <p:tgtEl>
                                          <p:spTgt spid="2372"/>
                                        </p:tgtEl>
                                        <p:attrNameLst>
                                          <p:attrName>style.visibility</p:attrName>
                                        </p:attrNameLst>
                                      </p:cBhvr>
                                      <p:to>
                                        <p:strVal val="visible"/>
                                      </p:to>
                                    </p:set>
                                    <p:animEffect transition="in" filter="dissolve">
                                      <p:cBhvr>
                                        <p:cTn id="67" dur="3000"/>
                                        <p:tgtEl>
                                          <p:spTgt spid="2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7" grpId="0" animBg="1" advAuto="0"/>
      <p:bldP spid="2358" grpId="0" animBg="1" advAuto="0"/>
      <p:bldP spid="2359" grpId="0" animBg="1" advAuto="0"/>
      <p:bldP spid="2360" grpId="0" animBg="1" advAuto="0"/>
      <p:bldP spid="2361" grpId="0" animBg="1" advAuto="0"/>
      <p:bldP spid="2362" grpId="0" animBg="1" advAuto="0"/>
      <p:bldP spid="2363" grpId="0" animBg="1" advAuto="0"/>
      <p:bldP spid="2364" grpId="0" animBg="1" advAuto="0"/>
      <p:bldP spid="2365" grpId="0" animBg="1" advAuto="0"/>
      <p:bldP spid="2366" grpId="0" animBg="1" advAuto="0"/>
      <p:bldP spid="2367" grpId="0" animBg="1" advAuto="0"/>
      <p:bldP spid="2368" grpId="0" animBg="1" advAuto="0"/>
      <p:bldP spid="2369" grpId="0" animBg="1" advAuto="0"/>
      <p:bldP spid="2370" grpId="0" animBg="1" advAuto="0"/>
      <p:bldP spid="2371" grpId="0" animBg="1" advAuto="0"/>
      <p:bldP spid="2372" grpId="0"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5" name="Image 0" descr="Image 0"/>
          <p:cNvPicPr>
            <a:picLocks noChangeAspect="1"/>
          </p:cNvPicPr>
          <p:nvPr/>
        </p:nvPicPr>
        <p:blipFill>
          <a:blip r:embed="rId2"/>
          <a:stretch>
            <a:fillRect/>
          </a:stretch>
        </p:blipFill>
        <p:spPr>
          <a:xfrm>
            <a:off x="8238941" y="928414"/>
            <a:ext cx="3953058" cy="5929586"/>
          </a:xfrm>
          <a:prstGeom prst="rect">
            <a:avLst/>
          </a:prstGeom>
          <a:ln w="12700">
            <a:miter lim="400000"/>
          </a:ln>
        </p:spPr>
      </p:pic>
      <p:sp>
        <p:nvSpPr>
          <p:cNvPr id="2376" name="Text 0"/>
          <p:cNvSpPr txBox="1"/>
          <p:nvPr/>
        </p:nvSpPr>
        <p:spPr>
          <a:xfrm>
            <a:off x="661492" y="1820069"/>
            <a:ext cx="6297018"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Designing a Research Project</a:t>
            </a:r>
          </a:p>
        </p:txBody>
      </p:sp>
      <p:sp>
        <p:nvSpPr>
          <p:cNvPr id="2377" name="Shape 2"/>
          <p:cNvSpPr/>
          <p:nvPr/>
        </p:nvSpPr>
        <p:spPr>
          <a:xfrm>
            <a:off x="661492" y="4721225"/>
            <a:ext cx="302420" cy="302420"/>
          </a:xfrm>
          <a:prstGeom prst="roundRect">
            <a:avLst>
              <a:gd name="adj" fmla="val 50000"/>
            </a:avLst>
          </a:prstGeom>
          <a:ln w="7620">
            <a:solidFill>
              <a:srgbClr val="FFFFFF"/>
            </a:solidFill>
          </a:ln>
        </p:spPr>
        <p:txBody>
          <a:bodyPr lIns="38099" rIns="38099"/>
          <a:lstStyle/>
          <a:p>
            <a:endParaRPr sz="1500"/>
          </a:p>
        </p:txBody>
      </p:sp>
      <p:sp>
        <p:nvSpPr>
          <p:cNvPr id="2378" name="Refresher"/>
          <p:cNvSpPr txBox="1"/>
          <p:nvPr/>
        </p:nvSpPr>
        <p:spPr>
          <a:xfrm>
            <a:off x="-3791" y="-165798"/>
            <a:ext cx="4293467" cy="645690"/>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lvl1pPr>
              <a:lnSpc>
                <a:spcPts val="5100"/>
              </a:lnSpc>
              <a:defRPr sz="2600" b="1" i="1">
                <a:solidFill>
                  <a:srgbClr val="FF9300"/>
                </a:solidFill>
                <a:latin typeface="Playfair Display Bold"/>
                <a:ea typeface="Playfair Display Bold"/>
                <a:cs typeface="Playfair Display Bold"/>
                <a:sym typeface="Playfair Display Bold"/>
              </a:defRPr>
            </a:lvl1pPr>
          </a:lstStyle>
          <a:p>
            <a:r>
              <a:rPr sz="2167"/>
              <a:t>Refresher     </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0" name="Image 0" descr="Image 0"/>
          <p:cNvPicPr>
            <a:picLocks noChangeAspect="1"/>
          </p:cNvPicPr>
          <p:nvPr/>
        </p:nvPicPr>
        <p:blipFill>
          <a:blip r:embed="rId2"/>
          <a:stretch>
            <a:fillRect/>
          </a:stretch>
        </p:blipFill>
        <p:spPr>
          <a:xfrm>
            <a:off x="8238941" y="928414"/>
            <a:ext cx="3953058" cy="5929586"/>
          </a:xfrm>
          <a:prstGeom prst="rect">
            <a:avLst/>
          </a:prstGeom>
          <a:ln w="12700">
            <a:miter lim="400000"/>
          </a:ln>
        </p:spPr>
      </p:pic>
      <p:sp>
        <p:nvSpPr>
          <p:cNvPr id="2381" name="Text 0"/>
          <p:cNvSpPr txBox="1"/>
          <p:nvPr/>
        </p:nvSpPr>
        <p:spPr>
          <a:xfrm>
            <a:off x="661492" y="1820069"/>
            <a:ext cx="6297018"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Designing a Research Project</a:t>
            </a:r>
          </a:p>
        </p:txBody>
      </p:sp>
      <p:sp>
        <p:nvSpPr>
          <p:cNvPr id="2382" name="Shape 2"/>
          <p:cNvSpPr/>
          <p:nvPr/>
        </p:nvSpPr>
        <p:spPr>
          <a:xfrm>
            <a:off x="661492" y="4721225"/>
            <a:ext cx="302420" cy="302420"/>
          </a:xfrm>
          <a:prstGeom prst="roundRect">
            <a:avLst>
              <a:gd name="adj" fmla="val 50000"/>
            </a:avLst>
          </a:prstGeom>
          <a:ln w="7620">
            <a:solidFill>
              <a:srgbClr val="FFFFFF"/>
            </a:solidFill>
          </a:ln>
        </p:spPr>
        <p:txBody>
          <a:bodyPr lIns="38099" rIns="38099"/>
          <a:lstStyle/>
          <a:p>
            <a:endParaRPr sz="1500"/>
          </a:p>
        </p:txBody>
      </p:sp>
      <p:sp>
        <p:nvSpPr>
          <p:cNvPr id="2383" name="Text 3"/>
          <p:cNvSpPr txBox="1"/>
          <p:nvPr/>
        </p:nvSpPr>
        <p:spPr>
          <a:xfrm>
            <a:off x="651338" y="3309484"/>
            <a:ext cx="3577903" cy="676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To make the steps of designing easier, you can review &amp; follow our checklist. </a:t>
            </a:r>
          </a:p>
        </p:txBody>
      </p:sp>
      <p:pic>
        <p:nvPicPr>
          <p:cNvPr id="2384" name="pasted-movie.png" descr="pasted-movie.png"/>
          <p:cNvPicPr>
            <a:picLocks/>
          </p:cNvPicPr>
          <p:nvPr/>
        </p:nvPicPr>
        <p:blipFill>
          <a:blip r:embed="rId3"/>
          <a:stretch>
            <a:fillRect/>
          </a:stretch>
        </p:blipFill>
        <p:spPr>
          <a:xfrm rot="180286">
            <a:off x="6040529" y="707928"/>
            <a:ext cx="4392170" cy="5777891"/>
          </a:xfrm>
          <a:prstGeom prst="rect">
            <a:avLst/>
          </a:prstGeom>
          <a:effectLst>
            <a:outerShdw blurRad="381000" dist="114300" rotWithShape="0">
              <a:srgbClr val="000000">
                <a:alpha val="75000"/>
              </a:srgbClr>
            </a:outerShdw>
          </a:effectLst>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6" name="Image 0" descr="Image 0"/>
          <p:cNvPicPr>
            <a:picLocks noChangeAspect="1"/>
          </p:cNvPicPr>
          <p:nvPr/>
        </p:nvPicPr>
        <p:blipFill>
          <a:blip r:embed="rId2"/>
          <a:stretch>
            <a:fillRect/>
          </a:stretch>
        </p:blipFill>
        <p:spPr>
          <a:xfrm>
            <a:off x="8238941" y="928414"/>
            <a:ext cx="3953058" cy="5929586"/>
          </a:xfrm>
          <a:prstGeom prst="rect">
            <a:avLst/>
          </a:prstGeom>
          <a:ln w="12700">
            <a:miter lim="400000"/>
          </a:ln>
        </p:spPr>
      </p:pic>
      <p:sp>
        <p:nvSpPr>
          <p:cNvPr id="2387" name="Text 0"/>
          <p:cNvSpPr txBox="1"/>
          <p:nvPr/>
        </p:nvSpPr>
        <p:spPr>
          <a:xfrm>
            <a:off x="661492" y="1820069"/>
            <a:ext cx="6297018"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Designing a Research Project</a:t>
            </a:r>
          </a:p>
        </p:txBody>
      </p:sp>
      <p:sp>
        <p:nvSpPr>
          <p:cNvPr id="2388" name="Shape 2"/>
          <p:cNvSpPr/>
          <p:nvPr/>
        </p:nvSpPr>
        <p:spPr>
          <a:xfrm>
            <a:off x="661492" y="4721225"/>
            <a:ext cx="302420" cy="302420"/>
          </a:xfrm>
          <a:prstGeom prst="roundRect">
            <a:avLst>
              <a:gd name="adj" fmla="val 50000"/>
            </a:avLst>
          </a:prstGeom>
          <a:ln w="7620">
            <a:solidFill>
              <a:srgbClr val="FFFFFF"/>
            </a:solidFill>
          </a:ln>
        </p:spPr>
        <p:txBody>
          <a:bodyPr lIns="38099" rIns="38099"/>
          <a:lstStyle/>
          <a:p>
            <a:endParaRPr sz="1500"/>
          </a:p>
        </p:txBody>
      </p:sp>
      <p:sp>
        <p:nvSpPr>
          <p:cNvPr id="2389" name="Text 3"/>
          <p:cNvSpPr txBox="1"/>
          <p:nvPr/>
        </p:nvSpPr>
        <p:spPr>
          <a:xfrm>
            <a:off x="651338" y="3309484"/>
            <a:ext cx="3577903"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Look where we are in the process… </a:t>
            </a:r>
          </a:p>
        </p:txBody>
      </p:sp>
      <p:pic>
        <p:nvPicPr>
          <p:cNvPr id="2390" name="pasted-movie.png" descr="pasted-movie.png"/>
          <p:cNvPicPr>
            <a:picLocks/>
          </p:cNvPicPr>
          <p:nvPr/>
        </p:nvPicPr>
        <p:blipFill>
          <a:blip r:embed="rId3"/>
          <a:stretch>
            <a:fillRect/>
          </a:stretch>
        </p:blipFill>
        <p:spPr>
          <a:xfrm rot="180286">
            <a:off x="6040529" y="707928"/>
            <a:ext cx="4392170" cy="5777891"/>
          </a:xfrm>
          <a:prstGeom prst="rect">
            <a:avLst/>
          </a:prstGeom>
          <a:effectLst>
            <a:outerShdw blurRad="381000" dist="114300" rotWithShape="0">
              <a:srgbClr val="000000">
                <a:alpha val="75000"/>
              </a:srgbClr>
            </a:outerShdw>
          </a:effectLst>
        </p:spPr>
      </p:pic>
      <p:sp>
        <p:nvSpPr>
          <p:cNvPr id="2391" name="Arrow 11"/>
          <p:cNvSpPr/>
          <p:nvPr/>
        </p:nvSpPr>
        <p:spPr>
          <a:xfrm>
            <a:off x="5753516" y="3171141"/>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
        <p:nvSpPr>
          <p:cNvPr id="2392" name="Arrow 11"/>
          <p:cNvSpPr/>
          <p:nvPr/>
        </p:nvSpPr>
        <p:spPr>
          <a:xfrm>
            <a:off x="5002099" y="3171141"/>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
        <p:nvSpPr>
          <p:cNvPr id="2393" name="Check Mark"/>
          <p:cNvSpPr/>
          <p:nvPr/>
        </p:nvSpPr>
        <p:spPr>
          <a:xfrm>
            <a:off x="5880096" y="1425708"/>
            <a:ext cx="730364" cy="560701"/>
          </a:xfrm>
          <a:custGeom>
            <a:avLst/>
            <a:gdLst/>
            <a:ahLst/>
            <a:cxnLst>
              <a:cxn ang="0">
                <a:pos x="wd2" y="hd2"/>
              </a:cxn>
              <a:cxn ang="5400000">
                <a:pos x="wd2" y="hd2"/>
              </a:cxn>
              <a:cxn ang="10800000">
                <a:pos x="wd2" y="hd2"/>
              </a:cxn>
              <a:cxn ang="16200000">
                <a:pos x="wd2" y="hd2"/>
              </a:cxn>
            </a:cxnLst>
            <a:rect l="0" t="0" r="r" b="b"/>
            <a:pathLst>
              <a:path w="21576" h="21585" extrusionOk="0">
                <a:moveTo>
                  <a:pt x="19124" y="0"/>
                </a:moveTo>
                <a:cubicBezTo>
                  <a:pt x="19093" y="0"/>
                  <a:pt x="19062" y="15"/>
                  <a:pt x="19038" y="46"/>
                </a:cubicBezTo>
                <a:lnTo>
                  <a:pt x="7550" y="15019"/>
                </a:lnTo>
                <a:cubicBezTo>
                  <a:pt x="7502" y="15081"/>
                  <a:pt x="7426" y="15081"/>
                  <a:pt x="7379" y="15019"/>
                </a:cubicBezTo>
                <a:lnTo>
                  <a:pt x="2536" y="8708"/>
                </a:lnTo>
                <a:cubicBezTo>
                  <a:pt x="2489" y="8646"/>
                  <a:pt x="2413" y="8646"/>
                  <a:pt x="2365" y="8708"/>
                </a:cubicBezTo>
                <a:lnTo>
                  <a:pt x="35" y="11744"/>
                </a:lnTo>
                <a:cubicBezTo>
                  <a:pt x="-12" y="11806"/>
                  <a:pt x="-12" y="11907"/>
                  <a:pt x="35" y="11969"/>
                </a:cubicBezTo>
                <a:lnTo>
                  <a:pt x="4963" y="18390"/>
                </a:lnTo>
                <a:lnTo>
                  <a:pt x="6654" y="20594"/>
                </a:lnTo>
                <a:lnTo>
                  <a:pt x="7379" y="21538"/>
                </a:lnTo>
                <a:cubicBezTo>
                  <a:pt x="7426" y="21600"/>
                  <a:pt x="7502" y="21600"/>
                  <a:pt x="7550" y="21538"/>
                </a:cubicBezTo>
                <a:lnTo>
                  <a:pt x="21541" y="3307"/>
                </a:lnTo>
                <a:cubicBezTo>
                  <a:pt x="21588" y="3245"/>
                  <a:pt x="21588" y="3146"/>
                  <a:pt x="21541" y="3085"/>
                </a:cubicBezTo>
                <a:lnTo>
                  <a:pt x="19211" y="48"/>
                </a:lnTo>
                <a:cubicBezTo>
                  <a:pt x="19186" y="17"/>
                  <a:pt x="19156" y="0"/>
                  <a:pt x="19124" y="0"/>
                </a:cubicBezTo>
                <a:close/>
              </a:path>
            </a:pathLst>
          </a:custGeom>
          <a:gradFill>
            <a:gsLst>
              <a:gs pos="0">
                <a:srgbClr val="AC50A0"/>
              </a:gs>
              <a:gs pos="50000">
                <a:srgbClr val="A62598"/>
              </a:gs>
              <a:gs pos="100000">
                <a:srgbClr val="981C8A"/>
              </a:gs>
            </a:gsLst>
            <a:lin ang="5400000"/>
          </a:gradFill>
          <a:ln w="12700">
            <a:solidFill>
              <a:schemeClr val="accent5"/>
            </a:solidFill>
            <a:miter/>
          </a:ln>
        </p:spPr>
        <p:txBody>
          <a:bodyPr lIns="38099" rIns="38099" anchor="ctr"/>
          <a:lstStyle/>
          <a:p>
            <a:pPr>
              <a:defRPr>
                <a:solidFill>
                  <a:srgbClr val="FFFFFF"/>
                </a:solidFill>
              </a:defRPr>
            </a:pPr>
            <a:endParaRPr sz="1500"/>
          </a:p>
        </p:txBody>
      </p:sp>
      <p:sp>
        <p:nvSpPr>
          <p:cNvPr id="2394" name="Check Mark"/>
          <p:cNvSpPr/>
          <p:nvPr/>
        </p:nvSpPr>
        <p:spPr>
          <a:xfrm>
            <a:off x="5730819" y="2212391"/>
            <a:ext cx="730363" cy="560701"/>
          </a:xfrm>
          <a:custGeom>
            <a:avLst/>
            <a:gdLst/>
            <a:ahLst/>
            <a:cxnLst>
              <a:cxn ang="0">
                <a:pos x="wd2" y="hd2"/>
              </a:cxn>
              <a:cxn ang="5400000">
                <a:pos x="wd2" y="hd2"/>
              </a:cxn>
              <a:cxn ang="10800000">
                <a:pos x="wd2" y="hd2"/>
              </a:cxn>
              <a:cxn ang="16200000">
                <a:pos x="wd2" y="hd2"/>
              </a:cxn>
            </a:cxnLst>
            <a:rect l="0" t="0" r="r" b="b"/>
            <a:pathLst>
              <a:path w="21576" h="21585" extrusionOk="0">
                <a:moveTo>
                  <a:pt x="19124" y="0"/>
                </a:moveTo>
                <a:cubicBezTo>
                  <a:pt x="19093" y="0"/>
                  <a:pt x="19062" y="15"/>
                  <a:pt x="19038" y="46"/>
                </a:cubicBezTo>
                <a:lnTo>
                  <a:pt x="7550" y="15019"/>
                </a:lnTo>
                <a:cubicBezTo>
                  <a:pt x="7502" y="15081"/>
                  <a:pt x="7426" y="15081"/>
                  <a:pt x="7379" y="15019"/>
                </a:cubicBezTo>
                <a:lnTo>
                  <a:pt x="2536" y="8708"/>
                </a:lnTo>
                <a:cubicBezTo>
                  <a:pt x="2489" y="8646"/>
                  <a:pt x="2413" y="8646"/>
                  <a:pt x="2365" y="8708"/>
                </a:cubicBezTo>
                <a:lnTo>
                  <a:pt x="35" y="11744"/>
                </a:lnTo>
                <a:cubicBezTo>
                  <a:pt x="-12" y="11806"/>
                  <a:pt x="-12" y="11907"/>
                  <a:pt x="35" y="11969"/>
                </a:cubicBezTo>
                <a:lnTo>
                  <a:pt x="4963" y="18390"/>
                </a:lnTo>
                <a:lnTo>
                  <a:pt x="6654" y="20594"/>
                </a:lnTo>
                <a:lnTo>
                  <a:pt x="7379" y="21538"/>
                </a:lnTo>
                <a:cubicBezTo>
                  <a:pt x="7426" y="21600"/>
                  <a:pt x="7502" y="21600"/>
                  <a:pt x="7550" y="21538"/>
                </a:cubicBezTo>
                <a:lnTo>
                  <a:pt x="21541" y="3307"/>
                </a:lnTo>
                <a:cubicBezTo>
                  <a:pt x="21588" y="3245"/>
                  <a:pt x="21588" y="3146"/>
                  <a:pt x="21541" y="3085"/>
                </a:cubicBezTo>
                <a:lnTo>
                  <a:pt x="19211" y="48"/>
                </a:lnTo>
                <a:cubicBezTo>
                  <a:pt x="19186" y="17"/>
                  <a:pt x="19156" y="0"/>
                  <a:pt x="19124" y="0"/>
                </a:cubicBezTo>
                <a:close/>
              </a:path>
            </a:pathLst>
          </a:custGeom>
          <a:gradFill>
            <a:gsLst>
              <a:gs pos="0">
                <a:srgbClr val="AC50A0"/>
              </a:gs>
              <a:gs pos="50000">
                <a:srgbClr val="A62598"/>
              </a:gs>
              <a:gs pos="100000">
                <a:srgbClr val="981C8A"/>
              </a:gs>
            </a:gsLst>
            <a:lin ang="5400000"/>
          </a:gradFill>
          <a:ln w="12700">
            <a:solidFill>
              <a:schemeClr val="accent5"/>
            </a:solidFill>
            <a:miter/>
          </a:ln>
        </p:spPr>
        <p:txBody>
          <a:bodyPr lIns="38099" rIns="38099" anchor="ctr"/>
          <a:lstStyle/>
          <a:p>
            <a:pPr>
              <a:defRPr>
                <a:solidFill>
                  <a:srgbClr val="FFFFFF"/>
                </a:solidFill>
              </a:defRPr>
            </a:pPr>
            <a:endParaRPr sz="1500"/>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 name="Image 0" descr="Image 0"/>
          <p:cNvPicPr>
            <a:picLocks noChangeAspect="1"/>
          </p:cNvPicPr>
          <p:nvPr/>
        </p:nvPicPr>
        <p:blipFill>
          <a:blip r:embed="rId2"/>
          <a:stretch>
            <a:fillRect/>
          </a:stretch>
        </p:blipFill>
        <p:spPr>
          <a:xfrm>
            <a:off x="8171919" y="827881"/>
            <a:ext cx="4020080" cy="6030119"/>
          </a:xfrm>
          <a:prstGeom prst="rect">
            <a:avLst/>
          </a:prstGeom>
          <a:ln w="12700">
            <a:miter lim="400000"/>
          </a:ln>
        </p:spPr>
      </p:pic>
      <p:sp>
        <p:nvSpPr>
          <p:cNvPr id="2397" name="Text 0"/>
          <p:cNvSpPr txBox="1"/>
          <p:nvPr/>
        </p:nvSpPr>
        <p:spPr>
          <a:xfrm>
            <a:off x="661492" y="827881"/>
            <a:ext cx="6297018" cy="13405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Failing to Plan is Planning to Fail</a:t>
            </a:r>
          </a:p>
        </p:txBody>
      </p:sp>
      <p:sp>
        <p:nvSpPr>
          <p:cNvPr id="2398" name="Shape 1"/>
          <p:cNvSpPr/>
          <p:nvPr/>
        </p:nvSpPr>
        <p:spPr>
          <a:xfrm>
            <a:off x="661492" y="2292648"/>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399" name="Image 1" descr="Image 1"/>
          <p:cNvPicPr>
            <a:picLocks noChangeAspect="1"/>
          </p:cNvPicPr>
          <p:nvPr/>
        </p:nvPicPr>
        <p:blipFill>
          <a:blip r:embed="rId3"/>
          <a:stretch>
            <a:fillRect/>
          </a:stretch>
        </p:blipFill>
        <p:spPr>
          <a:xfrm>
            <a:off x="732384" y="2328068"/>
            <a:ext cx="283469" cy="354410"/>
          </a:xfrm>
          <a:prstGeom prst="rect">
            <a:avLst/>
          </a:prstGeom>
          <a:ln w="12700">
            <a:miter lim="400000"/>
          </a:ln>
        </p:spPr>
      </p:pic>
      <p:sp>
        <p:nvSpPr>
          <p:cNvPr id="2400" name="Text 2"/>
          <p:cNvSpPr txBox="1"/>
          <p:nvPr/>
        </p:nvSpPr>
        <p:spPr>
          <a:xfrm>
            <a:off x="1275754" y="2357536"/>
            <a:ext cx="2416177" cy="6590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Research Requires Direction</a:t>
            </a:r>
          </a:p>
        </p:txBody>
      </p:sp>
      <p:sp>
        <p:nvSpPr>
          <p:cNvPr id="2401" name="Text 3"/>
          <p:cNvSpPr txBox="1"/>
          <p:nvPr/>
        </p:nvSpPr>
        <p:spPr>
          <a:xfrm>
            <a:off x="1275754" y="3061494"/>
            <a:ext cx="2416177" cy="13944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Like baking without a recipe or traveling without a map, research without planning leads to confusion.</a:t>
            </a:r>
          </a:p>
        </p:txBody>
      </p:sp>
      <p:sp>
        <p:nvSpPr>
          <p:cNvPr id="2402" name="Shape 4"/>
          <p:cNvSpPr/>
          <p:nvPr/>
        </p:nvSpPr>
        <p:spPr>
          <a:xfrm>
            <a:off x="3928169" y="2292648"/>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403" name="Image 2" descr="Image 2"/>
          <p:cNvPicPr>
            <a:picLocks noChangeAspect="1"/>
          </p:cNvPicPr>
          <p:nvPr/>
        </p:nvPicPr>
        <p:blipFill>
          <a:blip r:embed="rId4"/>
          <a:stretch>
            <a:fillRect/>
          </a:stretch>
        </p:blipFill>
        <p:spPr>
          <a:xfrm>
            <a:off x="3999062" y="2328068"/>
            <a:ext cx="283469" cy="354410"/>
          </a:xfrm>
          <a:prstGeom prst="rect">
            <a:avLst/>
          </a:prstGeom>
          <a:ln w="12700">
            <a:miter lim="400000"/>
          </a:ln>
        </p:spPr>
      </p:pic>
      <p:sp>
        <p:nvSpPr>
          <p:cNvPr id="2404" name="Text 5"/>
          <p:cNvSpPr txBox="1"/>
          <p:nvPr/>
        </p:nvSpPr>
        <p:spPr>
          <a:xfrm>
            <a:off x="4542432" y="2357536"/>
            <a:ext cx="1992533"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Create a Blueprint</a:t>
            </a:r>
          </a:p>
        </p:txBody>
      </p:sp>
      <p:sp>
        <p:nvSpPr>
          <p:cNvPr id="2405" name="Text 6"/>
          <p:cNvSpPr txBox="1"/>
          <p:nvPr/>
        </p:nvSpPr>
        <p:spPr>
          <a:xfrm>
            <a:off x="4542432" y="2766219"/>
            <a:ext cx="2416176" cy="10354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A well-designed project saves time and increases the chances of valid, meaningful findings.</a:t>
            </a:r>
          </a:p>
        </p:txBody>
      </p:sp>
      <p:sp>
        <p:nvSpPr>
          <p:cNvPr id="2406" name="Shape 7"/>
          <p:cNvSpPr/>
          <p:nvPr/>
        </p:nvSpPr>
        <p:spPr>
          <a:xfrm>
            <a:off x="661492" y="4951611"/>
            <a:ext cx="425253" cy="42525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407" name="Image 3" descr="Image 3"/>
          <p:cNvPicPr>
            <a:picLocks noChangeAspect="1"/>
          </p:cNvPicPr>
          <p:nvPr/>
        </p:nvPicPr>
        <p:blipFill>
          <a:blip r:embed="rId5"/>
          <a:stretch>
            <a:fillRect/>
          </a:stretch>
        </p:blipFill>
        <p:spPr>
          <a:xfrm>
            <a:off x="732384" y="4987031"/>
            <a:ext cx="283469" cy="354410"/>
          </a:xfrm>
          <a:prstGeom prst="rect">
            <a:avLst/>
          </a:prstGeom>
          <a:ln w="12700">
            <a:miter lim="400000"/>
          </a:ln>
        </p:spPr>
      </p:pic>
      <p:sp>
        <p:nvSpPr>
          <p:cNvPr id="2408" name="Text 8"/>
          <p:cNvSpPr txBox="1"/>
          <p:nvPr/>
        </p:nvSpPr>
        <p:spPr>
          <a:xfrm>
            <a:off x="1275754" y="5016500"/>
            <a:ext cx="2289088"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Develop a Game Plan</a:t>
            </a:r>
          </a:p>
        </p:txBody>
      </p:sp>
      <p:sp>
        <p:nvSpPr>
          <p:cNvPr id="2409" name="Text 9"/>
          <p:cNvSpPr txBox="1"/>
          <p:nvPr/>
        </p:nvSpPr>
        <p:spPr>
          <a:xfrm>
            <a:off x="1275755" y="5425182"/>
            <a:ext cx="5682754" cy="676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We'll cover methodologies, tools, variables, and ethical considerations for your research journey.</a:t>
            </a:r>
          </a:p>
        </p:txBody>
      </p:sp>
      <p:sp>
        <p:nvSpPr>
          <p:cNvPr id="2410" name="Refresher"/>
          <p:cNvSpPr txBox="1"/>
          <p:nvPr/>
        </p:nvSpPr>
        <p:spPr>
          <a:xfrm>
            <a:off x="-3791" y="-165798"/>
            <a:ext cx="4293467" cy="645690"/>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lvl1pPr>
              <a:lnSpc>
                <a:spcPts val="5100"/>
              </a:lnSpc>
              <a:defRPr sz="2600" b="1" i="1">
                <a:solidFill>
                  <a:srgbClr val="FF9300"/>
                </a:solidFill>
                <a:latin typeface="Playfair Display Bold"/>
                <a:ea typeface="Playfair Display Bold"/>
                <a:cs typeface="Playfair Display Bold"/>
                <a:sym typeface="Playfair Display Bold"/>
              </a:defRPr>
            </a:lvl1pPr>
          </a:lstStyle>
          <a:p>
            <a:r>
              <a:rPr sz="2167"/>
              <a:t>Refresher     </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12" name="Image 0" descr="Image 0"/>
          <p:cNvPicPr>
            <a:picLocks noChangeAspect="1"/>
          </p:cNvPicPr>
          <p:nvPr/>
        </p:nvPicPr>
        <p:blipFill>
          <a:blip r:embed="rId2"/>
          <a:stretch>
            <a:fillRect/>
          </a:stretch>
        </p:blipFill>
        <p:spPr>
          <a:xfrm>
            <a:off x="8206515" y="879771"/>
            <a:ext cx="3985486" cy="5978228"/>
          </a:xfrm>
          <a:prstGeom prst="rect">
            <a:avLst/>
          </a:prstGeom>
          <a:ln w="12700">
            <a:miter lim="400000"/>
          </a:ln>
        </p:spPr>
      </p:pic>
      <p:sp>
        <p:nvSpPr>
          <p:cNvPr id="2413" name="Text 0"/>
          <p:cNvSpPr txBox="1"/>
          <p:nvPr/>
        </p:nvSpPr>
        <p:spPr>
          <a:xfrm>
            <a:off x="602356" y="879772"/>
            <a:ext cx="5729132" cy="5774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000"/>
              </a:lnSpc>
              <a:defRPr sz="4000" b="1">
                <a:latin typeface="Playfair Display Bold"/>
                <a:ea typeface="Playfair Display Bold"/>
                <a:cs typeface="Playfair Display Bold"/>
                <a:sym typeface="Playfair Display Bold"/>
              </a:defRPr>
            </a:lvl1pPr>
          </a:lstStyle>
          <a:p>
            <a:r>
              <a:rPr sz="3333"/>
              <a:t>Choosing a Research Method</a:t>
            </a:r>
          </a:p>
        </p:txBody>
      </p:sp>
      <p:sp>
        <p:nvSpPr>
          <p:cNvPr id="2414" name="Text 1"/>
          <p:cNvSpPr txBox="1"/>
          <p:nvPr/>
        </p:nvSpPr>
        <p:spPr>
          <a:xfrm>
            <a:off x="602356" y="1675806"/>
            <a:ext cx="6415288" cy="6540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600"/>
              </a:lnSpc>
              <a:defRPr sz="2500">
                <a:solidFill>
                  <a:srgbClr val="919191"/>
                </a:solidFill>
                <a:latin typeface="Inter"/>
                <a:ea typeface="Inter"/>
                <a:cs typeface="Inter"/>
                <a:sym typeface="Inter"/>
              </a:defRPr>
            </a:lvl1pPr>
          </a:lstStyle>
          <a:p>
            <a:r>
              <a:rPr sz="2083"/>
              <a:t>The first step in designing your project is selecting the right method to answer your question.</a:t>
            </a:r>
          </a:p>
        </p:txBody>
      </p:sp>
      <p:sp>
        <p:nvSpPr>
          <p:cNvPr id="2415" name="Text 1"/>
          <p:cNvSpPr txBox="1"/>
          <p:nvPr/>
        </p:nvSpPr>
        <p:spPr>
          <a:xfrm>
            <a:off x="602356" y="2896416"/>
            <a:ext cx="6415288" cy="39497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2167"/>
              </a:lnSpc>
              <a:defRPr sz="2500" b="1">
                <a:latin typeface="Inter"/>
                <a:ea typeface="Inter"/>
                <a:cs typeface="Inter"/>
                <a:sym typeface="Inter"/>
              </a:defRPr>
            </a:pPr>
            <a:r>
              <a:rPr sz="2083"/>
              <a:t>Methodology includes…</a:t>
            </a:r>
          </a:p>
          <a:p>
            <a:pPr marL="208872" indent="-208872">
              <a:lnSpc>
                <a:spcPts val="2167"/>
              </a:lnSpc>
              <a:buSzPct val="100000"/>
              <a:buChar char="•"/>
              <a:defRPr sz="2500">
                <a:latin typeface="Inter"/>
                <a:ea typeface="Inter"/>
                <a:cs typeface="Inter"/>
                <a:sym typeface="Inter"/>
              </a:defRPr>
            </a:pPr>
            <a:endParaRPr sz="2083"/>
          </a:p>
          <a:p>
            <a:pPr marL="208872" indent="-208872">
              <a:lnSpc>
                <a:spcPts val="2167"/>
              </a:lnSpc>
              <a:buSzPct val="100000"/>
              <a:buChar char="•"/>
              <a:defRPr sz="2500">
                <a:latin typeface="Inter"/>
                <a:ea typeface="Inter"/>
                <a:cs typeface="Inter"/>
                <a:sym typeface="Inter"/>
              </a:defRPr>
            </a:pPr>
            <a:r>
              <a:rPr sz="2083"/>
              <a:t>Your overall approach / strategy: </a:t>
            </a:r>
          </a:p>
          <a:p>
            <a:pPr>
              <a:lnSpc>
                <a:spcPts val="2167"/>
              </a:lnSpc>
              <a:defRPr sz="2500">
                <a:latin typeface="Inter"/>
                <a:ea typeface="Inter"/>
                <a:cs typeface="Inter"/>
                <a:sym typeface="Inter"/>
              </a:defRPr>
            </a:pPr>
            <a:r>
              <a:rPr sz="2083"/>
              <a:t>                             </a:t>
            </a:r>
            <a:r>
              <a:rPr sz="2083">
                <a:solidFill>
                  <a:srgbClr val="941751"/>
                </a:solidFill>
              </a:rPr>
              <a:t>Qualitative. Quantitative. Mixed.</a:t>
            </a:r>
          </a:p>
          <a:p>
            <a:pPr marL="208872" indent="-208872">
              <a:lnSpc>
                <a:spcPts val="2167"/>
              </a:lnSpc>
              <a:buSzPct val="100000"/>
              <a:buChar char="•"/>
              <a:defRPr sz="2500">
                <a:latin typeface="Inter"/>
                <a:ea typeface="Inter"/>
                <a:cs typeface="Inter"/>
                <a:sym typeface="Inter"/>
              </a:defRPr>
            </a:pPr>
            <a:endParaRPr sz="2083">
              <a:solidFill>
                <a:srgbClr val="941751"/>
              </a:solidFill>
            </a:endParaRPr>
          </a:p>
          <a:p>
            <a:pPr marL="208872" indent="-208872">
              <a:lnSpc>
                <a:spcPts val="2167"/>
              </a:lnSpc>
              <a:buSzPct val="100000"/>
              <a:buChar char="•"/>
              <a:defRPr sz="2500">
                <a:latin typeface="Inter"/>
                <a:ea typeface="Inter"/>
                <a:cs typeface="Inter"/>
                <a:sym typeface="Inter"/>
              </a:defRPr>
            </a:pPr>
            <a:r>
              <a:rPr sz="2083"/>
              <a:t>Your data collection tools / techniques</a:t>
            </a:r>
          </a:p>
          <a:p>
            <a:pPr marL="1161334" lvl="3" indent="-208872">
              <a:lnSpc>
                <a:spcPts val="2167"/>
              </a:lnSpc>
              <a:buSzPct val="100000"/>
              <a:buChar char="•"/>
              <a:defRPr sz="2500">
                <a:solidFill>
                  <a:srgbClr val="941751"/>
                </a:solidFill>
                <a:latin typeface="Inter"/>
                <a:ea typeface="Inter"/>
                <a:cs typeface="Inter"/>
                <a:sym typeface="Inter"/>
              </a:defRPr>
            </a:pPr>
            <a:r>
              <a:rPr sz="2083"/>
              <a:t>Experiment</a:t>
            </a:r>
          </a:p>
          <a:p>
            <a:pPr marL="1161334" lvl="3" indent="-208872">
              <a:lnSpc>
                <a:spcPts val="2167"/>
              </a:lnSpc>
              <a:buSzPct val="100000"/>
              <a:buChar char="•"/>
              <a:defRPr sz="2500">
                <a:solidFill>
                  <a:srgbClr val="941751"/>
                </a:solidFill>
                <a:latin typeface="Inter"/>
                <a:ea typeface="Inter"/>
                <a:cs typeface="Inter"/>
                <a:sym typeface="Inter"/>
              </a:defRPr>
            </a:pPr>
            <a:r>
              <a:rPr sz="2083"/>
              <a:t>Surveys</a:t>
            </a:r>
          </a:p>
          <a:p>
            <a:pPr marL="1161334" lvl="3" indent="-208872">
              <a:lnSpc>
                <a:spcPts val="2167"/>
              </a:lnSpc>
              <a:buSzPct val="100000"/>
              <a:buChar char="•"/>
              <a:defRPr sz="2500">
                <a:solidFill>
                  <a:srgbClr val="941751"/>
                </a:solidFill>
                <a:latin typeface="Inter"/>
                <a:ea typeface="Inter"/>
                <a:cs typeface="Inter"/>
                <a:sym typeface="Inter"/>
              </a:defRPr>
            </a:pPr>
            <a:r>
              <a:rPr sz="2083"/>
              <a:t>Interview</a:t>
            </a:r>
          </a:p>
          <a:p>
            <a:pPr marL="1161334" lvl="3" indent="-208872">
              <a:lnSpc>
                <a:spcPts val="2167"/>
              </a:lnSpc>
              <a:buSzPct val="100000"/>
              <a:buChar char="•"/>
              <a:defRPr sz="2500">
                <a:solidFill>
                  <a:srgbClr val="941751"/>
                </a:solidFill>
                <a:latin typeface="Inter"/>
                <a:ea typeface="Inter"/>
                <a:cs typeface="Inter"/>
                <a:sym typeface="Inter"/>
              </a:defRPr>
            </a:pPr>
            <a:r>
              <a:rPr sz="2083"/>
              <a:t>Focus Groups</a:t>
            </a:r>
          </a:p>
          <a:p>
            <a:pPr marL="1161334" lvl="3" indent="-208872">
              <a:lnSpc>
                <a:spcPts val="2167"/>
              </a:lnSpc>
              <a:buSzPct val="100000"/>
              <a:buChar char="•"/>
              <a:defRPr sz="2500">
                <a:solidFill>
                  <a:srgbClr val="941751"/>
                </a:solidFill>
                <a:latin typeface="Inter"/>
                <a:ea typeface="Inter"/>
                <a:cs typeface="Inter"/>
                <a:sym typeface="Inter"/>
              </a:defRPr>
            </a:pPr>
            <a:r>
              <a:rPr sz="2083"/>
              <a:t>Observation</a:t>
            </a:r>
          </a:p>
          <a:p>
            <a:pPr marL="1161334" lvl="3" indent="-208872">
              <a:lnSpc>
                <a:spcPts val="2167"/>
              </a:lnSpc>
              <a:buSzPct val="100000"/>
              <a:buChar char="•"/>
              <a:defRPr sz="2500">
                <a:solidFill>
                  <a:srgbClr val="941751"/>
                </a:solidFill>
                <a:latin typeface="Inter"/>
                <a:ea typeface="Inter"/>
                <a:cs typeface="Inter"/>
                <a:sym typeface="Inter"/>
              </a:defRPr>
            </a:pPr>
            <a:r>
              <a:rPr sz="2083"/>
              <a:t>Case Study </a:t>
            </a:r>
          </a:p>
          <a:p>
            <a:pPr marL="1161334" lvl="3" indent="-208872">
              <a:lnSpc>
                <a:spcPts val="2167"/>
              </a:lnSpc>
              <a:buSzPct val="100000"/>
              <a:buChar char="•"/>
              <a:defRPr sz="2500">
                <a:solidFill>
                  <a:srgbClr val="941751"/>
                </a:solidFill>
                <a:latin typeface="Inter"/>
                <a:ea typeface="Inter"/>
                <a:cs typeface="Inter"/>
                <a:sym typeface="Inter"/>
              </a:defRPr>
            </a:pPr>
            <a:r>
              <a:rPr sz="2083"/>
              <a:t>Mixed Methods</a:t>
            </a:r>
          </a:p>
          <a:p>
            <a:pPr>
              <a:lnSpc>
                <a:spcPts val="2167"/>
              </a:lnSpc>
              <a:defRPr sz="2500">
                <a:latin typeface="Inter"/>
                <a:ea typeface="Inter"/>
                <a:cs typeface="Inter"/>
                <a:sym typeface="Inter"/>
              </a:defRPr>
            </a:pPr>
            <a:endParaRPr sz="2083"/>
          </a:p>
        </p:txBody>
      </p:sp>
      <p:sp>
        <p:nvSpPr>
          <p:cNvPr id="2416" name="Refresher"/>
          <p:cNvSpPr txBox="1"/>
          <p:nvPr/>
        </p:nvSpPr>
        <p:spPr>
          <a:xfrm>
            <a:off x="-3791" y="-165798"/>
            <a:ext cx="4293467" cy="645690"/>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lvl1pPr>
              <a:lnSpc>
                <a:spcPts val="5100"/>
              </a:lnSpc>
              <a:defRPr sz="2600" b="1" i="1">
                <a:solidFill>
                  <a:srgbClr val="FF9300"/>
                </a:solidFill>
                <a:latin typeface="Playfair Display Bold"/>
                <a:ea typeface="Playfair Display Bold"/>
                <a:cs typeface="Playfair Display Bold"/>
                <a:sym typeface="Playfair Display Bold"/>
              </a:defRPr>
            </a:lvl1pPr>
          </a:lstStyle>
          <a:p>
            <a:r>
              <a:rPr sz="2167"/>
              <a:t>Refresher     </a:t>
            </a:r>
          </a:p>
        </p:txBody>
      </p:sp>
      <p:sp>
        <p:nvSpPr>
          <p:cNvPr id="2417" name="(We talked about the first four methods of collecting your own data yesterday)"/>
          <p:cNvSpPr txBox="1"/>
          <p:nvPr/>
        </p:nvSpPr>
        <p:spPr>
          <a:xfrm>
            <a:off x="3718921" y="4745058"/>
            <a:ext cx="2473502"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p>
            <a:r>
              <a:rPr sz="1500"/>
              <a:t>(We talked about the first four methods of collecting your own data yesterday)</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19" name="Image 0" descr="Image 0"/>
          <p:cNvPicPr>
            <a:picLocks noChangeAspect="1"/>
          </p:cNvPicPr>
          <p:nvPr/>
        </p:nvPicPr>
        <p:blipFill>
          <a:blip r:embed="rId2"/>
          <a:stretch>
            <a:fillRect/>
          </a:stretch>
        </p:blipFill>
        <p:spPr>
          <a:xfrm>
            <a:off x="1" y="0"/>
            <a:ext cx="4355954" cy="6533931"/>
          </a:xfrm>
          <a:prstGeom prst="rect">
            <a:avLst/>
          </a:prstGeom>
          <a:ln w="12700">
            <a:miter lim="400000"/>
          </a:ln>
        </p:spPr>
      </p:pic>
      <p:sp>
        <p:nvSpPr>
          <p:cNvPr id="2420" name="Text 0"/>
          <p:cNvSpPr txBox="1"/>
          <p:nvPr/>
        </p:nvSpPr>
        <p:spPr>
          <a:xfrm>
            <a:off x="5187752" y="493515"/>
            <a:ext cx="6388497" cy="10640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4250"/>
              </a:lnSpc>
              <a:defRPr sz="4100" b="1">
                <a:solidFill>
                  <a:srgbClr val="941751"/>
                </a:solidFill>
                <a:latin typeface="Playfair Display Bold"/>
                <a:ea typeface="Playfair Display Bold"/>
                <a:cs typeface="Playfair Display Bold"/>
                <a:sym typeface="Playfair Display Bold"/>
              </a:defRPr>
            </a:pPr>
            <a:r>
              <a:rPr sz="3417"/>
              <a:t>Observation: </a:t>
            </a:r>
          </a:p>
          <a:p>
            <a:pPr>
              <a:lnSpc>
                <a:spcPts val="4250"/>
              </a:lnSpc>
              <a:defRPr sz="4100" b="1">
                <a:latin typeface="Playfair Display Bold"/>
                <a:ea typeface="Playfair Display Bold"/>
                <a:cs typeface="Playfair Display Bold"/>
                <a:sym typeface="Playfair Display Bold"/>
              </a:defRPr>
            </a:pPr>
            <a:r>
              <a:rPr sz="3417"/>
              <a:t>Watching Real Behavior</a:t>
            </a:r>
          </a:p>
        </p:txBody>
      </p:sp>
      <p:sp>
        <p:nvSpPr>
          <p:cNvPr id="2421" name="Shape 1"/>
          <p:cNvSpPr/>
          <p:nvPr/>
        </p:nvSpPr>
        <p:spPr>
          <a:xfrm>
            <a:off x="5187752" y="1729979"/>
            <a:ext cx="395883" cy="395883"/>
          </a:xfrm>
          <a:prstGeom prst="roundRect">
            <a:avLst>
              <a:gd name="adj" fmla="val 18667"/>
            </a:avLst>
          </a:prstGeom>
          <a:solidFill>
            <a:srgbClr val="CCEDFF"/>
          </a:solidFill>
          <a:ln w="7620">
            <a:solidFill>
              <a:srgbClr val="B2D3E5"/>
            </a:solidFill>
          </a:ln>
        </p:spPr>
        <p:txBody>
          <a:bodyPr lIns="38099" rIns="38099"/>
          <a:lstStyle/>
          <a:p>
            <a:endParaRPr sz="1500"/>
          </a:p>
        </p:txBody>
      </p:sp>
      <p:pic>
        <p:nvPicPr>
          <p:cNvPr id="2422" name="Image 1" descr="Image 1"/>
          <p:cNvPicPr>
            <a:picLocks noChangeAspect="1"/>
          </p:cNvPicPr>
          <p:nvPr/>
        </p:nvPicPr>
        <p:blipFill>
          <a:blip r:embed="rId3"/>
          <a:stretch>
            <a:fillRect/>
          </a:stretch>
        </p:blipFill>
        <p:spPr>
          <a:xfrm>
            <a:off x="5253731" y="1762968"/>
            <a:ext cx="263923" cy="329903"/>
          </a:xfrm>
          <a:prstGeom prst="rect">
            <a:avLst/>
          </a:prstGeom>
          <a:ln w="12700">
            <a:miter lim="400000"/>
          </a:ln>
        </p:spPr>
      </p:pic>
      <p:sp>
        <p:nvSpPr>
          <p:cNvPr id="2423" name="Text 2"/>
          <p:cNvSpPr txBox="1"/>
          <p:nvPr/>
        </p:nvSpPr>
        <p:spPr>
          <a:xfrm>
            <a:off x="5759548" y="1790403"/>
            <a:ext cx="1594988"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Natural Settings</a:t>
            </a:r>
          </a:p>
        </p:txBody>
      </p:sp>
      <p:sp>
        <p:nvSpPr>
          <p:cNvPr id="2424" name="Text 3"/>
          <p:cNvSpPr txBox="1"/>
          <p:nvPr/>
        </p:nvSpPr>
        <p:spPr>
          <a:xfrm>
            <a:off x="5759549" y="2170907"/>
            <a:ext cx="5533887" cy="3093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100">
                <a:latin typeface="Inter"/>
                <a:ea typeface="Inter"/>
                <a:cs typeface="Inter"/>
                <a:sym typeface="Inter"/>
              </a:defRPr>
            </a:lvl1pPr>
          </a:lstStyle>
          <a:p>
            <a:r>
              <a:rPr sz="1750"/>
              <a:t>Observe behavior as it naturally occurs without intervention.</a:t>
            </a:r>
          </a:p>
        </p:txBody>
      </p:sp>
      <p:sp>
        <p:nvSpPr>
          <p:cNvPr id="2425" name="Shape 4"/>
          <p:cNvSpPr/>
          <p:nvPr/>
        </p:nvSpPr>
        <p:spPr>
          <a:xfrm>
            <a:off x="5187752" y="2804119"/>
            <a:ext cx="395883" cy="395883"/>
          </a:xfrm>
          <a:prstGeom prst="roundRect">
            <a:avLst>
              <a:gd name="adj" fmla="val 18667"/>
            </a:avLst>
          </a:prstGeom>
          <a:solidFill>
            <a:srgbClr val="CCEDFF"/>
          </a:solidFill>
          <a:ln w="7620">
            <a:solidFill>
              <a:srgbClr val="B2D3E5"/>
            </a:solidFill>
          </a:ln>
        </p:spPr>
        <p:txBody>
          <a:bodyPr lIns="38099" rIns="38099"/>
          <a:lstStyle/>
          <a:p>
            <a:endParaRPr sz="1500"/>
          </a:p>
        </p:txBody>
      </p:sp>
      <p:pic>
        <p:nvPicPr>
          <p:cNvPr id="2426" name="Image 2" descr="Image 2"/>
          <p:cNvPicPr>
            <a:picLocks noChangeAspect="1"/>
          </p:cNvPicPr>
          <p:nvPr/>
        </p:nvPicPr>
        <p:blipFill>
          <a:blip r:embed="rId4"/>
          <a:stretch>
            <a:fillRect/>
          </a:stretch>
        </p:blipFill>
        <p:spPr>
          <a:xfrm>
            <a:off x="5253731" y="2837110"/>
            <a:ext cx="263923" cy="329903"/>
          </a:xfrm>
          <a:prstGeom prst="rect">
            <a:avLst/>
          </a:prstGeom>
          <a:ln w="12700">
            <a:miter lim="400000"/>
          </a:ln>
        </p:spPr>
      </p:pic>
      <p:sp>
        <p:nvSpPr>
          <p:cNvPr id="2427" name="Text 5"/>
          <p:cNvSpPr txBox="1"/>
          <p:nvPr/>
        </p:nvSpPr>
        <p:spPr>
          <a:xfrm>
            <a:off x="5759548" y="2864544"/>
            <a:ext cx="2723502"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Structured or Unstructured</a:t>
            </a:r>
          </a:p>
        </p:txBody>
      </p:sp>
      <p:sp>
        <p:nvSpPr>
          <p:cNvPr id="2428" name="Text 6"/>
          <p:cNvSpPr txBox="1"/>
          <p:nvPr/>
        </p:nvSpPr>
        <p:spPr>
          <a:xfrm>
            <a:off x="5759548" y="3245049"/>
            <a:ext cx="5816700" cy="64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600"/>
              </a:lnSpc>
              <a:defRPr sz="2100">
                <a:latin typeface="Inter"/>
                <a:ea typeface="Inter"/>
                <a:cs typeface="Inter"/>
                <a:sym typeface="Inter"/>
              </a:defRPr>
            </a:lvl1pPr>
          </a:lstStyle>
          <a:p>
            <a:r>
              <a:rPr sz="1750"/>
              <a:t>Use checklists for specific behaviors or take open-ended notes on everything you see.</a:t>
            </a:r>
          </a:p>
        </p:txBody>
      </p:sp>
      <p:sp>
        <p:nvSpPr>
          <p:cNvPr id="2429" name="Shape 7"/>
          <p:cNvSpPr/>
          <p:nvPr/>
        </p:nvSpPr>
        <p:spPr>
          <a:xfrm>
            <a:off x="5187752" y="4011479"/>
            <a:ext cx="395883" cy="395883"/>
          </a:xfrm>
          <a:prstGeom prst="roundRect">
            <a:avLst>
              <a:gd name="adj" fmla="val 18667"/>
            </a:avLst>
          </a:prstGeom>
          <a:solidFill>
            <a:srgbClr val="CCEDFF"/>
          </a:solidFill>
          <a:ln w="7620">
            <a:solidFill>
              <a:srgbClr val="B2D3E5"/>
            </a:solidFill>
          </a:ln>
        </p:spPr>
        <p:txBody>
          <a:bodyPr lIns="38099" rIns="38099"/>
          <a:lstStyle/>
          <a:p>
            <a:endParaRPr sz="1500"/>
          </a:p>
        </p:txBody>
      </p:sp>
      <p:pic>
        <p:nvPicPr>
          <p:cNvPr id="2430" name="Image 3" descr="Image 3"/>
          <p:cNvPicPr>
            <a:picLocks noChangeAspect="1"/>
          </p:cNvPicPr>
          <p:nvPr/>
        </p:nvPicPr>
        <p:blipFill>
          <a:blip r:embed="rId5"/>
          <a:stretch>
            <a:fillRect/>
          </a:stretch>
        </p:blipFill>
        <p:spPr>
          <a:xfrm>
            <a:off x="5253731" y="4044471"/>
            <a:ext cx="263923" cy="329904"/>
          </a:xfrm>
          <a:prstGeom prst="rect">
            <a:avLst/>
          </a:prstGeom>
          <a:ln w="12700">
            <a:miter lim="400000"/>
          </a:ln>
        </p:spPr>
      </p:pic>
      <p:sp>
        <p:nvSpPr>
          <p:cNvPr id="2431" name="Text 8"/>
          <p:cNvSpPr txBox="1"/>
          <p:nvPr/>
        </p:nvSpPr>
        <p:spPr>
          <a:xfrm>
            <a:off x="5759549" y="4071905"/>
            <a:ext cx="1502014"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Time Sampling</a:t>
            </a:r>
          </a:p>
        </p:txBody>
      </p:sp>
      <p:sp>
        <p:nvSpPr>
          <p:cNvPr id="2432" name="Text 9"/>
          <p:cNvSpPr txBox="1"/>
          <p:nvPr/>
        </p:nvSpPr>
        <p:spPr>
          <a:xfrm>
            <a:off x="5759549" y="4452409"/>
            <a:ext cx="6013683" cy="64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600"/>
              </a:lnSpc>
              <a:defRPr sz="2100">
                <a:latin typeface="Inter"/>
                <a:ea typeface="Inter"/>
                <a:cs typeface="Inter"/>
                <a:sym typeface="Inter"/>
              </a:defRPr>
            </a:lvl1pPr>
          </a:lstStyle>
          <a:p>
            <a:r>
              <a:rPr sz="1750"/>
              <a:t>Observe at different times to capture variation in behavior patterns.</a:t>
            </a:r>
          </a:p>
        </p:txBody>
      </p:sp>
      <p:sp>
        <p:nvSpPr>
          <p:cNvPr id="2433" name="Shape 10"/>
          <p:cNvSpPr/>
          <p:nvPr/>
        </p:nvSpPr>
        <p:spPr>
          <a:xfrm>
            <a:off x="5187752" y="5233789"/>
            <a:ext cx="395883" cy="395883"/>
          </a:xfrm>
          <a:prstGeom prst="roundRect">
            <a:avLst>
              <a:gd name="adj" fmla="val 18667"/>
            </a:avLst>
          </a:prstGeom>
          <a:solidFill>
            <a:srgbClr val="CCEDFF"/>
          </a:solidFill>
          <a:ln w="7620">
            <a:solidFill>
              <a:srgbClr val="B2D3E5"/>
            </a:solidFill>
          </a:ln>
        </p:spPr>
        <p:txBody>
          <a:bodyPr lIns="38099" rIns="38099"/>
          <a:lstStyle/>
          <a:p>
            <a:endParaRPr sz="1500"/>
          </a:p>
        </p:txBody>
      </p:sp>
      <p:pic>
        <p:nvPicPr>
          <p:cNvPr id="2434" name="Image 4" descr="Image 4"/>
          <p:cNvPicPr>
            <a:picLocks noChangeAspect="1"/>
          </p:cNvPicPr>
          <p:nvPr/>
        </p:nvPicPr>
        <p:blipFill>
          <a:blip r:embed="rId6"/>
          <a:stretch>
            <a:fillRect/>
          </a:stretch>
        </p:blipFill>
        <p:spPr>
          <a:xfrm>
            <a:off x="5253731" y="5266779"/>
            <a:ext cx="263923" cy="329903"/>
          </a:xfrm>
          <a:prstGeom prst="rect">
            <a:avLst/>
          </a:prstGeom>
          <a:ln w="12700">
            <a:miter lim="400000"/>
          </a:ln>
        </p:spPr>
      </p:pic>
      <p:sp>
        <p:nvSpPr>
          <p:cNvPr id="2435" name="Text 11"/>
          <p:cNvSpPr txBox="1"/>
          <p:nvPr/>
        </p:nvSpPr>
        <p:spPr>
          <a:xfrm>
            <a:off x="5759549" y="5294213"/>
            <a:ext cx="2526333"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Minimize Observer Effect</a:t>
            </a:r>
          </a:p>
        </p:txBody>
      </p:sp>
      <p:sp>
        <p:nvSpPr>
          <p:cNvPr id="2436" name="Text 12"/>
          <p:cNvSpPr txBox="1"/>
          <p:nvPr/>
        </p:nvSpPr>
        <p:spPr>
          <a:xfrm>
            <a:off x="5759548" y="5674718"/>
            <a:ext cx="5816700" cy="64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600"/>
              </a:lnSpc>
              <a:defRPr sz="2100">
                <a:latin typeface="Inter"/>
                <a:ea typeface="Inter"/>
                <a:cs typeface="Inter"/>
                <a:sym typeface="Inter"/>
              </a:defRPr>
            </a:lvl1pPr>
          </a:lstStyle>
          <a:p>
            <a:r>
              <a:rPr sz="1750"/>
              <a:t>Be discreet so your presence doesn't change the behavior you're studying.</a:t>
            </a:r>
          </a:p>
        </p:txBody>
      </p:sp>
      <p:sp>
        <p:nvSpPr>
          <p:cNvPr id="2437" name="Text 1"/>
          <p:cNvSpPr txBox="1"/>
          <p:nvPr/>
        </p:nvSpPr>
        <p:spPr>
          <a:xfrm>
            <a:off x="4390353" y="6425757"/>
            <a:ext cx="5302734" cy="310406"/>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100" b="1" i="1">
                <a:solidFill>
                  <a:srgbClr val="0433FF"/>
                </a:solidFill>
                <a:latin typeface="Playfair Display Bold"/>
                <a:ea typeface="Playfair Display Bold"/>
                <a:cs typeface="Playfair Display Bold"/>
                <a:sym typeface="Playfair Display Bold"/>
              </a:defRPr>
            </a:lvl1pPr>
          </a:lstStyle>
          <a:p>
            <a:r>
              <a:rPr sz="1750"/>
              <a:t>Can be utilized in quantitative or qualitative studies</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9" name="Image 0" descr="Image 0"/>
          <p:cNvPicPr>
            <a:picLocks noChangeAspect="1"/>
          </p:cNvPicPr>
          <p:nvPr/>
        </p:nvPicPr>
        <p:blipFill>
          <a:blip r:embed="rId2"/>
          <a:stretch>
            <a:fillRect/>
          </a:stretch>
        </p:blipFill>
        <p:spPr>
          <a:xfrm>
            <a:off x="0" y="0"/>
            <a:ext cx="4344277" cy="6516415"/>
          </a:xfrm>
          <a:prstGeom prst="rect">
            <a:avLst/>
          </a:prstGeom>
          <a:ln w="12700">
            <a:miter lim="400000"/>
          </a:ln>
        </p:spPr>
      </p:pic>
      <p:sp>
        <p:nvSpPr>
          <p:cNvPr id="2440" name="Text 0"/>
          <p:cNvSpPr txBox="1"/>
          <p:nvPr/>
        </p:nvSpPr>
        <p:spPr>
          <a:xfrm>
            <a:off x="5233491" y="1190723"/>
            <a:ext cx="5430974" cy="5486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4583"/>
              </a:lnSpc>
              <a:defRPr sz="4400" b="1">
                <a:latin typeface="Playfair Display Bold"/>
                <a:ea typeface="Playfair Display Bold"/>
                <a:cs typeface="Playfair Display Bold"/>
                <a:sym typeface="Playfair Display Bold"/>
              </a:defRPr>
            </a:pPr>
            <a:r>
              <a:rPr sz="3667">
                <a:solidFill>
                  <a:srgbClr val="941751"/>
                </a:solidFill>
              </a:rPr>
              <a:t>Case Studies: </a:t>
            </a:r>
            <a:r>
              <a:rPr sz="3667"/>
              <a:t>Deep Dives</a:t>
            </a:r>
          </a:p>
        </p:txBody>
      </p:sp>
      <p:sp>
        <p:nvSpPr>
          <p:cNvPr id="2441" name="Shape 1"/>
          <p:cNvSpPr/>
          <p:nvPr/>
        </p:nvSpPr>
        <p:spPr>
          <a:xfrm>
            <a:off x="5233491" y="2064841"/>
            <a:ext cx="3054054" cy="2311500"/>
          </a:xfrm>
          <a:prstGeom prst="roundRect">
            <a:avLst>
              <a:gd name="adj" fmla="val 3435"/>
            </a:avLst>
          </a:prstGeom>
          <a:solidFill>
            <a:srgbClr val="CCEDFF"/>
          </a:solidFill>
          <a:ln w="7620">
            <a:solidFill>
              <a:srgbClr val="B2D3E5"/>
            </a:solidFill>
          </a:ln>
        </p:spPr>
        <p:txBody>
          <a:bodyPr lIns="38099" rIns="38099"/>
          <a:lstStyle/>
          <a:p>
            <a:endParaRPr sz="1500"/>
          </a:p>
        </p:txBody>
      </p:sp>
      <p:sp>
        <p:nvSpPr>
          <p:cNvPr id="2442" name="Text 2"/>
          <p:cNvSpPr txBox="1"/>
          <p:nvPr/>
        </p:nvSpPr>
        <p:spPr>
          <a:xfrm>
            <a:off x="5428853" y="2260203"/>
            <a:ext cx="1110882"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Definition</a:t>
            </a:r>
          </a:p>
        </p:txBody>
      </p:sp>
      <p:sp>
        <p:nvSpPr>
          <p:cNvPr id="2443" name="Text 3"/>
          <p:cNvSpPr txBox="1"/>
          <p:nvPr/>
        </p:nvSpPr>
        <p:spPr>
          <a:xfrm>
            <a:off x="5428853" y="2668885"/>
            <a:ext cx="2663330" cy="14057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100">
                <a:latin typeface="Inter"/>
                <a:ea typeface="Inter"/>
                <a:cs typeface="Inter"/>
                <a:sym typeface="Inter"/>
              </a:defRPr>
            </a:lvl1pPr>
          </a:lstStyle>
          <a:p>
            <a:r>
              <a:rPr sz="1750"/>
              <a:t>Intensive study of a single case or small number of cases to gain in-depth understanding.</a:t>
            </a:r>
          </a:p>
        </p:txBody>
      </p:sp>
      <p:sp>
        <p:nvSpPr>
          <p:cNvPr id="2444" name="Shape 4"/>
          <p:cNvSpPr/>
          <p:nvPr/>
        </p:nvSpPr>
        <p:spPr>
          <a:xfrm>
            <a:off x="8476555" y="2064841"/>
            <a:ext cx="3054053" cy="2311500"/>
          </a:xfrm>
          <a:prstGeom prst="roundRect">
            <a:avLst>
              <a:gd name="adj" fmla="val 3435"/>
            </a:avLst>
          </a:prstGeom>
          <a:solidFill>
            <a:srgbClr val="CCEDFF"/>
          </a:solidFill>
          <a:ln w="7620">
            <a:solidFill>
              <a:srgbClr val="B2D3E5"/>
            </a:solidFill>
          </a:ln>
        </p:spPr>
        <p:txBody>
          <a:bodyPr lIns="38099" rIns="38099"/>
          <a:lstStyle/>
          <a:p>
            <a:endParaRPr sz="1500"/>
          </a:p>
        </p:txBody>
      </p:sp>
      <p:sp>
        <p:nvSpPr>
          <p:cNvPr id="2445" name="Text 5"/>
          <p:cNvSpPr txBox="1"/>
          <p:nvPr/>
        </p:nvSpPr>
        <p:spPr>
          <a:xfrm>
            <a:off x="8671918" y="2260203"/>
            <a:ext cx="1348126"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When to Use</a:t>
            </a:r>
          </a:p>
        </p:txBody>
      </p:sp>
      <p:sp>
        <p:nvSpPr>
          <p:cNvPr id="2446" name="Text 6"/>
          <p:cNvSpPr txBox="1"/>
          <p:nvPr/>
        </p:nvSpPr>
        <p:spPr>
          <a:xfrm>
            <a:off x="8671918" y="2668886"/>
            <a:ext cx="2663330" cy="17648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100">
                <a:latin typeface="Inter"/>
                <a:ea typeface="Inter"/>
                <a:cs typeface="Inter"/>
                <a:sym typeface="Inter"/>
              </a:defRPr>
            </a:lvl1pPr>
          </a:lstStyle>
          <a:p>
            <a:r>
              <a:rPr sz="1750"/>
              <a:t>For unique situations, rare phenomena, or when you need comprehensive understanding of one example.</a:t>
            </a:r>
          </a:p>
        </p:txBody>
      </p:sp>
      <p:sp>
        <p:nvSpPr>
          <p:cNvPr id="2447" name="Shape 7"/>
          <p:cNvSpPr/>
          <p:nvPr/>
        </p:nvSpPr>
        <p:spPr>
          <a:xfrm>
            <a:off x="5233491" y="4565352"/>
            <a:ext cx="6297018" cy="1101825"/>
          </a:xfrm>
          <a:prstGeom prst="roundRect">
            <a:avLst>
              <a:gd name="adj" fmla="val 7205"/>
            </a:avLst>
          </a:prstGeom>
          <a:solidFill>
            <a:srgbClr val="CCEDFF"/>
          </a:solidFill>
          <a:ln w="7620">
            <a:solidFill>
              <a:srgbClr val="B2D3E5"/>
            </a:solidFill>
          </a:ln>
        </p:spPr>
        <p:txBody>
          <a:bodyPr lIns="38099" rIns="38099"/>
          <a:lstStyle/>
          <a:p>
            <a:endParaRPr sz="1500"/>
          </a:p>
        </p:txBody>
      </p:sp>
      <p:sp>
        <p:nvSpPr>
          <p:cNvPr id="2448" name="Text 8"/>
          <p:cNvSpPr txBox="1"/>
          <p:nvPr/>
        </p:nvSpPr>
        <p:spPr>
          <a:xfrm>
            <a:off x="5428854" y="4760714"/>
            <a:ext cx="1253548"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Limitations</a:t>
            </a:r>
          </a:p>
        </p:txBody>
      </p:sp>
      <p:sp>
        <p:nvSpPr>
          <p:cNvPr id="2449" name="Text 9"/>
          <p:cNvSpPr txBox="1"/>
          <p:nvPr/>
        </p:nvSpPr>
        <p:spPr>
          <a:xfrm>
            <a:off x="5428854" y="5169396"/>
            <a:ext cx="5534849"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2200">
                <a:latin typeface="Inter"/>
                <a:ea typeface="Inter"/>
                <a:cs typeface="Inter"/>
                <a:sym typeface="Inter"/>
              </a:defRPr>
            </a:lvl1pPr>
          </a:lstStyle>
          <a:p>
            <a:r>
              <a:rPr sz="1833"/>
              <a:t>Findings may not generalize to other cases or populations.</a:t>
            </a:r>
          </a:p>
        </p:txBody>
      </p:sp>
      <p:sp>
        <p:nvSpPr>
          <p:cNvPr id="2450" name="Text 1"/>
          <p:cNvSpPr txBox="1"/>
          <p:nvPr/>
        </p:nvSpPr>
        <p:spPr>
          <a:xfrm>
            <a:off x="5367547" y="5939322"/>
            <a:ext cx="5700278" cy="3104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100" b="1" i="1">
                <a:solidFill>
                  <a:srgbClr val="0433FF"/>
                </a:solidFill>
                <a:latin typeface="Playfair Display Bold"/>
                <a:ea typeface="Playfair Display Bold"/>
                <a:cs typeface="Playfair Display Bold"/>
                <a:sym typeface="Playfair Display Bold"/>
              </a:defRPr>
            </a:lvl1pPr>
          </a:lstStyle>
          <a:p>
            <a:r>
              <a:rPr sz="1750"/>
              <a:t>Mostly qualitative but can include quantitative elements</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2" name="Image 0" descr="Image 0"/>
          <p:cNvPicPr>
            <a:picLocks noChangeAspect="1"/>
          </p:cNvPicPr>
          <p:nvPr/>
        </p:nvPicPr>
        <p:blipFill>
          <a:blip r:embed="rId2"/>
          <a:stretch>
            <a:fillRect/>
          </a:stretch>
        </p:blipFill>
        <p:spPr>
          <a:xfrm>
            <a:off x="0" y="0"/>
            <a:ext cx="4297563" cy="6446345"/>
          </a:xfrm>
          <a:prstGeom prst="rect">
            <a:avLst/>
          </a:prstGeom>
          <a:ln w="12700">
            <a:miter lim="400000"/>
          </a:ln>
        </p:spPr>
      </p:pic>
      <p:sp>
        <p:nvSpPr>
          <p:cNvPr id="2453" name="Text 0"/>
          <p:cNvSpPr txBox="1"/>
          <p:nvPr/>
        </p:nvSpPr>
        <p:spPr>
          <a:xfrm>
            <a:off x="5168701" y="762645"/>
            <a:ext cx="4213326" cy="10391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4167"/>
              </a:lnSpc>
              <a:defRPr sz="4000" b="1">
                <a:latin typeface="Playfair Display Bold"/>
                <a:ea typeface="Playfair Display Bold"/>
                <a:cs typeface="Playfair Display Bold"/>
                <a:sym typeface="Playfair Display Bold"/>
              </a:defRPr>
            </a:pPr>
            <a:r>
              <a:rPr sz="3333"/>
              <a:t>Using Existing Data: </a:t>
            </a:r>
          </a:p>
          <a:p>
            <a:pPr>
              <a:lnSpc>
                <a:spcPts val="4167"/>
              </a:lnSpc>
              <a:defRPr sz="4000" b="1">
                <a:solidFill>
                  <a:srgbClr val="941751"/>
                </a:solidFill>
                <a:latin typeface="Playfair Display Bold"/>
                <a:ea typeface="Playfair Display Bold"/>
                <a:cs typeface="Playfair Display Bold"/>
                <a:sym typeface="Playfair Display Bold"/>
              </a:defRPr>
            </a:pPr>
            <a:r>
              <a:rPr sz="3333"/>
              <a:t>Secondary Research</a:t>
            </a:r>
          </a:p>
        </p:txBody>
      </p:sp>
      <p:pic>
        <p:nvPicPr>
          <p:cNvPr id="2454" name="Image 1" descr="Image 1"/>
          <p:cNvPicPr>
            <a:picLocks noChangeAspect="1"/>
          </p:cNvPicPr>
          <p:nvPr/>
        </p:nvPicPr>
        <p:blipFill>
          <a:blip r:embed="rId3"/>
          <a:stretch>
            <a:fillRect/>
          </a:stretch>
        </p:blipFill>
        <p:spPr>
          <a:xfrm>
            <a:off x="5168701" y="1998762"/>
            <a:ext cx="426244" cy="426245"/>
          </a:xfrm>
          <a:prstGeom prst="rect">
            <a:avLst/>
          </a:prstGeom>
          <a:ln w="12700">
            <a:miter lim="400000"/>
          </a:ln>
        </p:spPr>
      </p:pic>
      <p:sp>
        <p:nvSpPr>
          <p:cNvPr id="2455" name="Text 1"/>
          <p:cNvSpPr txBox="1"/>
          <p:nvPr/>
        </p:nvSpPr>
        <p:spPr>
          <a:xfrm>
            <a:off x="5168701" y="2595464"/>
            <a:ext cx="1551707"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Efficient Access</a:t>
            </a:r>
          </a:p>
        </p:txBody>
      </p:sp>
      <p:sp>
        <p:nvSpPr>
          <p:cNvPr id="2456" name="Text 2"/>
          <p:cNvSpPr txBox="1"/>
          <p:nvPr/>
        </p:nvSpPr>
        <p:spPr>
          <a:xfrm>
            <a:off x="5168701" y="2964160"/>
            <a:ext cx="2000053" cy="1261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500"/>
              </a:lnSpc>
              <a:defRPr sz="2100">
                <a:latin typeface="Inter"/>
                <a:ea typeface="Inter"/>
                <a:cs typeface="Inter"/>
                <a:sym typeface="Inter"/>
              </a:defRPr>
            </a:lvl1pPr>
          </a:lstStyle>
          <a:p>
            <a:r>
              <a:rPr sz="1750"/>
              <a:t>Use data already collected by others instead of gathering new information.</a:t>
            </a:r>
          </a:p>
        </p:txBody>
      </p:sp>
      <p:pic>
        <p:nvPicPr>
          <p:cNvPr id="2457" name="Image 2" descr="Image 2"/>
          <p:cNvPicPr>
            <a:picLocks noChangeAspect="1"/>
          </p:cNvPicPr>
          <p:nvPr/>
        </p:nvPicPr>
        <p:blipFill>
          <a:blip r:embed="rId4"/>
          <a:stretch>
            <a:fillRect/>
          </a:stretch>
        </p:blipFill>
        <p:spPr>
          <a:xfrm>
            <a:off x="7381875" y="1998762"/>
            <a:ext cx="426243" cy="426245"/>
          </a:xfrm>
          <a:prstGeom prst="rect">
            <a:avLst/>
          </a:prstGeom>
          <a:ln w="12700">
            <a:miter lim="400000"/>
          </a:ln>
        </p:spPr>
      </p:pic>
      <p:sp>
        <p:nvSpPr>
          <p:cNvPr id="2458" name="Text 3"/>
          <p:cNvSpPr txBox="1"/>
          <p:nvPr/>
        </p:nvSpPr>
        <p:spPr>
          <a:xfrm>
            <a:off x="7381875" y="2595464"/>
            <a:ext cx="2000152" cy="6093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Historical Perspective</a:t>
            </a:r>
          </a:p>
        </p:txBody>
      </p:sp>
      <p:sp>
        <p:nvSpPr>
          <p:cNvPr id="2459" name="Text 4"/>
          <p:cNvSpPr txBox="1"/>
          <p:nvPr/>
        </p:nvSpPr>
        <p:spPr>
          <a:xfrm>
            <a:off x="7381875" y="3230563"/>
            <a:ext cx="2000152" cy="1261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500"/>
              </a:lnSpc>
              <a:defRPr sz="2100">
                <a:latin typeface="Inter"/>
                <a:ea typeface="Inter"/>
                <a:cs typeface="Inter"/>
                <a:sym typeface="Inter"/>
              </a:defRPr>
            </a:lvl1pPr>
          </a:lstStyle>
          <a:p>
            <a:r>
              <a:rPr sz="1750"/>
              <a:t>Analyze trends over time periods you couldn't study directly.</a:t>
            </a:r>
          </a:p>
        </p:txBody>
      </p:sp>
      <p:pic>
        <p:nvPicPr>
          <p:cNvPr id="2460" name="Image 3" descr="Image 3"/>
          <p:cNvPicPr>
            <a:picLocks noChangeAspect="1"/>
          </p:cNvPicPr>
          <p:nvPr/>
        </p:nvPicPr>
        <p:blipFill>
          <a:blip r:embed="rId5"/>
          <a:stretch>
            <a:fillRect/>
          </a:stretch>
        </p:blipFill>
        <p:spPr>
          <a:xfrm>
            <a:off x="9595148" y="1998762"/>
            <a:ext cx="426244" cy="426245"/>
          </a:xfrm>
          <a:prstGeom prst="rect">
            <a:avLst/>
          </a:prstGeom>
          <a:ln w="12700">
            <a:miter lim="400000"/>
          </a:ln>
        </p:spPr>
      </p:pic>
      <p:sp>
        <p:nvSpPr>
          <p:cNvPr id="2461" name="Text 5"/>
          <p:cNvSpPr txBox="1"/>
          <p:nvPr/>
        </p:nvSpPr>
        <p:spPr>
          <a:xfrm>
            <a:off x="9595148" y="2595464"/>
            <a:ext cx="1675139"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Multiple Sources</a:t>
            </a:r>
          </a:p>
        </p:txBody>
      </p:sp>
      <p:sp>
        <p:nvSpPr>
          <p:cNvPr id="2462" name="Text 6"/>
          <p:cNvSpPr txBox="1"/>
          <p:nvPr/>
        </p:nvSpPr>
        <p:spPr>
          <a:xfrm>
            <a:off x="9595147" y="2964161"/>
            <a:ext cx="2000152" cy="15821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500"/>
              </a:lnSpc>
              <a:defRPr sz="2100">
                <a:latin typeface="Inter"/>
                <a:ea typeface="Inter"/>
                <a:cs typeface="Inter"/>
                <a:sym typeface="Inter"/>
              </a:defRPr>
            </a:lvl1pPr>
          </a:lstStyle>
          <a:p>
            <a:r>
              <a:rPr sz="1750"/>
              <a:t>Government reports, research studies, archives, statistics, and historical documents.</a:t>
            </a:r>
          </a:p>
        </p:txBody>
      </p:sp>
      <p:pic>
        <p:nvPicPr>
          <p:cNvPr id="2463" name="Image 4" descr="Image 4"/>
          <p:cNvPicPr>
            <a:picLocks noChangeAspect="1"/>
          </p:cNvPicPr>
          <p:nvPr/>
        </p:nvPicPr>
        <p:blipFill>
          <a:blip r:embed="rId6"/>
          <a:stretch>
            <a:fillRect/>
          </a:stretch>
        </p:blipFill>
        <p:spPr>
          <a:xfrm>
            <a:off x="5168701" y="4396580"/>
            <a:ext cx="426244" cy="426245"/>
          </a:xfrm>
          <a:prstGeom prst="rect">
            <a:avLst/>
          </a:prstGeom>
          <a:ln w="12700">
            <a:miter lim="400000"/>
          </a:ln>
        </p:spPr>
      </p:pic>
      <p:sp>
        <p:nvSpPr>
          <p:cNvPr id="2464" name="Text 7"/>
          <p:cNvSpPr txBox="1"/>
          <p:nvPr/>
        </p:nvSpPr>
        <p:spPr>
          <a:xfrm>
            <a:off x="5168701" y="4993282"/>
            <a:ext cx="1907573"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Source Verification</a:t>
            </a:r>
          </a:p>
        </p:txBody>
      </p:sp>
      <p:sp>
        <p:nvSpPr>
          <p:cNvPr id="2465" name="Text 8"/>
          <p:cNvSpPr txBox="1"/>
          <p:nvPr/>
        </p:nvSpPr>
        <p:spPr>
          <a:xfrm>
            <a:off x="5168701" y="5361979"/>
            <a:ext cx="5352985" cy="6231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500"/>
              </a:lnSpc>
              <a:defRPr sz="2200">
                <a:latin typeface="Inter"/>
                <a:ea typeface="Inter"/>
                <a:cs typeface="Inter"/>
                <a:sym typeface="Inter"/>
              </a:defRPr>
            </a:lvl1pPr>
          </a:lstStyle>
          <a:p>
            <a:r>
              <a:rPr sz="1833"/>
              <a:t>Always evaluate the credibility and quality of secondary data sources.</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 name="Text 0"/>
          <p:cNvSpPr txBox="1"/>
          <p:nvPr/>
        </p:nvSpPr>
        <p:spPr>
          <a:xfrm>
            <a:off x="661491" y="1135658"/>
            <a:ext cx="10566995" cy="5486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4583"/>
              </a:lnSpc>
              <a:defRPr sz="4400" b="1">
                <a:latin typeface="Playfair Display Bold"/>
                <a:ea typeface="Playfair Display Bold"/>
                <a:cs typeface="Playfair Display Bold"/>
                <a:sym typeface="Playfair Display Bold"/>
              </a:defRPr>
            </a:pPr>
            <a:r>
              <a:rPr sz="3667">
                <a:solidFill>
                  <a:srgbClr val="941751"/>
                </a:solidFill>
              </a:rPr>
              <a:t>Mixed Methods:</a:t>
            </a:r>
            <a:r>
              <a:rPr sz="3667"/>
              <a:t> Combining Approaches &amp; Tools</a:t>
            </a:r>
          </a:p>
        </p:txBody>
      </p:sp>
      <p:sp>
        <p:nvSpPr>
          <p:cNvPr id="2468" name="Text 1"/>
          <p:cNvSpPr txBox="1"/>
          <p:nvPr/>
        </p:nvSpPr>
        <p:spPr>
          <a:xfrm>
            <a:off x="661491" y="2198786"/>
            <a:ext cx="889667"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Benefits</a:t>
            </a:r>
          </a:p>
        </p:txBody>
      </p:sp>
      <p:sp>
        <p:nvSpPr>
          <p:cNvPr id="2469" name="Text 2"/>
          <p:cNvSpPr txBox="1"/>
          <p:nvPr/>
        </p:nvSpPr>
        <p:spPr>
          <a:xfrm>
            <a:off x="661491" y="2683073"/>
            <a:ext cx="3315098" cy="6932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Provides fuller picture of the topic</a:t>
            </a:r>
          </a:p>
        </p:txBody>
      </p:sp>
      <p:sp>
        <p:nvSpPr>
          <p:cNvPr id="2470" name="Text 3"/>
          <p:cNvSpPr txBox="1"/>
          <p:nvPr/>
        </p:nvSpPr>
        <p:spPr>
          <a:xfrm>
            <a:off x="661491" y="3353990"/>
            <a:ext cx="3267369" cy="334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Combines breadth and depth</a:t>
            </a:r>
          </a:p>
        </p:txBody>
      </p:sp>
      <p:sp>
        <p:nvSpPr>
          <p:cNvPr id="2471" name="Text 4"/>
          <p:cNvSpPr txBox="1"/>
          <p:nvPr/>
        </p:nvSpPr>
        <p:spPr>
          <a:xfrm>
            <a:off x="661491" y="3722489"/>
            <a:ext cx="3315098" cy="1052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Numbers + stories = comprehensive understanding</a:t>
            </a:r>
          </a:p>
        </p:txBody>
      </p:sp>
      <p:sp>
        <p:nvSpPr>
          <p:cNvPr id="2472" name="Text 5"/>
          <p:cNvSpPr txBox="1"/>
          <p:nvPr/>
        </p:nvSpPr>
        <p:spPr>
          <a:xfrm>
            <a:off x="661491" y="4683655"/>
            <a:ext cx="3315098" cy="6932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Compensates for weaknesses in single methods</a:t>
            </a:r>
          </a:p>
        </p:txBody>
      </p:sp>
      <p:sp>
        <p:nvSpPr>
          <p:cNvPr id="2473" name="Text 6"/>
          <p:cNvSpPr txBox="1"/>
          <p:nvPr/>
        </p:nvSpPr>
        <p:spPr>
          <a:xfrm>
            <a:off x="4444106" y="2198786"/>
            <a:ext cx="1053173"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Examples</a:t>
            </a:r>
          </a:p>
        </p:txBody>
      </p:sp>
      <p:sp>
        <p:nvSpPr>
          <p:cNvPr id="2474" name="Text 7"/>
          <p:cNvSpPr txBox="1"/>
          <p:nvPr/>
        </p:nvSpPr>
        <p:spPr>
          <a:xfrm>
            <a:off x="4444106" y="2683073"/>
            <a:ext cx="2278252" cy="334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Survey + interviews</a:t>
            </a:r>
          </a:p>
        </p:txBody>
      </p:sp>
      <p:sp>
        <p:nvSpPr>
          <p:cNvPr id="2475" name="Text 8"/>
          <p:cNvSpPr txBox="1"/>
          <p:nvPr/>
        </p:nvSpPr>
        <p:spPr>
          <a:xfrm>
            <a:off x="4444106" y="3051572"/>
            <a:ext cx="3106300" cy="334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Experiment + questionnaire</a:t>
            </a:r>
          </a:p>
        </p:txBody>
      </p:sp>
      <p:sp>
        <p:nvSpPr>
          <p:cNvPr id="2476" name="Text 9"/>
          <p:cNvSpPr txBox="1"/>
          <p:nvPr/>
        </p:nvSpPr>
        <p:spPr>
          <a:xfrm>
            <a:off x="4444106" y="3420069"/>
            <a:ext cx="3064237" cy="334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Observation + focus groups</a:t>
            </a:r>
          </a:p>
        </p:txBody>
      </p:sp>
      <p:sp>
        <p:nvSpPr>
          <p:cNvPr id="2477" name="Text 10"/>
          <p:cNvSpPr txBox="1"/>
          <p:nvPr/>
        </p:nvSpPr>
        <p:spPr>
          <a:xfrm>
            <a:off x="4444106" y="3788568"/>
            <a:ext cx="3412473" cy="3341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2300">
                <a:latin typeface="Inter"/>
                <a:ea typeface="Inter"/>
                <a:cs typeface="Inter"/>
                <a:sym typeface="Inter"/>
              </a:defRPr>
            </a:lvl1pPr>
          </a:lstStyle>
          <a:p>
            <a:r>
              <a:rPr sz="1917"/>
              <a:t>Case study + statistical analysis</a:t>
            </a:r>
          </a:p>
        </p:txBody>
      </p:sp>
      <p:pic>
        <p:nvPicPr>
          <p:cNvPr id="2478" name="Image 0" descr="Image 0"/>
          <p:cNvPicPr>
            <a:picLocks noChangeAspect="1"/>
          </p:cNvPicPr>
          <p:nvPr/>
        </p:nvPicPr>
        <p:blipFill>
          <a:blip r:embed="rId2"/>
          <a:stretch>
            <a:fillRect/>
          </a:stretch>
        </p:blipFill>
        <p:spPr>
          <a:xfrm>
            <a:off x="8226723" y="2222401"/>
            <a:ext cx="3315098" cy="2209999"/>
          </a:xfrm>
          <a:prstGeom prst="rect">
            <a:avLst/>
          </a:prstGeom>
          <a:ln w="12700">
            <a:miter lim="400000"/>
          </a:ln>
        </p:spPr>
      </p:pic>
      <p:sp>
        <p:nvSpPr>
          <p:cNvPr id="2479" name="Text 11"/>
          <p:cNvSpPr txBox="1"/>
          <p:nvPr/>
        </p:nvSpPr>
        <p:spPr>
          <a:xfrm>
            <a:off x="8226723" y="4645024"/>
            <a:ext cx="3315098" cy="10495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r">
              <a:lnSpc>
                <a:spcPts val="2800"/>
              </a:lnSpc>
              <a:defRPr sz="2200" i="1">
                <a:latin typeface="Inter"/>
                <a:ea typeface="Inter"/>
                <a:cs typeface="Inter"/>
                <a:sym typeface="Inter"/>
              </a:defRPr>
            </a:lvl1pPr>
          </a:lstStyle>
          <a:p>
            <a:r>
              <a:rPr sz="1833"/>
              <a:t>Mixed methods require careful planning but provide rich, multidimensional insights.</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1" name="Text 0"/>
          <p:cNvSpPr txBox="1"/>
          <p:nvPr/>
        </p:nvSpPr>
        <p:spPr>
          <a:xfrm>
            <a:off x="779853" y="1158460"/>
            <a:ext cx="10369534" cy="17284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4583"/>
              </a:lnSpc>
              <a:defRPr sz="4400" b="1">
                <a:latin typeface="Playfair Display Bold"/>
                <a:ea typeface="Playfair Display Bold"/>
                <a:cs typeface="Playfair Display Bold"/>
                <a:sym typeface="Playfair Display Bold"/>
              </a:defRPr>
            </a:pPr>
            <a:r>
              <a:rPr sz="3667"/>
              <a:t>At camp, we are to conduct secondary research. </a:t>
            </a:r>
            <a:r>
              <a:rPr sz="3667">
                <a:solidFill>
                  <a:srgbClr val="941751"/>
                </a:solidFill>
              </a:rPr>
              <a:t>What could you at a parallel universe or simply another time? </a:t>
            </a:r>
          </a:p>
        </p:txBody>
      </p:sp>
      <p:sp>
        <p:nvSpPr>
          <p:cNvPr id="2482" name="Text 1"/>
          <p:cNvSpPr txBox="1"/>
          <p:nvPr/>
        </p:nvSpPr>
        <p:spPr>
          <a:xfrm>
            <a:off x="773208" y="3631887"/>
            <a:ext cx="9339888" cy="1491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2333"/>
              </a:lnSpc>
              <a:defRPr sz="3200">
                <a:latin typeface="Inter"/>
                <a:ea typeface="Inter"/>
                <a:cs typeface="Inter"/>
                <a:sym typeface="Inter"/>
              </a:defRPr>
            </a:pPr>
            <a:r>
              <a:rPr sz="2667"/>
              <a:t>Let’s team brainstorm! </a:t>
            </a:r>
          </a:p>
          <a:p>
            <a:pPr>
              <a:lnSpc>
                <a:spcPts val="2333"/>
              </a:lnSpc>
              <a:defRPr sz="3200">
                <a:latin typeface="Inter"/>
                <a:ea typeface="Inter"/>
                <a:cs typeface="Inter"/>
                <a:sym typeface="Inter"/>
              </a:defRPr>
            </a:pPr>
            <a:endParaRPr sz="2667"/>
          </a:p>
          <a:p>
            <a:pPr>
              <a:lnSpc>
                <a:spcPts val="2333"/>
              </a:lnSpc>
              <a:defRPr sz="3200">
                <a:latin typeface="Inter"/>
                <a:ea typeface="Inter"/>
                <a:cs typeface="Inter"/>
                <a:sym typeface="Inter"/>
              </a:defRPr>
            </a:pPr>
            <a:r>
              <a:rPr sz="2667"/>
              <a:t>Here is the question to answer: If we were to answer your research question from scratch (no existing data), how could you go about collecting the data? </a:t>
            </a:r>
          </a:p>
        </p:txBody>
      </p:sp>
      <p:sp>
        <p:nvSpPr>
          <p:cNvPr id="2483" name="Shape 2"/>
          <p:cNvSpPr/>
          <p:nvPr/>
        </p:nvSpPr>
        <p:spPr>
          <a:xfrm>
            <a:off x="661492" y="4570016"/>
            <a:ext cx="302420" cy="302420"/>
          </a:xfrm>
          <a:prstGeom prst="roundRect">
            <a:avLst>
              <a:gd name="adj" fmla="val 50000"/>
            </a:avLst>
          </a:prstGeom>
          <a:ln w="7620">
            <a:solidFill>
              <a:srgbClr val="FFFFFF"/>
            </a:solidFill>
          </a:ln>
        </p:spPr>
        <p:txBody>
          <a:bodyPr lIns="38099" rIns="38099"/>
          <a:lstStyle/>
          <a:p>
            <a:endParaRPr sz="1500"/>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5" name="Text 0"/>
          <p:cNvSpPr txBox="1"/>
          <p:nvPr/>
        </p:nvSpPr>
        <p:spPr>
          <a:xfrm>
            <a:off x="3423059" y="2434665"/>
            <a:ext cx="4701608" cy="17697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4583"/>
              </a:lnSpc>
              <a:defRPr sz="4400" b="1">
                <a:solidFill>
                  <a:srgbClr val="D7AA48"/>
                </a:solidFill>
                <a:latin typeface="Playfair Display Bold"/>
                <a:ea typeface="Playfair Display Bold"/>
                <a:cs typeface="Playfair Display Bold"/>
                <a:sym typeface="Playfair Display Bold"/>
              </a:defRPr>
            </a:pPr>
            <a:r>
              <a:rPr sz="3667"/>
              <a:t>Shall we play a game?</a:t>
            </a:r>
          </a:p>
          <a:p>
            <a:pPr algn="ctr">
              <a:lnSpc>
                <a:spcPts val="4583"/>
              </a:lnSpc>
              <a:defRPr sz="5700">
                <a:latin typeface="Playfair Display Bold"/>
                <a:ea typeface="Playfair Display Bold"/>
                <a:cs typeface="Playfair Display Bold"/>
                <a:sym typeface="Playfair Display Bold"/>
              </a:defRPr>
            </a:pPr>
            <a:endParaRPr sz="4750"/>
          </a:p>
          <a:p>
            <a:pPr algn="ctr">
              <a:lnSpc>
                <a:spcPts val="4583"/>
              </a:lnSpc>
              <a:defRPr sz="6000" b="1">
                <a:latin typeface="Playfair Display Bold"/>
                <a:ea typeface="Playfair Display Bold"/>
                <a:cs typeface="Playfair Display Bold"/>
                <a:sym typeface="Playfair Display Bold"/>
              </a:defRPr>
            </a:pPr>
            <a:r>
              <a:rPr sz="5000"/>
              <a:t>Method Match</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48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48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48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48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5" grpId="0" build="p" bldLvl="5"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7" name="Text 0"/>
          <p:cNvSpPr txBox="1"/>
          <p:nvPr/>
        </p:nvSpPr>
        <p:spPr>
          <a:xfrm>
            <a:off x="652462" y="513854"/>
            <a:ext cx="5931111"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Choosing the Right Method</a:t>
            </a:r>
          </a:p>
        </p:txBody>
      </p:sp>
      <p:sp>
        <p:nvSpPr>
          <p:cNvPr id="2488" name="Shape 1"/>
          <p:cNvSpPr/>
          <p:nvPr/>
        </p:nvSpPr>
        <p:spPr>
          <a:xfrm>
            <a:off x="652463" y="1469331"/>
            <a:ext cx="1360884" cy="1074243"/>
          </a:xfrm>
          <a:prstGeom prst="roundRect">
            <a:avLst>
              <a:gd name="adj" fmla="val 7289"/>
            </a:avLst>
          </a:prstGeom>
          <a:solidFill>
            <a:srgbClr val="CCEDFF"/>
          </a:solidFill>
          <a:ln w="7620">
            <a:solidFill>
              <a:srgbClr val="B2D3E5"/>
            </a:solidFill>
          </a:ln>
        </p:spPr>
        <p:txBody>
          <a:bodyPr lIns="38099" rIns="38099"/>
          <a:lstStyle/>
          <a:p>
            <a:endParaRPr sz="1500"/>
          </a:p>
        </p:txBody>
      </p:sp>
      <p:pic>
        <p:nvPicPr>
          <p:cNvPr id="2489" name="Image 0" descr="Image 0"/>
          <p:cNvPicPr>
            <a:picLocks noChangeAspect="1"/>
          </p:cNvPicPr>
          <p:nvPr/>
        </p:nvPicPr>
        <p:blipFill>
          <a:blip r:embed="rId2"/>
          <a:stretch>
            <a:fillRect/>
          </a:stretch>
        </p:blipFill>
        <p:spPr>
          <a:xfrm>
            <a:off x="1201836" y="1842591"/>
            <a:ext cx="262137" cy="327621"/>
          </a:xfrm>
          <a:prstGeom prst="rect">
            <a:avLst/>
          </a:prstGeom>
          <a:ln w="12700">
            <a:miter lim="400000"/>
          </a:ln>
        </p:spPr>
      </p:pic>
      <p:sp>
        <p:nvSpPr>
          <p:cNvPr id="2490" name="Text 2"/>
          <p:cNvSpPr txBox="1"/>
          <p:nvPr/>
        </p:nvSpPr>
        <p:spPr>
          <a:xfrm>
            <a:off x="2199778" y="1655762"/>
            <a:ext cx="3552254"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Consider your research question</a:t>
            </a:r>
          </a:p>
        </p:txBody>
      </p:sp>
      <p:sp>
        <p:nvSpPr>
          <p:cNvPr id="2491" name="Text 3"/>
          <p:cNvSpPr txBox="1"/>
          <p:nvPr/>
        </p:nvSpPr>
        <p:spPr>
          <a:xfrm>
            <a:off x="2199779" y="2058889"/>
            <a:ext cx="6202275" cy="3285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2100">
                <a:latin typeface="Inter"/>
                <a:ea typeface="Inter"/>
                <a:cs typeface="Inter"/>
                <a:sym typeface="Inter"/>
              </a:defRPr>
            </a:lvl1pPr>
          </a:lstStyle>
          <a:p>
            <a:r>
              <a:rPr sz="1750"/>
              <a:t>What type of answer do you need? Numbers, descriptions, or both?</a:t>
            </a:r>
          </a:p>
        </p:txBody>
      </p:sp>
      <p:sp>
        <p:nvSpPr>
          <p:cNvPr id="2492" name="Shape 4"/>
          <p:cNvSpPr/>
          <p:nvPr/>
        </p:nvSpPr>
        <p:spPr>
          <a:xfrm>
            <a:off x="2106514" y="2530872"/>
            <a:ext cx="9339858" cy="12701"/>
          </a:xfrm>
          <a:prstGeom prst="roundRect">
            <a:avLst>
              <a:gd name="adj" fmla="val 50000"/>
            </a:avLst>
          </a:prstGeom>
          <a:solidFill>
            <a:srgbClr val="B2D3E5"/>
          </a:solidFill>
          <a:ln w="12700">
            <a:miter lim="400000"/>
          </a:ln>
        </p:spPr>
        <p:txBody>
          <a:bodyPr lIns="38099" rIns="38099"/>
          <a:lstStyle/>
          <a:p>
            <a:endParaRPr sz="1500"/>
          </a:p>
        </p:txBody>
      </p:sp>
      <p:sp>
        <p:nvSpPr>
          <p:cNvPr id="2493" name="Shape 5"/>
          <p:cNvSpPr/>
          <p:nvPr/>
        </p:nvSpPr>
        <p:spPr>
          <a:xfrm>
            <a:off x="652462" y="2636738"/>
            <a:ext cx="2721770" cy="1074243"/>
          </a:xfrm>
          <a:prstGeom prst="roundRect">
            <a:avLst>
              <a:gd name="adj" fmla="val 7289"/>
            </a:avLst>
          </a:prstGeom>
          <a:solidFill>
            <a:srgbClr val="CCEDFF"/>
          </a:solidFill>
          <a:ln w="7620">
            <a:solidFill>
              <a:srgbClr val="B2D3E5"/>
            </a:solidFill>
          </a:ln>
        </p:spPr>
        <p:txBody>
          <a:bodyPr lIns="38099" rIns="38099"/>
          <a:lstStyle/>
          <a:p>
            <a:endParaRPr sz="1500"/>
          </a:p>
        </p:txBody>
      </p:sp>
      <p:pic>
        <p:nvPicPr>
          <p:cNvPr id="2494" name="Image 1" descr="Image 1"/>
          <p:cNvPicPr>
            <a:picLocks noChangeAspect="1"/>
          </p:cNvPicPr>
          <p:nvPr/>
        </p:nvPicPr>
        <p:blipFill>
          <a:blip r:embed="rId3"/>
          <a:stretch>
            <a:fillRect/>
          </a:stretch>
        </p:blipFill>
        <p:spPr>
          <a:xfrm>
            <a:off x="1882278" y="3009999"/>
            <a:ext cx="262137" cy="327621"/>
          </a:xfrm>
          <a:prstGeom prst="rect">
            <a:avLst/>
          </a:prstGeom>
          <a:ln w="12700">
            <a:miter lim="400000"/>
          </a:ln>
        </p:spPr>
      </p:pic>
      <p:sp>
        <p:nvSpPr>
          <p:cNvPr id="2495" name="Text 6"/>
          <p:cNvSpPr txBox="1"/>
          <p:nvPr/>
        </p:nvSpPr>
        <p:spPr>
          <a:xfrm>
            <a:off x="3560664" y="2823170"/>
            <a:ext cx="2393284"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Assess your resources</a:t>
            </a:r>
          </a:p>
        </p:txBody>
      </p:sp>
      <p:sp>
        <p:nvSpPr>
          <p:cNvPr id="2496" name="Text 7"/>
          <p:cNvSpPr txBox="1"/>
          <p:nvPr/>
        </p:nvSpPr>
        <p:spPr>
          <a:xfrm>
            <a:off x="3560664" y="3226296"/>
            <a:ext cx="5608843" cy="3285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2100">
                <a:latin typeface="Inter"/>
                <a:ea typeface="Inter"/>
                <a:cs typeface="Inter"/>
                <a:sym typeface="Inter"/>
              </a:defRPr>
            </a:lvl1pPr>
          </a:lstStyle>
          <a:p>
            <a:r>
              <a:rPr sz="1750"/>
              <a:t>How much time, access, and materials do you have available?</a:t>
            </a:r>
          </a:p>
        </p:txBody>
      </p:sp>
      <p:sp>
        <p:nvSpPr>
          <p:cNvPr id="2497" name="Shape 8"/>
          <p:cNvSpPr/>
          <p:nvPr/>
        </p:nvSpPr>
        <p:spPr>
          <a:xfrm>
            <a:off x="3467398" y="3698280"/>
            <a:ext cx="7978974" cy="12701"/>
          </a:xfrm>
          <a:prstGeom prst="roundRect">
            <a:avLst>
              <a:gd name="adj" fmla="val 50000"/>
            </a:avLst>
          </a:prstGeom>
          <a:solidFill>
            <a:srgbClr val="B2D3E5"/>
          </a:solidFill>
          <a:ln w="12700">
            <a:miter lim="400000"/>
          </a:ln>
        </p:spPr>
        <p:txBody>
          <a:bodyPr lIns="38099" rIns="38099"/>
          <a:lstStyle/>
          <a:p>
            <a:endParaRPr sz="1500"/>
          </a:p>
        </p:txBody>
      </p:sp>
      <p:sp>
        <p:nvSpPr>
          <p:cNvPr id="2498" name="Shape 9"/>
          <p:cNvSpPr/>
          <p:nvPr/>
        </p:nvSpPr>
        <p:spPr>
          <a:xfrm>
            <a:off x="652463" y="3804145"/>
            <a:ext cx="4082653" cy="1074243"/>
          </a:xfrm>
          <a:prstGeom prst="roundRect">
            <a:avLst>
              <a:gd name="adj" fmla="val 7289"/>
            </a:avLst>
          </a:prstGeom>
          <a:solidFill>
            <a:srgbClr val="CCEDFF"/>
          </a:solidFill>
          <a:ln w="7620">
            <a:solidFill>
              <a:srgbClr val="B2D3E5"/>
            </a:solidFill>
          </a:ln>
        </p:spPr>
        <p:txBody>
          <a:bodyPr lIns="38099" rIns="38099"/>
          <a:lstStyle/>
          <a:p>
            <a:endParaRPr sz="1500"/>
          </a:p>
        </p:txBody>
      </p:sp>
      <p:pic>
        <p:nvPicPr>
          <p:cNvPr id="2499" name="Image 2" descr="Image 2"/>
          <p:cNvPicPr>
            <a:picLocks noChangeAspect="1"/>
          </p:cNvPicPr>
          <p:nvPr/>
        </p:nvPicPr>
        <p:blipFill>
          <a:blip r:embed="rId4"/>
          <a:stretch>
            <a:fillRect/>
          </a:stretch>
        </p:blipFill>
        <p:spPr>
          <a:xfrm>
            <a:off x="2562721" y="4177406"/>
            <a:ext cx="262136" cy="327621"/>
          </a:xfrm>
          <a:prstGeom prst="rect">
            <a:avLst/>
          </a:prstGeom>
          <a:ln w="12700">
            <a:miter lim="400000"/>
          </a:ln>
        </p:spPr>
      </p:pic>
      <p:sp>
        <p:nvSpPr>
          <p:cNvPr id="2500" name="Text 10"/>
          <p:cNvSpPr txBox="1"/>
          <p:nvPr/>
        </p:nvSpPr>
        <p:spPr>
          <a:xfrm>
            <a:off x="4921547" y="3990579"/>
            <a:ext cx="2702663"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Think about participants</a:t>
            </a:r>
          </a:p>
        </p:txBody>
      </p:sp>
      <p:sp>
        <p:nvSpPr>
          <p:cNvPr id="2501" name="Text 11"/>
          <p:cNvSpPr txBox="1"/>
          <p:nvPr/>
        </p:nvSpPr>
        <p:spPr>
          <a:xfrm>
            <a:off x="4921547" y="4393704"/>
            <a:ext cx="5780878" cy="3285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2100">
                <a:latin typeface="Inter"/>
                <a:ea typeface="Inter"/>
                <a:cs typeface="Inter"/>
                <a:sym typeface="Inter"/>
              </a:defRPr>
            </a:lvl1pPr>
          </a:lstStyle>
          <a:p>
            <a:r>
              <a:rPr sz="1750"/>
              <a:t>Who will you study and how many can you realistically include?</a:t>
            </a:r>
          </a:p>
        </p:txBody>
      </p:sp>
      <p:sp>
        <p:nvSpPr>
          <p:cNvPr id="2502" name="Shape 12"/>
          <p:cNvSpPr/>
          <p:nvPr/>
        </p:nvSpPr>
        <p:spPr>
          <a:xfrm>
            <a:off x="4828281" y="4865688"/>
            <a:ext cx="6618090" cy="12701"/>
          </a:xfrm>
          <a:prstGeom prst="roundRect">
            <a:avLst>
              <a:gd name="adj" fmla="val 50000"/>
            </a:avLst>
          </a:prstGeom>
          <a:solidFill>
            <a:srgbClr val="B2D3E5"/>
          </a:solidFill>
          <a:ln w="12700">
            <a:miter lim="400000"/>
          </a:ln>
        </p:spPr>
        <p:txBody>
          <a:bodyPr lIns="38099" rIns="38099"/>
          <a:lstStyle/>
          <a:p>
            <a:endParaRPr sz="1500"/>
          </a:p>
        </p:txBody>
      </p:sp>
      <p:sp>
        <p:nvSpPr>
          <p:cNvPr id="2503" name="Shape 13"/>
          <p:cNvSpPr/>
          <p:nvPr/>
        </p:nvSpPr>
        <p:spPr>
          <a:xfrm>
            <a:off x="652463" y="4971554"/>
            <a:ext cx="5443538" cy="1372494"/>
          </a:xfrm>
          <a:prstGeom prst="roundRect">
            <a:avLst>
              <a:gd name="adj" fmla="val 5705"/>
            </a:avLst>
          </a:prstGeom>
          <a:solidFill>
            <a:srgbClr val="CCEDFF"/>
          </a:solidFill>
          <a:ln w="7620">
            <a:solidFill>
              <a:srgbClr val="B2D3E5"/>
            </a:solidFill>
          </a:ln>
        </p:spPr>
        <p:txBody>
          <a:bodyPr lIns="38099" rIns="38099"/>
          <a:lstStyle/>
          <a:p>
            <a:endParaRPr sz="1500"/>
          </a:p>
        </p:txBody>
      </p:sp>
      <p:pic>
        <p:nvPicPr>
          <p:cNvPr id="2504" name="Image 3" descr="Image 3"/>
          <p:cNvPicPr>
            <a:picLocks noChangeAspect="1"/>
          </p:cNvPicPr>
          <p:nvPr/>
        </p:nvPicPr>
        <p:blipFill>
          <a:blip r:embed="rId5"/>
          <a:stretch>
            <a:fillRect/>
          </a:stretch>
        </p:blipFill>
        <p:spPr>
          <a:xfrm>
            <a:off x="3243163" y="5493941"/>
            <a:ext cx="262137" cy="327621"/>
          </a:xfrm>
          <a:prstGeom prst="rect">
            <a:avLst/>
          </a:prstGeom>
          <a:ln w="12700">
            <a:miter lim="400000"/>
          </a:ln>
        </p:spPr>
      </p:pic>
      <p:sp>
        <p:nvSpPr>
          <p:cNvPr id="2505" name="Text 14"/>
          <p:cNvSpPr txBox="1"/>
          <p:nvPr/>
        </p:nvSpPr>
        <p:spPr>
          <a:xfrm>
            <a:off x="6282432" y="5157986"/>
            <a:ext cx="3475310"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Weigh strengths and limitations</a:t>
            </a:r>
          </a:p>
        </p:txBody>
      </p:sp>
      <p:sp>
        <p:nvSpPr>
          <p:cNvPr id="2506" name="Text 15"/>
          <p:cNvSpPr txBox="1"/>
          <p:nvPr/>
        </p:nvSpPr>
        <p:spPr>
          <a:xfrm>
            <a:off x="6282432" y="5561111"/>
            <a:ext cx="5070674" cy="6876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100">
                <a:latin typeface="Inter"/>
                <a:ea typeface="Inter"/>
                <a:cs typeface="Inter"/>
                <a:sym typeface="Inter"/>
              </a:defRPr>
            </a:lvl1pPr>
          </a:lstStyle>
          <a:p>
            <a:r>
              <a:rPr sz="1750"/>
              <a:t>Each method has trade-offs. Choose what best fits your specific needs.</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 name="Text 0"/>
          <p:cNvSpPr txBox="1"/>
          <p:nvPr/>
        </p:nvSpPr>
        <p:spPr>
          <a:xfrm>
            <a:off x="661492" y="1135658"/>
            <a:ext cx="5522346"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Correlation vs. Causation</a:t>
            </a:r>
          </a:p>
        </p:txBody>
      </p:sp>
      <p:sp>
        <p:nvSpPr>
          <p:cNvPr id="2509" name="Text 1"/>
          <p:cNvSpPr txBox="1"/>
          <p:nvPr/>
        </p:nvSpPr>
        <p:spPr>
          <a:xfrm>
            <a:off x="661491" y="2198786"/>
            <a:ext cx="1264770"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Correlation</a:t>
            </a:r>
          </a:p>
        </p:txBody>
      </p:sp>
      <p:sp>
        <p:nvSpPr>
          <p:cNvPr id="2510" name="Text 2"/>
          <p:cNvSpPr txBox="1"/>
          <p:nvPr/>
        </p:nvSpPr>
        <p:spPr>
          <a:xfrm>
            <a:off x="661491" y="2683073"/>
            <a:ext cx="3315098" cy="690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200">
                <a:latin typeface="Inter"/>
                <a:ea typeface="Inter"/>
                <a:cs typeface="Inter"/>
                <a:sym typeface="Inter"/>
              </a:defRPr>
            </a:lvl1pPr>
          </a:lstStyle>
          <a:p>
            <a:r>
              <a:rPr sz="1833"/>
              <a:t>Two variables change together or are related.</a:t>
            </a:r>
          </a:p>
        </p:txBody>
      </p:sp>
      <p:sp>
        <p:nvSpPr>
          <p:cNvPr id="2511" name="Text 3"/>
          <p:cNvSpPr txBox="1"/>
          <p:nvPr/>
        </p:nvSpPr>
        <p:spPr>
          <a:xfrm>
            <a:off x="661491" y="3457972"/>
            <a:ext cx="3326039"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Shows a pattern or relationship</a:t>
            </a:r>
          </a:p>
        </p:txBody>
      </p:sp>
      <p:sp>
        <p:nvSpPr>
          <p:cNvPr id="2512" name="Text 4"/>
          <p:cNvSpPr txBox="1"/>
          <p:nvPr/>
        </p:nvSpPr>
        <p:spPr>
          <a:xfrm>
            <a:off x="661491" y="3826470"/>
            <a:ext cx="3315098" cy="690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Doesn't prove one causes the other</a:t>
            </a:r>
          </a:p>
        </p:txBody>
      </p:sp>
      <p:sp>
        <p:nvSpPr>
          <p:cNvPr id="2513" name="Text 5"/>
          <p:cNvSpPr txBox="1"/>
          <p:nvPr/>
        </p:nvSpPr>
        <p:spPr>
          <a:xfrm>
            <a:off x="661491" y="4497388"/>
            <a:ext cx="3315098" cy="690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Found in surveys, observations, etc.</a:t>
            </a:r>
          </a:p>
        </p:txBody>
      </p:sp>
      <p:sp>
        <p:nvSpPr>
          <p:cNvPr id="2514" name="Text 6"/>
          <p:cNvSpPr txBox="1"/>
          <p:nvPr/>
        </p:nvSpPr>
        <p:spPr>
          <a:xfrm>
            <a:off x="4444106" y="2198786"/>
            <a:ext cx="1094852"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Causation</a:t>
            </a:r>
          </a:p>
        </p:txBody>
      </p:sp>
      <p:sp>
        <p:nvSpPr>
          <p:cNvPr id="2515" name="Text 7"/>
          <p:cNvSpPr txBox="1"/>
          <p:nvPr/>
        </p:nvSpPr>
        <p:spPr>
          <a:xfrm>
            <a:off x="4444106" y="2683073"/>
            <a:ext cx="3315098" cy="6904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2200">
                <a:latin typeface="Inter"/>
                <a:ea typeface="Inter"/>
                <a:cs typeface="Inter"/>
                <a:sym typeface="Inter"/>
              </a:defRPr>
            </a:lvl1pPr>
          </a:lstStyle>
          <a:p>
            <a:r>
              <a:rPr sz="1833"/>
              <a:t>One variable directly causes changes in another.</a:t>
            </a:r>
          </a:p>
        </p:txBody>
      </p:sp>
      <p:sp>
        <p:nvSpPr>
          <p:cNvPr id="2516" name="Text 8"/>
          <p:cNvSpPr txBox="1"/>
          <p:nvPr/>
        </p:nvSpPr>
        <p:spPr>
          <a:xfrm>
            <a:off x="4444106" y="3457972"/>
            <a:ext cx="2562561"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Shows cause and effect</a:t>
            </a:r>
          </a:p>
        </p:txBody>
      </p:sp>
      <p:sp>
        <p:nvSpPr>
          <p:cNvPr id="2517" name="Text 9"/>
          <p:cNvSpPr txBox="1"/>
          <p:nvPr/>
        </p:nvSpPr>
        <p:spPr>
          <a:xfrm>
            <a:off x="4444106" y="3826470"/>
            <a:ext cx="3441711"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Requires controlled experiments</a:t>
            </a:r>
          </a:p>
        </p:txBody>
      </p:sp>
      <p:sp>
        <p:nvSpPr>
          <p:cNvPr id="2518" name="Text 10"/>
          <p:cNvSpPr txBox="1"/>
          <p:nvPr/>
        </p:nvSpPr>
        <p:spPr>
          <a:xfrm>
            <a:off x="4444106" y="4194969"/>
            <a:ext cx="3261149"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899" indent="-342899">
              <a:lnSpc>
                <a:spcPts val="2800"/>
              </a:lnSpc>
              <a:buSzPct val="100000"/>
              <a:buChar char="•"/>
              <a:defRPr sz="2200">
                <a:latin typeface="Inter"/>
                <a:ea typeface="Inter"/>
                <a:cs typeface="Inter"/>
                <a:sym typeface="Inter"/>
              </a:defRPr>
            </a:lvl1pPr>
          </a:lstStyle>
          <a:p>
            <a:r>
              <a:rPr sz="1833"/>
              <a:t>Harder to establish definitively</a:t>
            </a:r>
          </a:p>
        </p:txBody>
      </p:sp>
      <p:pic>
        <p:nvPicPr>
          <p:cNvPr id="2519" name="Image 0" descr="Image 0"/>
          <p:cNvPicPr>
            <a:picLocks noChangeAspect="1"/>
          </p:cNvPicPr>
          <p:nvPr/>
        </p:nvPicPr>
        <p:blipFill>
          <a:blip r:embed="rId2"/>
          <a:stretch>
            <a:fillRect/>
          </a:stretch>
        </p:blipFill>
        <p:spPr>
          <a:xfrm>
            <a:off x="8226723" y="2222401"/>
            <a:ext cx="3315098" cy="2209999"/>
          </a:xfrm>
          <a:prstGeom prst="rect">
            <a:avLst/>
          </a:prstGeom>
          <a:ln w="12700">
            <a:miter lim="400000"/>
          </a:ln>
        </p:spPr>
      </p:pic>
      <p:sp>
        <p:nvSpPr>
          <p:cNvPr id="2520" name="Text 11"/>
          <p:cNvSpPr txBox="1"/>
          <p:nvPr/>
        </p:nvSpPr>
        <p:spPr>
          <a:xfrm>
            <a:off x="8226723" y="4645024"/>
            <a:ext cx="3315098" cy="11653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gn="r">
              <a:lnSpc>
                <a:spcPts val="2333"/>
              </a:lnSpc>
              <a:defRPr sz="2100" i="1">
                <a:latin typeface="Inter"/>
                <a:ea typeface="Inter"/>
                <a:cs typeface="Inter"/>
                <a:sym typeface="Inter"/>
              </a:defRPr>
            </a:pPr>
            <a:r>
              <a:rPr sz="1750"/>
              <a:t>Remember: </a:t>
            </a:r>
          </a:p>
          <a:p>
            <a:pPr algn="r">
              <a:lnSpc>
                <a:spcPts val="2333"/>
              </a:lnSpc>
              <a:defRPr sz="2100" i="1">
                <a:latin typeface="Inter"/>
                <a:ea typeface="Inter"/>
                <a:cs typeface="Inter"/>
                <a:sym typeface="Inter"/>
              </a:defRPr>
            </a:pPr>
            <a:r>
              <a:rPr sz="1750"/>
              <a:t>“Correlation does not equal causation" is a fundamental principle in research.</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2" name="Text 0"/>
          <p:cNvSpPr txBox="1"/>
          <p:nvPr/>
        </p:nvSpPr>
        <p:spPr>
          <a:xfrm>
            <a:off x="661491" y="695524"/>
            <a:ext cx="8548815"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The Shoe Size-Reading Ability Example</a:t>
            </a:r>
          </a:p>
        </p:txBody>
      </p:sp>
      <p:sp>
        <p:nvSpPr>
          <p:cNvPr id="2523" name="Text 1"/>
          <p:cNvSpPr txBox="1"/>
          <p:nvPr/>
        </p:nvSpPr>
        <p:spPr>
          <a:xfrm>
            <a:off x="5439074" y="4640435"/>
            <a:ext cx="1768113"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True Cause: Age</a:t>
            </a:r>
          </a:p>
        </p:txBody>
      </p:sp>
      <p:sp>
        <p:nvSpPr>
          <p:cNvPr id="2524" name="Text 2"/>
          <p:cNvSpPr txBox="1"/>
          <p:nvPr/>
        </p:nvSpPr>
        <p:spPr>
          <a:xfrm>
            <a:off x="5444838" y="5110449"/>
            <a:ext cx="4282711" cy="3313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2200">
                <a:latin typeface="Inter"/>
                <a:ea typeface="Inter"/>
                <a:cs typeface="Inter"/>
                <a:sym typeface="Inter"/>
              </a:defRPr>
            </a:lvl1pPr>
          </a:lstStyle>
          <a:p>
            <a:r>
              <a:rPr sz="1833"/>
              <a:t>Age affects both shoe size and reading ability</a:t>
            </a:r>
          </a:p>
        </p:txBody>
      </p:sp>
      <p:sp>
        <p:nvSpPr>
          <p:cNvPr id="2525" name="Text 5"/>
          <p:cNvSpPr txBox="1"/>
          <p:nvPr/>
        </p:nvSpPr>
        <p:spPr>
          <a:xfrm>
            <a:off x="727404" y="1691755"/>
            <a:ext cx="6148735" cy="368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800"/>
              </a:lnSpc>
              <a:defRPr sz="3500">
                <a:latin typeface="Inter"/>
                <a:ea typeface="Inter"/>
                <a:cs typeface="Inter"/>
                <a:sym typeface="Inter"/>
              </a:defRPr>
            </a:lvl1pPr>
          </a:lstStyle>
          <a:p>
            <a:r>
              <a:rPr sz="2917"/>
              <a:t>Kids with bigger feet tend to read better.</a:t>
            </a:r>
          </a:p>
        </p:txBody>
      </p:sp>
      <p:sp>
        <p:nvSpPr>
          <p:cNvPr id="2526" name="Shape 6"/>
          <p:cNvSpPr/>
          <p:nvPr/>
        </p:nvSpPr>
        <p:spPr>
          <a:xfrm>
            <a:off x="724774" y="4238999"/>
            <a:ext cx="7207121" cy="42304"/>
          </a:xfrm>
          <a:prstGeom prst="roundRect">
            <a:avLst>
              <a:gd name="adj" fmla="val 50000"/>
            </a:avLst>
          </a:prstGeom>
          <a:solidFill>
            <a:srgbClr val="B2D3E5"/>
          </a:solidFill>
          <a:ln w="12700">
            <a:miter lim="400000"/>
          </a:ln>
        </p:spPr>
        <p:txBody>
          <a:bodyPr lIns="38099" rIns="38099"/>
          <a:lstStyle/>
          <a:p>
            <a:endParaRPr sz="1500"/>
          </a:p>
        </p:txBody>
      </p:sp>
      <p:sp>
        <p:nvSpPr>
          <p:cNvPr id="2527" name="Text 7"/>
          <p:cNvSpPr txBox="1"/>
          <p:nvPr/>
        </p:nvSpPr>
        <p:spPr>
          <a:xfrm>
            <a:off x="704140" y="2896162"/>
            <a:ext cx="2210542"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Variable 1: Shoe Size</a:t>
            </a:r>
          </a:p>
        </p:txBody>
      </p:sp>
      <p:sp>
        <p:nvSpPr>
          <p:cNvPr id="2528" name="Text 10"/>
          <p:cNvSpPr txBox="1"/>
          <p:nvPr/>
        </p:nvSpPr>
        <p:spPr>
          <a:xfrm>
            <a:off x="680635" y="3598432"/>
            <a:ext cx="2882199"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Variable 2: Reading Ability</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5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52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iterate>
                                    <p:tmAbs val="0"/>
                                  </p:iterate>
                                  <p:childTnLst>
                                    <p:set>
                                      <p:cBhvr>
                                        <p:cTn id="13" fill="hold"/>
                                        <p:tgtEl>
                                          <p:spTgt spid="252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p:tmAbs val="0"/>
                                  </p:iterate>
                                  <p:childTnLst>
                                    <p:set>
                                      <p:cBhvr>
                                        <p:cTn id="17" fill="hold"/>
                                        <p:tgtEl>
                                          <p:spTgt spid="2526"/>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iterate>
                                    <p:tmAbs val="0"/>
                                  </p:iterate>
                                  <p:childTnLst>
                                    <p:set>
                                      <p:cBhvr>
                                        <p:cTn id="20" fill="hold"/>
                                        <p:tgtEl>
                                          <p:spTgt spid="2523"/>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25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3" grpId="0" animBg="1" advAuto="0"/>
      <p:bldP spid="2524" grpId="0" animBg="1" advAuto="0"/>
      <p:bldP spid="2525" grpId="0" animBg="1" advAuto="0"/>
      <p:bldP spid="2526" grpId="0" animBg="1" advAuto="0"/>
      <p:bldP spid="2527" grpId="0" animBg="1" advAuto="0"/>
      <p:bldP spid="2528" grpId="0"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30" name="Image 0" descr="Image 0"/>
          <p:cNvPicPr>
            <a:picLocks noChangeAspect="1"/>
          </p:cNvPicPr>
          <p:nvPr/>
        </p:nvPicPr>
        <p:blipFill>
          <a:blip r:embed="rId2"/>
          <a:stretch>
            <a:fillRect/>
          </a:stretch>
        </p:blipFill>
        <p:spPr>
          <a:xfrm>
            <a:off x="-1" y="763438"/>
            <a:ext cx="12192001" cy="2181425"/>
          </a:xfrm>
          <a:prstGeom prst="rect">
            <a:avLst/>
          </a:prstGeom>
          <a:ln w="12700">
            <a:miter lim="400000"/>
          </a:ln>
        </p:spPr>
      </p:pic>
      <p:sp>
        <p:nvSpPr>
          <p:cNvPr id="2531" name="Text 0"/>
          <p:cNvSpPr txBox="1"/>
          <p:nvPr/>
        </p:nvSpPr>
        <p:spPr>
          <a:xfrm>
            <a:off x="610789" y="3169699"/>
            <a:ext cx="4804200" cy="5895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100"/>
              </a:lnSpc>
              <a:defRPr sz="4100" b="1">
                <a:latin typeface="Playfair Display Bold"/>
                <a:ea typeface="Playfair Display Bold"/>
                <a:cs typeface="Playfair Display Bold"/>
                <a:sym typeface="Playfair Display Bold"/>
              </a:defRPr>
            </a:lvl1pPr>
          </a:lstStyle>
          <a:p>
            <a:r>
              <a:rPr sz="3417"/>
              <a:t>Planning the Procedure</a:t>
            </a:r>
          </a:p>
        </p:txBody>
      </p:sp>
      <p:sp>
        <p:nvSpPr>
          <p:cNvPr id="2532" name="Text 1"/>
          <p:cNvSpPr txBox="1"/>
          <p:nvPr/>
        </p:nvSpPr>
        <p:spPr>
          <a:xfrm>
            <a:off x="610790" y="3886489"/>
            <a:ext cx="3800143" cy="8463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2167"/>
              </a:lnSpc>
              <a:defRPr sz="2300">
                <a:latin typeface="Inter"/>
                <a:ea typeface="Inter"/>
                <a:cs typeface="Inter"/>
                <a:sym typeface="Inter"/>
              </a:defRPr>
            </a:pPr>
            <a:r>
              <a:rPr sz="1917"/>
              <a:t>Once you've chosen a method, </a:t>
            </a:r>
          </a:p>
          <a:p>
            <a:pPr>
              <a:lnSpc>
                <a:spcPts val="2167"/>
              </a:lnSpc>
              <a:defRPr sz="2300">
                <a:latin typeface="Inter"/>
                <a:ea typeface="Inter"/>
                <a:cs typeface="Inter"/>
                <a:sym typeface="Inter"/>
              </a:defRPr>
            </a:pPr>
            <a:r>
              <a:rPr sz="1917"/>
              <a:t>you need a detailed step-by-step plan </a:t>
            </a:r>
          </a:p>
          <a:p>
            <a:pPr>
              <a:lnSpc>
                <a:spcPts val="2167"/>
              </a:lnSpc>
              <a:defRPr sz="2300">
                <a:latin typeface="Inter"/>
                <a:ea typeface="Inter"/>
                <a:cs typeface="Inter"/>
                <a:sym typeface="Inter"/>
              </a:defRPr>
            </a:pPr>
            <a:r>
              <a:rPr sz="1917"/>
              <a:t>for your research.</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34" name="Image 0" descr="Image 0"/>
          <p:cNvPicPr>
            <a:picLocks noChangeAspect="1"/>
          </p:cNvPicPr>
          <p:nvPr/>
        </p:nvPicPr>
        <p:blipFill>
          <a:blip r:embed="rId2"/>
          <a:stretch>
            <a:fillRect/>
          </a:stretch>
        </p:blipFill>
        <p:spPr>
          <a:xfrm>
            <a:off x="-1" y="763438"/>
            <a:ext cx="12192001" cy="2181425"/>
          </a:xfrm>
          <a:prstGeom prst="rect">
            <a:avLst/>
          </a:prstGeom>
          <a:ln w="12700">
            <a:miter lim="400000"/>
          </a:ln>
        </p:spPr>
      </p:pic>
      <p:sp>
        <p:nvSpPr>
          <p:cNvPr id="2535" name="Text 0"/>
          <p:cNvSpPr txBox="1"/>
          <p:nvPr/>
        </p:nvSpPr>
        <p:spPr>
          <a:xfrm>
            <a:off x="610789" y="3169699"/>
            <a:ext cx="4804200" cy="5895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100"/>
              </a:lnSpc>
              <a:defRPr sz="4100" b="1">
                <a:latin typeface="Playfair Display Bold"/>
                <a:ea typeface="Playfair Display Bold"/>
                <a:cs typeface="Playfair Display Bold"/>
                <a:sym typeface="Playfair Display Bold"/>
              </a:defRPr>
            </a:lvl1pPr>
          </a:lstStyle>
          <a:p>
            <a:r>
              <a:rPr sz="3417"/>
              <a:t>Planning the Procedure</a:t>
            </a:r>
          </a:p>
        </p:txBody>
      </p:sp>
      <p:sp>
        <p:nvSpPr>
          <p:cNvPr id="2536" name="Text 1"/>
          <p:cNvSpPr txBox="1"/>
          <p:nvPr/>
        </p:nvSpPr>
        <p:spPr>
          <a:xfrm>
            <a:off x="610790" y="3886489"/>
            <a:ext cx="3800143" cy="8463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2167"/>
              </a:lnSpc>
              <a:defRPr sz="2300">
                <a:latin typeface="Inter"/>
                <a:ea typeface="Inter"/>
                <a:cs typeface="Inter"/>
                <a:sym typeface="Inter"/>
              </a:defRPr>
            </a:pPr>
            <a:r>
              <a:rPr sz="1917"/>
              <a:t>Once you've chosen a method, </a:t>
            </a:r>
          </a:p>
          <a:p>
            <a:pPr>
              <a:lnSpc>
                <a:spcPts val="2167"/>
              </a:lnSpc>
              <a:defRPr sz="2300">
                <a:latin typeface="Inter"/>
                <a:ea typeface="Inter"/>
                <a:cs typeface="Inter"/>
                <a:sym typeface="Inter"/>
              </a:defRPr>
            </a:pPr>
            <a:r>
              <a:rPr sz="1917"/>
              <a:t>you need a detailed step-by-step plan </a:t>
            </a:r>
          </a:p>
          <a:p>
            <a:pPr>
              <a:lnSpc>
                <a:spcPts val="2167"/>
              </a:lnSpc>
              <a:defRPr sz="2300">
                <a:latin typeface="Inter"/>
                <a:ea typeface="Inter"/>
                <a:cs typeface="Inter"/>
                <a:sym typeface="Inter"/>
              </a:defRPr>
            </a:pPr>
            <a:r>
              <a:rPr sz="1917"/>
              <a:t>for your research.</a:t>
            </a:r>
          </a:p>
        </p:txBody>
      </p:sp>
      <p:pic>
        <p:nvPicPr>
          <p:cNvPr id="2537" name="pasted-movie.png" descr="pasted-movie.png"/>
          <p:cNvPicPr>
            <a:picLocks/>
          </p:cNvPicPr>
          <p:nvPr/>
        </p:nvPicPr>
        <p:blipFill>
          <a:blip r:embed="rId3"/>
          <a:stretch>
            <a:fillRect/>
          </a:stretch>
        </p:blipFill>
        <p:spPr>
          <a:xfrm rot="180286">
            <a:off x="6217324" y="567994"/>
            <a:ext cx="4601400" cy="6053533"/>
          </a:xfrm>
          <a:prstGeom prst="rect">
            <a:avLst/>
          </a:prstGeom>
          <a:effectLst>
            <a:outerShdw blurRad="381000" dist="114300" rotWithShape="0">
              <a:srgbClr val="000000">
                <a:alpha val="75000"/>
              </a:srgbClr>
            </a:outerShdw>
          </a:effectLst>
        </p:spPr>
      </p:pic>
      <p:sp>
        <p:nvSpPr>
          <p:cNvPr id="2538" name="Arrow 11"/>
          <p:cNvSpPr/>
          <p:nvPr/>
        </p:nvSpPr>
        <p:spPr>
          <a:xfrm>
            <a:off x="5839144" y="5010001"/>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0" name="Image 0" descr="Image 0"/>
          <p:cNvPicPr>
            <a:picLocks noChangeAspect="1"/>
          </p:cNvPicPr>
          <p:nvPr/>
        </p:nvPicPr>
        <p:blipFill>
          <a:blip r:embed="rId2"/>
          <a:stretch>
            <a:fillRect/>
          </a:stretch>
        </p:blipFill>
        <p:spPr>
          <a:xfrm>
            <a:off x="-1" y="763438"/>
            <a:ext cx="12192001" cy="2181425"/>
          </a:xfrm>
          <a:prstGeom prst="rect">
            <a:avLst/>
          </a:prstGeom>
          <a:ln w="12700">
            <a:miter lim="400000"/>
          </a:ln>
        </p:spPr>
      </p:pic>
      <p:sp>
        <p:nvSpPr>
          <p:cNvPr id="2541" name="Shape 2"/>
          <p:cNvSpPr/>
          <p:nvPr/>
        </p:nvSpPr>
        <p:spPr>
          <a:xfrm>
            <a:off x="607615" y="4937149"/>
            <a:ext cx="2546253" cy="174428"/>
          </a:xfrm>
          <a:prstGeom prst="roundRect">
            <a:avLst>
              <a:gd name="adj" fmla="val 42021"/>
            </a:avLst>
          </a:prstGeom>
          <a:solidFill>
            <a:srgbClr val="CCEDFF"/>
          </a:solidFill>
          <a:ln w="7620">
            <a:solidFill>
              <a:srgbClr val="B2D3E5"/>
            </a:solidFill>
          </a:ln>
        </p:spPr>
        <p:txBody>
          <a:bodyPr lIns="38099" rIns="38099"/>
          <a:lstStyle/>
          <a:p>
            <a:endParaRPr sz="1500"/>
          </a:p>
        </p:txBody>
      </p:sp>
      <p:sp>
        <p:nvSpPr>
          <p:cNvPr id="2542" name="Text 3"/>
          <p:cNvSpPr txBox="1"/>
          <p:nvPr/>
        </p:nvSpPr>
        <p:spPr>
          <a:xfrm>
            <a:off x="610791" y="5165131"/>
            <a:ext cx="2404504"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Write Clear Instructions</a:t>
            </a:r>
          </a:p>
        </p:txBody>
      </p:sp>
      <p:sp>
        <p:nvSpPr>
          <p:cNvPr id="2543" name="Text 4"/>
          <p:cNvSpPr txBox="1"/>
          <p:nvPr/>
        </p:nvSpPr>
        <p:spPr>
          <a:xfrm>
            <a:off x="610790" y="5542458"/>
            <a:ext cx="2546253" cy="967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600"/>
              </a:lnSpc>
              <a:defRPr>
                <a:latin typeface="Inter"/>
                <a:ea typeface="Inter"/>
                <a:cs typeface="Inter"/>
                <a:sym typeface="Inter"/>
              </a:defRPr>
            </a:lvl1pPr>
          </a:lstStyle>
          <a:p>
            <a:r>
              <a:rPr sz="1500"/>
              <a:t>Create a detailed "recipe" for your research that someone else could follow.</a:t>
            </a:r>
          </a:p>
        </p:txBody>
      </p:sp>
      <p:sp>
        <p:nvSpPr>
          <p:cNvPr id="2544" name="Shape 5"/>
          <p:cNvSpPr/>
          <p:nvPr/>
        </p:nvSpPr>
        <p:spPr>
          <a:xfrm>
            <a:off x="3415605" y="4684611"/>
            <a:ext cx="2546351" cy="174428"/>
          </a:xfrm>
          <a:prstGeom prst="roundRect">
            <a:avLst>
              <a:gd name="adj" fmla="val 42021"/>
            </a:avLst>
          </a:prstGeom>
          <a:solidFill>
            <a:srgbClr val="CCEDFF"/>
          </a:solidFill>
          <a:ln w="7620">
            <a:solidFill>
              <a:srgbClr val="B2D3E5"/>
            </a:solidFill>
          </a:ln>
        </p:spPr>
        <p:txBody>
          <a:bodyPr lIns="38099" rIns="38099"/>
          <a:lstStyle/>
          <a:p>
            <a:endParaRPr sz="1500"/>
          </a:p>
        </p:txBody>
      </p:sp>
      <p:sp>
        <p:nvSpPr>
          <p:cNvPr id="2545" name="Text 6"/>
          <p:cNvSpPr txBox="1"/>
          <p:nvPr/>
        </p:nvSpPr>
        <p:spPr>
          <a:xfrm>
            <a:off x="3418781" y="4903391"/>
            <a:ext cx="2205732"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Consider All Variables</a:t>
            </a:r>
          </a:p>
        </p:txBody>
      </p:sp>
      <p:sp>
        <p:nvSpPr>
          <p:cNvPr id="2546" name="Text 7"/>
          <p:cNvSpPr txBox="1"/>
          <p:nvPr/>
        </p:nvSpPr>
        <p:spPr>
          <a:xfrm>
            <a:off x="3418781" y="5280719"/>
            <a:ext cx="2546351" cy="967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600"/>
              </a:lnSpc>
              <a:defRPr>
                <a:latin typeface="Inter"/>
                <a:ea typeface="Inter"/>
                <a:cs typeface="Inter"/>
                <a:sym typeface="Inter"/>
              </a:defRPr>
            </a:lvl1pPr>
          </a:lstStyle>
          <a:p>
            <a:r>
              <a:rPr sz="1500"/>
              <a:t>Identify what you'll change, what you'll measure, and what you'll keep constant.</a:t>
            </a:r>
          </a:p>
        </p:txBody>
      </p:sp>
      <p:sp>
        <p:nvSpPr>
          <p:cNvPr id="2547" name="Shape 8"/>
          <p:cNvSpPr/>
          <p:nvPr/>
        </p:nvSpPr>
        <p:spPr>
          <a:xfrm>
            <a:off x="6226869" y="4422872"/>
            <a:ext cx="2546252" cy="174428"/>
          </a:xfrm>
          <a:prstGeom prst="roundRect">
            <a:avLst>
              <a:gd name="adj" fmla="val 42021"/>
            </a:avLst>
          </a:prstGeom>
          <a:solidFill>
            <a:srgbClr val="CCEDFF"/>
          </a:solidFill>
          <a:ln w="7620">
            <a:solidFill>
              <a:srgbClr val="B2D3E5"/>
            </a:solidFill>
          </a:ln>
        </p:spPr>
        <p:txBody>
          <a:bodyPr lIns="38099" rIns="38099"/>
          <a:lstStyle/>
          <a:p>
            <a:endParaRPr sz="1500"/>
          </a:p>
        </p:txBody>
      </p:sp>
      <p:sp>
        <p:nvSpPr>
          <p:cNvPr id="2548" name="Text 9"/>
          <p:cNvSpPr txBox="1"/>
          <p:nvPr/>
        </p:nvSpPr>
        <p:spPr>
          <a:xfrm>
            <a:off x="6226870" y="4641652"/>
            <a:ext cx="2014975"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Plan Data Collection</a:t>
            </a:r>
          </a:p>
        </p:txBody>
      </p:sp>
      <p:sp>
        <p:nvSpPr>
          <p:cNvPr id="2549" name="Text 10"/>
          <p:cNvSpPr txBox="1"/>
          <p:nvPr/>
        </p:nvSpPr>
        <p:spPr>
          <a:xfrm>
            <a:off x="6226869" y="5018980"/>
            <a:ext cx="2546252" cy="6342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600"/>
              </a:lnSpc>
              <a:defRPr>
                <a:latin typeface="Inter"/>
                <a:ea typeface="Inter"/>
                <a:cs typeface="Inter"/>
                <a:sym typeface="Inter"/>
              </a:defRPr>
            </a:lvl1pPr>
          </a:lstStyle>
          <a:p>
            <a:r>
              <a:rPr sz="1500"/>
              <a:t>Decide exactly what data you'll gather and how you'll record it.</a:t>
            </a:r>
          </a:p>
        </p:txBody>
      </p:sp>
      <p:sp>
        <p:nvSpPr>
          <p:cNvPr id="2550" name="Shape 11"/>
          <p:cNvSpPr/>
          <p:nvPr/>
        </p:nvSpPr>
        <p:spPr>
          <a:xfrm>
            <a:off x="9034860" y="4184044"/>
            <a:ext cx="2546351" cy="174428"/>
          </a:xfrm>
          <a:prstGeom prst="roundRect">
            <a:avLst>
              <a:gd name="adj" fmla="val 42021"/>
            </a:avLst>
          </a:prstGeom>
          <a:solidFill>
            <a:srgbClr val="CCEDFF"/>
          </a:solidFill>
          <a:ln w="7620">
            <a:solidFill>
              <a:srgbClr val="B2D3E5"/>
            </a:solidFill>
          </a:ln>
        </p:spPr>
        <p:txBody>
          <a:bodyPr lIns="38099" rIns="38099"/>
          <a:lstStyle/>
          <a:p>
            <a:endParaRPr sz="1500"/>
          </a:p>
        </p:txBody>
      </p:sp>
      <p:sp>
        <p:nvSpPr>
          <p:cNvPr id="2551" name="Text 12"/>
          <p:cNvSpPr txBox="1"/>
          <p:nvPr/>
        </p:nvSpPr>
        <p:spPr>
          <a:xfrm>
            <a:off x="9034859" y="4379913"/>
            <a:ext cx="2148024" cy="2887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000" b="1">
                <a:latin typeface="Playfair Display Bold"/>
                <a:ea typeface="Playfair Display Bold"/>
                <a:cs typeface="Playfair Display Bold"/>
                <a:sym typeface="Playfair Display Bold"/>
              </a:defRPr>
            </a:lvl1pPr>
          </a:lstStyle>
          <a:p>
            <a:r>
              <a:rPr sz="1667"/>
              <a:t>Anticipate Challenges</a:t>
            </a:r>
          </a:p>
        </p:txBody>
      </p:sp>
      <p:sp>
        <p:nvSpPr>
          <p:cNvPr id="2552" name="Text 13"/>
          <p:cNvSpPr txBox="1"/>
          <p:nvPr/>
        </p:nvSpPr>
        <p:spPr>
          <a:xfrm>
            <a:off x="9034860" y="4757241"/>
            <a:ext cx="2546351" cy="6342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600"/>
              </a:lnSpc>
              <a:defRPr>
                <a:latin typeface="Inter"/>
                <a:ea typeface="Inter"/>
                <a:cs typeface="Inter"/>
                <a:sym typeface="Inter"/>
              </a:defRPr>
            </a:lvl1pPr>
          </a:lstStyle>
          <a:p>
            <a:r>
              <a:rPr sz="1500"/>
              <a:t>Think about what might go wrong and how you'll handle it.</a:t>
            </a:r>
          </a:p>
        </p:txBody>
      </p:sp>
      <p:sp>
        <p:nvSpPr>
          <p:cNvPr id="2553" name="Text 0"/>
          <p:cNvSpPr txBox="1"/>
          <p:nvPr/>
        </p:nvSpPr>
        <p:spPr>
          <a:xfrm>
            <a:off x="610789" y="3169699"/>
            <a:ext cx="4804200" cy="5895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100"/>
              </a:lnSpc>
              <a:defRPr sz="4100" b="1">
                <a:latin typeface="Playfair Display Bold"/>
                <a:ea typeface="Playfair Display Bold"/>
                <a:cs typeface="Playfair Display Bold"/>
                <a:sym typeface="Playfair Display Bold"/>
              </a:defRPr>
            </a:lvl1pPr>
          </a:lstStyle>
          <a:p>
            <a:r>
              <a:rPr sz="3417"/>
              <a:t>Planning the Procedure</a:t>
            </a:r>
          </a:p>
        </p:txBody>
      </p:sp>
      <p:sp>
        <p:nvSpPr>
          <p:cNvPr id="2554" name="Text 1"/>
          <p:cNvSpPr txBox="1"/>
          <p:nvPr/>
        </p:nvSpPr>
        <p:spPr>
          <a:xfrm>
            <a:off x="610789" y="3886489"/>
            <a:ext cx="8696676" cy="3149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600"/>
              </a:lnSpc>
              <a:defRPr sz="2300">
                <a:latin typeface="Inter"/>
                <a:ea typeface="Inter"/>
                <a:cs typeface="Inter"/>
                <a:sym typeface="Inter"/>
              </a:defRPr>
            </a:lvl1pPr>
          </a:lstStyle>
          <a:p>
            <a:r>
              <a:rPr sz="1917"/>
              <a:t>Once you've chosen a method, you need a detailed step-by-step plan for your research.</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56" name="Image 0" descr="Image 0"/>
          <p:cNvPicPr>
            <a:picLocks noChangeAspect="1"/>
          </p:cNvPicPr>
          <p:nvPr/>
        </p:nvPicPr>
        <p:blipFill>
          <a:blip r:embed="rId2"/>
          <a:stretch>
            <a:fillRect/>
          </a:stretch>
        </p:blipFill>
        <p:spPr>
          <a:xfrm>
            <a:off x="8180552" y="840826"/>
            <a:ext cx="4011448" cy="6017174"/>
          </a:xfrm>
          <a:prstGeom prst="rect">
            <a:avLst/>
          </a:prstGeom>
          <a:ln w="12700">
            <a:miter lim="400000"/>
          </a:ln>
        </p:spPr>
      </p:pic>
      <p:sp>
        <p:nvSpPr>
          <p:cNvPr id="2557" name="Text 0"/>
          <p:cNvSpPr txBox="1"/>
          <p:nvPr/>
        </p:nvSpPr>
        <p:spPr>
          <a:xfrm>
            <a:off x="600968" y="832444"/>
            <a:ext cx="6379952" cy="5774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000"/>
              </a:lnSpc>
              <a:defRPr sz="4000" b="1">
                <a:latin typeface="Playfair Display Bold"/>
                <a:ea typeface="Playfair Display Bold"/>
                <a:cs typeface="Playfair Display Bold"/>
                <a:sym typeface="Playfair Display Bold"/>
              </a:defRPr>
            </a:lvl1pPr>
          </a:lstStyle>
          <a:p>
            <a:r>
              <a:rPr sz="3333"/>
              <a:t>Experiment Procedure Planning</a:t>
            </a:r>
          </a:p>
        </p:txBody>
      </p:sp>
      <p:sp>
        <p:nvSpPr>
          <p:cNvPr id="2558" name="Shape 1"/>
          <p:cNvSpPr/>
          <p:nvPr/>
        </p:nvSpPr>
        <p:spPr>
          <a:xfrm>
            <a:off x="600968" y="1626493"/>
            <a:ext cx="386259" cy="386259"/>
          </a:xfrm>
          <a:prstGeom prst="roundRect">
            <a:avLst>
              <a:gd name="adj" fmla="val 18671"/>
            </a:avLst>
          </a:prstGeom>
          <a:solidFill>
            <a:srgbClr val="CCEDFF"/>
          </a:solidFill>
          <a:ln w="7620">
            <a:solidFill>
              <a:srgbClr val="B2D3E5"/>
            </a:solidFill>
          </a:ln>
        </p:spPr>
        <p:txBody>
          <a:bodyPr lIns="38099" rIns="38099"/>
          <a:lstStyle/>
          <a:p>
            <a:endParaRPr sz="1500"/>
          </a:p>
        </p:txBody>
      </p:sp>
      <p:pic>
        <p:nvPicPr>
          <p:cNvPr id="2559" name="Image 1" descr="Image 1"/>
          <p:cNvPicPr>
            <a:picLocks noChangeAspect="1"/>
          </p:cNvPicPr>
          <p:nvPr/>
        </p:nvPicPr>
        <p:blipFill>
          <a:blip r:embed="rId3"/>
          <a:stretch>
            <a:fillRect/>
          </a:stretch>
        </p:blipFill>
        <p:spPr>
          <a:xfrm>
            <a:off x="665311" y="1658640"/>
            <a:ext cx="257473" cy="321867"/>
          </a:xfrm>
          <a:prstGeom prst="rect">
            <a:avLst/>
          </a:prstGeom>
          <a:ln w="12700">
            <a:miter lim="400000"/>
          </a:ln>
        </p:spPr>
      </p:pic>
      <p:sp>
        <p:nvSpPr>
          <p:cNvPr id="2560" name="Text 2"/>
          <p:cNvSpPr txBox="1"/>
          <p:nvPr/>
        </p:nvSpPr>
        <p:spPr>
          <a:xfrm>
            <a:off x="1158875" y="1685428"/>
            <a:ext cx="2072683"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100" b="1">
                <a:latin typeface="Playfair Display Bold"/>
                <a:ea typeface="Playfair Display Bold"/>
                <a:cs typeface="Playfair Display Bold"/>
                <a:sym typeface="Playfair Display Bold"/>
              </a:defRPr>
            </a:lvl1pPr>
          </a:lstStyle>
          <a:p>
            <a:r>
              <a:rPr sz="1750"/>
              <a:t>Define Your Groups</a:t>
            </a:r>
          </a:p>
        </p:txBody>
      </p:sp>
      <p:sp>
        <p:nvSpPr>
          <p:cNvPr id="2561" name="Text 3"/>
          <p:cNvSpPr txBox="1"/>
          <p:nvPr/>
        </p:nvSpPr>
        <p:spPr>
          <a:xfrm>
            <a:off x="1158875" y="2056607"/>
            <a:ext cx="5860157" cy="6202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500"/>
              </a:lnSpc>
              <a:defRPr sz="2100">
                <a:latin typeface="Inter"/>
                <a:ea typeface="Inter"/>
                <a:cs typeface="Inter"/>
                <a:sym typeface="Inter"/>
              </a:defRPr>
            </a:lvl1pPr>
          </a:lstStyle>
          <a:p>
            <a:r>
              <a:rPr sz="1750"/>
              <a:t>Decide who or what will be in experimental and control groups. Use random assignment when possible.</a:t>
            </a:r>
          </a:p>
        </p:txBody>
      </p:sp>
      <p:sp>
        <p:nvSpPr>
          <p:cNvPr id="2562" name="Shape 4"/>
          <p:cNvSpPr/>
          <p:nvPr/>
        </p:nvSpPr>
        <p:spPr>
          <a:xfrm>
            <a:off x="600968" y="2949476"/>
            <a:ext cx="386259" cy="386259"/>
          </a:xfrm>
          <a:prstGeom prst="roundRect">
            <a:avLst>
              <a:gd name="adj" fmla="val 18671"/>
            </a:avLst>
          </a:prstGeom>
          <a:solidFill>
            <a:srgbClr val="CCEDFF"/>
          </a:solidFill>
          <a:ln w="7620">
            <a:solidFill>
              <a:srgbClr val="B2D3E5"/>
            </a:solidFill>
          </a:ln>
        </p:spPr>
        <p:txBody>
          <a:bodyPr lIns="38099" rIns="38099"/>
          <a:lstStyle/>
          <a:p>
            <a:endParaRPr sz="1500"/>
          </a:p>
        </p:txBody>
      </p:sp>
      <p:pic>
        <p:nvPicPr>
          <p:cNvPr id="2563" name="Image 2" descr="Image 2"/>
          <p:cNvPicPr>
            <a:picLocks noChangeAspect="1"/>
          </p:cNvPicPr>
          <p:nvPr/>
        </p:nvPicPr>
        <p:blipFill>
          <a:blip r:embed="rId4"/>
          <a:stretch>
            <a:fillRect/>
          </a:stretch>
        </p:blipFill>
        <p:spPr>
          <a:xfrm>
            <a:off x="665311" y="2981622"/>
            <a:ext cx="257473" cy="321867"/>
          </a:xfrm>
          <a:prstGeom prst="rect">
            <a:avLst/>
          </a:prstGeom>
          <a:ln w="12700">
            <a:miter lim="400000"/>
          </a:ln>
        </p:spPr>
      </p:pic>
      <p:sp>
        <p:nvSpPr>
          <p:cNvPr id="2564" name="Text 5"/>
          <p:cNvSpPr txBox="1"/>
          <p:nvPr/>
        </p:nvSpPr>
        <p:spPr>
          <a:xfrm>
            <a:off x="1158875" y="3008411"/>
            <a:ext cx="2221762"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100" b="1">
                <a:latin typeface="Playfair Display Bold"/>
                <a:ea typeface="Playfair Display Bold"/>
                <a:cs typeface="Playfair Display Bold"/>
                <a:sym typeface="Playfair Display Bold"/>
              </a:defRPr>
            </a:lvl1pPr>
          </a:lstStyle>
          <a:p>
            <a:r>
              <a:rPr sz="1750"/>
              <a:t>Define the Treatment</a:t>
            </a:r>
          </a:p>
        </p:txBody>
      </p:sp>
      <p:sp>
        <p:nvSpPr>
          <p:cNvPr id="2565" name="Text 6"/>
          <p:cNvSpPr txBox="1"/>
          <p:nvPr/>
        </p:nvSpPr>
        <p:spPr>
          <a:xfrm>
            <a:off x="1158875" y="3379589"/>
            <a:ext cx="5860157" cy="6202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500"/>
              </a:lnSpc>
              <a:defRPr sz="2100">
                <a:latin typeface="Inter"/>
                <a:ea typeface="Inter"/>
                <a:cs typeface="Inter"/>
                <a:sym typeface="Inter"/>
              </a:defRPr>
            </a:lvl1pPr>
          </a:lstStyle>
          <a:p>
            <a:r>
              <a:rPr sz="1750"/>
              <a:t>Clearly describe what you'll do with the experimental group. Be specific enough for replication.</a:t>
            </a:r>
          </a:p>
        </p:txBody>
      </p:sp>
      <p:sp>
        <p:nvSpPr>
          <p:cNvPr id="2566" name="Shape 7"/>
          <p:cNvSpPr/>
          <p:nvPr/>
        </p:nvSpPr>
        <p:spPr>
          <a:xfrm>
            <a:off x="600968" y="4272458"/>
            <a:ext cx="386259" cy="386259"/>
          </a:xfrm>
          <a:prstGeom prst="roundRect">
            <a:avLst>
              <a:gd name="adj" fmla="val 18671"/>
            </a:avLst>
          </a:prstGeom>
          <a:solidFill>
            <a:srgbClr val="CCEDFF"/>
          </a:solidFill>
          <a:ln w="7620">
            <a:solidFill>
              <a:srgbClr val="B2D3E5"/>
            </a:solidFill>
          </a:ln>
        </p:spPr>
        <p:txBody>
          <a:bodyPr lIns="38099" rIns="38099"/>
          <a:lstStyle/>
          <a:p>
            <a:endParaRPr sz="1500"/>
          </a:p>
        </p:txBody>
      </p:sp>
      <p:pic>
        <p:nvPicPr>
          <p:cNvPr id="2567" name="Image 3" descr="Image 3"/>
          <p:cNvPicPr>
            <a:picLocks noChangeAspect="1"/>
          </p:cNvPicPr>
          <p:nvPr/>
        </p:nvPicPr>
        <p:blipFill>
          <a:blip r:embed="rId5"/>
          <a:stretch>
            <a:fillRect/>
          </a:stretch>
        </p:blipFill>
        <p:spPr>
          <a:xfrm>
            <a:off x="665311" y="4304605"/>
            <a:ext cx="257473" cy="321867"/>
          </a:xfrm>
          <a:prstGeom prst="rect">
            <a:avLst/>
          </a:prstGeom>
          <a:ln w="12700">
            <a:miter lim="400000"/>
          </a:ln>
        </p:spPr>
      </p:pic>
      <p:sp>
        <p:nvSpPr>
          <p:cNvPr id="2568" name="Text 8"/>
          <p:cNvSpPr txBox="1"/>
          <p:nvPr/>
        </p:nvSpPr>
        <p:spPr>
          <a:xfrm>
            <a:off x="1158876" y="4331394"/>
            <a:ext cx="2558393"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100" b="1">
                <a:latin typeface="Playfair Display Bold"/>
                <a:ea typeface="Playfair Display Bold"/>
                <a:cs typeface="Playfair Display Bold"/>
                <a:sym typeface="Playfair Display Bold"/>
              </a:defRPr>
            </a:lvl1pPr>
          </a:lstStyle>
          <a:p>
            <a:r>
              <a:rPr sz="1750"/>
              <a:t>Define Control Activities</a:t>
            </a:r>
          </a:p>
        </p:txBody>
      </p:sp>
      <p:sp>
        <p:nvSpPr>
          <p:cNvPr id="2569" name="Text 9"/>
          <p:cNvSpPr txBox="1"/>
          <p:nvPr/>
        </p:nvSpPr>
        <p:spPr>
          <a:xfrm>
            <a:off x="1158875" y="4702572"/>
            <a:ext cx="6150402" cy="2996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100">
                <a:latin typeface="Inter"/>
                <a:ea typeface="Inter"/>
                <a:cs typeface="Inter"/>
                <a:sym typeface="Inter"/>
              </a:defRPr>
            </a:lvl1pPr>
          </a:lstStyle>
          <a:p>
            <a:r>
              <a:rPr sz="1750"/>
              <a:t>Decide what the control group will do during the same time period.</a:t>
            </a:r>
          </a:p>
        </p:txBody>
      </p:sp>
      <p:sp>
        <p:nvSpPr>
          <p:cNvPr id="2570" name="Shape 10"/>
          <p:cNvSpPr/>
          <p:nvPr/>
        </p:nvSpPr>
        <p:spPr>
          <a:xfrm>
            <a:off x="600968" y="5320705"/>
            <a:ext cx="386259" cy="386259"/>
          </a:xfrm>
          <a:prstGeom prst="roundRect">
            <a:avLst>
              <a:gd name="adj" fmla="val 18671"/>
            </a:avLst>
          </a:prstGeom>
          <a:solidFill>
            <a:srgbClr val="CCEDFF"/>
          </a:solidFill>
          <a:ln w="7620">
            <a:solidFill>
              <a:srgbClr val="B2D3E5"/>
            </a:solidFill>
          </a:ln>
        </p:spPr>
        <p:txBody>
          <a:bodyPr lIns="38099" rIns="38099"/>
          <a:lstStyle/>
          <a:p>
            <a:endParaRPr sz="1500"/>
          </a:p>
        </p:txBody>
      </p:sp>
      <p:pic>
        <p:nvPicPr>
          <p:cNvPr id="2571" name="Image 4" descr="Image 4"/>
          <p:cNvPicPr>
            <a:picLocks noChangeAspect="1"/>
          </p:cNvPicPr>
          <p:nvPr/>
        </p:nvPicPr>
        <p:blipFill>
          <a:blip r:embed="rId6"/>
          <a:stretch>
            <a:fillRect/>
          </a:stretch>
        </p:blipFill>
        <p:spPr>
          <a:xfrm>
            <a:off x="665311" y="5352851"/>
            <a:ext cx="257473" cy="321867"/>
          </a:xfrm>
          <a:prstGeom prst="rect">
            <a:avLst/>
          </a:prstGeom>
          <a:ln w="12700">
            <a:miter lim="400000"/>
          </a:ln>
        </p:spPr>
      </p:pic>
      <p:sp>
        <p:nvSpPr>
          <p:cNvPr id="2572" name="Text 11"/>
          <p:cNvSpPr txBox="1"/>
          <p:nvPr/>
        </p:nvSpPr>
        <p:spPr>
          <a:xfrm>
            <a:off x="1158875" y="5379641"/>
            <a:ext cx="2127185" cy="2911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100" b="1">
                <a:latin typeface="Playfair Display Bold"/>
                <a:ea typeface="Playfair Display Bold"/>
                <a:cs typeface="Playfair Display Bold"/>
                <a:sym typeface="Playfair Display Bold"/>
              </a:defRPr>
            </a:lvl1pPr>
          </a:lstStyle>
          <a:p>
            <a:r>
              <a:rPr sz="1750"/>
              <a:t>Plan Data Collection</a:t>
            </a:r>
          </a:p>
        </p:txBody>
      </p:sp>
      <p:sp>
        <p:nvSpPr>
          <p:cNvPr id="2573" name="Text 12"/>
          <p:cNvSpPr txBox="1"/>
          <p:nvPr/>
        </p:nvSpPr>
        <p:spPr>
          <a:xfrm>
            <a:off x="1158875" y="5750818"/>
            <a:ext cx="6122317" cy="2996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500"/>
              </a:lnSpc>
              <a:defRPr sz="2100">
                <a:latin typeface="Inter"/>
                <a:ea typeface="Inter"/>
                <a:cs typeface="Inter"/>
                <a:sym typeface="Inter"/>
              </a:defRPr>
            </a:lvl1pPr>
          </a:lstStyle>
          <a:p>
            <a:r>
              <a:rPr sz="1750"/>
              <a:t>Determine exactly what measurements you'll take, when, and how.</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75" name="Image 0" descr="Image 0"/>
          <p:cNvPicPr>
            <a:picLocks noChangeAspect="1"/>
          </p:cNvPicPr>
          <p:nvPr/>
        </p:nvPicPr>
        <p:blipFill>
          <a:blip r:embed="rId2"/>
          <a:stretch>
            <a:fillRect/>
          </a:stretch>
        </p:blipFill>
        <p:spPr>
          <a:xfrm>
            <a:off x="8192080" y="858344"/>
            <a:ext cx="3999920" cy="6001442"/>
          </a:xfrm>
          <a:prstGeom prst="rect">
            <a:avLst/>
          </a:prstGeom>
          <a:ln w="12700">
            <a:miter lim="400000"/>
          </a:ln>
        </p:spPr>
      </p:pic>
      <p:sp>
        <p:nvSpPr>
          <p:cNvPr id="2576" name="Text 0"/>
          <p:cNvSpPr txBox="1"/>
          <p:nvPr/>
        </p:nvSpPr>
        <p:spPr>
          <a:xfrm>
            <a:off x="559891" y="439837"/>
            <a:ext cx="5004575" cy="5413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4700"/>
              </a:lnSpc>
              <a:defRPr sz="3700" b="1">
                <a:latin typeface="Playfair Display Bold"/>
                <a:ea typeface="Playfair Display Bold"/>
                <a:cs typeface="Playfair Display Bold"/>
                <a:sym typeface="Playfair Display Bold"/>
              </a:defRPr>
            </a:lvl1pPr>
          </a:lstStyle>
          <a:p>
            <a:r>
              <a:rPr sz="3083"/>
              <a:t>Survey Procedure Planning</a:t>
            </a:r>
          </a:p>
        </p:txBody>
      </p:sp>
      <p:sp>
        <p:nvSpPr>
          <p:cNvPr id="2577" name="Shape 1"/>
          <p:cNvSpPr/>
          <p:nvPr/>
        </p:nvSpPr>
        <p:spPr>
          <a:xfrm>
            <a:off x="559891" y="1179612"/>
            <a:ext cx="6500219" cy="1190130"/>
          </a:xfrm>
          <a:prstGeom prst="roundRect">
            <a:avLst>
              <a:gd name="adj" fmla="val 5646"/>
            </a:avLst>
          </a:prstGeom>
          <a:solidFill>
            <a:srgbClr val="CCEDFF"/>
          </a:solidFill>
          <a:ln w="7620">
            <a:solidFill>
              <a:srgbClr val="B2D3E5"/>
            </a:solidFill>
          </a:ln>
        </p:spPr>
        <p:txBody>
          <a:bodyPr lIns="38099" rIns="38099"/>
          <a:lstStyle/>
          <a:p>
            <a:pPr>
              <a:defRPr sz="2100"/>
            </a:pPr>
            <a:endParaRPr sz="1750"/>
          </a:p>
        </p:txBody>
      </p:sp>
      <p:sp>
        <p:nvSpPr>
          <p:cNvPr id="2578" name="Text 2"/>
          <p:cNvSpPr txBox="1"/>
          <p:nvPr/>
        </p:nvSpPr>
        <p:spPr>
          <a:xfrm>
            <a:off x="726182" y="1345902"/>
            <a:ext cx="2135200" cy="2719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300"/>
              </a:lnSpc>
              <a:defRPr sz="2100" b="1">
                <a:latin typeface="Playfair Display Bold"/>
                <a:ea typeface="Playfair Display Bold"/>
                <a:cs typeface="Playfair Display Bold"/>
                <a:sym typeface="Playfair Display Bold"/>
              </a:defRPr>
            </a:lvl1pPr>
          </a:lstStyle>
          <a:p>
            <a:r>
              <a:rPr sz="1750"/>
              <a:t>Distribution Method</a:t>
            </a:r>
          </a:p>
        </p:txBody>
      </p:sp>
      <p:sp>
        <p:nvSpPr>
          <p:cNvPr id="2579" name="Text 3"/>
          <p:cNvSpPr txBox="1"/>
          <p:nvPr/>
        </p:nvSpPr>
        <p:spPr>
          <a:xfrm>
            <a:off x="726182" y="1691680"/>
            <a:ext cx="6167637" cy="5978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100">
                <a:latin typeface="Inter"/>
                <a:ea typeface="Inter"/>
                <a:cs typeface="Inter"/>
                <a:sym typeface="Inter"/>
              </a:defRPr>
            </a:lvl1pPr>
          </a:lstStyle>
          <a:p>
            <a:r>
              <a:rPr sz="1750"/>
              <a:t>Decide how to give out your survey: paper, online, in-person. Each has pros and cons for reach and response rate.</a:t>
            </a:r>
          </a:p>
        </p:txBody>
      </p:sp>
      <p:sp>
        <p:nvSpPr>
          <p:cNvPr id="2580" name="Shape 4"/>
          <p:cNvSpPr/>
          <p:nvPr/>
        </p:nvSpPr>
        <p:spPr>
          <a:xfrm>
            <a:off x="559891" y="2529682"/>
            <a:ext cx="6500219" cy="1190129"/>
          </a:xfrm>
          <a:prstGeom prst="roundRect">
            <a:avLst>
              <a:gd name="adj" fmla="val 5646"/>
            </a:avLst>
          </a:prstGeom>
          <a:solidFill>
            <a:srgbClr val="CCEDFF"/>
          </a:solidFill>
          <a:ln w="7620">
            <a:solidFill>
              <a:srgbClr val="B2D3E5"/>
            </a:solidFill>
          </a:ln>
        </p:spPr>
        <p:txBody>
          <a:bodyPr lIns="38099" rIns="38099"/>
          <a:lstStyle/>
          <a:p>
            <a:pPr>
              <a:defRPr sz="2100"/>
            </a:pPr>
            <a:endParaRPr sz="1750"/>
          </a:p>
        </p:txBody>
      </p:sp>
      <p:sp>
        <p:nvSpPr>
          <p:cNvPr id="2581" name="Text 5"/>
          <p:cNvSpPr txBox="1"/>
          <p:nvPr/>
        </p:nvSpPr>
        <p:spPr>
          <a:xfrm>
            <a:off x="726182" y="2695972"/>
            <a:ext cx="2082301" cy="2719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300"/>
              </a:lnSpc>
              <a:defRPr sz="2100" b="1">
                <a:latin typeface="Playfair Display Bold"/>
                <a:ea typeface="Playfair Display Bold"/>
                <a:cs typeface="Playfair Display Bold"/>
                <a:sym typeface="Playfair Display Bold"/>
              </a:defRPr>
            </a:lvl1pPr>
          </a:lstStyle>
          <a:p>
            <a:r>
              <a:rPr sz="1750"/>
              <a:t>Target Respondents</a:t>
            </a:r>
          </a:p>
        </p:txBody>
      </p:sp>
      <p:sp>
        <p:nvSpPr>
          <p:cNvPr id="2582" name="Text 6"/>
          <p:cNvSpPr txBox="1"/>
          <p:nvPr/>
        </p:nvSpPr>
        <p:spPr>
          <a:xfrm>
            <a:off x="726182" y="3041749"/>
            <a:ext cx="6167637" cy="5978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100">
                <a:latin typeface="Inter"/>
                <a:ea typeface="Inter"/>
                <a:cs typeface="Inter"/>
                <a:sym typeface="Inter"/>
              </a:defRPr>
            </a:lvl1pPr>
          </a:lstStyle>
          <a:p>
            <a:r>
              <a:rPr sz="1750"/>
              <a:t>Define who should take your survey. Aim for a representative sample, not just friends.</a:t>
            </a:r>
          </a:p>
        </p:txBody>
      </p:sp>
      <p:sp>
        <p:nvSpPr>
          <p:cNvPr id="2583" name="Shape 7"/>
          <p:cNvSpPr/>
          <p:nvPr/>
        </p:nvSpPr>
        <p:spPr>
          <a:xfrm>
            <a:off x="559891" y="3879751"/>
            <a:ext cx="6500219" cy="1190130"/>
          </a:xfrm>
          <a:prstGeom prst="roundRect">
            <a:avLst>
              <a:gd name="adj" fmla="val 5646"/>
            </a:avLst>
          </a:prstGeom>
          <a:solidFill>
            <a:srgbClr val="CCEDFF"/>
          </a:solidFill>
          <a:ln w="7620">
            <a:solidFill>
              <a:srgbClr val="B2D3E5"/>
            </a:solidFill>
          </a:ln>
        </p:spPr>
        <p:txBody>
          <a:bodyPr lIns="38099" rIns="38099"/>
          <a:lstStyle/>
          <a:p>
            <a:pPr>
              <a:defRPr sz="2100"/>
            </a:pPr>
            <a:endParaRPr sz="1750"/>
          </a:p>
        </p:txBody>
      </p:sp>
      <p:sp>
        <p:nvSpPr>
          <p:cNvPr id="2584" name="Text 8"/>
          <p:cNvSpPr txBox="1"/>
          <p:nvPr/>
        </p:nvSpPr>
        <p:spPr>
          <a:xfrm>
            <a:off x="726182" y="4046042"/>
            <a:ext cx="1723229" cy="2719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300"/>
              </a:lnSpc>
              <a:defRPr sz="2100" b="1">
                <a:latin typeface="Playfair Display Bold"/>
                <a:ea typeface="Playfair Display Bold"/>
                <a:cs typeface="Playfair Display Bold"/>
                <a:sym typeface="Playfair Display Bold"/>
              </a:defRPr>
            </a:lvl1pPr>
          </a:lstStyle>
          <a:p>
            <a:r>
              <a:rPr sz="1750"/>
              <a:t>Question Design</a:t>
            </a:r>
          </a:p>
        </p:txBody>
      </p:sp>
      <p:sp>
        <p:nvSpPr>
          <p:cNvPr id="2585" name="Text 9"/>
          <p:cNvSpPr txBox="1"/>
          <p:nvPr/>
        </p:nvSpPr>
        <p:spPr>
          <a:xfrm>
            <a:off x="726182" y="4391819"/>
            <a:ext cx="6167637" cy="5978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100">
                <a:latin typeface="Inter"/>
                <a:ea typeface="Inter"/>
                <a:cs typeface="Inter"/>
                <a:sym typeface="Inter"/>
              </a:defRPr>
            </a:lvl1pPr>
          </a:lstStyle>
          <a:p>
            <a:r>
              <a:rPr sz="1750"/>
              <a:t>Write clear, unbiased questions. Test them on a few people first to check for confusion.</a:t>
            </a:r>
          </a:p>
        </p:txBody>
      </p:sp>
      <p:sp>
        <p:nvSpPr>
          <p:cNvPr id="2586" name="Shape 10"/>
          <p:cNvSpPr/>
          <p:nvPr/>
        </p:nvSpPr>
        <p:spPr>
          <a:xfrm>
            <a:off x="559891" y="5229819"/>
            <a:ext cx="6500219" cy="1190130"/>
          </a:xfrm>
          <a:prstGeom prst="roundRect">
            <a:avLst>
              <a:gd name="adj" fmla="val 5646"/>
            </a:avLst>
          </a:prstGeom>
          <a:solidFill>
            <a:srgbClr val="CCEDFF"/>
          </a:solidFill>
          <a:ln w="7620">
            <a:solidFill>
              <a:srgbClr val="B2D3E5"/>
            </a:solidFill>
          </a:ln>
        </p:spPr>
        <p:txBody>
          <a:bodyPr lIns="38099" rIns="38099"/>
          <a:lstStyle/>
          <a:p>
            <a:pPr>
              <a:defRPr sz="2100"/>
            </a:pPr>
            <a:endParaRPr sz="1750"/>
          </a:p>
        </p:txBody>
      </p:sp>
      <p:sp>
        <p:nvSpPr>
          <p:cNvPr id="2587" name="Text 11"/>
          <p:cNvSpPr txBox="1"/>
          <p:nvPr/>
        </p:nvSpPr>
        <p:spPr>
          <a:xfrm>
            <a:off x="726182" y="5396111"/>
            <a:ext cx="2107949" cy="2719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300"/>
              </a:lnSpc>
              <a:defRPr sz="2100" b="1">
                <a:latin typeface="Playfair Display Bold"/>
                <a:ea typeface="Playfair Display Bold"/>
                <a:cs typeface="Playfair Display Bold"/>
                <a:sym typeface="Playfair Display Bold"/>
              </a:defRPr>
            </a:lvl1pPr>
          </a:lstStyle>
          <a:p>
            <a:r>
              <a:rPr sz="1750"/>
              <a:t>Response Collection</a:t>
            </a:r>
          </a:p>
        </p:txBody>
      </p:sp>
      <p:sp>
        <p:nvSpPr>
          <p:cNvPr id="2588" name="Text 12"/>
          <p:cNvSpPr txBox="1"/>
          <p:nvPr/>
        </p:nvSpPr>
        <p:spPr>
          <a:xfrm>
            <a:off x="726182" y="5741889"/>
            <a:ext cx="6167637" cy="5978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100">
                <a:latin typeface="Inter"/>
                <a:ea typeface="Inter"/>
                <a:cs typeface="Inter"/>
                <a:sym typeface="Inter"/>
              </a:defRPr>
            </a:lvl1pPr>
          </a:lstStyle>
          <a:p>
            <a:r>
              <a:rPr sz="1750"/>
              <a:t>Plan how to gather and analyze answers. Set a timeline with reminders for participants.</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90" name="Image 0" descr="Image 0"/>
          <p:cNvPicPr>
            <a:picLocks noChangeAspect="1"/>
          </p:cNvPicPr>
          <p:nvPr/>
        </p:nvPicPr>
        <p:blipFill>
          <a:blip r:embed="rId2"/>
          <a:stretch>
            <a:fillRect/>
          </a:stretch>
        </p:blipFill>
        <p:spPr>
          <a:xfrm>
            <a:off x="8180552" y="840826"/>
            <a:ext cx="4011448" cy="6017174"/>
          </a:xfrm>
          <a:prstGeom prst="rect">
            <a:avLst/>
          </a:prstGeom>
          <a:ln w="12700">
            <a:miter lim="400000"/>
          </a:ln>
        </p:spPr>
      </p:pic>
      <p:sp>
        <p:nvSpPr>
          <p:cNvPr id="2591" name="Text 0"/>
          <p:cNvSpPr txBox="1"/>
          <p:nvPr/>
        </p:nvSpPr>
        <p:spPr>
          <a:xfrm>
            <a:off x="570309" y="704255"/>
            <a:ext cx="6166753" cy="553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4800"/>
              </a:lnSpc>
              <a:defRPr sz="3800" b="1">
                <a:latin typeface="Playfair Display Bold"/>
                <a:ea typeface="Playfair Display Bold"/>
                <a:cs typeface="Playfair Display Bold"/>
                <a:sym typeface="Playfair Display Bold"/>
              </a:defRPr>
            </a:lvl1pPr>
          </a:lstStyle>
          <a:p>
            <a:r>
              <a:rPr sz="3167"/>
              <a:t>Observation Procedure Planning</a:t>
            </a:r>
          </a:p>
        </p:txBody>
      </p:sp>
      <p:sp>
        <p:nvSpPr>
          <p:cNvPr id="2592" name="Shape 1"/>
          <p:cNvSpPr/>
          <p:nvPr/>
        </p:nvSpPr>
        <p:spPr>
          <a:xfrm>
            <a:off x="753566" y="1457821"/>
            <a:ext cx="19051" cy="4695826"/>
          </a:xfrm>
          <a:prstGeom prst="roundRect">
            <a:avLst>
              <a:gd name="adj" fmla="val 50000"/>
            </a:avLst>
          </a:prstGeom>
          <a:solidFill>
            <a:srgbClr val="B2D3E5"/>
          </a:solidFill>
          <a:ln w="12700">
            <a:miter lim="400000"/>
          </a:ln>
        </p:spPr>
        <p:txBody>
          <a:bodyPr lIns="38099" rIns="38099"/>
          <a:lstStyle/>
          <a:p>
            <a:endParaRPr sz="1500"/>
          </a:p>
        </p:txBody>
      </p:sp>
      <p:sp>
        <p:nvSpPr>
          <p:cNvPr id="2593" name="Shape 2"/>
          <p:cNvSpPr/>
          <p:nvPr/>
        </p:nvSpPr>
        <p:spPr>
          <a:xfrm>
            <a:off x="917824" y="1631554"/>
            <a:ext cx="488851" cy="19051"/>
          </a:xfrm>
          <a:prstGeom prst="roundRect">
            <a:avLst>
              <a:gd name="adj" fmla="val 50000"/>
            </a:avLst>
          </a:prstGeom>
          <a:solidFill>
            <a:srgbClr val="B2D3E5"/>
          </a:solidFill>
          <a:ln w="12700">
            <a:miter lim="400000"/>
          </a:ln>
        </p:spPr>
        <p:txBody>
          <a:bodyPr lIns="38099" rIns="38099"/>
          <a:lstStyle/>
          <a:p>
            <a:endParaRPr sz="1500"/>
          </a:p>
        </p:txBody>
      </p:sp>
      <p:sp>
        <p:nvSpPr>
          <p:cNvPr id="2594" name="Shape 3"/>
          <p:cNvSpPr/>
          <p:nvPr/>
        </p:nvSpPr>
        <p:spPr>
          <a:xfrm>
            <a:off x="570260" y="1457821"/>
            <a:ext cx="366613" cy="366614"/>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595" name="Image 1" descr="Image 1"/>
          <p:cNvPicPr>
            <a:picLocks noChangeAspect="1"/>
          </p:cNvPicPr>
          <p:nvPr/>
        </p:nvPicPr>
        <p:blipFill>
          <a:blip r:embed="rId3"/>
          <a:stretch>
            <a:fillRect/>
          </a:stretch>
        </p:blipFill>
        <p:spPr>
          <a:xfrm>
            <a:off x="631328" y="1488330"/>
            <a:ext cx="244377" cy="305495"/>
          </a:xfrm>
          <a:prstGeom prst="rect">
            <a:avLst/>
          </a:prstGeom>
          <a:ln w="12700">
            <a:miter lim="400000"/>
          </a:ln>
        </p:spPr>
      </p:pic>
      <p:sp>
        <p:nvSpPr>
          <p:cNvPr id="2596" name="Text 4"/>
          <p:cNvSpPr txBox="1"/>
          <p:nvPr/>
        </p:nvSpPr>
        <p:spPr>
          <a:xfrm>
            <a:off x="1568350" y="1513780"/>
            <a:ext cx="3103414" cy="283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400"/>
              </a:lnSpc>
              <a:defRPr sz="2200" b="1">
                <a:latin typeface="Playfair Display Bold"/>
                <a:ea typeface="Playfair Display Bold"/>
                <a:cs typeface="Playfair Display Bold"/>
                <a:sym typeface="Playfair Display Bold"/>
              </a:defRPr>
            </a:lvl1pPr>
          </a:lstStyle>
          <a:p>
            <a:r>
              <a:rPr sz="1833"/>
              <a:t>Choose Locations and Times</a:t>
            </a:r>
          </a:p>
        </p:txBody>
      </p:sp>
      <p:sp>
        <p:nvSpPr>
          <p:cNvPr id="2597" name="Text 5"/>
          <p:cNvSpPr txBox="1"/>
          <p:nvPr/>
        </p:nvSpPr>
        <p:spPr>
          <a:xfrm>
            <a:off x="1568350" y="1866107"/>
            <a:ext cx="5481341" cy="600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200">
                <a:latin typeface="Inter"/>
                <a:ea typeface="Inter"/>
                <a:cs typeface="Inter"/>
                <a:sym typeface="Inter"/>
              </a:defRPr>
            </a:lvl1pPr>
          </a:lstStyle>
          <a:p>
            <a:r>
              <a:rPr sz="1833"/>
              <a:t>Create a clear schedule for when and where you'll observe. Include multiple times to identify patterns.</a:t>
            </a:r>
          </a:p>
        </p:txBody>
      </p:sp>
      <p:sp>
        <p:nvSpPr>
          <p:cNvPr id="2598" name="Shape 6"/>
          <p:cNvSpPr/>
          <p:nvPr/>
        </p:nvSpPr>
        <p:spPr>
          <a:xfrm>
            <a:off x="917824" y="2886969"/>
            <a:ext cx="488851" cy="19051"/>
          </a:xfrm>
          <a:prstGeom prst="roundRect">
            <a:avLst>
              <a:gd name="adj" fmla="val 50000"/>
            </a:avLst>
          </a:prstGeom>
          <a:solidFill>
            <a:srgbClr val="B2D3E5"/>
          </a:solidFill>
          <a:ln w="12700">
            <a:miter lim="400000"/>
          </a:ln>
        </p:spPr>
        <p:txBody>
          <a:bodyPr lIns="38099" rIns="38099"/>
          <a:lstStyle/>
          <a:p>
            <a:endParaRPr sz="1500"/>
          </a:p>
        </p:txBody>
      </p:sp>
      <p:sp>
        <p:nvSpPr>
          <p:cNvPr id="2599" name="Shape 7"/>
          <p:cNvSpPr/>
          <p:nvPr/>
        </p:nvSpPr>
        <p:spPr>
          <a:xfrm>
            <a:off x="570260" y="2713236"/>
            <a:ext cx="366613" cy="366614"/>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600" name="Image 2" descr="Image 2"/>
          <p:cNvPicPr>
            <a:picLocks noChangeAspect="1"/>
          </p:cNvPicPr>
          <p:nvPr/>
        </p:nvPicPr>
        <p:blipFill>
          <a:blip r:embed="rId4"/>
          <a:stretch>
            <a:fillRect/>
          </a:stretch>
        </p:blipFill>
        <p:spPr>
          <a:xfrm>
            <a:off x="631328" y="2743746"/>
            <a:ext cx="244377" cy="305495"/>
          </a:xfrm>
          <a:prstGeom prst="rect">
            <a:avLst/>
          </a:prstGeom>
          <a:ln w="12700">
            <a:miter lim="400000"/>
          </a:ln>
        </p:spPr>
      </p:pic>
      <p:sp>
        <p:nvSpPr>
          <p:cNvPr id="2601" name="Text 8"/>
          <p:cNvSpPr txBox="1"/>
          <p:nvPr/>
        </p:nvSpPr>
        <p:spPr>
          <a:xfrm>
            <a:off x="1568351" y="2769194"/>
            <a:ext cx="2806859" cy="283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400"/>
              </a:lnSpc>
              <a:defRPr sz="2200" b="1">
                <a:latin typeface="Playfair Display Bold"/>
                <a:ea typeface="Playfair Display Bold"/>
                <a:cs typeface="Playfair Display Bold"/>
                <a:sym typeface="Playfair Display Bold"/>
              </a:defRPr>
            </a:lvl1pPr>
          </a:lstStyle>
          <a:p>
            <a:r>
              <a:rPr sz="1833"/>
              <a:t>Define Observation Focus</a:t>
            </a:r>
          </a:p>
        </p:txBody>
      </p:sp>
      <p:sp>
        <p:nvSpPr>
          <p:cNvPr id="2602" name="Text 9"/>
          <p:cNvSpPr txBox="1"/>
          <p:nvPr/>
        </p:nvSpPr>
        <p:spPr>
          <a:xfrm>
            <a:off x="1568350" y="3121520"/>
            <a:ext cx="5481341" cy="600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200">
                <a:latin typeface="Inter"/>
                <a:ea typeface="Inter"/>
                <a:cs typeface="Inter"/>
                <a:sym typeface="Inter"/>
              </a:defRPr>
            </a:lvl1pPr>
          </a:lstStyle>
          <a:p>
            <a:r>
              <a:rPr sz="1833"/>
              <a:t>Decide exactly what behaviors or phenomena you'll look for to stay organized.</a:t>
            </a:r>
          </a:p>
        </p:txBody>
      </p:sp>
      <p:sp>
        <p:nvSpPr>
          <p:cNvPr id="2603" name="Shape 10"/>
          <p:cNvSpPr/>
          <p:nvPr/>
        </p:nvSpPr>
        <p:spPr>
          <a:xfrm>
            <a:off x="917824" y="4142382"/>
            <a:ext cx="488851" cy="19051"/>
          </a:xfrm>
          <a:prstGeom prst="roundRect">
            <a:avLst>
              <a:gd name="adj" fmla="val 50000"/>
            </a:avLst>
          </a:prstGeom>
          <a:solidFill>
            <a:srgbClr val="B2D3E5"/>
          </a:solidFill>
          <a:ln w="12700">
            <a:miter lim="400000"/>
          </a:ln>
        </p:spPr>
        <p:txBody>
          <a:bodyPr lIns="38099" rIns="38099"/>
          <a:lstStyle/>
          <a:p>
            <a:endParaRPr sz="1500"/>
          </a:p>
        </p:txBody>
      </p:sp>
      <p:sp>
        <p:nvSpPr>
          <p:cNvPr id="2604" name="Shape 11"/>
          <p:cNvSpPr/>
          <p:nvPr/>
        </p:nvSpPr>
        <p:spPr>
          <a:xfrm>
            <a:off x="570260" y="3968651"/>
            <a:ext cx="366613" cy="366614"/>
          </a:xfrm>
          <a:prstGeom prst="roundRect">
            <a:avLst>
              <a:gd name="adj" fmla="val 18669"/>
            </a:avLst>
          </a:prstGeom>
          <a:solidFill>
            <a:srgbClr val="CCEDFF"/>
          </a:solidFill>
          <a:ln w="7620">
            <a:solidFill>
              <a:srgbClr val="B2D3E5"/>
            </a:solidFill>
          </a:ln>
        </p:spPr>
        <p:txBody>
          <a:bodyPr lIns="38099" rIns="38099"/>
          <a:lstStyle/>
          <a:p>
            <a:endParaRPr sz="1500"/>
          </a:p>
        </p:txBody>
      </p:sp>
      <p:sp>
        <p:nvSpPr>
          <p:cNvPr id="2605" name="Text 12"/>
          <p:cNvSpPr txBox="1"/>
          <p:nvPr/>
        </p:nvSpPr>
        <p:spPr>
          <a:xfrm>
            <a:off x="693404" y="3999161"/>
            <a:ext cx="120226" cy="2949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gn="ctr">
              <a:lnSpc>
                <a:spcPts val="2300"/>
              </a:lnSpc>
              <a:defRPr sz="2300" b="1">
                <a:latin typeface="Playfair Display Bold"/>
                <a:ea typeface="Playfair Display Bold"/>
                <a:cs typeface="Playfair Display Bold"/>
                <a:sym typeface="Playfair Display Bold"/>
              </a:defRPr>
            </a:lvl1pPr>
          </a:lstStyle>
          <a:p>
            <a:r>
              <a:rPr sz="1917"/>
              <a:t>3</a:t>
            </a:r>
          </a:p>
        </p:txBody>
      </p:sp>
      <p:sp>
        <p:nvSpPr>
          <p:cNvPr id="2606" name="Text 13"/>
          <p:cNvSpPr txBox="1"/>
          <p:nvPr/>
        </p:nvSpPr>
        <p:spPr>
          <a:xfrm>
            <a:off x="1568350" y="4024609"/>
            <a:ext cx="2928687" cy="283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400"/>
              </a:lnSpc>
              <a:defRPr sz="2200" b="1">
                <a:latin typeface="Playfair Display Bold"/>
                <a:ea typeface="Playfair Display Bold"/>
                <a:cs typeface="Playfair Display Bold"/>
                <a:sym typeface="Playfair Display Bold"/>
              </a:defRPr>
            </a:lvl1pPr>
          </a:lstStyle>
          <a:p>
            <a:r>
              <a:rPr sz="1833"/>
              <a:t>Plan to Minimize Influence</a:t>
            </a:r>
          </a:p>
        </p:txBody>
      </p:sp>
      <p:sp>
        <p:nvSpPr>
          <p:cNvPr id="2607" name="Text 14"/>
          <p:cNvSpPr txBox="1"/>
          <p:nvPr/>
        </p:nvSpPr>
        <p:spPr>
          <a:xfrm>
            <a:off x="1568350" y="4376935"/>
            <a:ext cx="5481341" cy="600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200">
                <a:latin typeface="Inter"/>
                <a:ea typeface="Inter"/>
                <a:cs typeface="Inter"/>
                <a:sym typeface="Inter"/>
              </a:defRPr>
            </a:lvl1pPr>
          </a:lstStyle>
          <a:p>
            <a:r>
              <a:rPr sz="1833"/>
              <a:t>Be discreet so your presence doesn't change the behavior you're studying.</a:t>
            </a:r>
          </a:p>
        </p:txBody>
      </p:sp>
      <p:sp>
        <p:nvSpPr>
          <p:cNvPr id="2608" name="Shape 15"/>
          <p:cNvSpPr/>
          <p:nvPr/>
        </p:nvSpPr>
        <p:spPr>
          <a:xfrm>
            <a:off x="917824" y="5397797"/>
            <a:ext cx="488851" cy="19051"/>
          </a:xfrm>
          <a:prstGeom prst="roundRect">
            <a:avLst>
              <a:gd name="adj" fmla="val 50000"/>
            </a:avLst>
          </a:prstGeom>
          <a:solidFill>
            <a:srgbClr val="B2D3E5"/>
          </a:solidFill>
          <a:ln w="12700">
            <a:miter lim="400000"/>
          </a:ln>
        </p:spPr>
        <p:txBody>
          <a:bodyPr lIns="38099" rIns="38099"/>
          <a:lstStyle/>
          <a:p>
            <a:endParaRPr sz="1500"/>
          </a:p>
        </p:txBody>
      </p:sp>
      <p:sp>
        <p:nvSpPr>
          <p:cNvPr id="2609" name="Shape 16"/>
          <p:cNvSpPr/>
          <p:nvPr/>
        </p:nvSpPr>
        <p:spPr>
          <a:xfrm>
            <a:off x="570260" y="5224066"/>
            <a:ext cx="366613" cy="366614"/>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610" name="Image 3" descr="Image 3"/>
          <p:cNvPicPr>
            <a:picLocks noChangeAspect="1"/>
          </p:cNvPicPr>
          <p:nvPr/>
        </p:nvPicPr>
        <p:blipFill>
          <a:blip r:embed="rId5"/>
          <a:stretch>
            <a:fillRect/>
          </a:stretch>
        </p:blipFill>
        <p:spPr>
          <a:xfrm>
            <a:off x="631328" y="5254574"/>
            <a:ext cx="244377" cy="305495"/>
          </a:xfrm>
          <a:prstGeom prst="rect">
            <a:avLst/>
          </a:prstGeom>
          <a:ln w="12700">
            <a:miter lim="400000"/>
          </a:ln>
        </p:spPr>
      </p:pic>
      <p:sp>
        <p:nvSpPr>
          <p:cNvPr id="2611" name="Text 17"/>
          <p:cNvSpPr txBox="1"/>
          <p:nvPr/>
        </p:nvSpPr>
        <p:spPr>
          <a:xfrm>
            <a:off x="1568350" y="5280024"/>
            <a:ext cx="2790829" cy="283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400"/>
              </a:lnSpc>
              <a:defRPr sz="2200" b="1">
                <a:latin typeface="Playfair Display Bold"/>
                <a:ea typeface="Playfair Display Bold"/>
                <a:cs typeface="Playfair Display Bold"/>
                <a:sym typeface="Playfair Display Bold"/>
              </a:defRPr>
            </a:lvl1pPr>
          </a:lstStyle>
          <a:p>
            <a:r>
              <a:rPr sz="1833"/>
              <a:t>Create Recording Method</a:t>
            </a:r>
          </a:p>
        </p:txBody>
      </p:sp>
      <p:sp>
        <p:nvSpPr>
          <p:cNvPr id="2612" name="Text 18"/>
          <p:cNvSpPr txBox="1"/>
          <p:nvPr/>
        </p:nvSpPr>
        <p:spPr>
          <a:xfrm>
            <a:off x="1568350" y="5632350"/>
            <a:ext cx="5481341" cy="600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200">
                <a:latin typeface="Inter"/>
                <a:ea typeface="Inter"/>
                <a:cs typeface="Inter"/>
                <a:sym typeface="Inter"/>
              </a:defRPr>
            </a:lvl1pPr>
          </a:lstStyle>
          <a:p>
            <a:r>
              <a:rPr sz="1833"/>
              <a:t>Decide how you'll document observations: tally sheet, notes, sketches, or digital tools.</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14" name="Image 0" descr="Image 0"/>
          <p:cNvPicPr>
            <a:picLocks noChangeAspect="1"/>
          </p:cNvPicPr>
          <p:nvPr/>
        </p:nvPicPr>
        <p:blipFill>
          <a:blip r:embed="rId2"/>
          <a:stretch>
            <a:fillRect/>
          </a:stretch>
        </p:blipFill>
        <p:spPr>
          <a:xfrm>
            <a:off x="8209747" y="884621"/>
            <a:ext cx="3982253" cy="5973379"/>
          </a:xfrm>
          <a:prstGeom prst="rect">
            <a:avLst/>
          </a:prstGeom>
          <a:ln w="12700">
            <a:miter lim="400000"/>
          </a:ln>
        </p:spPr>
      </p:pic>
      <p:sp>
        <p:nvSpPr>
          <p:cNvPr id="2615" name="Text 0"/>
          <p:cNvSpPr txBox="1"/>
          <p:nvPr/>
        </p:nvSpPr>
        <p:spPr>
          <a:xfrm>
            <a:off x="570309" y="449659"/>
            <a:ext cx="6479382" cy="11689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4800"/>
              </a:lnSpc>
              <a:defRPr sz="3800" b="1">
                <a:latin typeface="Playfair Display Bold"/>
                <a:ea typeface="Playfair Display Bold"/>
                <a:cs typeface="Playfair Display Bold"/>
                <a:sym typeface="Playfair Display Bold"/>
              </a:defRPr>
            </a:lvl1pPr>
          </a:lstStyle>
          <a:p>
            <a:r>
              <a:rPr sz="3167"/>
              <a:t>Using Existing Data: Procedure Planning</a:t>
            </a:r>
          </a:p>
        </p:txBody>
      </p:sp>
      <p:sp>
        <p:nvSpPr>
          <p:cNvPr id="2616" name="Shape 1"/>
          <p:cNvSpPr/>
          <p:nvPr/>
        </p:nvSpPr>
        <p:spPr>
          <a:xfrm>
            <a:off x="570310" y="1712416"/>
            <a:ext cx="366614" cy="366614"/>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617" name="Image 1" descr="Image 1"/>
          <p:cNvPicPr>
            <a:picLocks noChangeAspect="1"/>
          </p:cNvPicPr>
          <p:nvPr/>
        </p:nvPicPr>
        <p:blipFill>
          <a:blip r:embed="rId3"/>
          <a:stretch>
            <a:fillRect/>
          </a:stretch>
        </p:blipFill>
        <p:spPr>
          <a:xfrm>
            <a:off x="631377" y="1742926"/>
            <a:ext cx="244377" cy="305495"/>
          </a:xfrm>
          <a:prstGeom prst="rect">
            <a:avLst/>
          </a:prstGeom>
          <a:ln w="12700">
            <a:miter lim="400000"/>
          </a:ln>
        </p:spPr>
      </p:pic>
      <p:sp>
        <p:nvSpPr>
          <p:cNvPr id="2618" name="Text 2"/>
          <p:cNvSpPr txBox="1"/>
          <p:nvPr/>
        </p:nvSpPr>
        <p:spPr>
          <a:xfrm>
            <a:off x="1099839" y="1768376"/>
            <a:ext cx="1776127" cy="283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400"/>
              </a:lnSpc>
              <a:defRPr sz="2200" b="1">
                <a:latin typeface="Playfair Display Bold"/>
                <a:ea typeface="Playfair Display Bold"/>
                <a:cs typeface="Playfair Display Bold"/>
                <a:sym typeface="Playfair Display Bold"/>
              </a:defRPr>
            </a:lvl1pPr>
          </a:lstStyle>
          <a:p>
            <a:r>
              <a:rPr sz="1833"/>
              <a:t>Identify Sources</a:t>
            </a:r>
          </a:p>
        </p:txBody>
      </p:sp>
      <p:sp>
        <p:nvSpPr>
          <p:cNvPr id="2619" name="Text 3"/>
          <p:cNvSpPr txBox="1"/>
          <p:nvPr/>
        </p:nvSpPr>
        <p:spPr>
          <a:xfrm>
            <a:off x="1099840" y="2120701"/>
            <a:ext cx="5949851" cy="600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200">
                <a:latin typeface="Inter"/>
                <a:ea typeface="Inter"/>
                <a:cs typeface="Inter"/>
                <a:sym typeface="Inter"/>
              </a:defRPr>
            </a:lvl1pPr>
          </a:lstStyle>
          <a:p>
            <a:r>
              <a:rPr sz="1833"/>
              <a:t>Make a list of all data sources you plan to use, like databases, archives, or publications.</a:t>
            </a:r>
          </a:p>
        </p:txBody>
      </p:sp>
      <p:sp>
        <p:nvSpPr>
          <p:cNvPr id="2620" name="Shape 4"/>
          <p:cNvSpPr/>
          <p:nvPr/>
        </p:nvSpPr>
        <p:spPr>
          <a:xfrm>
            <a:off x="570310" y="2967832"/>
            <a:ext cx="366614" cy="366614"/>
          </a:xfrm>
          <a:prstGeom prst="roundRect">
            <a:avLst>
              <a:gd name="adj" fmla="val 18669"/>
            </a:avLst>
          </a:prstGeom>
          <a:solidFill>
            <a:srgbClr val="CCEDFF"/>
          </a:solidFill>
          <a:ln w="7620">
            <a:solidFill>
              <a:srgbClr val="B2D3E5"/>
            </a:solidFill>
          </a:ln>
        </p:spPr>
        <p:txBody>
          <a:bodyPr lIns="38099" rIns="38099"/>
          <a:lstStyle/>
          <a:p>
            <a:endParaRPr sz="1500"/>
          </a:p>
        </p:txBody>
      </p:sp>
      <p:sp>
        <p:nvSpPr>
          <p:cNvPr id="2621" name="Text 5"/>
          <p:cNvSpPr txBox="1"/>
          <p:nvPr/>
        </p:nvSpPr>
        <p:spPr>
          <a:xfrm>
            <a:off x="1099839" y="3023791"/>
            <a:ext cx="1889941" cy="283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400"/>
              </a:lnSpc>
              <a:defRPr sz="2200" b="1">
                <a:latin typeface="Playfair Display Bold"/>
                <a:ea typeface="Playfair Display Bold"/>
                <a:cs typeface="Playfair Display Bold"/>
                <a:sym typeface="Playfair Display Bold"/>
              </a:defRPr>
            </a:lvl1pPr>
          </a:lstStyle>
          <a:p>
            <a:r>
              <a:rPr sz="1833"/>
              <a:t>Verify Credibility</a:t>
            </a:r>
          </a:p>
        </p:txBody>
      </p:sp>
      <p:sp>
        <p:nvSpPr>
          <p:cNvPr id="2622" name="Text 6"/>
          <p:cNvSpPr txBox="1"/>
          <p:nvPr/>
        </p:nvSpPr>
        <p:spPr>
          <a:xfrm>
            <a:off x="1099840" y="3376116"/>
            <a:ext cx="5949851" cy="600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200">
                <a:latin typeface="Inter"/>
                <a:ea typeface="Inter"/>
                <a:cs typeface="Inter"/>
                <a:sym typeface="Inter"/>
              </a:defRPr>
            </a:lvl1pPr>
          </a:lstStyle>
          <a:p>
            <a:r>
              <a:rPr sz="1833"/>
              <a:t>Check that sources are trustworthy, like government agencies, universities, or reputable organizations.</a:t>
            </a:r>
          </a:p>
        </p:txBody>
      </p:sp>
      <p:sp>
        <p:nvSpPr>
          <p:cNvPr id="2623" name="Shape 7"/>
          <p:cNvSpPr/>
          <p:nvPr/>
        </p:nvSpPr>
        <p:spPr>
          <a:xfrm>
            <a:off x="570310" y="4223246"/>
            <a:ext cx="366614" cy="366614"/>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624" name="Image 2" descr="Image 2"/>
          <p:cNvPicPr>
            <a:picLocks noChangeAspect="1"/>
          </p:cNvPicPr>
          <p:nvPr/>
        </p:nvPicPr>
        <p:blipFill>
          <a:blip r:embed="rId4"/>
          <a:stretch>
            <a:fillRect/>
          </a:stretch>
        </p:blipFill>
        <p:spPr>
          <a:xfrm>
            <a:off x="631377" y="4253756"/>
            <a:ext cx="244377" cy="305495"/>
          </a:xfrm>
          <a:prstGeom prst="rect">
            <a:avLst/>
          </a:prstGeom>
          <a:ln w="12700">
            <a:miter lim="400000"/>
          </a:ln>
        </p:spPr>
      </p:pic>
      <p:sp>
        <p:nvSpPr>
          <p:cNvPr id="2625" name="Text 8"/>
          <p:cNvSpPr txBox="1"/>
          <p:nvPr/>
        </p:nvSpPr>
        <p:spPr>
          <a:xfrm>
            <a:off x="1099839" y="4279206"/>
            <a:ext cx="2250616" cy="283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400"/>
              </a:lnSpc>
              <a:defRPr sz="2200" b="1">
                <a:latin typeface="Playfair Display Bold"/>
                <a:ea typeface="Playfair Display Bold"/>
                <a:cs typeface="Playfair Display Bold"/>
                <a:sym typeface="Playfair Display Bold"/>
              </a:defRPr>
            </a:lvl1pPr>
          </a:lstStyle>
          <a:p>
            <a:r>
              <a:rPr sz="1833"/>
              <a:t>Plan Data Extraction</a:t>
            </a:r>
          </a:p>
        </p:txBody>
      </p:sp>
      <p:sp>
        <p:nvSpPr>
          <p:cNvPr id="2626" name="Text 9"/>
          <p:cNvSpPr txBox="1"/>
          <p:nvPr/>
        </p:nvSpPr>
        <p:spPr>
          <a:xfrm>
            <a:off x="1099840" y="4631531"/>
            <a:ext cx="5949851" cy="600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200">
                <a:latin typeface="Inter"/>
                <a:ea typeface="Inter"/>
                <a:cs typeface="Inter"/>
                <a:sym typeface="Inter"/>
              </a:defRPr>
            </a:lvl1pPr>
          </a:lstStyle>
          <a:p>
            <a:r>
              <a:rPr sz="1833"/>
              <a:t>Decide what specific information you need from each source and how you'll organize it.</a:t>
            </a:r>
          </a:p>
        </p:txBody>
      </p:sp>
      <p:sp>
        <p:nvSpPr>
          <p:cNvPr id="2627" name="Shape 10"/>
          <p:cNvSpPr/>
          <p:nvPr/>
        </p:nvSpPr>
        <p:spPr>
          <a:xfrm>
            <a:off x="570310" y="5478661"/>
            <a:ext cx="366614" cy="366614"/>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628" name="Image 3" descr="Image 3"/>
          <p:cNvPicPr>
            <a:picLocks noChangeAspect="1"/>
          </p:cNvPicPr>
          <p:nvPr/>
        </p:nvPicPr>
        <p:blipFill>
          <a:blip r:embed="rId5"/>
          <a:stretch>
            <a:fillRect/>
          </a:stretch>
        </p:blipFill>
        <p:spPr>
          <a:xfrm>
            <a:off x="631377" y="5509170"/>
            <a:ext cx="244377" cy="305496"/>
          </a:xfrm>
          <a:prstGeom prst="rect">
            <a:avLst/>
          </a:prstGeom>
          <a:ln w="12700">
            <a:miter lim="400000"/>
          </a:ln>
        </p:spPr>
      </p:pic>
      <p:sp>
        <p:nvSpPr>
          <p:cNvPr id="2629" name="Text 11"/>
          <p:cNvSpPr txBox="1"/>
          <p:nvPr/>
        </p:nvSpPr>
        <p:spPr>
          <a:xfrm>
            <a:off x="1099840" y="5534620"/>
            <a:ext cx="2377254" cy="283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400"/>
              </a:lnSpc>
              <a:defRPr sz="2200" b="1">
                <a:latin typeface="Playfair Display Bold"/>
                <a:ea typeface="Playfair Display Bold"/>
                <a:cs typeface="Playfair Display Bold"/>
                <a:sym typeface="Playfair Display Bold"/>
              </a:defRPr>
            </a:lvl1pPr>
          </a:lstStyle>
          <a:p>
            <a:r>
              <a:rPr sz="1833"/>
              <a:t>Organize Information</a:t>
            </a:r>
          </a:p>
        </p:txBody>
      </p:sp>
      <p:sp>
        <p:nvSpPr>
          <p:cNvPr id="2630" name="Text 12"/>
          <p:cNvSpPr txBox="1"/>
          <p:nvPr/>
        </p:nvSpPr>
        <p:spPr>
          <a:xfrm>
            <a:off x="1099840" y="5886945"/>
            <a:ext cx="5949851" cy="600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2200">
                <a:latin typeface="Inter"/>
                <a:ea typeface="Inter"/>
                <a:cs typeface="Inter"/>
                <a:sym typeface="Inter"/>
              </a:defRPr>
            </a:lvl1pPr>
          </a:lstStyle>
          <a:p>
            <a:r>
              <a:rPr sz="1833"/>
              <a:t>Create a system to track where each piece of data came from and how it relates to your question.</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2" name="Text 0"/>
          <p:cNvSpPr txBox="1"/>
          <p:nvPr/>
        </p:nvSpPr>
        <p:spPr>
          <a:xfrm>
            <a:off x="610789" y="3169700"/>
            <a:ext cx="5344412" cy="10640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4250"/>
              </a:lnSpc>
              <a:defRPr sz="4100" b="1">
                <a:latin typeface="Playfair Display Bold"/>
                <a:ea typeface="Playfair Display Bold"/>
                <a:cs typeface="Playfair Display Bold"/>
                <a:sym typeface="Playfair Display Bold"/>
              </a:defRPr>
            </a:pPr>
            <a:r>
              <a:rPr sz="3417"/>
              <a:t>Tomorrow we continue to </a:t>
            </a:r>
          </a:p>
          <a:p>
            <a:pPr>
              <a:lnSpc>
                <a:spcPts val="4250"/>
              </a:lnSpc>
              <a:defRPr sz="4100" b="1">
                <a:latin typeface="Playfair Display Bold"/>
                <a:ea typeface="Playfair Display Bold"/>
                <a:cs typeface="Playfair Display Bold"/>
                <a:sym typeface="Playfair Display Bold"/>
              </a:defRPr>
            </a:pPr>
            <a:r>
              <a:rPr sz="3417"/>
              <a:t>look into planning</a:t>
            </a:r>
          </a:p>
        </p:txBody>
      </p:sp>
      <p:sp>
        <p:nvSpPr>
          <p:cNvPr id="2633" name="Text 1"/>
          <p:cNvSpPr txBox="1"/>
          <p:nvPr/>
        </p:nvSpPr>
        <p:spPr>
          <a:xfrm>
            <a:off x="610790" y="4577934"/>
            <a:ext cx="4485395" cy="5642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2167"/>
              </a:lnSpc>
              <a:defRPr sz="2300">
                <a:latin typeface="Inter"/>
                <a:ea typeface="Inter"/>
                <a:cs typeface="Inter"/>
                <a:sym typeface="Inter"/>
              </a:defRPr>
            </a:pPr>
            <a:r>
              <a:rPr sz="1917"/>
              <a:t>Specifically reflecting on validity &amp; reliability, </a:t>
            </a:r>
          </a:p>
          <a:p>
            <a:pPr>
              <a:lnSpc>
                <a:spcPts val="2167"/>
              </a:lnSpc>
              <a:defRPr sz="2300">
                <a:latin typeface="Inter"/>
                <a:ea typeface="Inter"/>
                <a:cs typeface="Inter"/>
                <a:sym typeface="Inter"/>
              </a:defRPr>
            </a:pPr>
            <a:r>
              <a:rPr sz="1917"/>
              <a:t>sampling, and materials/resources. </a:t>
            </a:r>
          </a:p>
        </p:txBody>
      </p:sp>
      <p:pic>
        <p:nvPicPr>
          <p:cNvPr id="2634" name="pasted-movie.png" descr="pasted-movie.png"/>
          <p:cNvPicPr>
            <a:picLocks/>
          </p:cNvPicPr>
          <p:nvPr/>
        </p:nvPicPr>
        <p:blipFill>
          <a:blip r:embed="rId2"/>
          <a:stretch>
            <a:fillRect/>
          </a:stretch>
        </p:blipFill>
        <p:spPr>
          <a:xfrm rot="180286">
            <a:off x="6217324" y="567994"/>
            <a:ext cx="4601400" cy="6053533"/>
          </a:xfrm>
          <a:prstGeom prst="rect">
            <a:avLst/>
          </a:prstGeom>
          <a:effectLst>
            <a:outerShdw blurRad="381000" dist="114300" rotWithShape="0">
              <a:srgbClr val="000000">
                <a:alpha val="75000"/>
              </a:srgbClr>
            </a:outerShdw>
          </a:effectLst>
        </p:spPr>
      </p:pic>
      <p:sp>
        <p:nvSpPr>
          <p:cNvPr id="2635" name="Arrow 11"/>
          <p:cNvSpPr/>
          <p:nvPr/>
        </p:nvSpPr>
        <p:spPr>
          <a:xfrm>
            <a:off x="5753516" y="4248001"/>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
        <p:nvSpPr>
          <p:cNvPr id="2636" name="Arrow 11"/>
          <p:cNvSpPr/>
          <p:nvPr/>
        </p:nvSpPr>
        <p:spPr>
          <a:xfrm>
            <a:off x="6060433" y="3687084"/>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
        <p:nvSpPr>
          <p:cNvPr id="2637" name="Arrow 11"/>
          <p:cNvSpPr/>
          <p:nvPr/>
        </p:nvSpPr>
        <p:spPr>
          <a:xfrm>
            <a:off x="8175540" y="1729168"/>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
        <p:nvSpPr>
          <p:cNvPr id="2638" name="Arrow 11"/>
          <p:cNvSpPr/>
          <p:nvPr/>
        </p:nvSpPr>
        <p:spPr>
          <a:xfrm>
            <a:off x="8175540" y="2554668"/>
            <a:ext cx="684968" cy="515718"/>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rgbClr val="D7AA48"/>
          </a:solidFill>
          <a:ln w="19050">
            <a:solidFill>
              <a:srgbClr val="D7AA48"/>
            </a:solidFill>
            <a:miter/>
          </a:ln>
        </p:spPr>
        <p:txBody>
          <a:bodyPr lIns="38099" rIns="38099" anchor="ctr"/>
          <a:lstStyle/>
          <a:p>
            <a:pPr>
              <a:defRPr>
                <a:solidFill>
                  <a:srgbClr val="FFFFFF"/>
                </a:solidFill>
              </a:defRPr>
            </a:pPr>
            <a:endParaRPr sz="1500"/>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0" name="Image 0" descr="Image 0"/>
          <p:cNvPicPr>
            <a:picLocks noChangeAspect="1"/>
          </p:cNvPicPr>
          <p:nvPr/>
        </p:nvPicPr>
        <p:blipFill>
          <a:blip r:embed="rId2"/>
          <a:stretch>
            <a:fillRect/>
          </a:stretch>
        </p:blipFill>
        <p:spPr>
          <a:xfrm>
            <a:off x="8005380" y="700690"/>
            <a:ext cx="3935541" cy="5903311"/>
          </a:xfrm>
          <a:prstGeom prst="rect">
            <a:avLst/>
          </a:prstGeom>
          <a:ln w="12700">
            <a:miter lim="400000"/>
          </a:ln>
        </p:spPr>
      </p:pic>
      <p:sp>
        <p:nvSpPr>
          <p:cNvPr id="2641" name="Text 0"/>
          <p:cNvSpPr txBox="1"/>
          <p:nvPr/>
        </p:nvSpPr>
        <p:spPr>
          <a:xfrm>
            <a:off x="661492" y="1043087"/>
            <a:ext cx="523220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Homework - Teamwork</a:t>
            </a:r>
          </a:p>
        </p:txBody>
      </p:sp>
      <p:sp>
        <p:nvSpPr>
          <p:cNvPr id="2642" name="Shape 1"/>
          <p:cNvSpPr/>
          <p:nvPr/>
        </p:nvSpPr>
        <p:spPr>
          <a:xfrm>
            <a:off x="661492" y="1917205"/>
            <a:ext cx="6843855" cy="4514671"/>
          </a:xfrm>
          <a:prstGeom prst="roundRect">
            <a:avLst>
              <a:gd name="adj" fmla="val 1764"/>
            </a:avLst>
          </a:prstGeom>
          <a:solidFill>
            <a:srgbClr val="CCEDFF"/>
          </a:solidFill>
          <a:ln w="7620">
            <a:solidFill>
              <a:srgbClr val="B2D3E5"/>
            </a:solidFill>
          </a:ln>
        </p:spPr>
        <p:txBody>
          <a:bodyPr lIns="38099" rIns="38099"/>
          <a:lstStyle/>
          <a:p>
            <a:endParaRPr sz="1500"/>
          </a:p>
        </p:txBody>
      </p:sp>
      <p:sp>
        <p:nvSpPr>
          <p:cNvPr id="2643" name="Text 2"/>
          <p:cNvSpPr txBox="1"/>
          <p:nvPr/>
        </p:nvSpPr>
        <p:spPr>
          <a:xfrm>
            <a:off x="856853" y="2112565"/>
            <a:ext cx="5148571" cy="38137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marL="183808" indent="-183808">
              <a:lnSpc>
                <a:spcPts val="2250"/>
              </a:lnSpc>
              <a:buSzPct val="100000"/>
              <a:buChar char="•"/>
              <a:defRPr sz="2200" b="1">
                <a:latin typeface="Playfair Display Bold"/>
                <a:ea typeface="Playfair Display Bold"/>
                <a:cs typeface="Playfair Display Bold"/>
                <a:sym typeface="Playfair Display Bold"/>
              </a:defRPr>
            </a:pPr>
            <a:r>
              <a:rPr sz="1833"/>
              <a:t>Review: "Research Design Checklist” with your team members.</a:t>
            </a:r>
          </a:p>
          <a:p>
            <a:pPr marL="183808" indent="-183808">
              <a:lnSpc>
                <a:spcPts val="2250"/>
              </a:lnSpc>
              <a:buSzPct val="100000"/>
              <a:buChar char="•"/>
              <a:defRPr sz="2200" b="1">
                <a:latin typeface="Playfair Display Bold"/>
                <a:ea typeface="Playfair Display Bold"/>
                <a:cs typeface="Playfair Display Bold"/>
                <a:sym typeface="Playfair Display Bold"/>
              </a:defRPr>
            </a:pPr>
            <a:endParaRPr sz="1833"/>
          </a:p>
          <a:p>
            <a:pPr marL="183808" indent="-183808">
              <a:lnSpc>
                <a:spcPts val="2250"/>
              </a:lnSpc>
              <a:buSzPct val="100000"/>
              <a:buChar char="•"/>
              <a:defRPr sz="2200" b="1">
                <a:latin typeface="Playfair Display Bold"/>
                <a:ea typeface="Playfair Display Bold"/>
                <a:cs typeface="Playfair Display Bold"/>
                <a:sym typeface="Playfair Display Bold"/>
              </a:defRPr>
            </a:pPr>
            <a:r>
              <a:rPr sz="1833"/>
              <a:t>Start working on Handout 4: Research Design Blueprint. Finish first half of the items. </a:t>
            </a:r>
          </a:p>
          <a:p>
            <a:pPr>
              <a:lnSpc>
                <a:spcPts val="2250"/>
              </a:lnSpc>
              <a:defRPr sz="2200" b="1">
                <a:latin typeface="Playfair Display Bold"/>
                <a:ea typeface="Playfair Display Bold"/>
                <a:cs typeface="Playfair Display Bold"/>
                <a:sym typeface="Playfair Display Bold"/>
              </a:defRPr>
            </a:pPr>
            <a:endParaRPr sz="1833"/>
          </a:p>
          <a:p>
            <a:pPr marL="183808" indent="-183808">
              <a:lnSpc>
                <a:spcPts val="2250"/>
              </a:lnSpc>
              <a:buSzPct val="100000"/>
              <a:buChar char="•"/>
              <a:defRPr sz="2200" b="1">
                <a:latin typeface="Playfair Display Bold"/>
                <a:ea typeface="Playfair Display Bold"/>
                <a:cs typeface="Playfair Display Bold"/>
                <a:sym typeface="Playfair Display Bold"/>
              </a:defRPr>
            </a:pPr>
            <a:r>
              <a:rPr sz="1833"/>
              <a:t>Continue with your lit review. Review 1-2 more articles and keep track of your resources through “Source Tracker”.  Identify 2–3 of the most important or interesting findings you gathered from the literature. Share your notes with one team members.</a:t>
            </a:r>
          </a:p>
          <a:p>
            <a:pPr>
              <a:lnSpc>
                <a:spcPts val="2250"/>
              </a:lnSpc>
              <a:defRPr sz="2200" b="1">
                <a:latin typeface="Playfair Display Bold"/>
                <a:ea typeface="Playfair Display Bold"/>
                <a:cs typeface="Playfair Display Bold"/>
                <a:sym typeface="Playfair Display Bold"/>
              </a:defRPr>
            </a:pPr>
            <a:endParaRPr sz="1833"/>
          </a:p>
        </p:txBody>
      </p:sp>
      <p:pic>
        <p:nvPicPr>
          <p:cNvPr id="2644" name="pasted-movie.png" descr="pasted-movie.png"/>
          <p:cNvPicPr>
            <a:picLocks/>
          </p:cNvPicPr>
          <p:nvPr/>
        </p:nvPicPr>
        <p:blipFill>
          <a:blip r:embed="rId3"/>
          <a:stretch>
            <a:fillRect/>
          </a:stretch>
        </p:blipFill>
        <p:spPr>
          <a:xfrm rot="360000">
            <a:off x="6246565" y="2838592"/>
            <a:ext cx="2996112" cy="3781180"/>
          </a:xfrm>
          <a:prstGeom prst="rect">
            <a:avLst/>
          </a:prstGeom>
          <a:effectLst>
            <a:outerShdw blurRad="381000" dist="114300" rotWithShape="0">
              <a:srgbClr val="000000">
                <a:alpha val="75000"/>
              </a:srgbClr>
            </a:outerShdw>
          </a:effectLst>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6" name="Image 0" descr="Image 0"/>
          <p:cNvPicPr>
            <a:picLocks noChangeAspect="1"/>
          </p:cNvPicPr>
          <p:nvPr/>
        </p:nvPicPr>
        <p:blipFill>
          <a:blip r:embed="rId2"/>
          <a:stretch>
            <a:fillRect/>
          </a:stretch>
        </p:blipFill>
        <p:spPr>
          <a:xfrm>
            <a:off x="0" y="686346"/>
            <a:ext cx="12192000" cy="2188469"/>
          </a:xfrm>
          <a:prstGeom prst="rect">
            <a:avLst/>
          </a:prstGeom>
          <a:ln w="12700">
            <a:miter lim="400000"/>
          </a:ln>
        </p:spPr>
      </p:pic>
      <p:sp>
        <p:nvSpPr>
          <p:cNvPr id="2647" name="Text 0"/>
          <p:cNvSpPr txBox="1"/>
          <p:nvPr/>
        </p:nvSpPr>
        <p:spPr>
          <a:xfrm>
            <a:off x="3434997" y="3549064"/>
            <a:ext cx="5730736" cy="16154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4250"/>
              </a:lnSpc>
              <a:defRPr sz="4100" b="1">
                <a:latin typeface="Playfair Display Bold"/>
                <a:ea typeface="Playfair Display Bold"/>
                <a:cs typeface="Playfair Display Bold"/>
                <a:sym typeface="Playfair Display Bold"/>
              </a:defRPr>
            </a:pPr>
            <a:r>
              <a:rPr sz="3417"/>
              <a:t>Let’s wrap up this session!</a:t>
            </a:r>
          </a:p>
          <a:p>
            <a:pPr>
              <a:lnSpc>
                <a:spcPts val="4250"/>
              </a:lnSpc>
              <a:defRPr sz="4100" b="1">
                <a:latin typeface="Playfair Display Bold"/>
                <a:ea typeface="Playfair Display Bold"/>
                <a:cs typeface="Playfair Display Bold"/>
                <a:sym typeface="Playfair Display Bold"/>
              </a:defRPr>
            </a:pPr>
            <a:endParaRPr sz="3417"/>
          </a:p>
          <a:p>
            <a:pPr>
              <a:lnSpc>
                <a:spcPts val="4250"/>
              </a:lnSpc>
              <a:defRPr sz="4100" b="1">
                <a:latin typeface="Playfair Display Bold"/>
                <a:ea typeface="Playfair Display Bold"/>
                <a:cs typeface="Playfair Display Bold"/>
                <a:sym typeface="Playfair Display Bold"/>
              </a:defRPr>
            </a:pPr>
            <a:r>
              <a:rPr sz="3417"/>
              <a:t>Questions? Final thoughts?  </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9" name="Rectangle"/>
          <p:cNvSpPr/>
          <p:nvPr/>
        </p:nvSpPr>
        <p:spPr>
          <a:xfrm>
            <a:off x="10278766" y="-63446"/>
            <a:ext cx="1058334" cy="6984892"/>
          </a:xfrm>
          <a:prstGeom prst="rect">
            <a:avLst/>
          </a:prstGeom>
          <a:solidFill>
            <a:srgbClr val="FFFFFF"/>
          </a:solidFill>
          <a:ln w="12700">
            <a:miter lim="400000"/>
          </a:ln>
        </p:spPr>
        <p:txBody>
          <a:bodyPr lIns="38099" rIns="38099" anchor="ctr"/>
          <a:lstStyle/>
          <a:p>
            <a:endParaRPr sz="1500"/>
          </a:p>
        </p:txBody>
      </p:sp>
      <p:sp>
        <p:nvSpPr>
          <p:cNvPr id="2650" name="Rectangle"/>
          <p:cNvSpPr/>
          <p:nvPr/>
        </p:nvSpPr>
        <p:spPr>
          <a:xfrm>
            <a:off x="8310266" y="120000"/>
            <a:ext cx="1058334" cy="6984891"/>
          </a:xfrm>
          <a:prstGeom prst="rect">
            <a:avLst/>
          </a:prstGeom>
          <a:solidFill>
            <a:srgbClr val="FFFFFF"/>
          </a:solidFill>
          <a:ln w="12700">
            <a:miter lim="400000"/>
          </a:ln>
        </p:spPr>
        <p:txBody>
          <a:bodyPr lIns="38099" rIns="38099" anchor="ctr"/>
          <a:lstStyle/>
          <a:p>
            <a:endParaRPr sz="1500"/>
          </a:p>
        </p:txBody>
      </p:sp>
      <p:sp>
        <p:nvSpPr>
          <p:cNvPr id="2651" name="Rectangle"/>
          <p:cNvSpPr/>
          <p:nvPr/>
        </p:nvSpPr>
        <p:spPr>
          <a:xfrm>
            <a:off x="6341766" y="-63446"/>
            <a:ext cx="1058334" cy="6984892"/>
          </a:xfrm>
          <a:prstGeom prst="rect">
            <a:avLst/>
          </a:prstGeom>
          <a:solidFill>
            <a:srgbClr val="FFFFFF"/>
          </a:solidFill>
          <a:ln w="12700">
            <a:miter lim="400000"/>
          </a:ln>
        </p:spPr>
        <p:txBody>
          <a:bodyPr lIns="38099" rIns="38099" anchor="ctr"/>
          <a:lstStyle/>
          <a:p>
            <a:endParaRPr sz="1500"/>
          </a:p>
        </p:txBody>
      </p:sp>
      <p:sp>
        <p:nvSpPr>
          <p:cNvPr id="2652" name="Rectangle"/>
          <p:cNvSpPr/>
          <p:nvPr/>
        </p:nvSpPr>
        <p:spPr>
          <a:xfrm>
            <a:off x="4474788" y="-63446"/>
            <a:ext cx="1058334" cy="6984892"/>
          </a:xfrm>
          <a:prstGeom prst="rect">
            <a:avLst/>
          </a:prstGeom>
          <a:solidFill>
            <a:srgbClr val="FFFFFF"/>
          </a:solidFill>
          <a:ln w="12700">
            <a:miter lim="400000"/>
          </a:ln>
        </p:spPr>
        <p:txBody>
          <a:bodyPr lIns="38099" rIns="38099" anchor="ctr"/>
          <a:lstStyle/>
          <a:p>
            <a:endParaRPr sz="1500"/>
          </a:p>
        </p:txBody>
      </p:sp>
      <p:sp>
        <p:nvSpPr>
          <p:cNvPr id="2653" name="Rectangle"/>
          <p:cNvSpPr/>
          <p:nvPr/>
        </p:nvSpPr>
        <p:spPr>
          <a:xfrm>
            <a:off x="2607811" y="-63446"/>
            <a:ext cx="1058334" cy="6984892"/>
          </a:xfrm>
          <a:prstGeom prst="rect">
            <a:avLst/>
          </a:prstGeom>
          <a:solidFill>
            <a:srgbClr val="FFFFFF"/>
          </a:solidFill>
          <a:ln w="12700">
            <a:miter lim="400000"/>
          </a:ln>
        </p:spPr>
        <p:txBody>
          <a:bodyPr lIns="38099" rIns="38099" anchor="ctr"/>
          <a:lstStyle/>
          <a:p>
            <a:endParaRPr sz="1500"/>
          </a:p>
        </p:txBody>
      </p:sp>
      <p:sp>
        <p:nvSpPr>
          <p:cNvPr id="2654" name="Rectangle"/>
          <p:cNvSpPr/>
          <p:nvPr/>
        </p:nvSpPr>
        <p:spPr>
          <a:xfrm>
            <a:off x="740833" y="-63446"/>
            <a:ext cx="1058333" cy="6984892"/>
          </a:xfrm>
          <a:prstGeom prst="rect">
            <a:avLst/>
          </a:prstGeom>
          <a:solidFill>
            <a:srgbClr val="FFFFFF"/>
          </a:solidFill>
          <a:ln w="12700">
            <a:miter lim="400000"/>
          </a:ln>
        </p:spPr>
        <p:txBody>
          <a:bodyPr lIns="38099" rIns="38099" anchor="ctr"/>
          <a:lstStyle/>
          <a:p>
            <a:endParaRPr sz="1500"/>
          </a:p>
        </p:txBody>
      </p:sp>
      <p:sp>
        <p:nvSpPr>
          <p:cNvPr id="2655" name="EXTRA SLIDES FOR DAY 4"/>
          <p:cNvSpPr txBox="1"/>
          <p:nvPr/>
        </p:nvSpPr>
        <p:spPr>
          <a:xfrm>
            <a:off x="81618" y="1146599"/>
            <a:ext cx="12028765" cy="11113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099" rIns="38099">
            <a:spAutoFit/>
          </a:bodyPr>
          <a:lstStyle/>
          <a:p>
            <a:pPr algn="ctr">
              <a:lnSpc>
                <a:spcPct val="90000"/>
              </a:lnSpc>
              <a:defRPr sz="4400">
                <a:latin typeface="Aptos Display"/>
                <a:ea typeface="Aptos Display"/>
                <a:cs typeface="Aptos Display"/>
                <a:sym typeface="Aptos Display"/>
              </a:defRPr>
            </a:pPr>
            <a:endParaRPr sz="3667"/>
          </a:p>
          <a:p>
            <a:pPr algn="ctr">
              <a:lnSpc>
                <a:spcPct val="90000"/>
              </a:lnSpc>
              <a:defRPr sz="4400">
                <a:latin typeface="Aptos Display"/>
                <a:ea typeface="Aptos Display"/>
                <a:cs typeface="Aptos Display"/>
                <a:sym typeface="Aptos Display"/>
              </a:defRPr>
            </a:pPr>
            <a:r>
              <a:rPr sz="3667" b="1"/>
              <a:t>EXTRA SLIDES FOR DAY 4</a:t>
            </a:r>
          </a:p>
        </p:txBody>
      </p:sp>
      <p:sp>
        <p:nvSpPr>
          <p:cNvPr id="2656" name="Rectangle"/>
          <p:cNvSpPr/>
          <p:nvPr/>
        </p:nvSpPr>
        <p:spPr>
          <a:xfrm>
            <a:off x="-155850" y="6147566"/>
            <a:ext cx="12503701" cy="748827"/>
          </a:xfrm>
          <a:prstGeom prst="rect">
            <a:avLst/>
          </a:prstGeom>
          <a:solidFill>
            <a:srgbClr val="FFFFFF"/>
          </a:solidFill>
          <a:ln w="12700">
            <a:miter lim="400000"/>
          </a:ln>
        </p:spPr>
        <p:txBody>
          <a:bodyPr lIns="38099" rIns="38099" anchor="ctr"/>
          <a:lstStyle/>
          <a:p>
            <a:endParaRPr sz="1500"/>
          </a:p>
        </p:txBody>
      </p:sp>
      <p:sp>
        <p:nvSpPr>
          <p:cNvPr id="2657" name="Rectangle"/>
          <p:cNvSpPr/>
          <p:nvPr/>
        </p:nvSpPr>
        <p:spPr>
          <a:xfrm>
            <a:off x="-11851" y="-58595"/>
            <a:ext cx="12215701" cy="748827"/>
          </a:xfrm>
          <a:prstGeom prst="rect">
            <a:avLst/>
          </a:prstGeom>
          <a:solidFill>
            <a:srgbClr val="FFFFFF"/>
          </a:solidFill>
          <a:ln w="12700">
            <a:miter lim="400000"/>
          </a:ln>
        </p:spPr>
        <p:txBody>
          <a:bodyPr lIns="38099" rIns="38099" anchor="ctr"/>
          <a:lstStyle/>
          <a:p>
            <a:endParaRPr sz="1500"/>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9" name="Text 0"/>
          <p:cNvSpPr txBox="1"/>
          <p:nvPr/>
        </p:nvSpPr>
        <p:spPr>
          <a:xfrm>
            <a:off x="661492" y="1326357"/>
            <a:ext cx="8915902"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Case Study: Leila's Smartphone Research</a:t>
            </a:r>
          </a:p>
        </p:txBody>
      </p:sp>
      <p:sp>
        <p:nvSpPr>
          <p:cNvPr id="2660" name="Text 1"/>
          <p:cNvSpPr txBox="1"/>
          <p:nvPr/>
        </p:nvSpPr>
        <p:spPr>
          <a:xfrm>
            <a:off x="661491" y="2389484"/>
            <a:ext cx="2043829"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Research Question</a:t>
            </a:r>
          </a:p>
        </p:txBody>
      </p:sp>
      <p:sp>
        <p:nvSpPr>
          <p:cNvPr id="2661" name="Text 2"/>
          <p:cNvSpPr txBox="1"/>
          <p:nvPr/>
        </p:nvSpPr>
        <p:spPr>
          <a:xfrm>
            <a:off x="661491" y="2873771"/>
            <a:ext cx="3315098" cy="10354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"How does nighttime smartphone use relate to students' sleep quality and academic performance?"</a:t>
            </a:r>
          </a:p>
        </p:txBody>
      </p:sp>
      <p:sp>
        <p:nvSpPr>
          <p:cNvPr id="2662" name="Text 3"/>
          <p:cNvSpPr txBox="1"/>
          <p:nvPr/>
        </p:nvSpPr>
        <p:spPr>
          <a:xfrm>
            <a:off x="661491" y="3970039"/>
            <a:ext cx="1219886"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Hypothesis</a:t>
            </a:r>
          </a:p>
        </p:txBody>
      </p:sp>
      <p:sp>
        <p:nvSpPr>
          <p:cNvPr id="2663" name="Text 4"/>
          <p:cNvSpPr txBox="1"/>
          <p:nvPr/>
        </p:nvSpPr>
        <p:spPr>
          <a:xfrm>
            <a:off x="661491" y="4454326"/>
            <a:ext cx="3315098" cy="10354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Students with more phone use after 10 p.m. will report lower sleep quality and worse academic performance.</a:t>
            </a:r>
          </a:p>
        </p:txBody>
      </p:sp>
      <p:sp>
        <p:nvSpPr>
          <p:cNvPr id="2664" name="Text 5"/>
          <p:cNvSpPr txBox="1"/>
          <p:nvPr/>
        </p:nvSpPr>
        <p:spPr>
          <a:xfrm>
            <a:off x="4444106" y="2389484"/>
            <a:ext cx="1822615"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Design Elements</a:t>
            </a:r>
          </a:p>
        </p:txBody>
      </p:sp>
      <p:sp>
        <p:nvSpPr>
          <p:cNvPr id="2665" name="Text 6"/>
          <p:cNvSpPr txBox="1"/>
          <p:nvPr/>
        </p:nvSpPr>
        <p:spPr>
          <a:xfrm>
            <a:off x="4444106" y="2873771"/>
            <a:ext cx="2773773"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1700">
                <a:latin typeface="Inter"/>
                <a:ea typeface="Inter"/>
                <a:cs typeface="Inter"/>
                <a:sym typeface="Inter"/>
              </a:defRPr>
            </a:lvl1pPr>
          </a:lstStyle>
          <a:p>
            <a:r>
              <a:rPr sz="1417"/>
              <a:t>Correlational study using surveys</a:t>
            </a:r>
          </a:p>
        </p:txBody>
      </p:sp>
      <p:sp>
        <p:nvSpPr>
          <p:cNvPr id="2666" name="Text 7"/>
          <p:cNvSpPr txBox="1"/>
          <p:nvPr/>
        </p:nvSpPr>
        <p:spPr>
          <a:xfrm>
            <a:off x="4444106" y="3242270"/>
            <a:ext cx="2693879"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1700">
                <a:latin typeface="Inter"/>
                <a:ea typeface="Inter"/>
                <a:cs typeface="Inter"/>
                <a:sym typeface="Inter"/>
              </a:defRPr>
            </a:lvl1pPr>
          </a:lstStyle>
          <a:p>
            <a:r>
              <a:rPr sz="1417"/>
              <a:t>120 students from grades 10-12</a:t>
            </a:r>
          </a:p>
        </p:txBody>
      </p:sp>
      <p:sp>
        <p:nvSpPr>
          <p:cNvPr id="2667" name="Text 8"/>
          <p:cNvSpPr txBox="1"/>
          <p:nvPr/>
        </p:nvSpPr>
        <p:spPr>
          <a:xfrm>
            <a:off x="4444106" y="3610769"/>
            <a:ext cx="2829236" cy="317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marL="342900" indent="-342900">
              <a:lnSpc>
                <a:spcPts val="2800"/>
              </a:lnSpc>
              <a:buSzPct val="100000"/>
              <a:buChar char="•"/>
              <a:defRPr sz="1700">
                <a:latin typeface="Inter"/>
                <a:ea typeface="Inter"/>
                <a:cs typeface="Inter"/>
                <a:sym typeface="Inter"/>
              </a:defRPr>
            </a:lvl1pPr>
          </a:lstStyle>
          <a:p>
            <a:r>
              <a:rPr sz="1417"/>
              <a:t>Sleep journals from 25 volunteers</a:t>
            </a:r>
          </a:p>
        </p:txBody>
      </p:sp>
      <p:sp>
        <p:nvSpPr>
          <p:cNvPr id="2668" name="Text 9"/>
          <p:cNvSpPr txBox="1"/>
          <p:nvPr/>
        </p:nvSpPr>
        <p:spPr>
          <a:xfrm>
            <a:off x="4444106" y="3979267"/>
            <a:ext cx="3315098" cy="676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marL="342900" indent="-342900">
              <a:lnSpc>
                <a:spcPts val="2800"/>
              </a:lnSpc>
              <a:buSzPct val="100000"/>
              <a:buChar char="•"/>
              <a:defRPr sz="1700">
                <a:latin typeface="Inter"/>
                <a:ea typeface="Inter"/>
                <a:cs typeface="Inter"/>
                <a:sym typeface="Inter"/>
              </a:defRPr>
            </a:lvl1pPr>
          </a:lstStyle>
          <a:p>
            <a:r>
              <a:rPr sz="1417"/>
              <a:t>Follow-up interviews with 10 participants</a:t>
            </a:r>
          </a:p>
        </p:txBody>
      </p:sp>
      <p:pic>
        <p:nvPicPr>
          <p:cNvPr id="2669" name="Image 0" descr="Image 0"/>
          <p:cNvPicPr>
            <a:picLocks noChangeAspect="1"/>
          </p:cNvPicPr>
          <p:nvPr/>
        </p:nvPicPr>
        <p:blipFill>
          <a:blip r:embed="rId2"/>
          <a:stretch>
            <a:fillRect/>
          </a:stretch>
        </p:blipFill>
        <p:spPr>
          <a:xfrm>
            <a:off x="8226723" y="2413099"/>
            <a:ext cx="3315098" cy="1989039"/>
          </a:xfrm>
          <a:prstGeom prst="rect">
            <a:avLst/>
          </a:prstGeom>
          <a:ln w="12700">
            <a:miter lim="400000"/>
          </a:ln>
        </p:spPr>
      </p:pic>
      <p:sp>
        <p:nvSpPr>
          <p:cNvPr id="2670" name="Text 10"/>
          <p:cNvSpPr txBox="1"/>
          <p:nvPr/>
        </p:nvSpPr>
        <p:spPr>
          <a:xfrm>
            <a:off x="8226723" y="4614763"/>
            <a:ext cx="3315098" cy="676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Leila's study examined a real-world issue affecting many students.</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2" name="Image 0" descr="Image 0"/>
          <p:cNvPicPr>
            <a:picLocks noChangeAspect="1"/>
          </p:cNvPicPr>
          <p:nvPr/>
        </p:nvPicPr>
        <p:blipFill>
          <a:blip r:embed="rId2">
            <a:alphaModFix amt="35000"/>
          </a:blip>
          <a:stretch>
            <a:fillRect/>
          </a:stretch>
        </p:blipFill>
        <p:spPr>
          <a:xfrm>
            <a:off x="0" y="0"/>
            <a:ext cx="12192000" cy="2034878"/>
          </a:xfrm>
          <a:prstGeom prst="rect">
            <a:avLst/>
          </a:prstGeom>
          <a:ln w="12700">
            <a:miter lim="400000"/>
          </a:ln>
        </p:spPr>
      </p:pic>
      <p:sp>
        <p:nvSpPr>
          <p:cNvPr id="2673" name="Text 0"/>
          <p:cNvSpPr txBox="1"/>
          <p:nvPr/>
        </p:nvSpPr>
        <p:spPr>
          <a:xfrm>
            <a:off x="569714" y="2482552"/>
            <a:ext cx="4788170" cy="5534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4800"/>
              </a:lnSpc>
              <a:defRPr sz="3800" b="1">
                <a:latin typeface="Playfair Display Bold"/>
                <a:ea typeface="Playfair Display Bold"/>
                <a:cs typeface="Playfair Display Bold"/>
                <a:sym typeface="Playfair Display Bold"/>
              </a:defRPr>
            </a:lvl1pPr>
          </a:lstStyle>
          <a:p>
            <a:r>
              <a:rPr sz="3167"/>
              <a:t>Leila's Research Timeline</a:t>
            </a:r>
          </a:p>
        </p:txBody>
      </p:sp>
      <p:sp>
        <p:nvSpPr>
          <p:cNvPr id="2674" name="Shape 1"/>
          <p:cNvSpPr/>
          <p:nvPr/>
        </p:nvSpPr>
        <p:spPr>
          <a:xfrm>
            <a:off x="6086475" y="3235424"/>
            <a:ext cx="19051" cy="3176985"/>
          </a:xfrm>
          <a:prstGeom prst="roundRect">
            <a:avLst>
              <a:gd name="adj" fmla="val 50000"/>
            </a:avLst>
          </a:prstGeom>
          <a:solidFill>
            <a:srgbClr val="B2D3E5"/>
          </a:solidFill>
          <a:ln w="12700">
            <a:miter lim="400000"/>
          </a:ln>
        </p:spPr>
        <p:txBody>
          <a:bodyPr lIns="38099" rIns="38099"/>
          <a:lstStyle/>
          <a:p>
            <a:endParaRPr sz="1500"/>
          </a:p>
        </p:txBody>
      </p:sp>
      <p:sp>
        <p:nvSpPr>
          <p:cNvPr id="2675" name="Shape 2"/>
          <p:cNvSpPr/>
          <p:nvPr/>
        </p:nvSpPr>
        <p:spPr>
          <a:xfrm>
            <a:off x="5443588" y="3408958"/>
            <a:ext cx="488356" cy="19051"/>
          </a:xfrm>
          <a:prstGeom prst="roundRect">
            <a:avLst>
              <a:gd name="adj" fmla="val 50000"/>
            </a:avLst>
          </a:prstGeom>
          <a:solidFill>
            <a:srgbClr val="B2D3E5"/>
          </a:solidFill>
          <a:ln w="12700">
            <a:miter lim="400000"/>
          </a:ln>
        </p:spPr>
        <p:txBody>
          <a:bodyPr lIns="38099" rIns="38099"/>
          <a:lstStyle/>
          <a:p>
            <a:endParaRPr sz="1500"/>
          </a:p>
        </p:txBody>
      </p:sp>
      <p:sp>
        <p:nvSpPr>
          <p:cNvPr id="2676" name="Shape 3"/>
          <p:cNvSpPr/>
          <p:nvPr/>
        </p:nvSpPr>
        <p:spPr>
          <a:xfrm>
            <a:off x="5912892" y="3235424"/>
            <a:ext cx="366217" cy="366218"/>
          </a:xfrm>
          <a:prstGeom prst="roundRect">
            <a:avLst>
              <a:gd name="adj" fmla="val 18670"/>
            </a:avLst>
          </a:prstGeom>
          <a:solidFill>
            <a:srgbClr val="CCEDFF"/>
          </a:solidFill>
          <a:ln w="7620">
            <a:solidFill>
              <a:srgbClr val="B2D3E5"/>
            </a:solidFill>
          </a:ln>
        </p:spPr>
        <p:txBody>
          <a:bodyPr lIns="38099" rIns="38099"/>
          <a:lstStyle/>
          <a:p>
            <a:endParaRPr sz="1500"/>
          </a:p>
        </p:txBody>
      </p:sp>
      <p:pic>
        <p:nvPicPr>
          <p:cNvPr id="2677" name="Image 1" descr="Image 1"/>
          <p:cNvPicPr>
            <a:picLocks noChangeAspect="1"/>
          </p:cNvPicPr>
          <p:nvPr/>
        </p:nvPicPr>
        <p:blipFill>
          <a:blip r:embed="rId3"/>
          <a:stretch>
            <a:fillRect/>
          </a:stretch>
        </p:blipFill>
        <p:spPr>
          <a:xfrm>
            <a:off x="5973861" y="3265884"/>
            <a:ext cx="244178" cy="305198"/>
          </a:xfrm>
          <a:prstGeom prst="rect">
            <a:avLst/>
          </a:prstGeom>
          <a:ln w="12700">
            <a:miter lim="400000"/>
          </a:ln>
        </p:spPr>
      </p:pic>
      <p:sp>
        <p:nvSpPr>
          <p:cNvPr id="2678" name="Text 4"/>
          <p:cNvSpPr txBox="1"/>
          <p:nvPr/>
        </p:nvSpPr>
        <p:spPr>
          <a:xfrm>
            <a:off x="2946535" y="3291384"/>
            <a:ext cx="2335576" cy="2767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gn="r">
              <a:lnSpc>
                <a:spcPts val="2400"/>
              </a:lnSpc>
              <a:defRPr sz="1900" b="1">
                <a:latin typeface="Playfair Display Bold"/>
                <a:ea typeface="Playfair Display Bold"/>
                <a:cs typeface="Playfair Display Bold"/>
                <a:sym typeface="Playfair Display Bold"/>
              </a:defRPr>
            </a:lvl1pPr>
          </a:lstStyle>
          <a:p>
            <a:r>
              <a:rPr sz="1583"/>
              <a:t>Weeks 1-2: Baseline Data</a:t>
            </a:r>
          </a:p>
        </p:txBody>
      </p:sp>
      <p:sp>
        <p:nvSpPr>
          <p:cNvPr id="2679" name="Text 5"/>
          <p:cNvSpPr txBox="1"/>
          <p:nvPr/>
        </p:nvSpPr>
        <p:spPr>
          <a:xfrm>
            <a:off x="569714" y="3643312"/>
            <a:ext cx="4712396" cy="5809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r">
              <a:lnSpc>
                <a:spcPts val="2400"/>
              </a:lnSpc>
              <a:defRPr sz="1500">
                <a:latin typeface="Inter"/>
                <a:ea typeface="Inter"/>
                <a:cs typeface="Inter"/>
                <a:sym typeface="Inter"/>
              </a:defRPr>
            </a:lvl1pPr>
          </a:lstStyle>
          <a:p>
            <a:r>
              <a:rPr sz="1250"/>
              <a:t>Distribute digital survey during advisory periods. Collect information on smartphone usage, sleep quality, and academic focus.</a:t>
            </a:r>
          </a:p>
        </p:txBody>
      </p:sp>
      <p:sp>
        <p:nvSpPr>
          <p:cNvPr id="2680" name="Shape 6"/>
          <p:cNvSpPr/>
          <p:nvPr/>
        </p:nvSpPr>
        <p:spPr>
          <a:xfrm>
            <a:off x="6260059" y="4385667"/>
            <a:ext cx="488356" cy="19051"/>
          </a:xfrm>
          <a:prstGeom prst="roundRect">
            <a:avLst>
              <a:gd name="adj" fmla="val 50000"/>
            </a:avLst>
          </a:prstGeom>
          <a:solidFill>
            <a:srgbClr val="B2D3E5"/>
          </a:solidFill>
          <a:ln w="12700">
            <a:miter lim="400000"/>
          </a:ln>
        </p:spPr>
        <p:txBody>
          <a:bodyPr lIns="38099" rIns="38099"/>
          <a:lstStyle/>
          <a:p>
            <a:endParaRPr sz="1500"/>
          </a:p>
        </p:txBody>
      </p:sp>
      <p:sp>
        <p:nvSpPr>
          <p:cNvPr id="2681" name="Shape 7"/>
          <p:cNvSpPr/>
          <p:nvPr/>
        </p:nvSpPr>
        <p:spPr>
          <a:xfrm>
            <a:off x="5912892" y="4212134"/>
            <a:ext cx="366217" cy="366218"/>
          </a:xfrm>
          <a:prstGeom prst="roundRect">
            <a:avLst>
              <a:gd name="adj" fmla="val 18670"/>
            </a:avLst>
          </a:prstGeom>
          <a:solidFill>
            <a:srgbClr val="CCEDFF"/>
          </a:solidFill>
          <a:ln w="7620">
            <a:solidFill>
              <a:srgbClr val="B2D3E5"/>
            </a:solidFill>
          </a:ln>
        </p:spPr>
        <p:txBody>
          <a:bodyPr lIns="38099" rIns="38099"/>
          <a:lstStyle/>
          <a:p>
            <a:endParaRPr sz="1500"/>
          </a:p>
        </p:txBody>
      </p:sp>
      <p:pic>
        <p:nvPicPr>
          <p:cNvPr id="2682" name="Image 2" descr="Image 2"/>
          <p:cNvPicPr>
            <a:picLocks noChangeAspect="1"/>
          </p:cNvPicPr>
          <p:nvPr/>
        </p:nvPicPr>
        <p:blipFill>
          <a:blip r:embed="rId4"/>
          <a:stretch>
            <a:fillRect/>
          </a:stretch>
        </p:blipFill>
        <p:spPr>
          <a:xfrm>
            <a:off x="5973861" y="4242594"/>
            <a:ext cx="244178" cy="305198"/>
          </a:xfrm>
          <a:prstGeom prst="rect">
            <a:avLst/>
          </a:prstGeom>
          <a:ln w="12700">
            <a:miter lim="400000"/>
          </a:ln>
        </p:spPr>
      </p:pic>
      <p:sp>
        <p:nvSpPr>
          <p:cNvPr id="2683" name="Text 8"/>
          <p:cNvSpPr txBox="1"/>
          <p:nvPr/>
        </p:nvSpPr>
        <p:spPr>
          <a:xfrm>
            <a:off x="6909891" y="4268094"/>
            <a:ext cx="2055050" cy="2767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400"/>
              </a:lnSpc>
              <a:defRPr sz="1900" b="1">
                <a:latin typeface="Playfair Display Bold"/>
                <a:ea typeface="Playfair Display Bold"/>
                <a:cs typeface="Playfair Display Bold"/>
                <a:sym typeface="Playfair Display Bold"/>
              </a:defRPr>
            </a:lvl1pPr>
          </a:lstStyle>
          <a:p>
            <a:r>
              <a:rPr sz="1583"/>
              <a:t>Weeks 3-4: Follow-up</a:t>
            </a:r>
          </a:p>
        </p:txBody>
      </p:sp>
      <p:sp>
        <p:nvSpPr>
          <p:cNvPr id="2684" name="Text 9"/>
          <p:cNvSpPr txBox="1"/>
          <p:nvPr/>
        </p:nvSpPr>
        <p:spPr>
          <a:xfrm>
            <a:off x="6909891" y="4620021"/>
            <a:ext cx="4712395" cy="5809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400"/>
              </a:lnSpc>
              <a:defRPr sz="1500">
                <a:latin typeface="Inter"/>
                <a:ea typeface="Inter"/>
                <a:cs typeface="Inter"/>
                <a:sym typeface="Inter"/>
              </a:defRPr>
            </a:lvl1pPr>
          </a:lstStyle>
          <a:p>
            <a:r>
              <a:rPr sz="1250"/>
              <a:t>Conduct 10 individual interviews with participants showing varying screen time behaviors.</a:t>
            </a:r>
          </a:p>
        </p:txBody>
      </p:sp>
      <p:sp>
        <p:nvSpPr>
          <p:cNvPr id="2685" name="Shape 10"/>
          <p:cNvSpPr/>
          <p:nvPr/>
        </p:nvSpPr>
        <p:spPr>
          <a:xfrm>
            <a:off x="5443588" y="5227539"/>
            <a:ext cx="488356" cy="19051"/>
          </a:xfrm>
          <a:prstGeom prst="roundRect">
            <a:avLst>
              <a:gd name="adj" fmla="val 50000"/>
            </a:avLst>
          </a:prstGeom>
          <a:solidFill>
            <a:srgbClr val="B2D3E5"/>
          </a:solidFill>
          <a:ln w="12700">
            <a:miter lim="400000"/>
          </a:ln>
        </p:spPr>
        <p:txBody>
          <a:bodyPr lIns="38099" rIns="38099"/>
          <a:lstStyle/>
          <a:p>
            <a:endParaRPr sz="1500"/>
          </a:p>
        </p:txBody>
      </p:sp>
      <p:sp>
        <p:nvSpPr>
          <p:cNvPr id="2686" name="Shape 11"/>
          <p:cNvSpPr/>
          <p:nvPr/>
        </p:nvSpPr>
        <p:spPr>
          <a:xfrm>
            <a:off x="5912892" y="5054005"/>
            <a:ext cx="366217" cy="366218"/>
          </a:xfrm>
          <a:prstGeom prst="roundRect">
            <a:avLst>
              <a:gd name="adj" fmla="val 18670"/>
            </a:avLst>
          </a:prstGeom>
          <a:solidFill>
            <a:srgbClr val="CCEDFF"/>
          </a:solidFill>
          <a:ln w="7620">
            <a:solidFill>
              <a:srgbClr val="B2D3E5"/>
            </a:solidFill>
          </a:ln>
        </p:spPr>
        <p:txBody>
          <a:bodyPr lIns="38099" rIns="38099"/>
          <a:lstStyle/>
          <a:p>
            <a:endParaRPr sz="1500"/>
          </a:p>
        </p:txBody>
      </p:sp>
      <p:pic>
        <p:nvPicPr>
          <p:cNvPr id="2687" name="Image 3" descr="Image 3"/>
          <p:cNvPicPr>
            <a:picLocks noChangeAspect="1"/>
          </p:cNvPicPr>
          <p:nvPr/>
        </p:nvPicPr>
        <p:blipFill>
          <a:blip r:embed="rId5"/>
          <a:stretch>
            <a:fillRect/>
          </a:stretch>
        </p:blipFill>
        <p:spPr>
          <a:xfrm>
            <a:off x="5973861" y="5084464"/>
            <a:ext cx="244178" cy="305198"/>
          </a:xfrm>
          <a:prstGeom prst="rect">
            <a:avLst/>
          </a:prstGeom>
          <a:ln w="12700">
            <a:miter lim="400000"/>
          </a:ln>
        </p:spPr>
      </p:pic>
      <p:sp>
        <p:nvSpPr>
          <p:cNvPr id="2688" name="Text 12"/>
          <p:cNvSpPr txBox="1"/>
          <p:nvPr/>
        </p:nvSpPr>
        <p:spPr>
          <a:xfrm>
            <a:off x="3725593" y="5109964"/>
            <a:ext cx="1556516" cy="2767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gn="r">
              <a:lnSpc>
                <a:spcPts val="2400"/>
              </a:lnSpc>
              <a:defRPr sz="1900" b="1">
                <a:latin typeface="Playfair Display Bold"/>
                <a:ea typeface="Playfair Display Bold"/>
                <a:cs typeface="Playfair Display Bold"/>
                <a:sym typeface="Playfair Display Bold"/>
              </a:defRPr>
            </a:lvl1pPr>
          </a:lstStyle>
          <a:p>
            <a:r>
              <a:rPr sz="1583"/>
              <a:t>Week 5: Analysis</a:t>
            </a:r>
          </a:p>
        </p:txBody>
      </p:sp>
      <p:sp>
        <p:nvSpPr>
          <p:cNvPr id="2689" name="Text 13"/>
          <p:cNvSpPr txBox="1"/>
          <p:nvPr/>
        </p:nvSpPr>
        <p:spPr>
          <a:xfrm>
            <a:off x="569714" y="5461893"/>
            <a:ext cx="4712396" cy="2731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r">
              <a:lnSpc>
                <a:spcPts val="2400"/>
              </a:lnSpc>
              <a:defRPr sz="1500">
                <a:latin typeface="Inter"/>
                <a:ea typeface="Inter"/>
                <a:cs typeface="Inter"/>
                <a:sym typeface="Inter"/>
              </a:defRPr>
            </a:lvl1pPr>
          </a:lstStyle>
          <a:p>
            <a:r>
              <a:rPr sz="1250"/>
              <a:t>Code data, analyze results, and prepare presentation materials.</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1" name="Text 0"/>
          <p:cNvSpPr txBox="1"/>
          <p:nvPr/>
        </p:nvSpPr>
        <p:spPr>
          <a:xfrm>
            <a:off x="394693" y="310057"/>
            <a:ext cx="2008563" cy="3802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3300"/>
              </a:lnSpc>
              <a:defRPr sz="2600" b="1">
                <a:latin typeface="Playfair Display Bold"/>
                <a:ea typeface="Playfair Display Bold"/>
                <a:cs typeface="Playfair Display Bold"/>
                <a:sym typeface="Playfair Display Bold"/>
              </a:defRPr>
            </a:lvl1pPr>
          </a:lstStyle>
          <a:p>
            <a:r>
              <a:rPr sz="2167"/>
              <a:t>Leila's Findings</a:t>
            </a:r>
          </a:p>
        </p:txBody>
      </p:sp>
      <p:pic>
        <p:nvPicPr>
          <p:cNvPr id="2692" name="Image 0" descr="Image 0"/>
          <p:cNvPicPr>
            <a:picLocks noChangeAspect="1"/>
          </p:cNvPicPr>
          <p:nvPr/>
        </p:nvPicPr>
        <p:blipFill>
          <a:blip r:embed="rId2"/>
          <a:stretch>
            <a:fillRect/>
          </a:stretch>
        </p:blipFill>
        <p:spPr>
          <a:xfrm>
            <a:off x="394693" y="888007"/>
            <a:ext cx="11402616" cy="6385423"/>
          </a:xfrm>
          <a:prstGeom prst="rect">
            <a:avLst/>
          </a:prstGeom>
          <a:ln w="12700">
            <a:miter lim="400000"/>
          </a:ln>
        </p:spPr>
      </p:pic>
      <p:sp>
        <p:nvSpPr>
          <p:cNvPr id="2693" name="Shape 1"/>
          <p:cNvSpPr/>
          <p:nvPr/>
        </p:nvSpPr>
        <p:spPr>
          <a:xfrm>
            <a:off x="394693" y="7400231"/>
            <a:ext cx="253703" cy="25370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694" name="Image 1" descr="Image 1"/>
          <p:cNvPicPr>
            <a:picLocks noChangeAspect="1"/>
          </p:cNvPicPr>
          <p:nvPr/>
        </p:nvPicPr>
        <p:blipFill>
          <a:blip r:embed="rId3"/>
          <a:stretch>
            <a:fillRect/>
          </a:stretch>
        </p:blipFill>
        <p:spPr>
          <a:xfrm>
            <a:off x="436958" y="7421314"/>
            <a:ext cx="169070" cy="211436"/>
          </a:xfrm>
          <a:prstGeom prst="rect">
            <a:avLst/>
          </a:prstGeom>
          <a:ln w="12700">
            <a:miter lim="400000"/>
          </a:ln>
        </p:spPr>
      </p:pic>
      <p:sp>
        <p:nvSpPr>
          <p:cNvPr id="2695" name="Text 2"/>
          <p:cNvSpPr txBox="1"/>
          <p:nvPr/>
        </p:nvSpPr>
        <p:spPr>
          <a:xfrm>
            <a:off x="761106" y="7438925"/>
            <a:ext cx="856004" cy="1853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1600"/>
              </a:lnSpc>
              <a:defRPr sz="1300" b="1">
                <a:latin typeface="Playfair Display Bold"/>
                <a:ea typeface="Playfair Display Bold"/>
                <a:cs typeface="Playfair Display Bold"/>
                <a:sym typeface="Playfair Display Bold"/>
              </a:defRPr>
            </a:lvl1pPr>
          </a:lstStyle>
          <a:p>
            <a:r>
              <a:rPr sz="1083"/>
              <a:t>Sleep Quality</a:t>
            </a:r>
          </a:p>
        </p:txBody>
      </p:sp>
      <p:sp>
        <p:nvSpPr>
          <p:cNvPr id="2696" name="Text 3"/>
          <p:cNvSpPr txBox="1"/>
          <p:nvPr/>
        </p:nvSpPr>
        <p:spPr>
          <a:xfrm>
            <a:off x="761106" y="7682707"/>
            <a:ext cx="3340498" cy="409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700"/>
              </a:lnSpc>
              <a:defRPr sz="1000">
                <a:latin typeface="Inter"/>
                <a:ea typeface="Inter"/>
                <a:cs typeface="Inter"/>
                <a:sym typeface="Inter"/>
              </a:defRPr>
            </a:lvl1pPr>
          </a:lstStyle>
          <a:p>
            <a:r>
              <a:rPr sz="833"/>
              <a:t>High screen time users reported significantly lower sleep quality than low users.</a:t>
            </a:r>
          </a:p>
        </p:txBody>
      </p:sp>
      <p:sp>
        <p:nvSpPr>
          <p:cNvPr id="2697" name="Shape 4"/>
          <p:cNvSpPr/>
          <p:nvPr/>
        </p:nvSpPr>
        <p:spPr>
          <a:xfrm>
            <a:off x="4242494" y="7400231"/>
            <a:ext cx="253703" cy="25370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698" name="Image 2" descr="Image 2"/>
          <p:cNvPicPr>
            <a:picLocks noChangeAspect="1"/>
          </p:cNvPicPr>
          <p:nvPr/>
        </p:nvPicPr>
        <p:blipFill>
          <a:blip r:embed="rId4"/>
          <a:stretch>
            <a:fillRect/>
          </a:stretch>
        </p:blipFill>
        <p:spPr>
          <a:xfrm>
            <a:off x="4284762" y="7421314"/>
            <a:ext cx="169070" cy="211436"/>
          </a:xfrm>
          <a:prstGeom prst="rect">
            <a:avLst/>
          </a:prstGeom>
          <a:ln w="12700">
            <a:miter lim="400000"/>
          </a:ln>
        </p:spPr>
      </p:pic>
      <p:sp>
        <p:nvSpPr>
          <p:cNvPr id="2699" name="Text 5"/>
          <p:cNvSpPr txBox="1"/>
          <p:nvPr/>
        </p:nvSpPr>
        <p:spPr>
          <a:xfrm>
            <a:off x="4608909" y="7438925"/>
            <a:ext cx="1107676" cy="1853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1600"/>
              </a:lnSpc>
              <a:defRPr sz="1300" b="1">
                <a:latin typeface="Playfair Display Bold"/>
                <a:ea typeface="Playfair Display Bold"/>
                <a:cs typeface="Playfair Display Bold"/>
                <a:sym typeface="Playfair Display Bold"/>
              </a:defRPr>
            </a:lvl1pPr>
          </a:lstStyle>
          <a:p>
            <a:r>
              <a:rPr sz="1083"/>
              <a:t>Academic Impact</a:t>
            </a:r>
          </a:p>
        </p:txBody>
      </p:sp>
      <p:sp>
        <p:nvSpPr>
          <p:cNvPr id="2700" name="Text 6"/>
          <p:cNvSpPr txBox="1"/>
          <p:nvPr/>
        </p:nvSpPr>
        <p:spPr>
          <a:xfrm>
            <a:off x="4608909" y="7682707"/>
            <a:ext cx="3340498" cy="409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700"/>
              </a:lnSpc>
              <a:defRPr sz="1000">
                <a:latin typeface="Inter"/>
                <a:ea typeface="Inter"/>
                <a:cs typeface="Inter"/>
                <a:sym typeface="Inter"/>
              </a:defRPr>
            </a:lvl1pPr>
          </a:lstStyle>
          <a:p>
            <a:r>
              <a:rPr sz="833"/>
              <a:t>High screen users reported more difficulty concentrating in morning classes and more tardiness.</a:t>
            </a:r>
          </a:p>
        </p:txBody>
      </p:sp>
      <p:sp>
        <p:nvSpPr>
          <p:cNvPr id="2701" name="Shape 7"/>
          <p:cNvSpPr/>
          <p:nvPr/>
        </p:nvSpPr>
        <p:spPr>
          <a:xfrm>
            <a:off x="8090297" y="7400231"/>
            <a:ext cx="253703" cy="253703"/>
          </a:xfrm>
          <a:prstGeom prst="roundRect">
            <a:avLst>
              <a:gd name="adj" fmla="val 18669"/>
            </a:avLst>
          </a:prstGeom>
          <a:solidFill>
            <a:srgbClr val="CCEDFF"/>
          </a:solidFill>
          <a:ln w="7620">
            <a:solidFill>
              <a:srgbClr val="B2D3E5"/>
            </a:solidFill>
          </a:ln>
        </p:spPr>
        <p:txBody>
          <a:bodyPr lIns="38099" rIns="38099"/>
          <a:lstStyle/>
          <a:p>
            <a:endParaRPr sz="1500"/>
          </a:p>
        </p:txBody>
      </p:sp>
      <p:pic>
        <p:nvPicPr>
          <p:cNvPr id="2702" name="Image 3" descr="Image 3"/>
          <p:cNvPicPr>
            <a:picLocks noChangeAspect="1"/>
          </p:cNvPicPr>
          <p:nvPr/>
        </p:nvPicPr>
        <p:blipFill>
          <a:blip r:embed="rId5"/>
          <a:stretch>
            <a:fillRect/>
          </a:stretch>
        </p:blipFill>
        <p:spPr>
          <a:xfrm>
            <a:off x="8132564" y="7421314"/>
            <a:ext cx="169070" cy="211436"/>
          </a:xfrm>
          <a:prstGeom prst="rect">
            <a:avLst/>
          </a:prstGeom>
          <a:ln w="12700">
            <a:miter lim="400000"/>
          </a:ln>
        </p:spPr>
      </p:pic>
      <p:sp>
        <p:nvSpPr>
          <p:cNvPr id="2703" name="Text 8"/>
          <p:cNvSpPr txBox="1"/>
          <p:nvPr/>
        </p:nvSpPr>
        <p:spPr>
          <a:xfrm>
            <a:off x="8456712" y="7438925"/>
            <a:ext cx="1258358" cy="1853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1600"/>
              </a:lnSpc>
              <a:defRPr sz="1300" b="1">
                <a:latin typeface="Playfair Display Bold"/>
                <a:ea typeface="Playfair Display Bold"/>
                <a:cs typeface="Playfair Display Bold"/>
                <a:sym typeface="Playfair Display Bold"/>
              </a:defRPr>
            </a:lvl1pPr>
          </a:lstStyle>
          <a:p>
            <a:r>
              <a:rPr sz="1083"/>
              <a:t>Usage Type Matters</a:t>
            </a:r>
          </a:p>
        </p:txBody>
      </p:sp>
      <p:sp>
        <p:nvSpPr>
          <p:cNvPr id="2704" name="Text 9"/>
          <p:cNvSpPr txBox="1"/>
          <p:nvPr/>
        </p:nvSpPr>
        <p:spPr>
          <a:xfrm>
            <a:off x="8456712" y="7682707"/>
            <a:ext cx="3340498" cy="409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700"/>
              </a:lnSpc>
              <a:defRPr sz="1000">
                <a:latin typeface="Inter"/>
                <a:ea typeface="Inter"/>
                <a:cs typeface="Inter"/>
                <a:sym typeface="Inter"/>
              </a:defRPr>
            </a:lvl1pPr>
          </a:lstStyle>
          <a:p>
            <a:r>
              <a:rPr sz="833"/>
              <a:t>Reading or music users reported better sleep than social media or video streaming users.</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06" name="Image 0" descr="Image 0"/>
          <p:cNvPicPr>
            <a:picLocks noChangeAspect="1"/>
          </p:cNvPicPr>
          <p:nvPr/>
        </p:nvPicPr>
        <p:blipFill>
          <a:blip r:embed="rId2"/>
          <a:stretch>
            <a:fillRect/>
          </a:stretch>
        </p:blipFill>
        <p:spPr>
          <a:xfrm>
            <a:off x="0" y="859581"/>
            <a:ext cx="12192000" cy="2362698"/>
          </a:xfrm>
          <a:prstGeom prst="rect">
            <a:avLst/>
          </a:prstGeom>
          <a:ln w="12700">
            <a:miter lim="400000"/>
          </a:ln>
        </p:spPr>
      </p:pic>
      <p:sp>
        <p:nvSpPr>
          <p:cNvPr id="2707" name="Text 0"/>
          <p:cNvSpPr txBox="1"/>
          <p:nvPr/>
        </p:nvSpPr>
        <p:spPr>
          <a:xfrm>
            <a:off x="661491" y="3319958"/>
            <a:ext cx="5121595"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Leila's Research Impact</a:t>
            </a:r>
          </a:p>
        </p:txBody>
      </p:sp>
      <p:sp>
        <p:nvSpPr>
          <p:cNvPr id="2708" name="Shape 1"/>
          <p:cNvSpPr/>
          <p:nvPr/>
        </p:nvSpPr>
        <p:spPr>
          <a:xfrm>
            <a:off x="661492" y="4194075"/>
            <a:ext cx="3496965" cy="1706663"/>
          </a:xfrm>
          <a:prstGeom prst="roundRect">
            <a:avLst>
              <a:gd name="adj" fmla="val 4652"/>
            </a:avLst>
          </a:prstGeom>
          <a:solidFill>
            <a:srgbClr val="CCEDFF"/>
          </a:solidFill>
          <a:ln w="7620">
            <a:solidFill>
              <a:srgbClr val="B2D3E5"/>
            </a:solidFill>
          </a:ln>
        </p:spPr>
        <p:txBody>
          <a:bodyPr lIns="38099" rIns="38099"/>
          <a:lstStyle/>
          <a:p>
            <a:endParaRPr sz="1500"/>
          </a:p>
        </p:txBody>
      </p:sp>
      <p:sp>
        <p:nvSpPr>
          <p:cNvPr id="2709" name="Text 2"/>
          <p:cNvSpPr txBox="1"/>
          <p:nvPr/>
        </p:nvSpPr>
        <p:spPr>
          <a:xfrm>
            <a:off x="856853" y="4389438"/>
            <a:ext cx="2181687"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School Presentation</a:t>
            </a:r>
          </a:p>
        </p:txBody>
      </p:sp>
      <p:sp>
        <p:nvSpPr>
          <p:cNvPr id="2710" name="Text 3"/>
          <p:cNvSpPr txBox="1"/>
          <p:nvPr/>
        </p:nvSpPr>
        <p:spPr>
          <a:xfrm>
            <a:off x="856853" y="4798120"/>
            <a:ext cx="3106243" cy="10354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Shared findings at a health and wellness night, educating the community about digital habits.</a:t>
            </a:r>
          </a:p>
        </p:txBody>
      </p:sp>
      <p:sp>
        <p:nvSpPr>
          <p:cNvPr id="2711" name="Shape 4"/>
          <p:cNvSpPr/>
          <p:nvPr/>
        </p:nvSpPr>
        <p:spPr>
          <a:xfrm>
            <a:off x="4347468" y="4194075"/>
            <a:ext cx="3496965" cy="1706663"/>
          </a:xfrm>
          <a:prstGeom prst="roundRect">
            <a:avLst>
              <a:gd name="adj" fmla="val 4652"/>
            </a:avLst>
          </a:prstGeom>
          <a:solidFill>
            <a:srgbClr val="CCEDFF"/>
          </a:solidFill>
          <a:ln w="7620">
            <a:solidFill>
              <a:srgbClr val="B2D3E5"/>
            </a:solidFill>
          </a:ln>
        </p:spPr>
        <p:txBody>
          <a:bodyPr lIns="38099" rIns="38099"/>
          <a:lstStyle/>
          <a:p>
            <a:endParaRPr sz="1500"/>
          </a:p>
        </p:txBody>
      </p:sp>
      <p:sp>
        <p:nvSpPr>
          <p:cNvPr id="2712" name="Text 5"/>
          <p:cNvSpPr txBox="1"/>
          <p:nvPr/>
        </p:nvSpPr>
        <p:spPr>
          <a:xfrm>
            <a:off x="4542829" y="4389438"/>
            <a:ext cx="2016578"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Student Campaign</a:t>
            </a:r>
          </a:p>
        </p:txBody>
      </p:sp>
      <p:sp>
        <p:nvSpPr>
          <p:cNvPr id="2713" name="Text 6"/>
          <p:cNvSpPr txBox="1"/>
          <p:nvPr/>
        </p:nvSpPr>
        <p:spPr>
          <a:xfrm>
            <a:off x="4542829" y="4798120"/>
            <a:ext cx="3106243" cy="10354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Inspired a student-led initiative promoting "screen-free wind-down hours" before bedtime.</a:t>
            </a:r>
          </a:p>
        </p:txBody>
      </p:sp>
      <p:sp>
        <p:nvSpPr>
          <p:cNvPr id="2714" name="Shape 7"/>
          <p:cNvSpPr/>
          <p:nvPr/>
        </p:nvSpPr>
        <p:spPr>
          <a:xfrm>
            <a:off x="8033445" y="4194075"/>
            <a:ext cx="3496966" cy="1706663"/>
          </a:xfrm>
          <a:prstGeom prst="roundRect">
            <a:avLst>
              <a:gd name="adj" fmla="val 4652"/>
            </a:avLst>
          </a:prstGeom>
          <a:solidFill>
            <a:srgbClr val="CCEDFF"/>
          </a:solidFill>
          <a:ln w="7620">
            <a:solidFill>
              <a:srgbClr val="B2D3E5"/>
            </a:solidFill>
          </a:ln>
        </p:spPr>
        <p:txBody>
          <a:bodyPr lIns="38099" rIns="38099"/>
          <a:lstStyle/>
          <a:p>
            <a:endParaRPr sz="1500"/>
          </a:p>
        </p:txBody>
      </p:sp>
      <p:sp>
        <p:nvSpPr>
          <p:cNvPr id="2715" name="Text 8"/>
          <p:cNvSpPr txBox="1"/>
          <p:nvPr/>
        </p:nvSpPr>
        <p:spPr>
          <a:xfrm>
            <a:off x="8228806" y="4389438"/>
            <a:ext cx="2399696" cy="3127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2700"/>
              </a:lnSpc>
              <a:defRPr sz="2200" b="1">
                <a:latin typeface="Playfair Display Bold"/>
                <a:ea typeface="Playfair Display Bold"/>
                <a:cs typeface="Playfair Display Bold"/>
                <a:sym typeface="Playfair Display Bold"/>
              </a:defRPr>
            </a:lvl1pPr>
          </a:lstStyle>
          <a:p>
            <a:r>
              <a:rPr sz="1833"/>
              <a:t>Broader Conversation</a:t>
            </a:r>
          </a:p>
        </p:txBody>
      </p:sp>
      <p:sp>
        <p:nvSpPr>
          <p:cNvPr id="2716" name="Text 9"/>
          <p:cNvSpPr txBox="1"/>
          <p:nvPr/>
        </p:nvSpPr>
        <p:spPr>
          <a:xfrm>
            <a:off x="8228806" y="4798120"/>
            <a:ext cx="3106243" cy="10354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2800"/>
              </a:lnSpc>
              <a:defRPr sz="1700">
                <a:latin typeface="Inter"/>
                <a:ea typeface="Inter"/>
                <a:cs typeface="Inter"/>
                <a:sym typeface="Inter"/>
              </a:defRPr>
            </a:lvl1pPr>
          </a:lstStyle>
          <a:p>
            <a:r>
              <a:rPr sz="1417"/>
              <a:t>Helped open discussion about digital wellness and healthy technology use among teens.</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8" name="Text 0"/>
          <p:cNvSpPr txBox="1"/>
          <p:nvPr/>
        </p:nvSpPr>
        <p:spPr>
          <a:xfrm>
            <a:off x="1182389" y="1600339"/>
            <a:ext cx="5169685" cy="635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ts val="5500"/>
              </a:lnSpc>
              <a:defRPr sz="4400" b="1">
                <a:latin typeface="Playfair Display Bold"/>
                <a:ea typeface="Playfair Display Bold"/>
                <a:cs typeface="Playfair Display Bold"/>
                <a:sym typeface="Playfair Display Bold"/>
              </a:defRPr>
            </a:lvl1pPr>
          </a:lstStyle>
          <a:p>
            <a:r>
              <a:rPr sz="3667"/>
              <a:t>Next: Let’s Experiment! </a:t>
            </a:r>
          </a:p>
        </p:txBody>
      </p:sp>
      <p:pic>
        <p:nvPicPr>
          <p:cNvPr id="2719" name="pasted-movie.png" descr="pasted-movie.png"/>
          <p:cNvPicPr>
            <a:picLocks noChangeAspect="1"/>
          </p:cNvPicPr>
          <p:nvPr/>
        </p:nvPicPr>
        <p:blipFill>
          <a:blip r:embed="rId2"/>
          <a:stretch>
            <a:fillRect/>
          </a:stretch>
        </p:blipFill>
        <p:spPr>
          <a:xfrm>
            <a:off x="1165793" y="2439459"/>
            <a:ext cx="5175864" cy="3871546"/>
          </a:xfrm>
          <a:prstGeom prst="rect">
            <a:avLst/>
          </a:prstGeom>
          <a:ln w="12700">
            <a:miter lim="400000"/>
          </a:ln>
        </p:spPr>
      </p:pic>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1" name="Text 0"/>
          <p:cNvSpPr txBox="1"/>
          <p:nvPr/>
        </p:nvSpPr>
        <p:spPr>
          <a:xfrm>
            <a:off x="661491" y="1135658"/>
            <a:ext cx="6084999" cy="17284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4583"/>
              </a:lnSpc>
              <a:defRPr sz="4400" b="1">
                <a:latin typeface="Playfair Display Bold"/>
                <a:ea typeface="Playfair Display Bold"/>
                <a:cs typeface="Playfair Display Bold"/>
                <a:sym typeface="Playfair Display Bold"/>
              </a:defRPr>
            </a:pPr>
            <a:r>
              <a:rPr sz="3667"/>
              <a:t>Hands-On Mini Experiment</a:t>
            </a:r>
          </a:p>
          <a:p>
            <a:pPr>
              <a:lnSpc>
                <a:spcPts val="4583"/>
              </a:lnSpc>
              <a:defRPr sz="4400">
                <a:latin typeface="Playfair Display Bold"/>
                <a:ea typeface="Playfair Display Bold"/>
                <a:cs typeface="Playfair Display Bold"/>
                <a:sym typeface="Playfair Display Bold"/>
              </a:defRPr>
            </a:pPr>
            <a:r>
              <a:rPr sz="3667"/>
              <a:t>Chewing Gum &amp; Memory</a:t>
            </a:r>
          </a:p>
          <a:p>
            <a:pPr>
              <a:lnSpc>
                <a:spcPts val="4583"/>
              </a:lnSpc>
              <a:defRPr sz="4400" b="1">
                <a:latin typeface="Playfair Display Bold"/>
                <a:ea typeface="Playfair Display Bold"/>
                <a:cs typeface="Playfair Display Bold"/>
                <a:sym typeface="Playfair Display Bold"/>
              </a:defRPr>
            </a:pPr>
            <a:r>
              <a:rPr sz="3667"/>
              <a:t> </a:t>
            </a:r>
          </a:p>
        </p:txBody>
      </p:sp>
      <p:sp>
        <p:nvSpPr>
          <p:cNvPr id="2722" name="Text 1"/>
          <p:cNvSpPr txBox="1"/>
          <p:nvPr/>
        </p:nvSpPr>
        <p:spPr>
          <a:xfrm>
            <a:off x="682899" y="2486519"/>
            <a:ext cx="10624880" cy="27956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defTabSz="380985">
              <a:spcBef>
                <a:spcPts val="1000"/>
              </a:spcBef>
              <a:defRPr sz="2100">
                <a:latin typeface="Playfair Display Bold"/>
                <a:ea typeface="Playfair Display Bold"/>
                <a:cs typeface="Playfair Display Bold"/>
                <a:sym typeface="Playfair Display Bold"/>
              </a:defRPr>
            </a:pPr>
            <a:r>
              <a:rPr sz="1750" b="1"/>
              <a:t>Research Question:</a:t>
            </a:r>
            <a:r>
              <a:rPr sz="1750"/>
              <a:t> “Does chewing gum improve short-term memory in middle and high school students?”</a:t>
            </a:r>
          </a:p>
          <a:p>
            <a:pPr defTabSz="380985">
              <a:spcBef>
                <a:spcPts val="1000"/>
              </a:spcBef>
              <a:defRPr sz="2100">
                <a:latin typeface="Playfair Display Bold"/>
                <a:ea typeface="Playfair Display Bold"/>
                <a:cs typeface="Playfair Display Bold"/>
                <a:sym typeface="Playfair Display Bold"/>
              </a:defRPr>
            </a:pPr>
            <a:r>
              <a:rPr sz="1750" b="1"/>
              <a:t>Hypothesis </a:t>
            </a:r>
            <a:r>
              <a:rPr sz="1750"/>
              <a:t>(Testable Statement): “Students who chew gum will remember more words from a list than students who don’t.”</a:t>
            </a:r>
          </a:p>
          <a:p>
            <a:pPr defTabSz="380985">
              <a:spcBef>
                <a:spcPts val="1000"/>
              </a:spcBef>
              <a:defRPr sz="2100">
                <a:latin typeface="Playfair Display Bold"/>
                <a:ea typeface="Playfair Display Bold"/>
                <a:cs typeface="Playfair Display Bold"/>
                <a:sym typeface="Playfair Display Bold"/>
              </a:defRPr>
            </a:pPr>
            <a:endParaRPr sz="1750"/>
          </a:p>
          <a:p>
            <a:pPr defTabSz="380985">
              <a:spcBef>
                <a:spcPts val="1000"/>
              </a:spcBef>
              <a:defRPr sz="2100">
                <a:latin typeface="Playfair Display Bold"/>
                <a:ea typeface="Playfair Display Bold"/>
                <a:cs typeface="Playfair Display Bold"/>
                <a:sym typeface="Playfair Display Bold"/>
              </a:defRPr>
            </a:pPr>
            <a:r>
              <a:rPr sz="1750"/>
              <a:t>So let’s think about what kind of data we can work with? Qualitative vs Quantitative? </a:t>
            </a:r>
          </a:p>
          <a:p>
            <a:pPr defTabSz="380985">
              <a:spcBef>
                <a:spcPts val="1000"/>
              </a:spcBef>
              <a:defRPr sz="2100">
                <a:latin typeface="Playfair Display Bold"/>
                <a:ea typeface="Playfair Display Bold"/>
                <a:cs typeface="Playfair Display Bold"/>
                <a:sym typeface="Playfair Display Bold"/>
              </a:defRPr>
            </a:pPr>
            <a:r>
              <a:rPr sz="1750"/>
              <a:t>And how we can go about collecting our data to test our very testable statement aka our hypothesis? </a:t>
            </a:r>
            <a:endParaRPr sz="1750" b="1"/>
          </a:p>
          <a:p>
            <a:pPr defTabSz="380985">
              <a:spcBef>
                <a:spcPts val="1000"/>
              </a:spcBef>
              <a:defRPr sz="2100">
                <a:latin typeface="Playfair Display Bold"/>
                <a:ea typeface="Playfair Display Bold"/>
                <a:cs typeface="Playfair Display Bold"/>
                <a:sym typeface="Playfair Display Bold"/>
              </a:defRPr>
            </a:pPr>
            <a:endParaRPr sz="1750" b="1"/>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722">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72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72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72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72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72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722">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722">
                                            <p:txEl>
                                              <p:charRg st="409" end="40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2" grpId="0" build="p" bldLvl="5" animBg="1" advAuto="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4" name="Text 0"/>
          <p:cNvSpPr txBox="1"/>
          <p:nvPr/>
        </p:nvSpPr>
        <p:spPr>
          <a:xfrm>
            <a:off x="661491" y="1135658"/>
            <a:ext cx="6084999" cy="17284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nSpc>
                <a:spcPts val="4583"/>
              </a:lnSpc>
              <a:defRPr sz="4400" b="1">
                <a:latin typeface="Playfair Display Bold"/>
                <a:ea typeface="Playfair Display Bold"/>
                <a:cs typeface="Playfair Display Bold"/>
                <a:sym typeface="Playfair Display Bold"/>
              </a:defRPr>
            </a:pPr>
            <a:r>
              <a:rPr sz="3667"/>
              <a:t>Hands-On Mini Experiment</a:t>
            </a:r>
          </a:p>
          <a:p>
            <a:pPr>
              <a:lnSpc>
                <a:spcPts val="4583"/>
              </a:lnSpc>
              <a:defRPr sz="4400">
                <a:latin typeface="Playfair Display Bold"/>
                <a:ea typeface="Playfair Display Bold"/>
                <a:cs typeface="Playfair Display Bold"/>
                <a:sym typeface="Playfair Display Bold"/>
              </a:defRPr>
            </a:pPr>
            <a:r>
              <a:rPr sz="3667"/>
              <a:t>Chewing Gum &amp; Memory</a:t>
            </a:r>
          </a:p>
          <a:p>
            <a:pPr>
              <a:lnSpc>
                <a:spcPts val="4583"/>
              </a:lnSpc>
              <a:defRPr sz="4400" b="1">
                <a:latin typeface="Playfair Display Bold"/>
                <a:ea typeface="Playfair Display Bold"/>
                <a:cs typeface="Playfair Display Bold"/>
                <a:sym typeface="Playfair Display Bold"/>
              </a:defRPr>
            </a:pPr>
            <a:r>
              <a:rPr sz="3667"/>
              <a:t> </a:t>
            </a:r>
          </a:p>
        </p:txBody>
      </p:sp>
      <p:sp>
        <p:nvSpPr>
          <p:cNvPr id="2725" name="Text 1"/>
          <p:cNvSpPr txBox="1"/>
          <p:nvPr/>
        </p:nvSpPr>
        <p:spPr>
          <a:xfrm>
            <a:off x="682899" y="2486519"/>
            <a:ext cx="10624880" cy="38600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defTabSz="380985">
              <a:spcBef>
                <a:spcPts val="1000"/>
              </a:spcBef>
              <a:defRPr sz="2100">
                <a:latin typeface="Playfair Display Bold"/>
                <a:ea typeface="Playfair Display Bold"/>
                <a:cs typeface="Playfair Display Bold"/>
                <a:sym typeface="Playfair Display Bold"/>
              </a:defRPr>
            </a:pPr>
            <a:r>
              <a:rPr sz="1750" b="1"/>
              <a:t>Research Question:</a:t>
            </a:r>
            <a:r>
              <a:rPr sz="1750"/>
              <a:t> “Does chewing gum improve short-term memory in middle and high school students?”</a:t>
            </a:r>
          </a:p>
          <a:p>
            <a:pPr defTabSz="380985">
              <a:spcBef>
                <a:spcPts val="1000"/>
              </a:spcBef>
              <a:defRPr sz="2100">
                <a:latin typeface="Playfair Display Bold"/>
                <a:ea typeface="Playfair Display Bold"/>
                <a:cs typeface="Playfair Display Bold"/>
                <a:sym typeface="Playfair Display Bold"/>
              </a:defRPr>
            </a:pPr>
            <a:r>
              <a:rPr sz="1750" b="1"/>
              <a:t>Hypothesis </a:t>
            </a:r>
            <a:r>
              <a:rPr sz="1750"/>
              <a:t>(Testable Statement): “Students who chew gum will remember more words from a list than students who don’t.”</a:t>
            </a:r>
            <a:endParaRPr sz="1750" b="1"/>
          </a:p>
          <a:p>
            <a:pPr defTabSz="380985">
              <a:spcBef>
                <a:spcPts val="1000"/>
              </a:spcBef>
              <a:defRPr sz="2100">
                <a:latin typeface="Playfair Display Bold"/>
                <a:ea typeface="Playfair Display Bold"/>
                <a:cs typeface="Playfair Display Bold"/>
                <a:sym typeface="Playfair Display Bold"/>
              </a:defRPr>
            </a:pPr>
            <a:endParaRPr sz="1750" b="1"/>
          </a:p>
          <a:p>
            <a:pPr defTabSz="380985">
              <a:spcBef>
                <a:spcPts val="1000"/>
              </a:spcBef>
              <a:defRPr sz="2100">
                <a:latin typeface="Playfair Display Bold"/>
                <a:ea typeface="Playfair Display Bold"/>
                <a:cs typeface="Playfair Display Bold"/>
                <a:sym typeface="Playfair Display Bold"/>
              </a:defRPr>
            </a:pPr>
            <a:r>
              <a:rPr sz="1750" b="1"/>
              <a:t>Experiment Steps:</a:t>
            </a:r>
          </a:p>
          <a:p>
            <a:pPr defTabSz="380985">
              <a:spcBef>
                <a:spcPts val="1000"/>
              </a:spcBef>
              <a:defRPr sz="2100">
                <a:latin typeface="Playfair Display Bold"/>
                <a:ea typeface="Playfair Display Bold"/>
                <a:cs typeface="Playfair Display Bold"/>
                <a:sym typeface="Playfair Display Bold"/>
              </a:defRPr>
            </a:pPr>
            <a:r>
              <a:rPr sz="1750"/>
              <a:t>Here is a list of 10 simple words.</a:t>
            </a:r>
          </a:p>
          <a:p>
            <a:pPr defTabSz="380985">
              <a:spcBef>
                <a:spcPts val="1000"/>
              </a:spcBef>
              <a:defRPr sz="2100">
                <a:latin typeface="Playfair Display Bold"/>
                <a:ea typeface="Playfair Display Bold"/>
                <a:cs typeface="Playfair Display Bold"/>
                <a:sym typeface="Playfair Display Bold"/>
              </a:defRPr>
            </a:pPr>
            <a:r>
              <a:rPr sz="1750"/>
              <a:t>We are to randomly divide you all into two groups (chewing gum vs. no gum).</a:t>
            </a:r>
          </a:p>
          <a:p>
            <a:pPr defTabSz="380985">
              <a:spcBef>
                <a:spcPts val="1000"/>
              </a:spcBef>
              <a:defRPr sz="2100">
                <a:latin typeface="Playfair Display Bold"/>
                <a:ea typeface="Playfair Display Bold"/>
                <a:cs typeface="Playfair Display Bold"/>
                <a:sym typeface="Playfair Display Bold"/>
              </a:defRPr>
            </a:pPr>
            <a:r>
              <a:rPr sz="1750"/>
              <a:t>You will see the list for 30 seconds. Then we will wait for 1 minute. Then you will write as many words as you can remember.</a:t>
            </a:r>
          </a:p>
          <a:p>
            <a:pPr defTabSz="380985">
              <a:spcBef>
                <a:spcPts val="1000"/>
              </a:spcBef>
              <a:defRPr sz="2100">
                <a:latin typeface="Playfair Display Bold"/>
                <a:ea typeface="Playfair Display Bold"/>
                <a:cs typeface="Playfair Display Bold"/>
                <a:sym typeface="Playfair Display Bold"/>
              </a:defRPr>
            </a:pPr>
            <a:r>
              <a:rPr sz="1750"/>
              <a:t>That would allow us to compare average number of words recalled per group.</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7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5" grpId="0" animBg="1" advAuto="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7" name="Text 0"/>
          <p:cNvSpPr txBox="1"/>
          <p:nvPr/>
        </p:nvSpPr>
        <p:spPr>
          <a:xfrm>
            <a:off x="661491" y="1135658"/>
            <a:ext cx="10869018" cy="23183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a:lnSpc>
                <a:spcPts val="4583"/>
              </a:lnSpc>
              <a:defRPr sz="4400" b="1">
                <a:latin typeface="Playfair Display Bold"/>
                <a:ea typeface="Playfair Display Bold"/>
                <a:cs typeface="Playfair Display Bold"/>
                <a:sym typeface="Playfair Display Bold"/>
              </a:defRPr>
            </a:pPr>
            <a:r>
              <a:rPr sz="3667"/>
              <a:t>Hands-On Mini Experiment</a:t>
            </a:r>
          </a:p>
          <a:p>
            <a:pPr>
              <a:lnSpc>
                <a:spcPts val="4583"/>
              </a:lnSpc>
              <a:defRPr sz="3500">
                <a:latin typeface="Playfair Display Bold"/>
                <a:ea typeface="Playfair Display Bold"/>
                <a:cs typeface="Playfair Display Bold"/>
                <a:sym typeface="Playfair Display Bold"/>
              </a:defRPr>
            </a:pPr>
            <a:r>
              <a:rPr sz="2917"/>
              <a:t>Chewing Gum &amp; Memory - </a:t>
            </a:r>
            <a:r>
              <a:rPr sz="2917" b="1"/>
              <a:t>Research Design Discussion:</a:t>
            </a:r>
          </a:p>
          <a:p>
            <a:pPr>
              <a:lnSpc>
                <a:spcPts val="4583"/>
              </a:lnSpc>
              <a:defRPr sz="4400">
                <a:latin typeface="Playfair Display Bold"/>
                <a:ea typeface="Playfair Display Bold"/>
                <a:cs typeface="Playfair Display Bold"/>
                <a:sym typeface="Playfair Display Bold"/>
              </a:defRPr>
            </a:pPr>
            <a:endParaRPr sz="3667" b="1"/>
          </a:p>
          <a:p>
            <a:pPr>
              <a:lnSpc>
                <a:spcPts val="4583"/>
              </a:lnSpc>
              <a:defRPr sz="4400" b="1">
                <a:latin typeface="Playfair Display Bold"/>
                <a:ea typeface="Playfair Display Bold"/>
                <a:cs typeface="Playfair Display Bold"/>
                <a:sym typeface="Playfair Display Bold"/>
              </a:defRPr>
            </a:pPr>
            <a:r>
              <a:rPr sz="3667"/>
              <a:t> </a:t>
            </a:r>
          </a:p>
        </p:txBody>
      </p:sp>
      <p:sp>
        <p:nvSpPr>
          <p:cNvPr id="2728" name="Text 1"/>
          <p:cNvSpPr txBox="1"/>
          <p:nvPr/>
        </p:nvSpPr>
        <p:spPr>
          <a:xfrm>
            <a:off x="682900" y="2486520"/>
            <a:ext cx="6963669" cy="37959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p>
            <a:pPr defTabSz="380985">
              <a:spcBef>
                <a:spcPts val="1000"/>
              </a:spcBef>
              <a:defRPr sz="2400">
                <a:latin typeface="Playfair Display Bold"/>
                <a:ea typeface="Playfair Display Bold"/>
                <a:cs typeface="Playfair Display Bold"/>
                <a:sym typeface="Playfair Display Bold"/>
              </a:defRPr>
            </a:pPr>
            <a:r>
              <a:rPr sz="2000" b="1"/>
              <a:t>Independent variable: </a:t>
            </a:r>
          </a:p>
          <a:p>
            <a:pPr defTabSz="380985">
              <a:spcBef>
                <a:spcPts val="1000"/>
              </a:spcBef>
              <a:defRPr sz="2400">
                <a:latin typeface="Playfair Display Bold"/>
                <a:ea typeface="Playfair Display Bold"/>
                <a:cs typeface="Playfair Display Bold"/>
                <a:sym typeface="Playfair Display Bold"/>
              </a:defRPr>
            </a:pPr>
            <a:r>
              <a:rPr sz="2000"/>
              <a:t>Gum or no gum</a:t>
            </a:r>
          </a:p>
          <a:p>
            <a:pPr defTabSz="380985">
              <a:spcBef>
                <a:spcPts val="1000"/>
              </a:spcBef>
              <a:defRPr sz="2400">
                <a:latin typeface="Playfair Display Bold"/>
                <a:ea typeface="Playfair Display Bold"/>
                <a:cs typeface="Playfair Display Bold"/>
                <a:sym typeface="Playfair Display Bold"/>
              </a:defRPr>
            </a:pPr>
            <a:r>
              <a:rPr sz="2000" b="1"/>
              <a:t>Dependent variable: </a:t>
            </a:r>
          </a:p>
          <a:p>
            <a:pPr defTabSz="380985">
              <a:spcBef>
                <a:spcPts val="1000"/>
              </a:spcBef>
              <a:defRPr sz="2400">
                <a:latin typeface="Playfair Display Bold"/>
                <a:ea typeface="Playfair Display Bold"/>
                <a:cs typeface="Playfair Display Bold"/>
                <a:sym typeface="Playfair Display Bold"/>
              </a:defRPr>
            </a:pPr>
            <a:r>
              <a:rPr sz="2000"/>
              <a:t>Number of words remembered</a:t>
            </a:r>
          </a:p>
          <a:p>
            <a:pPr defTabSz="380985">
              <a:spcBef>
                <a:spcPts val="1000"/>
              </a:spcBef>
              <a:defRPr sz="2400">
                <a:latin typeface="Playfair Display Bold"/>
                <a:ea typeface="Playfair Display Bold"/>
                <a:cs typeface="Playfair Display Bold"/>
                <a:sym typeface="Playfair Display Bold"/>
              </a:defRPr>
            </a:pPr>
            <a:r>
              <a:rPr sz="2000" b="1"/>
              <a:t>Control variables: </a:t>
            </a:r>
          </a:p>
          <a:p>
            <a:pPr defTabSz="380985">
              <a:spcBef>
                <a:spcPts val="1000"/>
              </a:spcBef>
              <a:defRPr sz="2400">
                <a:latin typeface="Playfair Display Bold"/>
                <a:ea typeface="Playfair Display Bold"/>
                <a:cs typeface="Playfair Display Bold"/>
                <a:sym typeface="Playfair Display Bold"/>
              </a:defRPr>
            </a:pPr>
            <a:r>
              <a:rPr sz="2000"/>
              <a:t>Word list, exposure time, wait time before recall, setting</a:t>
            </a:r>
          </a:p>
          <a:p>
            <a:pPr defTabSz="380985">
              <a:spcBef>
                <a:spcPts val="1000"/>
              </a:spcBef>
              <a:defRPr sz="2400" b="1">
                <a:latin typeface="Playfair Display Bold"/>
                <a:ea typeface="Playfair Display Bold"/>
                <a:cs typeface="Playfair Display Bold"/>
                <a:sym typeface="Playfair Display Bold"/>
              </a:defRPr>
            </a:pPr>
            <a:r>
              <a:rPr sz="2000"/>
              <a:t>Could the results support or refute the hypothesis? </a:t>
            </a:r>
          </a:p>
          <a:p>
            <a:pPr defTabSz="380985">
              <a:spcBef>
                <a:spcPts val="1000"/>
              </a:spcBef>
              <a:defRPr sz="2400" b="1">
                <a:latin typeface="Playfair Display Bold"/>
                <a:ea typeface="Playfair Display Bold"/>
                <a:cs typeface="Playfair Display Bold"/>
                <a:sym typeface="Playfair Display Bold"/>
              </a:defRPr>
            </a:pPr>
            <a:r>
              <a:rPr sz="2000"/>
              <a:t>What might influence that outcome?</a:t>
            </a:r>
          </a:p>
          <a:p>
            <a:pPr defTabSz="380985">
              <a:spcBef>
                <a:spcPts val="1000"/>
              </a:spcBef>
              <a:defRPr sz="2400">
                <a:latin typeface="Playfair Display Bold"/>
                <a:ea typeface="Playfair Display Bold"/>
                <a:cs typeface="Playfair Display Bold"/>
                <a:sym typeface="Playfair Display Bold"/>
              </a:defRPr>
            </a:pPr>
            <a:r>
              <a:rPr sz="2000"/>
              <a:t> e.g., nerves, distractions, small sample size</a:t>
            </a:r>
          </a:p>
        </p:txBody>
      </p:sp>
      <p:pic>
        <p:nvPicPr>
          <p:cNvPr id="2729" name="Image 0" descr="Image 0"/>
          <p:cNvPicPr>
            <a:picLocks noChangeAspect="1"/>
          </p:cNvPicPr>
          <p:nvPr/>
        </p:nvPicPr>
        <p:blipFill>
          <a:blip r:embed="rId2"/>
          <a:stretch>
            <a:fillRect/>
          </a:stretch>
        </p:blipFill>
        <p:spPr>
          <a:xfrm>
            <a:off x="8226723" y="2963235"/>
            <a:ext cx="3315098" cy="2209999"/>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72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72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72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72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72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728">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728">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728">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2728">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27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8" grpId="0" build="p" bldLvl="5" animBg="1" advAuto="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2355</Words>
  <Application>Microsoft Macintosh PowerPoint</Application>
  <PresentationFormat>Widescreen</PresentationFormat>
  <Paragraphs>378</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Hussain Hadah</dc:creator>
  <cp:lastModifiedBy>Hussain Hadah</cp:lastModifiedBy>
  <cp:revision>1</cp:revision>
  <dcterms:created xsi:type="dcterms:W3CDTF">2026-06-10T23:02:19Z</dcterms:created>
  <dcterms:modified xsi:type="dcterms:W3CDTF">2026-06-10T23:02:27Z</dcterms:modified>
</cp:coreProperties>
</file>