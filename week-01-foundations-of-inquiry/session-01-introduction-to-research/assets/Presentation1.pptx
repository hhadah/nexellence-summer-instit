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1429"/>
  </p:normalViewPr>
  <p:slideViewPr>
    <p:cSldViewPr snapToGrid="0">
      <p:cViewPr varScale="1">
        <p:scale>
          <a:sx n="45" d="100"/>
          <a:sy n="45" d="100"/>
        </p:scale>
        <p:origin x="3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CDB94-F063-5475-58AD-3F50985CF4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48CAF5-1E6D-7FE0-2D27-4E60F4C29C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FA96F4-41F6-FECA-C2DA-364BB29D9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759B6-611E-6944-89A6-CF8DE46F49D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E9CB01-48A7-CF92-F682-CCC97BD5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8E44DF-DFA8-E242-D41B-52970B70B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853D2-03C3-5E4C-94D7-75EF82CD3E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912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DF62E-086C-A576-9C5D-93517135D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79F52-E221-5FCC-E524-87BBFBA37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A3FEE2-2E28-C658-CF00-03857D2E8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759B6-611E-6944-89A6-CF8DE46F49D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A6F1A-2B09-EFDA-48A2-BDBC3E640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5C830-3FE7-45FB-0EB3-BAB9DCCCB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853D2-03C3-5E4C-94D7-75EF82CD3E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821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C2044-7DEE-5644-E7FE-9EDFB42E4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B6AC1-0ACB-9738-F2AE-7224A691E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3868F-7289-19C8-AF02-76B676156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759B6-611E-6944-89A6-CF8DE46F49D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B355C-D385-9EC5-63BD-F994550F8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3FF46-35F1-12EC-44E7-DFB82B913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853D2-03C3-5E4C-94D7-75EF82CD3E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742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BB5FD-9146-418A-E6D8-7B145A6F2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CDD04-B05F-EE18-9E1B-AB1A3A7339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DA0DB4-988B-8D61-C625-7FD1B902FD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FCB77-2F3E-C93A-CCF9-F3643FCCA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759B6-611E-6944-89A6-CF8DE46F49D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DCF34-8ADE-FCFA-6F30-AC1F1B75D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1ACA6E-A808-9150-A5A9-58DA9CC9C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853D2-03C3-5E4C-94D7-75EF82CD3E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946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99034-8BAB-1C49-4898-359495852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5F8B5A-1F54-80FC-90A9-5A267AE8EF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3CA68C-06C8-1010-B064-78CCBDC6B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6885E7-5A90-C1C8-9BBA-D96B41CB95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B735B8-B36E-982D-8B22-E02055C28D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69EB1F-7FC3-414F-0290-EE78602F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759B6-611E-6944-89A6-CF8DE46F49D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D6D71D-99DF-9721-18D9-3478D7BF3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406408-6004-4630-2C21-99AC4F18F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853D2-03C3-5E4C-94D7-75EF82CD3E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811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AF6BC-EF0F-4942-3A67-92A98FE64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189EC9-2211-D532-2B19-0D7905295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759B6-611E-6944-89A6-CF8DE46F49D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90B30B-A620-2ED8-9F8C-EEBFFF8D9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1E5F9B-D6D0-0199-1CFD-F28CE5B0B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853D2-03C3-5E4C-94D7-75EF82CD3E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211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FB122A-65A5-9684-29E5-DD338AB6C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759B6-611E-6944-89A6-CF8DE46F49D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271E-03A4-4313-8C14-086E2A758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24398-59E8-C5EC-6FA0-1E10FF594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853D2-03C3-5E4C-94D7-75EF82CD3E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003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2307B-A254-4374-6C36-0D65B383D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2BCFA-59E2-173D-5D52-6A5AEFAFD4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AC893E-F980-D682-CD02-4D9FDA2D02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4B9BC-B43E-8879-5D1C-D422587FD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759B6-611E-6944-89A6-CF8DE46F49D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CEF94D-2F8A-52F6-0EDC-19E7222D2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DD865-85FA-0C13-6EEF-04B1EB316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853D2-03C3-5E4C-94D7-75EF82CD3E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87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90E05-6BCE-29A9-2A0E-8FC85C173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44EC70-EE1A-C832-F4B0-6A7107349D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22C023-9AA7-8C49-26C6-4E03D22460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6D7593-6D6F-E69F-8BB2-321BF6F73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759B6-611E-6944-89A6-CF8DE46F49D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62D742-28A5-2ECA-371D-4C1554AFA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7BFBB6-E397-88BE-DB45-62A74D049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853D2-03C3-5E4C-94D7-75EF82CD3E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771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1A394-2EC0-6271-8FB1-E37F7E79B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A0BDF-139A-0F60-E889-3FC567E5E4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160B3-2B17-D497-5CF9-065A22CAB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759B6-611E-6944-89A6-CF8DE46F49D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90D116-9A53-6909-099B-8D99B0924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73E82-F913-AD12-D2E6-62F165AF1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853D2-03C3-5E4C-94D7-75EF82CD3E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11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0EB41D-1B06-ACF4-5711-2FDE13B43F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420E51-6F58-0BC1-24FA-5D47D9B5E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CAF4E-B943-3E8F-0696-2C563B779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759B6-611E-6944-89A6-CF8DE46F49D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3DE23A-EEEE-63AA-5969-1CC36FC87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E95E92-9F99-DB75-99A8-887639FE0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853D2-03C3-5E4C-94D7-75EF82CD3E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6132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7038" y="1277"/>
            <a:ext cx="2564962" cy="586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Picture 9" descr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4788" y="6486580"/>
            <a:ext cx="3389313" cy="166688"/>
          </a:xfrm>
          <a:prstGeom prst="rect">
            <a:avLst/>
          </a:prstGeom>
          <a:ln w="12700">
            <a:miter lim="400000"/>
          </a:ln>
        </p:spPr>
      </p:pic>
      <p:sp>
        <p:nvSpPr>
          <p:cNvPr id="9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892800" y="6173787"/>
            <a:ext cx="2844801" cy="365126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3097816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0DFF27-A16C-3CC6-B0FA-A689C67FD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E35CB-C005-CD13-CEEC-F1E8486EE0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32025-38AA-3CB5-F8D4-6F524185D2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F759B6-611E-6944-89A6-CF8DE46F49D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49CC55-C647-13FE-B98F-B7900B1F4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DD142A-D564-50B5-DCA8-5F9442B5BF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0853D2-03C3-5E4C-94D7-75EF82CD3E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394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RESEARCH METHODS…"/>
          <p:cNvSpPr txBox="1"/>
          <p:nvPr/>
        </p:nvSpPr>
        <p:spPr>
          <a:xfrm>
            <a:off x="853752" y="1470895"/>
            <a:ext cx="10191636" cy="25800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6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5000" dirty="0"/>
              <a:t>RESEARCH METHODS</a:t>
            </a:r>
          </a:p>
          <a:p>
            <a:pPr algn="ctr">
              <a:lnSpc>
                <a:spcPct val="90000"/>
              </a:lnSpc>
              <a:defRPr sz="6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5000" dirty="0"/>
          </a:p>
          <a:p>
            <a:pPr algn="ctr">
              <a:lnSpc>
                <a:spcPct val="90000"/>
              </a:lnSpc>
              <a:defRPr sz="6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5000" dirty="0"/>
              <a:t>DAY 1</a:t>
            </a:r>
          </a:p>
          <a:p>
            <a:pPr algn="ctr" defTabSz="380985">
              <a:defRPr sz="16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1333" dirty="0"/>
          </a:p>
          <a:p>
            <a:pPr algn="ctr" defTabSz="380985">
              <a:defRPr sz="16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1333" dirty="0"/>
          </a:p>
        </p:txBody>
      </p:sp>
      <p:sp>
        <p:nvSpPr>
          <p:cNvPr id="880" name="Rectangle"/>
          <p:cNvSpPr/>
          <p:nvPr/>
        </p:nvSpPr>
        <p:spPr>
          <a:xfrm>
            <a:off x="-62743" y="-81"/>
            <a:ext cx="9701771" cy="58674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WELCOME TO…"/>
          <p:cNvSpPr txBox="1"/>
          <p:nvPr/>
        </p:nvSpPr>
        <p:spPr>
          <a:xfrm>
            <a:off x="853752" y="1470895"/>
            <a:ext cx="10191636" cy="42471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60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5000"/>
              <a:t>WELCOME TO </a:t>
            </a:r>
          </a:p>
          <a:p>
            <a:pPr algn="ctr">
              <a:lnSpc>
                <a:spcPct val="90000"/>
              </a:lnSpc>
              <a:defRPr sz="6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5000"/>
              <a:t>RESEARCH METHODS </a:t>
            </a:r>
          </a:p>
          <a:p>
            <a:pPr algn="ctr">
              <a:lnSpc>
                <a:spcPct val="90000"/>
              </a:lnSpc>
              <a:defRPr sz="60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5000"/>
              <a:t>by ResearchCORE! </a:t>
            </a:r>
          </a:p>
          <a:p>
            <a:pPr algn="ctr">
              <a:lnSpc>
                <a:spcPct val="90000"/>
              </a:lnSpc>
              <a:defRPr sz="60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5000"/>
          </a:p>
          <a:p>
            <a:pPr defTabSz="380985">
              <a:defRPr sz="16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1333"/>
          </a:p>
          <a:p>
            <a:pPr algn="ctr" defTabSz="380985">
              <a:defRPr sz="30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2500"/>
              <a:t>Hands-on, fast-paced experience where you will </a:t>
            </a:r>
            <a:r>
              <a:rPr sz="2500" i="1"/>
              <a:t>be</a:t>
            </a:r>
            <a:r>
              <a:rPr sz="2500"/>
              <a:t> researchers tackling real-world problems.</a:t>
            </a:r>
          </a:p>
          <a:p>
            <a:pPr algn="ctr" defTabSz="380985">
              <a:defRPr sz="16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1333"/>
          </a:p>
          <a:p>
            <a:pPr algn="ctr" defTabSz="380985">
              <a:defRPr sz="16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1333"/>
          </a:p>
        </p:txBody>
      </p:sp>
      <p:sp>
        <p:nvSpPr>
          <p:cNvPr id="883" name="Rectangle"/>
          <p:cNvSpPr/>
          <p:nvPr/>
        </p:nvSpPr>
        <p:spPr>
          <a:xfrm>
            <a:off x="-62743" y="-81"/>
            <a:ext cx="9701771" cy="58674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Text 0"/>
          <p:cNvSpPr txBox="1"/>
          <p:nvPr/>
        </p:nvSpPr>
        <p:spPr>
          <a:xfrm>
            <a:off x="6667282" y="1425311"/>
            <a:ext cx="3191579" cy="14294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algn="r">
              <a:lnSpc>
                <a:spcPts val="3833"/>
              </a:lnSpc>
              <a:defRPr sz="37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083"/>
              <a:t>Journey Ahead: </a:t>
            </a:r>
          </a:p>
          <a:p>
            <a:pPr algn="r">
              <a:lnSpc>
                <a:spcPts val="3833"/>
              </a:lnSpc>
              <a:defRPr sz="37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083"/>
              <a:t>Your Very Own </a:t>
            </a:r>
          </a:p>
          <a:p>
            <a:pPr algn="r">
              <a:lnSpc>
                <a:spcPts val="3833"/>
              </a:lnSpc>
              <a:defRPr sz="37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083"/>
              <a:t>Research Process</a:t>
            </a:r>
          </a:p>
        </p:txBody>
      </p:sp>
      <p:pic>
        <p:nvPicPr>
          <p:cNvPr id="886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39" y="1677194"/>
            <a:ext cx="791170" cy="949426"/>
          </a:xfrm>
          <a:prstGeom prst="rect">
            <a:avLst/>
          </a:prstGeom>
          <a:ln w="12700">
            <a:miter lim="400000"/>
          </a:ln>
        </p:spPr>
      </p:pic>
      <p:sp>
        <p:nvSpPr>
          <p:cNvPr id="887" name="Text 2"/>
          <p:cNvSpPr txBox="1"/>
          <p:nvPr/>
        </p:nvSpPr>
        <p:spPr>
          <a:xfrm>
            <a:off x="1576945" y="2032633"/>
            <a:ext cx="1553310" cy="27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Ask a Question</a:t>
            </a:r>
          </a:p>
        </p:txBody>
      </p:sp>
      <p:pic>
        <p:nvPicPr>
          <p:cNvPr id="888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39" y="2626618"/>
            <a:ext cx="791170" cy="949425"/>
          </a:xfrm>
          <a:prstGeom prst="rect">
            <a:avLst/>
          </a:prstGeom>
          <a:ln w="12700">
            <a:miter lim="400000"/>
          </a:ln>
        </p:spPr>
      </p:pic>
      <p:sp>
        <p:nvSpPr>
          <p:cNvPr id="889" name="Text 4"/>
          <p:cNvSpPr txBox="1"/>
          <p:nvPr/>
        </p:nvSpPr>
        <p:spPr>
          <a:xfrm>
            <a:off x="1555970" y="2883415"/>
            <a:ext cx="2034211" cy="27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Gather Information</a:t>
            </a:r>
          </a:p>
        </p:txBody>
      </p:sp>
      <p:pic>
        <p:nvPicPr>
          <p:cNvPr id="890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839" y="3576042"/>
            <a:ext cx="791170" cy="949425"/>
          </a:xfrm>
          <a:prstGeom prst="rect">
            <a:avLst/>
          </a:prstGeom>
          <a:ln w="12700">
            <a:miter lim="400000"/>
          </a:ln>
        </p:spPr>
      </p:pic>
      <p:sp>
        <p:nvSpPr>
          <p:cNvPr id="891" name="Text 6"/>
          <p:cNvSpPr txBox="1"/>
          <p:nvPr/>
        </p:nvSpPr>
        <p:spPr>
          <a:xfrm>
            <a:off x="1582573" y="3931482"/>
            <a:ext cx="2511906" cy="27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Analyze the Information</a:t>
            </a:r>
          </a:p>
        </p:txBody>
      </p:sp>
      <p:pic>
        <p:nvPicPr>
          <p:cNvPr id="892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839" y="4525466"/>
            <a:ext cx="791170" cy="949426"/>
          </a:xfrm>
          <a:prstGeom prst="rect">
            <a:avLst/>
          </a:prstGeom>
          <a:ln w="12700">
            <a:miter lim="400000"/>
          </a:ln>
        </p:spPr>
      </p:pic>
      <p:sp>
        <p:nvSpPr>
          <p:cNvPr id="893" name="Text 8"/>
          <p:cNvSpPr txBox="1"/>
          <p:nvPr/>
        </p:nvSpPr>
        <p:spPr>
          <a:xfrm>
            <a:off x="1582340" y="4782263"/>
            <a:ext cx="1909177" cy="27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Draw Conclusions</a:t>
            </a:r>
          </a:p>
        </p:txBody>
      </p:sp>
      <p:pic>
        <p:nvPicPr>
          <p:cNvPr id="894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839" y="5474890"/>
            <a:ext cx="791170" cy="949425"/>
          </a:xfrm>
          <a:prstGeom prst="rect">
            <a:avLst/>
          </a:prstGeom>
          <a:ln w="12700">
            <a:miter lim="400000"/>
          </a:ln>
        </p:spPr>
      </p:pic>
      <p:sp>
        <p:nvSpPr>
          <p:cNvPr id="895" name="Text 10"/>
          <p:cNvSpPr txBox="1"/>
          <p:nvPr/>
        </p:nvSpPr>
        <p:spPr>
          <a:xfrm>
            <a:off x="1582340" y="5750790"/>
            <a:ext cx="1567737" cy="27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Share Findings</a:t>
            </a:r>
          </a:p>
        </p:txBody>
      </p:sp>
      <p:sp>
        <p:nvSpPr>
          <p:cNvPr id="896" name="Text 11"/>
          <p:cNvSpPr txBox="1"/>
          <p:nvPr/>
        </p:nvSpPr>
        <p:spPr>
          <a:xfrm>
            <a:off x="3206264" y="5752007"/>
            <a:ext cx="6818918" cy="269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17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417"/>
              <a:t>-      The final deliverables: A formal presentation by Day 10 and a research proposal by Day 9</a:t>
            </a:r>
          </a:p>
        </p:txBody>
      </p:sp>
      <p:sp>
        <p:nvSpPr>
          <p:cNvPr id="897" name="Text 2"/>
          <p:cNvSpPr txBox="1"/>
          <p:nvPr/>
        </p:nvSpPr>
        <p:spPr>
          <a:xfrm>
            <a:off x="1582340" y="1083209"/>
            <a:ext cx="2455800" cy="27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 dirty="0"/>
              <a:t>Pick a Global Challenge</a:t>
            </a:r>
          </a:p>
        </p:txBody>
      </p:sp>
      <p:pic>
        <p:nvPicPr>
          <p:cNvPr id="898" name="Image 1" descr="Imag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222" y="692250"/>
            <a:ext cx="850405" cy="102046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ext 0"/>
          <p:cNvSpPr txBox="1"/>
          <p:nvPr/>
        </p:nvSpPr>
        <p:spPr>
          <a:xfrm>
            <a:off x="661492" y="1422995"/>
            <a:ext cx="3044103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Our approach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B875CD5-E2A7-BF79-A362-3A85FF8CB28F}"/>
              </a:ext>
            </a:extLst>
          </p:cNvPr>
          <p:cNvGrpSpPr/>
          <p:nvPr/>
        </p:nvGrpSpPr>
        <p:grpSpPr>
          <a:xfrm>
            <a:off x="2883477" y="2391668"/>
            <a:ext cx="6625421" cy="3043238"/>
            <a:chOff x="3460172" y="2870001"/>
            <a:chExt cx="7950506" cy="3651886"/>
          </a:xfrm>
        </p:grpSpPr>
        <p:pic>
          <p:nvPicPr>
            <p:cNvPr id="902" name="Image 0" descr="Image 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89257" y="2870001"/>
              <a:ext cx="3651886" cy="3651886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903" name="Shape 3"/>
            <p:cNvSpPr/>
            <p:nvPr/>
          </p:nvSpPr>
          <p:spPr>
            <a:xfrm>
              <a:off x="5788938" y="3169681"/>
              <a:ext cx="566977" cy="566977"/>
            </a:xfrm>
            <a:prstGeom prst="roundRect">
              <a:avLst>
                <a:gd name="adj" fmla="val 50000"/>
              </a:avLst>
            </a:prstGeom>
            <a:solidFill>
              <a:srgbClr val="CCEDFF"/>
            </a:solidFill>
            <a:ln w="7620">
              <a:solidFill>
                <a:srgbClr val="B2D3E5"/>
              </a:solidFill>
            </a:ln>
          </p:spPr>
          <p:txBody>
            <a:bodyPr lIns="38099" rIns="38099"/>
            <a:lstStyle/>
            <a:p>
              <a:endParaRPr sz="1500"/>
            </a:p>
          </p:txBody>
        </p:sp>
        <p:pic>
          <p:nvPicPr>
            <p:cNvPr id="904" name="Image 1" descr="Image 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44791" y="3293626"/>
              <a:ext cx="255152" cy="31896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906" name="Image 2" descr="Image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89257" y="2870001"/>
              <a:ext cx="3651886" cy="3651886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907" name="Shape 6"/>
            <p:cNvSpPr/>
            <p:nvPr/>
          </p:nvSpPr>
          <p:spPr>
            <a:xfrm>
              <a:off x="8274367" y="3169681"/>
              <a:ext cx="566977" cy="566977"/>
            </a:xfrm>
            <a:prstGeom prst="roundRect">
              <a:avLst>
                <a:gd name="adj" fmla="val 50000"/>
              </a:avLst>
            </a:prstGeom>
            <a:solidFill>
              <a:srgbClr val="CCEDFF"/>
            </a:solidFill>
            <a:ln w="7620">
              <a:solidFill>
                <a:srgbClr val="B2D3E5"/>
              </a:solidFill>
            </a:ln>
          </p:spPr>
          <p:txBody>
            <a:bodyPr lIns="38099" rIns="38099"/>
            <a:lstStyle/>
            <a:p>
              <a:endParaRPr sz="1500"/>
            </a:p>
          </p:txBody>
        </p:sp>
        <p:pic>
          <p:nvPicPr>
            <p:cNvPr id="908" name="Image 3" descr="Image 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30220" y="3293626"/>
              <a:ext cx="255152" cy="31896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910" name="Image 4" descr="Image 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489257" y="2870001"/>
              <a:ext cx="3651886" cy="3651886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911" name="Shape 9"/>
            <p:cNvSpPr/>
            <p:nvPr/>
          </p:nvSpPr>
          <p:spPr>
            <a:xfrm>
              <a:off x="8274367" y="5655112"/>
              <a:ext cx="566977" cy="566977"/>
            </a:xfrm>
            <a:prstGeom prst="roundRect">
              <a:avLst>
                <a:gd name="adj" fmla="val 50000"/>
              </a:avLst>
            </a:prstGeom>
            <a:solidFill>
              <a:srgbClr val="CCEDFF"/>
            </a:solidFill>
            <a:ln w="7620">
              <a:solidFill>
                <a:srgbClr val="B2D3E5"/>
              </a:solidFill>
            </a:ln>
          </p:spPr>
          <p:txBody>
            <a:bodyPr lIns="38099" rIns="38099"/>
            <a:lstStyle/>
            <a:p>
              <a:endParaRPr sz="1500"/>
            </a:p>
          </p:txBody>
        </p:sp>
        <p:pic>
          <p:nvPicPr>
            <p:cNvPr id="912" name="Image 5" descr="Image 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30220" y="5779056"/>
              <a:ext cx="255152" cy="318969"/>
            </a:xfrm>
            <a:prstGeom prst="rect">
              <a:avLst/>
            </a:prstGeom>
            <a:ln w="12700">
              <a:miter lim="400000"/>
            </a:ln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1E391C3-CA72-2B0C-9189-9E46D3726AA3}"/>
                </a:ext>
              </a:extLst>
            </p:cNvPr>
            <p:cNvGrpSpPr/>
            <p:nvPr/>
          </p:nvGrpSpPr>
          <p:grpSpPr>
            <a:xfrm>
              <a:off x="3460172" y="2870001"/>
              <a:ext cx="7950506" cy="3651886"/>
              <a:chOff x="3460172" y="2870001"/>
              <a:chExt cx="7950506" cy="3651886"/>
            </a:xfrm>
          </p:grpSpPr>
          <p:sp>
            <p:nvSpPr>
              <p:cNvPr id="901" name="Text 1"/>
              <p:cNvSpPr txBox="1"/>
              <p:nvPr/>
            </p:nvSpPr>
            <p:spPr>
              <a:xfrm>
                <a:off x="3935303" y="3089791"/>
                <a:ext cx="1213794" cy="37533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algn="r">
                  <a:lnSpc>
                    <a:spcPts val="2700"/>
                  </a:lnSpc>
                  <a:defRPr sz="2200" b="1">
                    <a:latin typeface="Playfair Display Bold"/>
                    <a:ea typeface="Playfair Display Bold"/>
                    <a:cs typeface="Playfair Display Bold"/>
                    <a:sym typeface="Playfair Display Bold"/>
                  </a:defRPr>
                </a:lvl1pPr>
              </a:lstStyle>
              <a:p>
                <a:r>
                  <a:rPr sz="1833" dirty="0"/>
                  <a:t>Curiosity</a:t>
                </a:r>
              </a:p>
            </p:txBody>
          </p:sp>
          <p:sp>
            <p:nvSpPr>
              <p:cNvPr id="905" name="Text 4"/>
              <p:cNvSpPr txBox="1"/>
              <p:nvPr/>
            </p:nvSpPr>
            <p:spPr>
              <a:xfrm>
                <a:off x="9481304" y="3089791"/>
                <a:ext cx="511679" cy="37533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ts val="2700"/>
                  </a:lnSpc>
                  <a:defRPr sz="2200" b="1">
                    <a:latin typeface="Playfair Display Bold"/>
                    <a:ea typeface="Playfair Display Bold"/>
                    <a:cs typeface="Playfair Display Bold"/>
                    <a:sym typeface="Playfair Display Bold"/>
                  </a:defRPr>
                </a:lvl1pPr>
              </a:lstStyle>
              <a:p>
                <a:r>
                  <a:rPr sz="1833"/>
                  <a:t>Fun</a:t>
                </a:r>
              </a:p>
            </p:txBody>
          </p:sp>
          <p:sp>
            <p:nvSpPr>
              <p:cNvPr id="909" name="Text 7"/>
              <p:cNvSpPr txBox="1"/>
              <p:nvPr/>
            </p:nvSpPr>
            <p:spPr>
              <a:xfrm>
                <a:off x="9481304" y="5085754"/>
                <a:ext cx="1929374" cy="37533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ts val="2700"/>
                  </a:lnSpc>
                  <a:defRPr sz="2200" b="1">
                    <a:latin typeface="Playfair Display Bold"/>
                    <a:ea typeface="Playfair Display Bold"/>
                    <a:cs typeface="Playfair Display Bold"/>
                    <a:sym typeface="Playfair Display Bold"/>
                  </a:defRPr>
                </a:lvl1pPr>
              </a:lstStyle>
              <a:p>
                <a:r>
                  <a:rPr sz="1833"/>
                  <a:t>Empowerment</a:t>
                </a:r>
              </a:p>
            </p:txBody>
          </p:sp>
          <p:sp>
            <p:nvSpPr>
              <p:cNvPr id="913" name="Text 10"/>
              <p:cNvSpPr txBox="1"/>
              <p:nvPr/>
            </p:nvSpPr>
            <p:spPr>
              <a:xfrm>
                <a:off x="3460172" y="5085754"/>
                <a:ext cx="1688924" cy="37533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algn="r">
                  <a:lnSpc>
                    <a:spcPts val="2700"/>
                  </a:lnSpc>
                  <a:defRPr sz="2200" b="1">
                    <a:latin typeface="Playfair Display Bold"/>
                    <a:ea typeface="Playfair Display Bold"/>
                    <a:cs typeface="Playfair Display Bold"/>
                    <a:sym typeface="Playfair Display Bold"/>
                  </a:defRPr>
                </a:lvl1pPr>
              </a:lstStyle>
              <a:p>
                <a:r>
                  <a:rPr sz="1833"/>
                  <a:t>Engagement </a:t>
                </a:r>
              </a:p>
            </p:txBody>
          </p:sp>
          <p:pic>
            <p:nvPicPr>
              <p:cNvPr id="914" name="Image 6" descr="Image 6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489257" y="2870001"/>
                <a:ext cx="3651886" cy="3651886"/>
              </a:xfrm>
              <a:prstGeom prst="rect">
                <a:avLst/>
              </a:prstGeom>
              <a:ln w="12700">
                <a:miter lim="400000"/>
              </a:ln>
            </p:spPr>
          </p:pic>
        </p:grpSp>
        <p:sp>
          <p:nvSpPr>
            <p:cNvPr id="915" name="Shape 12"/>
            <p:cNvSpPr/>
            <p:nvPr/>
          </p:nvSpPr>
          <p:spPr>
            <a:xfrm>
              <a:off x="5788938" y="5655112"/>
              <a:ext cx="566977" cy="566977"/>
            </a:xfrm>
            <a:prstGeom prst="roundRect">
              <a:avLst>
                <a:gd name="adj" fmla="val 50000"/>
              </a:avLst>
            </a:prstGeom>
            <a:solidFill>
              <a:srgbClr val="CCEDFF"/>
            </a:solidFill>
            <a:ln w="7620">
              <a:solidFill>
                <a:srgbClr val="B2D3E5"/>
              </a:solidFill>
            </a:ln>
          </p:spPr>
          <p:txBody>
            <a:bodyPr lIns="38099" rIns="38099"/>
            <a:lstStyle/>
            <a:p>
              <a:endParaRPr sz="1500"/>
            </a:p>
          </p:txBody>
        </p:sp>
        <p:pic>
          <p:nvPicPr>
            <p:cNvPr id="916" name="Image 7" descr="Image 7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44791" y="5779056"/>
              <a:ext cx="255152" cy="318969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917" name="Rectangle"/>
          <p:cNvSpPr/>
          <p:nvPr/>
        </p:nvSpPr>
        <p:spPr>
          <a:xfrm>
            <a:off x="-62743" y="-81"/>
            <a:ext cx="9701771" cy="58674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Text 0"/>
          <p:cNvSpPr txBox="1"/>
          <p:nvPr/>
        </p:nvSpPr>
        <p:spPr>
          <a:xfrm>
            <a:off x="4727429" y="1071856"/>
            <a:ext cx="7182763" cy="3385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3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2750" dirty="0"/>
              <a:t>Not only to learn how to conduct research,</a:t>
            </a:r>
          </a:p>
          <a:p>
            <a:pPr>
              <a:defRPr sz="3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2750" dirty="0"/>
              <a:t>but to learn how to think like a researcher to</a:t>
            </a:r>
          </a:p>
          <a:p>
            <a:pPr marL="367616" indent="-367616">
              <a:buSzPct val="100000"/>
              <a:buChar char="-"/>
              <a:defRPr sz="33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2750" dirty="0"/>
              <a:t>Solve problems</a:t>
            </a:r>
          </a:p>
          <a:p>
            <a:pPr marL="367616" indent="-367616">
              <a:buSzPct val="100000"/>
              <a:buChar char="-"/>
              <a:defRPr sz="33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2750" dirty="0"/>
              <a:t>Challenge assumptions</a:t>
            </a:r>
          </a:p>
          <a:p>
            <a:pPr marL="367616" indent="-367616">
              <a:buSzPct val="100000"/>
              <a:buChar char="-"/>
              <a:defRPr sz="33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2750" dirty="0"/>
              <a:t>Make smart decisions</a:t>
            </a:r>
          </a:p>
          <a:p>
            <a:pPr>
              <a:defRPr sz="33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2750" dirty="0"/>
          </a:p>
          <a:p>
            <a:pPr>
              <a:defRPr sz="33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2750" dirty="0"/>
              <a:t>As you understand how the world works, you can change it for better! </a:t>
            </a:r>
          </a:p>
        </p:txBody>
      </p:sp>
      <p:pic>
        <p:nvPicPr>
          <p:cNvPr id="92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222" y="118241"/>
            <a:ext cx="4414346" cy="662151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Let’s Start with a Game…"/>
          <p:cNvSpPr txBox="1"/>
          <p:nvPr/>
        </p:nvSpPr>
        <p:spPr>
          <a:xfrm>
            <a:off x="853752" y="1470894"/>
            <a:ext cx="10191636" cy="3105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60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5000"/>
              <a:t>Let’s Start with a Game </a:t>
            </a:r>
          </a:p>
          <a:p>
            <a:pPr algn="ctr">
              <a:lnSpc>
                <a:spcPct val="90000"/>
              </a:lnSpc>
              <a:defRPr sz="60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5000"/>
          </a:p>
          <a:p>
            <a:pPr defTabSz="380985">
              <a:defRPr sz="16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1333"/>
          </a:p>
          <a:p>
            <a:pPr algn="ctr" defTabSz="380985">
              <a:defRPr sz="7900" b="1">
                <a:solidFill>
                  <a:srgbClr val="011993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6583"/>
              <a:t>BINGO TIME! </a:t>
            </a:r>
          </a:p>
          <a:p>
            <a:pPr algn="ctr" defTabSz="380985">
              <a:defRPr sz="16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1333"/>
          </a:p>
          <a:p>
            <a:pPr algn="ctr" defTabSz="380985">
              <a:defRPr sz="16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1333"/>
          </a:p>
        </p:txBody>
      </p:sp>
      <p:sp>
        <p:nvSpPr>
          <p:cNvPr id="923" name="Rectangle"/>
          <p:cNvSpPr/>
          <p:nvPr/>
        </p:nvSpPr>
        <p:spPr>
          <a:xfrm>
            <a:off x="-62743" y="-81"/>
            <a:ext cx="9701771" cy="58674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Let’s Start with a Game…"/>
          <p:cNvSpPr txBox="1"/>
          <p:nvPr/>
        </p:nvSpPr>
        <p:spPr>
          <a:xfrm>
            <a:off x="853752" y="1470895"/>
            <a:ext cx="10191636" cy="37467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60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5000"/>
              <a:t>Let’s Start with a Game </a:t>
            </a:r>
          </a:p>
          <a:p>
            <a:pPr algn="ctr">
              <a:lnSpc>
                <a:spcPct val="90000"/>
              </a:lnSpc>
              <a:defRPr sz="60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5000"/>
          </a:p>
          <a:p>
            <a:pPr defTabSz="380985">
              <a:defRPr sz="16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1333"/>
          </a:p>
          <a:p>
            <a:pPr algn="ctr" defTabSz="380985">
              <a:defRPr sz="7900" b="1">
                <a:solidFill>
                  <a:srgbClr val="011993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6583"/>
              <a:t>BINGO TIME! </a:t>
            </a:r>
          </a:p>
          <a:p>
            <a:pPr algn="ctr" defTabSz="380985">
              <a:defRPr sz="16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1333"/>
          </a:p>
          <a:p>
            <a:pPr algn="ctr" defTabSz="380985">
              <a:defRPr sz="16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1333"/>
          </a:p>
          <a:p>
            <a:pPr algn="ctr" defTabSz="380985">
              <a:defRPr sz="25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2083"/>
              <a:t>Walk around and find people who check the boxes on the bingo card. </a:t>
            </a:r>
          </a:p>
          <a:p>
            <a:pPr algn="ctr" defTabSz="380985">
              <a:defRPr sz="2500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2083"/>
              <a:t>Let us know once you check all the boxes in a line. </a:t>
            </a:r>
          </a:p>
        </p:txBody>
      </p:sp>
      <p:sp>
        <p:nvSpPr>
          <p:cNvPr id="926" name="Rectangle"/>
          <p:cNvSpPr/>
          <p:nvPr/>
        </p:nvSpPr>
        <p:spPr>
          <a:xfrm>
            <a:off x="-62743" y="-81"/>
            <a:ext cx="9701771" cy="58674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28" name="Table 5"/>
          <p:cNvGraphicFramePr/>
          <p:nvPr/>
        </p:nvGraphicFramePr>
        <p:xfrm>
          <a:off x="1056686" y="1515419"/>
          <a:ext cx="10225515" cy="4344823"/>
        </p:xfrm>
        <a:graphic>
          <a:graphicData uri="http://schemas.openxmlformats.org/drawingml/2006/table">
            <a:tbl>
              <a:tblPr bandRow="1"/>
              <a:tblGrid>
                <a:gridCol w="2008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95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5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24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6961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1370"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 b="1" dirty="0"/>
                        <a:t>B</a:t>
                      </a:r>
                    </a:p>
                  </a:txBody>
                  <a:tcPr marL="42333" marR="42333" marT="42333" marB="42333" horzOverflow="overflow">
                    <a:lnL w="38100">
                      <a:solidFill>
                        <a:srgbClr val="FFFFFF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38100">
                      <a:solidFill>
                        <a:srgbClr val="FFFFFF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 b="1"/>
                        <a:t>I</a:t>
                      </a:r>
                    </a:p>
                  </a:txBody>
                  <a:tcPr marL="42333" marR="42333" marT="42333" marB="42333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38100">
                      <a:solidFill>
                        <a:srgbClr val="FFFFFF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 b="1"/>
                        <a:t>N</a:t>
                      </a:r>
                    </a:p>
                  </a:txBody>
                  <a:tcPr marL="42333" marR="42333" marT="42333" marB="42333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38100">
                      <a:solidFill>
                        <a:srgbClr val="FFFFFF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 b="1"/>
                        <a:t>G</a:t>
                      </a:r>
                    </a:p>
                  </a:txBody>
                  <a:tcPr marL="42333" marR="42333" marT="42333" marB="42333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38100">
                      <a:solidFill>
                        <a:srgbClr val="FFFFFF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 b="1"/>
                        <a:t>O</a:t>
                      </a:r>
                    </a:p>
                  </a:txBody>
                  <a:tcPr marL="42333" marR="42333" marT="42333" marB="42333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38100">
                      <a:solidFill>
                        <a:srgbClr val="FFFFFF"/>
                      </a:solidFill>
                      <a:miter lim="400000"/>
                    </a:lnR>
                    <a:lnT w="38100">
                      <a:solidFill>
                        <a:srgbClr val="FFFFFF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0338"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Interested in space</a:t>
                      </a:r>
                    </a:p>
                  </a:txBody>
                  <a:tcPr marL="42333" marR="42333" marT="42333" marB="42333" anchor="ctr" horzOverflow="overflow">
                    <a:lnL w="38100">
                      <a:solidFill>
                        <a:srgbClr val="FFFFFF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Interested in volcanoes 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Loves chemistry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Enjoys robotics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Likes science museums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38100">
                      <a:solidFill>
                        <a:srgbClr val="FFFFFF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1402"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Has done a science fair project</a:t>
                      </a:r>
                    </a:p>
                  </a:txBody>
                  <a:tcPr marL="42333" marR="42333" marT="42333" marB="42333" anchor="ctr" horzOverflow="overflow">
                    <a:lnL w="38100">
                      <a:solidFill>
                        <a:srgbClr val="FFFFFF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 dirty="0"/>
                        <a:t>Enjoys coding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Likes astronomy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Wants to help the environment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Thinks science is fun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38100">
                      <a:solidFill>
                        <a:srgbClr val="FFFFFF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071"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Wants to go to Mars</a:t>
                      </a:r>
                    </a:p>
                  </a:txBody>
                  <a:tcPr marL="42333" marR="42333" marT="42333" marB="42333" anchor="ctr" horzOverflow="overflow">
                    <a:lnL w="38100">
                      <a:solidFill>
                        <a:srgbClr val="FFFFFF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Loves building things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endParaRPr sz="1800"/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Wants to design apps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Interested in AI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38100">
                      <a:solidFill>
                        <a:srgbClr val="FFFFFF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0338"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Loves learning about the brain</a:t>
                      </a:r>
                    </a:p>
                  </a:txBody>
                  <a:tcPr marL="42333" marR="42333" marT="42333" marB="42333" anchor="ctr" horzOverflow="overflow">
                    <a:lnL w="38100">
                      <a:solidFill>
                        <a:srgbClr val="FFFFFF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Is into math challenges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Has built a robot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Wants to study insects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Loves dinosaurs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38100">
                      <a:solidFill>
                        <a:srgbClr val="FFFFFF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12700">
                      <a:solidFill>
                        <a:srgbClr val="3D85C6"/>
                      </a:solidFill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9306"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 dirty="0"/>
                        <a:t>Wants to be an engineer</a:t>
                      </a:r>
                    </a:p>
                  </a:txBody>
                  <a:tcPr marL="42333" marR="42333" marT="42333" marB="42333" anchor="ctr" horzOverflow="overflow">
                    <a:lnL w="38100">
                      <a:solidFill>
                        <a:srgbClr val="FFFFFF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38100">
                      <a:solidFill>
                        <a:srgbClr val="FFFFFF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Curious about how things work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38100">
                      <a:solidFill>
                        <a:srgbClr val="FFFFFF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Watches history videos on YouTube 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38100">
                      <a:solidFill>
                        <a:srgbClr val="FFFFFF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/>
                        <a:t>Interested in understanding human behavior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12700">
                      <a:solidFill>
                        <a:srgbClr val="3D85C6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38100">
                      <a:solidFill>
                        <a:srgbClr val="FFFFFF"/>
                      </a:solidFill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2100">
                          <a:uFill>
                            <a:solidFill>
                              <a:srgbClr val="000000"/>
                            </a:solidFill>
                          </a:uFill>
                          <a:latin typeface="Bubblegum Sans"/>
                          <a:ea typeface="Bubblegum Sans"/>
                          <a:cs typeface="Bubblegum Sans"/>
                          <a:sym typeface="Bubblegum Sans"/>
                        </a:defRPr>
                      </a:pPr>
                      <a:r>
                        <a:rPr sz="1800" dirty="0"/>
                        <a:t>Wants to explore the ocean</a:t>
                      </a:r>
                    </a:p>
                  </a:txBody>
                  <a:tcPr marL="42333" marR="42333" marT="42333" marB="42333" anchor="ctr" horzOverflow="overflow">
                    <a:lnL w="12700">
                      <a:solidFill>
                        <a:srgbClr val="3D85C6"/>
                      </a:solidFill>
                      <a:miter lim="400000"/>
                    </a:lnL>
                    <a:lnR w="38100">
                      <a:solidFill>
                        <a:srgbClr val="FFFFFF"/>
                      </a:solidFill>
                      <a:miter lim="400000"/>
                    </a:lnR>
                    <a:lnT w="12700">
                      <a:solidFill>
                        <a:srgbClr val="3D85C6"/>
                      </a:solidFill>
                      <a:miter lim="400000"/>
                    </a:lnT>
                    <a:lnB w="38100">
                      <a:solidFill>
                        <a:srgbClr val="FFFFFF"/>
                      </a:solidFill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8841" y="1022683"/>
            <a:ext cx="3703054" cy="5554580"/>
          </a:xfrm>
          <a:prstGeom prst="rect">
            <a:avLst/>
          </a:prstGeom>
          <a:ln w="12700">
            <a:miter lim="400000"/>
          </a:ln>
        </p:spPr>
      </p:pic>
      <p:sp>
        <p:nvSpPr>
          <p:cNvPr id="931" name="Text 0"/>
          <p:cNvSpPr txBox="1"/>
          <p:nvPr/>
        </p:nvSpPr>
        <p:spPr>
          <a:xfrm>
            <a:off x="661492" y="2115444"/>
            <a:ext cx="4110100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What Is Research? </a:t>
            </a:r>
          </a:p>
        </p:txBody>
      </p:sp>
      <p:sp>
        <p:nvSpPr>
          <p:cNvPr id="932" name="Text 1"/>
          <p:cNvSpPr txBox="1"/>
          <p:nvPr/>
        </p:nvSpPr>
        <p:spPr>
          <a:xfrm>
            <a:off x="661492" y="2989560"/>
            <a:ext cx="6297018" cy="10495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833" dirty="0"/>
              <a:t>Let’s explore the fundamental concepts of research, distinguish between opinions and evidence-based conclusions, and examine the research process across disciplines.</a:t>
            </a:r>
          </a:p>
        </p:txBody>
      </p:sp>
      <p:sp>
        <p:nvSpPr>
          <p:cNvPr id="933" name="Shape 2"/>
          <p:cNvSpPr/>
          <p:nvPr/>
        </p:nvSpPr>
        <p:spPr>
          <a:xfrm>
            <a:off x="661492" y="4425950"/>
            <a:ext cx="302420" cy="302420"/>
          </a:xfrm>
          <a:prstGeom prst="roundRect">
            <a:avLst>
              <a:gd name="adj" fmla="val 50000"/>
            </a:avLst>
          </a:prstGeom>
          <a:ln w="7620">
            <a:solidFill>
              <a:srgbClr val="FFFFFF"/>
            </a:solidFill>
          </a:ln>
        </p:spPr>
        <p:txBody>
          <a:bodyPr lIns="38099" rIns="38099"/>
          <a:lstStyle/>
          <a:p>
            <a:endParaRPr sz="1500"/>
          </a:p>
        </p:txBody>
      </p:sp>
      <p:sp>
        <p:nvSpPr>
          <p:cNvPr id="934" name="Text 3"/>
          <p:cNvSpPr txBox="1"/>
          <p:nvPr/>
        </p:nvSpPr>
        <p:spPr>
          <a:xfrm>
            <a:off x="661492" y="4591778"/>
            <a:ext cx="2708755" cy="3602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3100"/>
              </a:lnSpc>
              <a:defRPr sz="2200" b="1">
                <a:latin typeface="Inter Bold"/>
                <a:ea typeface="Inter Bold"/>
                <a:cs typeface="Inter Bold"/>
                <a:sym typeface="Inter Bold"/>
              </a:defRPr>
            </a:lvl1pPr>
          </a:lstStyle>
          <a:p>
            <a:r>
              <a:rPr sz="1833"/>
              <a:t>Michelle Yin &amp; Burhan Ogut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Text 0"/>
          <p:cNvSpPr txBox="1"/>
          <p:nvPr/>
        </p:nvSpPr>
        <p:spPr>
          <a:xfrm>
            <a:off x="592733" y="466922"/>
            <a:ext cx="3582712" cy="577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000"/>
              </a:lnSpc>
              <a:defRPr sz="4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333"/>
              <a:t>Chapter Roadmap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2A7A1C5-3E46-EEDD-B404-DA8390742300}"/>
              </a:ext>
            </a:extLst>
          </p:cNvPr>
          <p:cNvGrpSpPr/>
          <p:nvPr/>
        </p:nvGrpSpPr>
        <p:grpSpPr>
          <a:xfrm>
            <a:off x="592733" y="1334691"/>
            <a:ext cx="11006536" cy="5056387"/>
            <a:chOff x="711278" y="1601628"/>
            <a:chExt cx="13207843" cy="6067664"/>
          </a:xfrm>
        </p:grpSpPr>
        <p:sp>
          <p:nvSpPr>
            <p:cNvPr id="937" name="Shape 1"/>
            <p:cNvSpPr/>
            <p:nvPr/>
          </p:nvSpPr>
          <p:spPr>
            <a:xfrm>
              <a:off x="7303769" y="1601628"/>
              <a:ext cx="22861" cy="6067664"/>
            </a:xfrm>
            <a:prstGeom prst="roundRect">
              <a:avLst>
                <a:gd name="adj" fmla="val 50000"/>
              </a:avLst>
            </a:prstGeom>
            <a:solidFill>
              <a:srgbClr val="B2D3E5"/>
            </a:solidFill>
            <a:ln w="12700">
              <a:miter lim="400000"/>
            </a:ln>
          </p:spPr>
          <p:txBody>
            <a:bodyPr lIns="38099" rIns="38099"/>
            <a:lstStyle/>
            <a:p>
              <a:endParaRPr sz="150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ED7A64E-6ABA-9970-4A5B-524BA3844691}"/>
                </a:ext>
              </a:extLst>
            </p:cNvPr>
            <p:cNvGrpSpPr/>
            <p:nvPr/>
          </p:nvGrpSpPr>
          <p:grpSpPr>
            <a:xfrm>
              <a:off x="711278" y="1601628"/>
              <a:ext cx="13207843" cy="5632454"/>
              <a:chOff x="711278" y="1601628"/>
              <a:chExt cx="13207843" cy="5632454"/>
            </a:xfrm>
          </p:grpSpPr>
          <p:sp>
            <p:nvSpPr>
              <p:cNvPr id="938" name="Shape 2"/>
              <p:cNvSpPr/>
              <p:nvPr/>
            </p:nvSpPr>
            <p:spPr>
              <a:xfrm>
                <a:off x="6499859" y="1818799"/>
                <a:ext cx="609601" cy="22861"/>
              </a:xfrm>
              <a:prstGeom prst="roundRect">
                <a:avLst>
                  <a:gd name="adj" fmla="val 50000"/>
                </a:avLst>
              </a:prstGeom>
              <a:solidFill>
                <a:srgbClr val="B2D3E5"/>
              </a:solidFill>
              <a:ln w="12700">
                <a:miter lim="400000"/>
              </a:ln>
            </p:spPr>
            <p:txBody>
              <a:bodyPr lIns="38099" rIns="38099"/>
              <a:lstStyle/>
              <a:p>
                <a:endParaRPr sz="1500"/>
              </a:p>
            </p:txBody>
          </p:sp>
          <p:sp>
            <p:nvSpPr>
              <p:cNvPr id="939" name="Shape 3"/>
              <p:cNvSpPr/>
              <p:nvPr/>
            </p:nvSpPr>
            <p:spPr>
              <a:xfrm>
                <a:off x="7086600" y="1601628"/>
                <a:ext cx="457200" cy="457201"/>
              </a:xfrm>
              <a:prstGeom prst="roundRect">
                <a:avLst>
                  <a:gd name="adj" fmla="val 18670"/>
                </a:avLst>
              </a:prstGeom>
              <a:solidFill>
                <a:srgbClr val="CCEDFF"/>
              </a:solidFill>
              <a:ln w="7620">
                <a:solidFill>
                  <a:srgbClr val="B2D3E5"/>
                </a:solidFill>
              </a:ln>
            </p:spPr>
            <p:txBody>
              <a:bodyPr lIns="38099" rIns="38099"/>
              <a:lstStyle/>
              <a:p>
                <a:endParaRPr sz="1500"/>
              </a:p>
            </p:txBody>
          </p:sp>
          <p:pic>
            <p:nvPicPr>
              <p:cNvPr id="940" name="Image 0" descr="Image 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162800" y="1639728"/>
                <a:ext cx="304800" cy="381001"/>
              </a:xfrm>
              <a:prstGeom prst="rect">
                <a:avLst/>
              </a:prstGeom>
              <a:ln w="12700">
                <a:miter lim="400000"/>
              </a:ln>
            </p:spPr>
          </p:pic>
          <p:sp>
            <p:nvSpPr>
              <p:cNvPr id="941" name="Text 4"/>
              <p:cNvSpPr txBox="1"/>
              <p:nvPr/>
            </p:nvSpPr>
            <p:spPr>
              <a:xfrm>
                <a:off x="3809979" y="1671398"/>
                <a:ext cx="2489143" cy="35517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algn="r">
                  <a:lnSpc>
                    <a:spcPts val="2500"/>
                  </a:lnSpc>
                  <a:defRPr sz="2300" b="1">
                    <a:latin typeface="Playfair Display Bold"/>
                    <a:ea typeface="Playfair Display Bold"/>
                    <a:cs typeface="Playfair Display Bold"/>
                    <a:sym typeface="Playfair Display Bold"/>
                  </a:defRPr>
                </a:lvl1pPr>
              </a:lstStyle>
              <a:p>
                <a:r>
                  <a:rPr sz="1917"/>
                  <a:t>What is Research?</a:t>
                </a:r>
              </a:p>
            </p:txBody>
          </p:sp>
          <p:sp>
            <p:nvSpPr>
              <p:cNvPr id="942" name="Text 5"/>
              <p:cNvSpPr txBox="1"/>
              <p:nvPr/>
            </p:nvSpPr>
            <p:spPr>
              <a:xfrm>
                <a:off x="711278" y="2110858"/>
                <a:ext cx="5587843" cy="75112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lIns="0" tIns="0" rIns="0" bIns="0">
                <a:spAutoFit/>
              </a:bodyPr>
              <a:lstStyle>
                <a:lvl1pPr algn="r">
                  <a:lnSpc>
                    <a:spcPts val="2500"/>
                  </a:lnSpc>
                  <a:defRPr sz="23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rPr sz="1917"/>
                  <a:t>Understanding the transition from curiosity to systematic inquiry</a:t>
                </a:r>
              </a:p>
            </p:txBody>
          </p:sp>
          <p:sp>
            <p:nvSpPr>
              <p:cNvPr id="943" name="Shape 6"/>
              <p:cNvSpPr/>
              <p:nvPr/>
            </p:nvSpPr>
            <p:spPr>
              <a:xfrm>
                <a:off x="7520940" y="3037999"/>
                <a:ext cx="609601" cy="22861"/>
              </a:xfrm>
              <a:prstGeom prst="roundRect">
                <a:avLst>
                  <a:gd name="adj" fmla="val 50000"/>
                </a:avLst>
              </a:prstGeom>
              <a:solidFill>
                <a:srgbClr val="B2D3E5"/>
              </a:solidFill>
              <a:ln w="12700">
                <a:miter lim="400000"/>
              </a:ln>
            </p:spPr>
            <p:txBody>
              <a:bodyPr lIns="38099" rIns="38099"/>
              <a:lstStyle/>
              <a:p>
                <a:endParaRPr sz="1500"/>
              </a:p>
            </p:txBody>
          </p:sp>
          <p:sp>
            <p:nvSpPr>
              <p:cNvPr id="944" name="Shape 7"/>
              <p:cNvSpPr/>
              <p:nvPr/>
            </p:nvSpPr>
            <p:spPr>
              <a:xfrm>
                <a:off x="7086600" y="2820828"/>
                <a:ext cx="457200" cy="457201"/>
              </a:xfrm>
              <a:prstGeom prst="roundRect">
                <a:avLst>
                  <a:gd name="adj" fmla="val 18670"/>
                </a:avLst>
              </a:prstGeom>
              <a:solidFill>
                <a:srgbClr val="CCEDFF"/>
              </a:solidFill>
              <a:ln w="7620">
                <a:solidFill>
                  <a:srgbClr val="B2D3E5"/>
                </a:solidFill>
              </a:ln>
            </p:spPr>
            <p:txBody>
              <a:bodyPr lIns="38099" rIns="38099"/>
              <a:lstStyle/>
              <a:p>
                <a:endParaRPr sz="1500"/>
              </a:p>
            </p:txBody>
          </p:sp>
          <p:pic>
            <p:nvPicPr>
              <p:cNvPr id="945" name="Image 1" descr="Image 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62800" y="2858928"/>
                <a:ext cx="304800" cy="381001"/>
              </a:xfrm>
              <a:prstGeom prst="rect">
                <a:avLst/>
              </a:prstGeom>
              <a:ln w="12700">
                <a:miter lim="400000"/>
              </a:ln>
            </p:spPr>
          </p:pic>
          <p:sp>
            <p:nvSpPr>
              <p:cNvPr id="946" name="Text 8"/>
              <p:cNvSpPr txBox="1"/>
              <p:nvPr/>
            </p:nvSpPr>
            <p:spPr>
              <a:xfrm>
                <a:off x="8331279" y="2890598"/>
                <a:ext cx="2779608" cy="35517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ts val="2500"/>
                  </a:lnSpc>
                  <a:defRPr sz="2300" b="1">
                    <a:latin typeface="Playfair Display Bold"/>
                    <a:ea typeface="Playfair Display Bold"/>
                    <a:cs typeface="Playfair Display Bold"/>
                    <a:sym typeface="Playfair Display Bold"/>
                  </a:defRPr>
                </a:lvl1pPr>
              </a:lstStyle>
              <a:p>
                <a:r>
                  <a:rPr sz="1917"/>
                  <a:t>Opinion vs Evidence</a:t>
                </a:r>
              </a:p>
            </p:txBody>
          </p:sp>
          <p:sp>
            <p:nvSpPr>
              <p:cNvPr id="947" name="Text 9"/>
              <p:cNvSpPr txBox="1"/>
              <p:nvPr/>
            </p:nvSpPr>
            <p:spPr>
              <a:xfrm>
                <a:off x="8331279" y="3330059"/>
                <a:ext cx="5587842" cy="75112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lIns="0" tIns="0" rIns="0" bIns="0">
                <a:spAutoFit/>
              </a:bodyPr>
              <a:lstStyle>
                <a:lvl1pPr>
                  <a:lnSpc>
                    <a:spcPts val="2500"/>
                  </a:lnSpc>
                  <a:defRPr sz="23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rPr sz="1917"/>
                  <a:t>Distinguishing personal beliefs from research-based conclusions</a:t>
                </a:r>
              </a:p>
            </p:txBody>
          </p:sp>
          <p:sp>
            <p:nvSpPr>
              <p:cNvPr id="948" name="Shape 10"/>
              <p:cNvSpPr/>
              <p:nvPr/>
            </p:nvSpPr>
            <p:spPr>
              <a:xfrm>
                <a:off x="6499859" y="4088962"/>
                <a:ext cx="609601" cy="22861"/>
              </a:xfrm>
              <a:prstGeom prst="roundRect">
                <a:avLst>
                  <a:gd name="adj" fmla="val 50000"/>
                </a:avLst>
              </a:prstGeom>
              <a:solidFill>
                <a:srgbClr val="B2D3E5"/>
              </a:solidFill>
              <a:ln w="12700">
                <a:miter lim="400000"/>
              </a:ln>
            </p:spPr>
            <p:txBody>
              <a:bodyPr lIns="38099" rIns="38099"/>
              <a:lstStyle/>
              <a:p>
                <a:endParaRPr sz="1500"/>
              </a:p>
            </p:txBody>
          </p:sp>
          <p:sp>
            <p:nvSpPr>
              <p:cNvPr id="949" name="Shape 11"/>
              <p:cNvSpPr/>
              <p:nvPr/>
            </p:nvSpPr>
            <p:spPr>
              <a:xfrm>
                <a:off x="7086600" y="3871793"/>
                <a:ext cx="457200" cy="457201"/>
              </a:xfrm>
              <a:prstGeom prst="roundRect">
                <a:avLst>
                  <a:gd name="adj" fmla="val 18670"/>
                </a:avLst>
              </a:prstGeom>
              <a:solidFill>
                <a:srgbClr val="CCEDFF"/>
              </a:solidFill>
              <a:ln w="7620">
                <a:solidFill>
                  <a:srgbClr val="B2D3E5"/>
                </a:solidFill>
              </a:ln>
            </p:spPr>
            <p:txBody>
              <a:bodyPr lIns="38099" rIns="38099"/>
              <a:lstStyle/>
              <a:p>
                <a:endParaRPr sz="1500"/>
              </a:p>
            </p:txBody>
          </p:sp>
          <p:pic>
            <p:nvPicPr>
              <p:cNvPr id="950" name="Image 2" descr="Image 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62800" y="3909893"/>
                <a:ext cx="304800" cy="381001"/>
              </a:xfrm>
              <a:prstGeom prst="rect">
                <a:avLst/>
              </a:prstGeom>
              <a:ln w="12700">
                <a:miter lim="400000"/>
              </a:ln>
            </p:spPr>
          </p:pic>
          <p:sp>
            <p:nvSpPr>
              <p:cNvPr id="951" name="Text 12"/>
              <p:cNvSpPr txBox="1"/>
              <p:nvPr/>
            </p:nvSpPr>
            <p:spPr>
              <a:xfrm>
                <a:off x="3825368" y="3941564"/>
                <a:ext cx="2473754" cy="35517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algn="r">
                  <a:lnSpc>
                    <a:spcPts val="2500"/>
                  </a:lnSpc>
                  <a:defRPr sz="2300" b="1">
                    <a:latin typeface="Playfair Display Bold"/>
                    <a:ea typeface="Playfair Display Bold"/>
                    <a:cs typeface="Playfair Display Bold"/>
                    <a:sym typeface="Playfair Display Bold"/>
                  </a:defRPr>
                </a:lvl1pPr>
              </a:lstStyle>
              <a:p>
                <a:r>
                  <a:rPr sz="1917"/>
                  <a:t>Types of Research</a:t>
                </a:r>
              </a:p>
            </p:txBody>
          </p:sp>
          <p:sp>
            <p:nvSpPr>
              <p:cNvPr id="952" name="Text 13"/>
              <p:cNvSpPr txBox="1"/>
              <p:nvPr/>
            </p:nvSpPr>
            <p:spPr>
              <a:xfrm>
                <a:off x="711278" y="4381024"/>
                <a:ext cx="5587843" cy="75112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lIns="0" tIns="0" rIns="0" bIns="0">
                <a:spAutoFit/>
              </a:bodyPr>
              <a:lstStyle>
                <a:lvl1pPr algn="r">
                  <a:lnSpc>
                    <a:spcPts val="2500"/>
                  </a:lnSpc>
                  <a:defRPr sz="23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rPr sz="1917"/>
                  <a:t>Exploring scientific, social science, historical and interdisciplinary approaches</a:t>
                </a:r>
              </a:p>
            </p:txBody>
          </p:sp>
          <p:sp>
            <p:nvSpPr>
              <p:cNvPr id="953" name="Shape 14"/>
              <p:cNvSpPr/>
              <p:nvPr/>
            </p:nvSpPr>
            <p:spPr>
              <a:xfrm>
                <a:off x="7520940" y="5139928"/>
                <a:ext cx="609601" cy="22861"/>
              </a:xfrm>
              <a:prstGeom prst="roundRect">
                <a:avLst>
                  <a:gd name="adj" fmla="val 50000"/>
                </a:avLst>
              </a:prstGeom>
              <a:solidFill>
                <a:srgbClr val="B2D3E5"/>
              </a:solidFill>
              <a:ln w="12700">
                <a:miter lim="400000"/>
              </a:ln>
            </p:spPr>
            <p:txBody>
              <a:bodyPr lIns="38099" rIns="38099"/>
              <a:lstStyle/>
              <a:p>
                <a:endParaRPr sz="1500"/>
              </a:p>
            </p:txBody>
          </p:sp>
          <p:sp>
            <p:nvSpPr>
              <p:cNvPr id="954" name="Shape 15"/>
              <p:cNvSpPr/>
              <p:nvPr/>
            </p:nvSpPr>
            <p:spPr>
              <a:xfrm>
                <a:off x="7086600" y="4922758"/>
                <a:ext cx="457200" cy="457201"/>
              </a:xfrm>
              <a:prstGeom prst="roundRect">
                <a:avLst>
                  <a:gd name="adj" fmla="val 18670"/>
                </a:avLst>
              </a:prstGeom>
              <a:solidFill>
                <a:srgbClr val="CCEDFF"/>
              </a:solidFill>
              <a:ln w="7620">
                <a:solidFill>
                  <a:srgbClr val="B2D3E5"/>
                </a:solidFill>
              </a:ln>
            </p:spPr>
            <p:txBody>
              <a:bodyPr lIns="38099" rIns="38099"/>
              <a:lstStyle/>
              <a:p>
                <a:endParaRPr sz="1500"/>
              </a:p>
            </p:txBody>
          </p:sp>
          <p:pic>
            <p:nvPicPr>
              <p:cNvPr id="955" name="Image 3" descr="Image 3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62800" y="4960858"/>
                <a:ext cx="304800" cy="381001"/>
              </a:xfrm>
              <a:prstGeom prst="rect">
                <a:avLst/>
              </a:prstGeom>
              <a:ln w="12700">
                <a:miter lim="400000"/>
              </a:ln>
            </p:spPr>
          </p:pic>
          <p:sp>
            <p:nvSpPr>
              <p:cNvPr id="956" name="Text 16"/>
              <p:cNvSpPr txBox="1"/>
              <p:nvPr/>
            </p:nvSpPr>
            <p:spPr>
              <a:xfrm>
                <a:off x="8331279" y="4992528"/>
                <a:ext cx="2123658" cy="35517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ts val="2500"/>
                  </a:lnSpc>
                  <a:defRPr sz="2300" b="1">
                    <a:latin typeface="Playfair Display Bold"/>
                    <a:ea typeface="Playfair Display Bold"/>
                    <a:cs typeface="Playfair Display Bold"/>
                    <a:sym typeface="Playfair Display Bold"/>
                  </a:defRPr>
                </a:lvl1pPr>
              </a:lstStyle>
              <a:p>
                <a:r>
                  <a:rPr sz="1917"/>
                  <a:t>Core Principles</a:t>
                </a:r>
              </a:p>
            </p:txBody>
          </p:sp>
          <p:sp>
            <p:nvSpPr>
              <p:cNvPr id="957" name="Text 17"/>
              <p:cNvSpPr txBox="1"/>
              <p:nvPr/>
            </p:nvSpPr>
            <p:spPr>
              <a:xfrm>
                <a:off x="8331279" y="5431987"/>
                <a:ext cx="5587842" cy="75112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lIns="0" tIns="0" rIns="0" bIns="0">
                <a:spAutoFit/>
              </a:bodyPr>
              <a:lstStyle>
                <a:lvl1pPr>
                  <a:lnSpc>
                    <a:spcPts val="2500"/>
                  </a:lnSpc>
                  <a:defRPr sz="23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rPr sz="1917"/>
                  <a:t>Learning the fundamental values that guide good research</a:t>
                </a:r>
              </a:p>
            </p:txBody>
          </p:sp>
          <p:sp>
            <p:nvSpPr>
              <p:cNvPr id="958" name="Shape 18"/>
              <p:cNvSpPr/>
              <p:nvPr/>
            </p:nvSpPr>
            <p:spPr>
              <a:xfrm>
                <a:off x="6499859" y="6190893"/>
                <a:ext cx="609601" cy="22861"/>
              </a:xfrm>
              <a:prstGeom prst="roundRect">
                <a:avLst>
                  <a:gd name="adj" fmla="val 50000"/>
                </a:avLst>
              </a:prstGeom>
              <a:solidFill>
                <a:srgbClr val="B2D3E5"/>
              </a:solidFill>
              <a:ln w="12700">
                <a:miter lim="400000"/>
              </a:ln>
            </p:spPr>
            <p:txBody>
              <a:bodyPr lIns="38099" rIns="38099"/>
              <a:lstStyle/>
              <a:p>
                <a:endParaRPr sz="1500"/>
              </a:p>
            </p:txBody>
          </p:sp>
          <p:sp>
            <p:nvSpPr>
              <p:cNvPr id="959" name="Shape 19"/>
              <p:cNvSpPr/>
              <p:nvPr/>
            </p:nvSpPr>
            <p:spPr>
              <a:xfrm>
                <a:off x="7086600" y="5973722"/>
                <a:ext cx="457200" cy="457201"/>
              </a:xfrm>
              <a:prstGeom prst="roundRect">
                <a:avLst>
                  <a:gd name="adj" fmla="val 18670"/>
                </a:avLst>
              </a:prstGeom>
              <a:solidFill>
                <a:srgbClr val="CCEDFF"/>
              </a:solidFill>
              <a:ln w="7620">
                <a:solidFill>
                  <a:srgbClr val="B2D3E5"/>
                </a:solidFill>
              </a:ln>
            </p:spPr>
            <p:txBody>
              <a:bodyPr lIns="38099" rIns="38099"/>
              <a:lstStyle/>
              <a:p>
                <a:endParaRPr sz="1500"/>
              </a:p>
            </p:txBody>
          </p:sp>
          <p:pic>
            <p:nvPicPr>
              <p:cNvPr id="960" name="Image 4" descr="Image 4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62800" y="6011822"/>
                <a:ext cx="304800" cy="381001"/>
              </a:xfrm>
              <a:prstGeom prst="rect">
                <a:avLst/>
              </a:prstGeom>
              <a:ln w="12700">
                <a:miter lim="400000"/>
              </a:ln>
            </p:spPr>
          </p:pic>
          <p:sp>
            <p:nvSpPr>
              <p:cNvPr id="961" name="Text 20"/>
              <p:cNvSpPr txBox="1"/>
              <p:nvPr/>
            </p:nvSpPr>
            <p:spPr>
              <a:xfrm>
                <a:off x="3915777" y="6043494"/>
                <a:ext cx="2383345" cy="35517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algn="r">
                  <a:lnSpc>
                    <a:spcPts val="2500"/>
                  </a:lnSpc>
                  <a:defRPr sz="2300" b="1">
                    <a:latin typeface="Playfair Display Bold"/>
                    <a:ea typeface="Playfair Display Bold"/>
                    <a:cs typeface="Playfair Display Bold"/>
                    <a:sym typeface="Playfair Display Bold"/>
                  </a:defRPr>
                </a:lvl1pPr>
              </a:lstStyle>
              <a:p>
                <a:r>
                  <a:rPr sz="1917"/>
                  <a:t>Research Process</a:t>
                </a:r>
              </a:p>
            </p:txBody>
          </p:sp>
          <p:sp>
            <p:nvSpPr>
              <p:cNvPr id="962" name="Text 21"/>
              <p:cNvSpPr txBox="1"/>
              <p:nvPr/>
            </p:nvSpPr>
            <p:spPr>
              <a:xfrm>
                <a:off x="711278" y="6482953"/>
                <a:ext cx="5587843" cy="75112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lIns="0" tIns="0" rIns="0" bIns="0">
                <a:spAutoFit/>
              </a:bodyPr>
              <a:lstStyle>
                <a:lvl1pPr algn="r">
                  <a:lnSpc>
                    <a:spcPts val="2500"/>
                  </a:lnSpc>
                  <a:defRPr sz="23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rPr sz="1917"/>
                  <a:t>Following the step-by-step journey from question to conclusion</a:t>
                </a:r>
              </a:p>
            </p:txBody>
          </p:sp>
        </p:grpSp>
      </p:grp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4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8001"/>
            <a:ext cx="12192000" cy="2362697"/>
          </a:xfrm>
          <a:prstGeom prst="rect">
            <a:avLst/>
          </a:prstGeom>
          <a:ln w="12700">
            <a:miter lim="400000"/>
          </a:ln>
        </p:spPr>
      </p:pic>
      <p:sp>
        <p:nvSpPr>
          <p:cNvPr id="965" name="Text 0"/>
          <p:cNvSpPr txBox="1"/>
          <p:nvPr/>
        </p:nvSpPr>
        <p:spPr>
          <a:xfrm>
            <a:off x="661492" y="3482876"/>
            <a:ext cx="3972241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 dirty="0"/>
              <a:t>What is Research?</a:t>
            </a:r>
          </a:p>
        </p:txBody>
      </p:sp>
      <p:sp>
        <p:nvSpPr>
          <p:cNvPr id="966" name="Shape 1"/>
          <p:cNvSpPr/>
          <p:nvPr/>
        </p:nvSpPr>
        <p:spPr>
          <a:xfrm>
            <a:off x="492158" y="4356994"/>
            <a:ext cx="425253" cy="425253"/>
          </a:xfrm>
          <a:prstGeom prst="roundRect">
            <a:avLst>
              <a:gd name="adj" fmla="val 1866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967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50" y="4392413"/>
            <a:ext cx="283469" cy="354410"/>
          </a:xfrm>
          <a:prstGeom prst="rect">
            <a:avLst/>
          </a:prstGeom>
          <a:ln w="12700">
            <a:miter lim="400000"/>
          </a:ln>
        </p:spPr>
      </p:pic>
      <p:sp>
        <p:nvSpPr>
          <p:cNvPr id="968" name="Text 2"/>
          <p:cNvSpPr txBox="1"/>
          <p:nvPr/>
        </p:nvSpPr>
        <p:spPr>
          <a:xfrm>
            <a:off x="1106421" y="4421881"/>
            <a:ext cx="2925481" cy="322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6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167" dirty="0"/>
              <a:t>A Journey of Discovery</a:t>
            </a:r>
          </a:p>
        </p:txBody>
      </p:sp>
      <p:sp>
        <p:nvSpPr>
          <p:cNvPr id="969" name="Text 3"/>
          <p:cNvSpPr txBox="1"/>
          <p:nvPr/>
        </p:nvSpPr>
        <p:spPr>
          <a:xfrm>
            <a:off x="1106421" y="4830564"/>
            <a:ext cx="3074232" cy="14198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6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167" dirty="0"/>
              <a:t>Research is a systematic investigation to establish facts and reach new conclusions.</a:t>
            </a:r>
          </a:p>
        </p:txBody>
      </p:sp>
      <p:sp>
        <p:nvSpPr>
          <p:cNvPr id="970" name="Shape 4"/>
          <p:cNvSpPr/>
          <p:nvPr/>
        </p:nvSpPr>
        <p:spPr>
          <a:xfrm>
            <a:off x="4542011" y="4345074"/>
            <a:ext cx="425253" cy="425253"/>
          </a:xfrm>
          <a:prstGeom prst="roundRect">
            <a:avLst>
              <a:gd name="adj" fmla="val 1866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971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903" y="4380494"/>
            <a:ext cx="283469" cy="354410"/>
          </a:xfrm>
          <a:prstGeom prst="rect">
            <a:avLst/>
          </a:prstGeom>
          <a:ln w="12700">
            <a:miter lim="400000"/>
          </a:ln>
        </p:spPr>
      </p:pic>
      <p:sp>
        <p:nvSpPr>
          <p:cNvPr id="972" name="Text 5"/>
          <p:cNvSpPr txBox="1"/>
          <p:nvPr/>
        </p:nvSpPr>
        <p:spPr>
          <a:xfrm>
            <a:off x="5156273" y="4409962"/>
            <a:ext cx="2186496" cy="322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6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167" dirty="0"/>
              <a:t>Question-Driven</a:t>
            </a:r>
          </a:p>
        </p:txBody>
      </p:sp>
      <p:sp>
        <p:nvSpPr>
          <p:cNvPr id="973" name="Text 6"/>
          <p:cNvSpPr txBox="1"/>
          <p:nvPr/>
        </p:nvSpPr>
        <p:spPr>
          <a:xfrm>
            <a:off x="5156273" y="4818645"/>
            <a:ext cx="2851250" cy="14198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6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167" dirty="0"/>
              <a:t>Every great discovery begins with a well-framed question that guides your direction.</a:t>
            </a:r>
          </a:p>
        </p:txBody>
      </p:sp>
      <p:sp>
        <p:nvSpPr>
          <p:cNvPr id="974" name="Shape 7"/>
          <p:cNvSpPr/>
          <p:nvPr/>
        </p:nvSpPr>
        <p:spPr>
          <a:xfrm>
            <a:off x="8064996" y="4356994"/>
            <a:ext cx="425253" cy="425253"/>
          </a:xfrm>
          <a:prstGeom prst="roundRect">
            <a:avLst>
              <a:gd name="adj" fmla="val 1866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975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5888" y="4392413"/>
            <a:ext cx="283469" cy="354410"/>
          </a:xfrm>
          <a:prstGeom prst="rect">
            <a:avLst/>
          </a:prstGeom>
          <a:ln w="12700">
            <a:miter lim="400000"/>
          </a:ln>
        </p:spPr>
      </p:pic>
      <p:sp>
        <p:nvSpPr>
          <p:cNvPr id="976" name="Text 8"/>
          <p:cNvSpPr txBox="1"/>
          <p:nvPr/>
        </p:nvSpPr>
        <p:spPr>
          <a:xfrm>
            <a:off x="8679259" y="4421881"/>
            <a:ext cx="2056653" cy="322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6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167" dirty="0"/>
              <a:t>Evidence-Based</a:t>
            </a:r>
          </a:p>
        </p:txBody>
      </p:sp>
      <p:sp>
        <p:nvSpPr>
          <p:cNvPr id="977" name="Text 9"/>
          <p:cNvSpPr txBox="1"/>
          <p:nvPr/>
        </p:nvSpPr>
        <p:spPr>
          <a:xfrm>
            <a:off x="8679258" y="4830564"/>
            <a:ext cx="2851250" cy="14198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6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167" dirty="0"/>
              <a:t>Research relies on gathering and analyzing evidence rather than opinions or assumptions.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9" name="Image 0" descr="Image 0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88260" y="609486"/>
            <a:ext cx="11815380" cy="2283365"/>
          </a:xfrm>
          <a:prstGeom prst="rect">
            <a:avLst/>
          </a:prstGeom>
          <a:ln w="12700">
            <a:miter lim="400000"/>
          </a:ln>
        </p:spPr>
      </p:pic>
      <p:sp>
        <p:nvSpPr>
          <p:cNvPr id="980" name="Text 0"/>
          <p:cNvSpPr txBox="1"/>
          <p:nvPr/>
        </p:nvSpPr>
        <p:spPr>
          <a:xfrm>
            <a:off x="659705" y="2874863"/>
            <a:ext cx="10872591" cy="11385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4583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667" dirty="0"/>
              <a:t>From Opinion to Evidence: </a:t>
            </a:r>
          </a:p>
          <a:p>
            <a:pPr>
              <a:lnSpc>
                <a:spcPts val="4583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667" dirty="0"/>
              <a:t>The </a:t>
            </a:r>
            <a:r>
              <a:rPr sz="3667" dirty="0" err="1"/>
              <a:t>Schoolday</a:t>
            </a:r>
            <a:r>
              <a:rPr sz="3667" dirty="0"/>
              <a:t> Fatigue Mystery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2" name="Image 0" descr="Image 0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88260" y="609486"/>
            <a:ext cx="11815380" cy="2283365"/>
          </a:xfrm>
          <a:prstGeom prst="rect">
            <a:avLst/>
          </a:prstGeom>
          <a:ln w="12700">
            <a:miter lim="400000"/>
          </a:ln>
        </p:spPr>
      </p:pic>
      <p:sp>
        <p:nvSpPr>
          <p:cNvPr id="983" name="Text 0"/>
          <p:cNvSpPr txBox="1"/>
          <p:nvPr/>
        </p:nvSpPr>
        <p:spPr>
          <a:xfrm>
            <a:off x="659705" y="2874863"/>
            <a:ext cx="10872591" cy="11385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4583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667"/>
              <a:t>From Opinion to Evidence: </a:t>
            </a:r>
          </a:p>
          <a:p>
            <a:pPr>
              <a:lnSpc>
                <a:spcPts val="4583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667"/>
              <a:t>The Schoolday Fatigue Mystery</a:t>
            </a:r>
          </a:p>
        </p:txBody>
      </p:sp>
      <p:sp>
        <p:nvSpPr>
          <p:cNvPr id="984" name="Shape 1"/>
          <p:cNvSpPr/>
          <p:nvPr/>
        </p:nvSpPr>
        <p:spPr>
          <a:xfrm>
            <a:off x="659706" y="4335660"/>
            <a:ext cx="3498554" cy="2003525"/>
          </a:xfrm>
          <a:prstGeom prst="roundRect">
            <a:avLst>
              <a:gd name="adj" fmla="val 3952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pPr>
              <a:defRPr sz="2200"/>
            </a:pPr>
            <a:endParaRPr sz="1833"/>
          </a:p>
        </p:txBody>
      </p:sp>
      <p:sp>
        <p:nvSpPr>
          <p:cNvPr id="985" name="Text 2"/>
          <p:cNvSpPr txBox="1"/>
          <p:nvPr/>
        </p:nvSpPr>
        <p:spPr>
          <a:xfrm>
            <a:off x="854471" y="4530428"/>
            <a:ext cx="1630254" cy="312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 dirty="0"/>
              <a:t>Eren's Opinion</a:t>
            </a:r>
          </a:p>
        </p:txBody>
      </p:sp>
      <p:sp>
        <p:nvSpPr>
          <p:cNvPr id="986" name="Text 3"/>
          <p:cNvSpPr txBox="1"/>
          <p:nvPr/>
        </p:nvSpPr>
        <p:spPr>
          <a:xfrm>
            <a:off x="854471" y="4937918"/>
            <a:ext cx="3109021" cy="14085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833" dirty="0"/>
              <a:t>Students are tired because they stay up too late scrolling through social media. TikTok is ruining sleep habits.</a:t>
            </a:r>
          </a:p>
        </p:txBody>
      </p:sp>
      <p:sp>
        <p:nvSpPr>
          <p:cNvPr id="987" name="Shape 4"/>
          <p:cNvSpPr/>
          <p:nvPr/>
        </p:nvSpPr>
        <p:spPr>
          <a:xfrm>
            <a:off x="4346674" y="4335660"/>
            <a:ext cx="3498553" cy="2003525"/>
          </a:xfrm>
          <a:prstGeom prst="roundRect">
            <a:avLst>
              <a:gd name="adj" fmla="val 3952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pPr>
              <a:defRPr sz="2200"/>
            </a:pPr>
            <a:endParaRPr sz="1833" dirty="0"/>
          </a:p>
        </p:txBody>
      </p:sp>
      <p:sp>
        <p:nvSpPr>
          <p:cNvPr id="988" name="Text 5"/>
          <p:cNvSpPr txBox="1"/>
          <p:nvPr/>
        </p:nvSpPr>
        <p:spPr>
          <a:xfrm>
            <a:off x="4541440" y="4530428"/>
            <a:ext cx="2071080" cy="312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 dirty="0"/>
              <a:t>Derin’s Hypothesis</a:t>
            </a:r>
          </a:p>
        </p:txBody>
      </p:sp>
      <p:sp>
        <p:nvSpPr>
          <p:cNvPr id="989" name="Text 6"/>
          <p:cNvSpPr txBox="1"/>
          <p:nvPr/>
        </p:nvSpPr>
        <p:spPr>
          <a:xfrm>
            <a:off x="4541440" y="4937918"/>
            <a:ext cx="3109021" cy="10495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833" dirty="0"/>
              <a:t>Early school start times might be the real issue, not necessarily phone use.</a:t>
            </a:r>
          </a:p>
        </p:txBody>
      </p:sp>
      <p:sp>
        <p:nvSpPr>
          <p:cNvPr id="990" name="Shape 7"/>
          <p:cNvSpPr/>
          <p:nvPr/>
        </p:nvSpPr>
        <p:spPr>
          <a:xfrm>
            <a:off x="8033644" y="4335660"/>
            <a:ext cx="3498553" cy="2003525"/>
          </a:xfrm>
          <a:prstGeom prst="roundRect">
            <a:avLst>
              <a:gd name="adj" fmla="val 3952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pPr>
              <a:defRPr sz="2200"/>
            </a:pPr>
            <a:endParaRPr sz="1833"/>
          </a:p>
        </p:txBody>
      </p:sp>
      <p:sp>
        <p:nvSpPr>
          <p:cNvPr id="991" name="Text 8"/>
          <p:cNvSpPr txBox="1"/>
          <p:nvPr/>
        </p:nvSpPr>
        <p:spPr>
          <a:xfrm>
            <a:off x="8228410" y="4530428"/>
            <a:ext cx="2771593" cy="312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 dirty="0"/>
              <a:t>Their Research Approach</a:t>
            </a:r>
          </a:p>
        </p:txBody>
      </p:sp>
      <p:sp>
        <p:nvSpPr>
          <p:cNvPr id="992" name="Text 9"/>
          <p:cNvSpPr txBox="1"/>
          <p:nvPr/>
        </p:nvSpPr>
        <p:spPr>
          <a:xfrm>
            <a:off x="8228409" y="4937918"/>
            <a:ext cx="3109020" cy="10495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833" dirty="0"/>
              <a:t>Design an anonymous survey, analyze patterns, read studies on teen sleep and blue light effects.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4" name="Image 0" descr="Image 0"/>
          <p:cNvPicPr>
            <a:picLocks noChangeAspect="1"/>
          </p:cNvPicPr>
          <p:nvPr/>
        </p:nvPicPr>
        <p:blipFill>
          <a:blip r:embed="rId2"/>
          <a:srcRect r="275" b="275"/>
          <a:stretch>
            <a:fillRect/>
          </a:stretch>
        </p:blipFill>
        <p:spPr>
          <a:xfrm>
            <a:off x="0" y="0"/>
            <a:ext cx="4431862" cy="6647793"/>
          </a:xfrm>
          <a:prstGeom prst="rect">
            <a:avLst/>
          </a:prstGeom>
          <a:ln w="12700">
            <a:miter lim="400000"/>
          </a:ln>
        </p:spPr>
      </p:pic>
      <p:sp>
        <p:nvSpPr>
          <p:cNvPr id="995" name="Text 0"/>
          <p:cNvSpPr txBox="1"/>
          <p:nvPr/>
        </p:nvSpPr>
        <p:spPr>
          <a:xfrm>
            <a:off x="5172969" y="832444"/>
            <a:ext cx="6190797" cy="577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000"/>
              </a:lnSpc>
              <a:defRPr sz="4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333" dirty="0"/>
              <a:t>Their Evidence-Based Findings</a:t>
            </a:r>
          </a:p>
        </p:txBody>
      </p:sp>
      <p:sp>
        <p:nvSpPr>
          <p:cNvPr id="996" name="Shape 1"/>
          <p:cNvSpPr/>
          <p:nvPr/>
        </p:nvSpPr>
        <p:spPr>
          <a:xfrm>
            <a:off x="5172969" y="1626493"/>
            <a:ext cx="386259" cy="386259"/>
          </a:xfrm>
          <a:prstGeom prst="roundRect">
            <a:avLst>
              <a:gd name="adj" fmla="val 18671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997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7312" y="1658640"/>
            <a:ext cx="257473" cy="321867"/>
          </a:xfrm>
          <a:prstGeom prst="rect">
            <a:avLst/>
          </a:prstGeom>
          <a:ln w="12700">
            <a:miter lim="400000"/>
          </a:ln>
        </p:spPr>
      </p:pic>
      <p:sp>
        <p:nvSpPr>
          <p:cNvPr id="998" name="Text 2"/>
          <p:cNvSpPr txBox="1"/>
          <p:nvPr/>
        </p:nvSpPr>
        <p:spPr>
          <a:xfrm>
            <a:off x="5730875" y="1685428"/>
            <a:ext cx="2051844" cy="3007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25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83" dirty="0"/>
              <a:t>Nuanced Results</a:t>
            </a:r>
          </a:p>
        </p:txBody>
      </p:sp>
      <p:sp>
        <p:nvSpPr>
          <p:cNvPr id="999" name="Text 3"/>
          <p:cNvSpPr txBox="1"/>
          <p:nvPr/>
        </p:nvSpPr>
        <p:spPr>
          <a:xfrm>
            <a:off x="5730875" y="2056607"/>
            <a:ext cx="6314903" cy="631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25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83" dirty="0"/>
              <a:t>Data showed a more complex picture than either initial assumption.</a:t>
            </a:r>
          </a:p>
        </p:txBody>
      </p:sp>
      <p:sp>
        <p:nvSpPr>
          <p:cNvPr id="1000" name="Shape 4"/>
          <p:cNvSpPr/>
          <p:nvPr/>
        </p:nvSpPr>
        <p:spPr>
          <a:xfrm>
            <a:off x="5172969" y="2674740"/>
            <a:ext cx="386259" cy="386259"/>
          </a:xfrm>
          <a:prstGeom prst="roundRect">
            <a:avLst>
              <a:gd name="adj" fmla="val 18671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001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7312" y="2706885"/>
            <a:ext cx="257473" cy="321867"/>
          </a:xfrm>
          <a:prstGeom prst="rect">
            <a:avLst/>
          </a:prstGeom>
          <a:ln w="12700">
            <a:miter lim="400000"/>
          </a:ln>
        </p:spPr>
      </p:pic>
      <p:sp>
        <p:nvSpPr>
          <p:cNvPr id="1002" name="Text 5"/>
          <p:cNvSpPr txBox="1"/>
          <p:nvPr/>
        </p:nvSpPr>
        <p:spPr>
          <a:xfrm>
            <a:off x="5730875" y="2733674"/>
            <a:ext cx="2281074" cy="3007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25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83" dirty="0"/>
              <a:t>Phone Correlation</a:t>
            </a:r>
          </a:p>
        </p:txBody>
      </p:sp>
      <p:sp>
        <p:nvSpPr>
          <p:cNvPr id="1003" name="Text 6"/>
          <p:cNvSpPr txBox="1"/>
          <p:nvPr/>
        </p:nvSpPr>
        <p:spPr>
          <a:xfrm>
            <a:off x="5730875" y="3104852"/>
            <a:ext cx="5860157" cy="631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25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83" dirty="0"/>
              <a:t>Excessive phone use did correlate with shorter sleep for some students.</a:t>
            </a:r>
          </a:p>
        </p:txBody>
      </p:sp>
      <p:sp>
        <p:nvSpPr>
          <p:cNvPr id="1004" name="Shape 7"/>
          <p:cNvSpPr/>
          <p:nvPr/>
        </p:nvSpPr>
        <p:spPr>
          <a:xfrm>
            <a:off x="5172969" y="3722985"/>
            <a:ext cx="386259" cy="386259"/>
          </a:xfrm>
          <a:prstGeom prst="roundRect">
            <a:avLst>
              <a:gd name="adj" fmla="val 18671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005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7312" y="3755131"/>
            <a:ext cx="257473" cy="321867"/>
          </a:xfrm>
          <a:prstGeom prst="rect">
            <a:avLst/>
          </a:prstGeom>
          <a:ln w="12700">
            <a:miter lim="400000"/>
          </a:ln>
        </p:spPr>
      </p:pic>
      <p:sp>
        <p:nvSpPr>
          <p:cNvPr id="1006" name="Text 8"/>
          <p:cNvSpPr txBox="1"/>
          <p:nvPr/>
        </p:nvSpPr>
        <p:spPr>
          <a:xfrm>
            <a:off x="5730875" y="3781921"/>
            <a:ext cx="2258632" cy="3007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25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83" dirty="0"/>
              <a:t>Structural Factors</a:t>
            </a:r>
          </a:p>
        </p:txBody>
      </p:sp>
      <p:sp>
        <p:nvSpPr>
          <p:cNvPr id="1007" name="Text 9"/>
          <p:cNvSpPr txBox="1"/>
          <p:nvPr/>
        </p:nvSpPr>
        <p:spPr>
          <a:xfrm>
            <a:off x="5730875" y="4153098"/>
            <a:ext cx="5860157" cy="631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25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83" dirty="0"/>
              <a:t>Students with strict screen limits still struggled with early wake-up times.</a:t>
            </a:r>
          </a:p>
        </p:txBody>
      </p:sp>
      <p:sp>
        <p:nvSpPr>
          <p:cNvPr id="1008" name="Shape 10"/>
          <p:cNvSpPr/>
          <p:nvPr/>
        </p:nvSpPr>
        <p:spPr>
          <a:xfrm>
            <a:off x="5172969" y="5045969"/>
            <a:ext cx="386259" cy="386259"/>
          </a:xfrm>
          <a:prstGeom prst="roundRect">
            <a:avLst>
              <a:gd name="adj" fmla="val 18671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009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7312" y="5078115"/>
            <a:ext cx="257473" cy="321867"/>
          </a:xfrm>
          <a:prstGeom prst="rect">
            <a:avLst/>
          </a:prstGeom>
          <a:ln w="12700">
            <a:miter lim="400000"/>
          </a:ln>
        </p:spPr>
      </p:pic>
      <p:sp>
        <p:nvSpPr>
          <p:cNvPr id="1010" name="Text 11"/>
          <p:cNvSpPr txBox="1"/>
          <p:nvPr/>
        </p:nvSpPr>
        <p:spPr>
          <a:xfrm>
            <a:off x="5730875" y="5104903"/>
            <a:ext cx="1979709" cy="3007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25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83" dirty="0"/>
              <a:t>Multiple Causes</a:t>
            </a:r>
          </a:p>
        </p:txBody>
      </p:sp>
      <p:sp>
        <p:nvSpPr>
          <p:cNvPr id="1011" name="Text 12"/>
          <p:cNvSpPr txBox="1"/>
          <p:nvPr/>
        </p:nvSpPr>
        <p:spPr>
          <a:xfrm>
            <a:off x="5730875" y="5476082"/>
            <a:ext cx="5860157" cy="631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25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83" dirty="0"/>
              <a:t>Both personal habits and school schedules contributed to morning fatigue.</a:t>
            </a:r>
          </a:p>
        </p:txBody>
      </p:sp>
      <p:sp>
        <p:nvSpPr>
          <p:cNvPr id="1012" name="Rectangle"/>
          <p:cNvSpPr/>
          <p:nvPr/>
        </p:nvSpPr>
        <p:spPr>
          <a:xfrm>
            <a:off x="-94856" y="-366885"/>
            <a:ext cx="9701771" cy="58674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  <p:sp>
        <p:nvSpPr>
          <p:cNvPr id="1013" name="Text 5"/>
          <p:cNvSpPr txBox="1"/>
          <p:nvPr/>
        </p:nvSpPr>
        <p:spPr>
          <a:xfrm>
            <a:off x="333375" y="4610436"/>
            <a:ext cx="67326" cy="274306"/>
          </a:xfrm>
          <a:prstGeom prst="rect">
            <a:avLst/>
          </a:prstGeom>
          <a:solidFill>
            <a:srgbClr val="1B293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1400">
                <a:solidFill>
                  <a:srgbClr val="FFFFFF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167"/>
              <a:t>3</a:t>
            </a:r>
          </a:p>
        </p:txBody>
      </p:sp>
      <p:sp>
        <p:nvSpPr>
          <p:cNvPr id="1014" name="Text 5"/>
          <p:cNvSpPr txBox="1"/>
          <p:nvPr/>
        </p:nvSpPr>
        <p:spPr>
          <a:xfrm>
            <a:off x="333375" y="4298777"/>
            <a:ext cx="73738" cy="274306"/>
          </a:xfrm>
          <a:prstGeom prst="rect">
            <a:avLst/>
          </a:prstGeom>
          <a:solidFill>
            <a:srgbClr val="1B293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1400">
                <a:solidFill>
                  <a:srgbClr val="FFFFFF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167"/>
              <a:t>4</a:t>
            </a:r>
          </a:p>
        </p:txBody>
      </p:sp>
      <p:sp>
        <p:nvSpPr>
          <p:cNvPr id="1015" name="Text 5"/>
          <p:cNvSpPr txBox="1"/>
          <p:nvPr/>
        </p:nvSpPr>
        <p:spPr>
          <a:xfrm rot="16201879">
            <a:off x="483975" y="2543076"/>
            <a:ext cx="1514838" cy="274306"/>
          </a:xfrm>
          <a:prstGeom prst="rect">
            <a:avLst/>
          </a:prstGeom>
          <a:solidFill>
            <a:srgbClr val="1B293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1400">
                <a:solidFill>
                  <a:srgbClr val="E8E8E8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167"/>
              <a:t>Sleep Duration (hours)</a:t>
            </a:r>
          </a:p>
        </p:txBody>
      </p:sp>
      <p:sp>
        <p:nvSpPr>
          <p:cNvPr id="1016" name="Text 5"/>
          <p:cNvSpPr txBox="1"/>
          <p:nvPr/>
        </p:nvSpPr>
        <p:spPr>
          <a:xfrm>
            <a:off x="1407933" y="2859444"/>
            <a:ext cx="73738" cy="274306"/>
          </a:xfrm>
          <a:prstGeom prst="rect">
            <a:avLst/>
          </a:prstGeom>
          <a:solidFill>
            <a:srgbClr val="1B293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1400">
                <a:solidFill>
                  <a:srgbClr val="FFFFFF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167"/>
              <a:t>4</a:t>
            </a:r>
          </a:p>
        </p:txBody>
      </p:sp>
      <p:sp>
        <p:nvSpPr>
          <p:cNvPr id="1017" name="Text 5"/>
          <p:cNvSpPr txBox="1"/>
          <p:nvPr/>
        </p:nvSpPr>
        <p:spPr>
          <a:xfrm>
            <a:off x="1407932" y="2439613"/>
            <a:ext cx="76944" cy="274306"/>
          </a:xfrm>
          <a:prstGeom prst="rect">
            <a:avLst/>
          </a:prstGeom>
          <a:solidFill>
            <a:srgbClr val="1B293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1400">
                <a:solidFill>
                  <a:srgbClr val="FFFFFF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167"/>
              <a:t>6</a:t>
            </a:r>
          </a:p>
        </p:txBody>
      </p:sp>
      <p:sp>
        <p:nvSpPr>
          <p:cNvPr id="1018" name="Text 5"/>
          <p:cNvSpPr txBox="1"/>
          <p:nvPr/>
        </p:nvSpPr>
        <p:spPr>
          <a:xfrm>
            <a:off x="1407932" y="2019782"/>
            <a:ext cx="78548" cy="274306"/>
          </a:xfrm>
          <a:prstGeom prst="rect">
            <a:avLst/>
          </a:prstGeom>
          <a:solidFill>
            <a:srgbClr val="1B293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1400">
                <a:solidFill>
                  <a:srgbClr val="FFFFFF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167"/>
              <a:t>8</a:t>
            </a:r>
          </a:p>
        </p:txBody>
      </p:sp>
      <p:sp>
        <p:nvSpPr>
          <p:cNvPr id="1019" name="Text 5"/>
          <p:cNvSpPr txBox="1"/>
          <p:nvPr/>
        </p:nvSpPr>
        <p:spPr>
          <a:xfrm>
            <a:off x="1534932" y="3422545"/>
            <a:ext cx="76944" cy="153888"/>
          </a:xfrm>
          <a:prstGeom prst="rect">
            <a:avLst/>
          </a:prstGeom>
          <a:solidFill>
            <a:srgbClr val="1C2A4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1200">
                <a:solidFill>
                  <a:srgbClr val="FFFFFF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000"/>
              <a:t>0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Text 0"/>
          <p:cNvSpPr txBox="1"/>
          <p:nvPr/>
        </p:nvSpPr>
        <p:spPr>
          <a:xfrm>
            <a:off x="661491" y="1065312"/>
            <a:ext cx="8080738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From Curiosity to Focused Questions</a:t>
            </a:r>
          </a:p>
        </p:txBody>
      </p:sp>
      <p:sp>
        <p:nvSpPr>
          <p:cNvPr id="1022" name="Shape 1"/>
          <p:cNvSpPr/>
          <p:nvPr/>
        </p:nvSpPr>
        <p:spPr>
          <a:xfrm>
            <a:off x="661491" y="2033984"/>
            <a:ext cx="1811437" cy="1089125"/>
          </a:xfrm>
          <a:prstGeom prst="roundRect">
            <a:avLst>
              <a:gd name="adj" fmla="val 728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023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306" y="2412405"/>
            <a:ext cx="265808" cy="332185"/>
          </a:xfrm>
          <a:prstGeom prst="rect">
            <a:avLst/>
          </a:prstGeom>
          <a:ln w="12700">
            <a:miter lim="400000"/>
          </a:ln>
        </p:spPr>
      </p:pic>
      <p:sp>
        <p:nvSpPr>
          <p:cNvPr id="1024" name="Text 2"/>
          <p:cNvSpPr txBox="1"/>
          <p:nvPr/>
        </p:nvSpPr>
        <p:spPr>
          <a:xfrm>
            <a:off x="2661941" y="2222995"/>
            <a:ext cx="1713611" cy="312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Curiosity Spark</a:t>
            </a:r>
          </a:p>
        </p:txBody>
      </p:sp>
      <p:sp>
        <p:nvSpPr>
          <p:cNvPr id="1025" name="Text 3"/>
          <p:cNvSpPr txBox="1"/>
          <p:nvPr/>
        </p:nvSpPr>
        <p:spPr>
          <a:xfrm>
            <a:off x="2661940" y="2631678"/>
            <a:ext cx="5122684" cy="32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800"/>
              </a:lnSpc>
              <a:defRPr sz="20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667"/>
              <a:t>The urge to know more about something that intrigues you</a:t>
            </a:r>
          </a:p>
        </p:txBody>
      </p:sp>
      <p:sp>
        <p:nvSpPr>
          <p:cNvPr id="1026" name="Shape 4"/>
          <p:cNvSpPr/>
          <p:nvPr/>
        </p:nvSpPr>
        <p:spPr>
          <a:xfrm>
            <a:off x="2567383" y="3110409"/>
            <a:ext cx="8868670" cy="12701"/>
          </a:xfrm>
          <a:prstGeom prst="roundRect">
            <a:avLst>
              <a:gd name="adj" fmla="val 50000"/>
            </a:avLst>
          </a:prstGeom>
          <a:solidFill>
            <a:srgbClr val="B2D3E5"/>
          </a:solidFill>
          <a:ln w="12700">
            <a:miter lim="400000"/>
          </a:ln>
        </p:spPr>
        <p:txBody>
          <a:bodyPr lIns="38099" rIns="38099"/>
          <a:lstStyle/>
          <a:p>
            <a:pPr>
              <a:defRPr sz="2000"/>
            </a:pPr>
            <a:endParaRPr sz="1667"/>
          </a:p>
        </p:txBody>
      </p:sp>
      <p:sp>
        <p:nvSpPr>
          <p:cNvPr id="1027" name="Shape 5"/>
          <p:cNvSpPr/>
          <p:nvPr/>
        </p:nvSpPr>
        <p:spPr>
          <a:xfrm>
            <a:off x="661492" y="3217564"/>
            <a:ext cx="3622973" cy="1089125"/>
          </a:xfrm>
          <a:prstGeom prst="roundRect">
            <a:avLst>
              <a:gd name="adj" fmla="val 728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028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074" y="3595984"/>
            <a:ext cx="265808" cy="332185"/>
          </a:xfrm>
          <a:prstGeom prst="rect">
            <a:avLst/>
          </a:prstGeom>
          <a:ln w="12700">
            <a:miter lim="400000"/>
          </a:ln>
        </p:spPr>
      </p:pic>
      <p:sp>
        <p:nvSpPr>
          <p:cNvPr id="1029" name="Text 6"/>
          <p:cNvSpPr txBox="1"/>
          <p:nvPr/>
        </p:nvSpPr>
        <p:spPr>
          <a:xfrm>
            <a:off x="4473476" y="3406576"/>
            <a:ext cx="873637" cy="312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Wonder</a:t>
            </a:r>
          </a:p>
        </p:txBody>
      </p:sp>
      <p:sp>
        <p:nvSpPr>
          <p:cNvPr id="1030" name="Text 7"/>
          <p:cNvSpPr txBox="1"/>
          <p:nvPr/>
        </p:nvSpPr>
        <p:spPr>
          <a:xfrm>
            <a:off x="4473476" y="3815258"/>
            <a:ext cx="5793124" cy="32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800"/>
              </a:lnSpc>
              <a:defRPr sz="20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667"/>
              <a:t>Asking yourself "Why is this happening?" or "How does this work?"</a:t>
            </a:r>
          </a:p>
        </p:txBody>
      </p:sp>
      <p:sp>
        <p:nvSpPr>
          <p:cNvPr id="1031" name="Shape 8"/>
          <p:cNvSpPr/>
          <p:nvPr/>
        </p:nvSpPr>
        <p:spPr>
          <a:xfrm>
            <a:off x="4378920" y="4293990"/>
            <a:ext cx="7057133" cy="12701"/>
          </a:xfrm>
          <a:prstGeom prst="roundRect">
            <a:avLst>
              <a:gd name="adj" fmla="val 50000"/>
            </a:avLst>
          </a:prstGeom>
          <a:solidFill>
            <a:srgbClr val="B2D3E5"/>
          </a:solidFill>
          <a:ln w="12700">
            <a:miter lim="400000"/>
          </a:ln>
        </p:spPr>
        <p:txBody>
          <a:bodyPr lIns="38099" rIns="38099"/>
          <a:lstStyle/>
          <a:p>
            <a:pPr>
              <a:defRPr sz="2000"/>
            </a:pPr>
            <a:endParaRPr sz="1667"/>
          </a:p>
        </p:txBody>
      </p:sp>
      <p:sp>
        <p:nvSpPr>
          <p:cNvPr id="1032" name="Shape 9"/>
          <p:cNvSpPr/>
          <p:nvPr/>
        </p:nvSpPr>
        <p:spPr>
          <a:xfrm>
            <a:off x="661492" y="4401146"/>
            <a:ext cx="5434508" cy="1391544"/>
          </a:xfrm>
          <a:prstGeom prst="roundRect">
            <a:avLst>
              <a:gd name="adj" fmla="val 5705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033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5843" y="4930774"/>
            <a:ext cx="265808" cy="332185"/>
          </a:xfrm>
          <a:prstGeom prst="rect">
            <a:avLst/>
          </a:prstGeom>
          <a:ln w="12700">
            <a:miter lim="400000"/>
          </a:ln>
        </p:spPr>
      </p:pic>
      <p:sp>
        <p:nvSpPr>
          <p:cNvPr id="1034" name="Text 10"/>
          <p:cNvSpPr txBox="1"/>
          <p:nvPr/>
        </p:nvSpPr>
        <p:spPr>
          <a:xfrm>
            <a:off x="6285012" y="4590156"/>
            <a:ext cx="1857881" cy="3080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667"/>
              <a:t>Research Question</a:t>
            </a:r>
          </a:p>
        </p:txBody>
      </p:sp>
      <p:sp>
        <p:nvSpPr>
          <p:cNvPr id="1035" name="Text 11"/>
          <p:cNvSpPr txBox="1"/>
          <p:nvPr/>
        </p:nvSpPr>
        <p:spPr>
          <a:xfrm>
            <a:off x="6285012" y="4998839"/>
            <a:ext cx="5056486" cy="684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0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667"/>
              <a:t>Transforming curiosity into a clear, specific question to explore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 txBox="1"/>
          <p:nvPr/>
        </p:nvSpPr>
        <p:spPr>
          <a:xfrm>
            <a:off x="661491" y="1065312"/>
            <a:ext cx="8080738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From Curiosity to Focused Questions</a:t>
            </a:r>
          </a:p>
        </p:txBody>
      </p:sp>
      <p:sp>
        <p:nvSpPr>
          <p:cNvPr id="1038" name="Shape 1"/>
          <p:cNvSpPr/>
          <p:nvPr/>
        </p:nvSpPr>
        <p:spPr>
          <a:xfrm>
            <a:off x="661491" y="2033984"/>
            <a:ext cx="1811437" cy="1089125"/>
          </a:xfrm>
          <a:prstGeom prst="roundRect">
            <a:avLst>
              <a:gd name="adj" fmla="val 728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039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306" y="2412405"/>
            <a:ext cx="265808" cy="332185"/>
          </a:xfrm>
          <a:prstGeom prst="rect">
            <a:avLst/>
          </a:prstGeom>
          <a:ln w="12700">
            <a:miter lim="400000"/>
          </a:ln>
        </p:spPr>
      </p:pic>
      <p:sp>
        <p:nvSpPr>
          <p:cNvPr id="1040" name="Text 2"/>
          <p:cNvSpPr txBox="1"/>
          <p:nvPr/>
        </p:nvSpPr>
        <p:spPr>
          <a:xfrm>
            <a:off x="2661941" y="2222995"/>
            <a:ext cx="1713611" cy="312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Curiosity Spark</a:t>
            </a:r>
          </a:p>
        </p:txBody>
      </p:sp>
      <p:sp>
        <p:nvSpPr>
          <p:cNvPr id="1041" name="Text 3"/>
          <p:cNvSpPr txBox="1"/>
          <p:nvPr/>
        </p:nvSpPr>
        <p:spPr>
          <a:xfrm>
            <a:off x="2661940" y="2631678"/>
            <a:ext cx="5122684" cy="32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800"/>
              </a:lnSpc>
              <a:defRPr sz="20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667"/>
              <a:t>The urge to know more about something that intrigues you</a:t>
            </a:r>
          </a:p>
        </p:txBody>
      </p:sp>
      <p:sp>
        <p:nvSpPr>
          <p:cNvPr id="1042" name="Shape 4"/>
          <p:cNvSpPr/>
          <p:nvPr/>
        </p:nvSpPr>
        <p:spPr>
          <a:xfrm>
            <a:off x="2567383" y="3110409"/>
            <a:ext cx="8868670" cy="12701"/>
          </a:xfrm>
          <a:prstGeom prst="roundRect">
            <a:avLst>
              <a:gd name="adj" fmla="val 50000"/>
            </a:avLst>
          </a:prstGeom>
          <a:solidFill>
            <a:srgbClr val="B2D3E5"/>
          </a:solidFill>
          <a:ln w="12700">
            <a:miter lim="400000"/>
          </a:ln>
        </p:spPr>
        <p:txBody>
          <a:bodyPr lIns="38099" rIns="38099"/>
          <a:lstStyle/>
          <a:p>
            <a:pPr>
              <a:defRPr sz="2000"/>
            </a:pPr>
            <a:endParaRPr sz="1667"/>
          </a:p>
        </p:txBody>
      </p:sp>
      <p:sp>
        <p:nvSpPr>
          <p:cNvPr id="1043" name="Shape 5"/>
          <p:cNvSpPr/>
          <p:nvPr/>
        </p:nvSpPr>
        <p:spPr>
          <a:xfrm>
            <a:off x="661492" y="3217564"/>
            <a:ext cx="3622973" cy="1089125"/>
          </a:xfrm>
          <a:prstGeom prst="roundRect">
            <a:avLst>
              <a:gd name="adj" fmla="val 728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044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074" y="3595984"/>
            <a:ext cx="265808" cy="332185"/>
          </a:xfrm>
          <a:prstGeom prst="rect">
            <a:avLst/>
          </a:prstGeom>
          <a:ln w="12700">
            <a:miter lim="400000"/>
          </a:ln>
        </p:spPr>
      </p:pic>
      <p:sp>
        <p:nvSpPr>
          <p:cNvPr id="1045" name="Text 6"/>
          <p:cNvSpPr txBox="1"/>
          <p:nvPr/>
        </p:nvSpPr>
        <p:spPr>
          <a:xfrm>
            <a:off x="4473476" y="3406576"/>
            <a:ext cx="873637" cy="312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Wonder</a:t>
            </a:r>
          </a:p>
        </p:txBody>
      </p:sp>
      <p:sp>
        <p:nvSpPr>
          <p:cNvPr id="1046" name="Text 7"/>
          <p:cNvSpPr txBox="1"/>
          <p:nvPr/>
        </p:nvSpPr>
        <p:spPr>
          <a:xfrm>
            <a:off x="4473476" y="3815258"/>
            <a:ext cx="5793124" cy="3257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800"/>
              </a:lnSpc>
              <a:defRPr sz="20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667"/>
              <a:t>Asking yourself "Why is this happening?" or "How does this work?"</a:t>
            </a:r>
          </a:p>
        </p:txBody>
      </p:sp>
      <p:sp>
        <p:nvSpPr>
          <p:cNvPr id="1047" name="Shape 8"/>
          <p:cNvSpPr/>
          <p:nvPr/>
        </p:nvSpPr>
        <p:spPr>
          <a:xfrm>
            <a:off x="4378920" y="4293990"/>
            <a:ext cx="7057133" cy="12701"/>
          </a:xfrm>
          <a:prstGeom prst="roundRect">
            <a:avLst>
              <a:gd name="adj" fmla="val 50000"/>
            </a:avLst>
          </a:prstGeom>
          <a:solidFill>
            <a:srgbClr val="B2D3E5"/>
          </a:solidFill>
          <a:ln w="12700">
            <a:miter lim="400000"/>
          </a:ln>
        </p:spPr>
        <p:txBody>
          <a:bodyPr lIns="38099" rIns="38099"/>
          <a:lstStyle/>
          <a:p>
            <a:pPr>
              <a:defRPr sz="2000"/>
            </a:pPr>
            <a:endParaRPr sz="1667"/>
          </a:p>
        </p:txBody>
      </p:sp>
      <p:sp>
        <p:nvSpPr>
          <p:cNvPr id="1048" name="Text 10"/>
          <p:cNvSpPr txBox="1"/>
          <p:nvPr/>
        </p:nvSpPr>
        <p:spPr>
          <a:xfrm>
            <a:off x="646630" y="4487767"/>
            <a:ext cx="10898740" cy="718017"/>
          </a:xfrm>
          <a:prstGeom prst="rect">
            <a:avLst/>
          </a:prstGeom>
          <a:solidFill>
            <a:srgbClr val="D7AA48"/>
          </a:solidFill>
          <a:ln w="19050">
            <a:solidFill>
              <a:srgbClr val="AA5224"/>
            </a:solidFill>
            <a:miter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endParaRPr sz="2333"/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rPr sz="2333"/>
              <a:t>WHAT ARE YOU CURIOUS ABOUT? 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72000" cy="6858198"/>
          </a:xfrm>
          <a:prstGeom prst="rect">
            <a:avLst/>
          </a:prstGeom>
          <a:ln w="12700">
            <a:miter lim="400000"/>
          </a:ln>
        </p:spPr>
      </p:pic>
      <p:sp>
        <p:nvSpPr>
          <p:cNvPr id="1051" name="Text 0"/>
          <p:cNvSpPr txBox="1"/>
          <p:nvPr/>
        </p:nvSpPr>
        <p:spPr>
          <a:xfrm>
            <a:off x="5152727" y="456306"/>
            <a:ext cx="6458547" cy="11714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4800"/>
              </a:lnSpc>
              <a:defRPr sz="39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250"/>
              <a:t>Transforming Curiosity into Research Questions</a:t>
            </a:r>
          </a:p>
        </p:txBody>
      </p:sp>
      <p:pic>
        <p:nvPicPr>
          <p:cNvPr id="1052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2727" y="1742181"/>
            <a:ext cx="829668" cy="1221383"/>
          </a:xfrm>
          <a:prstGeom prst="rect">
            <a:avLst/>
          </a:prstGeom>
          <a:ln w="12700">
            <a:miter lim="400000"/>
          </a:ln>
        </p:spPr>
      </p:pic>
      <p:sp>
        <p:nvSpPr>
          <p:cNvPr id="1053" name="Text 1"/>
          <p:cNvSpPr txBox="1"/>
          <p:nvPr/>
        </p:nvSpPr>
        <p:spPr>
          <a:xfrm>
            <a:off x="6231236" y="1908076"/>
            <a:ext cx="1859483" cy="276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400"/>
              </a:lnSpc>
              <a:defRPr sz="19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583"/>
              <a:t>Pandemic Curiosity</a:t>
            </a:r>
          </a:p>
        </p:txBody>
      </p:sp>
      <p:sp>
        <p:nvSpPr>
          <p:cNvPr id="1054" name="Text 2"/>
          <p:cNvSpPr txBox="1"/>
          <p:nvPr/>
        </p:nvSpPr>
        <p:spPr>
          <a:xfrm>
            <a:off x="6231235" y="2266850"/>
            <a:ext cx="5380038" cy="614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19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583"/>
              <a:t>"It's weird that people rushed to buy toilet paper during the pandemic."</a:t>
            </a:r>
          </a:p>
        </p:txBody>
      </p:sp>
      <p:pic>
        <p:nvPicPr>
          <p:cNvPr id="1055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2727" y="2857249"/>
            <a:ext cx="829668" cy="1221383"/>
          </a:xfrm>
          <a:prstGeom prst="rect">
            <a:avLst/>
          </a:prstGeom>
          <a:ln w="12700">
            <a:miter lim="400000"/>
          </a:ln>
        </p:spPr>
      </p:pic>
      <p:sp>
        <p:nvSpPr>
          <p:cNvPr id="1056" name="Text 3"/>
          <p:cNvSpPr txBox="1"/>
          <p:nvPr/>
        </p:nvSpPr>
        <p:spPr>
          <a:xfrm>
            <a:off x="6231236" y="3129458"/>
            <a:ext cx="1771319" cy="276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400"/>
              </a:lnSpc>
              <a:defRPr sz="19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583"/>
              <a:t>Research Question</a:t>
            </a:r>
          </a:p>
        </p:txBody>
      </p:sp>
      <p:sp>
        <p:nvSpPr>
          <p:cNvPr id="1057" name="Text 4"/>
          <p:cNvSpPr txBox="1"/>
          <p:nvPr/>
        </p:nvSpPr>
        <p:spPr>
          <a:xfrm>
            <a:off x="6231235" y="3488234"/>
            <a:ext cx="5380038" cy="614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19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583"/>
              <a:t>"What factors caused people to panic-buy toilet paper during COVID-19?"</a:t>
            </a:r>
          </a:p>
        </p:txBody>
      </p:sp>
      <p:sp>
        <p:nvSpPr>
          <p:cNvPr id="1058" name="Text 5"/>
          <p:cNvSpPr txBox="1"/>
          <p:nvPr/>
        </p:nvSpPr>
        <p:spPr>
          <a:xfrm>
            <a:off x="6231235" y="4350841"/>
            <a:ext cx="1420261" cy="276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400"/>
              </a:lnSpc>
              <a:defRPr sz="19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583"/>
              <a:t>Plant Curiosity</a:t>
            </a:r>
          </a:p>
        </p:txBody>
      </p:sp>
      <p:sp>
        <p:nvSpPr>
          <p:cNvPr id="1059" name="Text 6"/>
          <p:cNvSpPr txBox="1"/>
          <p:nvPr/>
        </p:nvSpPr>
        <p:spPr>
          <a:xfrm>
            <a:off x="6231235" y="4709616"/>
            <a:ext cx="4550348" cy="527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lnSpc>
                <a:spcPts val="2083"/>
              </a:lnSpc>
              <a:defRPr sz="2000">
                <a:latin typeface="Inter"/>
                <a:ea typeface="Inter"/>
                <a:cs typeface="Inter"/>
                <a:sym typeface="Inter"/>
              </a:defRPr>
            </a:pPr>
            <a:r>
              <a:rPr sz="1667"/>
              <a:t>"My houseplants grow differently in different rooms </a:t>
            </a:r>
          </a:p>
          <a:p>
            <a:pPr>
              <a:lnSpc>
                <a:spcPts val="2083"/>
              </a:lnSpc>
              <a:defRPr sz="2000">
                <a:latin typeface="Inter"/>
                <a:ea typeface="Inter"/>
                <a:cs typeface="Inter"/>
                <a:sym typeface="Inter"/>
              </a:defRPr>
            </a:pPr>
            <a:r>
              <a:rPr sz="1667"/>
              <a:t>of my house."</a:t>
            </a:r>
          </a:p>
        </p:txBody>
      </p:sp>
      <p:sp>
        <p:nvSpPr>
          <p:cNvPr id="1060" name="Text 7"/>
          <p:cNvSpPr txBox="1"/>
          <p:nvPr/>
        </p:nvSpPr>
        <p:spPr>
          <a:xfrm>
            <a:off x="6231236" y="5346402"/>
            <a:ext cx="1771319" cy="276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400"/>
              </a:lnSpc>
              <a:defRPr sz="19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583"/>
              <a:t>Research Question</a:t>
            </a:r>
          </a:p>
        </p:txBody>
      </p:sp>
      <p:sp>
        <p:nvSpPr>
          <p:cNvPr id="1061" name="Text 8"/>
          <p:cNvSpPr txBox="1"/>
          <p:nvPr/>
        </p:nvSpPr>
        <p:spPr>
          <a:xfrm>
            <a:off x="6231235" y="5705178"/>
            <a:ext cx="5380038" cy="614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19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583"/>
              <a:t>"How does sunlight exposure affect the growth rate of my houseplants?"</a:t>
            </a:r>
          </a:p>
        </p:txBody>
      </p:sp>
      <p:pic>
        <p:nvPicPr>
          <p:cNvPr id="1062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2774" y="4165904"/>
            <a:ext cx="829573" cy="12212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3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2144" y="5270249"/>
            <a:ext cx="829668" cy="122138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Text 0"/>
          <p:cNvSpPr txBox="1"/>
          <p:nvPr/>
        </p:nvSpPr>
        <p:spPr>
          <a:xfrm>
            <a:off x="661491" y="1715095"/>
            <a:ext cx="10137391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The Difference Between Opinion and Research</a:t>
            </a:r>
          </a:p>
        </p:txBody>
      </p:sp>
      <p:sp>
        <p:nvSpPr>
          <p:cNvPr id="1066" name="Text 1"/>
          <p:cNvSpPr txBox="1"/>
          <p:nvPr/>
        </p:nvSpPr>
        <p:spPr>
          <a:xfrm>
            <a:off x="661491" y="2778224"/>
            <a:ext cx="1264770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3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583"/>
              <a:t>Opinion</a:t>
            </a:r>
          </a:p>
        </p:txBody>
      </p:sp>
      <p:sp>
        <p:nvSpPr>
          <p:cNvPr id="1067" name="Text 2"/>
          <p:cNvSpPr txBox="1"/>
          <p:nvPr/>
        </p:nvSpPr>
        <p:spPr>
          <a:xfrm>
            <a:off x="661491" y="3262510"/>
            <a:ext cx="5203926" cy="698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5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83"/>
              <a:t>What you think or feel about something, based on personal perspective.</a:t>
            </a:r>
          </a:p>
        </p:txBody>
      </p:sp>
      <p:sp>
        <p:nvSpPr>
          <p:cNvPr id="1068" name="Text 3"/>
          <p:cNvSpPr txBox="1"/>
          <p:nvPr/>
        </p:nvSpPr>
        <p:spPr>
          <a:xfrm>
            <a:off x="661491" y="4037409"/>
            <a:ext cx="1462516" cy="339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marL="342900" indent="-342900">
              <a:lnSpc>
                <a:spcPts val="2800"/>
              </a:lnSpc>
              <a:buSzPct val="100000"/>
              <a:buChar char="•"/>
              <a:defRPr sz="25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83"/>
              <a:t>Subjective</a:t>
            </a:r>
          </a:p>
        </p:txBody>
      </p:sp>
      <p:sp>
        <p:nvSpPr>
          <p:cNvPr id="1069" name="Text 4"/>
          <p:cNvSpPr txBox="1"/>
          <p:nvPr/>
        </p:nvSpPr>
        <p:spPr>
          <a:xfrm>
            <a:off x="661491" y="4405907"/>
            <a:ext cx="3009927" cy="339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marL="342900" indent="-342900">
              <a:lnSpc>
                <a:spcPts val="2800"/>
              </a:lnSpc>
              <a:buSzPct val="100000"/>
              <a:buChar char="•"/>
              <a:defRPr sz="25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83"/>
              <a:t>Based on personal belief</a:t>
            </a:r>
          </a:p>
        </p:txBody>
      </p:sp>
      <p:sp>
        <p:nvSpPr>
          <p:cNvPr id="1070" name="Text 5"/>
          <p:cNvSpPr txBox="1"/>
          <p:nvPr/>
        </p:nvSpPr>
        <p:spPr>
          <a:xfrm>
            <a:off x="661491" y="4774406"/>
            <a:ext cx="3574889" cy="339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marL="342900" indent="-342900">
              <a:lnSpc>
                <a:spcPts val="2800"/>
              </a:lnSpc>
              <a:buSzPct val="100000"/>
              <a:buChar char="•"/>
              <a:defRPr sz="25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83"/>
              <a:t>May lack supporting evidence</a:t>
            </a:r>
          </a:p>
        </p:txBody>
      </p:sp>
      <p:sp>
        <p:nvSpPr>
          <p:cNvPr id="1071" name="Text 6"/>
          <p:cNvSpPr txBox="1"/>
          <p:nvPr/>
        </p:nvSpPr>
        <p:spPr>
          <a:xfrm>
            <a:off x="6332934" y="2778224"/>
            <a:ext cx="1407437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3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583"/>
              <a:t>Research</a:t>
            </a:r>
          </a:p>
        </p:txBody>
      </p:sp>
      <p:sp>
        <p:nvSpPr>
          <p:cNvPr id="1072" name="Text 7"/>
          <p:cNvSpPr txBox="1"/>
          <p:nvPr/>
        </p:nvSpPr>
        <p:spPr>
          <a:xfrm>
            <a:off x="6332933" y="3262510"/>
            <a:ext cx="5203925" cy="698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5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83"/>
              <a:t>Systematic investigation that produces evidence-based conclusions.</a:t>
            </a:r>
          </a:p>
        </p:txBody>
      </p:sp>
      <p:sp>
        <p:nvSpPr>
          <p:cNvPr id="1073" name="Text 8"/>
          <p:cNvSpPr txBox="1"/>
          <p:nvPr/>
        </p:nvSpPr>
        <p:spPr>
          <a:xfrm>
            <a:off x="6332934" y="4037409"/>
            <a:ext cx="1374351" cy="339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marL="342900" indent="-342900">
              <a:lnSpc>
                <a:spcPts val="2800"/>
              </a:lnSpc>
              <a:buSzPct val="100000"/>
              <a:buChar char="•"/>
              <a:defRPr sz="25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83"/>
              <a:t>Objective</a:t>
            </a:r>
          </a:p>
        </p:txBody>
      </p:sp>
      <p:sp>
        <p:nvSpPr>
          <p:cNvPr id="1074" name="Text 9"/>
          <p:cNvSpPr txBox="1"/>
          <p:nvPr/>
        </p:nvSpPr>
        <p:spPr>
          <a:xfrm>
            <a:off x="6332934" y="4405907"/>
            <a:ext cx="3332002" cy="294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285739" indent="-285739">
              <a:lnSpc>
                <a:spcPts val="2333"/>
              </a:lnSpc>
              <a:buSzPct val="100000"/>
              <a:buChar char="•"/>
              <a:defRPr sz="2500">
                <a:latin typeface="Inter"/>
                <a:ea typeface="Inter"/>
                <a:cs typeface="Inter"/>
                <a:sym typeface="Inter"/>
              </a:defRPr>
            </a:pPr>
            <a:r>
              <a:rPr sz="2083"/>
              <a:t>Based on data and </a:t>
            </a:r>
            <a:r>
              <a:rPr sz="2083" u="sng"/>
              <a:t>evidence</a:t>
            </a:r>
          </a:p>
        </p:txBody>
      </p:sp>
      <p:sp>
        <p:nvSpPr>
          <p:cNvPr id="1075" name="Text 10"/>
          <p:cNvSpPr txBox="1"/>
          <p:nvPr/>
        </p:nvSpPr>
        <p:spPr>
          <a:xfrm>
            <a:off x="6332933" y="4774406"/>
            <a:ext cx="3562898" cy="339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marL="342900" indent="-342900">
              <a:lnSpc>
                <a:spcPts val="2800"/>
              </a:lnSpc>
              <a:buSzPct val="100000"/>
              <a:buChar char="•"/>
              <a:defRPr sz="25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83"/>
              <a:t>Follows methodical processes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Everyone should stop using social media completely.…"/>
          <p:cNvSpPr txBox="1"/>
          <p:nvPr/>
        </p:nvSpPr>
        <p:spPr>
          <a:xfrm>
            <a:off x="648447" y="2006937"/>
            <a:ext cx="10245880" cy="32847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8099" rIns="38099">
            <a:spAutoFit/>
          </a:bodyPr>
          <a:lstStyle/>
          <a:p>
            <a:pPr marL="380985" indent="-264573" defTabSz="380985">
              <a:buSzPct val="100000"/>
              <a:buFont typeface="Arial"/>
              <a:buAutoNum type="arabicPeriod"/>
              <a:defRPr sz="2766">
                <a:latin typeface="Arial"/>
                <a:ea typeface="Arial"/>
                <a:cs typeface="Arial"/>
                <a:sym typeface="Arial"/>
              </a:defRPr>
            </a:pPr>
            <a:r>
              <a:rPr sz="2305"/>
              <a:t>Everyone should stop using social media completely.</a:t>
            </a:r>
          </a:p>
          <a:p>
            <a:pPr defTabSz="380985">
              <a:defRPr sz="2766">
                <a:latin typeface="Arial"/>
                <a:ea typeface="Arial"/>
                <a:cs typeface="Arial"/>
                <a:sym typeface="Arial"/>
              </a:defRPr>
            </a:pPr>
            <a:endParaRPr sz="2305"/>
          </a:p>
          <a:p>
            <a:pPr marL="380985" indent="-264573" defTabSz="380985">
              <a:buSzPct val="100000"/>
              <a:buFont typeface="Arial"/>
              <a:buAutoNum type="arabicPeriod" startAt="2"/>
              <a:defRPr sz="2766">
                <a:latin typeface="Arial"/>
                <a:ea typeface="Arial"/>
                <a:cs typeface="Arial"/>
                <a:sym typeface="Arial"/>
              </a:defRPr>
            </a:pPr>
            <a:r>
              <a:rPr sz="2305"/>
              <a:t>It’s better to study late at night than early in the morning.</a:t>
            </a:r>
          </a:p>
          <a:p>
            <a:pPr defTabSz="380985">
              <a:defRPr sz="2766">
                <a:latin typeface="Arial"/>
                <a:ea typeface="Arial"/>
                <a:cs typeface="Arial"/>
                <a:sym typeface="Arial"/>
              </a:defRPr>
            </a:pPr>
            <a:endParaRPr sz="2305"/>
          </a:p>
          <a:p>
            <a:pPr marL="380985" indent="-264573" defTabSz="380985">
              <a:buSzPct val="100000"/>
              <a:buFont typeface="Arial"/>
              <a:buAutoNum type="arabicPeriod" startAt="3"/>
              <a:defRPr sz="2766">
                <a:latin typeface="Arial"/>
                <a:ea typeface="Arial"/>
                <a:cs typeface="Arial"/>
                <a:sym typeface="Arial"/>
              </a:defRPr>
            </a:pPr>
            <a:r>
              <a:rPr sz="2305"/>
              <a:t>Recycling doesn’t make much of a difference to the planet.</a:t>
            </a:r>
          </a:p>
          <a:p>
            <a:pPr defTabSz="380985">
              <a:defRPr sz="2766">
                <a:latin typeface="Arial"/>
                <a:ea typeface="Arial"/>
                <a:cs typeface="Arial"/>
                <a:sym typeface="Arial"/>
              </a:defRPr>
            </a:pPr>
            <a:endParaRPr sz="2305"/>
          </a:p>
          <a:p>
            <a:pPr marL="380985" indent="-264573" defTabSz="380985">
              <a:buSzPct val="100000"/>
              <a:buFont typeface="Arial"/>
              <a:buAutoNum type="arabicPeriod" startAt="4"/>
              <a:defRPr sz="2766">
                <a:latin typeface="Arial"/>
                <a:ea typeface="Arial"/>
                <a:cs typeface="Arial"/>
                <a:sym typeface="Arial"/>
              </a:defRPr>
            </a:pPr>
            <a:r>
              <a:rPr sz="2305"/>
              <a:t>Fast food should be banned in school cafeterias.</a:t>
            </a:r>
          </a:p>
          <a:p>
            <a:pPr defTabSz="380985">
              <a:defRPr sz="2766">
                <a:latin typeface="Arial"/>
                <a:ea typeface="Arial"/>
                <a:cs typeface="Arial"/>
                <a:sym typeface="Arial"/>
              </a:defRPr>
            </a:pPr>
            <a:endParaRPr sz="2305"/>
          </a:p>
          <a:p>
            <a:pPr marL="380985" indent="-264573" defTabSz="380985">
              <a:buSzPct val="100000"/>
              <a:buFont typeface="Arial"/>
              <a:buAutoNum type="arabicPeriod" startAt="5"/>
              <a:defRPr sz="2766">
                <a:latin typeface="Arial"/>
                <a:ea typeface="Arial"/>
                <a:cs typeface="Arial"/>
                <a:sym typeface="Arial"/>
              </a:defRPr>
            </a:pPr>
            <a:r>
              <a:rPr sz="2305"/>
              <a:t>Climate change is too big of a problem for individuals to make a difference.</a:t>
            </a:r>
          </a:p>
        </p:txBody>
      </p:sp>
      <p:sp>
        <p:nvSpPr>
          <p:cNvPr id="1078" name="Text 0"/>
          <p:cNvSpPr txBox="1"/>
          <p:nvPr/>
        </p:nvSpPr>
        <p:spPr>
          <a:xfrm>
            <a:off x="661491" y="1004570"/>
            <a:ext cx="4544514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Examples of Opinion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Text 0"/>
          <p:cNvSpPr txBox="1"/>
          <p:nvPr/>
        </p:nvSpPr>
        <p:spPr>
          <a:xfrm>
            <a:off x="661491" y="1004570"/>
            <a:ext cx="7279237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Examples of Research Statements</a:t>
            </a:r>
          </a:p>
        </p:txBody>
      </p:sp>
      <p:sp>
        <p:nvSpPr>
          <p:cNvPr id="1081" name="According to the CDC’s 2021 Youth Risk Behavior Survey, which surveyed over 14,000 U.S. high school students, nearly 30% reported feeling persistently sad or hopeless during the past year.…"/>
          <p:cNvSpPr txBox="1"/>
          <p:nvPr/>
        </p:nvSpPr>
        <p:spPr>
          <a:xfrm>
            <a:off x="529624" y="1846785"/>
            <a:ext cx="10881837" cy="39545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marL="380985" indent="-264573" defTabSz="380985">
              <a:buSzPct val="100000"/>
              <a:buFont typeface="Arial"/>
              <a:buAutoNum type="arabicPeriod"/>
              <a:defRPr sz="1966">
                <a:latin typeface="Arial"/>
                <a:ea typeface="Arial"/>
                <a:cs typeface="Arial"/>
                <a:sym typeface="Arial"/>
              </a:defRPr>
            </a:pPr>
            <a:r>
              <a:rPr sz="1638" b="1"/>
              <a:t>According to the CDC’s 2021 Youth Risk Behavior Survey</a:t>
            </a:r>
            <a:r>
              <a:rPr sz="1638"/>
              <a:t>, which surveyed over 14,000 U.S. high school students, nearly </a:t>
            </a:r>
            <a:r>
              <a:rPr sz="1638" b="1"/>
              <a:t>30% reported feeling persistently sad or hopeless</a:t>
            </a:r>
            <a:r>
              <a:rPr sz="1638"/>
              <a:t> during the past year.</a:t>
            </a:r>
            <a:endParaRPr sz="1638" i="1"/>
          </a:p>
          <a:p>
            <a:pPr defTabSz="380985">
              <a:defRPr sz="1966">
                <a:latin typeface="Arial"/>
                <a:ea typeface="Arial"/>
                <a:cs typeface="Arial"/>
                <a:sym typeface="Arial"/>
              </a:defRPr>
            </a:pPr>
            <a:endParaRPr sz="1638" i="1"/>
          </a:p>
          <a:p>
            <a:pPr marL="380985" indent="-264573" defTabSz="380985">
              <a:buSzPct val="100000"/>
              <a:buFont typeface="Arial"/>
              <a:buAutoNum type="arabicPeriod" startAt="2"/>
              <a:defRPr sz="1966" b="1">
                <a:latin typeface="Arial"/>
                <a:ea typeface="Arial"/>
                <a:cs typeface="Arial"/>
                <a:sym typeface="Arial"/>
              </a:defRPr>
            </a:pPr>
            <a:r>
              <a:rPr sz="1638"/>
              <a:t>A 2020 global survey by Pew Research Center involving more than 13,000 adults in 13 countries found that 73% saw climate change as a major threat to their country.</a:t>
            </a:r>
            <a:endParaRPr sz="1638" i="1"/>
          </a:p>
          <a:p>
            <a:pPr defTabSz="380985">
              <a:defRPr sz="1966" b="1">
                <a:latin typeface="Arial"/>
                <a:ea typeface="Arial"/>
                <a:cs typeface="Arial"/>
                <a:sym typeface="Arial"/>
              </a:defRPr>
            </a:pPr>
            <a:endParaRPr sz="1638"/>
          </a:p>
          <a:p>
            <a:pPr marL="380985" indent="-264573" defTabSz="380985">
              <a:buSzPct val="100000"/>
              <a:buFont typeface="Arial"/>
              <a:buAutoNum type="arabicPeriod" startAt="3"/>
              <a:defRPr sz="1966">
                <a:latin typeface="Arial"/>
                <a:ea typeface="Arial"/>
                <a:cs typeface="Arial"/>
                <a:sym typeface="Arial"/>
              </a:defRPr>
            </a:pPr>
            <a:r>
              <a:rPr sz="1638"/>
              <a:t>A </a:t>
            </a:r>
            <a:r>
              <a:rPr sz="1638" b="1"/>
              <a:t>randomized controlled sleep study at UC Berkeley</a:t>
            </a:r>
            <a:r>
              <a:rPr sz="1638"/>
              <a:t> found that </a:t>
            </a:r>
            <a:r>
              <a:rPr sz="1638" b="1"/>
              <a:t>teens who slept at least 8 hours</a:t>
            </a:r>
            <a:r>
              <a:rPr sz="1638"/>
              <a:t> performed significantly better on memory tasks than those with less sleep. The study involved </a:t>
            </a:r>
            <a:r>
              <a:rPr sz="1638" b="1"/>
              <a:t>105 adolescents aged 13–17</a:t>
            </a:r>
            <a:r>
              <a:rPr sz="1638"/>
              <a:t>. </a:t>
            </a:r>
            <a:r>
              <a:rPr sz="1638" i="1"/>
              <a:t>(Lopez et al., Sleep Research Journal, 2018)</a:t>
            </a:r>
            <a:br>
              <a:rPr sz="1638" i="1"/>
            </a:br>
            <a:endParaRPr sz="1638" i="1"/>
          </a:p>
          <a:p>
            <a:pPr marL="380985" indent="-264573" defTabSz="380985">
              <a:spcBef>
                <a:spcPts val="1333"/>
              </a:spcBef>
              <a:buSzPct val="100000"/>
              <a:buFont typeface="Arial"/>
              <a:buAutoNum type="arabicPeriod" startAt="3"/>
              <a:defRPr sz="1966">
                <a:latin typeface="Arial"/>
                <a:ea typeface="Arial"/>
                <a:cs typeface="Arial"/>
                <a:sym typeface="Arial"/>
              </a:defRPr>
            </a:pPr>
            <a:r>
              <a:rPr sz="1638"/>
              <a:t>The </a:t>
            </a:r>
            <a:r>
              <a:rPr sz="1638" b="1"/>
              <a:t>World Health Organization</a:t>
            </a:r>
            <a:r>
              <a:rPr sz="1638"/>
              <a:t>, based on data from dozens of national health agencies, estimates that </a:t>
            </a:r>
            <a:r>
              <a:rPr sz="1638" b="1"/>
              <a:t>air pollution causes 7 million premature deaths worldwide each year</a:t>
            </a:r>
            <a:r>
              <a:rPr sz="1638"/>
              <a:t>. </a:t>
            </a:r>
            <a:r>
              <a:rPr sz="1638" i="1"/>
              <a:t>(WHO, 2021)</a:t>
            </a:r>
          </a:p>
          <a:p>
            <a:pPr marL="380985" indent="-264573" defTabSz="380985">
              <a:spcBef>
                <a:spcPts val="1333"/>
              </a:spcBef>
              <a:buSzPct val="100000"/>
              <a:buFont typeface="Arial"/>
              <a:buAutoNum type="arabicPeriod" startAt="3"/>
              <a:defRPr sz="1966">
                <a:latin typeface="Arial"/>
                <a:ea typeface="Arial"/>
                <a:cs typeface="Arial"/>
                <a:sym typeface="Arial"/>
              </a:defRPr>
            </a:pPr>
            <a:r>
              <a:rPr sz="1638"/>
              <a:t>In a Common Sense Media survey of 1,306 teens aged 13–17, 25% reported that social media had a mostly negative impact on their mental health. (Common Sense Media, 2021)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Let’s Play a Game:…"/>
          <p:cNvSpPr txBox="1"/>
          <p:nvPr/>
        </p:nvSpPr>
        <p:spPr>
          <a:xfrm>
            <a:off x="2867137" y="1015377"/>
            <a:ext cx="6457728" cy="1770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8099" rIns="38099">
            <a:spAutoFit/>
          </a:bodyPr>
          <a:lstStyle/>
          <a:p>
            <a:pPr algn="ctr">
              <a:lnSpc>
                <a:spcPct val="90000"/>
              </a:lnSpc>
              <a:defRPr sz="4400" b="1">
                <a:solidFill>
                  <a:srgbClr val="171AAE"/>
                </a:solidFill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/>
              <a:t>Let’s Play a Game: </a:t>
            </a:r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57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4750" b="1"/>
              <a:t>OPINION</a:t>
            </a:r>
            <a:r>
              <a:rPr sz="4750"/>
              <a:t> or </a:t>
            </a:r>
            <a:r>
              <a:rPr sz="4750" b="1"/>
              <a:t>RESEARCH?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A Stanford University longitudinal study (2019) followed 200 middle school students over two years and found that those practicing daily mindfulness showed lower stress and anxiety levels."/>
          <p:cNvSpPr txBox="1"/>
          <p:nvPr/>
        </p:nvSpPr>
        <p:spPr>
          <a:xfrm>
            <a:off x="1179412" y="2223954"/>
            <a:ext cx="9980066" cy="1836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>
            <a:lvl1pPr defTabSz="457200"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sz="2833"/>
              <a:t>A Stanford University longitudinal study (2019) followed 200 middle school students over two years and found that those practicing daily mindfulness showed lower stress and anxiety levels.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Social media is ruining real-life friendships."/>
          <p:cNvSpPr txBox="1"/>
          <p:nvPr/>
        </p:nvSpPr>
        <p:spPr>
          <a:xfrm>
            <a:off x="1179412" y="2223954"/>
            <a:ext cx="9980066" cy="5282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>
            <a:lvl1pPr defTabSz="457200"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>
              <a:defRPr b="1"/>
            </a:pPr>
            <a:r>
              <a:rPr sz="2833"/>
              <a:t>Social media is ruining real-life friendships.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The 2023 IPCC report, drawing from thousands of peer-reviewed climate studies and global temperature data, concluded with high confidence that human activities are the dominant cause of recent climate change. (Intergovernmental Panel on Climate Change, 2"/>
          <p:cNvSpPr txBox="1"/>
          <p:nvPr/>
        </p:nvSpPr>
        <p:spPr>
          <a:xfrm>
            <a:off x="1179412" y="2223954"/>
            <a:ext cx="9980066" cy="22720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>
            <a:lvl1pPr defTabSz="457200"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>
              <a:defRPr b="1"/>
            </a:pPr>
            <a:r>
              <a:rPr sz="2833"/>
              <a:t>The 2023 IPCC report, drawing from thousands of peer-reviewed climate studies and global temperature data, concluded with high confidence that human activities are the dominant cause of recent climate change. (Intergovernmental Panel on Climate Change, 2023)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You can’t be truly successful without going to college."/>
          <p:cNvSpPr txBox="1"/>
          <p:nvPr/>
        </p:nvSpPr>
        <p:spPr>
          <a:xfrm>
            <a:off x="1179412" y="2223954"/>
            <a:ext cx="9980066" cy="5282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>
            <a:lvl1pPr defTabSz="457200"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>
              <a:defRPr b="1"/>
            </a:pPr>
            <a:r>
              <a:rPr sz="2833"/>
              <a:t>You can’t be truly successful without going to college.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Homework should be optional for high school students."/>
          <p:cNvSpPr txBox="1"/>
          <p:nvPr/>
        </p:nvSpPr>
        <p:spPr>
          <a:xfrm>
            <a:off x="1179412" y="2223954"/>
            <a:ext cx="9980066" cy="5282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>
            <a:lvl1pPr defTabSz="457200"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>
              <a:defRPr b="1"/>
            </a:pPr>
            <a:r>
              <a:rPr sz="2833"/>
              <a:t>Homework should be optional for high school students.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A JAMA Pediatrics study (2019) analyzed data from over 6,000 U.S. children aged 8–11 and found that those with more than 2 hours of recreational screen time daily had lower language and thinking skills."/>
          <p:cNvSpPr txBox="1"/>
          <p:nvPr/>
        </p:nvSpPr>
        <p:spPr>
          <a:xfrm>
            <a:off x="1179412" y="2223954"/>
            <a:ext cx="9980066" cy="1836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>
            <a:lvl1pPr defTabSz="457200"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>
              <a:defRPr b="1"/>
            </a:pPr>
            <a:r>
              <a:rPr sz="2833"/>
              <a:t>A JAMA Pediatrics study (2019) analyzed data from over 6,000 U.S. children aged 8–11 and found that those with more than 2 hours of recreational screen time daily had lower language and thinking skills.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In the APA’s 2023 &quot;Stress in America&quot; survey, conducted with 3,185 teens and adults, over 70% of teenagers said they felt overwhelmed by responsibilities in the past month."/>
          <p:cNvSpPr txBox="1"/>
          <p:nvPr/>
        </p:nvSpPr>
        <p:spPr>
          <a:xfrm>
            <a:off x="1179412" y="2223954"/>
            <a:ext cx="9980066" cy="1836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>
            <a:lvl1pPr defTabSz="457200"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>
              <a:defRPr b="1"/>
            </a:pPr>
            <a:r>
              <a:rPr sz="2833"/>
              <a:t>In the APA’s 2023 "Stress in America" survey, conducted with 3,185 teens and adults, over 70% of teenagers said they felt overwhelmed by responsibilities in the past month.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Reading printed books is more enjoyable than reading on a screen."/>
          <p:cNvSpPr txBox="1"/>
          <p:nvPr/>
        </p:nvSpPr>
        <p:spPr>
          <a:xfrm>
            <a:off x="1179412" y="2223954"/>
            <a:ext cx="9980066" cy="9642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>
            <a:lvl1pPr defTabSz="457200"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>
              <a:defRPr b="1"/>
            </a:pPr>
            <a:r>
              <a:rPr sz="2833"/>
              <a:t>Reading printed books is more enjoyable than reading on a screen.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According to a National Sleep Foundation (2020) poll of 1,006 U.S. teens, 87% of high schoolers get less than the recommended 8–10 hours of sleep on school nights."/>
          <p:cNvSpPr txBox="1"/>
          <p:nvPr/>
        </p:nvSpPr>
        <p:spPr>
          <a:xfrm>
            <a:off x="1179412" y="2223954"/>
            <a:ext cx="9980066" cy="1400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>
            <a:lvl1pPr defTabSz="457200"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>
              <a:defRPr b="1"/>
            </a:pPr>
            <a:r>
              <a:rPr sz="2833"/>
              <a:t>According to a National Sleep Foundation (2020) poll of 1,006 U.S. teens, 87% of high schoolers get less than the recommended 8–10 hours of sleep on school nights.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How do I know that?…"/>
          <p:cNvSpPr txBox="1"/>
          <p:nvPr/>
        </p:nvSpPr>
        <p:spPr>
          <a:xfrm>
            <a:off x="3604769" y="2977604"/>
            <a:ext cx="5129351" cy="27493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8099" rIns="38099">
            <a:spAutoFit/>
          </a:bodyPr>
          <a:lstStyle/>
          <a:p>
            <a:pPr algn="ctr">
              <a:lnSpc>
                <a:spcPts val="2250"/>
              </a:lnSpc>
              <a:defRPr sz="2700">
                <a:latin typeface="Inter"/>
                <a:ea typeface="Inter"/>
                <a:cs typeface="Inter"/>
                <a:sym typeface="Inter"/>
              </a:defRPr>
            </a:pPr>
            <a:r>
              <a:rPr sz="2250"/>
              <a:t>How do I know that? </a:t>
            </a:r>
          </a:p>
          <a:p>
            <a:pPr algn="ctr">
              <a:lnSpc>
                <a:spcPts val="2250"/>
              </a:lnSpc>
              <a:defRPr sz="2700">
                <a:latin typeface="Inter"/>
                <a:ea typeface="Inter"/>
                <a:cs typeface="Inter"/>
                <a:sym typeface="Inter"/>
              </a:defRPr>
            </a:pPr>
            <a:endParaRPr sz="2250"/>
          </a:p>
          <a:p>
            <a:pPr algn="ctr">
              <a:lnSpc>
                <a:spcPts val="2250"/>
              </a:lnSpc>
              <a:defRPr sz="2700">
                <a:latin typeface="Inter"/>
                <a:ea typeface="Inter"/>
                <a:cs typeface="Inter"/>
                <a:sym typeface="Inter"/>
              </a:defRPr>
            </a:pPr>
            <a:r>
              <a:rPr sz="2250"/>
              <a:t>What information is this opinion based on?</a:t>
            </a:r>
          </a:p>
          <a:p>
            <a:pPr algn="ctr">
              <a:lnSpc>
                <a:spcPts val="2250"/>
              </a:lnSpc>
              <a:defRPr sz="2700">
                <a:latin typeface="Inter"/>
                <a:ea typeface="Inter"/>
                <a:cs typeface="Inter"/>
                <a:sym typeface="Inter"/>
              </a:defRPr>
            </a:pPr>
            <a:endParaRPr sz="2250"/>
          </a:p>
          <a:p>
            <a:pPr algn="ctr">
              <a:lnSpc>
                <a:spcPts val="2250"/>
              </a:lnSpc>
              <a:defRPr sz="2700">
                <a:latin typeface="Inter"/>
                <a:ea typeface="Inter"/>
                <a:cs typeface="Inter"/>
                <a:sym typeface="Inter"/>
              </a:defRPr>
            </a:pPr>
            <a:r>
              <a:rPr sz="2250"/>
              <a:t>What’s that claim based on? </a:t>
            </a:r>
          </a:p>
          <a:p>
            <a:pPr algn="ctr">
              <a:lnSpc>
                <a:spcPts val="2250"/>
              </a:lnSpc>
              <a:defRPr sz="2700">
                <a:latin typeface="Inter"/>
                <a:ea typeface="Inter"/>
                <a:cs typeface="Inter"/>
                <a:sym typeface="Inter"/>
              </a:defRPr>
            </a:pPr>
            <a:endParaRPr sz="2250"/>
          </a:p>
          <a:p>
            <a:pPr algn="ctr">
              <a:lnSpc>
                <a:spcPts val="2250"/>
              </a:lnSpc>
              <a:defRPr sz="2700">
                <a:latin typeface="Inter"/>
                <a:ea typeface="Inter"/>
                <a:cs typeface="Inter"/>
                <a:sym typeface="Inter"/>
              </a:defRPr>
            </a:pPr>
            <a:r>
              <a:rPr sz="2250"/>
              <a:t>Has anyone actually tested it?</a:t>
            </a:r>
          </a:p>
          <a:p>
            <a:pPr algn="ctr">
              <a:lnSpc>
                <a:spcPts val="2250"/>
              </a:lnSpc>
              <a:defRPr sz="2700">
                <a:latin typeface="Inter"/>
                <a:ea typeface="Inter"/>
                <a:cs typeface="Inter"/>
                <a:sym typeface="Inter"/>
              </a:defRPr>
            </a:pPr>
            <a:endParaRPr sz="2250"/>
          </a:p>
          <a:p>
            <a:pPr algn="ctr">
              <a:lnSpc>
                <a:spcPts val="2250"/>
              </a:lnSpc>
              <a:defRPr sz="2700">
                <a:latin typeface="Inter"/>
                <a:ea typeface="Inter"/>
                <a:cs typeface="Inter"/>
                <a:sym typeface="Inter"/>
              </a:defRPr>
            </a:pPr>
            <a:r>
              <a:rPr sz="2250"/>
              <a:t>Where is the evidence? </a:t>
            </a:r>
          </a:p>
        </p:txBody>
      </p:sp>
      <p:sp>
        <p:nvSpPr>
          <p:cNvPr id="1104" name="Text 0"/>
          <p:cNvSpPr txBox="1"/>
          <p:nvPr/>
        </p:nvSpPr>
        <p:spPr>
          <a:xfrm>
            <a:off x="1446207" y="1864953"/>
            <a:ext cx="9218870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A Key Attitude of a Researcher: Inquisition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6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8379"/>
            <a:ext cx="12192000" cy="2362698"/>
          </a:xfrm>
          <a:prstGeom prst="rect">
            <a:avLst/>
          </a:prstGeom>
          <a:ln w="12700">
            <a:miter lim="400000"/>
          </a:ln>
        </p:spPr>
      </p:pic>
      <p:sp>
        <p:nvSpPr>
          <p:cNvPr id="1107" name="Text 0"/>
          <p:cNvSpPr txBox="1"/>
          <p:nvPr/>
        </p:nvSpPr>
        <p:spPr>
          <a:xfrm>
            <a:off x="661492" y="3429000"/>
            <a:ext cx="4849084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Why Evidence Matters</a:t>
            </a:r>
          </a:p>
        </p:txBody>
      </p:sp>
      <p:sp>
        <p:nvSpPr>
          <p:cNvPr id="1108" name="Text 1"/>
          <p:cNvSpPr txBox="1"/>
          <p:nvPr/>
        </p:nvSpPr>
        <p:spPr>
          <a:xfrm>
            <a:off x="1848680" y="4157961"/>
            <a:ext cx="1059585" cy="697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lnSpc>
                <a:spcPts val="5800"/>
              </a:lnSpc>
              <a:defRPr sz="58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4833"/>
              <a:t>47%</a:t>
            </a:r>
          </a:p>
        </p:txBody>
      </p:sp>
      <p:sp>
        <p:nvSpPr>
          <p:cNvPr id="1109" name="Text 2"/>
          <p:cNvSpPr txBox="1"/>
          <p:nvPr/>
        </p:nvSpPr>
        <p:spPr>
          <a:xfrm>
            <a:off x="1521616" y="5017789"/>
            <a:ext cx="1713611" cy="312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Misinformation</a:t>
            </a:r>
          </a:p>
        </p:txBody>
      </p:sp>
      <p:sp>
        <p:nvSpPr>
          <p:cNvPr id="1110" name="Text 3"/>
          <p:cNvSpPr txBox="1"/>
          <p:nvPr/>
        </p:nvSpPr>
        <p:spPr>
          <a:xfrm>
            <a:off x="661491" y="5426472"/>
            <a:ext cx="3433963" cy="6819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2800"/>
              </a:lnSpc>
              <a:defRPr sz="19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583"/>
              <a:t>Percentage of online content containing inaccurate claims</a:t>
            </a:r>
          </a:p>
        </p:txBody>
      </p:sp>
      <p:sp>
        <p:nvSpPr>
          <p:cNvPr id="1111" name="Text 4"/>
          <p:cNvSpPr txBox="1"/>
          <p:nvPr/>
        </p:nvSpPr>
        <p:spPr>
          <a:xfrm>
            <a:off x="5578180" y="4157961"/>
            <a:ext cx="1035541" cy="697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lnSpc>
                <a:spcPts val="5800"/>
              </a:lnSpc>
              <a:defRPr sz="58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4833"/>
              <a:t>73%</a:t>
            </a:r>
          </a:p>
        </p:txBody>
      </p:sp>
      <p:sp>
        <p:nvSpPr>
          <p:cNvPr id="1112" name="Text 5"/>
          <p:cNvSpPr txBox="1"/>
          <p:nvPr/>
        </p:nvSpPr>
        <p:spPr>
          <a:xfrm>
            <a:off x="5202277" y="5017789"/>
            <a:ext cx="1787349" cy="312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Better Decisions</a:t>
            </a:r>
          </a:p>
        </p:txBody>
      </p:sp>
      <p:sp>
        <p:nvSpPr>
          <p:cNvPr id="1113" name="Text 6"/>
          <p:cNvSpPr txBox="1"/>
          <p:nvPr/>
        </p:nvSpPr>
        <p:spPr>
          <a:xfrm>
            <a:off x="4378920" y="5426472"/>
            <a:ext cx="3434061" cy="6819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2800"/>
              </a:lnSpc>
              <a:defRPr sz="19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583"/>
              <a:t>Improved outcomes when using evidence-based approaches</a:t>
            </a:r>
          </a:p>
        </p:txBody>
      </p:sp>
      <p:sp>
        <p:nvSpPr>
          <p:cNvPr id="1114" name="Text 7"/>
          <p:cNvSpPr txBox="1"/>
          <p:nvPr/>
        </p:nvSpPr>
        <p:spPr>
          <a:xfrm>
            <a:off x="9457563" y="4157961"/>
            <a:ext cx="711734" cy="697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lnSpc>
                <a:spcPts val="5800"/>
              </a:lnSpc>
              <a:defRPr sz="58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4833"/>
              <a:t>5X</a:t>
            </a:r>
          </a:p>
        </p:txBody>
      </p:sp>
      <p:sp>
        <p:nvSpPr>
          <p:cNvPr id="1115" name="Text 8"/>
          <p:cNvSpPr txBox="1"/>
          <p:nvPr/>
        </p:nvSpPr>
        <p:spPr>
          <a:xfrm>
            <a:off x="8882837" y="5017789"/>
            <a:ext cx="1861087" cy="312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Problem-Solving</a:t>
            </a:r>
          </a:p>
        </p:txBody>
      </p:sp>
      <p:sp>
        <p:nvSpPr>
          <p:cNvPr id="1116" name="Text 9"/>
          <p:cNvSpPr txBox="1"/>
          <p:nvPr/>
        </p:nvSpPr>
        <p:spPr>
          <a:xfrm>
            <a:off x="8096448" y="5426472"/>
            <a:ext cx="3433963" cy="6819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2800"/>
              </a:lnSpc>
              <a:defRPr sz="19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583"/>
              <a:t>More effective solutions when based on research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8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8564"/>
            <a:ext cx="12192000" cy="2274294"/>
          </a:xfrm>
          <a:prstGeom prst="rect">
            <a:avLst/>
          </a:prstGeom>
          <a:ln w="12700">
            <a:miter lim="400000"/>
          </a:ln>
        </p:spPr>
      </p:pic>
      <p:sp>
        <p:nvSpPr>
          <p:cNvPr id="1119" name="Text 0"/>
          <p:cNvSpPr txBox="1"/>
          <p:nvPr/>
        </p:nvSpPr>
        <p:spPr>
          <a:xfrm>
            <a:off x="636786" y="2999284"/>
            <a:ext cx="8035854" cy="6111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300"/>
              </a:lnSpc>
              <a:defRPr sz="4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500"/>
              <a:t>Questioning Claims: The Mozart Effect</a:t>
            </a:r>
          </a:p>
        </p:txBody>
      </p:sp>
      <p:pic>
        <p:nvPicPr>
          <p:cNvPr id="1120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85" y="3616722"/>
            <a:ext cx="2729608" cy="727770"/>
          </a:xfrm>
          <a:prstGeom prst="rect">
            <a:avLst/>
          </a:prstGeom>
          <a:ln w="12700">
            <a:miter lim="400000"/>
          </a:ln>
        </p:spPr>
      </p:pic>
      <p:sp>
        <p:nvSpPr>
          <p:cNvPr id="1121" name="Text 1"/>
          <p:cNvSpPr txBox="1"/>
          <p:nvPr/>
        </p:nvSpPr>
        <p:spPr>
          <a:xfrm>
            <a:off x="818653" y="4617344"/>
            <a:ext cx="1120500" cy="303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6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The Claim</a:t>
            </a:r>
          </a:p>
        </p:txBody>
      </p:sp>
      <p:sp>
        <p:nvSpPr>
          <p:cNvPr id="1122" name="Text 2"/>
          <p:cNvSpPr txBox="1"/>
          <p:nvPr/>
        </p:nvSpPr>
        <p:spPr>
          <a:xfrm>
            <a:off x="818653" y="5010744"/>
            <a:ext cx="2365873" cy="136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833"/>
              <a:t>"Listening to classical music while studying guarantees an A on the test."</a:t>
            </a:r>
          </a:p>
        </p:txBody>
      </p:sp>
      <p:pic>
        <p:nvPicPr>
          <p:cNvPr id="1123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6393" y="3616722"/>
            <a:ext cx="2729607" cy="727770"/>
          </a:xfrm>
          <a:prstGeom prst="rect">
            <a:avLst/>
          </a:prstGeom>
          <a:ln w="12700">
            <a:miter lim="400000"/>
          </a:ln>
        </p:spPr>
      </p:pic>
      <p:sp>
        <p:nvSpPr>
          <p:cNvPr id="1124" name="Text 3"/>
          <p:cNvSpPr txBox="1"/>
          <p:nvPr/>
        </p:nvSpPr>
        <p:spPr>
          <a:xfrm>
            <a:off x="3548260" y="4617344"/>
            <a:ext cx="1290418" cy="303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6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The Inquiry</a:t>
            </a:r>
          </a:p>
        </p:txBody>
      </p:sp>
      <p:sp>
        <p:nvSpPr>
          <p:cNvPr id="1125" name="Text 4"/>
          <p:cNvSpPr txBox="1"/>
          <p:nvPr/>
        </p:nvSpPr>
        <p:spPr>
          <a:xfrm>
            <a:off x="3548260" y="5010744"/>
            <a:ext cx="2365873" cy="1014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833"/>
              <a:t>"What's that claim based on? Has anyone actually tested it?"</a:t>
            </a:r>
          </a:p>
        </p:txBody>
      </p:sp>
      <p:pic>
        <p:nvPicPr>
          <p:cNvPr id="1126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616722"/>
            <a:ext cx="2729607" cy="727770"/>
          </a:xfrm>
          <a:prstGeom prst="rect">
            <a:avLst/>
          </a:prstGeom>
          <a:ln w="12700">
            <a:miter lim="400000"/>
          </a:ln>
        </p:spPr>
      </p:pic>
      <p:sp>
        <p:nvSpPr>
          <p:cNvPr id="1127" name="Text 5"/>
          <p:cNvSpPr txBox="1"/>
          <p:nvPr/>
        </p:nvSpPr>
        <p:spPr>
          <a:xfrm>
            <a:off x="6277868" y="4617344"/>
            <a:ext cx="1471557" cy="303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6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The Research</a:t>
            </a:r>
          </a:p>
        </p:txBody>
      </p:sp>
      <p:sp>
        <p:nvSpPr>
          <p:cNvPr id="1128" name="Text 6"/>
          <p:cNvSpPr txBox="1"/>
          <p:nvPr/>
        </p:nvSpPr>
        <p:spPr>
          <a:xfrm>
            <a:off x="6277867" y="5010744"/>
            <a:ext cx="2365872" cy="136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833"/>
              <a:t>Find scientific studies or conduct a small experiment comparing study methods.</a:t>
            </a:r>
          </a:p>
        </p:txBody>
      </p:sp>
      <p:pic>
        <p:nvPicPr>
          <p:cNvPr id="1129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5606" y="3616722"/>
            <a:ext cx="2729608" cy="727770"/>
          </a:xfrm>
          <a:prstGeom prst="rect">
            <a:avLst/>
          </a:prstGeom>
          <a:ln w="12700">
            <a:miter lim="400000"/>
          </a:ln>
        </p:spPr>
      </p:pic>
      <p:sp>
        <p:nvSpPr>
          <p:cNvPr id="1130" name="Text 7"/>
          <p:cNvSpPr txBox="1"/>
          <p:nvPr/>
        </p:nvSpPr>
        <p:spPr>
          <a:xfrm>
            <a:off x="9007474" y="4617344"/>
            <a:ext cx="1453924" cy="303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6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The Evidence</a:t>
            </a:r>
          </a:p>
        </p:txBody>
      </p:sp>
      <p:sp>
        <p:nvSpPr>
          <p:cNvPr id="1131" name="Text 8"/>
          <p:cNvSpPr txBox="1"/>
          <p:nvPr/>
        </p:nvSpPr>
        <p:spPr>
          <a:xfrm>
            <a:off x="9007474" y="5010744"/>
            <a:ext cx="2365872" cy="136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833"/>
              <a:t>Music may help mood or focus for some people, but doesn't "guarantee" success.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Text 0"/>
          <p:cNvSpPr txBox="1"/>
          <p:nvPr/>
        </p:nvSpPr>
        <p:spPr>
          <a:xfrm>
            <a:off x="661491" y="1042591"/>
            <a:ext cx="10627909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Types of Research: A Multidisciplinary Approach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Text 0"/>
          <p:cNvSpPr txBox="1"/>
          <p:nvPr/>
        </p:nvSpPr>
        <p:spPr>
          <a:xfrm>
            <a:off x="661491" y="1042591"/>
            <a:ext cx="10627909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Types of Research: A Multidisciplinary Approach</a:t>
            </a:r>
          </a:p>
        </p:txBody>
      </p:sp>
      <p:sp>
        <p:nvSpPr>
          <p:cNvPr id="1136" name="Text 1"/>
          <p:cNvSpPr txBox="1"/>
          <p:nvPr/>
        </p:nvSpPr>
        <p:spPr>
          <a:xfrm>
            <a:off x="1929098" y="2233414"/>
            <a:ext cx="1981312" cy="310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lnSpc>
                <a:spcPts val="27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Scientific Research</a:t>
            </a:r>
          </a:p>
        </p:txBody>
      </p:sp>
      <p:sp>
        <p:nvSpPr>
          <p:cNvPr id="1137" name="Text 2"/>
          <p:cNvSpPr txBox="1"/>
          <p:nvPr/>
        </p:nvSpPr>
        <p:spPr>
          <a:xfrm>
            <a:off x="661492" y="2642096"/>
            <a:ext cx="3248919" cy="10466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2800"/>
              </a:lnSpc>
              <a:defRPr sz="2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750"/>
              <a:t>Explores the natural world through experiments and systematic observation</a:t>
            </a:r>
          </a:p>
        </p:txBody>
      </p:sp>
      <p:pic>
        <p:nvPicPr>
          <p:cNvPr id="1138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3877" y="2011264"/>
            <a:ext cx="3804147" cy="38041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9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943" y="2647157"/>
            <a:ext cx="282774" cy="353518"/>
          </a:xfrm>
          <a:prstGeom prst="rect">
            <a:avLst/>
          </a:prstGeom>
          <a:ln w="12700">
            <a:miter lim="400000"/>
          </a:ln>
        </p:spPr>
      </p:pic>
      <p:sp>
        <p:nvSpPr>
          <p:cNvPr id="1140" name="Text 3"/>
          <p:cNvSpPr txBox="1"/>
          <p:nvPr/>
        </p:nvSpPr>
        <p:spPr>
          <a:xfrm>
            <a:off x="8281492" y="2233414"/>
            <a:ext cx="2476640" cy="310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Social Science Research</a:t>
            </a:r>
          </a:p>
        </p:txBody>
      </p:sp>
      <p:sp>
        <p:nvSpPr>
          <p:cNvPr id="1141" name="Text 4"/>
          <p:cNvSpPr txBox="1"/>
          <p:nvPr/>
        </p:nvSpPr>
        <p:spPr>
          <a:xfrm>
            <a:off x="8281492" y="2642096"/>
            <a:ext cx="3249018" cy="10466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750"/>
              <a:t>Examines human behavior and social systems through surveys and analyses</a:t>
            </a:r>
          </a:p>
        </p:txBody>
      </p:sp>
      <p:pic>
        <p:nvPicPr>
          <p:cNvPr id="1142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3877" y="2011264"/>
            <a:ext cx="3804147" cy="38041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3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3837" y="2970906"/>
            <a:ext cx="282774" cy="353518"/>
          </a:xfrm>
          <a:prstGeom prst="rect">
            <a:avLst/>
          </a:prstGeom>
          <a:ln w="12700">
            <a:miter lim="400000"/>
          </a:ln>
        </p:spPr>
      </p:pic>
      <p:sp>
        <p:nvSpPr>
          <p:cNvPr id="1144" name="Text 5"/>
          <p:cNvSpPr txBox="1"/>
          <p:nvPr/>
        </p:nvSpPr>
        <p:spPr>
          <a:xfrm>
            <a:off x="8281492" y="4277221"/>
            <a:ext cx="2040623" cy="310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Historical Research</a:t>
            </a:r>
          </a:p>
        </p:txBody>
      </p:sp>
      <p:sp>
        <p:nvSpPr>
          <p:cNvPr id="1145" name="Text 6"/>
          <p:cNvSpPr txBox="1"/>
          <p:nvPr/>
        </p:nvSpPr>
        <p:spPr>
          <a:xfrm>
            <a:off x="8281492" y="4685903"/>
            <a:ext cx="3249018" cy="10466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750"/>
              <a:t>Investigates the past through primary sources and contextual interpretation</a:t>
            </a:r>
          </a:p>
        </p:txBody>
      </p:sp>
      <p:pic>
        <p:nvPicPr>
          <p:cNvPr id="1146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3877" y="2011264"/>
            <a:ext cx="3804147" cy="38041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7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086" y="4825802"/>
            <a:ext cx="282774" cy="353518"/>
          </a:xfrm>
          <a:prstGeom prst="rect">
            <a:avLst/>
          </a:prstGeom>
          <a:ln w="12700">
            <a:miter lim="400000"/>
          </a:ln>
        </p:spPr>
      </p:pic>
      <p:sp>
        <p:nvSpPr>
          <p:cNvPr id="1148" name="Text 7"/>
          <p:cNvSpPr txBox="1"/>
          <p:nvPr/>
        </p:nvSpPr>
        <p:spPr>
          <a:xfrm>
            <a:off x="1140421" y="4428431"/>
            <a:ext cx="2769989" cy="310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lnSpc>
                <a:spcPts val="27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Interdisciplinary Research</a:t>
            </a:r>
          </a:p>
        </p:txBody>
      </p:sp>
      <p:sp>
        <p:nvSpPr>
          <p:cNvPr id="1149" name="Text 8"/>
          <p:cNvSpPr txBox="1"/>
          <p:nvPr/>
        </p:nvSpPr>
        <p:spPr>
          <a:xfrm>
            <a:off x="661492" y="4837112"/>
            <a:ext cx="3248919" cy="687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2800"/>
              </a:lnSpc>
              <a:defRPr sz="2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750"/>
              <a:t>Combines multiple fields to address complex questions holistically</a:t>
            </a:r>
          </a:p>
        </p:txBody>
      </p:sp>
      <p:pic>
        <p:nvPicPr>
          <p:cNvPr id="1150" name="Image 6" descr="Imag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3877" y="2011264"/>
            <a:ext cx="3804147" cy="38041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1" name="Image 7" descr="Imag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65192" y="4502050"/>
            <a:ext cx="282774" cy="35351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Text 0"/>
          <p:cNvSpPr txBox="1"/>
          <p:nvPr/>
        </p:nvSpPr>
        <p:spPr>
          <a:xfrm>
            <a:off x="661492" y="1422995"/>
            <a:ext cx="5794856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Interdisciplinary Research</a:t>
            </a:r>
          </a:p>
        </p:txBody>
      </p:sp>
      <p:sp>
        <p:nvSpPr>
          <p:cNvPr id="1154" name="Text 1"/>
          <p:cNvSpPr txBox="1"/>
          <p:nvPr/>
        </p:nvSpPr>
        <p:spPr>
          <a:xfrm>
            <a:off x="1386272" y="2574826"/>
            <a:ext cx="2904641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Climate Change Research</a:t>
            </a:r>
          </a:p>
        </p:txBody>
      </p:sp>
      <p:sp>
        <p:nvSpPr>
          <p:cNvPr id="1155" name="Text 2"/>
          <p:cNvSpPr txBox="1"/>
          <p:nvPr/>
        </p:nvSpPr>
        <p:spPr>
          <a:xfrm>
            <a:off x="661492" y="2983507"/>
            <a:ext cx="3629422" cy="1052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Combines natural science, economics, sociology, and policy studies</a:t>
            </a:r>
          </a:p>
        </p:txBody>
      </p:sp>
      <p:pic>
        <p:nvPicPr>
          <p:cNvPr id="1156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381" y="2391668"/>
            <a:ext cx="3043238" cy="3043238"/>
          </a:xfrm>
          <a:prstGeom prst="rect">
            <a:avLst/>
          </a:prstGeom>
          <a:ln w="12700">
            <a:miter lim="400000"/>
          </a:ln>
        </p:spPr>
      </p:pic>
      <p:sp>
        <p:nvSpPr>
          <p:cNvPr id="1157" name="Shape 3"/>
          <p:cNvSpPr/>
          <p:nvPr/>
        </p:nvSpPr>
        <p:spPr>
          <a:xfrm>
            <a:off x="4824115" y="2641401"/>
            <a:ext cx="472481" cy="472481"/>
          </a:xfrm>
          <a:prstGeom prst="roundRect">
            <a:avLst>
              <a:gd name="adj" fmla="val 50000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158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992" y="2744689"/>
            <a:ext cx="212627" cy="265808"/>
          </a:xfrm>
          <a:prstGeom prst="rect">
            <a:avLst/>
          </a:prstGeom>
          <a:ln w="12700">
            <a:miter lim="400000"/>
          </a:ln>
        </p:spPr>
      </p:pic>
      <p:sp>
        <p:nvSpPr>
          <p:cNvPr id="1159" name="Text 4"/>
          <p:cNvSpPr txBox="1"/>
          <p:nvPr/>
        </p:nvSpPr>
        <p:spPr>
          <a:xfrm>
            <a:off x="7901087" y="2574826"/>
            <a:ext cx="2271456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Public Health Crisis</a:t>
            </a:r>
          </a:p>
        </p:txBody>
      </p:sp>
      <p:sp>
        <p:nvSpPr>
          <p:cNvPr id="1160" name="Text 5"/>
          <p:cNvSpPr txBox="1"/>
          <p:nvPr/>
        </p:nvSpPr>
        <p:spPr>
          <a:xfrm>
            <a:off x="7901087" y="2983507"/>
            <a:ext cx="3629422" cy="693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Integrates biology, medicine, psychology, and historical precedent</a:t>
            </a:r>
          </a:p>
        </p:txBody>
      </p:sp>
      <p:pic>
        <p:nvPicPr>
          <p:cNvPr id="1161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381" y="2391668"/>
            <a:ext cx="3043238" cy="3043238"/>
          </a:xfrm>
          <a:prstGeom prst="rect">
            <a:avLst/>
          </a:prstGeom>
          <a:ln w="12700">
            <a:miter lim="400000"/>
          </a:ln>
        </p:spPr>
      </p:pic>
      <p:sp>
        <p:nvSpPr>
          <p:cNvPr id="1162" name="Shape 6"/>
          <p:cNvSpPr/>
          <p:nvPr/>
        </p:nvSpPr>
        <p:spPr>
          <a:xfrm>
            <a:off x="6895306" y="2641401"/>
            <a:ext cx="472481" cy="472481"/>
          </a:xfrm>
          <a:prstGeom prst="roundRect">
            <a:avLst>
              <a:gd name="adj" fmla="val 50000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163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5183" y="2744689"/>
            <a:ext cx="212627" cy="265808"/>
          </a:xfrm>
          <a:prstGeom prst="rect">
            <a:avLst/>
          </a:prstGeom>
          <a:ln w="12700">
            <a:miter lim="400000"/>
          </a:ln>
        </p:spPr>
      </p:pic>
      <p:sp>
        <p:nvSpPr>
          <p:cNvPr id="1164" name="Text 7"/>
          <p:cNvSpPr txBox="1"/>
          <p:nvPr/>
        </p:nvSpPr>
        <p:spPr>
          <a:xfrm>
            <a:off x="7901087" y="4238129"/>
            <a:ext cx="1790555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Urban Planning</a:t>
            </a:r>
          </a:p>
        </p:txBody>
      </p:sp>
      <p:sp>
        <p:nvSpPr>
          <p:cNvPr id="1165" name="Text 8"/>
          <p:cNvSpPr txBox="1"/>
          <p:nvPr/>
        </p:nvSpPr>
        <p:spPr>
          <a:xfrm>
            <a:off x="7901087" y="4646810"/>
            <a:ext cx="3629422" cy="1052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Merges architecture, sociology, economics, and environmental science</a:t>
            </a:r>
          </a:p>
        </p:txBody>
      </p:sp>
      <p:pic>
        <p:nvPicPr>
          <p:cNvPr id="1166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4381" y="2391668"/>
            <a:ext cx="3043238" cy="3043238"/>
          </a:xfrm>
          <a:prstGeom prst="rect">
            <a:avLst/>
          </a:prstGeom>
          <a:ln w="12700">
            <a:miter lim="400000"/>
          </a:ln>
        </p:spPr>
      </p:pic>
      <p:sp>
        <p:nvSpPr>
          <p:cNvPr id="1167" name="Shape 9"/>
          <p:cNvSpPr/>
          <p:nvPr/>
        </p:nvSpPr>
        <p:spPr>
          <a:xfrm>
            <a:off x="6895306" y="4712594"/>
            <a:ext cx="472481" cy="472481"/>
          </a:xfrm>
          <a:prstGeom prst="roundRect">
            <a:avLst>
              <a:gd name="adj" fmla="val 50000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168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5183" y="4815880"/>
            <a:ext cx="212627" cy="265808"/>
          </a:xfrm>
          <a:prstGeom prst="rect">
            <a:avLst/>
          </a:prstGeom>
          <a:ln w="12700">
            <a:miter lim="400000"/>
          </a:ln>
        </p:spPr>
      </p:pic>
      <p:sp>
        <p:nvSpPr>
          <p:cNvPr id="1169" name="Text 10"/>
          <p:cNvSpPr txBox="1"/>
          <p:nvPr/>
        </p:nvSpPr>
        <p:spPr>
          <a:xfrm>
            <a:off x="2200597" y="4238129"/>
            <a:ext cx="2090317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Technology Ethics</a:t>
            </a:r>
          </a:p>
        </p:txBody>
      </p:sp>
      <p:sp>
        <p:nvSpPr>
          <p:cNvPr id="1170" name="Text 11"/>
          <p:cNvSpPr txBox="1"/>
          <p:nvPr/>
        </p:nvSpPr>
        <p:spPr>
          <a:xfrm>
            <a:off x="661492" y="4646810"/>
            <a:ext cx="3629422" cy="693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Bridges computer science, philosophy, psychology, and law</a:t>
            </a:r>
          </a:p>
        </p:txBody>
      </p:sp>
      <p:pic>
        <p:nvPicPr>
          <p:cNvPr id="1171" name="Image 6" descr="Imag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4381" y="2391668"/>
            <a:ext cx="3043238" cy="3043238"/>
          </a:xfrm>
          <a:prstGeom prst="rect">
            <a:avLst/>
          </a:prstGeom>
          <a:ln w="12700">
            <a:miter lim="400000"/>
          </a:ln>
        </p:spPr>
      </p:pic>
      <p:sp>
        <p:nvSpPr>
          <p:cNvPr id="1172" name="Shape 12"/>
          <p:cNvSpPr/>
          <p:nvPr/>
        </p:nvSpPr>
        <p:spPr>
          <a:xfrm>
            <a:off x="4824115" y="4712594"/>
            <a:ext cx="472481" cy="472481"/>
          </a:xfrm>
          <a:prstGeom prst="roundRect">
            <a:avLst>
              <a:gd name="adj" fmla="val 50000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173" name="Image 7" descr="Imag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3992" y="4815880"/>
            <a:ext cx="212627" cy="26580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Text 0"/>
          <p:cNvSpPr txBox="1"/>
          <p:nvPr/>
        </p:nvSpPr>
        <p:spPr>
          <a:xfrm>
            <a:off x="661492" y="810121"/>
            <a:ext cx="7303281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Core Principles of Good Research</a:t>
            </a:r>
          </a:p>
        </p:txBody>
      </p:sp>
      <p:sp>
        <p:nvSpPr>
          <p:cNvPr id="1176" name="Text 2"/>
          <p:cNvSpPr txBox="1"/>
          <p:nvPr/>
        </p:nvSpPr>
        <p:spPr>
          <a:xfrm>
            <a:off x="7142256" y="1347747"/>
            <a:ext cx="1979901" cy="3172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800"/>
              </a:lnSpc>
              <a:defRPr sz="17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417"/>
              <a:t>No matter what the field is</a:t>
            </a:r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Text 0"/>
          <p:cNvSpPr txBox="1"/>
          <p:nvPr/>
        </p:nvSpPr>
        <p:spPr>
          <a:xfrm>
            <a:off x="661492" y="810121"/>
            <a:ext cx="7303281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Core Principles of Good Research</a:t>
            </a:r>
          </a:p>
        </p:txBody>
      </p:sp>
      <p:pic>
        <p:nvPicPr>
          <p:cNvPr id="1179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957" y="1778794"/>
            <a:ext cx="1793380" cy="13915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0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5744" y="2488803"/>
            <a:ext cx="265808" cy="332185"/>
          </a:xfrm>
          <a:prstGeom prst="rect">
            <a:avLst/>
          </a:prstGeom>
          <a:ln w="12700">
            <a:miter lim="400000"/>
          </a:ln>
        </p:spPr>
      </p:pic>
      <p:sp>
        <p:nvSpPr>
          <p:cNvPr id="1181" name="Text 1"/>
          <p:cNvSpPr txBox="1"/>
          <p:nvPr/>
        </p:nvSpPr>
        <p:spPr>
          <a:xfrm>
            <a:off x="4464347" y="2119015"/>
            <a:ext cx="1508426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3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500"/>
              <a:t>Be Honest</a:t>
            </a:r>
          </a:p>
        </p:txBody>
      </p:sp>
      <p:sp>
        <p:nvSpPr>
          <p:cNvPr id="1182" name="Shape 3"/>
          <p:cNvSpPr/>
          <p:nvPr/>
        </p:nvSpPr>
        <p:spPr>
          <a:xfrm>
            <a:off x="4322564" y="3181251"/>
            <a:ext cx="7160718" cy="12701"/>
          </a:xfrm>
          <a:prstGeom prst="roundRect">
            <a:avLst>
              <a:gd name="adj" fmla="val 50000"/>
            </a:avLst>
          </a:prstGeom>
          <a:solidFill>
            <a:srgbClr val="B2D3E5"/>
          </a:solidFill>
          <a:ln w="12700">
            <a:miter lim="400000"/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183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317" y="3217565"/>
            <a:ext cx="3586758" cy="139154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4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5744" y="3747193"/>
            <a:ext cx="265808" cy="332185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 4"/>
          <p:cNvSpPr txBox="1"/>
          <p:nvPr/>
        </p:nvSpPr>
        <p:spPr>
          <a:xfrm>
            <a:off x="5361086" y="3557785"/>
            <a:ext cx="2056653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3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500"/>
              <a:t>Be Systematic</a:t>
            </a:r>
          </a:p>
        </p:txBody>
      </p:sp>
      <p:sp>
        <p:nvSpPr>
          <p:cNvPr id="1186" name="Shape 6"/>
          <p:cNvSpPr/>
          <p:nvPr/>
        </p:nvSpPr>
        <p:spPr>
          <a:xfrm>
            <a:off x="5219303" y="4620021"/>
            <a:ext cx="6263978" cy="12701"/>
          </a:xfrm>
          <a:prstGeom prst="roundRect">
            <a:avLst>
              <a:gd name="adj" fmla="val 50000"/>
            </a:avLst>
          </a:prstGeom>
          <a:solidFill>
            <a:srgbClr val="B2D3E5"/>
          </a:solidFill>
          <a:ln w="12700">
            <a:miter lim="400000"/>
          </a:ln>
        </p:spPr>
        <p:txBody>
          <a:bodyPr lIns="38099" rIns="38099"/>
          <a:lstStyle/>
          <a:p>
            <a:pPr>
              <a:defRPr sz="3000"/>
            </a:pPr>
            <a:endParaRPr sz="2500"/>
          </a:p>
        </p:txBody>
      </p:sp>
      <p:pic>
        <p:nvPicPr>
          <p:cNvPr id="1187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79" y="4656336"/>
            <a:ext cx="5380138" cy="139154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8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45644" y="5185965"/>
            <a:ext cx="265808" cy="332185"/>
          </a:xfrm>
          <a:prstGeom prst="rect">
            <a:avLst/>
          </a:prstGeom>
          <a:ln w="12700">
            <a:miter lim="400000"/>
          </a:ln>
        </p:spPr>
      </p:pic>
      <p:sp>
        <p:nvSpPr>
          <p:cNvPr id="1189" name="Text 7"/>
          <p:cNvSpPr txBox="1"/>
          <p:nvPr/>
        </p:nvSpPr>
        <p:spPr>
          <a:xfrm>
            <a:off x="6257726" y="4845348"/>
            <a:ext cx="1644681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3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500"/>
              <a:t>Be Curious</a:t>
            </a:r>
          </a:p>
        </p:txBody>
      </p:sp>
      <p:sp>
        <p:nvSpPr>
          <p:cNvPr id="1190" name="Text 2"/>
          <p:cNvSpPr txBox="1"/>
          <p:nvPr/>
        </p:nvSpPr>
        <p:spPr>
          <a:xfrm>
            <a:off x="7142256" y="1347747"/>
            <a:ext cx="1979901" cy="3172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800"/>
              </a:lnSpc>
              <a:defRPr sz="17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417"/>
              <a:t>No matter what the field is</a:t>
            </a: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2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482" y="880800"/>
            <a:ext cx="3795403" cy="5693104"/>
          </a:xfrm>
          <a:prstGeom prst="rect">
            <a:avLst/>
          </a:prstGeom>
          <a:ln w="12700">
            <a:miter lim="400000"/>
          </a:ln>
        </p:spPr>
      </p:pic>
      <p:sp>
        <p:nvSpPr>
          <p:cNvPr id="1193" name="Text 0"/>
          <p:cNvSpPr txBox="1"/>
          <p:nvPr/>
        </p:nvSpPr>
        <p:spPr>
          <a:xfrm>
            <a:off x="661491" y="1341934"/>
            <a:ext cx="4953279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Principle 1: Be Curious</a:t>
            </a:r>
          </a:p>
        </p:txBody>
      </p:sp>
      <p:sp>
        <p:nvSpPr>
          <p:cNvPr id="1194" name="Shape 1"/>
          <p:cNvSpPr/>
          <p:nvPr/>
        </p:nvSpPr>
        <p:spPr>
          <a:xfrm>
            <a:off x="661492" y="2216050"/>
            <a:ext cx="3054053" cy="1883052"/>
          </a:xfrm>
          <a:prstGeom prst="roundRect">
            <a:avLst>
              <a:gd name="adj" fmla="val 4216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pPr>
              <a:defRPr sz="2400"/>
            </a:pPr>
            <a:endParaRPr sz="2000"/>
          </a:p>
        </p:txBody>
      </p:sp>
      <p:sp>
        <p:nvSpPr>
          <p:cNvPr id="1195" name="Text 2"/>
          <p:cNvSpPr txBox="1"/>
          <p:nvPr/>
        </p:nvSpPr>
        <p:spPr>
          <a:xfrm>
            <a:off x="856853" y="2411413"/>
            <a:ext cx="2172069" cy="317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00"/>
              <a:t>The Starting Point</a:t>
            </a:r>
          </a:p>
        </p:txBody>
      </p:sp>
      <p:sp>
        <p:nvSpPr>
          <p:cNvPr id="1196" name="Text 3"/>
          <p:cNvSpPr txBox="1"/>
          <p:nvPr/>
        </p:nvSpPr>
        <p:spPr>
          <a:xfrm>
            <a:off x="856853" y="2820094"/>
            <a:ext cx="2663330" cy="1414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Curiosity is where all research begins—the spark that ignites investigation.</a:t>
            </a:r>
          </a:p>
        </p:txBody>
      </p:sp>
      <p:sp>
        <p:nvSpPr>
          <p:cNvPr id="1197" name="Shape 4"/>
          <p:cNvSpPr/>
          <p:nvPr/>
        </p:nvSpPr>
        <p:spPr>
          <a:xfrm>
            <a:off x="3904556" y="2216050"/>
            <a:ext cx="3054053" cy="1883052"/>
          </a:xfrm>
          <a:prstGeom prst="roundRect">
            <a:avLst>
              <a:gd name="adj" fmla="val 4216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pPr>
              <a:defRPr sz="2400"/>
            </a:pPr>
            <a:endParaRPr sz="2000"/>
          </a:p>
        </p:txBody>
      </p:sp>
      <p:sp>
        <p:nvSpPr>
          <p:cNvPr id="1198" name="Text 5"/>
          <p:cNvSpPr txBox="1"/>
          <p:nvPr/>
        </p:nvSpPr>
        <p:spPr>
          <a:xfrm>
            <a:off x="4099917" y="2411413"/>
            <a:ext cx="2351606" cy="317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00"/>
              <a:t>Everyday Questions</a:t>
            </a:r>
          </a:p>
        </p:txBody>
      </p:sp>
      <p:sp>
        <p:nvSpPr>
          <p:cNvPr id="1199" name="Text 6"/>
          <p:cNvSpPr txBox="1"/>
          <p:nvPr/>
        </p:nvSpPr>
        <p:spPr>
          <a:xfrm>
            <a:off x="4099917" y="2820094"/>
            <a:ext cx="2663330" cy="1414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Major discoveries often begin with simple observations or moments of wonder.</a:t>
            </a:r>
          </a:p>
        </p:txBody>
      </p:sp>
      <p:sp>
        <p:nvSpPr>
          <p:cNvPr id="1200" name="Shape 7"/>
          <p:cNvSpPr/>
          <p:nvPr/>
        </p:nvSpPr>
        <p:spPr>
          <a:xfrm>
            <a:off x="661492" y="4281057"/>
            <a:ext cx="6297018" cy="1404244"/>
          </a:xfrm>
          <a:prstGeom prst="roundRect">
            <a:avLst>
              <a:gd name="adj" fmla="val 5654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pPr>
              <a:defRPr sz="2400"/>
            </a:pPr>
            <a:endParaRPr sz="2000"/>
          </a:p>
        </p:txBody>
      </p:sp>
      <p:sp>
        <p:nvSpPr>
          <p:cNvPr id="1201" name="Text 8"/>
          <p:cNvSpPr txBox="1"/>
          <p:nvPr/>
        </p:nvSpPr>
        <p:spPr>
          <a:xfrm>
            <a:off x="856853" y="4476420"/>
            <a:ext cx="2941511" cy="317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00"/>
              <a:t>Embracing the Unknown</a:t>
            </a:r>
          </a:p>
        </p:txBody>
      </p:sp>
      <p:sp>
        <p:nvSpPr>
          <p:cNvPr id="1202" name="Text 9"/>
          <p:cNvSpPr txBox="1"/>
          <p:nvPr/>
        </p:nvSpPr>
        <p:spPr>
          <a:xfrm>
            <a:off x="856854" y="4885102"/>
            <a:ext cx="5906293" cy="696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Being comfortable asking "Why?" and "What if?" drives meaningful research.</a:t>
            </a:r>
          </a:p>
        </p:txBody>
      </p:sp>
    </p:spTree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4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85150" cy="6577725"/>
          </a:xfrm>
          <a:prstGeom prst="rect">
            <a:avLst/>
          </a:prstGeom>
          <a:ln w="12700">
            <a:miter lim="400000"/>
          </a:ln>
        </p:spPr>
      </p:pic>
      <p:sp>
        <p:nvSpPr>
          <p:cNvPr id="1205" name="Text 0"/>
          <p:cNvSpPr txBox="1"/>
          <p:nvPr/>
        </p:nvSpPr>
        <p:spPr>
          <a:xfrm>
            <a:off x="5233491" y="1341934"/>
            <a:ext cx="5618526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Principle 2: Be Systematic</a:t>
            </a:r>
          </a:p>
        </p:txBody>
      </p:sp>
      <p:sp>
        <p:nvSpPr>
          <p:cNvPr id="1206" name="Shape 1"/>
          <p:cNvSpPr/>
          <p:nvPr/>
        </p:nvSpPr>
        <p:spPr>
          <a:xfrm>
            <a:off x="5233491" y="2216050"/>
            <a:ext cx="3054054" cy="1980180"/>
          </a:xfrm>
          <a:prstGeom prst="roundRect">
            <a:avLst>
              <a:gd name="adj" fmla="val 400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pPr>
              <a:defRPr sz="2400"/>
            </a:pPr>
            <a:endParaRPr sz="2000"/>
          </a:p>
        </p:txBody>
      </p:sp>
      <p:sp>
        <p:nvSpPr>
          <p:cNvPr id="1207" name="Text 2"/>
          <p:cNvSpPr txBox="1"/>
          <p:nvPr/>
        </p:nvSpPr>
        <p:spPr>
          <a:xfrm>
            <a:off x="5428854" y="2411413"/>
            <a:ext cx="1998945" cy="317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00"/>
              <a:t>Beyond Hunches</a:t>
            </a:r>
          </a:p>
        </p:txBody>
      </p:sp>
      <p:sp>
        <p:nvSpPr>
          <p:cNvPr id="1208" name="Text 3"/>
          <p:cNvSpPr txBox="1"/>
          <p:nvPr/>
        </p:nvSpPr>
        <p:spPr>
          <a:xfrm>
            <a:off x="5428853" y="2820094"/>
            <a:ext cx="2663330" cy="1414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Systematic research follows clear procedures rather than random exploration.</a:t>
            </a:r>
          </a:p>
        </p:txBody>
      </p:sp>
      <p:sp>
        <p:nvSpPr>
          <p:cNvPr id="1209" name="Shape 4"/>
          <p:cNvSpPr/>
          <p:nvPr/>
        </p:nvSpPr>
        <p:spPr>
          <a:xfrm>
            <a:off x="8476555" y="2216050"/>
            <a:ext cx="3054053" cy="1980180"/>
          </a:xfrm>
          <a:prstGeom prst="roundRect">
            <a:avLst>
              <a:gd name="adj" fmla="val 400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pPr>
              <a:defRPr sz="2400"/>
            </a:pPr>
            <a:endParaRPr sz="2000"/>
          </a:p>
        </p:txBody>
      </p:sp>
      <p:sp>
        <p:nvSpPr>
          <p:cNvPr id="1210" name="Text 5"/>
          <p:cNvSpPr txBox="1"/>
          <p:nvPr/>
        </p:nvSpPr>
        <p:spPr>
          <a:xfrm>
            <a:off x="8671918" y="2411413"/>
            <a:ext cx="1495602" cy="317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00"/>
              <a:t>Replicability</a:t>
            </a:r>
          </a:p>
        </p:txBody>
      </p:sp>
      <p:sp>
        <p:nvSpPr>
          <p:cNvPr id="1211" name="Text 6"/>
          <p:cNvSpPr txBox="1"/>
          <p:nvPr/>
        </p:nvSpPr>
        <p:spPr>
          <a:xfrm>
            <a:off x="8671918" y="2820094"/>
            <a:ext cx="2663330" cy="1055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Others should be able to follow your process and reach similar conclusions.</a:t>
            </a:r>
          </a:p>
        </p:txBody>
      </p:sp>
      <p:sp>
        <p:nvSpPr>
          <p:cNvPr id="1212" name="Shape 7"/>
          <p:cNvSpPr/>
          <p:nvPr/>
        </p:nvSpPr>
        <p:spPr>
          <a:xfrm>
            <a:off x="5233491" y="4302224"/>
            <a:ext cx="6297018" cy="1404244"/>
          </a:xfrm>
          <a:prstGeom prst="roundRect">
            <a:avLst>
              <a:gd name="adj" fmla="val 5654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pPr>
              <a:defRPr sz="2400"/>
            </a:pPr>
            <a:endParaRPr sz="2000"/>
          </a:p>
        </p:txBody>
      </p:sp>
      <p:sp>
        <p:nvSpPr>
          <p:cNvPr id="1213" name="Text 8"/>
          <p:cNvSpPr txBox="1"/>
          <p:nvPr/>
        </p:nvSpPr>
        <p:spPr>
          <a:xfrm>
            <a:off x="5428854" y="4497586"/>
            <a:ext cx="1561325" cy="317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00"/>
              <a:t>Organization</a:t>
            </a:r>
          </a:p>
        </p:txBody>
      </p:sp>
      <p:sp>
        <p:nvSpPr>
          <p:cNvPr id="1214" name="Text 9"/>
          <p:cNvSpPr txBox="1"/>
          <p:nvPr/>
        </p:nvSpPr>
        <p:spPr>
          <a:xfrm>
            <a:off x="5428854" y="4906269"/>
            <a:ext cx="5906293" cy="696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Keeping careful records and following methodical steps builds credibility.</a:t>
            </a:r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6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" y="111894"/>
            <a:ext cx="4285886" cy="6428828"/>
          </a:xfrm>
          <a:prstGeom prst="rect">
            <a:avLst/>
          </a:prstGeom>
          <a:ln w="12700">
            <a:miter lim="400000"/>
          </a:ln>
        </p:spPr>
      </p:pic>
      <p:sp>
        <p:nvSpPr>
          <p:cNvPr id="1217" name="Text 0"/>
          <p:cNvSpPr txBox="1"/>
          <p:nvPr/>
        </p:nvSpPr>
        <p:spPr>
          <a:xfrm>
            <a:off x="5233491" y="872927"/>
            <a:ext cx="4800994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Principle 3: Be Honest</a:t>
            </a:r>
          </a:p>
        </p:txBody>
      </p:sp>
      <p:sp>
        <p:nvSpPr>
          <p:cNvPr id="1218" name="Shape 1"/>
          <p:cNvSpPr/>
          <p:nvPr/>
        </p:nvSpPr>
        <p:spPr>
          <a:xfrm>
            <a:off x="5233491" y="1747044"/>
            <a:ext cx="425253" cy="425253"/>
          </a:xfrm>
          <a:prstGeom prst="roundRect">
            <a:avLst>
              <a:gd name="adj" fmla="val 1866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219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4383" y="1782465"/>
            <a:ext cx="283469" cy="354410"/>
          </a:xfrm>
          <a:prstGeom prst="rect">
            <a:avLst/>
          </a:prstGeom>
          <a:ln w="12700">
            <a:miter lim="400000"/>
          </a:ln>
        </p:spPr>
      </p:pic>
      <p:sp>
        <p:nvSpPr>
          <p:cNvPr id="1220" name="Text 2"/>
          <p:cNvSpPr txBox="1"/>
          <p:nvPr/>
        </p:nvSpPr>
        <p:spPr>
          <a:xfrm>
            <a:off x="5847754" y="1748433"/>
            <a:ext cx="2213748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Report All Findings</a:t>
            </a:r>
          </a:p>
        </p:txBody>
      </p:sp>
      <p:sp>
        <p:nvSpPr>
          <p:cNvPr id="1221" name="Text 3"/>
          <p:cNvSpPr txBox="1"/>
          <p:nvPr/>
        </p:nvSpPr>
        <p:spPr>
          <a:xfrm>
            <a:off x="5847755" y="2157114"/>
            <a:ext cx="5464081" cy="693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Include inconvenient results that don't match your expectations</a:t>
            </a:r>
          </a:p>
        </p:txBody>
      </p:sp>
      <p:sp>
        <p:nvSpPr>
          <p:cNvPr id="1222" name="Shape 4"/>
          <p:cNvSpPr/>
          <p:nvPr/>
        </p:nvSpPr>
        <p:spPr>
          <a:xfrm>
            <a:off x="5233491" y="2901057"/>
            <a:ext cx="425253" cy="425253"/>
          </a:xfrm>
          <a:prstGeom prst="roundRect">
            <a:avLst>
              <a:gd name="adj" fmla="val 1866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223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4383" y="2936478"/>
            <a:ext cx="283469" cy="354410"/>
          </a:xfrm>
          <a:prstGeom prst="rect">
            <a:avLst/>
          </a:prstGeom>
          <a:ln w="12700">
            <a:miter lim="400000"/>
          </a:ln>
        </p:spPr>
      </p:pic>
      <p:sp>
        <p:nvSpPr>
          <p:cNvPr id="1224" name="Text 5"/>
          <p:cNvSpPr txBox="1"/>
          <p:nvPr/>
        </p:nvSpPr>
        <p:spPr>
          <a:xfrm>
            <a:off x="5847755" y="3008279"/>
            <a:ext cx="2159245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Accept Uncertainty</a:t>
            </a:r>
          </a:p>
        </p:txBody>
      </p:sp>
      <p:sp>
        <p:nvSpPr>
          <p:cNvPr id="1225" name="Text 6"/>
          <p:cNvSpPr txBox="1"/>
          <p:nvPr/>
        </p:nvSpPr>
        <p:spPr>
          <a:xfrm>
            <a:off x="5847755" y="3416961"/>
            <a:ext cx="5635261" cy="334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Acknowledge when the data doesn't show clear answers</a:t>
            </a:r>
          </a:p>
        </p:txBody>
      </p:sp>
      <p:sp>
        <p:nvSpPr>
          <p:cNvPr id="1226" name="Shape 7"/>
          <p:cNvSpPr/>
          <p:nvPr/>
        </p:nvSpPr>
        <p:spPr>
          <a:xfrm>
            <a:off x="5233491" y="4055069"/>
            <a:ext cx="425253" cy="425253"/>
          </a:xfrm>
          <a:prstGeom prst="roundRect">
            <a:avLst>
              <a:gd name="adj" fmla="val 1866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227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4383" y="4090491"/>
            <a:ext cx="283469" cy="354410"/>
          </a:xfrm>
          <a:prstGeom prst="rect">
            <a:avLst/>
          </a:prstGeom>
          <a:ln w="12700">
            <a:miter lim="400000"/>
          </a:ln>
        </p:spPr>
      </p:pic>
      <p:sp>
        <p:nvSpPr>
          <p:cNvPr id="1228" name="Text 8"/>
          <p:cNvSpPr txBox="1"/>
          <p:nvPr/>
        </p:nvSpPr>
        <p:spPr>
          <a:xfrm>
            <a:off x="5847754" y="4056459"/>
            <a:ext cx="1287212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Give Credit</a:t>
            </a:r>
          </a:p>
        </p:txBody>
      </p:sp>
      <p:sp>
        <p:nvSpPr>
          <p:cNvPr id="1229" name="Text 9"/>
          <p:cNvSpPr txBox="1"/>
          <p:nvPr/>
        </p:nvSpPr>
        <p:spPr>
          <a:xfrm>
            <a:off x="5847754" y="4465141"/>
            <a:ext cx="6310578" cy="334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Cite sources properly and acknowledge others' contributions</a:t>
            </a:r>
          </a:p>
        </p:txBody>
      </p:sp>
      <p:sp>
        <p:nvSpPr>
          <p:cNvPr id="1230" name="Shape 10"/>
          <p:cNvSpPr/>
          <p:nvPr/>
        </p:nvSpPr>
        <p:spPr>
          <a:xfrm>
            <a:off x="5233491" y="5209083"/>
            <a:ext cx="425253" cy="425253"/>
          </a:xfrm>
          <a:prstGeom prst="roundRect">
            <a:avLst>
              <a:gd name="adj" fmla="val 1866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231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4383" y="5244505"/>
            <a:ext cx="283469" cy="354410"/>
          </a:xfrm>
          <a:prstGeom prst="rect">
            <a:avLst/>
          </a:prstGeom>
          <a:ln w="12700">
            <a:miter lim="400000"/>
          </a:ln>
        </p:spPr>
      </p:pic>
      <p:sp>
        <p:nvSpPr>
          <p:cNvPr id="1232" name="Text 11"/>
          <p:cNvSpPr txBox="1"/>
          <p:nvPr/>
        </p:nvSpPr>
        <p:spPr>
          <a:xfrm>
            <a:off x="5847754" y="5273973"/>
            <a:ext cx="1301638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Build Trust</a:t>
            </a:r>
          </a:p>
        </p:txBody>
      </p:sp>
      <p:sp>
        <p:nvSpPr>
          <p:cNvPr id="1233" name="Text 12"/>
          <p:cNvSpPr txBox="1"/>
          <p:nvPr/>
        </p:nvSpPr>
        <p:spPr>
          <a:xfrm>
            <a:off x="5847754" y="5682655"/>
            <a:ext cx="5674397" cy="693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Integrity makes your research valuable in school and beyond</a:t>
            </a:r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5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827" y="1086448"/>
            <a:ext cx="3480093" cy="5220140"/>
          </a:xfrm>
          <a:prstGeom prst="rect">
            <a:avLst/>
          </a:prstGeom>
          <a:ln w="12700">
            <a:miter lim="400000"/>
          </a:ln>
        </p:spPr>
      </p:pic>
      <p:sp>
        <p:nvSpPr>
          <p:cNvPr id="1236" name="Text 0"/>
          <p:cNvSpPr txBox="1"/>
          <p:nvPr/>
        </p:nvSpPr>
        <p:spPr>
          <a:xfrm>
            <a:off x="661492" y="1190724"/>
            <a:ext cx="5668218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The Value of Being Wrong</a:t>
            </a:r>
          </a:p>
        </p:txBody>
      </p:sp>
      <p:sp>
        <p:nvSpPr>
          <p:cNvPr id="1237" name="Shape 1"/>
          <p:cNvSpPr/>
          <p:nvPr/>
        </p:nvSpPr>
        <p:spPr>
          <a:xfrm>
            <a:off x="661492" y="2064841"/>
            <a:ext cx="3054053" cy="2145015"/>
          </a:xfrm>
          <a:prstGeom prst="roundRect">
            <a:avLst>
              <a:gd name="adj" fmla="val 3702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pPr>
              <a:defRPr sz="2300"/>
            </a:pPr>
            <a:endParaRPr sz="1917"/>
          </a:p>
        </p:txBody>
      </p:sp>
      <p:sp>
        <p:nvSpPr>
          <p:cNvPr id="1238" name="Text 2"/>
          <p:cNvSpPr txBox="1"/>
          <p:nvPr/>
        </p:nvSpPr>
        <p:spPr>
          <a:xfrm>
            <a:off x="856853" y="2260203"/>
            <a:ext cx="2663330" cy="661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Embrace Unexpected Results</a:t>
            </a:r>
          </a:p>
        </p:txBody>
      </p:sp>
      <p:sp>
        <p:nvSpPr>
          <p:cNvPr id="1239" name="Text 3"/>
          <p:cNvSpPr txBox="1"/>
          <p:nvPr/>
        </p:nvSpPr>
        <p:spPr>
          <a:xfrm>
            <a:off x="856853" y="2964161"/>
            <a:ext cx="2663330" cy="1411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Surprising findings often lead to the most important discoveries in research.</a:t>
            </a:r>
          </a:p>
        </p:txBody>
      </p:sp>
      <p:sp>
        <p:nvSpPr>
          <p:cNvPr id="1240" name="Shape 4"/>
          <p:cNvSpPr/>
          <p:nvPr/>
        </p:nvSpPr>
        <p:spPr>
          <a:xfrm>
            <a:off x="3904556" y="2064841"/>
            <a:ext cx="3054053" cy="2145015"/>
          </a:xfrm>
          <a:prstGeom prst="roundRect">
            <a:avLst>
              <a:gd name="adj" fmla="val 3702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pPr>
              <a:defRPr sz="2300"/>
            </a:pPr>
            <a:endParaRPr sz="1917"/>
          </a:p>
        </p:txBody>
      </p:sp>
      <p:sp>
        <p:nvSpPr>
          <p:cNvPr id="1241" name="Text 5"/>
          <p:cNvSpPr txBox="1"/>
          <p:nvPr/>
        </p:nvSpPr>
        <p:spPr>
          <a:xfrm>
            <a:off x="4099917" y="2260203"/>
            <a:ext cx="2511906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Learning Opportunity</a:t>
            </a:r>
          </a:p>
        </p:txBody>
      </p:sp>
      <p:sp>
        <p:nvSpPr>
          <p:cNvPr id="1242" name="Text 6"/>
          <p:cNvSpPr txBox="1"/>
          <p:nvPr/>
        </p:nvSpPr>
        <p:spPr>
          <a:xfrm>
            <a:off x="4099917" y="2668886"/>
            <a:ext cx="2663330" cy="1411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When your hypothesis is wrong, you've learned something valuable about what isn't true.</a:t>
            </a:r>
          </a:p>
        </p:txBody>
      </p:sp>
      <p:sp>
        <p:nvSpPr>
          <p:cNvPr id="1243" name="Shape 7"/>
          <p:cNvSpPr/>
          <p:nvPr/>
        </p:nvSpPr>
        <p:spPr>
          <a:xfrm>
            <a:off x="661492" y="4315850"/>
            <a:ext cx="6297018" cy="1404244"/>
          </a:xfrm>
          <a:prstGeom prst="roundRect">
            <a:avLst>
              <a:gd name="adj" fmla="val 5654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pPr>
              <a:defRPr sz="2300"/>
            </a:pPr>
            <a:endParaRPr sz="1917"/>
          </a:p>
        </p:txBody>
      </p:sp>
      <p:sp>
        <p:nvSpPr>
          <p:cNvPr id="1244" name="Text 8"/>
          <p:cNvSpPr txBox="1"/>
          <p:nvPr/>
        </p:nvSpPr>
        <p:spPr>
          <a:xfrm>
            <a:off x="856853" y="4511212"/>
            <a:ext cx="2289088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Intellectual Honesty</a:t>
            </a:r>
          </a:p>
        </p:txBody>
      </p:sp>
      <p:sp>
        <p:nvSpPr>
          <p:cNvPr id="1245" name="Text 9"/>
          <p:cNvSpPr txBox="1"/>
          <p:nvPr/>
        </p:nvSpPr>
        <p:spPr>
          <a:xfrm>
            <a:off x="856854" y="4919894"/>
            <a:ext cx="5906293" cy="693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Acknowledging incorrect assumptions demonstrates scientific integrity and builds credibility.</a:t>
            </a:r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Text 0"/>
          <p:cNvSpPr txBox="1"/>
          <p:nvPr/>
        </p:nvSpPr>
        <p:spPr>
          <a:xfrm>
            <a:off x="553839" y="435173"/>
            <a:ext cx="3986669" cy="53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4600"/>
              </a:lnSpc>
              <a:defRPr sz="37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083"/>
              <a:t>The Research Process</a:t>
            </a:r>
          </a:p>
        </p:txBody>
      </p:sp>
      <p:sp>
        <p:nvSpPr>
          <p:cNvPr id="1248" name="Text 1"/>
          <p:cNvSpPr txBox="1"/>
          <p:nvPr/>
        </p:nvSpPr>
        <p:spPr>
          <a:xfrm>
            <a:off x="553840" y="1245990"/>
            <a:ext cx="6591869" cy="294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The journey from question to insight follows these essential steps:</a:t>
            </a:r>
          </a:p>
        </p:txBody>
      </p:sp>
      <p:pic>
        <p:nvPicPr>
          <p:cNvPr id="1249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39" y="1677194"/>
            <a:ext cx="791170" cy="949426"/>
          </a:xfrm>
          <a:prstGeom prst="rect">
            <a:avLst/>
          </a:prstGeom>
          <a:ln w="12700">
            <a:miter lim="400000"/>
          </a:ln>
        </p:spPr>
      </p:pic>
      <p:sp>
        <p:nvSpPr>
          <p:cNvPr id="1250" name="Text 2"/>
          <p:cNvSpPr txBox="1"/>
          <p:nvPr/>
        </p:nvSpPr>
        <p:spPr>
          <a:xfrm>
            <a:off x="1582340" y="1835349"/>
            <a:ext cx="1699183" cy="294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Ask a Question</a:t>
            </a:r>
          </a:p>
        </p:txBody>
      </p:sp>
      <p:sp>
        <p:nvSpPr>
          <p:cNvPr id="1251" name="Text 3"/>
          <p:cNvSpPr txBox="1"/>
          <p:nvPr/>
        </p:nvSpPr>
        <p:spPr>
          <a:xfrm>
            <a:off x="1582340" y="2177455"/>
            <a:ext cx="5468613" cy="294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Formulate a clear, specific question worth investigating</a:t>
            </a:r>
          </a:p>
        </p:txBody>
      </p:sp>
      <p:pic>
        <p:nvPicPr>
          <p:cNvPr id="1252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39" y="2626618"/>
            <a:ext cx="791170" cy="949425"/>
          </a:xfrm>
          <a:prstGeom prst="rect">
            <a:avLst/>
          </a:prstGeom>
          <a:ln w="12700">
            <a:miter lim="400000"/>
          </a:ln>
        </p:spPr>
      </p:pic>
      <p:sp>
        <p:nvSpPr>
          <p:cNvPr id="1253" name="Text 4"/>
          <p:cNvSpPr txBox="1"/>
          <p:nvPr/>
        </p:nvSpPr>
        <p:spPr>
          <a:xfrm>
            <a:off x="1582340" y="2784773"/>
            <a:ext cx="2228174" cy="294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Gather Information</a:t>
            </a:r>
          </a:p>
        </p:txBody>
      </p:sp>
      <p:sp>
        <p:nvSpPr>
          <p:cNvPr id="1254" name="Text 5"/>
          <p:cNvSpPr txBox="1"/>
          <p:nvPr/>
        </p:nvSpPr>
        <p:spPr>
          <a:xfrm>
            <a:off x="1582340" y="3126880"/>
            <a:ext cx="5072414" cy="294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Collect relevant data through appropriate methods</a:t>
            </a:r>
          </a:p>
        </p:txBody>
      </p:sp>
      <p:pic>
        <p:nvPicPr>
          <p:cNvPr id="1255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839" y="3576042"/>
            <a:ext cx="791170" cy="949425"/>
          </a:xfrm>
          <a:prstGeom prst="rect">
            <a:avLst/>
          </a:prstGeom>
          <a:ln w="12700">
            <a:miter lim="400000"/>
          </a:ln>
        </p:spPr>
      </p:pic>
      <p:sp>
        <p:nvSpPr>
          <p:cNvPr id="1256" name="Text 6"/>
          <p:cNvSpPr txBox="1"/>
          <p:nvPr/>
        </p:nvSpPr>
        <p:spPr>
          <a:xfrm>
            <a:off x="1582341" y="3734197"/>
            <a:ext cx="2749151" cy="294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Analyze the Information</a:t>
            </a:r>
          </a:p>
        </p:txBody>
      </p:sp>
      <p:sp>
        <p:nvSpPr>
          <p:cNvPr id="1257" name="Text 7"/>
          <p:cNvSpPr txBox="1"/>
          <p:nvPr/>
        </p:nvSpPr>
        <p:spPr>
          <a:xfrm>
            <a:off x="1582340" y="4076303"/>
            <a:ext cx="4747197" cy="294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Examine data for patterns, trends, and meaning</a:t>
            </a:r>
          </a:p>
        </p:txBody>
      </p:sp>
      <p:pic>
        <p:nvPicPr>
          <p:cNvPr id="1258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839" y="4525466"/>
            <a:ext cx="791170" cy="949426"/>
          </a:xfrm>
          <a:prstGeom prst="rect">
            <a:avLst/>
          </a:prstGeom>
          <a:ln w="12700">
            <a:miter lim="400000"/>
          </a:ln>
        </p:spPr>
      </p:pic>
      <p:sp>
        <p:nvSpPr>
          <p:cNvPr id="1259" name="Text 8"/>
          <p:cNvSpPr txBox="1"/>
          <p:nvPr/>
        </p:nvSpPr>
        <p:spPr>
          <a:xfrm>
            <a:off x="1582340" y="4683621"/>
            <a:ext cx="2090316" cy="294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Draw Conclusions</a:t>
            </a:r>
          </a:p>
        </p:txBody>
      </p:sp>
      <p:sp>
        <p:nvSpPr>
          <p:cNvPr id="1260" name="Text 9"/>
          <p:cNvSpPr txBox="1"/>
          <p:nvPr/>
        </p:nvSpPr>
        <p:spPr>
          <a:xfrm>
            <a:off x="1582340" y="5025727"/>
            <a:ext cx="5812873" cy="294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Develop evidence-based answers to your original question</a:t>
            </a:r>
          </a:p>
        </p:txBody>
      </p:sp>
      <p:pic>
        <p:nvPicPr>
          <p:cNvPr id="1261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839" y="5474890"/>
            <a:ext cx="791170" cy="949425"/>
          </a:xfrm>
          <a:prstGeom prst="rect">
            <a:avLst/>
          </a:prstGeom>
          <a:ln w="12700">
            <a:miter lim="400000"/>
          </a:ln>
        </p:spPr>
      </p:pic>
      <p:sp>
        <p:nvSpPr>
          <p:cNvPr id="1262" name="Text 10"/>
          <p:cNvSpPr txBox="1"/>
          <p:nvPr/>
        </p:nvSpPr>
        <p:spPr>
          <a:xfrm>
            <a:off x="1582341" y="5633046"/>
            <a:ext cx="1715213" cy="294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Share Findings</a:t>
            </a:r>
          </a:p>
        </p:txBody>
      </p:sp>
      <p:sp>
        <p:nvSpPr>
          <p:cNvPr id="1263" name="Text 11"/>
          <p:cNvSpPr txBox="1"/>
          <p:nvPr/>
        </p:nvSpPr>
        <p:spPr>
          <a:xfrm>
            <a:off x="1582340" y="5975151"/>
            <a:ext cx="5745868" cy="294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Communicate results effectively to appropriate audiences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5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66" name="Text 0"/>
          <p:cNvSpPr txBox="1"/>
          <p:nvPr/>
        </p:nvSpPr>
        <p:spPr>
          <a:xfrm>
            <a:off x="5167214" y="497483"/>
            <a:ext cx="6429573" cy="12186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5000"/>
              </a:lnSpc>
              <a:defRPr sz="4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333"/>
              <a:t>Real Research Example: AI Art in Education</a:t>
            </a:r>
          </a:p>
        </p:txBody>
      </p:sp>
      <p:pic>
        <p:nvPicPr>
          <p:cNvPr id="1267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7213" y="1815604"/>
            <a:ext cx="850405" cy="1020466"/>
          </a:xfrm>
          <a:prstGeom prst="rect">
            <a:avLst/>
          </a:prstGeom>
          <a:ln w="12700">
            <a:miter lim="400000"/>
          </a:ln>
        </p:spPr>
      </p:pic>
      <p:sp>
        <p:nvSpPr>
          <p:cNvPr id="1268" name="Text 1"/>
          <p:cNvSpPr txBox="1"/>
          <p:nvPr/>
        </p:nvSpPr>
        <p:spPr>
          <a:xfrm>
            <a:off x="6272708" y="1985664"/>
            <a:ext cx="1035540" cy="295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Question</a:t>
            </a:r>
          </a:p>
        </p:txBody>
      </p:sp>
      <p:sp>
        <p:nvSpPr>
          <p:cNvPr id="1269" name="Text 2"/>
          <p:cNvSpPr txBox="1"/>
          <p:nvPr/>
        </p:nvSpPr>
        <p:spPr>
          <a:xfrm>
            <a:off x="6272708" y="2353368"/>
            <a:ext cx="5522754" cy="625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Could AI tools help more students feel empowered to create art?</a:t>
            </a:r>
          </a:p>
        </p:txBody>
      </p:sp>
      <p:pic>
        <p:nvPicPr>
          <p:cNvPr id="1270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7213" y="2836069"/>
            <a:ext cx="850405" cy="1251943"/>
          </a:xfrm>
          <a:prstGeom prst="rect">
            <a:avLst/>
          </a:prstGeom>
          <a:ln w="12700">
            <a:miter lim="400000"/>
          </a:ln>
        </p:spPr>
      </p:pic>
      <p:sp>
        <p:nvSpPr>
          <p:cNvPr id="1271" name="Text 3"/>
          <p:cNvSpPr txBox="1"/>
          <p:nvPr/>
        </p:nvSpPr>
        <p:spPr>
          <a:xfrm>
            <a:off x="6272707" y="3069630"/>
            <a:ext cx="2592056" cy="295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Information Gathering</a:t>
            </a:r>
          </a:p>
        </p:txBody>
      </p:sp>
      <p:sp>
        <p:nvSpPr>
          <p:cNvPr id="1272" name="Text 4"/>
          <p:cNvSpPr txBox="1"/>
          <p:nvPr/>
        </p:nvSpPr>
        <p:spPr>
          <a:xfrm>
            <a:off x="6272708" y="3395000"/>
            <a:ext cx="5324079" cy="625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Surveys, teacher interviews, examples from other schools, literature review</a:t>
            </a:r>
          </a:p>
        </p:txBody>
      </p:sp>
      <p:pic>
        <p:nvPicPr>
          <p:cNvPr id="1273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7213" y="4088010"/>
            <a:ext cx="850405" cy="1020466"/>
          </a:xfrm>
          <a:prstGeom prst="rect">
            <a:avLst/>
          </a:prstGeom>
          <a:ln w="12700">
            <a:miter lim="400000"/>
          </a:ln>
        </p:spPr>
      </p:pic>
      <p:sp>
        <p:nvSpPr>
          <p:cNvPr id="1274" name="Text 5"/>
          <p:cNvSpPr txBox="1"/>
          <p:nvPr/>
        </p:nvSpPr>
        <p:spPr>
          <a:xfrm>
            <a:off x="6272707" y="4183989"/>
            <a:ext cx="827150" cy="2887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2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667"/>
              <a:t>Analysis</a:t>
            </a:r>
          </a:p>
        </p:txBody>
      </p:sp>
      <p:sp>
        <p:nvSpPr>
          <p:cNvPr id="1275" name="Text 6"/>
          <p:cNvSpPr txBox="1"/>
          <p:nvPr/>
        </p:nvSpPr>
        <p:spPr>
          <a:xfrm>
            <a:off x="6272708" y="4551693"/>
            <a:ext cx="5522754" cy="625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30% felt confident in drawing skills; 80% would try AI art tools</a:t>
            </a:r>
          </a:p>
        </p:txBody>
      </p:sp>
      <p:pic>
        <p:nvPicPr>
          <p:cNvPr id="1276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7213" y="5108476"/>
            <a:ext cx="850405" cy="1251943"/>
          </a:xfrm>
          <a:prstGeom prst="rect">
            <a:avLst/>
          </a:prstGeom>
          <a:ln w="12700">
            <a:miter lim="400000"/>
          </a:ln>
        </p:spPr>
      </p:pic>
      <p:sp>
        <p:nvSpPr>
          <p:cNvPr id="1277" name="Text 7"/>
          <p:cNvSpPr txBox="1"/>
          <p:nvPr/>
        </p:nvSpPr>
        <p:spPr>
          <a:xfrm>
            <a:off x="6272708" y="5278536"/>
            <a:ext cx="2367636" cy="295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Conclusion &amp; Action</a:t>
            </a:r>
          </a:p>
        </p:txBody>
      </p:sp>
      <p:sp>
        <p:nvSpPr>
          <p:cNvPr id="1278" name="Text 8"/>
          <p:cNvSpPr txBox="1"/>
          <p:nvPr/>
        </p:nvSpPr>
        <p:spPr>
          <a:xfrm>
            <a:off x="6272708" y="5646242"/>
            <a:ext cx="5324079" cy="625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AI art competition could broaden creative access; school launched pilot program</a:t>
            </a: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" name="Text 0"/>
          <p:cNvSpPr txBox="1"/>
          <p:nvPr/>
        </p:nvSpPr>
        <p:spPr>
          <a:xfrm>
            <a:off x="661492" y="1628775"/>
            <a:ext cx="7704032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Case Study: School Lunch Research</a:t>
            </a:r>
          </a:p>
        </p:txBody>
      </p:sp>
      <p:sp>
        <p:nvSpPr>
          <p:cNvPr id="1281" name="Text 1"/>
          <p:cNvSpPr txBox="1"/>
          <p:nvPr/>
        </p:nvSpPr>
        <p:spPr>
          <a:xfrm>
            <a:off x="661491" y="2691904"/>
            <a:ext cx="1594988" cy="317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00"/>
              <a:t>The Question</a:t>
            </a:r>
          </a:p>
        </p:txBody>
      </p:sp>
      <p:sp>
        <p:nvSpPr>
          <p:cNvPr id="1282" name="Text 2"/>
          <p:cNvSpPr txBox="1"/>
          <p:nvPr/>
        </p:nvSpPr>
        <p:spPr>
          <a:xfrm>
            <a:off x="661491" y="3176190"/>
            <a:ext cx="5203926" cy="696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Layla wondered: Are students getting nutritious lunches that support focus and learning?</a:t>
            </a:r>
          </a:p>
        </p:txBody>
      </p:sp>
      <p:sp>
        <p:nvSpPr>
          <p:cNvPr id="1283" name="Text 3"/>
          <p:cNvSpPr txBox="1"/>
          <p:nvPr/>
        </p:nvSpPr>
        <p:spPr>
          <a:xfrm>
            <a:off x="661491" y="4393373"/>
            <a:ext cx="1328890" cy="317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00"/>
              <a:t>Hypothesis</a:t>
            </a:r>
          </a:p>
        </p:txBody>
      </p:sp>
      <p:sp>
        <p:nvSpPr>
          <p:cNvPr id="1284" name="Text 4"/>
          <p:cNvSpPr txBox="1"/>
          <p:nvPr/>
        </p:nvSpPr>
        <p:spPr>
          <a:xfrm>
            <a:off x="661491" y="4877659"/>
            <a:ext cx="5203926" cy="696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Students avoid lunches due to taste, freshness, or variety issues—not lack of hunger.</a:t>
            </a:r>
          </a:p>
        </p:txBody>
      </p:sp>
      <p:sp>
        <p:nvSpPr>
          <p:cNvPr id="1285" name="Text 5"/>
          <p:cNvSpPr txBox="1"/>
          <p:nvPr/>
        </p:nvSpPr>
        <p:spPr>
          <a:xfrm>
            <a:off x="6332934" y="2691904"/>
            <a:ext cx="1976503" cy="317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00"/>
              <a:t>Research Design</a:t>
            </a:r>
          </a:p>
        </p:txBody>
      </p:sp>
      <p:sp>
        <p:nvSpPr>
          <p:cNvPr id="1286" name="Text 6"/>
          <p:cNvSpPr txBox="1"/>
          <p:nvPr/>
        </p:nvSpPr>
        <p:spPr>
          <a:xfrm>
            <a:off x="6332934" y="3176190"/>
            <a:ext cx="5251053" cy="337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marL="342900" indent="-342900">
              <a:lnSpc>
                <a:spcPts val="2800"/>
              </a:lnSpc>
              <a:buSzPct val="100000"/>
              <a:buChar char="•"/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Quantitative: Lunch program participation data</a:t>
            </a:r>
          </a:p>
        </p:txBody>
      </p:sp>
      <p:sp>
        <p:nvSpPr>
          <p:cNvPr id="1287" name="Text 7"/>
          <p:cNvSpPr txBox="1"/>
          <p:nvPr/>
        </p:nvSpPr>
        <p:spPr>
          <a:xfrm>
            <a:off x="6332933" y="3544690"/>
            <a:ext cx="5102744" cy="337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marL="342900" indent="-342900">
              <a:lnSpc>
                <a:spcPts val="2800"/>
              </a:lnSpc>
              <a:buSzPct val="100000"/>
              <a:buChar char="•"/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Qualitative: Student surveys and focus groups</a:t>
            </a:r>
          </a:p>
        </p:txBody>
      </p:sp>
      <p:sp>
        <p:nvSpPr>
          <p:cNvPr id="1288" name="Text 8"/>
          <p:cNvSpPr txBox="1"/>
          <p:nvPr/>
        </p:nvSpPr>
        <p:spPr>
          <a:xfrm>
            <a:off x="6332934" y="3913188"/>
            <a:ext cx="4777333" cy="337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marL="342900" indent="-342900">
              <a:lnSpc>
                <a:spcPts val="2800"/>
              </a:lnSpc>
              <a:buSzPct val="100000"/>
              <a:buChar char="•"/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Observational: Cafeteria behavior patterns</a:t>
            </a:r>
          </a:p>
        </p:txBody>
      </p:sp>
      <p:sp>
        <p:nvSpPr>
          <p:cNvPr id="1289" name="Text 9"/>
          <p:cNvSpPr txBox="1"/>
          <p:nvPr/>
        </p:nvSpPr>
        <p:spPr>
          <a:xfrm>
            <a:off x="6332933" y="4281685"/>
            <a:ext cx="3331874" cy="337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marL="342900" indent="-342900">
              <a:lnSpc>
                <a:spcPts val="2800"/>
              </a:lnSpc>
              <a:buSzPct val="100000"/>
              <a:buChar char="•"/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Stakeholder: Staff interviews</a:t>
            </a:r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1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79312" cy="6568967"/>
          </a:xfrm>
          <a:prstGeom prst="rect">
            <a:avLst/>
          </a:prstGeom>
          <a:ln w="12700">
            <a:miter lim="400000"/>
          </a:ln>
        </p:spPr>
      </p:pic>
      <p:sp>
        <p:nvSpPr>
          <p:cNvPr id="1292" name="Text 0"/>
          <p:cNvSpPr txBox="1"/>
          <p:nvPr/>
        </p:nvSpPr>
        <p:spPr>
          <a:xfrm>
            <a:off x="5172968" y="838893"/>
            <a:ext cx="6418065" cy="12186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5000"/>
              </a:lnSpc>
              <a:defRPr sz="4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333"/>
              <a:t>Lunch Research: Findings and Impact</a:t>
            </a:r>
          </a:p>
        </p:txBody>
      </p:sp>
      <p:sp>
        <p:nvSpPr>
          <p:cNvPr id="1293" name="Shape 1"/>
          <p:cNvSpPr/>
          <p:nvPr/>
        </p:nvSpPr>
        <p:spPr>
          <a:xfrm>
            <a:off x="5172969" y="2169517"/>
            <a:ext cx="386259" cy="386259"/>
          </a:xfrm>
          <a:prstGeom prst="roundRect">
            <a:avLst>
              <a:gd name="adj" fmla="val 18671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294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7312" y="2201664"/>
            <a:ext cx="257473" cy="321867"/>
          </a:xfrm>
          <a:prstGeom prst="rect">
            <a:avLst/>
          </a:prstGeom>
          <a:ln w="12700">
            <a:miter lim="400000"/>
          </a:ln>
        </p:spPr>
      </p:pic>
      <p:sp>
        <p:nvSpPr>
          <p:cNvPr id="1295" name="Text 2"/>
          <p:cNvSpPr txBox="1"/>
          <p:nvPr/>
        </p:nvSpPr>
        <p:spPr>
          <a:xfrm>
            <a:off x="5730875" y="2228453"/>
            <a:ext cx="1418658" cy="293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Key Findings</a:t>
            </a:r>
          </a:p>
        </p:txBody>
      </p:sp>
      <p:sp>
        <p:nvSpPr>
          <p:cNvPr id="1296" name="Text 3"/>
          <p:cNvSpPr txBox="1"/>
          <p:nvPr/>
        </p:nvSpPr>
        <p:spPr>
          <a:xfrm>
            <a:off x="5730875" y="2599631"/>
            <a:ext cx="5897181" cy="623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2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833"/>
              <a:t>Students wanted fresher options, menu variety, and customization</a:t>
            </a:r>
          </a:p>
        </p:txBody>
      </p:sp>
      <p:sp>
        <p:nvSpPr>
          <p:cNvPr id="1297" name="Shape 4"/>
          <p:cNvSpPr/>
          <p:nvPr/>
        </p:nvSpPr>
        <p:spPr>
          <a:xfrm>
            <a:off x="5172969" y="3217763"/>
            <a:ext cx="386259" cy="386259"/>
          </a:xfrm>
          <a:prstGeom prst="roundRect">
            <a:avLst>
              <a:gd name="adj" fmla="val 18671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298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7312" y="3249910"/>
            <a:ext cx="257473" cy="321867"/>
          </a:xfrm>
          <a:prstGeom prst="rect">
            <a:avLst/>
          </a:prstGeom>
          <a:ln w="12700">
            <a:miter lim="400000"/>
          </a:ln>
        </p:spPr>
      </p:pic>
      <p:sp>
        <p:nvSpPr>
          <p:cNvPr id="1299" name="Text 5"/>
          <p:cNvSpPr txBox="1"/>
          <p:nvPr/>
        </p:nvSpPr>
        <p:spPr>
          <a:xfrm>
            <a:off x="5730875" y="3276699"/>
            <a:ext cx="2120773" cy="293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Solutions Proposed</a:t>
            </a:r>
          </a:p>
        </p:txBody>
      </p:sp>
      <p:sp>
        <p:nvSpPr>
          <p:cNvPr id="1300" name="Text 6"/>
          <p:cNvSpPr txBox="1"/>
          <p:nvPr/>
        </p:nvSpPr>
        <p:spPr>
          <a:xfrm>
            <a:off x="5730875" y="3647877"/>
            <a:ext cx="6285822" cy="623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2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833"/>
              <a:t>Student advisory panel, taste tests, nutritional labeling, diverse options</a:t>
            </a:r>
          </a:p>
        </p:txBody>
      </p:sp>
      <p:sp>
        <p:nvSpPr>
          <p:cNvPr id="1301" name="Shape 7"/>
          <p:cNvSpPr/>
          <p:nvPr/>
        </p:nvSpPr>
        <p:spPr>
          <a:xfrm>
            <a:off x="5172969" y="4266010"/>
            <a:ext cx="386259" cy="386259"/>
          </a:xfrm>
          <a:prstGeom prst="roundRect">
            <a:avLst>
              <a:gd name="adj" fmla="val 18671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302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7312" y="4298156"/>
            <a:ext cx="257473" cy="321867"/>
          </a:xfrm>
          <a:prstGeom prst="rect">
            <a:avLst/>
          </a:prstGeom>
          <a:ln w="12700">
            <a:miter lim="400000"/>
          </a:ln>
        </p:spPr>
      </p:pic>
      <p:sp>
        <p:nvSpPr>
          <p:cNvPr id="1303" name="Text 8"/>
          <p:cNvSpPr txBox="1"/>
          <p:nvPr/>
        </p:nvSpPr>
        <p:spPr>
          <a:xfrm>
            <a:off x="5730875" y="4324945"/>
            <a:ext cx="724557" cy="2887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2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667"/>
              <a:t>Results</a:t>
            </a:r>
          </a:p>
        </p:txBody>
      </p:sp>
      <p:sp>
        <p:nvSpPr>
          <p:cNvPr id="1304" name="Text 9"/>
          <p:cNvSpPr txBox="1"/>
          <p:nvPr/>
        </p:nvSpPr>
        <p:spPr>
          <a:xfrm>
            <a:off x="5730875" y="4696123"/>
            <a:ext cx="6026278" cy="623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2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833"/>
              <a:t>School piloted ideas; lunch participation and satisfaction increased</a:t>
            </a:r>
          </a:p>
        </p:txBody>
      </p:sp>
      <p:sp>
        <p:nvSpPr>
          <p:cNvPr id="1305" name="Shape 10"/>
          <p:cNvSpPr/>
          <p:nvPr/>
        </p:nvSpPr>
        <p:spPr>
          <a:xfrm>
            <a:off x="5172969" y="5314256"/>
            <a:ext cx="386259" cy="386259"/>
          </a:xfrm>
          <a:prstGeom prst="roundRect">
            <a:avLst>
              <a:gd name="adj" fmla="val 18671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306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7312" y="5346402"/>
            <a:ext cx="257473" cy="321867"/>
          </a:xfrm>
          <a:prstGeom prst="rect">
            <a:avLst/>
          </a:prstGeom>
          <a:ln w="12700">
            <a:miter lim="400000"/>
          </a:ln>
        </p:spPr>
      </p:pic>
      <p:sp>
        <p:nvSpPr>
          <p:cNvPr id="1307" name="Text 11"/>
          <p:cNvSpPr txBox="1"/>
          <p:nvPr/>
        </p:nvSpPr>
        <p:spPr>
          <a:xfrm>
            <a:off x="5730876" y="5373192"/>
            <a:ext cx="687689" cy="2887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500"/>
              </a:lnSpc>
              <a:defRPr sz="20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667"/>
              <a:t>Lesson</a:t>
            </a:r>
          </a:p>
        </p:txBody>
      </p:sp>
      <p:sp>
        <p:nvSpPr>
          <p:cNvPr id="1308" name="Text 12"/>
          <p:cNvSpPr txBox="1"/>
          <p:nvPr/>
        </p:nvSpPr>
        <p:spPr>
          <a:xfrm>
            <a:off x="5730875" y="5744369"/>
            <a:ext cx="5897181" cy="623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500"/>
              </a:lnSpc>
              <a:defRPr sz="2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833"/>
              <a:t>Research can solve real problems and improve everyday experiences</a:t>
            </a:r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21" y="135728"/>
            <a:ext cx="4274208" cy="6413351"/>
          </a:xfrm>
          <a:prstGeom prst="rect">
            <a:avLst/>
          </a:prstGeom>
          <a:ln w="12700">
            <a:miter lim="400000"/>
          </a:ln>
        </p:spPr>
      </p:pic>
      <p:sp>
        <p:nvSpPr>
          <p:cNvPr id="1311" name="Text 0"/>
          <p:cNvSpPr txBox="1"/>
          <p:nvPr/>
        </p:nvSpPr>
        <p:spPr>
          <a:xfrm>
            <a:off x="5189198" y="863553"/>
            <a:ext cx="6331546" cy="623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5400"/>
              </a:lnSpc>
              <a:defRPr sz="4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583"/>
              <a:t>Summary: Key Takeaways</a:t>
            </a:r>
          </a:p>
        </p:txBody>
      </p:sp>
      <p:sp>
        <p:nvSpPr>
          <p:cNvPr id="1312" name="Shape 1"/>
          <p:cNvSpPr/>
          <p:nvPr/>
        </p:nvSpPr>
        <p:spPr>
          <a:xfrm>
            <a:off x="5216227" y="1932582"/>
            <a:ext cx="414140" cy="414140"/>
          </a:xfrm>
          <a:prstGeom prst="roundRect">
            <a:avLst>
              <a:gd name="adj" fmla="val 1866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313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84" y="1967111"/>
            <a:ext cx="276028" cy="345083"/>
          </a:xfrm>
          <a:prstGeom prst="rect">
            <a:avLst/>
          </a:prstGeom>
          <a:ln w="12700">
            <a:miter lim="400000"/>
          </a:ln>
        </p:spPr>
      </p:pic>
      <p:sp>
        <p:nvSpPr>
          <p:cNvPr id="1314" name="Text 2"/>
          <p:cNvSpPr txBox="1"/>
          <p:nvPr/>
        </p:nvSpPr>
        <p:spPr>
          <a:xfrm>
            <a:off x="5814418" y="1932285"/>
            <a:ext cx="2358018" cy="317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00"/>
              <a:t>Research Definition</a:t>
            </a:r>
          </a:p>
        </p:txBody>
      </p:sp>
      <p:sp>
        <p:nvSpPr>
          <p:cNvPr id="1315" name="Text 3"/>
          <p:cNvSpPr txBox="1"/>
          <p:nvPr/>
        </p:nvSpPr>
        <p:spPr>
          <a:xfrm>
            <a:off x="5814418" y="2330251"/>
            <a:ext cx="6026065" cy="6736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Systematic investigation to answer questions using evidence</a:t>
            </a:r>
          </a:p>
        </p:txBody>
      </p:sp>
      <p:sp>
        <p:nvSpPr>
          <p:cNvPr id="1316" name="Shape 4"/>
          <p:cNvSpPr/>
          <p:nvPr/>
        </p:nvSpPr>
        <p:spPr>
          <a:xfrm>
            <a:off x="5216227" y="3056333"/>
            <a:ext cx="414140" cy="414140"/>
          </a:xfrm>
          <a:prstGeom prst="roundRect">
            <a:avLst>
              <a:gd name="adj" fmla="val 1866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317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84" y="3090862"/>
            <a:ext cx="276028" cy="345083"/>
          </a:xfrm>
          <a:prstGeom prst="rect">
            <a:avLst/>
          </a:prstGeom>
          <a:ln w="12700">
            <a:miter lim="400000"/>
          </a:ln>
        </p:spPr>
      </p:pic>
      <p:sp>
        <p:nvSpPr>
          <p:cNvPr id="1318" name="Text 5"/>
          <p:cNvSpPr txBox="1"/>
          <p:nvPr/>
        </p:nvSpPr>
        <p:spPr>
          <a:xfrm>
            <a:off x="5814418" y="3098370"/>
            <a:ext cx="2481449" cy="317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00"/>
              <a:t>Opinion vs. Evidence</a:t>
            </a:r>
          </a:p>
        </p:txBody>
      </p:sp>
      <p:sp>
        <p:nvSpPr>
          <p:cNvPr id="1319" name="Text 6"/>
          <p:cNvSpPr txBox="1"/>
          <p:nvPr/>
        </p:nvSpPr>
        <p:spPr>
          <a:xfrm>
            <a:off x="5814418" y="3496336"/>
            <a:ext cx="6026064" cy="6736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Research moves beyond personal beliefs to factual conclusions</a:t>
            </a:r>
          </a:p>
        </p:txBody>
      </p:sp>
      <p:sp>
        <p:nvSpPr>
          <p:cNvPr id="1320" name="Shape 7"/>
          <p:cNvSpPr/>
          <p:nvPr/>
        </p:nvSpPr>
        <p:spPr>
          <a:xfrm>
            <a:off x="5216227" y="4180086"/>
            <a:ext cx="414140" cy="414140"/>
          </a:xfrm>
          <a:prstGeom prst="roundRect">
            <a:avLst>
              <a:gd name="adj" fmla="val 1866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321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84" y="4214614"/>
            <a:ext cx="276028" cy="345083"/>
          </a:xfrm>
          <a:prstGeom prst="rect">
            <a:avLst/>
          </a:prstGeom>
          <a:ln w="12700">
            <a:miter lim="400000"/>
          </a:ln>
        </p:spPr>
      </p:pic>
      <p:sp>
        <p:nvSpPr>
          <p:cNvPr id="1322" name="Text 8"/>
          <p:cNvSpPr txBox="1"/>
          <p:nvPr/>
        </p:nvSpPr>
        <p:spPr>
          <a:xfrm>
            <a:off x="5814418" y="4179789"/>
            <a:ext cx="1857881" cy="317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00"/>
              <a:t>Research Types</a:t>
            </a:r>
          </a:p>
        </p:txBody>
      </p:sp>
      <p:sp>
        <p:nvSpPr>
          <p:cNvPr id="1323" name="Text 9"/>
          <p:cNvSpPr txBox="1"/>
          <p:nvPr/>
        </p:nvSpPr>
        <p:spPr>
          <a:xfrm>
            <a:off x="5814417" y="4577755"/>
            <a:ext cx="5733357" cy="6736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Scientific, social science, historical, and interdisciplinary approaches</a:t>
            </a:r>
          </a:p>
        </p:txBody>
      </p:sp>
      <p:sp>
        <p:nvSpPr>
          <p:cNvPr id="1324" name="Shape 10"/>
          <p:cNvSpPr/>
          <p:nvPr/>
        </p:nvSpPr>
        <p:spPr>
          <a:xfrm>
            <a:off x="5216227" y="5418402"/>
            <a:ext cx="414140" cy="414140"/>
          </a:xfrm>
          <a:prstGeom prst="roundRect">
            <a:avLst>
              <a:gd name="adj" fmla="val 1866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pic>
        <p:nvPicPr>
          <p:cNvPr id="1325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84" y="5452930"/>
            <a:ext cx="276028" cy="345083"/>
          </a:xfrm>
          <a:prstGeom prst="rect">
            <a:avLst/>
          </a:prstGeom>
          <a:ln w="12700">
            <a:miter lim="400000"/>
          </a:ln>
        </p:spPr>
      </p:pic>
      <p:sp>
        <p:nvSpPr>
          <p:cNvPr id="1326" name="Text 11"/>
          <p:cNvSpPr txBox="1"/>
          <p:nvPr/>
        </p:nvSpPr>
        <p:spPr>
          <a:xfrm>
            <a:off x="5814417" y="5418104"/>
            <a:ext cx="2074286" cy="317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2000"/>
              <a:t>Research Process</a:t>
            </a:r>
          </a:p>
        </p:txBody>
      </p:sp>
      <p:sp>
        <p:nvSpPr>
          <p:cNvPr id="1327" name="Text 12"/>
          <p:cNvSpPr txBox="1"/>
          <p:nvPr/>
        </p:nvSpPr>
        <p:spPr>
          <a:xfrm>
            <a:off x="5814418" y="5816070"/>
            <a:ext cx="5714128" cy="327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4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2000"/>
              <a:t>Question, gather, analyze, conclude, and share findings</a:t>
            </a: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9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228" y="1020132"/>
            <a:ext cx="3690300" cy="5535449"/>
          </a:xfrm>
          <a:prstGeom prst="rect">
            <a:avLst/>
          </a:prstGeom>
          <a:ln w="12700">
            <a:miter lim="400000"/>
          </a:ln>
        </p:spPr>
      </p:pic>
      <p:sp>
        <p:nvSpPr>
          <p:cNvPr id="1330" name="Text 0"/>
          <p:cNvSpPr txBox="1"/>
          <p:nvPr/>
        </p:nvSpPr>
        <p:spPr>
          <a:xfrm>
            <a:off x="661492" y="593923"/>
            <a:ext cx="6297018" cy="13405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Activity: Find the Research in Your Life</a:t>
            </a:r>
          </a:p>
        </p:txBody>
      </p:sp>
      <p:sp>
        <p:nvSpPr>
          <p:cNvPr id="1331" name="Shape 1"/>
          <p:cNvSpPr/>
          <p:nvPr/>
        </p:nvSpPr>
        <p:spPr>
          <a:xfrm>
            <a:off x="661492" y="2058690"/>
            <a:ext cx="141685" cy="711102"/>
          </a:xfrm>
          <a:prstGeom prst="roundRect">
            <a:avLst>
              <a:gd name="adj" fmla="val 50000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sp>
        <p:nvSpPr>
          <p:cNvPr id="1332" name="Text 2"/>
          <p:cNvSpPr txBox="1"/>
          <p:nvPr/>
        </p:nvSpPr>
        <p:spPr>
          <a:xfrm>
            <a:off x="1086644" y="2058690"/>
            <a:ext cx="3113032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Identify A Recent Decisions</a:t>
            </a:r>
          </a:p>
        </p:txBody>
      </p:sp>
      <p:sp>
        <p:nvSpPr>
          <p:cNvPr id="1333" name="Text 3"/>
          <p:cNvSpPr txBox="1"/>
          <p:nvPr/>
        </p:nvSpPr>
        <p:spPr>
          <a:xfrm>
            <a:off x="1086644" y="2467372"/>
            <a:ext cx="6292685" cy="334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List questions or choices you've faced lately, small or significant</a:t>
            </a:r>
          </a:p>
        </p:txBody>
      </p:sp>
      <p:sp>
        <p:nvSpPr>
          <p:cNvPr id="1334" name="Shape 4"/>
          <p:cNvSpPr/>
          <p:nvPr/>
        </p:nvSpPr>
        <p:spPr>
          <a:xfrm>
            <a:off x="944959" y="2958802"/>
            <a:ext cx="141685" cy="711102"/>
          </a:xfrm>
          <a:prstGeom prst="roundRect">
            <a:avLst>
              <a:gd name="adj" fmla="val 50000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sp>
        <p:nvSpPr>
          <p:cNvPr id="1335" name="Shape 7"/>
          <p:cNvSpPr/>
          <p:nvPr/>
        </p:nvSpPr>
        <p:spPr>
          <a:xfrm>
            <a:off x="1228527" y="3858914"/>
            <a:ext cx="141685" cy="1013520"/>
          </a:xfrm>
          <a:prstGeom prst="roundRect">
            <a:avLst>
              <a:gd name="adj" fmla="val 50000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sp>
        <p:nvSpPr>
          <p:cNvPr id="1336" name="Shape 10"/>
          <p:cNvSpPr/>
          <p:nvPr/>
        </p:nvSpPr>
        <p:spPr>
          <a:xfrm>
            <a:off x="1512094" y="5061446"/>
            <a:ext cx="141685" cy="1013520"/>
          </a:xfrm>
          <a:prstGeom prst="roundRect">
            <a:avLst>
              <a:gd name="adj" fmla="val 50000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8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228" y="1020132"/>
            <a:ext cx="3690300" cy="5535449"/>
          </a:xfrm>
          <a:prstGeom prst="rect">
            <a:avLst/>
          </a:prstGeom>
          <a:ln w="12700">
            <a:miter lim="400000"/>
          </a:ln>
        </p:spPr>
      </p:pic>
      <p:sp>
        <p:nvSpPr>
          <p:cNvPr id="1339" name="Text 0"/>
          <p:cNvSpPr txBox="1"/>
          <p:nvPr/>
        </p:nvSpPr>
        <p:spPr>
          <a:xfrm>
            <a:off x="661492" y="593923"/>
            <a:ext cx="6297018" cy="13405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Activity: Find the Research in Your Life</a:t>
            </a:r>
          </a:p>
        </p:txBody>
      </p:sp>
      <p:sp>
        <p:nvSpPr>
          <p:cNvPr id="1340" name="Shape 1"/>
          <p:cNvSpPr/>
          <p:nvPr/>
        </p:nvSpPr>
        <p:spPr>
          <a:xfrm>
            <a:off x="661492" y="2058690"/>
            <a:ext cx="141685" cy="711102"/>
          </a:xfrm>
          <a:prstGeom prst="roundRect">
            <a:avLst>
              <a:gd name="adj" fmla="val 50000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sp>
        <p:nvSpPr>
          <p:cNvPr id="1341" name="Text 2"/>
          <p:cNvSpPr txBox="1"/>
          <p:nvPr/>
        </p:nvSpPr>
        <p:spPr>
          <a:xfrm>
            <a:off x="1086644" y="2058690"/>
            <a:ext cx="3113032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Identify A Recent Decisions</a:t>
            </a:r>
          </a:p>
        </p:txBody>
      </p:sp>
      <p:sp>
        <p:nvSpPr>
          <p:cNvPr id="1342" name="Text 3"/>
          <p:cNvSpPr txBox="1"/>
          <p:nvPr/>
        </p:nvSpPr>
        <p:spPr>
          <a:xfrm>
            <a:off x="1086644" y="2467372"/>
            <a:ext cx="6292685" cy="334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List questions or choices you've faced lately, small or significant</a:t>
            </a:r>
          </a:p>
        </p:txBody>
      </p:sp>
      <p:sp>
        <p:nvSpPr>
          <p:cNvPr id="1343" name="Shape 4"/>
          <p:cNvSpPr/>
          <p:nvPr/>
        </p:nvSpPr>
        <p:spPr>
          <a:xfrm>
            <a:off x="944959" y="2958802"/>
            <a:ext cx="141685" cy="711102"/>
          </a:xfrm>
          <a:prstGeom prst="roundRect">
            <a:avLst>
              <a:gd name="adj" fmla="val 50000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sp>
        <p:nvSpPr>
          <p:cNvPr id="1344" name="Text 5"/>
          <p:cNvSpPr txBox="1"/>
          <p:nvPr/>
        </p:nvSpPr>
        <p:spPr>
          <a:xfrm>
            <a:off x="1370111" y="2958803"/>
            <a:ext cx="2891817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Map Your Research Steps</a:t>
            </a:r>
          </a:p>
        </p:txBody>
      </p:sp>
      <p:sp>
        <p:nvSpPr>
          <p:cNvPr id="1345" name="Text 6"/>
          <p:cNvSpPr txBox="1"/>
          <p:nvPr/>
        </p:nvSpPr>
        <p:spPr>
          <a:xfrm>
            <a:off x="1370111" y="3367483"/>
            <a:ext cx="5196166" cy="334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Note how you gathered information before deciding</a:t>
            </a:r>
          </a:p>
        </p:txBody>
      </p:sp>
      <p:sp>
        <p:nvSpPr>
          <p:cNvPr id="1346" name="Shape 7"/>
          <p:cNvSpPr/>
          <p:nvPr/>
        </p:nvSpPr>
        <p:spPr>
          <a:xfrm>
            <a:off x="1228527" y="3858914"/>
            <a:ext cx="141685" cy="1013520"/>
          </a:xfrm>
          <a:prstGeom prst="roundRect">
            <a:avLst>
              <a:gd name="adj" fmla="val 50000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sp>
        <p:nvSpPr>
          <p:cNvPr id="1347" name="Text 8"/>
          <p:cNvSpPr txBox="1"/>
          <p:nvPr/>
        </p:nvSpPr>
        <p:spPr>
          <a:xfrm>
            <a:off x="1653678" y="3858914"/>
            <a:ext cx="2180084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Evaluate Outcomes</a:t>
            </a:r>
          </a:p>
        </p:txBody>
      </p:sp>
      <p:sp>
        <p:nvSpPr>
          <p:cNvPr id="1348" name="Text 9"/>
          <p:cNvSpPr txBox="1"/>
          <p:nvPr/>
        </p:nvSpPr>
        <p:spPr>
          <a:xfrm>
            <a:off x="1653679" y="4267597"/>
            <a:ext cx="5304831" cy="693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Record your decisions and whether research improved results</a:t>
            </a:r>
          </a:p>
        </p:txBody>
      </p:sp>
      <p:sp>
        <p:nvSpPr>
          <p:cNvPr id="1349" name="Shape 10"/>
          <p:cNvSpPr/>
          <p:nvPr/>
        </p:nvSpPr>
        <p:spPr>
          <a:xfrm>
            <a:off x="1512094" y="5061446"/>
            <a:ext cx="141685" cy="1013520"/>
          </a:xfrm>
          <a:prstGeom prst="roundRect">
            <a:avLst>
              <a:gd name="adj" fmla="val 50000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sp>
        <p:nvSpPr>
          <p:cNvPr id="1350" name="Text 11"/>
          <p:cNvSpPr txBox="1"/>
          <p:nvPr/>
        </p:nvSpPr>
        <p:spPr>
          <a:xfrm>
            <a:off x="1937245" y="5061446"/>
            <a:ext cx="1987724" cy="315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3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917"/>
              <a:t>Share and Reflect</a:t>
            </a:r>
          </a:p>
        </p:txBody>
      </p:sp>
      <p:sp>
        <p:nvSpPr>
          <p:cNvPr id="1351" name="Text 12"/>
          <p:cNvSpPr txBox="1"/>
          <p:nvPr/>
        </p:nvSpPr>
        <p:spPr>
          <a:xfrm>
            <a:off x="1937246" y="5470128"/>
            <a:ext cx="5021264" cy="693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23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917"/>
              <a:t>Compare approaches with classmates or consider your research patterns</a:t>
            </a:r>
          </a:p>
        </p:txBody>
      </p:sp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GLOBAL CHALLENGES…"/>
          <p:cNvSpPr txBox="1"/>
          <p:nvPr/>
        </p:nvSpPr>
        <p:spPr>
          <a:xfrm>
            <a:off x="81618" y="2114294"/>
            <a:ext cx="12028765" cy="1619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 b="1"/>
              <a:t>GLOBAL CHALLENGES</a:t>
            </a:r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 b="1"/>
              <a:t>&amp; TEAM FORMATION</a:t>
            </a:r>
          </a:p>
        </p:txBody>
      </p:sp>
    </p:spTree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Text 0"/>
          <p:cNvSpPr txBox="1"/>
          <p:nvPr/>
        </p:nvSpPr>
        <p:spPr>
          <a:xfrm>
            <a:off x="6667282" y="1425311"/>
            <a:ext cx="3191579" cy="14294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algn="r">
              <a:lnSpc>
                <a:spcPts val="3833"/>
              </a:lnSpc>
              <a:defRPr sz="37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083"/>
              <a:t>Journey Ahead: </a:t>
            </a:r>
          </a:p>
          <a:p>
            <a:pPr algn="r">
              <a:lnSpc>
                <a:spcPts val="3833"/>
              </a:lnSpc>
              <a:defRPr sz="37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083"/>
              <a:t>Your Very Own </a:t>
            </a:r>
          </a:p>
          <a:p>
            <a:pPr algn="r">
              <a:lnSpc>
                <a:spcPts val="3833"/>
              </a:lnSpc>
              <a:defRPr sz="37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083"/>
              <a:t>Research Process</a:t>
            </a:r>
          </a:p>
        </p:txBody>
      </p:sp>
      <p:pic>
        <p:nvPicPr>
          <p:cNvPr id="1356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39" y="1677194"/>
            <a:ext cx="791170" cy="949426"/>
          </a:xfrm>
          <a:prstGeom prst="rect">
            <a:avLst/>
          </a:prstGeom>
          <a:ln w="12700">
            <a:miter lim="400000"/>
          </a:ln>
        </p:spPr>
      </p:pic>
      <p:sp>
        <p:nvSpPr>
          <p:cNvPr id="1357" name="Text 2"/>
          <p:cNvSpPr txBox="1"/>
          <p:nvPr/>
        </p:nvSpPr>
        <p:spPr>
          <a:xfrm>
            <a:off x="1576945" y="2032633"/>
            <a:ext cx="1553310" cy="27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Ask a Question</a:t>
            </a:r>
          </a:p>
        </p:txBody>
      </p:sp>
      <p:pic>
        <p:nvPicPr>
          <p:cNvPr id="1358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39" y="2626618"/>
            <a:ext cx="791170" cy="949425"/>
          </a:xfrm>
          <a:prstGeom prst="rect">
            <a:avLst/>
          </a:prstGeom>
          <a:ln w="12700">
            <a:miter lim="400000"/>
          </a:ln>
        </p:spPr>
      </p:pic>
      <p:sp>
        <p:nvSpPr>
          <p:cNvPr id="1359" name="Text 4"/>
          <p:cNvSpPr txBox="1"/>
          <p:nvPr/>
        </p:nvSpPr>
        <p:spPr>
          <a:xfrm>
            <a:off x="1555970" y="2883415"/>
            <a:ext cx="2034211" cy="27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Gather Information</a:t>
            </a:r>
          </a:p>
        </p:txBody>
      </p:sp>
      <p:pic>
        <p:nvPicPr>
          <p:cNvPr id="1360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839" y="3576042"/>
            <a:ext cx="791170" cy="949425"/>
          </a:xfrm>
          <a:prstGeom prst="rect">
            <a:avLst/>
          </a:prstGeom>
          <a:ln w="12700">
            <a:miter lim="400000"/>
          </a:ln>
        </p:spPr>
      </p:pic>
      <p:sp>
        <p:nvSpPr>
          <p:cNvPr id="1361" name="Text 6"/>
          <p:cNvSpPr txBox="1"/>
          <p:nvPr/>
        </p:nvSpPr>
        <p:spPr>
          <a:xfrm>
            <a:off x="1582573" y="3931482"/>
            <a:ext cx="2511906" cy="27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Analyze the Information</a:t>
            </a:r>
          </a:p>
        </p:txBody>
      </p:sp>
      <p:pic>
        <p:nvPicPr>
          <p:cNvPr id="1362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839" y="4525466"/>
            <a:ext cx="791170" cy="949426"/>
          </a:xfrm>
          <a:prstGeom prst="rect">
            <a:avLst/>
          </a:prstGeom>
          <a:ln w="12700">
            <a:miter lim="400000"/>
          </a:ln>
        </p:spPr>
      </p:pic>
      <p:sp>
        <p:nvSpPr>
          <p:cNvPr id="1363" name="Text 8"/>
          <p:cNvSpPr txBox="1"/>
          <p:nvPr/>
        </p:nvSpPr>
        <p:spPr>
          <a:xfrm>
            <a:off x="1582340" y="4782263"/>
            <a:ext cx="1909177" cy="27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Draw Conclusions</a:t>
            </a:r>
          </a:p>
        </p:txBody>
      </p:sp>
      <p:pic>
        <p:nvPicPr>
          <p:cNvPr id="1364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839" y="5474890"/>
            <a:ext cx="791170" cy="949425"/>
          </a:xfrm>
          <a:prstGeom prst="rect">
            <a:avLst/>
          </a:prstGeom>
          <a:ln w="12700">
            <a:miter lim="400000"/>
          </a:ln>
        </p:spPr>
      </p:pic>
      <p:sp>
        <p:nvSpPr>
          <p:cNvPr id="1365" name="Text 10"/>
          <p:cNvSpPr txBox="1"/>
          <p:nvPr/>
        </p:nvSpPr>
        <p:spPr>
          <a:xfrm>
            <a:off x="1582340" y="5750790"/>
            <a:ext cx="1567737" cy="27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Share Findings</a:t>
            </a:r>
          </a:p>
        </p:txBody>
      </p:sp>
      <p:sp>
        <p:nvSpPr>
          <p:cNvPr id="1366" name="Text 11"/>
          <p:cNvSpPr txBox="1"/>
          <p:nvPr/>
        </p:nvSpPr>
        <p:spPr>
          <a:xfrm>
            <a:off x="3206264" y="5752007"/>
            <a:ext cx="6818918" cy="269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17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417"/>
              <a:t>-      The final deliverables: A formal presentation by Day 10 and a research proposal by Day 9</a:t>
            </a:r>
          </a:p>
        </p:txBody>
      </p:sp>
      <p:sp>
        <p:nvSpPr>
          <p:cNvPr id="1367" name="Text 2"/>
          <p:cNvSpPr txBox="1"/>
          <p:nvPr/>
        </p:nvSpPr>
        <p:spPr>
          <a:xfrm>
            <a:off x="1582340" y="1083209"/>
            <a:ext cx="2455800" cy="27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300"/>
              </a:lnSpc>
              <a:defRPr sz="2100" b="1">
                <a:solidFill>
                  <a:srgbClr val="EA760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750"/>
              <a:t>Pick a Global Challenge</a:t>
            </a:r>
          </a:p>
        </p:txBody>
      </p:sp>
      <p:pic>
        <p:nvPicPr>
          <p:cNvPr id="1368" name="Image 1" descr="Imag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222" y="692250"/>
            <a:ext cx="850405" cy="102046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SIX GLOBAL CHALLENGES"/>
          <p:cNvSpPr txBox="1"/>
          <p:nvPr/>
        </p:nvSpPr>
        <p:spPr>
          <a:xfrm>
            <a:off x="81618" y="829799"/>
            <a:ext cx="12028765" cy="1111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/>
              <a:t>SIX </a:t>
            </a:r>
            <a:r>
              <a:rPr sz="3667" b="1"/>
              <a:t>GLOBAL CHALLENGES</a:t>
            </a:r>
          </a:p>
        </p:txBody>
      </p:sp>
      <p:sp>
        <p:nvSpPr>
          <p:cNvPr id="1371" name="Climate Change…"/>
          <p:cNvSpPr txBox="1"/>
          <p:nvPr/>
        </p:nvSpPr>
        <p:spPr>
          <a:xfrm>
            <a:off x="3608724" y="2227434"/>
            <a:ext cx="3719478" cy="3208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8099" rIns="38099">
            <a:spAutoFit/>
          </a:bodyPr>
          <a:lstStyle/>
          <a:p>
            <a:pPr marL="380985" indent="-264573" defTabSz="380985">
              <a:spcBef>
                <a:spcPts val="1333"/>
              </a:spcBef>
              <a:buSzPct val="100000"/>
              <a:buFont typeface="Helvetica"/>
              <a:buAutoNum type="arabicPeriod"/>
              <a:defRPr sz="2966">
                <a:latin typeface="+mj-lt"/>
                <a:ea typeface="+mj-ea"/>
                <a:cs typeface="+mj-cs"/>
                <a:sym typeface="Helvetica"/>
              </a:defRPr>
            </a:pPr>
            <a:r>
              <a:rPr sz="2472"/>
              <a:t> Climate Change</a:t>
            </a:r>
          </a:p>
          <a:p>
            <a:pPr marL="380985" indent="-264573" defTabSz="380985">
              <a:spcBef>
                <a:spcPts val="1333"/>
              </a:spcBef>
              <a:buSzPct val="100000"/>
              <a:buFont typeface="Helvetica"/>
              <a:buAutoNum type="arabicPeriod"/>
              <a:defRPr sz="2966">
                <a:latin typeface="+mj-lt"/>
                <a:ea typeface="+mj-ea"/>
                <a:cs typeface="+mj-cs"/>
                <a:sym typeface="Helvetica"/>
              </a:defRPr>
            </a:pPr>
            <a:r>
              <a:rPr sz="2472"/>
              <a:t> Renewable Energy</a:t>
            </a:r>
          </a:p>
          <a:p>
            <a:pPr marL="380985" indent="-264573" defTabSz="380985">
              <a:spcBef>
                <a:spcPts val="1333"/>
              </a:spcBef>
              <a:buSzPct val="100000"/>
              <a:buFont typeface="Helvetica"/>
              <a:buAutoNum type="arabicPeriod"/>
              <a:defRPr sz="2966">
                <a:latin typeface="+mj-lt"/>
                <a:ea typeface="+mj-ea"/>
                <a:cs typeface="+mj-cs"/>
                <a:sym typeface="Helvetica"/>
              </a:defRPr>
            </a:pPr>
            <a:r>
              <a:rPr sz="2472"/>
              <a:t> Public Health Pandemics</a:t>
            </a:r>
          </a:p>
          <a:p>
            <a:pPr marL="380985" indent="-264573" defTabSz="380985">
              <a:spcBef>
                <a:spcPts val="1333"/>
              </a:spcBef>
              <a:buSzPct val="100000"/>
              <a:buFont typeface="Helvetica"/>
              <a:buAutoNum type="arabicPeriod"/>
              <a:defRPr sz="2966">
                <a:latin typeface="+mj-lt"/>
                <a:ea typeface="+mj-ea"/>
                <a:cs typeface="+mj-cs"/>
                <a:sym typeface="Helvetica"/>
              </a:defRPr>
            </a:pPr>
            <a:r>
              <a:rPr sz="2472"/>
              <a:t> Poverty and Inequality</a:t>
            </a:r>
          </a:p>
          <a:p>
            <a:pPr marL="380985" indent="-264573" defTabSz="380985">
              <a:spcBef>
                <a:spcPts val="1333"/>
              </a:spcBef>
              <a:buSzPct val="100000"/>
              <a:buFont typeface="Helvetica"/>
              <a:buAutoNum type="arabicPeriod"/>
              <a:defRPr sz="2966">
                <a:latin typeface="+mj-lt"/>
                <a:ea typeface="+mj-ea"/>
                <a:cs typeface="+mj-cs"/>
                <a:sym typeface="Helvetica"/>
              </a:defRPr>
            </a:pPr>
            <a:r>
              <a:rPr sz="2472"/>
              <a:t> Educational Access</a:t>
            </a:r>
          </a:p>
          <a:p>
            <a:pPr marL="380985" indent="-264573" defTabSz="380985">
              <a:spcBef>
                <a:spcPts val="1333"/>
              </a:spcBef>
              <a:buSzPct val="100000"/>
              <a:buFont typeface="Helvetica"/>
              <a:buAutoNum type="arabicPeriod"/>
              <a:defRPr sz="2966">
                <a:latin typeface="+mj-lt"/>
                <a:ea typeface="+mj-ea"/>
                <a:cs typeface="+mj-cs"/>
                <a:sym typeface="Helvetica"/>
              </a:defRPr>
            </a:pPr>
            <a:r>
              <a:rPr sz="2472"/>
              <a:t> Digital Privacy</a:t>
            </a:r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What it’s about:…"/>
          <p:cNvSpPr txBox="1"/>
          <p:nvPr/>
        </p:nvSpPr>
        <p:spPr>
          <a:xfrm>
            <a:off x="812929" y="2106633"/>
            <a:ext cx="10566143" cy="43195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 b="1"/>
              <a:t>What it’s about:</a:t>
            </a:r>
            <a:r>
              <a:rPr sz="2111"/>
              <a:t> </a:t>
            </a:r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The Earth’s temperature is rising due to human activities, mainly burning fossil fuels, which leads to extreme weather, rising sea levels, and ecosystem disruptions. </a:t>
            </a:r>
          </a:p>
          <a:p>
            <a:pPr defTabSz="380985">
              <a:spcBef>
                <a:spcPts val="1333"/>
              </a:spcBef>
              <a:defRPr sz="1133">
                <a:latin typeface="+mj-lt"/>
                <a:ea typeface="+mj-ea"/>
                <a:cs typeface="+mj-cs"/>
                <a:sym typeface="Helvetica"/>
              </a:defRPr>
            </a:pPr>
            <a:endParaRPr sz="944"/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 b="1"/>
              <a:t>Key Facts:</a:t>
            </a:r>
            <a:endParaRPr sz="2111">
              <a:latin typeface="Times Roman"/>
              <a:ea typeface="Times Roman"/>
              <a:cs typeface="Times Roman"/>
              <a:sym typeface="Times Roman"/>
            </a:endParaRPr>
          </a:p>
          <a:p>
            <a:pPr marL="380985" indent="-264573" defTabSz="380985">
              <a:buSzPct val="100000"/>
              <a:buFont typeface="Helvetica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The global average temperature has already increased by </a:t>
            </a:r>
            <a:r>
              <a:rPr sz="2111" b="1"/>
              <a:t>1.1°C (2°F)</a:t>
            </a:r>
            <a:r>
              <a:rPr sz="2111"/>
              <a:t> since the late 1800s (NASA, 2024).</a:t>
            </a:r>
            <a:endParaRPr sz="2111">
              <a:latin typeface="Arial"/>
              <a:ea typeface="Arial"/>
              <a:cs typeface="Arial"/>
              <a:sym typeface="Arial"/>
            </a:endParaRPr>
          </a:p>
          <a:p>
            <a:pPr marL="380985" indent="-264573" defTabSz="380985">
              <a:spcBef>
                <a:spcPts val="1333"/>
              </a:spcBef>
              <a:buSzPct val="100000"/>
              <a:buFont typeface="Helvetica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 b="1"/>
              <a:t>2023 was the hottest year on record</a:t>
            </a:r>
            <a:r>
              <a:rPr sz="2111"/>
              <a:t>, with ocean temperatures hitting record highs (Copernicus Climate Change Service, 2024).</a:t>
            </a:r>
          </a:p>
          <a:p>
            <a:pPr marL="380985" indent="-264573" defTabSz="380985">
              <a:spcBef>
                <a:spcPts val="1333"/>
              </a:spcBef>
              <a:buSzPct val="100000"/>
              <a:buFont typeface="Helvetica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By 2050, </a:t>
            </a:r>
            <a:r>
              <a:rPr sz="2111" b="1"/>
              <a:t>over 1.2 billion people could be displaced</a:t>
            </a:r>
            <a:r>
              <a:rPr sz="2111"/>
              <a:t> by climate-related hazards like flooding, extreme heat, and droughts (Institute for Economics and Peace, 2020).</a:t>
            </a:r>
          </a:p>
        </p:txBody>
      </p:sp>
      <p:sp>
        <p:nvSpPr>
          <p:cNvPr id="1374" name="Climate Change"/>
          <p:cNvSpPr txBox="1"/>
          <p:nvPr/>
        </p:nvSpPr>
        <p:spPr>
          <a:xfrm>
            <a:off x="4053118" y="913607"/>
            <a:ext cx="3529810" cy="733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8099" rIns="38099">
            <a:spAutoFit/>
          </a:bodyPr>
          <a:lstStyle>
            <a:lvl1pPr defTabSz="457200">
              <a:spcBef>
                <a:spcPts val="1600"/>
              </a:spcBef>
              <a:defRPr sz="5000" b="1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0"/>
            </a:pPr>
            <a:r>
              <a:rPr sz="4167"/>
              <a:t>Climate Change</a:t>
            </a:r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What it’s about:…"/>
          <p:cNvSpPr txBox="1"/>
          <p:nvPr/>
        </p:nvSpPr>
        <p:spPr>
          <a:xfrm>
            <a:off x="812929" y="2106633"/>
            <a:ext cx="10566143" cy="4016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 b="1"/>
              <a:t>What it’s about:</a:t>
            </a:r>
            <a:r>
              <a:rPr sz="2111"/>
              <a:t> </a:t>
            </a:r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To fight climate change and reduce pollution, we need to shift from fossil fuels to cleaner energy sources like solar, wind, and hydro.</a:t>
            </a:r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endParaRPr sz="2111"/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 b="1"/>
              <a:t>Key Facts:</a:t>
            </a:r>
            <a:endParaRPr sz="2111">
              <a:latin typeface="Times Roman"/>
              <a:ea typeface="Times Roman"/>
              <a:cs typeface="Times Roman"/>
              <a:sym typeface="Times Roman"/>
            </a:endParaRPr>
          </a:p>
          <a:p>
            <a:pPr marL="211658" indent="-211658" defTabSz="380985">
              <a:spcBef>
                <a:spcPts val="1333"/>
              </a:spcBef>
              <a:buSzPct val="100000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In 2023, </a:t>
            </a:r>
            <a:r>
              <a:rPr sz="2111" b="1"/>
              <a:t>30% of global electricity</a:t>
            </a:r>
            <a:r>
              <a:rPr sz="2111"/>
              <a:t> came from renewable sources (IEA).</a:t>
            </a:r>
          </a:p>
          <a:p>
            <a:pPr marL="211658" indent="-211658" defTabSz="380985">
              <a:spcBef>
                <a:spcPts val="1333"/>
              </a:spcBef>
              <a:buSzPct val="100000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Solar power is now </a:t>
            </a:r>
            <a:r>
              <a:rPr sz="2111" b="1"/>
              <a:t>cheaper than coal</a:t>
            </a:r>
            <a:r>
              <a:rPr sz="2111"/>
              <a:t> in many countries (BloombergNEF, 2023).</a:t>
            </a:r>
          </a:p>
          <a:p>
            <a:pPr marL="211658" indent="-211658" defTabSz="380985">
              <a:spcBef>
                <a:spcPts val="1333"/>
              </a:spcBef>
              <a:buSzPct val="100000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In 2023, China added </a:t>
            </a:r>
            <a:r>
              <a:rPr sz="2111" b="1"/>
              <a:t>more solar capacity than the rest of the world combined</a:t>
            </a:r>
            <a:r>
              <a:rPr sz="2111"/>
              <a:t>, installing over 230 gigawatts - more than enough to power all of France (International Energy Agency, 2024).</a:t>
            </a:r>
          </a:p>
        </p:txBody>
      </p:sp>
      <p:sp>
        <p:nvSpPr>
          <p:cNvPr id="1377" name="Renewable Energy"/>
          <p:cNvSpPr txBox="1"/>
          <p:nvPr/>
        </p:nvSpPr>
        <p:spPr>
          <a:xfrm>
            <a:off x="3709725" y="1032214"/>
            <a:ext cx="4058738" cy="733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8099" rIns="38099">
            <a:spAutoFit/>
          </a:bodyPr>
          <a:lstStyle>
            <a:lvl1pPr defTabSz="457200">
              <a:spcBef>
                <a:spcPts val="1600"/>
              </a:spcBef>
              <a:defRPr sz="5000" b="1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0"/>
            </a:pPr>
            <a:r>
              <a:rPr sz="4167"/>
              <a:t>Renewable Energy</a:t>
            </a: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What it’s about:…"/>
          <p:cNvSpPr txBox="1"/>
          <p:nvPr/>
        </p:nvSpPr>
        <p:spPr>
          <a:xfrm>
            <a:off x="812929" y="2106633"/>
            <a:ext cx="10566143" cy="4187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 b="1"/>
              <a:t>What it’s about:</a:t>
            </a:r>
            <a:r>
              <a:rPr sz="2111"/>
              <a:t> </a:t>
            </a:r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Diseases that spread quickly across populations, like COVID-19, can disrupt societies, economies, and healthcare systems on a global scale.</a:t>
            </a:r>
          </a:p>
          <a:p>
            <a:pPr defTabSz="380985">
              <a:spcBef>
                <a:spcPts val="1333"/>
              </a:spcBef>
              <a:defRPr sz="1333">
                <a:latin typeface="+mj-lt"/>
                <a:ea typeface="+mj-ea"/>
                <a:cs typeface="+mj-cs"/>
                <a:sym typeface="Helvetica"/>
              </a:defRPr>
            </a:pPr>
            <a:endParaRPr sz="1111"/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 b="1"/>
              <a:t>Key Facts:</a:t>
            </a:r>
            <a:endParaRPr sz="2111">
              <a:latin typeface="Times Roman"/>
              <a:ea typeface="Times Roman"/>
              <a:cs typeface="Times Roman"/>
              <a:sym typeface="Times Roman"/>
            </a:endParaRPr>
          </a:p>
          <a:p>
            <a:pPr marL="211658" indent="-211658" defTabSz="380985">
              <a:spcBef>
                <a:spcPts val="1333"/>
              </a:spcBef>
              <a:buSzPct val="100000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COVID-19 led to over </a:t>
            </a:r>
            <a:r>
              <a:rPr sz="2111" b="1"/>
              <a:t>770 million confirmed cases</a:t>
            </a:r>
            <a:r>
              <a:rPr sz="2111"/>
              <a:t> globally by 2024 (WHO).</a:t>
            </a:r>
          </a:p>
          <a:p>
            <a:pPr marL="211658" indent="-211658" defTabSz="380985">
              <a:spcBef>
                <a:spcPts val="1333"/>
              </a:spcBef>
              <a:buSzPct val="100000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Global vaccine distribution exposed </a:t>
            </a:r>
            <a:r>
              <a:rPr sz="2111" b="1"/>
              <a:t>serious inequalities</a:t>
            </a:r>
            <a:r>
              <a:rPr sz="2111"/>
              <a:t>: only 26% of people in low-income countries received at least one vaccine dose by late 2022 (Our World in Data).</a:t>
            </a:r>
          </a:p>
          <a:p>
            <a:pPr marL="211658" indent="-211658" defTabSz="380985">
              <a:spcBef>
                <a:spcPts val="1333"/>
              </a:spcBef>
              <a:buSzPct val="100000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In early 2020, China built two emergency hospitals in Wuhan </a:t>
            </a:r>
            <a:r>
              <a:rPr sz="2111" b="1"/>
              <a:t>in under 10 days</a:t>
            </a:r>
            <a:r>
              <a:rPr sz="2111"/>
              <a:t>, showcasing high-speed infrastructure deployment during health crises (BBC News, 2020).</a:t>
            </a:r>
          </a:p>
        </p:txBody>
      </p:sp>
      <p:sp>
        <p:nvSpPr>
          <p:cNvPr id="1380" name="Public Health Pandemics"/>
          <p:cNvSpPr txBox="1"/>
          <p:nvPr/>
        </p:nvSpPr>
        <p:spPr>
          <a:xfrm>
            <a:off x="2979475" y="1012384"/>
            <a:ext cx="5460917" cy="733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8099" rIns="38099">
            <a:spAutoFit/>
          </a:bodyPr>
          <a:lstStyle>
            <a:lvl1pPr defTabSz="457200">
              <a:spcBef>
                <a:spcPts val="1600"/>
              </a:spcBef>
              <a:defRPr sz="5000" b="1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0"/>
            </a:pPr>
            <a:r>
              <a:rPr sz="4167"/>
              <a:t>Public Health Pandemics</a:t>
            </a: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What it’s about:…"/>
          <p:cNvSpPr txBox="1"/>
          <p:nvPr/>
        </p:nvSpPr>
        <p:spPr>
          <a:xfrm>
            <a:off x="812929" y="2106633"/>
            <a:ext cx="10566143" cy="40716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 b="1"/>
              <a:t>What it’s about:</a:t>
            </a:r>
            <a:r>
              <a:rPr sz="2111"/>
              <a:t> </a:t>
            </a:r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Not everyone has equal access to basic needs like food, shelter, education, and opportunity; this gap limits both individual lives and entire communities.</a:t>
            </a:r>
          </a:p>
          <a:p>
            <a:pPr defTabSz="380985">
              <a:spcBef>
                <a:spcPts val="1333"/>
              </a:spcBef>
              <a:defRPr sz="433">
                <a:latin typeface="+mj-lt"/>
                <a:ea typeface="+mj-ea"/>
                <a:cs typeface="+mj-cs"/>
                <a:sym typeface="Helvetica"/>
              </a:defRPr>
            </a:pPr>
            <a:endParaRPr sz="361"/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 b="1"/>
              <a:t>Key Facts:</a:t>
            </a:r>
            <a:endParaRPr sz="2111">
              <a:latin typeface="Times Roman"/>
              <a:ea typeface="Times Roman"/>
              <a:cs typeface="Times Roman"/>
              <a:sym typeface="Times Roman"/>
            </a:endParaRPr>
          </a:p>
          <a:p>
            <a:pPr marL="211658" indent="-211658" defTabSz="380985">
              <a:spcBef>
                <a:spcPts val="1333"/>
              </a:spcBef>
              <a:buSzPct val="100000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Over</a:t>
            </a:r>
            <a:r>
              <a:rPr sz="2111" b="1"/>
              <a:t> 700 million people</a:t>
            </a:r>
            <a:r>
              <a:rPr sz="2111"/>
              <a:t>—about 1 in 11 globally—live on</a:t>
            </a:r>
            <a:r>
              <a:rPr sz="2111" b="1"/>
              <a:t> less than $2.15 a day</a:t>
            </a:r>
            <a:r>
              <a:rPr sz="2111"/>
              <a:t> (World Bank, 2024).</a:t>
            </a:r>
          </a:p>
          <a:p>
            <a:pPr marL="211658" indent="-211658" defTabSz="380985">
              <a:spcBef>
                <a:spcPts val="1333"/>
              </a:spcBef>
              <a:buSzPct val="100000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The </a:t>
            </a:r>
            <a:r>
              <a:rPr sz="2111" b="1"/>
              <a:t>richest 1% </a:t>
            </a:r>
            <a:r>
              <a:rPr sz="2111"/>
              <a:t>of the world’s population owns almost </a:t>
            </a:r>
            <a:r>
              <a:rPr sz="2111" b="1"/>
              <a:t>half of all global wealth</a:t>
            </a:r>
            <a:r>
              <a:rPr sz="2111"/>
              <a:t> (Oxfam, 2023).</a:t>
            </a:r>
          </a:p>
          <a:p>
            <a:pPr marL="211658" indent="-211658" defTabSz="380985">
              <a:spcBef>
                <a:spcPts val="1333"/>
              </a:spcBef>
              <a:buSzPct val="100000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China’s poverty rate fell from </a:t>
            </a:r>
            <a:r>
              <a:rPr sz="2111" b="1"/>
              <a:t>88% in 1981 to less than 1% in 2020</a:t>
            </a:r>
            <a:r>
              <a:rPr sz="2111"/>
              <a:t>, largely through rural development and targeted subsidies (World Bank, 2021).</a:t>
            </a:r>
          </a:p>
        </p:txBody>
      </p:sp>
      <p:sp>
        <p:nvSpPr>
          <p:cNvPr id="1383" name="Poverty and Inequality"/>
          <p:cNvSpPr txBox="1"/>
          <p:nvPr/>
        </p:nvSpPr>
        <p:spPr>
          <a:xfrm>
            <a:off x="3402808" y="1032214"/>
            <a:ext cx="4789771" cy="733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8099" rIns="38099">
            <a:spAutoFit/>
          </a:bodyPr>
          <a:lstStyle>
            <a:lvl1pPr defTabSz="457200">
              <a:spcBef>
                <a:spcPts val="1600"/>
              </a:spcBef>
              <a:defRPr sz="5000" b="1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0"/>
            </a:pPr>
            <a:r>
              <a:rPr sz="4167"/>
              <a:t>Poverty and Inequality</a:t>
            </a:r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What it’s about:…"/>
          <p:cNvSpPr txBox="1"/>
          <p:nvPr/>
        </p:nvSpPr>
        <p:spPr>
          <a:xfrm>
            <a:off x="812929" y="2106633"/>
            <a:ext cx="10566143" cy="3451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 b="1"/>
              <a:t>What it’s about:</a:t>
            </a:r>
            <a:r>
              <a:rPr sz="2111"/>
              <a:t> </a:t>
            </a:r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Millions of children and teens still don’t have access to quality education.</a:t>
            </a:r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endParaRPr sz="2111"/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 b="1"/>
              <a:t>Key Facts:</a:t>
            </a:r>
            <a:endParaRPr sz="2111">
              <a:latin typeface="Times Roman"/>
              <a:ea typeface="Times Roman"/>
              <a:cs typeface="Times Roman"/>
              <a:sym typeface="Times Roman"/>
            </a:endParaRPr>
          </a:p>
          <a:p>
            <a:pPr marL="380985" indent="-264573" defTabSz="380985">
              <a:buSzPct val="100000"/>
              <a:buFont typeface="Helvetica"/>
              <a:buChar char="•"/>
              <a:defRPr sz="2433">
                <a:latin typeface="+mj-lt"/>
                <a:ea typeface="+mj-ea"/>
                <a:cs typeface="+mj-cs"/>
                <a:sym typeface="Helvetica"/>
              </a:defRPr>
            </a:pPr>
            <a:r>
              <a:rPr sz="2027" b="1"/>
              <a:t>244 million children and youth</a:t>
            </a:r>
            <a:r>
              <a:rPr sz="2027"/>
              <a:t> are out of school worldwide (UNESCO, 2023).</a:t>
            </a:r>
          </a:p>
          <a:p>
            <a:pPr marL="380985" indent="-264573" defTabSz="380985">
              <a:buSzPct val="100000"/>
              <a:buFont typeface="Helvetica"/>
              <a:buChar char="•"/>
              <a:defRPr sz="2433">
                <a:latin typeface="+mj-lt"/>
                <a:ea typeface="+mj-ea"/>
                <a:cs typeface="+mj-cs"/>
                <a:sym typeface="Helvetica"/>
              </a:defRPr>
            </a:pPr>
            <a:r>
              <a:rPr sz="2027"/>
              <a:t>Girls are </a:t>
            </a:r>
            <a:r>
              <a:rPr sz="2027" b="1"/>
              <a:t>more likely to be excluded</a:t>
            </a:r>
            <a:r>
              <a:rPr sz="2027"/>
              <a:t> from school in low-income countries, especially during crises like war or pandemics.</a:t>
            </a:r>
          </a:p>
          <a:p>
            <a:pPr marL="380985" indent="-264573" defTabSz="380985">
              <a:buSzPct val="100000"/>
              <a:buFont typeface="Helvetica"/>
              <a:buChar char="•"/>
              <a:defRPr sz="2433">
                <a:latin typeface="+mj-lt"/>
                <a:ea typeface="+mj-ea"/>
                <a:cs typeface="+mj-cs"/>
                <a:sym typeface="Helvetica"/>
              </a:defRPr>
            </a:pPr>
            <a:r>
              <a:rPr sz="2027"/>
              <a:t>In Sub-Saharan Africa, 9 out of 10 children are unable to read a simple sentence by age 10 due to poor schooling conditions (UNESCO, 2022).</a:t>
            </a:r>
          </a:p>
        </p:txBody>
      </p:sp>
      <p:sp>
        <p:nvSpPr>
          <p:cNvPr id="1386" name="Educational Access"/>
          <p:cNvSpPr txBox="1"/>
          <p:nvPr/>
        </p:nvSpPr>
        <p:spPr>
          <a:xfrm>
            <a:off x="3296975" y="1012384"/>
            <a:ext cx="4336313" cy="733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8099" rIns="38099">
            <a:spAutoFit/>
          </a:bodyPr>
          <a:lstStyle>
            <a:lvl1pPr defTabSz="457200">
              <a:spcBef>
                <a:spcPts val="1600"/>
              </a:spcBef>
              <a:defRPr sz="5000" b="1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0"/>
            </a:pPr>
            <a:r>
              <a:rPr sz="4167"/>
              <a:t>Educational Access</a:t>
            </a:r>
          </a:p>
        </p:txBody>
      </p:sp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What it’s about:…"/>
          <p:cNvSpPr txBox="1"/>
          <p:nvPr/>
        </p:nvSpPr>
        <p:spPr>
          <a:xfrm>
            <a:off x="823513" y="2117216"/>
            <a:ext cx="10566143" cy="3849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 b="1"/>
              <a:t>What it’s about:</a:t>
            </a:r>
            <a:r>
              <a:rPr sz="2111"/>
              <a:t> </a:t>
            </a:r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As more of our lives happen online, protecting our personal data from being misused by companies, hackers, or even governments is increasingly urgent.</a:t>
            </a:r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endParaRPr sz="2111"/>
          </a:p>
          <a:p>
            <a:pPr defTabSz="380985">
              <a:spcBef>
                <a:spcPts val="1333"/>
              </a:spcBef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 b="1"/>
              <a:t>Key Facts:</a:t>
            </a:r>
            <a:endParaRPr sz="2111">
              <a:latin typeface="Times Roman"/>
              <a:ea typeface="Times Roman"/>
              <a:cs typeface="Times Roman"/>
              <a:sym typeface="Times Roman"/>
            </a:endParaRPr>
          </a:p>
          <a:p>
            <a:pPr marL="211658" indent="-211658" defTabSz="380985">
              <a:spcBef>
                <a:spcPts val="1333"/>
              </a:spcBef>
              <a:buSzPct val="100000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In 2023, </a:t>
            </a:r>
            <a:r>
              <a:rPr sz="2111" b="1"/>
              <a:t>over 7 billion data records</a:t>
            </a:r>
            <a:r>
              <a:rPr sz="2111"/>
              <a:t> were exposed due to breaches (IT Governance).</a:t>
            </a:r>
          </a:p>
          <a:p>
            <a:pPr marL="211658" indent="-211658" defTabSz="380985">
              <a:spcBef>
                <a:spcPts val="1333"/>
              </a:spcBef>
              <a:buSzPct val="100000"/>
              <a:buChar char="•"/>
              <a:defRPr sz="2533">
                <a:latin typeface="+mj-lt"/>
                <a:ea typeface="+mj-ea"/>
                <a:cs typeface="+mj-cs"/>
                <a:sym typeface="Helvetica"/>
              </a:defRPr>
            </a:pPr>
            <a:r>
              <a:rPr sz="2111"/>
              <a:t>Teens are among </a:t>
            </a:r>
            <a:r>
              <a:rPr sz="2111" b="1"/>
              <a:t>the most targeted </a:t>
            </a:r>
            <a:r>
              <a:rPr sz="2111"/>
              <a:t>age groups for scams and tracking via social media and apps (Pew Research, 2023). Yet, a global survey found that over 60% of teens do not understand how their online data is collected, shared or used (Harvard Kennedy School, 2023).</a:t>
            </a:r>
          </a:p>
        </p:txBody>
      </p:sp>
      <p:sp>
        <p:nvSpPr>
          <p:cNvPr id="1389" name="Digital Privacy"/>
          <p:cNvSpPr txBox="1"/>
          <p:nvPr/>
        </p:nvSpPr>
        <p:spPr>
          <a:xfrm>
            <a:off x="3974309" y="1021630"/>
            <a:ext cx="3089818" cy="733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8099" rIns="38099">
            <a:spAutoFit/>
          </a:bodyPr>
          <a:lstStyle>
            <a:lvl1pPr defTabSz="457200">
              <a:spcBef>
                <a:spcPts val="1600"/>
              </a:spcBef>
              <a:defRPr sz="5000" b="1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0"/>
            </a:pPr>
            <a:r>
              <a:rPr sz="4167"/>
              <a:t>Digital Privacy</a:t>
            </a:r>
          </a:p>
        </p:txBody>
      </p:sp>
    </p:spTree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1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5380" y="700690"/>
            <a:ext cx="3935541" cy="5903311"/>
          </a:xfrm>
          <a:prstGeom prst="rect">
            <a:avLst/>
          </a:prstGeom>
          <a:ln w="12700">
            <a:miter lim="400000"/>
          </a:ln>
        </p:spPr>
      </p:pic>
      <p:sp>
        <p:nvSpPr>
          <p:cNvPr id="1392" name="Text 0"/>
          <p:cNvSpPr txBox="1"/>
          <p:nvPr/>
        </p:nvSpPr>
        <p:spPr>
          <a:xfrm>
            <a:off x="661492" y="1043087"/>
            <a:ext cx="5852564" cy="635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5500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3667"/>
              <a:t>Looking Ahead: Tomorrow</a:t>
            </a:r>
          </a:p>
        </p:txBody>
      </p:sp>
      <p:sp>
        <p:nvSpPr>
          <p:cNvPr id="1393" name="Shape 1"/>
          <p:cNvSpPr/>
          <p:nvPr/>
        </p:nvSpPr>
        <p:spPr>
          <a:xfrm>
            <a:off x="661492" y="1917205"/>
            <a:ext cx="3054053" cy="2304356"/>
          </a:xfrm>
          <a:prstGeom prst="roundRect">
            <a:avLst>
              <a:gd name="adj" fmla="val 3445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sp>
        <p:nvSpPr>
          <p:cNvPr id="1394" name="Text 2"/>
          <p:cNvSpPr txBox="1"/>
          <p:nvPr/>
        </p:nvSpPr>
        <p:spPr>
          <a:xfrm>
            <a:off x="856853" y="2112565"/>
            <a:ext cx="2663330" cy="659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Formulating Research Questions</a:t>
            </a:r>
          </a:p>
        </p:txBody>
      </p:sp>
      <p:sp>
        <p:nvSpPr>
          <p:cNvPr id="1395" name="Text 3"/>
          <p:cNvSpPr txBox="1"/>
          <p:nvPr/>
        </p:nvSpPr>
        <p:spPr>
          <a:xfrm>
            <a:off x="856853" y="2816523"/>
            <a:ext cx="2663330" cy="1035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17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417"/>
              <a:t>Techniques for developing focused, meaningful questions that drive effective research.</a:t>
            </a:r>
          </a:p>
        </p:txBody>
      </p:sp>
      <p:sp>
        <p:nvSpPr>
          <p:cNvPr id="1396" name="Shape 4"/>
          <p:cNvSpPr/>
          <p:nvPr/>
        </p:nvSpPr>
        <p:spPr>
          <a:xfrm>
            <a:off x="3904556" y="1917205"/>
            <a:ext cx="3054053" cy="2304356"/>
          </a:xfrm>
          <a:prstGeom prst="roundRect">
            <a:avLst>
              <a:gd name="adj" fmla="val 3445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sp>
        <p:nvSpPr>
          <p:cNvPr id="1397" name="Text 5"/>
          <p:cNvSpPr txBox="1"/>
          <p:nvPr/>
        </p:nvSpPr>
        <p:spPr>
          <a:xfrm>
            <a:off x="4099917" y="2112565"/>
            <a:ext cx="2500685" cy="312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From Broad to Specific</a:t>
            </a:r>
          </a:p>
        </p:txBody>
      </p:sp>
      <p:sp>
        <p:nvSpPr>
          <p:cNvPr id="1398" name="Text 6"/>
          <p:cNvSpPr txBox="1"/>
          <p:nvPr/>
        </p:nvSpPr>
        <p:spPr>
          <a:xfrm>
            <a:off x="4099917" y="2521247"/>
            <a:ext cx="2663330" cy="1035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17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417"/>
              <a:t>Methods to narrow general interests into precise, answerable research questions.</a:t>
            </a:r>
          </a:p>
        </p:txBody>
      </p:sp>
      <p:sp>
        <p:nvSpPr>
          <p:cNvPr id="1399" name="Shape 7"/>
          <p:cNvSpPr/>
          <p:nvPr/>
        </p:nvSpPr>
        <p:spPr>
          <a:xfrm>
            <a:off x="661492" y="4410571"/>
            <a:ext cx="6297018" cy="1404243"/>
          </a:xfrm>
          <a:prstGeom prst="roundRect">
            <a:avLst>
              <a:gd name="adj" fmla="val 5654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sp>
        <p:nvSpPr>
          <p:cNvPr id="1400" name="Text 8"/>
          <p:cNvSpPr txBox="1"/>
          <p:nvPr/>
        </p:nvSpPr>
        <p:spPr>
          <a:xfrm>
            <a:off x="856852" y="4605932"/>
            <a:ext cx="3061736" cy="312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Evaluating Question Quality</a:t>
            </a:r>
          </a:p>
        </p:txBody>
      </p:sp>
      <p:sp>
        <p:nvSpPr>
          <p:cNvPr id="1401" name="Text 9"/>
          <p:cNvSpPr txBox="1"/>
          <p:nvPr/>
        </p:nvSpPr>
        <p:spPr>
          <a:xfrm>
            <a:off x="856854" y="5014615"/>
            <a:ext cx="5906293" cy="3172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800"/>
              </a:lnSpc>
              <a:defRPr sz="17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rPr sz="1417"/>
              <a:t>Criteria for assessing whether questions will lead to valuable research outcomes.</a:t>
            </a:r>
          </a:p>
        </p:txBody>
      </p:sp>
    </p:spTree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3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5380" y="700690"/>
            <a:ext cx="3935541" cy="5903311"/>
          </a:xfrm>
          <a:prstGeom prst="rect">
            <a:avLst/>
          </a:prstGeom>
          <a:ln w="12700">
            <a:miter lim="400000"/>
          </a:ln>
        </p:spPr>
      </p:pic>
      <p:sp>
        <p:nvSpPr>
          <p:cNvPr id="1404" name="Text 0"/>
          <p:cNvSpPr txBox="1"/>
          <p:nvPr/>
        </p:nvSpPr>
        <p:spPr>
          <a:xfrm>
            <a:off x="661492" y="1043087"/>
            <a:ext cx="2681824" cy="11385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lnSpc>
                <a:spcPts val="4583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667"/>
              <a:t>Homework: </a:t>
            </a:r>
          </a:p>
          <a:p>
            <a:pPr>
              <a:lnSpc>
                <a:spcPts val="4583"/>
              </a:lnSpc>
              <a:defRPr sz="44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667"/>
              <a:t>Handout 1</a:t>
            </a:r>
          </a:p>
        </p:txBody>
      </p:sp>
      <p:sp>
        <p:nvSpPr>
          <p:cNvPr id="1405" name="Shape 1"/>
          <p:cNvSpPr/>
          <p:nvPr/>
        </p:nvSpPr>
        <p:spPr>
          <a:xfrm>
            <a:off x="661492" y="2255871"/>
            <a:ext cx="5883259" cy="891040"/>
          </a:xfrm>
          <a:prstGeom prst="roundRect">
            <a:avLst>
              <a:gd name="adj" fmla="val 8909"/>
            </a:avLst>
          </a:prstGeom>
          <a:solidFill>
            <a:srgbClr val="CCEDFF"/>
          </a:solidFill>
          <a:ln w="7620">
            <a:solidFill>
              <a:srgbClr val="B2D3E5"/>
            </a:solidFill>
          </a:ln>
        </p:spPr>
        <p:txBody>
          <a:bodyPr lIns="38099" rIns="38099"/>
          <a:lstStyle/>
          <a:p>
            <a:endParaRPr sz="1500"/>
          </a:p>
        </p:txBody>
      </p:sp>
      <p:sp>
        <p:nvSpPr>
          <p:cNvPr id="1406" name="Text 2"/>
          <p:cNvSpPr txBox="1"/>
          <p:nvPr/>
        </p:nvSpPr>
        <p:spPr>
          <a:xfrm>
            <a:off x="715742" y="2423010"/>
            <a:ext cx="5492536" cy="312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2700"/>
              </a:lnSpc>
              <a:defRPr sz="22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lvl1pPr>
          </a:lstStyle>
          <a:p>
            <a:r>
              <a:rPr sz="1833"/>
              <a:t>Introduction to Research </a:t>
            </a:r>
          </a:p>
        </p:txBody>
      </p:sp>
      <p:sp>
        <p:nvSpPr>
          <p:cNvPr id="1407" name="Text 0"/>
          <p:cNvSpPr txBox="1"/>
          <p:nvPr/>
        </p:nvSpPr>
        <p:spPr>
          <a:xfrm>
            <a:off x="661492" y="3446098"/>
            <a:ext cx="6173165" cy="1709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lnSpc>
                <a:spcPts val="4583"/>
              </a:lnSpc>
              <a:defRPr sz="36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000"/>
              <a:t>Finalize teams</a:t>
            </a:r>
          </a:p>
          <a:p>
            <a:pPr>
              <a:lnSpc>
                <a:spcPts val="4583"/>
              </a:lnSpc>
              <a:defRPr sz="36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000"/>
              <a:t>Explore data-sets</a:t>
            </a:r>
          </a:p>
          <a:p>
            <a:pPr>
              <a:lnSpc>
                <a:spcPts val="4583"/>
              </a:lnSpc>
              <a:defRPr sz="36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000"/>
              <a:t>Decide on your “Global Challenge”</a:t>
            </a:r>
          </a:p>
        </p:txBody>
      </p:sp>
      <p:sp>
        <p:nvSpPr>
          <p:cNvPr id="1408" name="Climate Change…"/>
          <p:cNvSpPr txBox="1"/>
          <p:nvPr/>
        </p:nvSpPr>
        <p:spPr>
          <a:xfrm>
            <a:off x="652880" y="5399000"/>
            <a:ext cx="3000403" cy="719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 anchor="ctr">
            <a:spAutoFit/>
          </a:bodyPr>
          <a:lstStyle/>
          <a:p>
            <a:pPr marL="247863" indent="-247863" defTabSz="380985">
              <a:lnSpc>
                <a:spcPct val="30000"/>
              </a:lnSpc>
              <a:spcBef>
                <a:spcPts val="1333"/>
              </a:spcBef>
              <a:buSzPct val="100000"/>
              <a:buChar char="•"/>
              <a:defRPr sz="2166">
                <a:latin typeface="+mj-lt"/>
                <a:ea typeface="+mj-ea"/>
                <a:cs typeface="+mj-cs"/>
                <a:sym typeface="Helvetica"/>
              </a:defRPr>
            </a:pPr>
            <a:r>
              <a:rPr sz="1805"/>
              <a:t> Climate Change</a:t>
            </a:r>
          </a:p>
          <a:p>
            <a:pPr marL="247863" indent="-247863" defTabSz="380985">
              <a:lnSpc>
                <a:spcPct val="30000"/>
              </a:lnSpc>
              <a:spcBef>
                <a:spcPts val="1333"/>
              </a:spcBef>
              <a:buSzPct val="100000"/>
              <a:buChar char="•"/>
              <a:defRPr sz="2166">
                <a:latin typeface="+mj-lt"/>
                <a:ea typeface="+mj-ea"/>
                <a:cs typeface="+mj-cs"/>
                <a:sym typeface="Helvetica"/>
              </a:defRPr>
            </a:pPr>
            <a:r>
              <a:rPr sz="1805"/>
              <a:t> Public Health Pandemics</a:t>
            </a:r>
          </a:p>
          <a:p>
            <a:pPr marL="247863" indent="-247863" defTabSz="380985">
              <a:lnSpc>
                <a:spcPct val="30000"/>
              </a:lnSpc>
              <a:spcBef>
                <a:spcPts val="1333"/>
              </a:spcBef>
              <a:buSzPct val="100000"/>
              <a:buChar char="•"/>
              <a:defRPr sz="2166">
                <a:latin typeface="+mj-lt"/>
                <a:ea typeface="+mj-ea"/>
                <a:cs typeface="+mj-cs"/>
                <a:sym typeface="Helvetica"/>
              </a:defRPr>
            </a:pPr>
            <a:r>
              <a:rPr sz="1805"/>
              <a:t> Poverty and Inequality</a:t>
            </a:r>
          </a:p>
        </p:txBody>
      </p:sp>
      <p:sp>
        <p:nvSpPr>
          <p:cNvPr id="1409" name="Renewable Energy…"/>
          <p:cNvSpPr txBox="1"/>
          <p:nvPr/>
        </p:nvSpPr>
        <p:spPr>
          <a:xfrm>
            <a:off x="3988497" y="5330987"/>
            <a:ext cx="2218362" cy="719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8099" rIns="38099">
            <a:spAutoFit/>
          </a:bodyPr>
          <a:lstStyle/>
          <a:p>
            <a:pPr marL="247863" indent="-247863" defTabSz="380985">
              <a:lnSpc>
                <a:spcPct val="30000"/>
              </a:lnSpc>
              <a:spcBef>
                <a:spcPts val="1333"/>
              </a:spcBef>
              <a:buSzPct val="100000"/>
              <a:buChar char="•"/>
              <a:defRPr sz="2166">
                <a:latin typeface="+mj-lt"/>
                <a:ea typeface="+mj-ea"/>
                <a:cs typeface="+mj-cs"/>
                <a:sym typeface="Helvetica"/>
              </a:defRPr>
            </a:pPr>
            <a:r>
              <a:rPr sz="1805"/>
              <a:t>Renewable Energy</a:t>
            </a:r>
          </a:p>
          <a:p>
            <a:pPr marL="247863" indent="-247863" defTabSz="380985">
              <a:lnSpc>
                <a:spcPct val="30000"/>
              </a:lnSpc>
              <a:spcBef>
                <a:spcPts val="1333"/>
              </a:spcBef>
              <a:buSzPct val="100000"/>
              <a:buChar char="•"/>
              <a:defRPr sz="2166">
                <a:latin typeface="+mj-lt"/>
                <a:ea typeface="+mj-ea"/>
                <a:cs typeface="+mj-cs"/>
                <a:sym typeface="Helvetica"/>
              </a:defRPr>
            </a:pPr>
            <a:r>
              <a:rPr sz="1805"/>
              <a:t> Educational Access</a:t>
            </a:r>
          </a:p>
          <a:p>
            <a:pPr marL="247863" indent="-247863" defTabSz="380985">
              <a:lnSpc>
                <a:spcPct val="30000"/>
              </a:lnSpc>
              <a:spcBef>
                <a:spcPts val="1333"/>
              </a:spcBef>
              <a:buSzPct val="100000"/>
              <a:buChar char="•"/>
              <a:defRPr sz="2166">
                <a:latin typeface="+mj-lt"/>
                <a:ea typeface="+mj-ea"/>
                <a:cs typeface="+mj-cs"/>
                <a:sym typeface="Helvetica"/>
              </a:defRPr>
            </a:pPr>
            <a:r>
              <a:rPr sz="1805"/>
              <a:t> Digital Privacy</a:t>
            </a:r>
          </a:p>
        </p:txBody>
      </p:sp>
    </p:spTree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1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6346"/>
            <a:ext cx="12192000" cy="2188469"/>
          </a:xfrm>
          <a:prstGeom prst="rect">
            <a:avLst/>
          </a:prstGeom>
          <a:ln w="12700">
            <a:miter lim="400000"/>
          </a:ln>
        </p:spPr>
      </p:pic>
      <p:sp>
        <p:nvSpPr>
          <p:cNvPr id="1412" name="Text 0"/>
          <p:cNvSpPr txBox="1"/>
          <p:nvPr/>
        </p:nvSpPr>
        <p:spPr>
          <a:xfrm>
            <a:off x="3434997" y="3549064"/>
            <a:ext cx="5730736" cy="1615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lnSpc>
                <a:spcPts val="4250"/>
              </a:lnSpc>
              <a:defRPr sz="4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417"/>
              <a:t>Let’s wrap up this session!</a:t>
            </a:r>
          </a:p>
          <a:p>
            <a:pPr>
              <a:lnSpc>
                <a:spcPts val="4250"/>
              </a:lnSpc>
              <a:defRPr sz="4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endParaRPr sz="3417"/>
          </a:p>
          <a:p>
            <a:pPr>
              <a:lnSpc>
                <a:spcPts val="4250"/>
              </a:lnSpc>
              <a:defRPr sz="4100" b="1">
                <a:latin typeface="Playfair Display Bold"/>
                <a:ea typeface="Playfair Display Bold"/>
                <a:cs typeface="Playfair Display Bold"/>
                <a:sym typeface="Playfair Display Bold"/>
              </a:defRPr>
            </a:pPr>
            <a:r>
              <a:rPr sz="3417"/>
              <a:t>Questions? Final thoughts?  </a:t>
            </a:r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Rectangle"/>
          <p:cNvSpPr/>
          <p:nvPr/>
        </p:nvSpPr>
        <p:spPr>
          <a:xfrm>
            <a:off x="10278766" y="-63446"/>
            <a:ext cx="1058334" cy="698489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  <p:sp>
        <p:nvSpPr>
          <p:cNvPr id="1415" name="Rectangle"/>
          <p:cNvSpPr/>
          <p:nvPr/>
        </p:nvSpPr>
        <p:spPr>
          <a:xfrm>
            <a:off x="8310266" y="120000"/>
            <a:ext cx="1058334" cy="698489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  <p:sp>
        <p:nvSpPr>
          <p:cNvPr id="1416" name="Rectangle"/>
          <p:cNvSpPr/>
          <p:nvPr/>
        </p:nvSpPr>
        <p:spPr>
          <a:xfrm>
            <a:off x="6341766" y="-63446"/>
            <a:ext cx="1058334" cy="698489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  <p:sp>
        <p:nvSpPr>
          <p:cNvPr id="1417" name="Rectangle"/>
          <p:cNvSpPr/>
          <p:nvPr/>
        </p:nvSpPr>
        <p:spPr>
          <a:xfrm>
            <a:off x="4474788" y="-63446"/>
            <a:ext cx="1058334" cy="698489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  <p:sp>
        <p:nvSpPr>
          <p:cNvPr id="1418" name="Rectangle"/>
          <p:cNvSpPr/>
          <p:nvPr/>
        </p:nvSpPr>
        <p:spPr>
          <a:xfrm>
            <a:off x="2607811" y="-63446"/>
            <a:ext cx="1058334" cy="698489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  <p:sp>
        <p:nvSpPr>
          <p:cNvPr id="1419" name="Rectangle"/>
          <p:cNvSpPr/>
          <p:nvPr/>
        </p:nvSpPr>
        <p:spPr>
          <a:xfrm>
            <a:off x="740833" y="-63446"/>
            <a:ext cx="1058333" cy="698489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  <p:sp>
        <p:nvSpPr>
          <p:cNvPr id="1420" name="EXTRA SLIDES FOR DAY 1…"/>
          <p:cNvSpPr txBox="1"/>
          <p:nvPr/>
        </p:nvSpPr>
        <p:spPr>
          <a:xfrm>
            <a:off x="81618" y="1146600"/>
            <a:ext cx="12028765" cy="21271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 b="1"/>
              <a:t>EXTRA SLIDES FOR DAY 1</a:t>
            </a:r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 b="1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 b="1"/>
              <a:t>(DIDN’T HAVE TIME TO COVER)</a:t>
            </a:r>
          </a:p>
        </p:txBody>
      </p:sp>
      <p:sp>
        <p:nvSpPr>
          <p:cNvPr id="1421" name="Rectangle"/>
          <p:cNvSpPr/>
          <p:nvPr/>
        </p:nvSpPr>
        <p:spPr>
          <a:xfrm>
            <a:off x="-155850" y="6147566"/>
            <a:ext cx="12503701" cy="74882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  <p:sp>
        <p:nvSpPr>
          <p:cNvPr id="1422" name="Rectangle"/>
          <p:cNvSpPr/>
          <p:nvPr/>
        </p:nvSpPr>
        <p:spPr>
          <a:xfrm>
            <a:off x="-11851" y="-58595"/>
            <a:ext cx="12215701" cy="74882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38099" rIns="38099" anchor="ctr"/>
          <a:lstStyle/>
          <a:p>
            <a:endParaRPr sz="1500"/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Let’s Play a Game:…"/>
          <p:cNvSpPr txBox="1"/>
          <p:nvPr/>
        </p:nvSpPr>
        <p:spPr>
          <a:xfrm>
            <a:off x="2695230" y="1015377"/>
            <a:ext cx="6801540" cy="2428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8099" rIns="38099">
            <a:spAutoFit/>
          </a:bodyPr>
          <a:lstStyle/>
          <a:p>
            <a:pPr algn="ctr">
              <a:lnSpc>
                <a:spcPct val="90000"/>
              </a:lnSpc>
              <a:defRPr sz="4400" b="1">
                <a:solidFill>
                  <a:srgbClr val="171AAE"/>
                </a:solidFill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/>
              <a:t>Let’s Play a Game: </a:t>
            </a:r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57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4750" b="1"/>
              <a:t>FACT</a:t>
            </a:r>
            <a:r>
              <a:rPr sz="4750"/>
              <a:t> (research-supported)</a:t>
            </a:r>
          </a:p>
          <a:p>
            <a:pPr algn="ctr">
              <a:lnSpc>
                <a:spcPct val="90000"/>
              </a:lnSpc>
              <a:defRPr sz="57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4750"/>
              <a:t> or </a:t>
            </a:r>
            <a:r>
              <a:rPr sz="4750" b="1"/>
              <a:t>MYTH</a:t>
            </a:r>
            <a:r>
              <a:rPr sz="4750"/>
              <a:t> (misconception)</a:t>
            </a:r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6" name="“The current global warming trend is primarily caused by natural climate cycles, not human activity.”…"/>
          <p:cNvSpPr txBox="1"/>
          <p:nvPr/>
        </p:nvSpPr>
        <p:spPr>
          <a:xfrm>
            <a:off x="890545" y="2584669"/>
            <a:ext cx="10297548" cy="34133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“The current global warming trend is primarily caused by natural climate cycles, not human activity.”</a:t>
            </a:r>
            <a:br>
              <a:rPr sz="3083"/>
            </a:br>
            <a:r>
              <a:rPr sz="3083"/>
              <a:t> </a:t>
            </a:r>
          </a:p>
          <a:p>
            <a:pPr defTabSz="380985">
              <a:defRPr sz="3700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❌ </a:t>
            </a:r>
            <a:r>
              <a:rPr sz="3083" b="1"/>
              <a:t>MYTH - </a:t>
            </a:r>
            <a:r>
              <a:rPr sz="3083"/>
              <a:t>Research shows over </a:t>
            </a:r>
            <a:r>
              <a:rPr sz="3083" b="1"/>
              <a:t>97% of climate scientists</a:t>
            </a:r>
            <a:r>
              <a:rPr sz="3083"/>
              <a:t> agree that human activities—mainly burning fossil fuels—are the primary cause of current global warming. </a:t>
            </a:r>
            <a:r>
              <a:rPr sz="3083" i="1"/>
              <a:t>(NASA, 2024 – climate.nasa.gov/evidence/)</a:t>
            </a:r>
          </a:p>
        </p:txBody>
      </p:sp>
      <p:sp>
        <p:nvSpPr>
          <p:cNvPr id="1427" name="FACT (research-supported) or MYTH (misconception)"/>
          <p:cNvSpPr txBox="1"/>
          <p:nvPr/>
        </p:nvSpPr>
        <p:spPr>
          <a:xfrm>
            <a:off x="81618" y="455155"/>
            <a:ext cx="12028765" cy="1111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 b="1"/>
              <a:t>FACT</a:t>
            </a:r>
            <a:r>
              <a:rPr sz="3667"/>
              <a:t> (research-supported) or </a:t>
            </a:r>
            <a:r>
              <a:rPr sz="3667" b="1"/>
              <a:t>MYTH</a:t>
            </a:r>
            <a:r>
              <a:rPr sz="3667"/>
              <a:t> (misconception)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2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4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6" grpId="0" build="p" bldLvl="5" animBg="1" advAuto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9" name="“As of 2024, more than half of the global population lives in urban areas rather than rural ones.”…"/>
          <p:cNvSpPr txBox="1"/>
          <p:nvPr/>
        </p:nvSpPr>
        <p:spPr>
          <a:xfrm>
            <a:off x="890545" y="2584669"/>
            <a:ext cx="10297548" cy="45288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spcBef>
                <a:spcPts val="1333"/>
              </a:spcBef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“As of 2024, more than half of the global population lives in urban areas rather than rural ones.”</a:t>
            </a:r>
          </a:p>
          <a:p>
            <a:pPr defTabSz="380985">
              <a:spcBef>
                <a:spcPts val="1333"/>
              </a:spcBef>
              <a:defRPr sz="3700" b="1">
                <a:latin typeface="Arial"/>
                <a:ea typeface="Arial"/>
                <a:cs typeface="Arial"/>
                <a:sym typeface="Arial"/>
              </a:defRPr>
            </a:pPr>
            <a:br>
              <a:rPr sz="3083"/>
            </a:br>
            <a:r>
              <a:rPr sz="3083"/>
              <a:t> ✅ FACT - Over 56% of people worldwide live in urban settings, a number projected to reach 70% by 2050. </a:t>
            </a:r>
            <a:r>
              <a:rPr sz="3083" i="1"/>
              <a:t>(United Nations, 2024 – un.org/development/desa/publications/)</a:t>
            </a:r>
            <a:br>
              <a:rPr sz="3083" i="1"/>
            </a:br>
            <a:br>
              <a:rPr sz="3083"/>
            </a:br>
            <a:endParaRPr sz="3083"/>
          </a:p>
        </p:txBody>
      </p:sp>
      <p:sp>
        <p:nvSpPr>
          <p:cNvPr id="1430" name="FACT (research-supported) or MYTH (misconception)"/>
          <p:cNvSpPr txBox="1"/>
          <p:nvPr/>
        </p:nvSpPr>
        <p:spPr>
          <a:xfrm>
            <a:off x="81618" y="455155"/>
            <a:ext cx="12028765" cy="1111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 b="1"/>
              <a:t>FACT</a:t>
            </a:r>
            <a:r>
              <a:rPr sz="3667"/>
              <a:t> (research-supported) or </a:t>
            </a:r>
            <a:r>
              <a:rPr sz="3667" b="1"/>
              <a:t>MYTH</a:t>
            </a:r>
            <a:r>
              <a:rPr sz="3667"/>
              <a:t> (misconception)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4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429">
                                            <p:txEl>
                                              <p:charRg st="269" end="2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9" grpId="0" build="p" bldLvl="5" animBg="1" advAuto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“Studies show that renewable sources like wind and solar could theoretically meet 100% of global energy needs.”…"/>
          <p:cNvSpPr txBox="1"/>
          <p:nvPr/>
        </p:nvSpPr>
        <p:spPr>
          <a:xfrm>
            <a:off x="890545" y="2584669"/>
            <a:ext cx="10297548" cy="4054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spcBef>
                <a:spcPts val="1333"/>
              </a:spcBef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“Studies show that renewable sources like wind and solar could theoretically meet 100% of global energy needs.”</a:t>
            </a:r>
          </a:p>
          <a:p>
            <a:pPr defTabSz="380985">
              <a:spcBef>
                <a:spcPts val="1333"/>
              </a:spcBef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 ✅ FACT - Research suggests a full transition to renewables is technically feasible, though it would require major investment and infrastructure changes. (Jacobson et al., 2017 – Joule, 1(1), 108–121 – sciencedirect.com)</a:t>
            </a:r>
          </a:p>
        </p:txBody>
      </p:sp>
      <p:sp>
        <p:nvSpPr>
          <p:cNvPr id="1433" name="FACT (research-supported) or MYTH (misconception)"/>
          <p:cNvSpPr txBox="1"/>
          <p:nvPr/>
        </p:nvSpPr>
        <p:spPr>
          <a:xfrm>
            <a:off x="81618" y="455155"/>
            <a:ext cx="12028765" cy="1111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 b="1"/>
              <a:t>FACT</a:t>
            </a:r>
            <a:r>
              <a:rPr sz="3667"/>
              <a:t> (research-supported) or </a:t>
            </a:r>
            <a:r>
              <a:rPr sz="3667" b="1"/>
              <a:t>MYTH</a:t>
            </a:r>
            <a:r>
              <a:rPr sz="3667"/>
              <a:t> (misconception)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3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4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432">
                                            <p:txEl>
                                              <p:charRg st="333" end="3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2" grpId="0" build="p" bldLvl="5" animBg="1" advAuto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“Mental health problems are mostly caused by personal weakness or a lack of willpower.”…"/>
          <p:cNvSpPr txBox="1"/>
          <p:nvPr/>
        </p:nvSpPr>
        <p:spPr>
          <a:xfrm>
            <a:off x="890545" y="2584670"/>
            <a:ext cx="10297548" cy="4054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spcBef>
                <a:spcPts val="1333"/>
              </a:spcBef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“Mental health problems are mostly caused by personal weakness or a lack of willpower.”</a:t>
            </a:r>
          </a:p>
          <a:p>
            <a:pPr defTabSz="380985">
              <a:spcBef>
                <a:spcPts val="1333"/>
              </a:spcBef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❌ MYTH - Mental health conditions are caused by a mix of biological, psychological, and environmental factors, not personal failure. Willpower alone cannot prevent or cure mental illness. (National Institute of Mental Health, 2024 – nimh.nih.gov/health/publications)</a:t>
            </a:r>
          </a:p>
        </p:txBody>
      </p:sp>
      <p:sp>
        <p:nvSpPr>
          <p:cNvPr id="1436" name="FACT (research-supported) or MYTH (misconception)"/>
          <p:cNvSpPr txBox="1"/>
          <p:nvPr/>
        </p:nvSpPr>
        <p:spPr>
          <a:xfrm>
            <a:off x="81618" y="455155"/>
            <a:ext cx="12028765" cy="1111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 b="1"/>
              <a:t>FACT</a:t>
            </a:r>
            <a:r>
              <a:rPr sz="3667"/>
              <a:t> (research-supported) or </a:t>
            </a:r>
            <a:r>
              <a:rPr sz="3667" b="1"/>
              <a:t>MYTH</a:t>
            </a:r>
            <a:r>
              <a:rPr sz="3667"/>
              <a:t> (misconception)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3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435">
                                            <p:txEl>
                                              <p:charRg st="355" end="3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5" grpId="0" build="p" bldLvl="5" animBg="1" advAuto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“Most people without access to safely managed drinking water live in sub-Saharan Africa.”…"/>
          <p:cNvSpPr txBox="1"/>
          <p:nvPr/>
        </p:nvSpPr>
        <p:spPr>
          <a:xfrm>
            <a:off x="890545" y="2584670"/>
            <a:ext cx="10297548" cy="3746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spcBef>
                <a:spcPts val="1333"/>
              </a:spcBef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“Most people without access to safely managed drinking water live in sub-Saharan Africa.”</a:t>
            </a:r>
          </a:p>
          <a:p>
            <a:pPr defTabSz="380985">
              <a:spcBef>
                <a:spcPts val="1333"/>
              </a:spcBef>
              <a:defRPr sz="3700" b="1">
                <a:latin typeface="Arial"/>
                <a:ea typeface="Arial"/>
                <a:cs typeface="Arial"/>
                <a:sym typeface="Arial"/>
              </a:defRPr>
            </a:pPr>
            <a:endParaRPr sz="3083"/>
          </a:p>
          <a:p>
            <a:pPr defTabSz="380985">
              <a:spcBef>
                <a:spcPts val="1333"/>
              </a:spcBef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 ✅ FACT - Nearly 400 million people in sub-Saharan Africa lack safely managed water, making it the most affected region. (WHO/UNICEF Joint Monitoring Programme, 2023 – washdata.org)</a:t>
            </a:r>
          </a:p>
        </p:txBody>
      </p:sp>
      <p:sp>
        <p:nvSpPr>
          <p:cNvPr id="1439" name="FACT (research-supported) or MYTH (misconception)"/>
          <p:cNvSpPr txBox="1"/>
          <p:nvPr/>
        </p:nvSpPr>
        <p:spPr>
          <a:xfrm>
            <a:off x="81618" y="455155"/>
            <a:ext cx="12028765" cy="1111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 b="1"/>
              <a:t>FACT</a:t>
            </a:r>
            <a:r>
              <a:rPr sz="3667"/>
              <a:t> (research-supported) or </a:t>
            </a:r>
            <a:r>
              <a:rPr sz="3667" b="1"/>
              <a:t>MYTH</a:t>
            </a:r>
            <a:r>
              <a:rPr sz="3667"/>
              <a:t> (misconception)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3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4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4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438">
                                            <p:txEl>
                                              <p:charRg st="273" end="2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8" grpId="0" build="p" bldLvl="5" animBg="1" advAuto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“Biodiversity loss only affects wildlife and has little impact on human life.”…"/>
          <p:cNvSpPr txBox="1"/>
          <p:nvPr/>
        </p:nvSpPr>
        <p:spPr>
          <a:xfrm>
            <a:off x="890545" y="2584670"/>
            <a:ext cx="10297548" cy="3746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spcBef>
                <a:spcPts val="1333"/>
              </a:spcBef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“Biodiversity loss only affects wildlife and has little impact on human life.”</a:t>
            </a:r>
          </a:p>
          <a:p>
            <a:pPr defTabSz="380985">
              <a:spcBef>
                <a:spcPts val="1333"/>
              </a:spcBef>
              <a:defRPr sz="3700" b="1">
                <a:latin typeface="Arial"/>
                <a:ea typeface="Arial"/>
                <a:cs typeface="Arial"/>
                <a:sym typeface="Arial"/>
              </a:defRPr>
            </a:pPr>
            <a:endParaRPr sz="3083"/>
          </a:p>
          <a:p>
            <a:pPr defTabSz="380985">
              <a:spcBef>
                <a:spcPts val="1333"/>
              </a:spcBef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  ❌ MYTH - Biodiversity loss disrupts food systems, disease regulation, and clean air/water, directly impacting human survival. (IPBES Global Assessment Report, 2019 – ipbes.net/global-assessment)</a:t>
            </a:r>
          </a:p>
        </p:txBody>
      </p:sp>
      <p:sp>
        <p:nvSpPr>
          <p:cNvPr id="1442" name="FACT (research-supported) or MYTH (misconception)"/>
          <p:cNvSpPr txBox="1"/>
          <p:nvPr/>
        </p:nvSpPr>
        <p:spPr>
          <a:xfrm>
            <a:off x="81618" y="455155"/>
            <a:ext cx="12028765" cy="1111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 b="1"/>
              <a:t>FACT</a:t>
            </a:r>
            <a:r>
              <a:rPr sz="3667"/>
              <a:t> (research-supported) or </a:t>
            </a:r>
            <a:r>
              <a:rPr sz="3667" b="1"/>
              <a:t>MYTH</a:t>
            </a:r>
            <a:r>
              <a:rPr sz="3667"/>
              <a:t> (misconception)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4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4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4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441">
                                            <p:txEl>
                                              <p:charRg st="277" end="2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1" grpId="0" build="p" bldLvl="5" animBg="1" advAuto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“AI makes fair decisions because it doesn't have feelings or emotions like humans.”…"/>
          <p:cNvSpPr txBox="1"/>
          <p:nvPr/>
        </p:nvSpPr>
        <p:spPr>
          <a:xfrm>
            <a:off x="890545" y="2584669"/>
            <a:ext cx="10297548" cy="34133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“AI makes fair decisions because it doesn't have feelings or emotions like humans.”</a:t>
            </a:r>
          </a:p>
          <a:p>
            <a:pPr defTabSz="380985">
              <a:defRPr sz="3700" b="1">
                <a:latin typeface="Arial"/>
                <a:ea typeface="Arial"/>
                <a:cs typeface="Arial"/>
                <a:sym typeface="Arial"/>
              </a:defRPr>
            </a:pPr>
            <a:endParaRPr sz="3083"/>
          </a:p>
          <a:p>
            <a:pPr defTabSz="380985">
              <a:defRPr sz="3700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 ❌ </a:t>
            </a:r>
            <a:r>
              <a:rPr sz="3083" b="1"/>
              <a:t>MYTH -</a:t>
            </a:r>
            <a:r>
              <a:rPr sz="3083"/>
              <a:t> AI systems can </a:t>
            </a:r>
            <a:r>
              <a:rPr sz="3083" b="1"/>
              <a:t>reproduce bias</a:t>
            </a:r>
            <a:r>
              <a:rPr sz="3083"/>
              <a:t> if the data or design reflects human inequality. Lack of emotion doesn’t equal fairness. (MIT Media Lab, 2019 – gender-shades.org; Nature, 2020)</a:t>
            </a:r>
          </a:p>
        </p:txBody>
      </p:sp>
      <p:sp>
        <p:nvSpPr>
          <p:cNvPr id="1445" name="FACT (research-supported) or MYTH (misconception)"/>
          <p:cNvSpPr txBox="1"/>
          <p:nvPr/>
        </p:nvSpPr>
        <p:spPr>
          <a:xfrm>
            <a:off x="81618" y="455155"/>
            <a:ext cx="12028765" cy="1111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 b="1"/>
              <a:t>FACT</a:t>
            </a:r>
            <a:r>
              <a:rPr sz="3667"/>
              <a:t> (research-supported) or </a:t>
            </a:r>
            <a:r>
              <a:rPr sz="3667" b="1"/>
              <a:t>MYTH</a:t>
            </a:r>
            <a:r>
              <a:rPr sz="3667"/>
              <a:t> (misconception)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4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4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4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4" grpId="0" build="p" bldLvl="5" animBg="1" advAuto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“Over half the world’s school-aged children are out of school.”…"/>
          <p:cNvSpPr txBox="1"/>
          <p:nvPr/>
        </p:nvSpPr>
        <p:spPr>
          <a:xfrm>
            <a:off x="890545" y="2584670"/>
            <a:ext cx="10297548" cy="34133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“Over half the world’s school-aged children are out of school.”</a:t>
            </a:r>
          </a:p>
          <a:p>
            <a:pPr defTabSz="380985">
              <a:defRPr sz="3700" b="1">
                <a:latin typeface="Arial"/>
                <a:ea typeface="Arial"/>
                <a:cs typeface="Arial"/>
                <a:sym typeface="Arial"/>
              </a:defRPr>
            </a:pPr>
            <a:endParaRPr sz="3083"/>
          </a:p>
          <a:p>
            <a:pPr defTabSz="380985"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 ❌ MYTH - In reality, about 244 million children and youth are out of school—roughly 12%, not over 50%. (UNESCO, 2023 – uis.unesco.org/en/news/244-million-children)</a:t>
            </a:r>
          </a:p>
        </p:txBody>
      </p:sp>
      <p:sp>
        <p:nvSpPr>
          <p:cNvPr id="1448" name="FACT (research-supported) or MYTH (misconception)"/>
          <p:cNvSpPr txBox="1"/>
          <p:nvPr/>
        </p:nvSpPr>
        <p:spPr>
          <a:xfrm>
            <a:off x="81618" y="455155"/>
            <a:ext cx="12028765" cy="1111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 b="1"/>
              <a:t>FACT</a:t>
            </a:r>
            <a:r>
              <a:rPr sz="3667"/>
              <a:t> (research-supported) or </a:t>
            </a:r>
            <a:r>
              <a:rPr sz="3667" b="1"/>
              <a:t>MYTH</a:t>
            </a:r>
            <a:r>
              <a:rPr sz="3667"/>
              <a:t> (misconception)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4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4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4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447">
                                            <p:txEl>
                                              <p:charRg st="230" end="2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7" grpId="0" build="p" bldLvl="5" animBg="1" advAuto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“Vaccines can help stop pandemics, but only if a large percentage of the population receives them.”…"/>
          <p:cNvSpPr txBox="1"/>
          <p:nvPr/>
        </p:nvSpPr>
        <p:spPr>
          <a:xfrm>
            <a:off x="890545" y="2584669"/>
            <a:ext cx="10297548" cy="388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defTabSz="380985"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“Vaccines can help stop pandemics, but only if a large percentage of the population receives them.”</a:t>
            </a:r>
          </a:p>
          <a:p>
            <a:pPr defTabSz="380985">
              <a:defRPr sz="3700" b="1">
                <a:latin typeface="Arial"/>
                <a:ea typeface="Arial"/>
                <a:cs typeface="Arial"/>
                <a:sym typeface="Arial"/>
              </a:defRPr>
            </a:pPr>
            <a:endParaRPr sz="3083"/>
          </a:p>
          <a:p>
            <a:pPr defTabSz="380985">
              <a:defRPr sz="3700" b="1">
                <a:latin typeface="Arial"/>
                <a:ea typeface="Arial"/>
                <a:cs typeface="Arial"/>
                <a:sym typeface="Arial"/>
              </a:defRPr>
            </a:pPr>
            <a:r>
              <a:rPr sz="3083"/>
              <a:t> ✅ FACT - High vaccination coverage is needed for herd immunity to protect both individuals and communities. (World Health Organization, 2022 – who.int/news-room/questions-and-answers/item/herd-immunity)</a:t>
            </a:r>
          </a:p>
        </p:txBody>
      </p:sp>
      <p:sp>
        <p:nvSpPr>
          <p:cNvPr id="1451" name="FACT (research-supported) or MYTH (misconception)"/>
          <p:cNvSpPr txBox="1"/>
          <p:nvPr/>
        </p:nvSpPr>
        <p:spPr>
          <a:xfrm>
            <a:off x="81618" y="455155"/>
            <a:ext cx="12028765" cy="1111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 b="1"/>
              <a:t>FACT</a:t>
            </a:r>
            <a:r>
              <a:rPr sz="3667"/>
              <a:t> (research-supported) or </a:t>
            </a:r>
            <a:r>
              <a:rPr sz="3667" b="1"/>
              <a:t>MYTH</a:t>
            </a:r>
            <a:r>
              <a:rPr sz="3667"/>
              <a:t> (misconception)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5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4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4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50" grpId="0" build="p" bldLvl="5" animBg="1" advAuto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3" name="NEXT:…"/>
          <p:cNvSpPr txBox="1"/>
          <p:nvPr/>
        </p:nvSpPr>
        <p:spPr>
          <a:xfrm>
            <a:off x="81618" y="829800"/>
            <a:ext cx="12028765" cy="21271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/>
              <a:t>NEXT: </a:t>
            </a:r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/>
              <a:t>GOAL SETTING</a:t>
            </a:r>
          </a:p>
        </p:txBody>
      </p:sp>
    </p:spTree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55" name="Table 1"/>
          <p:cNvGraphicFramePr/>
          <p:nvPr/>
        </p:nvGraphicFramePr>
        <p:xfrm>
          <a:off x="2416969" y="894292"/>
          <a:ext cx="9821334" cy="5080000"/>
        </p:xfrm>
        <a:graphic>
          <a:graphicData uri="http://schemas.openxmlformats.org/drawingml/2006/table">
            <a:tbl>
              <a:tblPr bandRow="1"/>
              <a:tblGrid>
                <a:gridCol w="245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2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2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13883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800" b="1"/>
                        <a:t>WHAT WE KNOW ABOUT THIS ISSUE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800" b="1"/>
                        <a:t>WHAT WE  
WANT TO KNOW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800" b="1"/>
                        <a:t>?</a:t>
                      </a:r>
                    </a:p>
                  </a:txBody>
                  <a:tcPr marL="0" marR="0" marT="0" marB="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3883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endParaRPr sz="1500"/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endParaRPr sz="1500"/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endParaRPr sz="1500"/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3883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endParaRPr sz="1500"/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endParaRPr sz="1500"/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endParaRPr sz="1500"/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3883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endParaRPr sz="1500"/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endParaRPr sz="1500"/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endParaRPr sz="1500"/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3883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endParaRPr sz="1500"/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endParaRPr sz="1500"/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endParaRPr sz="1500"/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WHAT ABOUT YOUR GOALS FOR THE CAMP?…"/>
          <p:cNvSpPr txBox="1"/>
          <p:nvPr/>
        </p:nvSpPr>
        <p:spPr>
          <a:xfrm>
            <a:off x="81618" y="829800"/>
            <a:ext cx="12028765" cy="21271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099" rIns="38099">
            <a:spAutoFit/>
          </a:bodyPr>
          <a:lstStyle/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 b="1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/>
              <a:t>WHAT ABOUT YOUR GOALS FOR THE CAMP? </a:t>
            </a:r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endParaRPr sz="3667"/>
          </a:p>
          <a:p>
            <a:pPr algn="ctr">
              <a:lnSpc>
                <a:spcPct val="90000"/>
              </a:lnSpc>
              <a:defRPr sz="4400">
                <a:latin typeface="Aptos Display"/>
                <a:ea typeface="Aptos Display"/>
                <a:cs typeface="Aptos Display"/>
                <a:sym typeface="Aptos Display"/>
              </a:defRPr>
            </a:pPr>
            <a:r>
              <a:rPr sz="3667"/>
              <a:t>Each team write down 2 goals. 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3519</Words>
  <Application>Microsoft Macintosh PowerPoint</Application>
  <PresentationFormat>Widescreen</PresentationFormat>
  <Paragraphs>480</Paragraphs>
  <Slides>75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1" baseType="lpstr">
      <vt:lpstr>Aptos</vt:lpstr>
      <vt:lpstr>Aptos Display</vt:lpstr>
      <vt:lpstr>Arial</vt:lpstr>
      <vt:lpstr>Helvetica</vt:lpstr>
      <vt:lpstr>Times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Hussain Hadah</dc:creator>
  <cp:lastModifiedBy>Hussain Hadah</cp:lastModifiedBy>
  <cp:revision>1</cp:revision>
  <dcterms:created xsi:type="dcterms:W3CDTF">2026-06-10T21:13:38Z</dcterms:created>
  <dcterms:modified xsi:type="dcterms:W3CDTF">2026-06-10T21:14:20Z</dcterms:modified>
</cp:coreProperties>
</file>