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625" r:id="rId4"/>
    <p:sldId id="258" r:id="rId5"/>
    <p:sldId id="259" r:id="rId6"/>
    <p:sldId id="260" r:id="rId7"/>
    <p:sldId id="261" r:id="rId8"/>
    <p:sldId id="262" r:id="rId9"/>
    <p:sldId id="263" r:id="rId10"/>
    <p:sldId id="626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627" r:id="rId62"/>
    <p:sldId id="314" r:id="rId63"/>
    <p:sldId id="315" r:id="rId64"/>
    <p:sldId id="637" r:id="rId65"/>
    <p:sldId id="316" r:id="rId66"/>
    <p:sldId id="629" r:id="rId67"/>
    <p:sldId id="628" r:id="rId68"/>
    <p:sldId id="317" r:id="rId69"/>
    <p:sldId id="328" r:id="rId70"/>
    <p:sldId id="329" r:id="rId71"/>
    <p:sldId id="330" r:id="rId7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66"/>
  </p:normalViewPr>
  <p:slideViewPr>
    <p:cSldViewPr snapToGrid="0">
      <p:cViewPr varScale="1">
        <p:scale>
          <a:sx n="48" d="100"/>
          <a:sy n="48" d="100"/>
        </p:scale>
        <p:origin x="200" y="1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4F23C-FB0C-1031-891C-B294C8B37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308B4D-6975-012F-B0BF-00BD7F86B3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B5DDB2-BAFF-C4B9-E54A-024DB503D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FCB-0BF7-374B-802C-8153C73BE926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80134-7639-D16C-6362-1058EC76B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270848-B96E-800E-7329-E114045BA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40ADA-450F-2A47-A873-1C00B4BD7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023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90E36-7D56-A244-A77A-C9B4D0265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07521-51E5-03BA-A489-7C6CA64B9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43C4C-5A93-F10D-7957-73D358FFC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FCB-0BF7-374B-802C-8153C73BE926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0A835-C330-0FB7-D5DA-328F8ED51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6FE1B-6333-EFCE-9B0E-0EBE337FF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40ADA-450F-2A47-A873-1C00B4BD7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74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221A6-56B7-8E49-B638-597C28A85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013EC-E800-162E-2755-03A2AF5D5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A92D1-208D-024C-4554-4B5D0E162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FCB-0BF7-374B-802C-8153C73BE926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920E8-EB90-B6AB-B898-04B8A9B0C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5F819-1B12-562B-6E8F-126BFBF66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40ADA-450F-2A47-A873-1C00B4BD7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653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26875-D991-5D1F-CC80-045B6D215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FBD61-9C99-C6D1-3465-B40E9AE1B2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2BC66E-4992-364A-191F-A2FECFDC04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8DBC93-B605-EE11-9258-324EEE8B6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FCB-0BF7-374B-802C-8153C73BE926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FD02AC-5ED6-D271-4818-4B1A75A4A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7C46B3-F2B6-F450-D481-9E5CEC482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40ADA-450F-2A47-A873-1C00B4BD7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588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448A6-9C68-62E1-5637-9AA9F85CE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A1B9DB-1BB0-51DE-2A51-97E71406A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F91C61-F5FF-B9E9-F323-E41C55CAC4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375754-B76A-A3EA-2632-E44D1A0E41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AFC0F1-9FEA-D778-EF95-1FAF5F229C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BFA8FC-3650-BB92-5B88-8C4D9D656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FCB-0BF7-374B-802C-8153C73BE926}" type="datetimeFigureOut">
              <a:rPr lang="en-US" smtClean="0"/>
              <a:t>6/20/26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969CF7-DDBA-51DB-DD07-A39DDF6EF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A6431D-E1DB-2FCE-0AA8-A36083320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40ADA-450F-2A47-A873-1C00B4BD7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004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DC2C8-223C-AC18-C320-DFB73A8CB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AC3F26-9195-8C7A-D8B2-E1D6F9845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FCB-0BF7-374B-802C-8153C73BE926}" type="datetimeFigureOut">
              <a:rPr lang="en-US" smtClean="0"/>
              <a:t>6/20/26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85750E-C63A-4E70-7C5D-C532DFFEC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249427-38C5-9181-E0D8-760BF58C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40ADA-450F-2A47-A873-1C00B4BD7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717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45C2C-B937-C9CB-87B5-BC66E537A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FCB-0BF7-374B-802C-8153C73BE926}" type="datetimeFigureOut">
              <a:rPr lang="en-US" smtClean="0"/>
              <a:t>6/20/26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6221A9-9A6E-7F75-3435-535AE3FBC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867AB-7B44-0D2B-099A-4CAFB49A2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40ADA-450F-2A47-A873-1C00B4BD7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415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EE06F-85AE-9102-6915-B407B00B2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24E39-9AE8-231D-B63B-34AA52E1F9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782692-5A40-C24B-323A-CD83EE4651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4AB75E-B19F-4F1D-8615-7AC0A48DB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FCB-0BF7-374B-802C-8153C73BE926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0AA4E6-59B7-FA06-18DF-7AD77FD90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15E67E-6673-D5D9-8131-F738DE3A6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40ADA-450F-2A47-A873-1C00B4BD7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936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29BB8-07E7-4C15-BF6A-DC02F2699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C9B369-72BA-776E-3040-596B2F23F7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1939A2-2E07-E4D1-A1A1-BAA41CFCF4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AFE41B-32B7-8C66-DBC1-678ADB3A2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FCB-0BF7-374B-802C-8153C73BE926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C5D796-7DC2-5D22-98D6-6AE29CBF1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FF0C66-8155-7FB8-EDB2-76552768F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40ADA-450F-2A47-A873-1C00B4BD7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109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BBAEA-B9F5-CABF-1146-07B49FB42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C4431C-BDA3-F82C-5ED1-D852E6E568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86192-9A21-EA2A-62BB-696D307AB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FCB-0BF7-374B-802C-8153C73BE926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1753B-24E3-7614-BAA4-83725BD17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2D483-688B-E49D-72C9-BB2246CFC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40ADA-450F-2A47-A873-1C00B4BD7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9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5ADA0E-37D0-2801-AA1D-C648F14FEF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8A46BE-D0BF-C632-4F46-CB1BCC5D76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62DDB-1936-F74B-A1E7-0922E42BB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8EFCB-0BF7-374B-802C-8153C73BE926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A80C19-9BE9-EF19-E6BF-B896C05D9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38249-15E2-079B-D15A-5FC301316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40ADA-450F-2A47-A873-1C00B4BD7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5653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7038" y="1277"/>
            <a:ext cx="2564962" cy="586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95" name="Picture 9" descr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4788" y="6486580"/>
            <a:ext cx="3389313" cy="166688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3787"/>
            <a:ext cx="2844801" cy="36512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4717296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97BF6-2365-69D1-83E5-AB3E84F59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495A4-38C9-763D-C2F8-53563786C4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3A901-D1A2-5956-F2D3-FAD9F1DCC2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F8EFCB-0BF7-374B-802C-8153C73BE926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C346-7EB8-6378-C95D-27139AB267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70067E-4908-442C-D069-44916AD8C7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40ADA-450F-2A47-A873-1C00B4BD7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698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RESEARCH METHODS…"/>
          <p:cNvSpPr txBox="1"/>
          <p:nvPr/>
        </p:nvSpPr>
        <p:spPr>
          <a:xfrm>
            <a:off x="853752" y="1470895"/>
            <a:ext cx="10191636" cy="2580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099" rIns="38099">
            <a:spAutoFit/>
          </a:bodyPr>
          <a:lstStyle/>
          <a:p>
            <a:pPr algn="ctr">
              <a:lnSpc>
                <a:spcPct val="90000"/>
              </a:lnSpc>
              <a:defRPr sz="6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5000" dirty="0"/>
              <a:t>RESEARCH METHODS</a:t>
            </a:r>
          </a:p>
          <a:p>
            <a:pPr algn="ctr">
              <a:lnSpc>
                <a:spcPct val="90000"/>
              </a:lnSpc>
              <a:defRPr sz="6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5000" dirty="0"/>
          </a:p>
          <a:p>
            <a:pPr algn="ctr">
              <a:lnSpc>
                <a:spcPct val="90000"/>
              </a:lnSpc>
              <a:defRPr sz="6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5000" dirty="0"/>
              <a:t>DAY 1</a:t>
            </a:r>
          </a:p>
          <a:p>
            <a:pPr algn="ctr" defTabSz="380985">
              <a:defRPr sz="16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1333" dirty="0"/>
          </a:p>
          <a:p>
            <a:pPr algn="ctr" defTabSz="380985">
              <a:defRPr sz="16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1333" dirty="0"/>
          </a:p>
        </p:txBody>
      </p:sp>
      <p:sp>
        <p:nvSpPr>
          <p:cNvPr id="880" name="Rectangle"/>
          <p:cNvSpPr/>
          <p:nvPr/>
        </p:nvSpPr>
        <p:spPr>
          <a:xfrm>
            <a:off x="-62743" y="-81"/>
            <a:ext cx="9701771" cy="58674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 anchor="ctr"/>
          <a:lstStyle/>
          <a:p>
            <a:endParaRPr sz="150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WELCOME TO…"/>
          <p:cNvSpPr txBox="1"/>
          <p:nvPr/>
        </p:nvSpPr>
        <p:spPr>
          <a:xfrm>
            <a:off x="853752" y="1470895"/>
            <a:ext cx="10191636" cy="42471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099" rIns="38099">
            <a:spAutoFit/>
          </a:bodyPr>
          <a:lstStyle/>
          <a:p>
            <a:pPr algn="ctr">
              <a:lnSpc>
                <a:spcPct val="90000"/>
              </a:lnSpc>
              <a:defRPr sz="60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5000" dirty="0"/>
              <a:t>WELCOME TO </a:t>
            </a:r>
          </a:p>
          <a:p>
            <a:pPr algn="ctr">
              <a:lnSpc>
                <a:spcPct val="90000"/>
              </a:lnSpc>
              <a:defRPr sz="6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5000" dirty="0"/>
              <a:t>RESEARCH METHODS </a:t>
            </a:r>
          </a:p>
          <a:p>
            <a:pPr algn="ctr">
              <a:lnSpc>
                <a:spcPct val="90000"/>
              </a:lnSpc>
              <a:defRPr sz="60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5000" dirty="0"/>
              <a:t>by </a:t>
            </a:r>
            <a:r>
              <a:rPr sz="5000" dirty="0" err="1"/>
              <a:t>ResearchCORE</a:t>
            </a:r>
            <a:r>
              <a:rPr sz="5000" dirty="0"/>
              <a:t>! </a:t>
            </a:r>
          </a:p>
          <a:p>
            <a:pPr algn="ctr">
              <a:lnSpc>
                <a:spcPct val="90000"/>
              </a:lnSpc>
              <a:defRPr sz="60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5000" dirty="0"/>
          </a:p>
          <a:p>
            <a:pPr defTabSz="380985">
              <a:defRPr sz="16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1333" dirty="0"/>
          </a:p>
          <a:p>
            <a:pPr algn="ctr" defTabSz="380985">
              <a:defRPr sz="30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500" dirty="0"/>
              <a:t>Hands-on, fast-paced experience where you will </a:t>
            </a:r>
            <a:r>
              <a:rPr sz="2500" i="1" dirty="0"/>
              <a:t>be</a:t>
            </a:r>
            <a:r>
              <a:rPr sz="2500" dirty="0"/>
              <a:t> researchers tackling real-world problems.</a:t>
            </a:r>
          </a:p>
          <a:p>
            <a:pPr algn="ctr" defTabSz="380985">
              <a:defRPr sz="16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1333" dirty="0"/>
          </a:p>
          <a:p>
            <a:pPr algn="ctr" defTabSz="380985">
              <a:defRPr sz="16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1333" dirty="0"/>
          </a:p>
        </p:txBody>
      </p:sp>
      <p:sp>
        <p:nvSpPr>
          <p:cNvPr id="883" name="Rectangle"/>
          <p:cNvSpPr/>
          <p:nvPr/>
        </p:nvSpPr>
        <p:spPr>
          <a:xfrm>
            <a:off x="-62743" y="-81"/>
            <a:ext cx="9701771" cy="58674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 anchor="ctr"/>
          <a:lstStyle/>
          <a:p>
            <a:endParaRPr sz="1500"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E98223-C421-8C25-9BA6-D26124BAA787}"/>
              </a:ext>
            </a:extLst>
          </p:cNvPr>
          <p:cNvSpPr txBox="1"/>
          <p:nvPr/>
        </p:nvSpPr>
        <p:spPr>
          <a:xfrm>
            <a:off x="166742" y="185563"/>
            <a:ext cx="2048178" cy="4872422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 dirty="0">
                <a:highlight>
                  <a:srgbClr val="FFFF00"/>
                </a:highlight>
              </a:rPr>
              <a:t>NEED a NEW SLIDE with photos or videos from previous </a:t>
            </a:r>
            <a:r>
              <a:rPr lang="en-US" sz="2833" b="1">
                <a:highlight>
                  <a:srgbClr val="FFFF00"/>
                </a:highlight>
              </a:rPr>
              <a:t>cohorts.</a:t>
            </a:r>
          </a:p>
          <a:p>
            <a:pPr algn="ctr"/>
            <a:endParaRPr lang="en-US" sz="2833" b="1" dirty="0">
              <a:highlight>
                <a:srgbClr val="FFFF00"/>
              </a:highlight>
            </a:endParaRPr>
          </a:p>
          <a:p>
            <a:pPr algn="ctr"/>
            <a:r>
              <a:rPr lang="en-US" sz="2833" b="1" dirty="0">
                <a:highlight>
                  <a:srgbClr val="FFFF00"/>
                </a:highlight>
              </a:rPr>
              <a:t>Introducing RISEI Lab </a:t>
            </a:r>
            <a:r>
              <a:rPr lang="en-US" sz="2833" b="1">
                <a:highlight>
                  <a:srgbClr val="FFFF00"/>
                </a:highlight>
              </a:rPr>
              <a:t>and CTD.</a:t>
            </a:r>
            <a:endParaRPr lang="en-US" sz="2833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4521549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Text 0"/>
          <p:cNvSpPr txBox="1"/>
          <p:nvPr/>
        </p:nvSpPr>
        <p:spPr>
          <a:xfrm>
            <a:off x="6667282" y="1425311"/>
            <a:ext cx="3191579" cy="1429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r">
              <a:lnSpc>
                <a:spcPts val="3833"/>
              </a:lnSpc>
              <a:defRPr sz="37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083"/>
              <a:t>Journey Ahead: </a:t>
            </a:r>
          </a:p>
          <a:p>
            <a:pPr algn="r">
              <a:lnSpc>
                <a:spcPts val="3833"/>
              </a:lnSpc>
              <a:defRPr sz="37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083"/>
              <a:t>Your Very Own </a:t>
            </a:r>
          </a:p>
          <a:p>
            <a:pPr algn="r">
              <a:lnSpc>
                <a:spcPts val="3833"/>
              </a:lnSpc>
              <a:defRPr sz="37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083"/>
              <a:t>Research Process</a:t>
            </a:r>
          </a:p>
        </p:txBody>
      </p:sp>
      <p:pic>
        <p:nvPicPr>
          <p:cNvPr id="886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839" y="1677194"/>
            <a:ext cx="791170" cy="949426"/>
          </a:xfrm>
          <a:prstGeom prst="rect">
            <a:avLst/>
          </a:prstGeom>
          <a:ln w="12700">
            <a:miter lim="400000"/>
          </a:ln>
        </p:spPr>
      </p:pic>
      <p:sp>
        <p:nvSpPr>
          <p:cNvPr id="887" name="Text 2"/>
          <p:cNvSpPr txBox="1"/>
          <p:nvPr/>
        </p:nvSpPr>
        <p:spPr>
          <a:xfrm>
            <a:off x="1576945" y="2032633"/>
            <a:ext cx="1553310" cy="271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1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750"/>
              <a:t>Ask a Question</a:t>
            </a:r>
          </a:p>
        </p:txBody>
      </p:sp>
      <p:pic>
        <p:nvPicPr>
          <p:cNvPr id="888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839" y="2626618"/>
            <a:ext cx="791170" cy="949425"/>
          </a:xfrm>
          <a:prstGeom prst="rect">
            <a:avLst/>
          </a:prstGeom>
          <a:ln w="12700">
            <a:miter lim="400000"/>
          </a:ln>
        </p:spPr>
      </p:pic>
      <p:sp>
        <p:nvSpPr>
          <p:cNvPr id="889" name="Text 4"/>
          <p:cNvSpPr txBox="1"/>
          <p:nvPr/>
        </p:nvSpPr>
        <p:spPr>
          <a:xfrm>
            <a:off x="1555970" y="2883415"/>
            <a:ext cx="2034211" cy="271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1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750"/>
              <a:t>Gather Information</a:t>
            </a:r>
          </a:p>
        </p:txBody>
      </p:sp>
      <p:pic>
        <p:nvPicPr>
          <p:cNvPr id="890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839" y="3576042"/>
            <a:ext cx="791170" cy="949425"/>
          </a:xfrm>
          <a:prstGeom prst="rect">
            <a:avLst/>
          </a:prstGeom>
          <a:ln w="12700">
            <a:miter lim="400000"/>
          </a:ln>
        </p:spPr>
      </p:pic>
      <p:sp>
        <p:nvSpPr>
          <p:cNvPr id="891" name="Text 6"/>
          <p:cNvSpPr txBox="1"/>
          <p:nvPr/>
        </p:nvSpPr>
        <p:spPr>
          <a:xfrm>
            <a:off x="1582573" y="3931482"/>
            <a:ext cx="2511906" cy="271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1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750"/>
              <a:t>Analyze the Information</a:t>
            </a:r>
          </a:p>
        </p:txBody>
      </p:sp>
      <p:pic>
        <p:nvPicPr>
          <p:cNvPr id="892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839" y="4525466"/>
            <a:ext cx="791170" cy="949426"/>
          </a:xfrm>
          <a:prstGeom prst="rect">
            <a:avLst/>
          </a:prstGeom>
          <a:ln w="12700">
            <a:miter lim="400000"/>
          </a:ln>
        </p:spPr>
      </p:pic>
      <p:sp>
        <p:nvSpPr>
          <p:cNvPr id="893" name="Text 8"/>
          <p:cNvSpPr txBox="1"/>
          <p:nvPr/>
        </p:nvSpPr>
        <p:spPr>
          <a:xfrm>
            <a:off x="1582340" y="4782263"/>
            <a:ext cx="1909177" cy="271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1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750"/>
              <a:t>Draw Conclusions</a:t>
            </a:r>
          </a:p>
        </p:txBody>
      </p:sp>
      <p:pic>
        <p:nvPicPr>
          <p:cNvPr id="894" name="Image 4" descr="Imag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839" y="5474890"/>
            <a:ext cx="791170" cy="949425"/>
          </a:xfrm>
          <a:prstGeom prst="rect">
            <a:avLst/>
          </a:prstGeom>
          <a:ln w="12700">
            <a:miter lim="400000"/>
          </a:ln>
        </p:spPr>
      </p:pic>
      <p:sp>
        <p:nvSpPr>
          <p:cNvPr id="895" name="Text 10"/>
          <p:cNvSpPr txBox="1"/>
          <p:nvPr/>
        </p:nvSpPr>
        <p:spPr>
          <a:xfrm>
            <a:off x="1582340" y="5750790"/>
            <a:ext cx="1567737" cy="271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1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750"/>
              <a:t>Share Findings</a:t>
            </a:r>
          </a:p>
        </p:txBody>
      </p:sp>
      <p:sp>
        <p:nvSpPr>
          <p:cNvPr id="896" name="Text 11"/>
          <p:cNvSpPr txBox="1"/>
          <p:nvPr/>
        </p:nvSpPr>
        <p:spPr>
          <a:xfrm>
            <a:off x="3206264" y="5752007"/>
            <a:ext cx="6818918" cy="269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-      The final deliverables: A formal presentation by Day 10 and a research proposal by Day 9</a:t>
            </a:r>
          </a:p>
        </p:txBody>
      </p:sp>
      <p:sp>
        <p:nvSpPr>
          <p:cNvPr id="897" name="Text 2"/>
          <p:cNvSpPr txBox="1"/>
          <p:nvPr/>
        </p:nvSpPr>
        <p:spPr>
          <a:xfrm>
            <a:off x="1582340" y="1083209"/>
            <a:ext cx="2455800" cy="271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1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750" dirty="0"/>
              <a:t>Pick a Global Challenge</a:t>
            </a:r>
          </a:p>
        </p:txBody>
      </p:sp>
      <p:pic>
        <p:nvPicPr>
          <p:cNvPr id="898" name="Image 1" descr="Imag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222" y="692250"/>
            <a:ext cx="850405" cy="102046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0"/>
          <p:cNvSpPr txBox="1"/>
          <p:nvPr/>
        </p:nvSpPr>
        <p:spPr>
          <a:xfrm>
            <a:off x="661492" y="1422995"/>
            <a:ext cx="3044103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Our approach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B875CD5-E2A7-BF79-A362-3A85FF8CB28F}"/>
              </a:ext>
            </a:extLst>
          </p:cNvPr>
          <p:cNvGrpSpPr/>
          <p:nvPr/>
        </p:nvGrpSpPr>
        <p:grpSpPr>
          <a:xfrm>
            <a:off x="2883477" y="2391668"/>
            <a:ext cx="6625421" cy="3043238"/>
            <a:chOff x="3460172" y="2870001"/>
            <a:chExt cx="7950506" cy="3651886"/>
          </a:xfrm>
        </p:grpSpPr>
        <p:pic>
          <p:nvPicPr>
            <p:cNvPr id="902" name="Image 0" descr="Image 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89257" y="2870001"/>
              <a:ext cx="3651886" cy="3651886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903" name="Shape 3"/>
            <p:cNvSpPr/>
            <p:nvPr/>
          </p:nvSpPr>
          <p:spPr>
            <a:xfrm>
              <a:off x="5788938" y="3169681"/>
              <a:ext cx="566977" cy="566977"/>
            </a:xfrm>
            <a:prstGeom prst="roundRect">
              <a:avLst>
                <a:gd name="adj" fmla="val 50000"/>
              </a:avLst>
            </a:prstGeom>
            <a:solidFill>
              <a:srgbClr val="CCEDFF"/>
            </a:solidFill>
            <a:ln w="7620">
              <a:solidFill>
                <a:srgbClr val="B2D3E5"/>
              </a:solidFill>
            </a:ln>
          </p:spPr>
          <p:txBody>
            <a:bodyPr lIns="38099" rIns="38099"/>
            <a:lstStyle/>
            <a:p>
              <a:endParaRPr sz="1500"/>
            </a:p>
          </p:txBody>
        </p:sp>
        <p:pic>
          <p:nvPicPr>
            <p:cNvPr id="904" name="Image 1" descr="Image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44791" y="3293626"/>
              <a:ext cx="255152" cy="318969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906" name="Image 2" descr="Image 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89257" y="2870001"/>
              <a:ext cx="3651886" cy="3651886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907" name="Shape 6"/>
            <p:cNvSpPr/>
            <p:nvPr/>
          </p:nvSpPr>
          <p:spPr>
            <a:xfrm>
              <a:off x="8274367" y="3169681"/>
              <a:ext cx="566977" cy="566977"/>
            </a:xfrm>
            <a:prstGeom prst="roundRect">
              <a:avLst>
                <a:gd name="adj" fmla="val 50000"/>
              </a:avLst>
            </a:prstGeom>
            <a:solidFill>
              <a:srgbClr val="CCEDFF"/>
            </a:solidFill>
            <a:ln w="7620">
              <a:solidFill>
                <a:srgbClr val="B2D3E5"/>
              </a:solidFill>
            </a:ln>
          </p:spPr>
          <p:txBody>
            <a:bodyPr lIns="38099" rIns="38099"/>
            <a:lstStyle/>
            <a:p>
              <a:endParaRPr sz="1500"/>
            </a:p>
          </p:txBody>
        </p:sp>
        <p:pic>
          <p:nvPicPr>
            <p:cNvPr id="908" name="Image 3" descr="Image 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430220" y="3293626"/>
              <a:ext cx="255152" cy="318969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910" name="Image 4" descr="Image 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489257" y="2870001"/>
              <a:ext cx="3651886" cy="3651886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911" name="Shape 9"/>
            <p:cNvSpPr/>
            <p:nvPr/>
          </p:nvSpPr>
          <p:spPr>
            <a:xfrm>
              <a:off x="8274367" y="5655112"/>
              <a:ext cx="566977" cy="566977"/>
            </a:xfrm>
            <a:prstGeom prst="roundRect">
              <a:avLst>
                <a:gd name="adj" fmla="val 50000"/>
              </a:avLst>
            </a:prstGeom>
            <a:solidFill>
              <a:srgbClr val="CCEDFF"/>
            </a:solidFill>
            <a:ln w="7620">
              <a:solidFill>
                <a:srgbClr val="B2D3E5"/>
              </a:solidFill>
            </a:ln>
          </p:spPr>
          <p:txBody>
            <a:bodyPr lIns="38099" rIns="38099"/>
            <a:lstStyle/>
            <a:p>
              <a:endParaRPr sz="1500"/>
            </a:p>
          </p:txBody>
        </p:sp>
        <p:pic>
          <p:nvPicPr>
            <p:cNvPr id="912" name="Image 5" descr="Image 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430220" y="5779056"/>
              <a:ext cx="255152" cy="318969"/>
            </a:xfrm>
            <a:prstGeom prst="rect">
              <a:avLst/>
            </a:prstGeom>
            <a:ln w="12700">
              <a:miter lim="400000"/>
            </a:ln>
          </p:spPr>
        </p:pic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81E391C3-CA72-2B0C-9189-9E46D3726AA3}"/>
                </a:ext>
              </a:extLst>
            </p:cNvPr>
            <p:cNvGrpSpPr/>
            <p:nvPr/>
          </p:nvGrpSpPr>
          <p:grpSpPr>
            <a:xfrm>
              <a:off x="3460172" y="2870001"/>
              <a:ext cx="7950506" cy="3651886"/>
              <a:chOff x="3460172" y="2870001"/>
              <a:chExt cx="7950506" cy="3651886"/>
            </a:xfrm>
          </p:grpSpPr>
          <p:sp>
            <p:nvSpPr>
              <p:cNvPr id="901" name="Text 1"/>
              <p:cNvSpPr txBox="1"/>
              <p:nvPr/>
            </p:nvSpPr>
            <p:spPr>
              <a:xfrm>
                <a:off x="3935303" y="3089791"/>
                <a:ext cx="1213794" cy="37533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r">
                  <a:lnSpc>
                    <a:spcPts val="2700"/>
                  </a:lnSpc>
                  <a:defRPr sz="2200" b="1">
                    <a:latin typeface="Playfair Display Bold"/>
                    <a:ea typeface="Playfair Display Bold"/>
                    <a:cs typeface="Playfair Display Bold"/>
                    <a:sym typeface="Playfair Display Bold"/>
                  </a:defRPr>
                </a:lvl1pPr>
              </a:lstStyle>
              <a:p>
                <a:r>
                  <a:rPr sz="1833" dirty="0"/>
                  <a:t>Curiosity</a:t>
                </a:r>
              </a:p>
            </p:txBody>
          </p:sp>
          <p:sp>
            <p:nvSpPr>
              <p:cNvPr id="905" name="Text 4"/>
              <p:cNvSpPr txBox="1"/>
              <p:nvPr/>
            </p:nvSpPr>
            <p:spPr>
              <a:xfrm>
                <a:off x="9481304" y="3089791"/>
                <a:ext cx="511679" cy="37533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lnSpc>
                    <a:spcPts val="2700"/>
                  </a:lnSpc>
                  <a:defRPr sz="2200" b="1">
                    <a:latin typeface="Playfair Display Bold"/>
                    <a:ea typeface="Playfair Display Bold"/>
                    <a:cs typeface="Playfair Display Bold"/>
                    <a:sym typeface="Playfair Display Bold"/>
                  </a:defRPr>
                </a:lvl1pPr>
              </a:lstStyle>
              <a:p>
                <a:r>
                  <a:rPr sz="1833"/>
                  <a:t>Fun</a:t>
                </a:r>
              </a:p>
            </p:txBody>
          </p:sp>
          <p:sp>
            <p:nvSpPr>
              <p:cNvPr id="909" name="Text 7"/>
              <p:cNvSpPr txBox="1"/>
              <p:nvPr/>
            </p:nvSpPr>
            <p:spPr>
              <a:xfrm>
                <a:off x="9481304" y="5085754"/>
                <a:ext cx="1929374" cy="37533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lnSpc>
                    <a:spcPts val="2700"/>
                  </a:lnSpc>
                  <a:defRPr sz="2200" b="1">
                    <a:latin typeface="Playfair Display Bold"/>
                    <a:ea typeface="Playfair Display Bold"/>
                    <a:cs typeface="Playfair Display Bold"/>
                    <a:sym typeface="Playfair Display Bold"/>
                  </a:defRPr>
                </a:lvl1pPr>
              </a:lstStyle>
              <a:p>
                <a:r>
                  <a:rPr sz="1833"/>
                  <a:t>Empowerment</a:t>
                </a:r>
              </a:p>
            </p:txBody>
          </p:sp>
          <p:sp>
            <p:nvSpPr>
              <p:cNvPr id="913" name="Text 10"/>
              <p:cNvSpPr txBox="1"/>
              <p:nvPr/>
            </p:nvSpPr>
            <p:spPr>
              <a:xfrm>
                <a:off x="3460172" y="5085754"/>
                <a:ext cx="1688924" cy="37533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r">
                  <a:lnSpc>
                    <a:spcPts val="2700"/>
                  </a:lnSpc>
                  <a:defRPr sz="2200" b="1">
                    <a:latin typeface="Playfair Display Bold"/>
                    <a:ea typeface="Playfair Display Bold"/>
                    <a:cs typeface="Playfair Display Bold"/>
                    <a:sym typeface="Playfair Display Bold"/>
                  </a:defRPr>
                </a:lvl1pPr>
              </a:lstStyle>
              <a:p>
                <a:r>
                  <a:rPr sz="1833"/>
                  <a:t>Engagement </a:t>
                </a:r>
              </a:p>
            </p:txBody>
          </p:sp>
          <p:pic>
            <p:nvPicPr>
              <p:cNvPr id="914" name="Image 6" descr="Image 6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489257" y="2870001"/>
                <a:ext cx="3651886" cy="3651886"/>
              </a:xfrm>
              <a:prstGeom prst="rect">
                <a:avLst/>
              </a:prstGeom>
              <a:ln w="12700">
                <a:miter lim="400000"/>
              </a:ln>
            </p:spPr>
          </p:pic>
        </p:grpSp>
        <p:sp>
          <p:nvSpPr>
            <p:cNvPr id="915" name="Shape 12"/>
            <p:cNvSpPr/>
            <p:nvPr/>
          </p:nvSpPr>
          <p:spPr>
            <a:xfrm>
              <a:off x="5788938" y="5655112"/>
              <a:ext cx="566977" cy="566977"/>
            </a:xfrm>
            <a:prstGeom prst="roundRect">
              <a:avLst>
                <a:gd name="adj" fmla="val 50000"/>
              </a:avLst>
            </a:prstGeom>
            <a:solidFill>
              <a:srgbClr val="CCEDFF"/>
            </a:solidFill>
            <a:ln w="7620">
              <a:solidFill>
                <a:srgbClr val="B2D3E5"/>
              </a:solidFill>
            </a:ln>
          </p:spPr>
          <p:txBody>
            <a:bodyPr lIns="38099" rIns="38099"/>
            <a:lstStyle/>
            <a:p>
              <a:endParaRPr sz="1500"/>
            </a:p>
          </p:txBody>
        </p:sp>
        <p:pic>
          <p:nvPicPr>
            <p:cNvPr id="916" name="Image 7" descr="Image 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944791" y="5779056"/>
              <a:ext cx="255152" cy="318969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917" name="Rectangle"/>
          <p:cNvSpPr/>
          <p:nvPr/>
        </p:nvSpPr>
        <p:spPr>
          <a:xfrm>
            <a:off x="-62743" y="-81"/>
            <a:ext cx="9701771" cy="58674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 anchor="ctr"/>
          <a:lstStyle/>
          <a:p>
            <a:endParaRPr sz="1500"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Text 0"/>
          <p:cNvSpPr txBox="1"/>
          <p:nvPr/>
        </p:nvSpPr>
        <p:spPr>
          <a:xfrm>
            <a:off x="4727429" y="1071856"/>
            <a:ext cx="7182763" cy="33855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3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750" dirty="0"/>
              <a:t>Not only to learn how to conduct research,</a:t>
            </a:r>
          </a:p>
          <a:p>
            <a:pPr>
              <a:defRPr sz="3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750" dirty="0"/>
              <a:t>but to learn how to think like a researcher to</a:t>
            </a:r>
          </a:p>
          <a:p>
            <a:pPr marL="367616" indent="-367616">
              <a:buSzPct val="100000"/>
              <a:buChar char="-"/>
              <a:defRPr sz="33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750" dirty="0"/>
              <a:t>Solve problems</a:t>
            </a:r>
          </a:p>
          <a:p>
            <a:pPr marL="367616" indent="-367616">
              <a:buSzPct val="100000"/>
              <a:buChar char="-"/>
              <a:defRPr sz="33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750" dirty="0"/>
              <a:t>Challenge assumptions</a:t>
            </a:r>
          </a:p>
          <a:p>
            <a:pPr marL="367616" indent="-367616">
              <a:buSzPct val="100000"/>
              <a:buChar char="-"/>
              <a:defRPr sz="33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750" dirty="0"/>
              <a:t>Make smart decisions</a:t>
            </a:r>
          </a:p>
          <a:p>
            <a:pPr>
              <a:defRPr sz="33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2750" dirty="0"/>
          </a:p>
          <a:p>
            <a:pPr>
              <a:defRPr sz="33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750" dirty="0"/>
              <a:t>As you understand how the world works, you can change it for better! </a:t>
            </a:r>
          </a:p>
        </p:txBody>
      </p:sp>
      <p:pic>
        <p:nvPicPr>
          <p:cNvPr id="920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222" y="118241"/>
            <a:ext cx="4414346" cy="662151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Let’s Start with a Game…"/>
          <p:cNvSpPr txBox="1"/>
          <p:nvPr/>
        </p:nvSpPr>
        <p:spPr>
          <a:xfrm>
            <a:off x="853752" y="1470894"/>
            <a:ext cx="10191636" cy="31057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099" rIns="38099">
            <a:spAutoFit/>
          </a:bodyPr>
          <a:lstStyle/>
          <a:p>
            <a:pPr algn="ctr">
              <a:lnSpc>
                <a:spcPct val="90000"/>
              </a:lnSpc>
              <a:defRPr sz="60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5000"/>
              <a:t>Let’s Start with a Game </a:t>
            </a:r>
          </a:p>
          <a:p>
            <a:pPr algn="ctr">
              <a:lnSpc>
                <a:spcPct val="90000"/>
              </a:lnSpc>
              <a:defRPr sz="60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5000"/>
          </a:p>
          <a:p>
            <a:pPr defTabSz="380985">
              <a:defRPr sz="16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1333"/>
          </a:p>
          <a:p>
            <a:pPr algn="ctr" defTabSz="380985">
              <a:defRPr sz="7900" b="1">
                <a:solidFill>
                  <a:srgbClr val="011993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6583"/>
              <a:t>BINGO TIME! </a:t>
            </a:r>
          </a:p>
          <a:p>
            <a:pPr algn="ctr" defTabSz="380985">
              <a:defRPr sz="16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1333"/>
          </a:p>
          <a:p>
            <a:pPr algn="ctr" defTabSz="380985">
              <a:defRPr sz="16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1333"/>
          </a:p>
        </p:txBody>
      </p:sp>
      <p:sp>
        <p:nvSpPr>
          <p:cNvPr id="923" name="Rectangle"/>
          <p:cNvSpPr/>
          <p:nvPr/>
        </p:nvSpPr>
        <p:spPr>
          <a:xfrm>
            <a:off x="-62743" y="-81"/>
            <a:ext cx="9701771" cy="58674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 anchor="ctr"/>
          <a:lstStyle/>
          <a:p>
            <a:endParaRPr sz="15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26CAB5-C73D-F9BA-2EB3-E1E92E0787D0}"/>
              </a:ext>
            </a:extLst>
          </p:cNvPr>
          <p:cNvSpPr txBox="1"/>
          <p:nvPr/>
        </p:nvSpPr>
        <p:spPr>
          <a:xfrm>
            <a:off x="166742" y="185563"/>
            <a:ext cx="2048178" cy="2256706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>
                <a:highlight>
                  <a:srgbClr val="FFFF00"/>
                </a:highlight>
              </a:rPr>
              <a:t>GAME WOULD BE DIFFERENT FOR EVANSTON</a:t>
            </a:r>
            <a:endParaRPr lang="en-US" sz="2833" b="1">
              <a:solidFill>
                <a:srgbClr val="000000"/>
              </a:solidFill>
              <a:highlight>
                <a:srgbClr val="FFFF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3C115A-DE2F-8EAE-3F94-06CE95642EF0}"/>
              </a:ext>
            </a:extLst>
          </p:cNvPr>
          <p:cNvSpPr txBox="1"/>
          <p:nvPr/>
        </p:nvSpPr>
        <p:spPr>
          <a:xfrm>
            <a:off x="1191640" y="2875214"/>
            <a:ext cx="9080903" cy="1744002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 dirty="0">
                <a:highlight>
                  <a:srgbClr val="FFFF00"/>
                </a:highlight>
              </a:rPr>
              <a:t>Curriculum </a:t>
            </a:r>
            <a:r>
              <a:rPr lang="en-US" sz="2833" b="1">
                <a:highlight>
                  <a:srgbClr val="FFFF00"/>
                </a:highlight>
              </a:rPr>
              <a:t>suggests Myth or Finding Game</a:t>
            </a:r>
            <a:endParaRPr lang="en-US" sz="1500"/>
          </a:p>
          <a:p>
            <a:pPr algn="ctr"/>
            <a:r>
              <a:rPr lang="en-US" sz="2000">
                <a:highlight>
                  <a:srgbClr val="FFFF00"/>
                </a:highlight>
                <a:ea typeface="+mn-lt"/>
                <a:cs typeface="+mn-lt"/>
              </a:rPr>
              <a:t>Instructor reads 8 statements (some myths, some real findings) — students vote and then discuss. Examples: 'We only use 10% of our brains'; 'Left-brained vs. right-brained personalities are real'; 'Sugar causes hyperactivity in children.' Each connects to a real published study.</a:t>
            </a:r>
            <a:endParaRPr lang="en-US" sz="2000"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Let’s Start with a Game…"/>
          <p:cNvSpPr txBox="1"/>
          <p:nvPr/>
        </p:nvSpPr>
        <p:spPr>
          <a:xfrm>
            <a:off x="853752" y="1470895"/>
            <a:ext cx="10191636" cy="37467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099" rIns="38099">
            <a:spAutoFit/>
          </a:bodyPr>
          <a:lstStyle/>
          <a:p>
            <a:pPr algn="ctr">
              <a:lnSpc>
                <a:spcPct val="90000"/>
              </a:lnSpc>
              <a:defRPr sz="60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5000"/>
              <a:t>Let’s Start with a Game </a:t>
            </a:r>
          </a:p>
          <a:p>
            <a:pPr algn="ctr">
              <a:lnSpc>
                <a:spcPct val="90000"/>
              </a:lnSpc>
              <a:defRPr sz="60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5000"/>
          </a:p>
          <a:p>
            <a:pPr defTabSz="380985">
              <a:defRPr sz="16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1333"/>
          </a:p>
          <a:p>
            <a:pPr algn="ctr" defTabSz="380985">
              <a:defRPr sz="7900" b="1">
                <a:solidFill>
                  <a:srgbClr val="011993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6583"/>
              <a:t>BINGO TIME! </a:t>
            </a:r>
          </a:p>
          <a:p>
            <a:pPr algn="ctr" defTabSz="380985">
              <a:defRPr sz="16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1333"/>
          </a:p>
          <a:p>
            <a:pPr algn="ctr" defTabSz="380985">
              <a:defRPr sz="16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1333"/>
          </a:p>
          <a:p>
            <a:pPr algn="ctr" defTabSz="380985">
              <a:defRPr sz="25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83"/>
              <a:t>Walk around and find people who check the boxes on the bingo card. </a:t>
            </a:r>
          </a:p>
          <a:p>
            <a:pPr algn="ctr" defTabSz="380985">
              <a:defRPr sz="25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83"/>
              <a:t>Let us know once you check all the boxes in a line. </a:t>
            </a:r>
          </a:p>
        </p:txBody>
      </p:sp>
      <p:sp>
        <p:nvSpPr>
          <p:cNvPr id="926" name="Rectangle"/>
          <p:cNvSpPr/>
          <p:nvPr/>
        </p:nvSpPr>
        <p:spPr>
          <a:xfrm>
            <a:off x="-62743" y="-81"/>
            <a:ext cx="9701771" cy="58674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 anchor="ctr"/>
          <a:lstStyle/>
          <a:p>
            <a:endParaRPr sz="15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2C15D8-2AA0-36B7-66DF-316EADDA6ADF}"/>
              </a:ext>
            </a:extLst>
          </p:cNvPr>
          <p:cNvSpPr txBox="1"/>
          <p:nvPr/>
        </p:nvSpPr>
        <p:spPr>
          <a:xfrm>
            <a:off x="166742" y="185563"/>
            <a:ext cx="2048178" cy="512895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>
                <a:highlight>
                  <a:srgbClr val="FFFF00"/>
                </a:highlight>
              </a:rPr>
              <a:t>Out​</a:t>
            </a:r>
            <a:endParaRPr lang="en-US" sz="2833" b="1">
              <a:solidFill>
                <a:srgbClr val="000000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8" name="Table 5"/>
          <p:cNvGraphicFramePr/>
          <p:nvPr/>
        </p:nvGraphicFramePr>
        <p:xfrm>
          <a:off x="1056686" y="1515419"/>
          <a:ext cx="10225515" cy="4344823"/>
        </p:xfrm>
        <a:graphic>
          <a:graphicData uri="http://schemas.openxmlformats.org/drawingml/2006/table">
            <a:tbl>
              <a:tblPr bandRow="1"/>
              <a:tblGrid>
                <a:gridCol w="2008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95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54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24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96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1370">
                <a:tc>
                  <a:txBody>
                    <a:bodyPr/>
                    <a:lstStyle/>
                    <a:p>
                      <a:pPr algn="ctr" defTabSz="457200">
                        <a:defRPr sz="2100">
                          <a:uFill>
                            <a:solidFill>
                              <a:srgbClr val="000000"/>
                            </a:solidFill>
                          </a:uFill>
                          <a:latin typeface="Bubblegum Sans"/>
                          <a:ea typeface="Bubblegum Sans"/>
                          <a:cs typeface="Bubblegum Sans"/>
                          <a:sym typeface="Bubblegum Sans"/>
                        </a:defRPr>
                      </a:pPr>
                      <a:r>
                        <a:rPr sz="1800" b="1" dirty="0"/>
                        <a:t>B</a:t>
                      </a:r>
                    </a:p>
                  </a:txBody>
                  <a:tcPr marL="42333" marR="42333" marT="42333" marB="42333" horzOverflow="overflow">
                    <a:lnL w="38100">
                      <a:solidFill>
                        <a:srgbClr val="FFFFFF"/>
                      </a:solidFill>
                      <a:miter lim="400000"/>
                    </a:lnL>
                    <a:lnR w="12700">
                      <a:solidFill>
                        <a:srgbClr val="3D85C6"/>
                      </a:solidFill>
                      <a:miter lim="400000"/>
                    </a:lnR>
                    <a:lnT w="38100">
                      <a:solidFill>
                        <a:srgbClr val="FFFFFF"/>
                      </a:solidFill>
                      <a:miter lim="400000"/>
                    </a:lnT>
                    <a:lnB w="12700">
                      <a:solidFill>
                        <a:srgbClr val="3D85C6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2100">
                          <a:uFill>
                            <a:solidFill>
                              <a:srgbClr val="000000"/>
                            </a:solidFill>
                          </a:uFill>
                          <a:latin typeface="Bubblegum Sans"/>
                          <a:ea typeface="Bubblegum Sans"/>
                          <a:cs typeface="Bubblegum Sans"/>
                          <a:sym typeface="Bubblegum Sans"/>
                        </a:defRPr>
                      </a:pPr>
                      <a:r>
                        <a:rPr sz="1800" b="1"/>
                        <a:t>I</a:t>
                      </a:r>
                    </a:p>
                  </a:txBody>
                  <a:tcPr marL="42333" marR="42333" marT="42333" marB="42333" horzOverflow="overflow">
                    <a:lnL w="12700">
                      <a:solidFill>
                        <a:srgbClr val="3D85C6"/>
                      </a:solidFill>
                      <a:miter lim="400000"/>
                    </a:lnL>
                    <a:lnR w="12700">
                      <a:solidFill>
                        <a:srgbClr val="3D85C6"/>
                      </a:solidFill>
                      <a:miter lim="400000"/>
                    </a:lnR>
                    <a:lnT w="38100">
                      <a:solidFill>
                        <a:srgbClr val="FFFFFF"/>
                      </a:solidFill>
                      <a:miter lim="400000"/>
                    </a:lnT>
                    <a:lnB w="12700">
                      <a:solidFill>
                        <a:srgbClr val="3D85C6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2100">
                          <a:uFill>
                            <a:solidFill>
                              <a:srgbClr val="000000"/>
                            </a:solidFill>
                          </a:uFill>
                          <a:latin typeface="Bubblegum Sans"/>
                          <a:ea typeface="Bubblegum Sans"/>
                          <a:cs typeface="Bubblegum Sans"/>
                          <a:sym typeface="Bubblegum Sans"/>
                        </a:defRPr>
                      </a:pPr>
                      <a:r>
                        <a:rPr sz="1800" b="1"/>
                        <a:t>N</a:t>
                      </a:r>
                    </a:p>
                  </a:txBody>
                  <a:tcPr marL="42333" marR="42333" marT="42333" marB="42333" horzOverflow="overflow">
                    <a:lnL w="12700">
                      <a:solidFill>
                        <a:srgbClr val="3D85C6"/>
                      </a:solidFill>
                      <a:miter lim="400000"/>
                    </a:lnL>
                    <a:lnR w="12700">
                      <a:solidFill>
                        <a:srgbClr val="3D85C6"/>
                      </a:solidFill>
                      <a:miter lim="400000"/>
                    </a:lnR>
                    <a:lnT w="38100">
                      <a:solidFill>
                        <a:srgbClr val="FFFFFF"/>
                      </a:solidFill>
                      <a:miter lim="400000"/>
                    </a:lnT>
                    <a:lnB w="12700">
                      <a:solidFill>
                        <a:srgbClr val="3D85C6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2100">
                          <a:uFill>
                            <a:solidFill>
                              <a:srgbClr val="000000"/>
                            </a:solidFill>
                          </a:uFill>
                          <a:latin typeface="Bubblegum Sans"/>
                          <a:ea typeface="Bubblegum Sans"/>
                          <a:cs typeface="Bubblegum Sans"/>
                          <a:sym typeface="Bubblegum Sans"/>
                        </a:defRPr>
                      </a:pPr>
                      <a:r>
                        <a:rPr sz="1800" b="1"/>
                        <a:t>G</a:t>
                      </a:r>
                    </a:p>
                  </a:txBody>
                  <a:tcPr marL="42333" marR="42333" marT="42333" marB="42333" horzOverflow="overflow">
                    <a:lnL w="12700">
                      <a:solidFill>
                        <a:srgbClr val="3D85C6"/>
                      </a:solidFill>
                      <a:miter lim="400000"/>
                    </a:lnL>
                    <a:lnR w="12700">
                      <a:solidFill>
                        <a:srgbClr val="3D85C6"/>
                      </a:solidFill>
                      <a:miter lim="400000"/>
                    </a:lnR>
                    <a:lnT w="38100">
                      <a:solidFill>
                        <a:srgbClr val="FFFFFF"/>
                      </a:solidFill>
                      <a:miter lim="400000"/>
                    </a:lnT>
                    <a:lnB w="12700">
                      <a:solidFill>
                        <a:srgbClr val="3D85C6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2100">
                          <a:uFill>
                            <a:solidFill>
                              <a:srgbClr val="000000"/>
                            </a:solidFill>
                          </a:uFill>
                          <a:latin typeface="Bubblegum Sans"/>
                          <a:ea typeface="Bubblegum Sans"/>
                          <a:cs typeface="Bubblegum Sans"/>
                          <a:sym typeface="Bubblegum Sans"/>
                        </a:defRPr>
                      </a:pPr>
                      <a:r>
                        <a:rPr sz="1800" b="1"/>
                        <a:t>O</a:t>
                      </a:r>
                    </a:p>
                  </a:txBody>
                  <a:tcPr marL="42333" marR="42333" marT="42333" marB="42333" horzOverflow="overflow">
                    <a:lnL w="12700">
                      <a:solidFill>
                        <a:srgbClr val="3D85C6"/>
                      </a:solidFill>
                      <a:miter lim="400000"/>
                    </a:lnL>
                    <a:lnR w="38100">
                      <a:solidFill>
                        <a:srgbClr val="FFFFFF"/>
                      </a:solidFill>
                      <a:miter lim="400000"/>
                    </a:lnR>
                    <a:lnT w="38100">
                      <a:solidFill>
                        <a:srgbClr val="FFFFFF"/>
                      </a:solidFill>
                      <a:miter lim="400000"/>
                    </a:lnT>
                    <a:lnB w="12700">
                      <a:solidFill>
                        <a:srgbClr val="3D85C6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0338">
                <a:tc>
                  <a:txBody>
                    <a:bodyPr/>
                    <a:lstStyle/>
                    <a:p>
                      <a:pPr algn="ctr" defTabSz="457200">
                        <a:defRPr sz="2100">
                          <a:uFill>
                            <a:solidFill>
                              <a:srgbClr val="000000"/>
                            </a:solidFill>
                          </a:uFill>
                          <a:latin typeface="Bubblegum Sans"/>
                          <a:ea typeface="Bubblegum Sans"/>
                          <a:cs typeface="Bubblegum Sans"/>
                          <a:sym typeface="Bubblegum Sans"/>
                        </a:defRPr>
                      </a:pPr>
                      <a:r>
                        <a:rPr sz="1800"/>
                        <a:t>Interested in space</a:t>
                      </a:r>
                    </a:p>
                  </a:txBody>
                  <a:tcPr marL="42333" marR="42333" marT="42333" marB="42333" anchor="ctr" horzOverflow="overflow">
                    <a:lnL w="38100">
                      <a:solidFill>
                        <a:srgbClr val="FFFFFF"/>
                      </a:solidFill>
                      <a:miter lim="400000"/>
                    </a:lnL>
                    <a:lnR w="12700">
                      <a:solidFill>
                        <a:srgbClr val="3D85C6"/>
                      </a:solidFill>
                      <a:miter lim="400000"/>
                    </a:lnR>
                    <a:lnT w="12700">
                      <a:solidFill>
                        <a:srgbClr val="3D85C6"/>
                      </a:solidFill>
                      <a:miter lim="400000"/>
                    </a:lnT>
                    <a:lnB w="12700">
                      <a:solidFill>
                        <a:srgbClr val="3D85C6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2100">
                          <a:uFill>
                            <a:solidFill>
                              <a:srgbClr val="000000"/>
                            </a:solidFill>
                          </a:uFill>
                          <a:latin typeface="Bubblegum Sans"/>
                          <a:ea typeface="Bubblegum Sans"/>
                          <a:cs typeface="Bubblegum Sans"/>
                          <a:sym typeface="Bubblegum Sans"/>
                        </a:defRPr>
                      </a:pPr>
                      <a:r>
                        <a:rPr sz="1800"/>
                        <a:t>Interested in volcanoes </a:t>
                      </a:r>
                    </a:p>
                  </a:txBody>
                  <a:tcPr marL="42333" marR="42333" marT="42333" marB="42333" anchor="ctr" horzOverflow="overflow">
                    <a:lnL w="12700">
                      <a:solidFill>
                        <a:srgbClr val="3D85C6"/>
                      </a:solidFill>
                      <a:miter lim="400000"/>
                    </a:lnL>
                    <a:lnR w="12700">
                      <a:solidFill>
                        <a:srgbClr val="3D85C6"/>
                      </a:solidFill>
                      <a:miter lim="400000"/>
                    </a:lnR>
                    <a:lnT w="12700">
                      <a:solidFill>
                        <a:srgbClr val="3D85C6"/>
                      </a:solidFill>
                      <a:miter lim="400000"/>
                    </a:lnT>
                    <a:lnB w="12700">
                      <a:solidFill>
                        <a:srgbClr val="3D85C6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2100">
                          <a:uFill>
                            <a:solidFill>
                              <a:srgbClr val="000000"/>
                            </a:solidFill>
                          </a:uFill>
                          <a:latin typeface="Bubblegum Sans"/>
                          <a:ea typeface="Bubblegum Sans"/>
                          <a:cs typeface="Bubblegum Sans"/>
                          <a:sym typeface="Bubblegum Sans"/>
                        </a:defRPr>
                      </a:pPr>
                      <a:r>
                        <a:rPr sz="1800"/>
                        <a:t>Loves chemistry</a:t>
                      </a:r>
                    </a:p>
                  </a:txBody>
                  <a:tcPr marL="42333" marR="42333" marT="42333" marB="42333" anchor="ctr" horzOverflow="overflow">
                    <a:lnL w="12700">
                      <a:solidFill>
                        <a:srgbClr val="3D85C6"/>
                      </a:solidFill>
                      <a:miter lim="400000"/>
                    </a:lnL>
                    <a:lnR w="12700">
                      <a:solidFill>
                        <a:srgbClr val="3D85C6"/>
                      </a:solidFill>
                      <a:miter lim="400000"/>
                    </a:lnR>
                    <a:lnT w="12700">
                      <a:solidFill>
                        <a:srgbClr val="3D85C6"/>
                      </a:solidFill>
                      <a:miter lim="400000"/>
                    </a:lnT>
                    <a:lnB w="12700">
                      <a:solidFill>
                        <a:srgbClr val="3D85C6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2100">
                          <a:uFill>
                            <a:solidFill>
                              <a:srgbClr val="000000"/>
                            </a:solidFill>
                          </a:uFill>
                          <a:latin typeface="Bubblegum Sans"/>
                          <a:ea typeface="Bubblegum Sans"/>
                          <a:cs typeface="Bubblegum Sans"/>
                          <a:sym typeface="Bubblegum Sans"/>
                        </a:defRPr>
                      </a:pPr>
                      <a:r>
                        <a:rPr sz="1800"/>
                        <a:t>Enjoys robotics</a:t>
                      </a:r>
                    </a:p>
                  </a:txBody>
                  <a:tcPr marL="42333" marR="42333" marT="42333" marB="42333" anchor="ctr" horzOverflow="overflow">
                    <a:lnL w="12700">
                      <a:solidFill>
                        <a:srgbClr val="3D85C6"/>
                      </a:solidFill>
                      <a:miter lim="400000"/>
                    </a:lnL>
                    <a:lnR w="12700">
                      <a:solidFill>
                        <a:srgbClr val="3D85C6"/>
                      </a:solidFill>
                      <a:miter lim="400000"/>
                    </a:lnR>
                    <a:lnT w="12700">
                      <a:solidFill>
                        <a:srgbClr val="3D85C6"/>
                      </a:solidFill>
                      <a:miter lim="400000"/>
                    </a:lnT>
                    <a:lnB w="12700">
                      <a:solidFill>
                        <a:srgbClr val="3D85C6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2100">
                          <a:uFill>
                            <a:solidFill>
                              <a:srgbClr val="000000"/>
                            </a:solidFill>
                          </a:uFill>
                          <a:latin typeface="Bubblegum Sans"/>
                          <a:ea typeface="Bubblegum Sans"/>
                          <a:cs typeface="Bubblegum Sans"/>
                          <a:sym typeface="Bubblegum Sans"/>
                        </a:defRPr>
                      </a:pPr>
                      <a:r>
                        <a:rPr sz="1800"/>
                        <a:t>Likes science museums</a:t>
                      </a:r>
                    </a:p>
                  </a:txBody>
                  <a:tcPr marL="42333" marR="42333" marT="42333" marB="42333" anchor="ctr" horzOverflow="overflow">
                    <a:lnL w="12700">
                      <a:solidFill>
                        <a:srgbClr val="3D85C6"/>
                      </a:solidFill>
                      <a:miter lim="400000"/>
                    </a:lnL>
                    <a:lnR w="38100">
                      <a:solidFill>
                        <a:srgbClr val="FFFFFF"/>
                      </a:solidFill>
                      <a:miter lim="400000"/>
                    </a:lnR>
                    <a:lnT w="12700">
                      <a:solidFill>
                        <a:srgbClr val="3D85C6"/>
                      </a:solidFill>
                      <a:miter lim="400000"/>
                    </a:lnT>
                    <a:lnB w="12700">
                      <a:solidFill>
                        <a:srgbClr val="3D85C6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1402">
                <a:tc>
                  <a:txBody>
                    <a:bodyPr/>
                    <a:lstStyle/>
                    <a:p>
                      <a:pPr algn="ctr" defTabSz="457200">
                        <a:defRPr sz="2100">
                          <a:uFill>
                            <a:solidFill>
                              <a:srgbClr val="000000"/>
                            </a:solidFill>
                          </a:uFill>
                          <a:latin typeface="Bubblegum Sans"/>
                          <a:ea typeface="Bubblegum Sans"/>
                          <a:cs typeface="Bubblegum Sans"/>
                          <a:sym typeface="Bubblegum Sans"/>
                        </a:defRPr>
                      </a:pPr>
                      <a:r>
                        <a:rPr sz="1800"/>
                        <a:t>Has done a science fair project</a:t>
                      </a:r>
                    </a:p>
                  </a:txBody>
                  <a:tcPr marL="42333" marR="42333" marT="42333" marB="42333" anchor="ctr" horzOverflow="overflow">
                    <a:lnL w="38100">
                      <a:solidFill>
                        <a:srgbClr val="FFFFFF"/>
                      </a:solidFill>
                      <a:miter lim="400000"/>
                    </a:lnL>
                    <a:lnR w="12700">
                      <a:solidFill>
                        <a:srgbClr val="3D85C6"/>
                      </a:solidFill>
                      <a:miter lim="400000"/>
                    </a:lnR>
                    <a:lnT w="12700">
                      <a:solidFill>
                        <a:srgbClr val="3D85C6"/>
                      </a:solidFill>
                      <a:miter lim="400000"/>
                    </a:lnT>
                    <a:lnB w="12700">
                      <a:solidFill>
                        <a:srgbClr val="3D85C6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2100">
                          <a:uFill>
                            <a:solidFill>
                              <a:srgbClr val="000000"/>
                            </a:solidFill>
                          </a:uFill>
                          <a:latin typeface="Bubblegum Sans"/>
                          <a:ea typeface="Bubblegum Sans"/>
                          <a:cs typeface="Bubblegum Sans"/>
                          <a:sym typeface="Bubblegum Sans"/>
                        </a:defRPr>
                      </a:pPr>
                      <a:r>
                        <a:rPr sz="1800" dirty="0"/>
                        <a:t>Enjoys coding</a:t>
                      </a:r>
                    </a:p>
                  </a:txBody>
                  <a:tcPr marL="42333" marR="42333" marT="42333" marB="42333" anchor="ctr" horzOverflow="overflow">
                    <a:lnL w="12700">
                      <a:solidFill>
                        <a:srgbClr val="3D85C6"/>
                      </a:solidFill>
                      <a:miter lim="400000"/>
                    </a:lnL>
                    <a:lnR w="12700">
                      <a:solidFill>
                        <a:srgbClr val="3D85C6"/>
                      </a:solidFill>
                      <a:miter lim="400000"/>
                    </a:lnR>
                    <a:lnT w="12700">
                      <a:solidFill>
                        <a:srgbClr val="3D85C6"/>
                      </a:solidFill>
                      <a:miter lim="400000"/>
                    </a:lnT>
                    <a:lnB w="12700">
                      <a:solidFill>
                        <a:srgbClr val="3D85C6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2100">
                          <a:uFill>
                            <a:solidFill>
                              <a:srgbClr val="000000"/>
                            </a:solidFill>
                          </a:uFill>
                          <a:latin typeface="Bubblegum Sans"/>
                          <a:ea typeface="Bubblegum Sans"/>
                          <a:cs typeface="Bubblegum Sans"/>
                          <a:sym typeface="Bubblegum Sans"/>
                        </a:defRPr>
                      </a:pPr>
                      <a:r>
                        <a:rPr sz="1800"/>
                        <a:t>Likes astronomy</a:t>
                      </a:r>
                    </a:p>
                  </a:txBody>
                  <a:tcPr marL="42333" marR="42333" marT="42333" marB="42333" anchor="ctr" horzOverflow="overflow">
                    <a:lnL w="12700">
                      <a:solidFill>
                        <a:srgbClr val="3D85C6"/>
                      </a:solidFill>
                      <a:miter lim="400000"/>
                    </a:lnL>
                    <a:lnR w="12700">
                      <a:solidFill>
                        <a:srgbClr val="3D85C6"/>
                      </a:solidFill>
                      <a:miter lim="400000"/>
                    </a:lnR>
                    <a:lnT w="12700">
                      <a:solidFill>
                        <a:srgbClr val="3D85C6"/>
                      </a:solidFill>
                      <a:miter lim="400000"/>
                    </a:lnT>
                    <a:lnB w="12700">
                      <a:solidFill>
                        <a:srgbClr val="3D85C6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2100">
                          <a:uFill>
                            <a:solidFill>
                              <a:srgbClr val="000000"/>
                            </a:solidFill>
                          </a:uFill>
                          <a:latin typeface="Bubblegum Sans"/>
                          <a:ea typeface="Bubblegum Sans"/>
                          <a:cs typeface="Bubblegum Sans"/>
                          <a:sym typeface="Bubblegum Sans"/>
                        </a:defRPr>
                      </a:pPr>
                      <a:r>
                        <a:rPr sz="1800"/>
                        <a:t>Wants to help the environment</a:t>
                      </a:r>
                    </a:p>
                  </a:txBody>
                  <a:tcPr marL="42333" marR="42333" marT="42333" marB="42333" anchor="ctr" horzOverflow="overflow">
                    <a:lnL w="12700">
                      <a:solidFill>
                        <a:srgbClr val="3D85C6"/>
                      </a:solidFill>
                      <a:miter lim="400000"/>
                    </a:lnL>
                    <a:lnR w="12700">
                      <a:solidFill>
                        <a:srgbClr val="3D85C6"/>
                      </a:solidFill>
                      <a:miter lim="400000"/>
                    </a:lnR>
                    <a:lnT w="12700">
                      <a:solidFill>
                        <a:srgbClr val="3D85C6"/>
                      </a:solidFill>
                      <a:miter lim="400000"/>
                    </a:lnT>
                    <a:lnB w="12700">
                      <a:solidFill>
                        <a:srgbClr val="3D85C6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2100">
                          <a:uFill>
                            <a:solidFill>
                              <a:srgbClr val="000000"/>
                            </a:solidFill>
                          </a:uFill>
                          <a:latin typeface="Bubblegum Sans"/>
                          <a:ea typeface="Bubblegum Sans"/>
                          <a:cs typeface="Bubblegum Sans"/>
                          <a:sym typeface="Bubblegum Sans"/>
                        </a:defRPr>
                      </a:pPr>
                      <a:r>
                        <a:rPr sz="1800"/>
                        <a:t>Thinks science is fun</a:t>
                      </a:r>
                    </a:p>
                  </a:txBody>
                  <a:tcPr marL="42333" marR="42333" marT="42333" marB="42333" anchor="ctr" horzOverflow="overflow">
                    <a:lnL w="12700">
                      <a:solidFill>
                        <a:srgbClr val="3D85C6"/>
                      </a:solidFill>
                      <a:miter lim="400000"/>
                    </a:lnL>
                    <a:lnR w="38100">
                      <a:solidFill>
                        <a:srgbClr val="FFFFFF"/>
                      </a:solidFill>
                      <a:miter lim="400000"/>
                    </a:lnR>
                    <a:lnT w="12700">
                      <a:solidFill>
                        <a:srgbClr val="3D85C6"/>
                      </a:solidFill>
                      <a:miter lim="400000"/>
                    </a:lnT>
                    <a:lnB w="12700">
                      <a:solidFill>
                        <a:srgbClr val="3D85C6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071">
                <a:tc>
                  <a:txBody>
                    <a:bodyPr/>
                    <a:lstStyle/>
                    <a:p>
                      <a:pPr algn="ctr" defTabSz="457200">
                        <a:defRPr sz="2100">
                          <a:uFill>
                            <a:solidFill>
                              <a:srgbClr val="000000"/>
                            </a:solidFill>
                          </a:uFill>
                          <a:latin typeface="Bubblegum Sans"/>
                          <a:ea typeface="Bubblegum Sans"/>
                          <a:cs typeface="Bubblegum Sans"/>
                          <a:sym typeface="Bubblegum Sans"/>
                        </a:defRPr>
                      </a:pPr>
                      <a:r>
                        <a:rPr sz="1800"/>
                        <a:t>Wants to go to Mars</a:t>
                      </a:r>
                    </a:p>
                  </a:txBody>
                  <a:tcPr marL="42333" marR="42333" marT="42333" marB="42333" anchor="ctr" horzOverflow="overflow">
                    <a:lnL w="38100">
                      <a:solidFill>
                        <a:srgbClr val="FFFFFF"/>
                      </a:solidFill>
                      <a:miter lim="400000"/>
                    </a:lnL>
                    <a:lnR w="12700">
                      <a:solidFill>
                        <a:srgbClr val="3D85C6"/>
                      </a:solidFill>
                      <a:miter lim="400000"/>
                    </a:lnR>
                    <a:lnT w="12700">
                      <a:solidFill>
                        <a:srgbClr val="3D85C6"/>
                      </a:solidFill>
                      <a:miter lim="400000"/>
                    </a:lnT>
                    <a:lnB w="12700">
                      <a:solidFill>
                        <a:srgbClr val="3D85C6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2100">
                          <a:uFill>
                            <a:solidFill>
                              <a:srgbClr val="000000"/>
                            </a:solidFill>
                          </a:uFill>
                          <a:latin typeface="Bubblegum Sans"/>
                          <a:ea typeface="Bubblegum Sans"/>
                          <a:cs typeface="Bubblegum Sans"/>
                          <a:sym typeface="Bubblegum Sans"/>
                        </a:defRPr>
                      </a:pPr>
                      <a:r>
                        <a:rPr sz="1800"/>
                        <a:t>Loves building things</a:t>
                      </a:r>
                    </a:p>
                  </a:txBody>
                  <a:tcPr marL="42333" marR="42333" marT="42333" marB="42333" anchor="ctr" horzOverflow="overflow">
                    <a:lnL w="12700">
                      <a:solidFill>
                        <a:srgbClr val="3D85C6"/>
                      </a:solidFill>
                      <a:miter lim="400000"/>
                    </a:lnL>
                    <a:lnR w="12700">
                      <a:solidFill>
                        <a:srgbClr val="3D85C6"/>
                      </a:solidFill>
                      <a:miter lim="400000"/>
                    </a:lnR>
                    <a:lnT w="12700">
                      <a:solidFill>
                        <a:srgbClr val="3D85C6"/>
                      </a:solidFill>
                      <a:miter lim="400000"/>
                    </a:lnT>
                    <a:lnB w="12700">
                      <a:solidFill>
                        <a:srgbClr val="3D85C6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2100">
                          <a:uFill>
                            <a:solidFill>
                              <a:srgbClr val="000000"/>
                            </a:solidFill>
                          </a:uFill>
                          <a:latin typeface="Bubblegum Sans"/>
                          <a:ea typeface="Bubblegum Sans"/>
                          <a:cs typeface="Bubblegum Sans"/>
                          <a:sym typeface="Bubblegum Sans"/>
                        </a:defRPr>
                      </a:pPr>
                      <a:endParaRPr sz="1800"/>
                    </a:p>
                  </a:txBody>
                  <a:tcPr marL="42333" marR="42333" marT="42333" marB="42333" anchor="ctr" horzOverflow="overflow">
                    <a:lnL w="12700">
                      <a:solidFill>
                        <a:srgbClr val="3D85C6"/>
                      </a:solidFill>
                      <a:miter lim="400000"/>
                    </a:lnL>
                    <a:lnR w="12700">
                      <a:solidFill>
                        <a:srgbClr val="3D85C6"/>
                      </a:solidFill>
                      <a:miter lim="400000"/>
                    </a:lnR>
                    <a:lnT w="12700">
                      <a:solidFill>
                        <a:srgbClr val="3D85C6"/>
                      </a:solidFill>
                      <a:miter lim="400000"/>
                    </a:lnT>
                    <a:lnB w="12700">
                      <a:solidFill>
                        <a:srgbClr val="3D85C6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2100">
                          <a:uFill>
                            <a:solidFill>
                              <a:srgbClr val="000000"/>
                            </a:solidFill>
                          </a:uFill>
                          <a:latin typeface="Bubblegum Sans"/>
                          <a:ea typeface="Bubblegum Sans"/>
                          <a:cs typeface="Bubblegum Sans"/>
                          <a:sym typeface="Bubblegum Sans"/>
                        </a:defRPr>
                      </a:pPr>
                      <a:r>
                        <a:rPr sz="1800"/>
                        <a:t>Wants to design apps</a:t>
                      </a:r>
                    </a:p>
                  </a:txBody>
                  <a:tcPr marL="42333" marR="42333" marT="42333" marB="42333" anchor="ctr" horzOverflow="overflow">
                    <a:lnL w="12700">
                      <a:solidFill>
                        <a:srgbClr val="3D85C6"/>
                      </a:solidFill>
                      <a:miter lim="400000"/>
                    </a:lnL>
                    <a:lnR w="12700">
                      <a:solidFill>
                        <a:srgbClr val="3D85C6"/>
                      </a:solidFill>
                      <a:miter lim="400000"/>
                    </a:lnR>
                    <a:lnT w="12700">
                      <a:solidFill>
                        <a:srgbClr val="3D85C6"/>
                      </a:solidFill>
                      <a:miter lim="400000"/>
                    </a:lnT>
                    <a:lnB w="12700">
                      <a:solidFill>
                        <a:srgbClr val="3D85C6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2100">
                          <a:uFill>
                            <a:solidFill>
                              <a:srgbClr val="000000"/>
                            </a:solidFill>
                          </a:uFill>
                          <a:latin typeface="Bubblegum Sans"/>
                          <a:ea typeface="Bubblegum Sans"/>
                          <a:cs typeface="Bubblegum Sans"/>
                          <a:sym typeface="Bubblegum Sans"/>
                        </a:defRPr>
                      </a:pPr>
                      <a:r>
                        <a:rPr sz="1800"/>
                        <a:t>Interested in AI</a:t>
                      </a:r>
                    </a:p>
                  </a:txBody>
                  <a:tcPr marL="42333" marR="42333" marT="42333" marB="42333" anchor="ctr" horzOverflow="overflow">
                    <a:lnL w="12700">
                      <a:solidFill>
                        <a:srgbClr val="3D85C6"/>
                      </a:solidFill>
                      <a:miter lim="400000"/>
                    </a:lnL>
                    <a:lnR w="38100">
                      <a:solidFill>
                        <a:srgbClr val="FFFFFF"/>
                      </a:solidFill>
                      <a:miter lim="400000"/>
                    </a:lnR>
                    <a:lnT w="12700">
                      <a:solidFill>
                        <a:srgbClr val="3D85C6"/>
                      </a:solidFill>
                      <a:miter lim="400000"/>
                    </a:lnT>
                    <a:lnB w="12700">
                      <a:solidFill>
                        <a:srgbClr val="3D85C6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0338">
                <a:tc>
                  <a:txBody>
                    <a:bodyPr/>
                    <a:lstStyle/>
                    <a:p>
                      <a:pPr algn="ctr" defTabSz="457200">
                        <a:defRPr sz="2100">
                          <a:uFill>
                            <a:solidFill>
                              <a:srgbClr val="000000"/>
                            </a:solidFill>
                          </a:uFill>
                          <a:latin typeface="Bubblegum Sans"/>
                          <a:ea typeface="Bubblegum Sans"/>
                          <a:cs typeface="Bubblegum Sans"/>
                          <a:sym typeface="Bubblegum Sans"/>
                        </a:defRPr>
                      </a:pPr>
                      <a:r>
                        <a:rPr sz="1800"/>
                        <a:t>Loves learning about the brain</a:t>
                      </a:r>
                    </a:p>
                  </a:txBody>
                  <a:tcPr marL="42333" marR="42333" marT="42333" marB="42333" anchor="ctr" horzOverflow="overflow">
                    <a:lnL w="38100">
                      <a:solidFill>
                        <a:srgbClr val="FFFFFF"/>
                      </a:solidFill>
                      <a:miter lim="400000"/>
                    </a:lnL>
                    <a:lnR w="12700">
                      <a:solidFill>
                        <a:srgbClr val="3D85C6"/>
                      </a:solidFill>
                      <a:miter lim="400000"/>
                    </a:lnR>
                    <a:lnT w="12700">
                      <a:solidFill>
                        <a:srgbClr val="3D85C6"/>
                      </a:solidFill>
                      <a:miter lim="400000"/>
                    </a:lnT>
                    <a:lnB w="12700">
                      <a:solidFill>
                        <a:srgbClr val="3D85C6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2100">
                          <a:uFill>
                            <a:solidFill>
                              <a:srgbClr val="000000"/>
                            </a:solidFill>
                          </a:uFill>
                          <a:latin typeface="Bubblegum Sans"/>
                          <a:ea typeface="Bubblegum Sans"/>
                          <a:cs typeface="Bubblegum Sans"/>
                          <a:sym typeface="Bubblegum Sans"/>
                        </a:defRPr>
                      </a:pPr>
                      <a:r>
                        <a:rPr sz="1800"/>
                        <a:t>Is into math challenges</a:t>
                      </a:r>
                    </a:p>
                  </a:txBody>
                  <a:tcPr marL="42333" marR="42333" marT="42333" marB="42333" anchor="ctr" horzOverflow="overflow">
                    <a:lnL w="12700">
                      <a:solidFill>
                        <a:srgbClr val="3D85C6"/>
                      </a:solidFill>
                      <a:miter lim="400000"/>
                    </a:lnL>
                    <a:lnR w="12700">
                      <a:solidFill>
                        <a:srgbClr val="3D85C6"/>
                      </a:solidFill>
                      <a:miter lim="400000"/>
                    </a:lnR>
                    <a:lnT w="12700">
                      <a:solidFill>
                        <a:srgbClr val="3D85C6"/>
                      </a:solidFill>
                      <a:miter lim="400000"/>
                    </a:lnT>
                    <a:lnB w="12700">
                      <a:solidFill>
                        <a:srgbClr val="3D85C6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2100">
                          <a:uFill>
                            <a:solidFill>
                              <a:srgbClr val="000000"/>
                            </a:solidFill>
                          </a:uFill>
                          <a:latin typeface="Bubblegum Sans"/>
                          <a:ea typeface="Bubblegum Sans"/>
                          <a:cs typeface="Bubblegum Sans"/>
                          <a:sym typeface="Bubblegum Sans"/>
                        </a:defRPr>
                      </a:pPr>
                      <a:r>
                        <a:rPr sz="1800"/>
                        <a:t>Has built a robot</a:t>
                      </a:r>
                    </a:p>
                  </a:txBody>
                  <a:tcPr marL="42333" marR="42333" marT="42333" marB="42333" anchor="ctr" horzOverflow="overflow">
                    <a:lnL w="12700">
                      <a:solidFill>
                        <a:srgbClr val="3D85C6"/>
                      </a:solidFill>
                      <a:miter lim="400000"/>
                    </a:lnL>
                    <a:lnR w="12700">
                      <a:solidFill>
                        <a:srgbClr val="3D85C6"/>
                      </a:solidFill>
                      <a:miter lim="400000"/>
                    </a:lnR>
                    <a:lnT w="12700">
                      <a:solidFill>
                        <a:srgbClr val="3D85C6"/>
                      </a:solidFill>
                      <a:miter lim="400000"/>
                    </a:lnT>
                    <a:lnB w="12700">
                      <a:solidFill>
                        <a:srgbClr val="3D85C6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2100">
                          <a:uFill>
                            <a:solidFill>
                              <a:srgbClr val="000000"/>
                            </a:solidFill>
                          </a:uFill>
                          <a:latin typeface="Bubblegum Sans"/>
                          <a:ea typeface="Bubblegum Sans"/>
                          <a:cs typeface="Bubblegum Sans"/>
                          <a:sym typeface="Bubblegum Sans"/>
                        </a:defRPr>
                      </a:pPr>
                      <a:r>
                        <a:rPr sz="1800"/>
                        <a:t>Wants to study insects</a:t>
                      </a:r>
                    </a:p>
                  </a:txBody>
                  <a:tcPr marL="42333" marR="42333" marT="42333" marB="42333" anchor="ctr" horzOverflow="overflow">
                    <a:lnL w="12700">
                      <a:solidFill>
                        <a:srgbClr val="3D85C6"/>
                      </a:solidFill>
                      <a:miter lim="400000"/>
                    </a:lnL>
                    <a:lnR w="12700">
                      <a:solidFill>
                        <a:srgbClr val="3D85C6"/>
                      </a:solidFill>
                      <a:miter lim="400000"/>
                    </a:lnR>
                    <a:lnT w="12700">
                      <a:solidFill>
                        <a:srgbClr val="3D85C6"/>
                      </a:solidFill>
                      <a:miter lim="400000"/>
                    </a:lnT>
                    <a:lnB w="12700">
                      <a:solidFill>
                        <a:srgbClr val="3D85C6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2100">
                          <a:uFill>
                            <a:solidFill>
                              <a:srgbClr val="000000"/>
                            </a:solidFill>
                          </a:uFill>
                          <a:latin typeface="Bubblegum Sans"/>
                          <a:ea typeface="Bubblegum Sans"/>
                          <a:cs typeface="Bubblegum Sans"/>
                          <a:sym typeface="Bubblegum Sans"/>
                        </a:defRPr>
                      </a:pPr>
                      <a:r>
                        <a:rPr sz="1800"/>
                        <a:t>Loves dinosaurs</a:t>
                      </a:r>
                    </a:p>
                  </a:txBody>
                  <a:tcPr marL="42333" marR="42333" marT="42333" marB="42333" anchor="ctr" horzOverflow="overflow">
                    <a:lnL w="12700">
                      <a:solidFill>
                        <a:srgbClr val="3D85C6"/>
                      </a:solidFill>
                      <a:miter lim="400000"/>
                    </a:lnL>
                    <a:lnR w="38100">
                      <a:solidFill>
                        <a:srgbClr val="FFFFFF"/>
                      </a:solidFill>
                      <a:miter lim="400000"/>
                    </a:lnR>
                    <a:lnT w="12700">
                      <a:solidFill>
                        <a:srgbClr val="3D85C6"/>
                      </a:solidFill>
                      <a:miter lim="400000"/>
                    </a:lnT>
                    <a:lnB w="12700">
                      <a:solidFill>
                        <a:srgbClr val="3D85C6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9306">
                <a:tc>
                  <a:txBody>
                    <a:bodyPr/>
                    <a:lstStyle/>
                    <a:p>
                      <a:pPr algn="ctr" defTabSz="457200">
                        <a:defRPr sz="2100">
                          <a:uFill>
                            <a:solidFill>
                              <a:srgbClr val="000000"/>
                            </a:solidFill>
                          </a:uFill>
                          <a:latin typeface="Bubblegum Sans"/>
                          <a:ea typeface="Bubblegum Sans"/>
                          <a:cs typeface="Bubblegum Sans"/>
                          <a:sym typeface="Bubblegum Sans"/>
                        </a:defRPr>
                      </a:pPr>
                      <a:r>
                        <a:rPr sz="1800" dirty="0"/>
                        <a:t>Wants to be an engineer</a:t>
                      </a:r>
                    </a:p>
                  </a:txBody>
                  <a:tcPr marL="42333" marR="42333" marT="42333" marB="42333" anchor="ctr" horzOverflow="overflow">
                    <a:lnL w="38100">
                      <a:solidFill>
                        <a:srgbClr val="FFFFFF"/>
                      </a:solidFill>
                      <a:miter lim="400000"/>
                    </a:lnL>
                    <a:lnR w="12700">
                      <a:solidFill>
                        <a:srgbClr val="3D85C6"/>
                      </a:solidFill>
                      <a:miter lim="400000"/>
                    </a:lnR>
                    <a:lnT w="12700">
                      <a:solidFill>
                        <a:srgbClr val="3D85C6"/>
                      </a:solidFill>
                      <a:miter lim="400000"/>
                    </a:lnT>
                    <a:lnB w="38100">
                      <a:solidFill>
                        <a:srgbClr val="FFFFFF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2100">
                          <a:uFill>
                            <a:solidFill>
                              <a:srgbClr val="000000"/>
                            </a:solidFill>
                          </a:uFill>
                          <a:latin typeface="Bubblegum Sans"/>
                          <a:ea typeface="Bubblegum Sans"/>
                          <a:cs typeface="Bubblegum Sans"/>
                          <a:sym typeface="Bubblegum Sans"/>
                        </a:defRPr>
                      </a:pPr>
                      <a:r>
                        <a:rPr sz="1800"/>
                        <a:t>Curious about how things work</a:t>
                      </a:r>
                    </a:p>
                  </a:txBody>
                  <a:tcPr marL="42333" marR="42333" marT="42333" marB="42333" anchor="ctr" horzOverflow="overflow">
                    <a:lnL w="12700">
                      <a:solidFill>
                        <a:srgbClr val="3D85C6"/>
                      </a:solidFill>
                      <a:miter lim="400000"/>
                    </a:lnL>
                    <a:lnR w="12700">
                      <a:solidFill>
                        <a:srgbClr val="3D85C6"/>
                      </a:solidFill>
                      <a:miter lim="400000"/>
                    </a:lnR>
                    <a:lnT w="12700">
                      <a:solidFill>
                        <a:srgbClr val="3D85C6"/>
                      </a:solidFill>
                      <a:miter lim="400000"/>
                    </a:lnT>
                    <a:lnB w="38100">
                      <a:solidFill>
                        <a:srgbClr val="FFFFFF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2100">
                          <a:uFill>
                            <a:solidFill>
                              <a:srgbClr val="000000"/>
                            </a:solidFill>
                          </a:uFill>
                          <a:latin typeface="Bubblegum Sans"/>
                          <a:ea typeface="Bubblegum Sans"/>
                          <a:cs typeface="Bubblegum Sans"/>
                          <a:sym typeface="Bubblegum Sans"/>
                        </a:defRPr>
                      </a:pPr>
                      <a:r>
                        <a:rPr sz="1800"/>
                        <a:t>Watches history videos on YouTube </a:t>
                      </a:r>
                    </a:p>
                  </a:txBody>
                  <a:tcPr marL="42333" marR="42333" marT="42333" marB="42333" anchor="ctr" horzOverflow="overflow">
                    <a:lnL w="12700">
                      <a:solidFill>
                        <a:srgbClr val="3D85C6"/>
                      </a:solidFill>
                      <a:miter lim="400000"/>
                    </a:lnL>
                    <a:lnR w="12700">
                      <a:solidFill>
                        <a:srgbClr val="3D85C6"/>
                      </a:solidFill>
                      <a:miter lim="400000"/>
                    </a:lnR>
                    <a:lnT w="12700">
                      <a:solidFill>
                        <a:srgbClr val="3D85C6"/>
                      </a:solidFill>
                      <a:miter lim="400000"/>
                    </a:lnT>
                    <a:lnB w="38100">
                      <a:solidFill>
                        <a:srgbClr val="FFFFFF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2100">
                          <a:uFill>
                            <a:solidFill>
                              <a:srgbClr val="000000"/>
                            </a:solidFill>
                          </a:uFill>
                          <a:latin typeface="Bubblegum Sans"/>
                          <a:ea typeface="Bubblegum Sans"/>
                          <a:cs typeface="Bubblegum Sans"/>
                          <a:sym typeface="Bubblegum Sans"/>
                        </a:defRPr>
                      </a:pPr>
                      <a:r>
                        <a:rPr sz="1800"/>
                        <a:t>Interested in understanding human behavior</a:t>
                      </a:r>
                    </a:p>
                  </a:txBody>
                  <a:tcPr marL="42333" marR="42333" marT="42333" marB="42333" anchor="ctr" horzOverflow="overflow">
                    <a:lnL w="12700">
                      <a:solidFill>
                        <a:srgbClr val="3D85C6"/>
                      </a:solidFill>
                      <a:miter lim="400000"/>
                    </a:lnL>
                    <a:lnR w="12700">
                      <a:solidFill>
                        <a:srgbClr val="3D85C6"/>
                      </a:solidFill>
                      <a:miter lim="400000"/>
                    </a:lnR>
                    <a:lnT w="12700">
                      <a:solidFill>
                        <a:srgbClr val="3D85C6"/>
                      </a:solidFill>
                      <a:miter lim="400000"/>
                    </a:lnT>
                    <a:lnB w="38100">
                      <a:solidFill>
                        <a:srgbClr val="FFFFFF"/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2100">
                          <a:uFill>
                            <a:solidFill>
                              <a:srgbClr val="000000"/>
                            </a:solidFill>
                          </a:uFill>
                          <a:latin typeface="Bubblegum Sans"/>
                          <a:ea typeface="Bubblegum Sans"/>
                          <a:cs typeface="Bubblegum Sans"/>
                          <a:sym typeface="Bubblegum Sans"/>
                        </a:defRPr>
                      </a:pPr>
                      <a:r>
                        <a:rPr sz="1800" dirty="0"/>
                        <a:t>Wants to explore the ocean</a:t>
                      </a:r>
                    </a:p>
                  </a:txBody>
                  <a:tcPr marL="42333" marR="42333" marT="42333" marB="42333" anchor="ctr" horzOverflow="overflow">
                    <a:lnL w="12700">
                      <a:solidFill>
                        <a:srgbClr val="3D85C6"/>
                      </a:solidFill>
                      <a:miter lim="400000"/>
                    </a:lnL>
                    <a:lnR w="38100">
                      <a:solidFill>
                        <a:srgbClr val="FFFFFF"/>
                      </a:solidFill>
                      <a:miter lim="400000"/>
                    </a:lnR>
                    <a:lnT w="12700">
                      <a:solidFill>
                        <a:srgbClr val="3D85C6"/>
                      </a:solidFill>
                      <a:miter lim="400000"/>
                    </a:lnT>
                    <a:lnB w="38100">
                      <a:solidFill>
                        <a:srgbClr val="FFFFFF"/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577D163-578D-5C6E-B94C-0096B9E99F42}"/>
              </a:ext>
            </a:extLst>
          </p:cNvPr>
          <p:cNvSpPr txBox="1"/>
          <p:nvPr/>
        </p:nvSpPr>
        <p:spPr>
          <a:xfrm>
            <a:off x="166742" y="185563"/>
            <a:ext cx="2048178" cy="512895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>
                <a:highlight>
                  <a:srgbClr val="FFFF00"/>
                </a:highlight>
              </a:rPr>
              <a:t>out​</a:t>
            </a:r>
            <a:endParaRPr lang="en-US" sz="2833" b="1">
              <a:solidFill>
                <a:srgbClr val="000000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692171-AA9A-C858-C231-E83351B4732F}"/>
              </a:ext>
            </a:extLst>
          </p:cNvPr>
          <p:cNvSpPr txBox="1"/>
          <p:nvPr/>
        </p:nvSpPr>
        <p:spPr>
          <a:xfrm>
            <a:off x="166742" y="185563"/>
            <a:ext cx="5047643" cy="1820753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 dirty="0">
                <a:highlight>
                  <a:srgbClr val="FFFF00"/>
                </a:highlight>
              </a:rPr>
              <a:t>NEED a NEW SLIDE reminding to take time to do pre-assessment for 15 min before starting the first </a:t>
            </a:r>
            <a:r>
              <a:rPr lang="en-US" sz="2833" b="1">
                <a:highlight>
                  <a:srgbClr val="FFFF00"/>
                </a:highlight>
              </a:rPr>
              <a:t>lecture</a:t>
            </a:r>
            <a:r>
              <a:rPr lang="en-US" sz="2833" b="1" dirty="0">
                <a:highlight>
                  <a:srgbClr val="FFFF00"/>
                </a:highlight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89520950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0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8841" y="1022683"/>
            <a:ext cx="3703054" cy="5554580"/>
          </a:xfrm>
          <a:prstGeom prst="rect">
            <a:avLst/>
          </a:prstGeom>
          <a:ln w="12700">
            <a:miter lim="400000"/>
          </a:ln>
        </p:spPr>
      </p:pic>
      <p:sp>
        <p:nvSpPr>
          <p:cNvPr id="931" name="Text 0"/>
          <p:cNvSpPr txBox="1"/>
          <p:nvPr/>
        </p:nvSpPr>
        <p:spPr>
          <a:xfrm>
            <a:off x="661492" y="2115444"/>
            <a:ext cx="4110100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What Is Research? </a:t>
            </a:r>
          </a:p>
        </p:txBody>
      </p:sp>
      <p:sp>
        <p:nvSpPr>
          <p:cNvPr id="932" name="Text 1"/>
          <p:cNvSpPr txBox="1"/>
          <p:nvPr/>
        </p:nvSpPr>
        <p:spPr>
          <a:xfrm>
            <a:off x="661492" y="2989560"/>
            <a:ext cx="6297018" cy="1049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 dirty="0"/>
              <a:t>Let’s explore the fundamental concepts of research, distinguish between opinions and evidence-based conclusions, and examine the research process across disciplines.</a:t>
            </a:r>
          </a:p>
        </p:txBody>
      </p:sp>
      <p:sp>
        <p:nvSpPr>
          <p:cNvPr id="933" name="Shape 2"/>
          <p:cNvSpPr/>
          <p:nvPr/>
        </p:nvSpPr>
        <p:spPr>
          <a:xfrm>
            <a:off x="661492" y="4425950"/>
            <a:ext cx="302420" cy="302420"/>
          </a:xfrm>
          <a:prstGeom prst="roundRect">
            <a:avLst>
              <a:gd name="adj" fmla="val 50000"/>
            </a:avLst>
          </a:prstGeom>
          <a:ln w="7620">
            <a:solidFill>
              <a:srgbClr val="FFFFFF"/>
            </a:solidFill>
          </a:ln>
        </p:spPr>
        <p:txBody>
          <a:bodyPr lIns="38099" rIns="38099"/>
          <a:lstStyle/>
          <a:p>
            <a:endParaRPr sz="1500"/>
          </a:p>
        </p:txBody>
      </p:sp>
      <p:sp>
        <p:nvSpPr>
          <p:cNvPr id="934" name="Text 3"/>
          <p:cNvSpPr txBox="1"/>
          <p:nvPr/>
        </p:nvSpPr>
        <p:spPr>
          <a:xfrm>
            <a:off x="661492" y="4591778"/>
            <a:ext cx="2708755" cy="3602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100"/>
              </a:lnSpc>
              <a:defRPr sz="2200" b="1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r>
              <a:rPr sz="1833"/>
              <a:t>Michelle Yin &amp; Burhan Ogut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Text 0"/>
          <p:cNvSpPr txBox="1"/>
          <p:nvPr/>
        </p:nvSpPr>
        <p:spPr>
          <a:xfrm>
            <a:off x="592733" y="466922"/>
            <a:ext cx="3582712" cy="577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000"/>
              </a:lnSpc>
              <a:defRPr sz="4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333" dirty="0"/>
              <a:t>Chapter Roadmap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2A7A1C5-3E46-EEDD-B404-DA8390742300}"/>
              </a:ext>
            </a:extLst>
          </p:cNvPr>
          <p:cNvGrpSpPr/>
          <p:nvPr/>
        </p:nvGrpSpPr>
        <p:grpSpPr>
          <a:xfrm>
            <a:off x="592733" y="1334691"/>
            <a:ext cx="11006536" cy="5056387"/>
            <a:chOff x="711278" y="1601628"/>
            <a:chExt cx="13207843" cy="6067664"/>
          </a:xfrm>
        </p:grpSpPr>
        <p:sp>
          <p:nvSpPr>
            <p:cNvPr id="937" name="Shape 1"/>
            <p:cNvSpPr/>
            <p:nvPr/>
          </p:nvSpPr>
          <p:spPr>
            <a:xfrm>
              <a:off x="7303769" y="1601628"/>
              <a:ext cx="22861" cy="6067664"/>
            </a:xfrm>
            <a:prstGeom prst="roundRect">
              <a:avLst>
                <a:gd name="adj" fmla="val 50000"/>
              </a:avLst>
            </a:prstGeom>
            <a:solidFill>
              <a:srgbClr val="B2D3E5"/>
            </a:solidFill>
            <a:ln w="12700">
              <a:miter lim="400000"/>
            </a:ln>
          </p:spPr>
          <p:txBody>
            <a:bodyPr lIns="38099" rIns="38099"/>
            <a:lstStyle/>
            <a:p>
              <a:endParaRPr sz="1500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ED7A64E-6ABA-9970-4A5B-524BA3844691}"/>
                </a:ext>
              </a:extLst>
            </p:cNvPr>
            <p:cNvGrpSpPr/>
            <p:nvPr/>
          </p:nvGrpSpPr>
          <p:grpSpPr>
            <a:xfrm>
              <a:off x="711278" y="1601628"/>
              <a:ext cx="13207843" cy="5632454"/>
              <a:chOff x="711278" y="1601628"/>
              <a:chExt cx="13207843" cy="5632454"/>
            </a:xfrm>
          </p:grpSpPr>
          <p:sp>
            <p:nvSpPr>
              <p:cNvPr id="938" name="Shape 2"/>
              <p:cNvSpPr/>
              <p:nvPr/>
            </p:nvSpPr>
            <p:spPr>
              <a:xfrm>
                <a:off x="6499859" y="1818799"/>
                <a:ext cx="609601" cy="22861"/>
              </a:xfrm>
              <a:prstGeom prst="roundRect">
                <a:avLst>
                  <a:gd name="adj" fmla="val 50000"/>
                </a:avLst>
              </a:prstGeom>
              <a:solidFill>
                <a:srgbClr val="B2D3E5"/>
              </a:solidFill>
              <a:ln w="12700">
                <a:miter lim="400000"/>
              </a:ln>
            </p:spPr>
            <p:txBody>
              <a:bodyPr lIns="38099" rIns="38099"/>
              <a:lstStyle/>
              <a:p>
                <a:endParaRPr sz="1500"/>
              </a:p>
            </p:txBody>
          </p:sp>
          <p:sp>
            <p:nvSpPr>
              <p:cNvPr id="939" name="Shape 3"/>
              <p:cNvSpPr/>
              <p:nvPr/>
            </p:nvSpPr>
            <p:spPr>
              <a:xfrm>
                <a:off x="7086600" y="1601628"/>
                <a:ext cx="457200" cy="457201"/>
              </a:xfrm>
              <a:prstGeom prst="roundRect">
                <a:avLst>
                  <a:gd name="adj" fmla="val 18670"/>
                </a:avLst>
              </a:prstGeom>
              <a:solidFill>
                <a:srgbClr val="CCEDFF"/>
              </a:solidFill>
              <a:ln w="7620">
                <a:solidFill>
                  <a:srgbClr val="B2D3E5"/>
                </a:solidFill>
              </a:ln>
            </p:spPr>
            <p:txBody>
              <a:bodyPr lIns="38099" rIns="38099"/>
              <a:lstStyle/>
              <a:p>
                <a:endParaRPr sz="1500"/>
              </a:p>
            </p:txBody>
          </p:sp>
          <p:pic>
            <p:nvPicPr>
              <p:cNvPr id="940" name="Image 0" descr="Image 0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162800" y="1639728"/>
                <a:ext cx="304800" cy="381001"/>
              </a:xfrm>
              <a:prstGeom prst="rect">
                <a:avLst/>
              </a:prstGeom>
              <a:ln w="12700">
                <a:miter lim="400000"/>
              </a:ln>
            </p:spPr>
          </p:pic>
          <p:sp>
            <p:nvSpPr>
              <p:cNvPr id="941" name="Text 4"/>
              <p:cNvSpPr txBox="1"/>
              <p:nvPr/>
            </p:nvSpPr>
            <p:spPr>
              <a:xfrm>
                <a:off x="3734958" y="1671398"/>
                <a:ext cx="2564164" cy="35517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r">
                  <a:lnSpc>
                    <a:spcPts val="2500"/>
                  </a:lnSpc>
                  <a:defRPr sz="2300" b="1">
                    <a:latin typeface="Playfair Display Bold"/>
                    <a:ea typeface="Playfair Display Bold"/>
                    <a:cs typeface="Playfair Display Bold"/>
                    <a:sym typeface="Playfair Display Bold"/>
                  </a:defRPr>
                </a:lvl1pPr>
              </a:lstStyle>
              <a:p>
                <a:r>
                  <a:rPr lang="en-US" sz="1917" dirty="0"/>
                  <a:t>Research Question</a:t>
                </a:r>
                <a:endParaRPr sz="1917" dirty="0"/>
              </a:p>
            </p:txBody>
          </p:sp>
          <p:sp>
            <p:nvSpPr>
              <p:cNvPr id="942" name="Text 5"/>
              <p:cNvSpPr txBox="1"/>
              <p:nvPr/>
            </p:nvSpPr>
            <p:spPr>
              <a:xfrm>
                <a:off x="711278" y="2110858"/>
                <a:ext cx="5587843" cy="75112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0" tIns="0" rIns="0" bIns="0">
                <a:spAutoFit/>
              </a:bodyPr>
              <a:lstStyle>
                <a:lvl1pPr algn="r">
                  <a:lnSpc>
                    <a:spcPts val="2500"/>
                  </a:lnSpc>
                  <a:defRPr sz="2300">
                    <a:latin typeface="Inter"/>
                    <a:ea typeface="Inter"/>
                    <a:cs typeface="Inter"/>
                    <a:sym typeface="Inter"/>
                  </a:defRPr>
                </a:lvl1pPr>
              </a:lstStyle>
              <a:p>
                <a:r>
                  <a:rPr sz="1917" dirty="0"/>
                  <a:t>Understanding the transition from curiosity to systematic inquiry</a:t>
                </a:r>
                <a:r>
                  <a:rPr lang="en-US" sz="1917" dirty="0"/>
                  <a:t> state</a:t>
                </a:r>
                <a:endParaRPr sz="1917" dirty="0"/>
              </a:p>
            </p:txBody>
          </p:sp>
          <p:sp>
            <p:nvSpPr>
              <p:cNvPr id="943" name="Shape 6"/>
              <p:cNvSpPr/>
              <p:nvPr/>
            </p:nvSpPr>
            <p:spPr>
              <a:xfrm>
                <a:off x="7520940" y="3037999"/>
                <a:ext cx="609601" cy="22861"/>
              </a:xfrm>
              <a:prstGeom prst="roundRect">
                <a:avLst>
                  <a:gd name="adj" fmla="val 50000"/>
                </a:avLst>
              </a:prstGeom>
              <a:solidFill>
                <a:srgbClr val="B2D3E5"/>
              </a:solidFill>
              <a:ln w="12700">
                <a:miter lim="400000"/>
              </a:ln>
            </p:spPr>
            <p:txBody>
              <a:bodyPr lIns="38099" rIns="38099"/>
              <a:lstStyle/>
              <a:p>
                <a:endParaRPr sz="1500"/>
              </a:p>
            </p:txBody>
          </p:sp>
          <p:sp>
            <p:nvSpPr>
              <p:cNvPr id="944" name="Shape 7"/>
              <p:cNvSpPr/>
              <p:nvPr/>
            </p:nvSpPr>
            <p:spPr>
              <a:xfrm>
                <a:off x="7086600" y="2820828"/>
                <a:ext cx="457200" cy="457201"/>
              </a:xfrm>
              <a:prstGeom prst="roundRect">
                <a:avLst>
                  <a:gd name="adj" fmla="val 18670"/>
                </a:avLst>
              </a:prstGeom>
              <a:solidFill>
                <a:srgbClr val="CCEDFF"/>
              </a:solidFill>
              <a:ln w="7620">
                <a:solidFill>
                  <a:srgbClr val="B2D3E5"/>
                </a:solidFill>
              </a:ln>
            </p:spPr>
            <p:txBody>
              <a:bodyPr lIns="38099" rIns="38099"/>
              <a:lstStyle/>
              <a:p>
                <a:endParaRPr sz="1500"/>
              </a:p>
            </p:txBody>
          </p:sp>
          <p:pic>
            <p:nvPicPr>
              <p:cNvPr id="945" name="Image 1" descr="Image 1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62800" y="2858928"/>
                <a:ext cx="304800" cy="381001"/>
              </a:xfrm>
              <a:prstGeom prst="rect">
                <a:avLst/>
              </a:prstGeom>
              <a:ln w="12700">
                <a:miter lim="400000"/>
              </a:ln>
            </p:spPr>
          </p:pic>
          <p:sp>
            <p:nvSpPr>
              <p:cNvPr id="946" name="Text 8"/>
              <p:cNvSpPr txBox="1"/>
              <p:nvPr/>
            </p:nvSpPr>
            <p:spPr>
              <a:xfrm>
                <a:off x="8331279" y="2890598"/>
                <a:ext cx="2779608" cy="35517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lnSpc>
                    <a:spcPts val="2500"/>
                  </a:lnSpc>
                  <a:defRPr sz="2300" b="1">
                    <a:latin typeface="Playfair Display Bold"/>
                    <a:ea typeface="Playfair Display Bold"/>
                    <a:cs typeface="Playfair Display Bold"/>
                    <a:sym typeface="Playfair Display Bold"/>
                  </a:defRPr>
                </a:lvl1pPr>
              </a:lstStyle>
              <a:p>
                <a:r>
                  <a:rPr lang="en-US" sz="1917" dirty="0"/>
                  <a:t>Opinion vs Evidence</a:t>
                </a:r>
                <a:endParaRPr sz="1917" dirty="0"/>
              </a:p>
            </p:txBody>
          </p:sp>
          <p:sp>
            <p:nvSpPr>
              <p:cNvPr id="947" name="Text 9"/>
              <p:cNvSpPr txBox="1"/>
              <p:nvPr/>
            </p:nvSpPr>
            <p:spPr>
              <a:xfrm>
                <a:off x="8331279" y="3330059"/>
                <a:ext cx="5587842" cy="75112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lnSpc>
                    <a:spcPts val="2500"/>
                  </a:lnSpc>
                  <a:defRPr sz="2300">
                    <a:latin typeface="Inter"/>
                    <a:ea typeface="Inter"/>
                    <a:cs typeface="Inter"/>
                    <a:sym typeface="Inter"/>
                  </a:defRPr>
                </a:lvl1pPr>
              </a:lstStyle>
              <a:p>
                <a:r>
                  <a:rPr lang="en-US" sz="1917" dirty="0"/>
                  <a:t>Distinguishing personal beliefs from research-based conclusions</a:t>
                </a:r>
                <a:endParaRPr sz="1917" dirty="0"/>
              </a:p>
            </p:txBody>
          </p:sp>
          <p:sp>
            <p:nvSpPr>
              <p:cNvPr id="948" name="Shape 10"/>
              <p:cNvSpPr/>
              <p:nvPr/>
            </p:nvSpPr>
            <p:spPr>
              <a:xfrm>
                <a:off x="6499859" y="4088962"/>
                <a:ext cx="609601" cy="22861"/>
              </a:xfrm>
              <a:prstGeom prst="roundRect">
                <a:avLst>
                  <a:gd name="adj" fmla="val 50000"/>
                </a:avLst>
              </a:prstGeom>
              <a:solidFill>
                <a:srgbClr val="B2D3E5"/>
              </a:solidFill>
              <a:ln w="12700">
                <a:miter lim="400000"/>
              </a:ln>
            </p:spPr>
            <p:txBody>
              <a:bodyPr lIns="38099" rIns="38099"/>
              <a:lstStyle/>
              <a:p>
                <a:endParaRPr sz="1500"/>
              </a:p>
            </p:txBody>
          </p:sp>
          <p:sp>
            <p:nvSpPr>
              <p:cNvPr id="949" name="Shape 11"/>
              <p:cNvSpPr/>
              <p:nvPr/>
            </p:nvSpPr>
            <p:spPr>
              <a:xfrm>
                <a:off x="7086600" y="3871793"/>
                <a:ext cx="457200" cy="457201"/>
              </a:xfrm>
              <a:prstGeom prst="roundRect">
                <a:avLst>
                  <a:gd name="adj" fmla="val 18670"/>
                </a:avLst>
              </a:prstGeom>
              <a:solidFill>
                <a:srgbClr val="CCEDFF"/>
              </a:solidFill>
              <a:ln w="7620">
                <a:solidFill>
                  <a:srgbClr val="B2D3E5"/>
                </a:solidFill>
              </a:ln>
            </p:spPr>
            <p:txBody>
              <a:bodyPr lIns="38099" rIns="38099"/>
              <a:lstStyle/>
              <a:p>
                <a:endParaRPr sz="1500"/>
              </a:p>
            </p:txBody>
          </p:sp>
          <p:pic>
            <p:nvPicPr>
              <p:cNvPr id="950" name="Image 2" descr="Image 2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62800" y="3909893"/>
                <a:ext cx="304800" cy="381001"/>
              </a:xfrm>
              <a:prstGeom prst="rect">
                <a:avLst/>
              </a:prstGeom>
              <a:ln w="12700">
                <a:miter lim="400000"/>
              </a:ln>
            </p:spPr>
          </p:pic>
          <p:sp>
            <p:nvSpPr>
              <p:cNvPr id="951" name="Text 12"/>
              <p:cNvSpPr txBox="1"/>
              <p:nvPr/>
            </p:nvSpPr>
            <p:spPr>
              <a:xfrm>
                <a:off x="3825368" y="3941564"/>
                <a:ext cx="2473754" cy="35517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r">
                  <a:lnSpc>
                    <a:spcPts val="2500"/>
                  </a:lnSpc>
                  <a:defRPr sz="2300" b="1">
                    <a:latin typeface="Playfair Display Bold"/>
                    <a:ea typeface="Playfair Display Bold"/>
                    <a:cs typeface="Playfair Display Bold"/>
                    <a:sym typeface="Playfair Display Bold"/>
                  </a:defRPr>
                </a:lvl1pPr>
              </a:lstStyle>
              <a:p>
                <a:r>
                  <a:rPr lang="en-US" sz="1917" dirty="0"/>
                  <a:t>Types of Research</a:t>
                </a:r>
                <a:endParaRPr sz="1917" dirty="0"/>
              </a:p>
            </p:txBody>
          </p:sp>
          <p:sp>
            <p:nvSpPr>
              <p:cNvPr id="952" name="Text 13"/>
              <p:cNvSpPr txBox="1"/>
              <p:nvPr/>
            </p:nvSpPr>
            <p:spPr>
              <a:xfrm>
                <a:off x="711278" y="4381024"/>
                <a:ext cx="5587843" cy="75112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0" tIns="0" rIns="0" bIns="0">
                <a:spAutoFit/>
              </a:bodyPr>
              <a:lstStyle>
                <a:lvl1pPr algn="r">
                  <a:lnSpc>
                    <a:spcPts val="2500"/>
                  </a:lnSpc>
                  <a:defRPr sz="2300">
                    <a:latin typeface="Inter"/>
                    <a:ea typeface="Inter"/>
                    <a:cs typeface="Inter"/>
                    <a:sym typeface="Inter"/>
                  </a:defRPr>
                </a:lvl1pPr>
              </a:lstStyle>
              <a:p>
                <a:r>
                  <a:rPr sz="1917"/>
                  <a:t>Exploring scientific, social science, historical and interdisciplinary approaches</a:t>
                </a:r>
              </a:p>
            </p:txBody>
          </p:sp>
          <p:sp>
            <p:nvSpPr>
              <p:cNvPr id="953" name="Shape 14"/>
              <p:cNvSpPr/>
              <p:nvPr/>
            </p:nvSpPr>
            <p:spPr>
              <a:xfrm>
                <a:off x="7520940" y="5139928"/>
                <a:ext cx="609601" cy="22861"/>
              </a:xfrm>
              <a:prstGeom prst="roundRect">
                <a:avLst>
                  <a:gd name="adj" fmla="val 50000"/>
                </a:avLst>
              </a:prstGeom>
              <a:solidFill>
                <a:srgbClr val="B2D3E5"/>
              </a:solidFill>
              <a:ln w="12700">
                <a:miter lim="400000"/>
              </a:ln>
            </p:spPr>
            <p:txBody>
              <a:bodyPr lIns="38099" rIns="38099"/>
              <a:lstStyle/>
              <a:p>
                <a:endParaRPr sz="1500"/>
              </a:p>
            </p:txBody>
          </p:sp>
          <p:sp>
            <p:nvSpPr>
              <p:cNvPr id="954" name="Shape 15"/>
              <p:cNvSpPr/>
              <p:nvPr/>
            </p:nvSpPr>
            <p:spPr>
              <a:xfrm>
                <a:off x="7086600" y="4922758"/>
                <a:ext cx="457200" cy="457201"/>
              </a:xfrm>
              <a:prstGeom prst="roundRect">
                <a:avLst>
                  <a:gd name="adj" fmla="val 18670"/>
                </a:avLst>
              </a:prstGeom>
              <a:solidFill>
                <a:srgbClr val="CCEDFF"/>
              </a:solidFill>
              <a:ln w="7620">
                <a:solidFill>
                  <a:srgbClr val="B2D3E5"/>
                </a:solidFill>
              </a:ln>
            </p:spPr>
            <p:txBody>
              <a:bodyPr lIns="38099" rIns="38099"/>
              <a:lstStyle/>
              <a:p>
                <a:endParaRPr sz="1500"/>
              </a:p>
            </p:txBody>
          </p:sp>
          <p:pic>
            <p:nvPicPr>
              <p:cNvPr id="955" name="Image 3" descr="Image 3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62800" y="4960858"/>
                <a:ext cx="304800" cy="381001"/>
              </a:xfrm>
              <a:prstGeom prst="rect">
                <a:avLst/>
              </a:prstGeom>
              <a:ln w="12700">
                <a:miter lim="400000"/>
              </a:ln>
            </p:spPr>
          </p:pic>
          <p:sp>
            <p:nvSpPr>
              <p:cNvPr id="956" name="Text 16"/>
              <p:cNvSpPr txBox="1"/>
              <p:nvPr/>
            </p:nvSpPr>
            <p:spPr>
              <a:xfrm>
                <a:off x="8331279" y="4992528"/>
                <a:ext cx="2123658" cy="35517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lnSpc>
                    <a:spcPts val="2500"/>
                  </a:lnSpc>
                  <a:defRPr sz="2300" b="1">
                    <a:latin typeface="Playfair Display Bold"/>
                    <a:ea typeface="Playfair Display Bold"/>
                    <a:cs typeface="Playfair Display Bold"/>
                    <a:sym typeface="Playfair Display Bold"/>
                  </a:defRPr>
                </a:lvl1pPr>
              </a:lstStyle>
              <a:p>
                <a:r>
                  <a:rPr sz="1917"/>
                  <a:t>Core Principles</a:t>
                </a:r>
              </a:p>
            </p:txBody>
          </p:sp>
          <p:sp>
            <p:nvSpPr>
              <p:cNvPr id="957" name="Text 17"/>
              <p:cNvSpPr txBox="1"/>
              <p:nvPr/>
            </p:nvSpPr>
            <p:spPr>
              <a:xfrm>
                <a:off x="8331279" y="5431987"/>
                <a:ext cx="5587842" cy="75112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lnSpc>
                    <a:spcPts val="2500"/>
                  </a:lnSpc>
                  <a:defRPr sz="2300">
                    <a:latin typeface="Inter"/>
                    <a:ea typeface="Inter"/>
                    <a:cs typeface="Inter"/>
                    <a:sym typeface="Inter"/>
                  </a:defRPr>
                </a:lvl1pPr>
              </a:lstStyle>
              <a:p>
                <a:r>
                  <a:rPr sz="1917"/>
                  <a:t>Learning the fundamental values that guide good research</a:t>
                </a:r>
              </a:p>
            </p:txBody>
          </p:sp>
          <p:sp>
            <p:nvSpPr>
              <p:cNvPr id="958" name="Shape 18"/>
              <p:cNvSpPr/>
              <p:nvPr/>
            </p:nvSpPr>
            <p:spPr>
              <a:xfrm>
                <a:off x="6499859" y="6190893"/>
                <a:ext cx="609601" cy="22861"/>
              </a:xfrm>
              <a:prstGeom prst="roundRect">
                <a:avLst>
                  <a:gd name="adj" fmla="val 50000"/>
                </a:avLst>
              </a:prstGeom>
              <a:solidFill>
                <a:srgbClr val="B2D3E5"/>
              </a:solidFill>
              <a:ln w="12700">
                <a:miter lim="400000"/>
              </a:ln>
            </p:spPr>
            <p:txBody>
              <a:bodyPr lIns="38099" rIns="38099"/>
              <a:lstStyle/>
              <a:p>
                <a:endParaRPr sz="1500"/>
              </a:p>
            </p:txBody>
          </p:sp>
          <p:sp>
            <p:nvSpPr>
              <p:cNvPr id="959" name="Shape 19"/>
              <p:cNvSpPr/>
              <p:nvPr/>
            </p:nvSpPr>
            <p:spPr>
              <a:xfrm>
                <a:off x="7086600" y="5973722"/>
                <a:ext cx="457200" cy="457201"/>
              </a:xfrm>
              <a:prstGeom prst="roundRect">
                <a:avLst>
                  <a:gd name="adj" fmla="val 18670"/>
                </a:avLst>
              </a:prstGeom>
              <a:solidFill>
                <a:srgbClr val="CCEDFF"/>
              </a:solidFill>
              <a:ln w="7620">
                <a:solidFill>
                  <a:srgbClr val="B2D3E5"/>
                </a:solidFill>
              </a:ln>
            </p:spPr>
            <p:txBody>
              <a:bodyPr lIns="38099" rIns="38099"/>
              <a:lstStyle/>
              <a:p>
                <a:endParaRPr sz="1500"/>
              </a:p>
            </p:txBody>
          </p:sp>
          <p:pic>
            <p:nvPicPr>
              <p:cNvPr id="960" name="Image 4" descr="Image 4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62800" y="6011822"/>
                <a:ext cx="304800" cy="381001"/>
              </a:xfrm>
              <a:prstGeom prst="rect">
                <a:avLst/>
              </a:prstGeom>
              <a:ln w="12700">
                <a:miter lim="400000"/>
              </a:ln>
            </p:spPr>
          </p:pic>
          <p:sp>
            <p:nvSpPr>
              <p:cNvPr id="961" name="Text 20"/>
              <p:cNvSpPr txBox="1"/>
              <p:nvPr/>
            </p:nvSpPr>
            <p:spPr>
              <a:xfrm>
                <a:off x="3915777" y="6043494"/>
                <a:ext cx="2383345" cy="35517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r">
                  <a:lnSpc>
                    <a:spcPts val="2500"/>
                  </a:lnSpc>
                  <a:defRPr sz="2300" b="1">
                    <a:latin typeface="Playfair Display Bold"/>
                    <a:ea typeface="Playfair Display Bold"/>
                    <a:cs typeface="Playfair Display Bold"/>
                    <a:sym typeface="Playfair Display Bold"/>
                  </a:defRPr>
                </a:lvl1pPr>
              </a:lstStyle>
              <a:p>
                <a:r>
                  <a:rPr sz="1917"/>
                  <a:t>Research Process</a:t>
                </a:r>
              </a:p>
            </p:txBody>
          </p:sp>
          <p:sp>
            <p:nvSpPr>
              <p:cNvPr id="962" name="Text 21"/>
              <p:cNvSpPr txBox="1"/>
              <p:nvPr/>
            </p:nvSpPr>
            <p:spPr>
              <a:xfrm>
                <a:off x="711278" y="6482953"/>
                <a:ext cx="5587843" cy="75112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0" tIns="0" rIns="0" bIns="0">
                <a:spAutoFit/>
              </a:bodyPr>
              <a:lstStyle>
                <a:lvl1pPr algn="r">
                  <a:lnSpc>
                    <a:spcPts val="2500"/>
                  </a:lnSpc>
                  <a:defRPr sz="2300">
                    <a:latin typeface="Inter"/>
                    <a:ea typeface="Inter"/>
                    <a:cs typeface="Inter"/>
                    <a:sym typeface="Inter"/>
                  </a:defRPr>
                </a:lvl1pPr>
              </a:lstStyle>
              <a:p>
                <a:r>
                  <a:rPr sz="1917"/>
                  <a:t>Following the step-by-step journey from question to conclusion</a:t>
                </a:r>
              </a:p>
            </p:txBody>
          </p:sp>
        </p:grp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08FED19-86FF-A2CD-C2C4-265DDDA53571}"/>
              </a:ext>
            </a:extLst>
          </p:cNvPr>
          <p:cNvSpPr txBox="1"/>
          <p:nvPr/>
        </p:nvSpPr>
        <p:spPr>
          <a:xfrm>
            <a:off x="-612332" y="-161010"/>
            <a:ext cx="2048178" cy="1820753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 dirty="0">
                <a:highlight>
                  <a:srgbClr val="FFFF00"/>
                </a:highlight>
              </a:rPr>
              <a:t>Out</a:t>
            </a:r>
            <a:endParaRPr lang="en-US" sz="1500" dirty="0"/>
          </a:p>
          <a:p>
            <a:pPr algn="ctr"/>
            <a:endParaRPr lang="en-US" sz="2833" b="1" dirty="0">
              <a:highlight>
                <a:srgbClr val="FFFF00"/>
              </a:highlight>
            </a:endParaRPr>
          </a:p>
          <a:p>
            <a:pPr algn="ctr"/>
            <a:r>
              <a:rPr lang="en-US" sz="2833" b="1" dirty="0">
                <a:highlight>
                  <a:srgbClr val="FFFF00"/>
                </a:highlight>
              </a:rPr>
              <a:t>(different map)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4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8001"/>
            <a:ext cx="12192000" cy="2362697"/>
          </a:xfrm>
          <a:prstGeom prst="rect">
            <a:avLst/>
          </a:prstGeom>
          <a:ln w="12700">
            <a:miter lim="400000"/>
          </a:ln>
        </p:spPr>
      </p:pic>
      <p:sp>
        <p:nvSpPr>
          <p:cNvPr id="965" name="Text 0"/>
          <p:cNvSpPr txBox="1"/>
          <p:nvPr/>
        </p:nvSpPr>
        <p:spPr>
          <a:xfrm>
            <a:off x="661492" y="3482876"/>
            <a:ext cx="3972241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 dirty="0"/>
              <a:t>What is Research?</a:t>
            </a:r>
          </a:p>
        </p:txBody>
      </p:sp>
      <p:sp>
        <p:nvSpPr>
          <p:cNvPr id="966" name="Shape 1"/>
          <p:cNvSpPr/>
          <p:nvPr/>
        </p:nvSpPr>
        <p:spPr>
          <a:xfrm>
            <a:off x="492158" y="4356994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967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050" y="4392413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968" name="Text 2"/>
          <p:cNvSpPr txBox="1"/>
          <p:nvPr/>
        </p:nvSpPr>
        <p:spPr>
          <a:xfrm>
            <a:off x="1106421" y="4421881"/>
            <a:ext cx="2925481" cy="3225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6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167" dirty="0"/>
              <a:t>A Journey of Discovery</a:t>
            </a:r>
          </a:p>
        </p:txBody>
      </p:sp>
      <p:sp>
        <p:nvSpPr>
          <p:cNvPr id="969" name="Text 3"/>
          <p:cNvSpPr txBox="1"/>
          <p:nvPr/>
        </p:nvSpPr>
        <p:spPr>
          <a:xfrm>
            <a:off x="1106421" y="4830564"/>
            <a:ext cx="3074232" cy="1419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6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167" dirty="0"/>
              <a:t>Research is a systematic investigation to establish facts and reach new conclusions.</a:t>
            </a:r>
          </a:p>
        </p:txBody>
      </p:sp>
      <p:sp>
        <p:nvSpPr>
          <p:cNvPr id="970" name="Shape 4"/>
          <p:cNvSpPr/>
          <p:nvPr/>
        </p:nvSpPr>
        <p:spPr>
          <a:xfrm>
            <a:off x="4542011" y="4345074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971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2903" y="4380494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972" name="Text 5"/>
          <p:cNvSpPr txBox="1"/>
          <p:nvPr/>
        </p:nvSpPr>
        <p:spPr>
          <a:xfrm>
            <a:off x="5156273" y="4409962"/>
            <a:ext cx="2186496" cy="3225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6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167" dirty="0"/>
              <a:t>Question-Driven</a:t>
            </a:r>
          </a:p>
        </p:txBody>
      </p:sp>
      <p:sp>
        <p:nvSpPr>
          <p:cNvPr id="973" name="Text 6"/>
          <p:cNvSpPr txBox="1"/>
          <p:nvPr/>
        </p:nvSpPr>
        <p:spPr>
          <a:xfrm>
            <a:off x="5156273" y="4818645"/>
            <a:ext cx="2851250" cy="1419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6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167" dirty="0"/>
              <a:t>Every great discovery begins with a well-framed question that guides your direction.</a:t>
            </a:r>
          </a:p>
        </p:txBody>
      </p:sp>
      <p:sp>
        <p:nvSpPr>
          <p:cNvPr id="974" name="Shape 7"/>
          <p:cNvSpPr/>
          <p:nvPr/>
        </p:nvSpPr>
        <p:spPr>
          <a:xfrm>
            <a:off x="8064996" y="4356994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975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5888" y="4392413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976" name="Text 8"/>
          <p:cNvSpPr txBox="1"/>
          <p:nvPr/>
        </p:nvSpPr>
        <p:spPr>
          <a:xfrm>
            <a:off x="8679259" y="4421881"/>
            <a:ext cx="2056653" cy="3225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6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167" dirty="0"/>
              <a:t>Evidence-Based</a:t>
            </a:r>
          </a:p>
        </p:txBody>
      </p:sp>
      <p:sp>
        <p:nvSpPr>
          <p:cNvPr id="977" name="Text 9"/>
          <p:cNvSpPr txBox="1"/>
          <p:nvPr/>
        </p:nvSpPr>
        <p:spPr>
          <a:xfrm>
            <a:off x="8679258" y="4830564"/>
            <a:ext cx="2851250" cy="1419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6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167" dirty="0"/>
              <a:t>Research relies on gathering and analyzing evidence rather than opinions or assumptions.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9" name="Image 0" descr="Image 0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88260" y="609486"/>
            <a:ext cx="11815380" cy="2283365"/>
          </a:xfrm>
          <a:prstGeom prst="rect">
            <a:avLst/>
          </a:prstGeom>
          <a:ln w="12700">
            <a:miter lim="400000"/>
          </a:ln>
        </p:spPr>
      </p:pic>
      <p:sp>
        <p:nvSpPr>
          <p:cNvPr id="980" name="Text 0"/>
          <p:cNvSpPr txBox="1"/>
          <p:nvPr/>
        </p:nvSpPr>
        <p:spPr>
          <a:xfrm>
            <a:off x="659705" y="2874863"/>
            <a:ext cx="10872591" cy="1138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4583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 dirty="0"/>
              <a:t>From Opinion to Evidence: </a:t>
            </a:r>
          </a:p>
          <a:p>
            <a:pPr>
              <a:lnSpc>
                <a:spcPts val="4583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 dirty="0"/>
              <a:t>The </a:t>
            </a:r>
            <a:r>
              <a:rPr sz="3667" dirty="0" err="1"/>
              <a:t>Schoolday</a:t>
            </a:r>
            <a:r>
              <a:rPr sz="3667" dirty="0"/>
              <a:t> Fatigue Mystery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5DBF01-9BBA-F7F1-4063-251C185DB4AC}"/>
              </a:ext>
            </a:extLst>
          </p:cNvPr>
          <p:cNvSpPr txBox="1"/>
          <p:nvPr/>
        </p:nvSpPr>
        <p:spPr>
          <a:xfrm>
            <a:off x="183930" y="185563"/>
            <a:ext cx="3142479" cy="2590002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333" b="1">
                <a:highlight>
                  <a:srgbClr val="FFFF00"/>
                </a:highlight>
              </a:rPr>
              <a:t>DIFFERENT </a:t>
            </a:r>
            <a:r>
              <a:rPr lang="en-US" sz="2333" b="1" dirty="0">
                <a:highlight>
                  <a:srgbClr val="FFFF00"/>
                </a:highlight>
              </a:rPr>
              <a:t>EXAMPLE IDENTIFIED IN THE EVANSTON</a:t>
            </a:r>
          </a:p>
          <a:p>
            <a:pPr algn="ctr"/>
            <a:r>
              <a:rPr lang="en-US" sz="2333" b="1">
                <a:highlight>
                  <a:srgbClr val="FFFF00"/>
                </a:highlight>
              </a:rPr>
              <a:t>CURRICULUM</a:t>
            </a:r>
            <a:endParaRPr lang="en-US" sz="2333" b="1" dirty="0">
              <a:highlight>
                <a:srgbClr val="FFFF00"/>
              </a:highlight>
            </a:endParaRPr>
          </a:p>
          <a:p>
            <a:pPr algn="ctr"/>
            <a:r>
              <a:rPr lang="en-US" sz="2333" b="1" dirty="0">
                <a:highlight>
                  <a:srgbClr val="FFFF00"/>
                </a:highlight>
              </a:rPr>
              <a:t>(This may be too basic for our</a:t>
            </a:r>
            <a:r>
              <a:rPr lang="en-US" sz="2333" b="1">
                <a:highlight>
                  <a:srgbClr val="FFFF00"/>
                </a:highlight>
              </a:rPr>
              <a:t> cohort anyways)</a:t>
            </a:r>
            <a:endParaRPr lang="en-US" sz="2333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2" name="Image 0" descr="Image 0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88260" y="609486"/>
            <a:ext cx="11815380" cy="2283365"/>
          </a:xfrm>
          <a:prstGeom prst="rect">
            <a:avLst/>
          </a:prstGeom>
          <a:ln w="12700">
            <a:miter lim="400000"/>
          </a:ln>
        </p:spPr>
      </p:pic>
      <p:sp>
        <p:nvSpPr>
          <p:cNvPr id="983" name="Text 0"/>
          <p:cNvSpPr txBox="1"/>
          <p:nvPr/>
        </p:nvSpPr>
        <p:spPr>
          <a:xfrm>
            <a:off x="659705" y="2874863"/>
            <a:ext cx="10872591" cy="1138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4583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/>
              <a:t>From Opinion to Evidence: </a:t>
            </a:r>
          </a:p>
          <a:p>
            <a:pPr>
              <a:lnSpc>
                <a:spcPts val="4583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/>
              <a:t>The Schoolday Fatigue Mystery</a:t>
            </a:r>
          </a:p>
        </p:txBody>
      </p:sp>
      <p:sp>
        <p:nvSpPr>
          <p:cNvPr id="984" name="Shape 1"/>
          <p:cNvSpPr/>
          <p:nvPr/>
        </p:nvSpPr>
        <p:spPr>
          <a:xfrm>
            <a:off x="659706" y="4335660"/>
            <a:ext cx="3498554" cy="2003525"/>
          </a:xfrm>
          <a:prstGeom prst="roundRect">
            <a:avLst>
              <a:gd name="adj" fmla="val 3952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200"/>
            </a:pPr>
            <a:endParaRPr sz="1833"/>
          </a:p>
        </p:txBody>
      </p:sp>
      <p:sp>
        <p:nvSpPr>
          <p:cNvPr id="985" name="Text 2"/>
          <p:cNvSpPr txBox="1"/>
          <p:nvPr/>
        </p:nvSpPr>
        <p:spPr>
          <a:xfrm>
            <a:off x="854471" y="4530428"/>
            <a:ext cx="1630254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 dirty="0"/>
              <a:t>Eren's Opinion</a:t>
            </a:r>
          </a:p>
        </p:txBody>
      </p:sp>
      <p:sp>
        <p:nvSpPr>
          <p:cNvPr id="986" name="Text 3"/>
          <p:cNvSpPr txBox="1"/>
          <p:nvPr/>
        </p:nvSpPr>
        <p:spPr>
          <a:xfrm>
            <a:off x="854471" y="4937918"/>
            <a:ext cx="3109021" cy="14085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 dirty="0"/>
              <a:t>Students are tired because they stay up too late scrolling through social media. TikTok is ruining sleep habits.</a:t>
            </a:r>
          </a:p>
        </p:txBody>
      </p:sp>
      <p:sp>
        <p:nvSpPr>
          <p:cNvPr id="987" name="Shape 4"/>
          <p:cNvSpPr/>
          <p:nvPr/>
        </p:nvSpPr>
        <p:spPr>
          <a:xfrm>
            <a:off x="4346674" y="4335660"/>
            <a:ext cx="3498553" cy="2003525"/>
          </a:xfrm>
          <a:prstGeom prst="roundRect">
            <a:avLst>
              <a:gd name="adj" fmla="val 3952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200"/>
            </a:pPr>
            <a:endParaRPr sz="1833" dirty="0"/>
          </a:p>
        </p:txBody>
      </p:sp>
      <p:sp>
        <p:nvSpPr>
          <p:cNvPr id="988" name="Text 5"/>
          <p:cNvSpPr txBox="1"/>
          <p:nvPr/>
        </p:nvSpPr>
        <p:spPr>
          <a:xfrm>
            <a:off x="4541440" y="4530428"/>
            <a:ext cx="2071080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 dirty="0"/>
              <a:t>Derin’s Hypothesis</a:t>
            </a:r>
          </a:p>
        </p:txBody>
      </p:sp>
      <p:sp>
        <p:nvSpPr>
          <p:cNvPr id="989" name="Text 6"/>
          <p:cNvSpPr txBox="1"/>
          <p:nvPr/>
        </p:nvSpPr>
        <p:spPr>
          <a:xfrm>
            <a:off x="4541440" y="4937918"/>
            <a:ext cx="3109021" cy="1049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 dirty="0"/>
              <a:t>Early school start times might be the real issue, not necessarily phone use.</a:t>
            </a:r>
          </a:p>
        </p:txBody>
      </p:sp>
      <p:sp>
        <p:nvSpPr>
          <p:cNvPr id="990" name="Shape 7"/>
          <p:cNvSpPr/>
          <p:nvPr/>
        </p:nvSpPr>
        <p:spPr>
          <a:xfrm>
            <a:off x="8033644" y="4335660"/>
            <a:ext cx="3498553" cy="2003525"/>
          </a:xfrm>
          <a:prstGeom prst="roundRect">
            <a:avLst>
              <a:gd name="adj" fmla="val 3952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200"/>
            </a:pPr>
            <a:endParaRPr sz="1833"/>
          </a:p>
        </p:txBody>
      </p:sp>
      <p:sp>
        <p:nvSpPr>
          <p:cNvPr id="991" name="Text 8"/>
          <p:cNvSpPr txBox="1"/>
          <p:nvPr/>
        </p:nvSpPr>
        <p:spPr>
          <a:xfrm>
            <a:off x="8228410" y="4530428"/>
            <a:ext cx="2771593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 dirty="0"/>
              <a:t>Their Research Approach</a:t>
            </a:r>
          </a:p>
        </p:txBody>
      </p:sp>
      <p:sp>
        <p:nvSpPr>
          <p:cNvPr id="992" name="Text 9"/>
          <p:cNvSpPr txBox="1"/>
          <p:nvPr/>
        </p:nvSpPr>
        <p:spPr>
          <a:xfrm>
            <a:off x="8228409" y="4937918"/>
            <a:ext cx="3109020" cy="1049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 dirty="0"/>
              <a:t>Design an anonymous survey, analyze patterns, read studies on teen sleep and blue light effects.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000746-634B-122F-81C6-BA1B6EF12623}"/>
              </a:ext>
            </a:extLst>
          </p:cNvPr>
          <p:cNvSpPr txBox="1"/>
          <p:nvPr/>
        </p:nvSpPr>
        <p:spPr>
          <a:xfrm>
            <a:off x="183930" y="185563"/>
            <a:ext cx="3142479" cy="2590002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333" b="1">
                <a:highlight>
                  <a:srgbClr val="FFFF00"/>
                </a:highlight>
              </a:rPr>
              <a:t>DIFFERENT </a:t>
            </a:r>
            <a:r>
              <a:rPr lang="en-US" sz="2333" b="1" dirty="0">
                <a:highlight>
                  <a:srgbClr val="FFFF00"/>
                </a:highlight>
              </a:rPr>
              <a:t>EXAMPLE IDENTIFIED IN THE EVANSTON</a:t>
            </a:r>
          </a:p>
          <a:p>
            <a:pPr algn="ctr"/>
            <a:r>
              <a:rPr lang="en-US" sz="2333" b="1">
                <a:highlight>
                  <a:srgbClr val="FFFF00"/>
                </a:highlight>
              </a:rPr>
              <a:t>CURRICULUM</a:t>
            </a:r>
            <a:endParaRPr lang="en-US" sz="2333" b="1" dirty="0">
              <a:highlight>
                <a:srgbClr val="FFFF00"/>
              </a:highlight>
            </a:endParaRPr>
          </a:p>
          <a:p>
            <a:pPr algn="ctr"/>
            <a:r>
              <a:rPr lang="en-US" sz="2333" b="1" dirty="0">
                <a:highlight>
                  <a:srgbClr val="FFFF00"/>
                </a:highlight>
              </a:rPr>
              <a:t>(This may be too basic for our</a:t>
            </a:r>
            <a:r>
              <a:rPr lang="en-US" sz="2333" b="1">
                <a:highlight>
                  <a:srgbClr val="FFFF00"/>
                </a:highlight>
              </a:rPr>
              <a:t> cohort anyways)</a:t>
            </a:r>
            <a:endParaRPr lang="en-US" sz="2333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4" name="Image 0" descr="Image 0"/>
          <p:cNvPicPr>
            <a:picLocks noChangeAspect="1"/>
          </p:cNvPicPr>
          <p:nvPr/>
        </p:nvPicPr>
        <p:blipFill>
          <a:blip r:embed="rId2"/>
          <a:srcRect r="275" b="275"/>
          <a:stretch>
            <a:fillRect/>
          </a:stretch>
        </p:blipFill>
        <p:spPr>
          <a:xfrm>
            <a:off x="0" y="0"/>
            <a:ext cx="4431862" cy="6647793"/>
          </a:xfrm>
          <a:prstGeom prst="rect">
            <a:avLst/>
          </a:prstGeom>
          <a:ln w="12700">
            <a:miter lim="400000"/>
          </a:ln>
        </p:spPr>
      </p:pic>
      <p:sp>
        <p:nvSpPr>
          <p:cNvPr id="995" name="Text 0"/>
          <p:cNvSpPr txBox="1"/>
          <p:nvPr/>
        </p:nvSpPr>
        <p:spPr>
          <a:xfrm>
            <a:off x="5172969" y="832444"/>
            <a:ext cx="6190797" cy="577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000"/>
              </a:lnSpc>
              <a:defRPr sz="4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333" dirty="0"/>
              <a:t>Their Evidence-Based Findings</a:t>
            </a:r>
          </a:p>
        </p:txBody>
      </p:sp>
      <p:sp>
        <p:nvSpPr>
          <p:cNvPr id="996" name="Shape 1"/>
          <p:cNvSpPr/>
          <p:nvPr/>
        </p:nvSpPr>
        <p:spPr>
          <a:xfrm>
            <a:off x="5172969" y="1626493"/>
            <a:ext cx="386259" cy="386259"/>
          </a:xfrm>
          <a:prstGeom prst="roundRect">
            <a:avLst>
              <a:gd name="adj" fmla="val 18671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997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7312" y="1658640"/>
            <a:ext cx="257473" cy="321867"/>
          </a:xfrm>
          <a:prstGeom prst="rect">
            <a:avLst/>
          </a:prstGeom>
          <a:ln w="12700">
            <a:miter lim="400000"/>
          </a:ln>
        </p:spPr>
      </p:pic>
      <p:sp>
        <p:nvSpPr>
          <p:cNvPr id="998" name="Text 2"/>
          <p:cNvSpPr txBox="1"/>
          <p:nvPr/>
        </p:nvSpPr>
        <p:spPr>
          <a:xfrm>
            <a:off x="5730875" y="1685428"/>
            <a:ext cx="2051844" cy="3007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25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83"/>
              <a:t>Nuanced Results</a:t>
            </a:r>
          </a:p>
        </p:txBody>
      </p:sp>
      <p:sp>
        <p:nvSpPr>
          <p:cNvPr id="999" name="Text 3"/>
          <p:cNvSpPr txBox="1"/>
          <p:nvPr/>
        </p:nvSpPr>
        <p:spPr>
          <a:xfrm>
            <a:off x="5730875" y="2056607"/>
            <a:ext cx="6314903" cy="631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Data showed a more complex picture than either initial assumption.</a:t>
            </a:r>
          </a:p>
        </p:txBody>
      </p:sp>
      <p:sp>
        <p:nvSpPr>
          <p:cNvPr id="1000" name="Shape 4"/>
          <p:cNvSpPr/>
          <p:nvPr/>
        </p:nvSpPr>
        <p:spPr>
          <a:xfrm>
            <a:off x="5172969" y="2674740"/>
            <a:ext cx="386259" cy="386259"/>
          </a:xfrm>
          <a:prstGeom prst="roundRect">
            <a:avLst>
              <a:gd name="adj" fmla="val 18671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1001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7312" y="2706885"/>
            <a:ext cx="257473" cy="321867"/>
          </a:xfrm>
          <a:prstGeom prst="rect">
            <a:avLst/>
          </a:prstGeom>
          <a:ln w="12700">
            <a:miter lim="400000"/>
          </a:ln>
        </p:spPr>
      </p:pic>
      <p:sp>
        <p:nvSpPr>
          <p:cNvPr id="1002" name="Text 5"/>
          <p:cNvSpPr txBox="1"/>
          <p:nvPr/>
        </p:nvSpPr>
        <p:spPr>
          <a:xfrm>
            <a:off x="5730875" y="2733674"/>
            <a:ext cx="2281074" cy="3007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25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83"/>
              <a:t>Phone Correlation</a:t>
            </a:r>
          </a:p>
        </p:txBody>
      </p:sp>
      <p:sp>
        <p:nvSpPr>
          <p:cNvPr id="1003" name="Text 6"/>
          <p:cNvSpPr txBox="1"/>
          <p:nvPr/>
        </p:nvSpPr>
        <p:spPr>
          <a:xfrm>
            <a:off x="5730875" y="3104852"/>
            <a:ext cx="5860157" cy="631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Excessive phone use did correlate with shorter sleep for some students.</a:t>
            </a:r>
          </a:p>
        </p:txBody>
      </p:sp>
      <p:sp>
        <p:nvSpPr>
          <p:cNvPr id="1004" name="Shape 7"/>
          <p:cNvSpPr/>
          <p:nvPr/>
        </p:nvSpPr>
        <p:spPr>
          <a:xfrm>
            <a:off x="5172969" y="3722985"/>
            <a:ext cx="386259" cy="386259"/>
          </a:xfrm>
          <a:prstGeom prst="roundRect">
            <a:avLst>
              <a:gd name="adj" fmla="val 18671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1005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7312" y="3755131"/>
            <a:ext cx="257473" cy="321867"/>
          </a:xfrm>
          <a:prstGeom prst="rect">
            <a:avLst/>
          </a:prstGeom>
          <a:ln w="12700">
            <a:miter lim="400000"/>
          </a:ln>
        </p:spPr>
      </p:pic>
      <p:sp>
        <p:nvSpPr>
          <p:cNvPr id="1006" name="Text 8"/>
          <p:cNvSpPr txBox="1"/>
          <p:nvPr/>
        </p:nvSpPr>
        <p:spPr>
          <a:xfrm>
            <a:off x="5730875" y="3781921"/>
            <a:ext cx="2258632" cy="3007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25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83"/>
              <a:t>Structural Factors</a:t>
            </a:r>
          </a:p>
        </p:txBody>
      </p:sp>
      <p:sp>
        <p:nvSpPr>
          <p:cNvPr id="1007" name="Text 9"/>
          <p:cNvSpPr txBox="1"/>
          <p:nvPr/>
        </p:nvSpPr>
        <p:spPr>
          <a:xfrm>
            <a:off x="5730875" y="4153098"/>
            <a:ext cx="5860157" cy="631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Students with strict screen limits still struggled with early wake-up times.</a:t>
            </a:r>
          </a:p>
        </p:txBody>
      </p:sp>
      <p:sp>
        <p:nvSpPr>
          <p:cNvPr id="1008" name="Shape 10"/>
          <p:cNvSpPr/>
          <p:nvPr/>
        </p:nvSpPr>
        <p:spPr>
          <a:xfrm>
            <a:off x="5172969" y="5045969"/>
            <a:ext cx="386259" cy="386259"/>
          </a:xfrm>
          <a:prstGeom prst="roundRect">
            <a:avLst>
              <a:gd name="adj" fmla="val 18671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1009" name="Image 4" descr="Imag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7312" y="5078115"/>
            <a:ext cx="257473" cy="321867"/>
          </a:xfrm>
          <a:prstGeom prst="rect">
            <a:avLst/>
          </a:prstGeom>
          <a:ln w="12700">
            <a:miter lim="400000"/>
          </a:ln>
        </p:spPr>
      </p:pic>
      <p:sp>
        <p:nvSpPr>
          <p:cNvPr id="1010" name="Text 11"/>
          <p:cNvSpPr txBox="1"/>
          <p:nvPr/>
        </p:nvSpPr>
        <p:spPr>
          <a:xfrm>
            <a:off x="5730875" y="5104903"/>
            <a:ext cx="1979709" cy="3007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25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83"/>
              <a:t>Multiple Causes</a:t>
            </a:r>
          </a:p>
        </p:txBody>
      </p:sp>
      <p:sp>
        <p:nvSpPr>
          <p:cNvPr id="1011" name="Text 12"/>
          <p:cNvSpPr txBox="1"/>
          <p:nvPr/>
        </p:nvSpPr>
        <p:spPr>
          <a:xfrm>
            <a:off x="5730875" y="5476082"/>
            <a:ext cx="5860157" cy="631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Both personal habits and school schedules contributed to morning fatigue.</a:t>
            </a:r>
          </a:p>
        </p:txBody>
      </p:sp>
      <p:sp>
        <p:nvSpPr>
          <p:cNvPr id="1012" name="Rectangle"/>
          <p:cNvSpPr/>
          <p:nvPr/>
        </p:nvSpPr>
        <p:spPr>
          <a:xfrm>
            <a:off x="-94856" y="-366885"/>
            <a:ext cx="9701771" cy="58674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 anchor="ctr"/>
          <a:lstStyle/>
          <a:p>
            <a:endParaRPr sz="1500"/>
          </a:p>
        </p:txBody>
      </p:sp>
      <p:sp>
        <p:nvSpPr>
          <p:cNvPr id="1013" name="Text 5"/>
          <p:cNvSpPr txBox="1"/>
          <p:nvPr/>
        </p:nvSpPr>
        <p:spPr>
          <a:xfrm>
            <a:off x="333375" y="4610436"/>
            <a:ext cx="67326" cy="274306"/>
          </a:xfrm>
          <a:prstGeom prst="rect">
            <a:avLst/>
          </a:prstGeom>
          <a:solidFill>
            <a:srgbClr val="1B293E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1400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167"/>
              <a:t>3</a:t>
            </a:r>
          </a:p>
        </p:txBody>
      </p:sp>
      <p:sp>
        <p:nvSpPr>
          <p:cNvPr id="1014" name="Text 5"/>
          <p:cNvSpPr txBox="1"/>
          <p:nvPr/>
        </p:nvSpPr>
        <p:spPr>
          <a:xfrm>
            <a:off x="333375" y="4298777"/>
            <a:ext cx="73738" cy="274306"/>
          </a:xfrm>
          <a:prstGeom prst="rect">
            <a:avLst/>
          </a:prstGeom>
          <a:solidFill>
            <a:srgbClr val="1B293E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1400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167"/>
              <a:t>4</a:t>
            </a:r>
          </a:p>
        </p:txBody>
      </p:sp>
      <p:sp>
        <p:nvSpPr>
          <p:cNvPr id="1015" name="Text 5"/>
          <p:cNvSpPr txBox="1"/>
          <p:nvPr/>
        </p:nvSpPr>
        <p:spPr>
          <a:xfrm rot="16201879">
            <a:off x="483975" y="2543076"/>
            <a:ext cx="1514838" cy="274306"/>
          </a:xfrm>
          <a:prstGeom prst="rect">
            <a:avLst/>
          </a:prstGeom>
          <a:solidFill>
            <a:srgbClr val="1B293E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1400">
                <a:solidFill>
                  <a:srgbClr val="E8E8E8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167"/>
              <a:t>Sleep Duration (hours)</a:t>
            </a:r>
          </a:p>
        </p:txBody>
      </p:sp>
      <p:sp>
        <p:nvSpPr>
          <p:cNvPr id="1016" name="Text 5"/>
          <p:cNvSpPr txBox="1"/>
          <p:nvPr/>
        </p:nvSpPr>
        <p:spPr>
          <a:xfrm>
            <a:off x="1407933" y="2859444"/>
            <a:ext cx="73738" cy="274306"/>
          </a:xfrm>
          <a:prstGeom prst="rect">
            <a:avLst/>
          </a:prstGeom>
          <a:solidFill>
            <a:srgbClr val="1B293E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1400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167"/>
              <a:t>4</a:t>
            </a:r>
          </a:p>
        </p:txBody>
      </p:sp>
      <p:sp>
        <p:nvSpPr>
          <p:cNvPr id="1017" name="Text 5"/>
          <p:cNvSpPr txBox="1"/>
          <p:nvPr/>
        </p:nvSpPr>
        <p:spPr>
          <a:xfrm>
            <a:off x="1407932" y="2439613"/>
            <a:ext cx="76944" cy="274306"/>
          </a:xfrm>
          <a:prstGeom prst="rect">
            <a:avLst/>
          </a:prstGeom>
          <a:solidFill>
            <a:srgbClr val="1B293E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1400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167"/>
              <a:t>6</a:t>
            </a:r>
          </a:p>
        </p:txBody>
      </p:sp>
      <p:sp>
        <p:nvSpPr>
          <p:cNvPr id="1018" name="Text 5"/>
          <p:cNvSpPr txBox="1"/>
          <p:nvPr/>
        </p:nvSpPr>
        <p:spPr>
          <a:xfrm>
            <a:off x="1407932" y="2019782"/>
            <a:ext cx="78548" cy="274306"/>
          </a:xfrm>
          <a:prstGeom prst="rect">
            <a:avLst/>
          </a:prstGeom>
          <a:solidFill>
            <a:srgbClr val="1B293E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1400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167"/>
              <a:t>8</a:t>
            </a:r>
          </a:p>
        </p:txBody>
      </p:sp>
      <p:sp>
        <p:nvSpPr>
          <p:cNvPr id="1019" name="Text 5"/>
          <p:cNvSpPr txBox="1"/>
          <p:nvPr/>
        </p:nvSpPr>
        <p:spPr>
          <a:xfrm>
            <a:off x="1534932" y="3422545"/>
            <a:ext cx="76944" cy="153888"/>
          </a:xfrm>
          <a:prstGeom prst="rect">
            <a:avLst/>
          </a:prstGeom>
          <a:solidFill>
            <a:srgbClr val="1C2A4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000"/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8E2C9F-01B7-6101-8767-2A5F5A8D6C25}"/>
              </a:ext>
            </a:extLst>
          </p:cNvPr>
          <p:cNvSpPr txBox="1"/>
          <p:nvPr/>
        </p:nvSpPr>
        <p:spPr>
          <a:xfrm>
            <a:off x="183930" y="185563"/>
            <a:ext cx="3142479" cy="2590002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333" b="1">
                <a:highlight>
                  <a:srgbClr val="FFFF00"/>
                </a:highlight>
              </a:rPr>
              <a:t>DIFFERENT </a:t>
            </a:r>
            <a:r>
              <a:rPr lang="en-US" sz="2333" b="1" dirty="0">
                <a:highlight>
                  <a:srgbClr val="FFFF00"/>
                </a:highlight>
              </a:rPr>
              <a:t>EXAMPLE IDENTIFIED IN THE EVANSTON</a:t>
            </a:r>
          </a:p>
          <a:p>
            <a:pPr algn="ctr"/>
            <a:r>
              <a:rPr lang="en-US" sz="2333" b="1">
                <a:highlight>
                  <a:srgbClr val="FFFF00"/>
                </a:highlight>
              </a:rPr>
              <a:t>CURRICULUM</a:t>
            </a:r>
            <a:endParaRPr lang="en-US" sz="2333" b="1" dirty="0">
              <a:highlight>
                <a:srgbClr val="FFFF00"/>
              </a:highlight>
            </a:endParaRPr>
          </a:p>
          <a:p>
            <a:pPr algn="ctr"/>
            <a:r>
              <a:rPr lang="en-US" sz="2333" b="1" dirty="0">
                <a:highlight>
                  <a:srgbClr val="FFFF00"/>
                </a:highlight>
              </a:rPr>
              <a:t>(This may be too basic for our</a:t>
            </a:r>
            <a:r>
              <a:rPr lang="en-US" sz="2333" b="1">
                <a:highlight>
                  <a:srgbClr val="FFFF00"/>
                </a:highlight>
              </a:rPr>
              <a:t> cohort anyways)</a:t>
            </a:r>
            <a:endParaRPr lang="en-US" sz="2333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Text 0"/>
          <p:cNvSpPr txBox="1"/>
          <p:nvPr/>
        </p:nvSpPr>
        <p:spPr>
          <a:xfrm>
            <a:off x="661491" y="1065312"/>
            <a:ext cx="8080738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From Curiosity to Focused Questions</a:t>
            </a:r>
          </a:p>
        </p:txBody>
      </p:sp>
      <p:sp>
        <p:nvSpPr>
          <p:cNvPr id="1022" name="Shape 1"/>
          <p:cNvSpPr/>
          <p:nvPr/>
        </p:nvSpPr>
        <p:spPr>
          <a:xfrm>
            <a:off x="661491" y="2033984"/>
            <a:ext cx="1811437" cy="1089125"/>
          </a:xfrm>
          <a:prstGeom prst="roundRect">
            <a:avLst>
              <a:gd name="adj" fmla="val 728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1023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306" y="2412405"/>
            <a:ext cx="265808" cy="332185"/>
          </a:xfrm>
          <a:prstGeom prst="rect">
            <a:avLst/>
          </a:prstGeom>
          <a:ln w="12700">
            <a:miter lim="400000"/>
          </a:ln>
        </p:spPr>
      </p:pic>
      <p:sp>
        <p:nvSpPr>
          <p:cNvPr id="1024" name="Text 2"/>
          <p:cNvSpPr txBox="1"/>
          <p:nvPr/>
        </p:nvSpPr>
        <p:spPr>
          <a:xfrm>
            <a:off x="2661941" y="2222995"/>
            <a:ext cx="1713611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Curiosity Spark</a:t>
            </a:r>
          </a:p>
        </p:txBody>
      </p:sp>
      <p:sp>
        <p:nvSpPr>
          <p:cNvPr id="1025" name="Text 3"/>
          <p:cNvSpPr txBox="1"/>
          <p:nvPr/>
        </p:nvSpPr>
        <p:spPr>
          <a:xfrm>
            <a:off x="2661940" y="2631678"/>
            <a:ext cx="5122684" cy="325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20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667"/>
              <a:t>The urge to know more about something that intrigues you</a:t>
            </a:r>
          </a:p>
        </p:txBody>
      </p:sp>
      <p:sp>
        <p:nvSpPr>
          <p:cNvPr id="1026" name="Shape 4"/>
          <p:cNvSpPr/>
          <p:nvPr/>
        </p:nvSpPr>
        <p:spPr>
          <a:xfrm>
            <a:off x="2567383" y="3110409"/>
            <a:ext cx="8868670" cy="12701"/>
          </a:xfrm>
          <a:prstGeom prst="roundRect">
            <a:avLst>
              <a:gd name="adj" fmla="val 50000"/>
            </a:avLst>
          </a:prstGeom>
          <a:solidFill>
            <a:srgbClr val="B2D3E5"/>
          </a:solidFill>
          <a:ln w="12700">
            <a:miter lim="400000"/>
          </a:ln>
        </p:spPr>
        <p:txBody>
          <a:bodyPr lIns="38099" rIns="38099"/>
          <a:lstStyle/>
          <a:p>
            <a:pPr>
              <a:defRPr sz="2000"/>
            </a:pPr>
            <a:endParaRPr sz="1667"/>
          </a:p>
        </p:txBody>
      </p:sp>
      <p:sp>
        <p:nvSpPr>
          <p:cNvPr id="1027" name="Shape 5"/>
          <p:cNvSpPr/>
          <p:nvPr/>
        </p:nvSpPr>
        <p:spPr>
          <a:xfrm>
            <a:off x="661492" y="3217564"/>
            <a:ext cx="3622973" cy="1089125"/>
          </a:xfrm>
          <a:prstGeom prst="roundRect">
            <a:avLst>
              <a:gd name="adj" fmla="val 728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1028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0074" y="3595984"/>
            <a:ext cx="265808" cy="332185"/>
          </a:xfrm>
          <a:prstGeom prst="rect">
            <a:avLst/>
          </a:prstGeom>
          <a:ln w="12700">
            <a:miter lim="400000"/>
          </a:ln>
        </p:spPr>
      </p:pic>
      <p:sp>
        <p:nvSpPr>
          <p:cNvPr id="1029" name="Text 6"/>
          <p:cNvSpPr txBox="1"/>
          <p:nvPr/>
        </p:nvSpPr>
        <p:spPr>
          <a:xfrm>
            <a:off x="4473476" y="3406576"/>
            <a:ext cx="873637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Wonder</a:t>
            </a:r>
          </a:p>
        </p:txBody>
      </p:sp>
      <p:sp>
        <p:nvSpPr>
          <p:cNvPr id="1030" name="Text 7"/>
          <p:cNvSpPr txBox="1"/>
          <p:nvPr/>
        </p:nvSpPr>
        <p:spPr>
          <a:xfrm>
            <a:off x="4473476" y="3815258"/>
            <a:ext cx="5793124" cy="325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20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667"/>
              <a:t>Asking yourself "Why is this happening?" or "How does this work?"</a:t>
            </a:r>
          </a:p>
        </p:txBody>
      </p:sp>
      <p:sp>
        <p:nvSpPr>
          <p:cNvPr id="1031" name="Shape 8"/>
          <p:cNvSpPr/>
          <p:nvPr/>
        </p:nvSpPr>
        <p:spPr>
          <a:xfrm>
            <a:off x="4378920" y="4293990"/>
            <a:ext cx="7057133" cy="12701"/>
          </a:xfrm>
          <a:prstGeom prst="roundRect">
            <a:avLst>
              <a:gd name="adj" fmla="val 50000"/>
            </a:avLst>
          </a:prstGeom>
          <a:solidFill>
            <a:srgbClr val="B2D3E5"/>
          </a:solidFill>
          <a:ln w="12700">
            <a:miter lim="400000"/>
          </a:ln>
        </p:spPr>
        <p:txBody>
          <a:bodyPr lIns="38099" rIns="38099"/>
          <a:lstStyle/>
          <a:p>
            <a:pPr>
              <a:defRPr sz="2000"/>
            </a:pPr>
            <a:endParaRPr sz="1667"/>
          </a:p>
        </p:txBody>
      </p:sp>
      <p:sp>
        <p:nvSpPr>
          <p:cNvPr id="1032" name="Shape 9"/>
          <p:cNvSpPr/>
          <p:nvPr/>
        </p:nvSpPr>
        <p:spPr>
          <a:xfrm>
            <a:off x="661492" y="4401146"/>
            <a:ext cx="5434508" cy="1391544"/>
          </a:xfrm>
          <a:prstGeom prst="roundRect">
            <a:avLst>
              <a:gd name="adj" fmla="val 5705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1033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5843" y="4930774"/>
            <a:ext cx="265808" cy="332185"/>
          </a:xfrm>
          <a:prstGeom prst="rect">
            <a:avLst/>
          </a:prstGeom>
          <a:ln w="12700">
            <a:miter lim="400000"/>
          </a:ln>
        </p:spPr>
      </p:pic>
      <p:sp>
        <p:nvSpPr>
          <p:cNvPr id="1034" name="Text 10"/>
          <p:cNvSpPr txBox="1"/>
          <p:nvPr/>
        </p:nvSpPr>
        <p:spPr>
          <a:xfrm>
            <a:off x="6285012" y="4590156"/>
            <a:ext cx="1857881" cy="308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667"/>
              <a:t>Research Question</a:t>
            </a:r>
          </a:p>
        </p:txBody>
      </p:sp>
      <p:sp>
        <p:nvSpPr>
          <p:cNvPr id="1035" name="Text 11"/>
          <p:cNvSpPr txBox="1"/>
          <p:nvPr/>
        </p:nvSpPr>
        <p:spPr>
          <a:xfrm>
            <a:off x="6285012" y="4998839"/>
            <a:ext cx="5056486" cy="6848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0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667"/>
              <a:t>Transforming curiosity into a clear, specific question to explore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D82F15-EAB5-792C-07CE-5B55CA47C461}"/>
              </a:ext>
            </a:extLst>
          </p:cNvPr>
          <p:cNvSpPr txBox="1"/>
          <p:nvPr/>
        </p:nvSpPr>
        <p:spPr>
          <a:xfrm>
            <a:off x="166742" y="302047"/>
            <a:ext cx="2077299" cy="3128611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 dirty="0">
                <a:highlight>
                  <a:srgbClr val="FFFF00"/>
                </a:highlight>
              </a:rPr>
              <a:t>NOT in curriculum BUT can stay and be mentioned very </a:t>
            </a:r>
            <a:r>
              <a:rPr lang="en-US" sz="2833" b="1" dirty="0" err="1">
                <a:highlight>
                  <a:srgbClr val="FFFF00"/>
                </a:highlight>
              </a:rPr>
              <a:t>briefl</a:t>
            </a:r>
            <a:r>
              <a:rPr lang="en-US" sz="2833" b="1" dirty="0">
                <a:highlight>
                  <a:srgbClr val="FFFF00"/>
                </a:highlight>
              </a:rPr>
              <a:t>y</a:t>
            </a:r>
          </a:p>
          <a:p>
            <a:pPr algn="ctr"/>
            <a:endParaRPr lang="en-US" sz="2833" b="1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Text 0"/>
          <p:cNvSpPr txBox="1"/>
          <p:nvPr/>
        </p:nvSpPr>
        <p:spPr>
          <a:xfrm>
            <a:off x="661491" y="1065312"/>
            <a:ext cx="8080738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From Curiosity to Focused Questions</a:t>
            </a:r>
          </a:p>
        </p:txBody>
      </p:sp>
      <p:sp>
        <p:nvSpPr>
          <p:cNvPr id="1038" name="Shape 1"/>
          <p:cNvSpPr/>
          <p:nvPr/>
        </p:nvSpPr>
        <p:spPr>
          <a:xfrm>
            <a:off x="661491" y="2033984"/>
            <a:ext cx="1811437" cy="1089125"/>
          </a:xfrm>
          <a:prstGeom prst="roundRect">
            <a:avLst>
              <a:gd name="adj" fmla="val 728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1039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306" y="2412405"/>
            <a:ext cx="265808" cy="332185"/>
          </a:xfrm>
          <a:prstGeom prst="rect">
            <a:avLst/>
          </a:prstGeom>
          <a:ln w="12700">
            <a:miter lim="400000"/>
          </a:ln>
        </p:spPr>
      </p:pic>
      <p:sp>
        <p:nvSpPr>
          <p:cNvPr id="1040" name="Text 2"/>
          <p:cNvSpPr txBox="1"/>
          <p:nvPr/>
        </p:nvSpPr>
        <p:spPr>
          <a:xfrm>
            <a:off x="2661941" y="2222995"/>
            <a:ext cx="1713611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Curiosity Spark</a:t>
            </a:r>
          </a:p>
        </p:txBody>
      </p:sp>
      <p:sp>
        <p:nvSpPr>
          <p:cNvPr id="1041" name="Text 3"/>
          <p:cNvSpPr txBox="1"/>
          <p:nvPr/>
        </p:nvSpPr>
        <p:spPr>
          <a:xfrm>
            <a:off x="2661940" y="2631678"/>
            <a:ext cx="5122684" cy="325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20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667"/>
              <a:t>The urge to know more about something that intrigues you</a:t>
            </a:r>
          </a:p>
        </p:txBody>
      </p:sp>
      <p:sp>
        <p:nvSpPr>
          <p:cNvPr id="1042" name="Shape 4"/>
          <p:cNvSpPr/>
          <p:nvPr/>
        </p:nvSpPr>
        <p:spPr>
          <a:xfrm>
            <a:off x="2567383" y="3110409"/>
            <a:ext cx="8868670" cy="12701"/>
          </a:xfrm>
          <a:prstGeom prst="roundRect">
            <a:avLst>
              <a:gd name="adj" fmla="val 50000"/>
            </a:avLst>
          </a:prstGeom>
          <a:solidFill>
            <a:srgbClr val="B2D3E5"/>
          </a:solidFill>
          <a:ln w="12700">
            <a:miter lim="400000"/>
          </a:ln>
        </p:spPr>
        <p:txBody>
          <a:bodyPr lIns="38099" rIns="38099"/>
          <a:lstStyle/>
          <a:p>
            <a:pPr>
              <a:defRPr sz="2000"/>
            </a:pPr>
            <a:endParaRPr sz="1667"/>
          </a:p>
        </p:txBody>
      </p:sp>
      <p:sp>
        <p:nvSpPr>
          <p:cNvPr id="1043" name="Shape 5"/>
          <p:cNvSpPr/>
          <p:nvPr/>
        </p:nvSpPr>
        <p:spPr>
          <a:xfrm>
            <a:off x="661492" y="3217564"/>
            <a:ext cx="3622973" cy="1089125"/>
          </a:xfrm>
          <a:prstGeom prst="roundRect">
            <a:avLst>
              <a:gd name="adj" fmla="val 728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1044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0074" y="3595984"/>
            <a:ext cx="265808" cy="332185"/>
          </a:xfrm>
          <a:prstGeom prst="rect">
            <a:avLst/>
          </a:prstGeom>
          <a:ln w="12700">
            <a:miter lim="400000"/>
          </a:ln>
        </p:spPr>
      </p:pic>
      <p:sp>
        <p:nvSpPr>
          <p:cNvPr id="1045" name="Text 6"/>
          <p:cNvSpPr txBox="1"/>
          <p:nvPr/>
        </p:nvSpPr>
        <p:spPr>
          <a:xfrm>
            <a:off x="4473476" y="3406576"/>
            <a:ext cx="873637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Wonder</a:t>
            </a:r>
          </a:p>
        </p:txBody>
      </p:sp>
      <p:sp>
        <p:nvSpPr>
          <p:cNvPr id="1046" name="Text 7"/>
          <p:cNvSpPr txBox="1"/>
          <p:nvPr/>
        </p:nvSpPr>
        <p:spPr>
          <a:xfrm>
            <a:off x="4473476" y="3815258"/>
            <a:ext cx="5793124" cy="325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20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667"/>
              <a:t>Asking yourself "Why is this happening?" or "How does this work?"</a:t>
            </a:r>
          </a:p>
        </p:txBody>
      </p:sp>
      <p:sp>
        <p:nvSpPr>
          <p:cNvPr id="1047" name="Shape 8"/>
          <p:cNvSpPr/>
          <p:nvPr/>
        </p:nvSpPr>
        <p:spPr>
          <a:xfrm>
            <a:off x="4378920" y="4293990"/>
            <a:ext cx="7057133" cy="12701"/>
          </a:xfrm>
          <a:prstGeom prst="roundRect">
            <a:avLst>
              <a:gd name="adj" fmla="val 50000"/>
            </a:avLst>
          </a:prstGeom>
          <a:solidFill>
            <a:srgbClr val="B2D3E5"/>
          </a:solidFill>
          <a:ln w="12700">
            <a:miter lim="400000"/>
          </a:ln>
        </p:spPr>
        <p:txBody>
          <a:bodyPr lIns="38099" rIns="38099"/>
          <a:lstStyle/>
          <a:p>
            <a:pPr>
              <a:defRPr sz="2000"/>
            </a:pPr>
            <a:endParaRPr sz="1667"/>
          </a:p>
        </p:txBody>
      </p:sp>
      <p:sp>
        <p:nvSpPr>
          <p:cNvPr id="1048" name="Text 10"/>
          <p:cNvSpPr txBox="1"/>
          <p:nvPr/>
        </p:nvSpPr>
        <p:spPr>
          <a:xfrm>
            <a:off x="646630" y="4487767"/>
            <a:ext cx="10898740" cy="718017"/>
          </a:xfrm>
          <a:prstGeom prst="rect">
            <a:avLst/>
          </a:prstGeom>
          <a:solidFill>
            <a:srgbClr val="D7AA48"/>
          </a:solidFill>
          <a:ln w="19050">
            <a:solidFill>
              <a:srgbClr val="AA5224"/>
            </a:solidFill>
            <a:miter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endParaRPr sz="2333"/>
          </a:p>
          <a:p>
            <a:pPr algn="ctr">
              <a:defRPr sz="2800">
                <a:solidFill>
                  <a:srgbClr val="FFFFFF"/>
                </a:solidFill>
              </a:defRPr>
            </a:pPr>
            <a:r>
              <a:rPr sz="2333"/>
              <a:t>WHAT ARE YOU CURIOUS ABOUT?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CFDF1E-704D-1BA0-406C-646E605DF1BC}"/>
              </a:ext>
            </a:extLst>
          </p:cNvPr>
          <p:cNvSpPr txBox="1"/>
          <p:nvPr/>
        </p:nvSpPr>
        <p:spPr>
          <a:xfrm>
            <a:off x="166742" y="185563"/>
            <a:ext cx="2048178" cy="948847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>
                <a:highlight>
                  <a:srgbClr val="FFFF00"/>
                </a:highlight>
              </a:rPr>
              <a:t>OUT​</a:t>
            </a:r>
          </a:p>
          <a:p>
            <a:pPr algn="ctr"/>
            <a:endParaRPr lang="en-US" sz="2833" b="1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0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2000" cy="6858198"/>
          </a:xfrm>
          <a:prstGeom prst="rect">
            <a:avLst/>
          </a:prstGeom>
          <a:ln w="12700">
            <a:miter lim="400000"/>
          </a:ln>
        </p:spPr>
      </p:pic>
      <p:sp>
        <p:nvSpPr>
          <p:cNvPr id="1051" name="Text 0"/>
          <p:cNvSpPr txBox="1"/>
          <p:nvPr/>
        </p:nvSpPr>
        <p:spPr>
          <a:xfrm>
            <a:off x="5152727" y="456306"/>
            <a:ext cx="6458547" cy="1171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800"/>
              </a:lnSpc>
              <a:defRPr sz="39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250"/>
              <a:t>Transforming Curiosity into Research Questions</a:t>
            </a:r>
          </a:p>
        </p:txBody>
      </p:sp>
      <p:pic>
        <p:nvPicPr>
          <p:cNvPr id="1052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2727" y="1742181"/>
            <a:ext cx="829668" cy="1221383"/>
          </a:xfrm>
          <a:prstGeom prst="rect">
            <a:avLst/>
          </a:prstGeom>
          <a:ln w="12700">
            <a:miter lim="400000"/>
          </a:ln>
        </p:spPr>
      </p:pic>
      <p:sp>
        <p:nvSpPr>
          <p:cNvPr id="1053" name="Text 1"/>
          <p:cNvSpPr txBox="1"/>
          <p:nvPr/>
        </p:nvSpPr>
        <p:spPr>
          <a:xfrm>
            <a:off x="6231236" y="1908076"/>
            <a:ext cx="1859483" cy="276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sz="19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583"/>
              <a:t>Pandemic Curiosity</a:t>
            </a:r>
          </a:p>
        </p:txBody>
      </p:sp>
      <p:sp>
        <p:nvSpPr>
          <p:cNvPr id="1054" name="Text 2"/>
          <p:cNvSpPr txBox="1"/>
          <p:nvPr/>
        </p:nvSpPr>
        <p:spPr>
          <a:xfrm>
            <a:off x="6231235" y="2266850"/>
            <a:ext cx="5380038" cy="614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z="1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583"/>
              <a:t>"It's weird that people rushed to buy toilet paper during the pandemic."</a:t>
            </a:r>
          </a:p>
        </p:txBody>
      </p:sp>
      <p:pic>
        <p:nvPicPr>
          <p:cNvPr id="1055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2727" y="2857249"/>
            <a:ext cx="829668" cy="1221383"/>
          </a:xfrm>
          <a:prstGeom prst="rect">
            <a:avLst/>
          </a:prstGeom>
          <a:ln w="12700">
            <a:miter lim="400000"/>
          </a:ln>
        </p:spPr>
      </p:pic>
      <p:sp>
        <p:nvSpPr>
          <p:cNvPr id="1056" name="Text 3"/>
          <p:cNvSpPr txBox="1"/>
          <p:nvPr/>
        </p:nvSpPr>
        <p:spPr>
          <a:xfrm>
            <a:off x="6231236" y="3129458"/>
            <a:ext cx="1771319" cy="276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sz="19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583"/>
              <a:t>Research Question</a:t>
            </a:r>
          </a:p>
        </p:txBody>
      </p:sp>
      <p:sp>
        <p:nvSpPr>
          <p:cNvPr id="1057" name="Text 4"/>
          <p:cNvSpPr txBox="1"/>
          <p:nvPr/>
        </p:nvSpPr>
        <p:spPr>
          <a:xfrm>
            <a:off x="6231235" y="3488234"/>
            <a:ext cx="5380038" cy="614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z="1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583"/>
              <a:t>"What factors caused people to panic-buy toilet paper during COVID-19?"</a:t>
            </a:r>
          </a:p>
        </p:txBody>
      </p:sp>
      <p:sp>
        <p:nvSpPr>
          <p:cNvPr id="1058" name="Text 5"/>
          <p:cNvSpPr txBox="1"/>
          <p:nvPr/>
        </p:nvSpPr>
        <p:spPr>
          <a:xfrm>
            <a:off x="6231235" y="4350841"/>
            <a:ext cx="1420261" cy="276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sz="19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583"/>
              <a:t>Plant Curiosity</a:t>
            </a:r>
          </a:p>
        </p:txBody>
      </p:sp>
      <p:sp>
        <p:nvSpPr>
          <p:cNvPr id="1059" name="Text 6"/>
          <p:cNvSpPr txBox="1"/>
          <p:nvPr/>
        </p:nvSpPr>
        <p:spPr>
          <a:xfrm>
            <a:off x="6231235" y="4709616"/>
            <a:ext cx="4550348" cy="527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2083"/>
              </a:lnSpc>
              <a:defRPr sz="2000">
                <a:latin typeface="Inter"/>
                <a:ea typeface="Inter"/>
                <a:cs typeface="Inter"/>
                <a:sym typeface="Inter"/>
              </a:defRPr>
            </a:pPr>
            <a:r>
              <a:rPr sz="1667"/>
              <a:t>"My houseplants grow differently in different rooms </a:t>
            </a:r>
          </a:p>
          <a:p>
            <a:pPr>
              <a:lnSpc>
                <a:spcPts val="2083"/>
              </a:lnSpc>
              <a:defRPr sz="2000">
                <a:latin typeface="Inter"/>
                <a:ea typeface="Inter"/>
                <a:cs typeface="Inter"/>
                <a:sym typeface="Inter"/>
              </a:defRPr>
            </a:pPr>
            <a:r>
              <a:rPr sz="1667"/>
              <a:t>of my house."</a:t>
            </a:r>
          </a:p>
        </p:txBody>
      </p:sp>
      <p:sp>
        <p:nvSpPr>
          <p:cNvPr id="1060" name="Text 7"/>
          <p:cNvSpPr txBox="1"/>
          <p:nvPr/>
        </p:nvSpPr>
        <p:spPr>
          <a:xfrm>
            <a:off x="6231236" y="5346402"/>
            <a:ext cx="1771319" cy="276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sz="19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583"/>
              <a:t>Research Question</a:t>
            </a:r>
          </a:p>
        </p:txBody>
      </p:sp>
      <p:sp>
        <p:nvSpPr>
          <p:cNvPr id="1061" name="Text 8"/>
          <p:cNvSpPr txBox="1"/>
          <p:nvPr/>
        </p:nvSpPr>
        <p:spPr>
          <a:xfrm>
            <a:off x="6231235" y="5705178"/>
            <a:ext cx="5380038" cy="614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z="1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583"/>
              <a:t>"How does sunlight exposure affect the growth rate of my houseplants?"</a:t>
            </a:r>
          </a:p>
        </p:txBody>
      </p:sp>
      <p:pic>
        <p:nvPicPr>
          <p:cNvPr id="1062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2774" y="4165904"/>
            <a:ext cx="829573" cy="122124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3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2144" y="5270249"/>
            <a:ext cx="829668" cy="1221383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17F13C-6E30-937D-96BF-9FB6B010A6B4}"/>
              </a:ext>
            </a:extLst>
          </p:cNvPr>
          <p:cNvSpPr txBox="1"/>
          <p:nvPr/>
        </p:nvSpPr>
        <p:spPr>
          <a:xfrm>
            <a:off x="166742" y="185563"/>
            <a:ext cx="2048178" cy="948847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>
                <a:highlight>
                  <a:srgbClr val="FFFF00"/>
                </a:highlight>
              </a:rPr>
              <a:t>OUT​</a:t>
            </a:r>
          </a:p>
          <a:p>
            <a:pPr algn="ctr"/>
            <a:endParaRPr lang="en-US" sz="2833" b="1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Text 0"/>
          <p:cNvSpPr txBox="1"/>
          <p:nvPr/>
        </p:nvSpPr>
        <p:spPr>
          <a:xfrm>
            <a:off x="661491" y="1715095"/>
            <a:ext cx="10137391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The Difference Between Opinion and Research</a:t>
            </a:r>
          </a:p>
        </p:txBody>
      </p:sp>
      <p:sp>
        <p:nvSpPr>
          <p:cNvPr id="1066" name="Text 1"/>
          <p:cNvSpPr txBox="1"/>
          <p:nvPr/>
        </p:nvSpPr>
        <p:spPr>
          <a:xfrm>
            <a:off x="661491" y="2778224"/>
            <a:ext cx="1264770" cy="3462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31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583"/>
              <a:t>Opinion</a:t>
            </a:r>
          </a:p>
        </p:txBody>
      </p:sp>
      <p:sp>
        <p:nvSpPr>
          <p:cNvPr id="1067" name="Text 2"/>
          <p:cNvSpPr txBox="1"/>
          <p:nvPr/>
        </p:nvSpPr>
        <p:spPr>
          <a:xfrm>
            <a:off x="661491" y="3262510"/>
            <a:ext cx="5203926" cy="6989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What you think or feel about something, based on personal perspective.</a:t>
            </a:r>
          </a:p>
        </p:txBody>
      </p:sp>
      <p:sp>
        <p:nvSpPr>
          <p:cNvPr id="1068" name="Text 3"/>
          <p:cNvSpPr txBox="1"/>
          <p:nvPr/>
        </p:nvSpPr>
        <p:spPr>
          <a:xfrm>
            <a:off x="661491" y="4037409"/>
            <a:ext cx="1462516" cy="339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800"/>
              </a:lnSpc>
              <a:buSzPct val="100000"/>
              <a:buChar char="•"/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Subjective</a:t>
            </a:r>
          </a:p>
        </p:txBody>
      </p:sp>
      <p:sp>
        <p:nvSpPr>
          <p:cNvPr id="1069" name="Text 4"/>
          <p:cNvSpPr txBox="1"/>
          <p:nvPr/>
        </p:nvSpPr>
        <p:spPr>
          <a:xfrm>
            <a:off x="661491" y="4405907"/>
            <a:ext cx="3009927" cy="339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800"/>
              </a:lnSpc>
              <a:buSzPct val="100000"/>
              <a:buChar char="•"/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Based on personal belief</a:t>
            </a:r>
          </a:p>
        </p:txBody>
      </p:sp>
      <p:sp>
        <p:nvSpPr>
          <p:cNvPr id="1070" name="Text 5"/>
          <p:cNvSpPr txBox="1"/>
          <p:nvPr/>
        </p:nvSpPr>
        <p:spPr>
          <a:xfrm>
            <a:off x="661491" y="4774406"/>
            <a:ext cx="3574889" cy="339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800"/>
              </a:lnSpc>
              <a:buSzPct val="100000"/>
              <a:buChar char="•"/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May lack supporting evidence</a:t>
            </a:r>
          </a:p>
        </p:txBody>
      </p:sp>
      <p:sp>
        <p:nvSpPr>
          <p:cNvPr id="1071" name="Text 6"/>
          <p:cNvSpPr txBox="1"/>
          <p:nvPr/>
        </p:nvSpPr>
        <p:spPr>
          <a:xfrm>
            <a:off x="6332934" y="2778224"/>
            <a:ext cx="1407437" cy="3462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31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583"/>
              <a:t>Research</a:t>
            </a:r>
          </a:p>
        </p:txBody>
      </p:sp>
      <p:sp>
        <p:nvSpPr>
          <p:cNvPr id="1072" name="Text 7"/>
          <p:cNvSpPr txBox="1"/>
          <p:nvPr/>
        </p:nvSpPr>
        <p:spPr>
          <a:xfrm>
            <a:off x="6332933" y="3262510"/>
            <a:ext cx="5203925" cy="6989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Systematic investigation that produces evidence-based conclusions.</a:t>
            </a:r>
          </a:p>
        </p:txBody>
      </p:sp>
      <p:sp>
        <p:nvSpPr>
          <p:cNvPr id="1073" name="Text 8"/>
          <p:cNvSpPr txBox="1"/>
          <p:nvPr/>
        </p:nvSpPr>
        <p:spPr>
          <a:xfrm>
            <a:off x="6332934" y="4037409"/>
            <a:ext cx="1374351" cy="339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800"/>
              </a:lnSpc>
              <a:buSzPct val="100000"/>
              <a:buChar char="•"/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Objective</a:t>
            </a:r>
          </a:p>
        </p:txBody>
      </p:sp>
      <p:sp>
        <p:nvSpPr>
          <p:cNvPr id="1074" name="Text 9"/>
          <p:cNvSpPr txBox="1"/>
          <p:nvPr/>
        </p:nvSpPr>
        <p:spPr>
          <a:xfrm>
            <a:off x="6332934" y="4405907"/>
            <a:ext cx="3332002" cy="294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marL="285739" indent="-285739">
              <a:lnSpc>
                <a:spcPts val="2333"/>
              </a:lnSpc>
              <a:buSzPct val="100000"/>
              <a:buChar char="•"/>
              <a:defRPr sz="2500">
                <a:latin typeface="Inter"/>
                <a:ea typeface="Inter"/>
                <a:cs typeface="Inter"/>
                <a:sym typeface="Inter"/>
              </a:defRPr>
            </a:pPr>
            <a:r>
              <a:rPr sz="2083"/>
              <a:t>Based on data and </a:t>
            </a:r>
            <a:r>
              <a:rPr sz="2083" u="sng"/>
              <a:t>evidence</a:t>
            </a:r>
          </a:p>
        </p:txBody>
      </p:sp>
      <p:sp>
        <p:nvSpPr>
          <p:cNvPr id="1075" name="Text 10"/>
          <p:cNvSpPr txBox="1"/>
          <p:nvPr/>
        </p:nvSpPr>
        <p:spPr>
          <a:xfrm>
            <a:off x="6332933" y="4774406"/>
            <a:ext cx="3562898" cy="339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800"/>
              </a:lnSpc>
              <a:buSzPct val="100000"/>
              <a:buChar char="•"/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Follows methodical processes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302D7B-67AC-B49C-3A8C-7176E18EF4EA}"/>
              </a:ext>
            </a:extLst>
          </p:cNvPr>
          <p:cNvSpPr txBox="1"/>
          <p:nvPr/>
        </p:nvSpPr>
        <p:spPr>
          <a:xfrm>
            <a:off x="166742" y="185563"/>
            <a:ext cx="2048178" cy="4436469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 dirty="0">
                <a:highlight>
                  <a:srgbClr val="FFFF00"/>
                </a:highlight>
              </a:rPr>
              <a:t>Can keep it and mention </a:t>
            </a:r>
            <a:r>
              <a:rPr lang="en-US" sz="2833" b="1">
                <a:highlight>
                  <a:srgbClr val="FFFF00"/>
                </a:highlight>
              </a:rPr>
              <a:t>quickly</a:t>
            </a:r>
            <a:endParaRPr lang="en-US" sz="1500"/>
          </a:p>
          <a:p>
            <a:pPr algn="ctr"/>
            <a:r>
              <a:rPr lang="en-US" sz="2833" b="1">
                <a:highlight>
                  <a:srgbClr val="FFFF00"/>
                </a:highlight>
              </a:rPr>
              <a:t>but not in </a:t>
            </a:r>
            <a:r>
              <a:rPr lang="en-US" sz="2833" b="1" dirty="0">
                <a:highlight>
                  <a:srgbClr val="FFFF00"/>
                </a:highlight>
              </a:rPr>
              <a:t>the curriculum for Scholars</a:t>
            </a:r>
            <a:endParaRPr lang="en-US" sz="1500"/>
          </a:p>
          <a:p>
            <a:pPr algn="ctr"/>
            <a:endParaRPr lang="en-US" sz="2833" b="1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Everyone should stop using social media completely.…"/>
          <p:cNvSpPr txBox="1"/>
          <p:nvPr/>
        </p:nvSpPr>
        <p:spPr>
          <a:xfrm>
            <a:off x="648447" y="2006937"/>
            <a:ext cx="10245880" cy="32847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099" rIns="38099">
            <a:spAutoFit/>
          </a:bodyPr>
          <a:lstStyle/>
          <a:p>
            <a:pPr marL="380985" indent="-264573" defTabSz="380985">
              <a:buSzPct val="100000"/>
              <a:buFont typeface="Arial"/>
              <a:buAutoNum type="arabicPeriod"/>
              <a:defRPr sz="2766">
                <a:latin typeface="Arial"/>
                <a:ea typeface="Arial"/>
                <a:cs typeface="Arial"/>
                <a:sym typeface="Arial"/>
              </a:defRPr>
            </a:pPr>
            <a:r>
              <a:rPr sz="2305"/>
              <a:t>Everyone should stop using social media completely.</a:t>
            </a:r>
          </a:p>
          <a:p>
            <a:pPr defTabSz="380985">
              <a:defRPr sz="2766">
                <a:latin typeface="Arial"/>
                <a:ea typeface="Arial"/>
                <a:cs typeface="Arial"/>
                <a:sym typeface="Arial"/>
              </a:defRPr>
            </a:pPr>
            <a:endParaRPr sz="2305"/>
          </a:p>
          <a:p>
            <a:pPr marL="380985" indent="-264573" defTabSz="380985">
              <a:buSzPct val="100000"/>
              <a:buFont typeface="Arial"/>
              <a:buAutoNum type="arabicPeriod" startAt="2"/>
              <a:defRPr sz="2766">
                <a:latin typeface="Arial"/>
                <a:ea typeface="Arial"/>
                <a:cs typeface="Arial"/>
                <a:sym typeface="Arial"/>
              </a:defRPr>
            </a:pPr>
            <a:r>
              <a:rPr sz="2305"/>
              <a:t>It’s better to study late at night than early in the morning.</a:t>
            </a:r>
          </a:p>
          <a:p>
            <a:pPr defTabSz="380985">
              <a:defRPr sz="2766">
                <a:latin typeface="Arial"/>
                <a:ea typeface="Arial"/>
                <a:cs typeface="Arial"/>
                <a:sym typeface="Arial"/>
              </a:defRPr>
            </a:pPr>
            <a:endParaRPr sz="2305"/>
          </a:p>
          <a:p>
            <a:pPr marL="380985" indent="-264573" defTabSz="380985">
              <a:buSzPct val="100000"/>
              <a:buFont typeface="Arial"/>
              <a:buAutoNum type="arabicPeriod" startAt="3"/>
              <a:defRPr sz="2766">
                <a:latin typeface="Arial"/>
                <a:ea typeface="Arial"/>
                <a:cs typeface="Arial"/>
                <a:sym typeface="Arial"/>
              </a:defRPr>
            </a:pPr>
            <a:r>
              <a:rPr sz="2305"/>
              <a:t>Recycling doesn’t make much of a difference to the planet.</a:t>
            </a:r>
          </a:p>
          <a:p>
            <a:pPr defTabSz="380985">
              <a:defRPr sz="2766">
                <a:latin typeface="Arial"/>
                <a:ea typeface="Arial"/>
                <a:cs typeface="Arial"/>
                <a:sym typeface="Arial"/>
              </a:defRPr>
            </a:pPr>
            <a:endParaRPr sz="2305"/>
          </a:p>
          <a:p>
            <a:pPr marL="380985" indent="-264573" defTabSz="380985">
              <a:buSzPct val="100000"/>
              <a:buFont typeface="Arial"/>
              <a:buAutoNum type="arabicPeriod" startAt="4"/>
              <a:defRPr sz="2766">
                <a:latin typeface="Arial"/>
                <a:ea typeface="Arial"/>
                <a:cs typeface="Arial"/>
                <a:sym typeface="Arial"/>
              </a:defRPr>
            </a:pPr>
            <a:r>
              <a:rPr sz="2305"/>
              <a:t>Fast food should be banned in school cafeterias.</a:t>
            </a:r>
          </a:p>
          <a:p>
            <a:pPr defTabSz="380985">
              <a:defRPr sz="2766">
                <a:latin typeface="Arial"/>
                <a:ea typeface="Arial"/>
                <a:cs typeface="Arial"/>
                <a:sym typeface="Arial"/>
              </a:defRPr>
            </a:pPr>
            <a:endParaRPr sz="2305"/>
          </a:p>
          <a:p>
            <a:pPr marL="380985" indent="-264573" defTabSz="380985">
              <a:buSzPct val="100000"/>
              <a:buFont typeface="Arial"/>
              <a:buAutoNum type="arabicPeriod" startAt="5"/>
              <a:defRPr sz="2766">
                <a:latin typeface="Arial"/>
                <a:ea typeface="Arial"/>
                <a:cs typeface="Arial"/>
                <a:sym typeface="Arial"/>
              </a:defRPr>
            </a:pPr>
            <a:r>
              <a:rPr sz="2305"/>
              <a:t>Climate change is too big of a problem for individuals to make a difference.</a:t>
            </a:r>
          </a:p>
        </p:txBody>
      </p:sp>
      <p:sp>
        <p:nvSpPr>
          <p:cNvPr id="1078" name="Text 0"/>
          <p:cNvSpPr txBox="1"/>
          <p:nvPr/>
        </p:nvSpPr>
        <p:spPr>
          <a:xfrm>
            <a:off x="661491" y="1004570"/>
            <a:ext cx="4544514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Examples of Opinion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7DF65C-4C9F-0D79-7759-9550F5D6130C}"/>
              </a:ext>
            </a:extLst>
          </p:cNvPr>
          <p:cNvSpPr txBox="1"/>
          <p:nvPr/>
        </p:nvSpPr>
        <p:spPr>
          <a:xfrm>
            <a:off x="166742" y="185563"/>
            <a:ext cx="2048178" cy="4436469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 dirty="0">
                <a:highlight>
                  <a:srgbClr val="FFFF00"/>
                </a:highlight>
              </a:rPr>
              <a:t>Can keep it and mention </a:t>
            </a:r>
            <a:r>
              <a:rPr lang="en-US" sz="2833" b="1">
                <a:highlight>
                  <a:srgbClr val="FFFF00"/>
                </a:highlight>
              </a:rPr>
              <a:t>quickly</a:t>
            </a:r>
            <a:endParaRPr lang="en-US" sz="1500"/>
          </a:p>
          <a:p>
            <a:pPr algn="ctr"/>
            <a:r>
              <a:rPr lang="en-US" sz="2833" b="1">
                <a:highlight>
                  <a:srgbClr val="FFFF00"/>
                </a:highlight>
              </a:rPr>
              <a:t>but not in </a:t>
            </a:r>
            <a:r>
              <a:rPr lang="en-US" sz="2833" b="1" dirty="0">
                <a:highlight>
                  <a:srgbClr val="FFFF00"/>
                </a:highlight>
              </a:rPr>
              <a:t>the curriculum for Scholars</a:t>
            </a:r>
            <a:endParaRPr lang="en-US" sz="1500"/>
          </a:p>
          <a:p>
            <a:pPr algn="ctr"/>
            <a:endParaRPr lang="en-US" sz="2833" b="1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Text 0"/>
          <p:cNvSpPr txBox="1"/>
          <p:nvPr/>
        </p:nvSpPr>
        <p:spPr>
          <a:xfrm>
            <a:off x="661491" y="1004570"/>
            <a:ext cx="7279237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Examples of Research Statements</a:t>
            </a:r>
          </a:p>
        </p:txBody>
      </p:sp>
      <p:sp>
        <p:nvSpPr>
          <p:cNvPr id="1081" name="According to the CDC’s 2021 Youth Risk Behavior Survey, which surveyed over 14,000 U.S. high school students, nearly 30% reported feeling persistently sad or hopeless during the past year.…"/>
          <p:cNvSpPr txBox="1"/>
          <p:nvPr/>
        </p:nvSpPr>
        <p:spPr>
          <a:xfrm>
            <a:off x="529624" y="1846785"/>
            <a:ext cx="10881837" cy="39545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099" rIns="38099">
            <a:spAutoFit/>
          </a:bodyPr>
          <a:lstStyle/>
          <a:p>
            <a:pPr marL="380985" indent="-264573" defTabSz="380985">
              <a:buSzPct val="100000"/>
              <a:buFont typeface="Arial"/>
              <a:buAutoNum type="arabicPeriod"/>
              <a:defRPr sz="1966">
                <a:latin typeface="Arial"/>
                <a:ea typeface="Arial"/>
                <a:cs typeface="Arial"/>
                <a:sym typeface="Arial"/>
              </a:defRPr>
            </a:pPr>
            <a:r>
              <a:rPr sz="1638" b="1"/>
              <a:t>According to the CDC’s 2021 Youth Risk Behavior Survey</a:t>
            </a:r>
            <a:r>
              <a:rPr sz="1638"/>
              <a:t>, which surveyed over 14,000 U.S. high school students, nearly </a:t>
            </a:r>
            <a:r>
              <a:rPr sz="1638" b="1"/>
              <a:t>30% reported feeling persistently sad or hopeless</a:t>
            </a:r>
            <a:r>
              <a:rPr sz="1638"/>
              <a:t> during the past year.</a:t>
            </a:r>
            <a:endParaRPr sz="1638" i="1"/>
          </a:p>
          <a:p>
            <a:pPr defTabSz="380985">
              <a:defRPr sz="1966">
                <a:latin typeface="Arial"/>
                <a:ea typeface="Arial"/>
                <a:cs typeface="Arial"/>
                <a:sym typeface="Arial"/>
              </a:defRPr>
            </a:pPr>
            <a:endParaRPr sz="1638" i="1"/>
          </a:p>
          <a:p>
            <a:pPr marL="380985" indent="-264573" defTabSz="380985">
              <a:buSzPct val="100000"/>
              <a:buFont typeface="Arial"/>
              <a:buAutoNum type="arabicPeriod" startAt="2"/>
              <a:defRPr sz="1966" b="1">
                <a:latin typeface="Arial"/>
                <a:ea typeface="Arial"/>
                <a:cs typeface="Arial"/>
                <a:sym typeface="Arial"/>
              </a:defRPr>
            </a:pPr>
            <a:r>
              <a:rPr sz="1638"/>
              <a:t>A 2020 global survey by Pew Research Center involving more than 13,000 adults in 13 countries found that 73% saw climate change as a major threat to their country.</a:t>
            </a:r>
            <a:endParaRPr sz="1638" i="1"/>
          </a:p>
          <a:p>
            <a:pPr defTabSz="380985">
              <a:defRPr sz="1966" b="1">
                <a:latin typeface="Arial"/>
                <a:ea typeface="Arial"/>
                <a:cs typeface="Arial"/>
                <a:sym typeface="Arial"/>
              </a:defRPr>
            </a:pPr>
            <a:endParaRPr sz="1638"/>
          </a:p>
          <a:p>
            <a:pPr marL="380985" indent="-264573" defTabSz="380985">
              <a:buSzPct val="100000"/>
              <a:buFont typeface="Arial"/>
              <a:buAutoNum type="arabicPeriod" startAt="3"/>
              <a:defRPr sz="1966">
                <a:latin typeface="Arial"/>
                <a:ea typeface="Arial"/>
                <a:cs typeface="Arial"/>
                <a:sym typeface="Arial"/>
              </a:defRPr>
            </a:pPr>
            <a:r>
              <a:rPr sz="1638"/>
              <a:t>A </a:t>
            </a:r>
            <a:r>
              <a:rPr sz="1638" b="1"/>
              <a:t>randomized controlled sleep study at UC Berkeley</a:t>
            </a:r>
            <a:r>
              <a:rPr sz="1638"/>
              <a:t> found that </a:t>
            </a:r>
            <a:r>
              <a:rPr sz="1638" b="1"/>
              <a:t>teens who slept at least 8 hours</a:t>
            </a:r>
            <a:r>
              <a:rPr sz="1638"/>
              <a:t> performed significantly better on memory tasks than those with less sleep. The study involved </a:t>
            </a:r>
            <a:r>
              <a:rPr sz="1638" b="1"/>
              <a:t>105 adolescents aged 13–17</a:t>
            </a:r>
            <a:r>
              <a:rPr sz="1638"/>
              <a:t>. </a:t>
            </a:r>
            <a:r>
              <a:rPr sz="1638" i="1"/>
              <a:t>(Lopez et al., Sleep Research Journal, 2018)</a:t>
            </a:r>
            <a:br>
              <a:rPr sz="1638" i="1"/>
            </a:br>
            <a:endParaRPr sz="1638" i="1"/>
          </a:p>
          <a:p>
            <a:pPr marL="380985" indent="-264573" defTabSz="380985">
              <a:spcBef>
                <a:spcPts val="1333"/>
              </a:spcBef>
              <a:buSzPct val="100000"/>
              <a:buFont typeface="Arial"/>
              <a:buAutoNum type="arabicPeriod" startAt="3"/>
              <a:defRPr sz="1966">
                <a:latin typeface="Arial"/>
                <a:ea typeface="Arial"/>
                <a:cs typeface="Arial"/>
                <a:sym typeface="Arial"/>
              </a:defRPr>
            </a:pPr>
            <a:r>
              <a:rPr sz="1638"/>
              <a:t>The </a:t>
            </a:r>
            <a:r>
              <a:rPr sz="1638" b="1"/>
              <a:t>World Health Organization</a:t>
            </a:r>
            <a:r>
              <a:rPr sz="1638"/>
              <a:t>, based on data from dozens of national health agencies, estimates that </a:t>
            </a:r>
            <a:r>
              <a:rPr sz="1638" b="1"/>
              <a:t>air pollution causes 7 million premature deaths worldwide each year</a:t>
            </a:r>
            <a:r>
              <a:rPr sz="1638"/>
              <a:t>. </a:t>
            </a:r>
            <a:r>
              <a:rPr sz="1638" i="1"/>
              <a:t>(WHO, 2021)</a:t>
            </a:r>
          </a:p>
          <a:p>
            <a:pPr marL="380985" indent="-264573" defTabSz="380985">
              <a:spcBef>
                <a:spcPts val="1333"/>
              </a:spcBef>
              <a:buSzPct val="100000"/>
              <a:buFont typeface="Arial"/>
              <a:buAutoNum type="arabicPeriod" startAt="3"/>
              <a:defRPr sz="1966">
                <a:latin typeface="Arial"/>
                <a:ea typeface="Arial"/>
                <a:cs typeface="Arial"/>
                <a:sym typeface="Arial"/>
              </a:defRPr>
            </a:pPr>
            <a:r>
              <a:rPr sz="1638"/>
              <a:t>In a Common Sense Media survey of 1,306 teens aged 13–17, 25% reported that social media had a mostly negative impact on their mental health. (Common Sense Media, 2021)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99410C-8807-8013-EDB2-9D6765CAA2DD}"/>
              </a:ext>
            </a:extLst>
          </p:cNvPr>
          <p:cNvSpPr txBox="1"/>
          <p:nvPr/>
        </p:nvSpPr>
        <p:spPr>
          <a:xfrm>
            <a:off x="166742" y="185563"/>
            <a:ext cx="2048178" cy="4436469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 dirty="0">
                <a:highlight>
                  <a:srgbClr val="FFFF00"/>
                </a:highlight>
              </a:rPr>
              <a:t>Can keep it and mention </a:t>
            </a:r>
            <a:r>
              <a:rPr lang="en-US" sz="2833" b="1">
                <a:highlight>
                  <a:srgbClr val="FFFF00"/>
                </a:highlight>
              </a:rPr>
              <a:t>quickly</a:t>
            </a:r>
            <a:endParaRPr lang="en-US" sz="1500"/>
          </a:p>
          <a:p>
            <a:pPr algn="ctr"/>
            <a:r>
              <a:rPr lang="en-US" sz="2833" b="1">
                <a:highlight>
                  <a:srgbClr val="FFFF00"/>
                </a:highlight>
              </a:rPr>
              <a:t>but not in </a:t>
            </a:r>
            <a:r>
              <a:rPr lang="en-US" sz="2833" b="1" dirty="0">
                <a:highlight>
                  <a:srgbClr val="FFFF00"/>
                </a:highlight>
              </a:rPr>
              <a:t>the curriculum for Scholars</a:t>
            </a:r>
            <a:endParaRPr lang="en-US" sz="1500"/>
          </a:p>
          <a:p>
            <a:pPr algn="ctr"/>
            <a:endParaRPr lang="en-US" sz="2833" b="1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Let’s Play a Game:…"/>
          <p:cNvSpPr txBox="1"/>
          <p:nvPr/>
        </p:nvSpPr>
        <p:spPr>
          <a:xfrm>
            <a:off x="2867137" y="1015377"/>
            <a:ext cx="6457728" cy="17702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099" rIns="38099">
            <a:spAutoFit/>
          </a:bodyPr>
          <a:lstStyle/>
          <a:p>
            <a:pPr algn="ctr">
              <a:lnSpc>
                <a:spcPct val="90000"/>
              </a:lnSpc>
              <a:defRPr sz="4400" b="1">
                <a:solidFill>
                  <a:srgbClr val="171AAE"/>
                </a:solidFill>
                <a:latin typeface="Aptos Display"/>
                <a:ea typeface="Aptos Display"/>
                <a:cs typeface="Aptos Display"/>
                <a:sym typeface="Aptos Display"/>
              </a:defRPr>
            </a:pPr>
            <a:r>
              <a:rPr sz="3667"/>
              <a:t>Let’s Play a Game: </a:t>
            </a:r>
          </a:p>
          <a:p>
            <a:pPr algn="ctr">
              <a:lnSpc>
                <a:spcPct val="90000"/>
              </a:lnSpc>
              <a:defRPr sz="4400">
                <a:latin typeface="Aptos Display"/>
                <a:ea typeface="Aptos Display"/>
                <a:cs typeface="Aptos Display"/>
                <a:sym typeface="Aptos Display"/>
              </a:defRPr>
            </a:pPr>
            <a:endParaRPr sz="3667"/>
          </a:p>
          <a:p>
            <a:pPr algn="ctr">
              <a:lnSpc>
                <a:spcPct val="90000"/>
              </a:lnSpc>
              <a:defRPr sz="5700">
                <a:latin typeface="Aptos Display"/>
                <a:ea typeface="Aptos Display"/>
                <a:cs typeface="Aptos Display"/>
                <a:sym typeface="Aptos Display"/>
              </a:defRPr>
            </a:pPr>
            <a:r>
              <a:rPr sz="4750" b="1"/>
              <a:t>OPINION</a:t>
            </a:r>
            <a:r>
              <a:rPr sz="4750"/>
              <a:t> or </a:t>
            </a:r>
            <a:r>
              <a:rPr sz="4750" b="1"/>
              <a:t>RESEARCH?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269766-F680-18D5-0D8B-9FCA44C59F1D}"/>
              </a:ext>
            </a:extLst>
          </p:cNvPr>
          <p:cNvSpPr txBox="1"/>
          <p:nvPr/>
        </p:nvSpPr>
        <p:spPr>
          <a:xfrm>
            <a:off x="183930" y="185563"/>
            <a:ext cx="3142479" cy="435951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333" b="1">
                <a:highlight>
                  <a:srgbClr val="FFFF00"/>
                </a:highlight>
              </a:rPr>
              <a:t>OUT</a:t>
            </a:r>
            <a:endParaRPr lang="en-US" sz="1500"/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A Stanford University longitudinal study (2019) followed 200 middle school students over two years and found that those practicing daily mindfulness showed lower stress and anxiety levels."/>
          <p:cNvSpPr txBox="1"/>
          <p:nvPr/>
        </p:nvSpPr>
        <p:spPr>
          <a:xfrm>
            <a:off x="1179412" y="2223954"/>
            <a:ext cx="9980066" cy="18361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099" rIns="38099">
            <a:spAutoFit/>
          </a:bodyPr>
          <a:lstStyle>
            <a:lvl1pPr defTabSz="457200"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sz="2833"/>
              <a:t>A Stanford University longitudinal study (2019) followed 200 middle school students over two years and found that those practicing daily mindfulness showed lower stress and anxiety levels.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318B1A-A8C7-0612-4439-B9BE5BFDE100}"/>
              </a:ext>
            </a:extLst>
          </p:cNvPr>
          <p:cNvSpPr txBox="1"/>
          <p:nvPr/>
        </p:nvSpPr>
        <p:spPr>
          <a:xfrm>
            <a:off x="166742" y="185563"/>
            <a:ext cx="2048178" cy="948847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>
                <a:highlight>
                  <a:srgbClr val="FFFF00"/>
                </a:highlight>
              </a:rPr>
              <a:t>OUT​</a:t>
            </a:r>
          </a:p>
          <a:p>
            <a:pPr algn="ctr"/>
            <a:endParaRPr lang="en-US" sz="2833" b="1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Social media is ruining real-life friendships."/>
          <p:cNvSpPr txBox="1"/>
          <p:nvPr/>
        </p:nvSpPr>
        <p:spPr>
          <a:xfrm>
            <a:off x="1179412" y="2223954"/>
            <a:ext cx="9980066" cy="5282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099" rIns="38099">
            <a:spAutoFit/>
          </a:bodyPr>
          <a:lstStyle>
            <a:lvl1pPr defTabSz="457200"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defRPr b="1"/>
            </a:pPr>
            <a:r>
              <a:rPr sz="2833"/>
              <a:t>Social media is ruining real-life friendships.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A984FA-F26D-857A-469E-B269BA9B34A7}"/>
              </a:ext>
            </a:extLst>
          </p:cNvPr>
          <p:cNvSpPr txBox="1"/>
          <p:nvPr/>
        </p:nvSpPr>
        <p:spPr>
          <a:xfrm>
            <a:off x="166742" y="185563"/>
            <a:ext cx="2048178" cy="948847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>
                <a:highlight>
                  <a:srgbClr val="FFFF00"/>
                </a:highlight>
              </a:rPr>
              <a:t>OUT​</a:t>
            </a:r>
          </a:p>
          <a:p>
            <a:pPr algn="ctr"/>
            <a:endParaRPr lang="en-US" sz="2833" b="1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The 2023 IPCC report, drawing from thousands of peer-reviewed climate studies and global temperature data, concluded with high confidence that human activities are the dominant cause of recent climate change. (Intergovernmental Panel on Climate Change, 2"/>
          <p:cNvSpPr txBox="1"/>
          <p:nvPr/>
        </p:nvSpPr>
        <p:spPr>
          <a:xfrm>
            <a:off x="1179412" y="2223954"/>
            <a:ext cx="9980066" cy="22720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099" rIns="38099">
            <a:spAutoFit/>
          </a:bodyPr>
          <a:lstStyle>
            <a:lvl1pPr defTabSz="457200"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defRPr b="1"/>
            </a:pPr>
            <a:r>
              <a:rPr sz="2833"/>
              <a:t>The 2023 IPCC report, drawing from thousands of peer-reviewed climate studies and global temperature data, concluded with high confidence that human activities are the dominant cause of recent climate change. (Intergovernmental Panel on Climate Change, 2023)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84289B-C490-D7BF-12B1-2535EBA9F257}"/>
              </a:ext>
            </a:extLst>
          </p:cNvPr>
          <p:cNvSpPr txBox="1"/>
          <p:nvPr/>
        </p:nvSpPr>
        <p:spPr>
          <a:xfrm>
            <a:off x="166742" y="185563"/>
            <a:ext cx="2048178" cy="948847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>
                <a:highlight>
                  <a:srgbClr val="FFFF00"/>
                </a:highlight>
              </a:rPr>
              <a:t>OUT​</a:t>
            </a:r>
          </a:p>
          <a:p>
            <a:pPr algn="ctr"/>
            <a:endParaRPr lang="en-US" sz="2833" b="1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You can’t be truly successful without going to college."/>
          <p:cNvSpPr txBox="1"/>
          <p:nvPr/>
        </p:nvSpPr>
        <p:spPr>
          <a:xfrm>
            <a:off x="1179412" y="2223954"/>
            <a:ext cx="9980066" cy="5282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099" rIns="38099">
            <a:spAutoFit/>
          </a:bodyPr>
          <a:lstStyle>
            <a:lvl1pPr defTabSz="457200"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defRPr b="1"/>
            </a:pPr>
            <a:r>
              <a:rPr sz="2833"/>
              <a:t>You can’t be truly successful without going to college.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FCEF95-15B6-4754-2391-E1E38990D663}"/>
              </a:ext>
            </a:extLst>
          </p:cNvPr>
          <p:cNvSpPr txBox="1"/>
          <p:nvPr/>
        </p:nvSpPr>
        <p:spPr>
          <a:xfrm>
            <a:off x="166742" y="185563"/>
            <a:ext cx="2048178" cy="948847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>
                <a:highlight>
                  <a:srgbClr val="FFFF00"/>
                </a:highlight>
              </a:rPr>
              <a:t>OUT​</a:t>
            </a:r>
          </a:p>
          <a:p>
            <a:pPr algn="ctr"/>
            <a:endParaRPr lang="en-US" sz="2833" b="1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Homework should be optional for high school students."/>
          <p:cNvSpPr txBox="1"/>
          <p:nvPr/>
        </p:nvSpPr>
        <p:spPr>
          <a:xfrm>
            <a:off x="1179412" y="2223954"/>
            <a:ext cx="9980066" cy="5282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099" rIns="38099">
            <a:spAutoFit/>
          </a:bodyPr>
          <a:lstStyle>
            <a:lvl1pPr defTabSz="457200"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defRPr b="1"/>
            </a:pPr>
            <a:r>
              <a:rPr sz="2833"/>
              <a:t>Homework should be optional for high school students.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251E7D-0DFE-DBD0-DD22-5480FB052074}"/>
              </a:ext>
            </a:extLst>
          </p:cNvPr>
          <p:cNvSpPr txBox="1"/>
          <p:nvPr/>
        </p:nvSpPr>
        <p:spPr>
          <a:xfrm>
            <a:off x="166742" y="185563"/>
            <a:ext cx="2048178" cy="948847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>
                <a:highlight>
                  <a:srgbClr val="FFFF00"/>
                </a:highlight>
              </a:rPr>
              <a:t>OUT​</a:t>
            </a:r>
          </a:p>
          <a:p>
            <a:pPr algn="ctr"/>
            <a:endParaRPr lang="en-US" sz="2833" b="1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A JAMA Pediatrics study (2019) analyzed data from over 6,000 U.S. children aged 8–11 and found that those with more than 2 hours of recreational screen time daily had lower language and thinking skills."/>
          <p:cNvSpPr txBox="1"/>
          <p:nvPr/>
        </p:nvSpPr>
        <p:spPr>
          <a:xfrm>
            <a:off x="1179412" y="2223954"/>
            <a:ext cx="9980066" cy="18361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099" rIns="38099">
            <a:spAutoFit/>
          </a:bodyPr>
          <a:lstStyle>
            <a:lvl1pPr defTabSz="457200"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defRPr b="1"/>
            </a:pPr>
            <a:r>
              <a:rPr sz="2833"/>
              <a:t>A JAMA Pediatrics study (2019) analyzed data from over 6,000 U.S. children aged 8–11 and found that those with more than 2 hours of recreational screen time daily had lower language and thinking skills.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F39F9-FD76-BC13-6DD4-0715F0380C4E}"/>
              </a:ext>
            </a:extLst>
          </p:cNvPr>
          <p:cNvSpPr txBox="1"/>
          <p:nvPr/>
        </p:nvSpPr>
        <p:spPr>
          <a:xfrm>
            <a:off x="166742" y="185563"/>
            <a:ext cx="2048178" cy="948847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>
                <a:highlight>
                  <a:srgbClr val="FFFF00"/>
                </a:highlight>
              </a:rPr>
              <a:t>OUT​</a:t>
            </a:r>
          </a:p>
          <a:p>
            <a:pPr algn="ctr"/>
            <a:endParaRPr lang="en-US" sz="2833" b="1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In the APA’s 2023 &quot;Stress in America&quot; survey, conducted with 3,185 teens and adults, over 70% of teenagers said they felt overwhelmed by responsibilities in the past month."/>
          <p:cNvSpPr txBox="1"/>
          <p:nvPr/>
        </p:nvSpPr>
        <p:spPr>
          <a:xfrm>
            <a:off x="1179412" y="2223954"/>
            <a:ext cx="9980066" cy="18361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099" rIns="38099">
            <a:spAutoFit/>
          </a:bodyPr>
          <a:lstStyle>
            <a:lvl1pPr defTabSz="457200"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defRPr b="1"/>
            </a:pPr>
            <a:r>
              <a:rPr sz="2833"/>
              <a:t>In the APA’s 2023 "Stress in America" survey, conducted with 3,185 teens and adults, over 70% of teenagers said they felt overwhelmed by responsibilities in the past month.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E7D5A9-9EB4-B802-D614-210EA4C44AE6}"/>
              </a:ext>
            </a:extLst>
          </p:cNvPr>
          <p:cNvSpPr txBox="1"/>
          <p:nvPr/>
        </p:nvSpPr>
        <p:spPr>
          <a:xfrm>
            <a:off x="166742" y="185563"/>
            <a:ext cx="2048178" cy="948847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>
                <a:highlight>
                  <a:srgbClr val="FFFF00"/>
                </a:highlight>
              </a:rPr>
              <a:t>OUT​</a:t>
            </a:r>
          </a:p>
          <a:p>
            <a:pPr algn="ctr"/>
            <a:endParaRPr lang="en-US" sz="2833" b="1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Reading printed books is more enjoyable than reading on a screen."/>
          <p:cNvSpPr txBox="1"/>
          <p:nvPr/>
        </p:nvSpPr>
        <p:spPr>
          <a:xfrm>
            <a:off x="1179412" y="2223954"/>
            <a:ext cx="9980066" cy="9642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099" rIns="38099">
            <a:spAutoFit/>
          </a:bodyPr>
          <a:lstStyle>
            <a:lvl1pPr defTabSz="457200"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defRPr b="1"/>
            </a:pPr>
            <a:r>
              <a:rPr sz="2833"/>
              <a:t>Reading printed books is more enjoyable than reading on a screen.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BDF6E9-4913-109E-8FB7-58FA229861B4}"/>
              </a:ext>
            </a:extLst>
          </p:cNvPr>
          <p:cNvSpPr txBox="1"/>
          <p:nvPr/>
        </p:nvSpPr>
        <p:spPr>
          <a:xfrm>
            <a:off x="166742" y="185563"/>
            <a:ext cx="2048178" cy="948847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>
                <a:highlight>
                  <a:srgbClr val="FFFF00"/>
                </a:highlight>
              </a:rPr>
              <a:t>OUT​</a:t>
            </a:r>
          </a:p>
          <a:p>
            <a:pPr algn="ctr"/>
            <a:endParaRPr lang="en-US" sz="2833" b="1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According to a National Sleep Foundation (2020) poll of 1,006 U.S. teens, 87% of high schoolers get less than the recommended 8–10 hours of sleep on school nights."/>
          <p:cNvSpPr txBox="1"/>
          <p:nvPr/>
        </p:nvSpPr>
        <p:spPr>
          <a:xfrm>
            <a:off x="1179412" y="2223954"/>
            <a:ext cx="9980066" cy="1400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099" rIns="38099">
            <a:spAutoFit/>
          </a:bodyPr>
          <a:lstStyle>
            <a:lvl1pPr defTabSz="457200"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defRPr b="1"/>
            </a:pPr>
            <a:r>
              <a:rPr sz="2833"/>
              <a:t>According to a National Sleep Foundation (2020) poll of 1,006 U.S. teens, 87% of high schoolers get less than the recommended 8–10 hours of sleep on school nights.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35554D-1D4C-5D6F-34DE-942C562FE4D0}"/>
              </a:ext>
            </a:extLst>
          </p:cNvPr>
          <p:cNvSpPr txBox="1"/>
          <p:nvPr/>
        </p:nvSpPr>
        <p:spPr>
          <a:xfrm>
            <a:off x="166742" y="185563"/>
            <a:ext cx="2048178" cy="948847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>
                <a:highlight>
                  <a:srgbClr val="FFFF00"/>
                </a:highlight>
              </a:rPr>
              <a:t>OUT​</a:t>
            </a:r>
          </a:p>
          <a:p>
            <a:pPr algn="ctr"/>
            <a:endParaRPr lang="en-US" sz="2833" b="1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How do I know that?…"/>
          <p:cNvSpPr txBox="1"/>
          <p:nvPr/>
        </p:nvSpPr>
        <p:spPr>
          <a:xfrm>
            <a:off x="3604769" y="2977604"/>
            <a:ext cx="5129351" cy="2749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099" rIns="38099">
            <a:spAutoFit/>
          </a:bodyPr>
          <a:lstStyle/>
          <a:p>
            <a:pPr algn="ctr">
              <a:lnSpc>
                <a:spcPts val="2250"/>
              </a:lnSpc>
              <a:defRPr sz="2700">
                <a:latin typeface="Inter"/>
                <a:ea typeface="Inter"/>
                <a:cs typeface="Inter"/>
                <a:sym typeface="Inter"/>
              </a:defRPr>
            </a:pPr>
            <a:r>
              <a:rPr sz="2250"/>
              <a:t>How do I know that? </a:t>
            </a:r>
          </a:p>
          <a:p>
            <a:pPr algn="ctr">
              <a:lnSpc>
                <a:spcPts val="2250"/>
              </a:lnSpc>
              <a:defRPr sz="2700">
                <a:latin typeface="Inter"/>
                <a:ea typeface="Inter"/>
                <a:cs typeface="Inter"/>
                <a:sym typeface="Inter"/>
              </a:defRPr>
            </a:pPr>
            <a:endParaRPr sz="2250"/>
          </a:p>
          <a:p>
            <a:pPr algn="ctr">
              <a:lnSpc>
                <a:spcPts val="2250"/>
              </a:lnSpc>
              <a:defRPr sz="2700">
                <a:latin typeface="Inter"/>
                <a:ea typeface="Inter"/>
                <a:cs typeface="Inter"/>
                <a:sym typeface="Inter"/>
              </a:defRPr>
            </a:pPr>
            <a:r>
              <a:rPr sz="2250"/>
              <a:t>What information is this opinion based on?</a:t>
            </a:r>
          </a:p>
          <a:p>
            <a:pPr algn="ctr">
              <a:lnSpc>
                <a:spcPts val="2250"/>
              </a:lnSpc>
              <a:defRPr sz="2700">
                <a:latin typeface="Inter"/>
                <a:ea typeface="Inter"/>
                <a:cs typeface="Inter"/>
                <a:sym typeface="Inter"/>
              </a:defRPr>
            </a:pPr>
            <a:endParaRPr sz="2250"/>
          </a:p>
          <a:p>
            <a:pPr algn="ctr">
              <a:lnSpc>
                <a:spcPts val="2250"/>
              </a:lnSpc>
              <a:defRPr sz="2700">
                <a:latin typeface="Inter"/>
                <a:ea typeface="Inter"/>
                <a:cs typeface="Inter"/>
                <a:sym typeface="Inter"/>
              </a:defRPr>
            </a:pPr>
            <a:r>
              <a:rPr sz="2250"/>
              <a:t>What’s that claim based on? </a:t>
            </a:r>
          </a:p>
          <a:p>
            <a:pPr algn="ctr">
              <a:lnSpc>
                <a:spcPts val="2250"/>
              </a:lnSpc>
              <a:defRPr sz="2700">
                <a:latin typeface="Inter"/>
                <a:ea typeface="Inter"/>
                <a:cs typeface="Inter"/>
                <a:sym typeface="Inter"/>
              </a:defRPr>
            </a:pPr>
            <a:endParaRPr sz="2250"/>
          </a:p>
          <a:p>
            <a:pPr algn="ctr">
              <a:lnSpc>
                <a:spcPts val="2250"/>
              </a:lnSpc>
              <a:defRPr sz="2700">
                <a:latin typeface="Inter"/>
                <a:ea typeface="Inter"/>
                <a:cs typeface="Inter"/>
                <a:sym typeface="Inter"/>
              </a:defRPr>
            </a:pPr>
            <a:r>
              <a:rPr sz="2250"/>
              <a:t>Has anyone actually tested it?</a:t>
            </a:r>
          </a:p>
          <a:p>
            <a:pPr algn="ctr">
              <a:lnSpc>
                <a:spcPts val="2250"/>
              </a:lnSpc>
              <a:defRPr sz="2700">
                <a:latin typeface="Inter"/>
                <a:ea typeface="Inter"/>
                <a:cs typeface="Inter"/>
                <a:sym typeface="Inter"/>
              </a:defRPr>
            </a:pPr>
            <a:endParaRPr sz="2250"/>
          </a:p>
          <a:p>
            <a:pPr algn="ctr">
              <a:lnSpc>
                <a:spcPts val="2250"/>
              </a:lnSpc>
              <a:defRPr sz="2700">
                <a:latin typeface="Inter"/>
                <a:ea typeface="Inter"/>
                <a:cs typeface="Inter"/>
                <a:sym typeface="Inter"/>
              </a:defRPr>
            </a:pPr>
            <a:r>
              <a:rPr sz="2250"/>
              <a:t>Where is the evidence? </a:t>
            </a:r>
          </a:p>
        </p:txBody>
      </p:sp>
      <p:sp>
        <p:nvSpPr>
          <p:cNvPr id="1104" name="Text 0"/>
          <p:cNvSpPr txBox="1"/>
          <p:nvPr/>
        </p:nvSpPr>
        <p:spPr>
          <a:xfrm>
            <a:off x="1446207" y="1864953"/>
            <a:ext cx="9218870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A Key Attitude of a Researcher: Inquisition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F37F34-BDC3-F572-4D71-B5FDC5B8FDDD}"/>
              </a:ext>
            </a:extLst>
          </p:cNvPr>
          <p:cNvSpPr txBox="1"/>
          <p:nvPr/>
        </p:nvSpPr>
        <p:spPr>
          <a:xfrm>
            <a:off x="166742" y="185564"/>
            <a:ext cx="2048178" cy="1384801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 sz="2833" b="1" dirty="0">
              <a:highlight>
                <a:srgbClr val="FFFF00"/>
              </a:highlight>
            </a:endParaRPr>
          </a:p>
          <a:p>
            <a:pPr algn="ctr"/>
            <a:r>
              <a:rPr lang="en-US" sz="2833" b="1">
                <a:highlight>
                  <a:srgbClr val="FFFF00"/>
                </a:highlight>
              </a:rPr>
              <a:t>Can stay</a:t>
            </a:r>
            <a:endParaRPr lang="en-US" sz="2833" b="1" dirty="0">
              <a:highlight>
                <a:srgbClr val="FFFF00"/>
              </a:highlight>
            </a:endParaRPr>
          </a:p>
          <a:p>
            <a:pPr algn="ctr"/>
            <a:endParaRPr lang="en-US" sz="2833" b="1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6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8379"/>
            <a:ext cx="12192000" cy="2362698"/>
          </a:xfrm>
          <a:prstGeom prst="rect">
            <a:avLst/>
          </a:prstGeom>
          <a:ln w="12700">
            <a:miter lim="400000"/>
          </a:ln>
        </p:spPr>
      </p:pic>
      <p:sp>
        <p:nvSpPr>
          <p:cNvPr id="1107" name="Text 0"/>
          <p:cNvSpPr txBox="1"/>
          <p:nvPr/>
        </p:nvSpPr>
        <p:spPr>
          <a:xfrm>
            <a:off x="661492" y="3429000"/>
            <a:ext cx="4849084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Why Evidence Matters</a:t>
            </a:r>
          </a:p>
        </p:txBody>
      </p:sp>
      <p:sp>
        <p:nvSpPr>
          <p:cNvPr id="1108" name="Text 1"/>
          <p:cNvSpPr txBox="1"/>
          <p:nvPr/>
        </p:nvSpPr>
        <p:spPr>
          <a:xfrm>
            <a:off x="1848680" y="4157961"/>
            <a:ext cx="1059585" cy="697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5800"/>
              </a:lnSpc>
              <a:defRPr sz="58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4833"/>
              <a:t>47%</a:t>
            </a:r>
          </a:p>
        </p:txBody>
      </p:sp>
      <p:sp>
        <p:nvSpPr>
          <p:cNvPr id="1109" name="Text 2"/>
          <p:cNvSpPr txBox="1"/>
          <p:nvPr/>
        </p:nvSpPr>
        <p:spPr>
          <a:xfrm>
            <a:off x="1521616" y="5017789"/>
            <a:ext cx="1713611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Misinformation</a:t>
            </a:r>
          </a:p>
        </p:txBody>
      </p:sp>
      <p:sp>
        <p:nvSpPr>
          <p:cNvPr id="1110" name="Text 3"/>
          <p:cNvSpPr txBox="1"/>
          <p:nvPr/>
        </p:nvSpPr>
        <p:spPr>
          <a:xfrm>
            <a:off x="661491" y="5426472"/>
            <a:ext cx="3433963" cy="6819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800"/>
              </a:lnSpc>
              <a:defRPr sz="1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583"/>
              <a:t>Percentage of online content containing inaccurate claims</a:t>
            </a:r>
          </a:p>
        </p:txBody>
      </p:sp>
      <p:sp>
        <p:nvSpPr>
          <p:cNvPr id="1111" name="Text 4"/>
          <p:cNvSpPr txBox="1"/>
          <p:nvPr/>
        </p:nvSpPr>
        <p:spPr>
          <a:xfrm>
            <a:off x="5578180" y="4157961"/>
            <a:ext cx="1035541" cy="697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5800"/>
              </a:lnSpc>
              <a:defRPr sz="58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4833"/>
              <a:t>73%</a:t>
            </a:r>
          </a:p>
        </p:txBody>
      </p:sp>
      <p:sp>
        <p:nvSpPr>
          <p:cNvPr id="1112" name="Text 5"/>
          <p:cNvSpPr txBox="1"/>
          <p:nvPr/>
        </p:nvSpPr>
        <p:spPr>
          <a:xfrm>
            <a:off x="5202277" y="5017789"/>
            <a:ext cx="1787349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Better Decisions</a:t>
            </a:r>
          </a:p>
        </p:txBody>
      </p:sp>
      <p:sp>
        <p:nvSpPr>
          <p:cNvPr id="1113" name="Text 6"/>
          <p:cNvSpPr txBox="1"/>
          <p:nvPr/>
        </p:nvSpPr>
        <p:spPr>
          <a:xfrm>
            <a:off x="4378920" y="5426472"/>
            <a:ext cx="3434061" cy="6819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800"/>
              </a:lnSpc>
              <a:defRPr sz="1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583"/>
              <a:t>Improved outcomes when using evidence-based approaches</a:t>
            </a:r>
          </a:p>
        </p:txBody>
      </p:sp>
      <p:sp>
        <p:nvSpPr>
          <p:cNvPr id="1114" name="Text 7"/>
          <p:cNvSpPr txBox="1"/>
          <p:nvPr/>
        </p:nvSpPr>
        <p:spPr>
          <a:xfrm>
            <a:off x="9457563" y="4157961"/>
            <a:ext cx="711734" cy="697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5800"/>
              </a:lnSpc>
              <a:defRPr sz="58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4833"/>
              <a:t>5X</a:t>
            </a:r>
          </a:p>
        </p:txBody>
      </p:sp>
      <p:sp>
        <p:nvSpPr>
          <p:cNvPr id="1115" name="Text 8"/>
          <p:cNvSpPr txBox="1"/>
          <p:nvPr/>
        </p:nvSpPr>
        <p:spPr>
          <a:xfrm>
            <a:off x="8882837" y="5017789"/>
            <a:ext cx="1861087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Problem-Solving</a:t>
            </a:r>
          </a:p>
        </p:txBody>
      </p:sp>
      <p:sp>
        <p:nvSpPr>
          <p:cNvPr id="1116" name="Text 9"/>
          <p:cNvSpPr txBox="1"/>
          <p:nvPr/>
        </p:nvSpPr>
        <p:spPr>
          <a:xfrm>
            <a:off x="8096448" y="5426472"/>
            <a:ext cx="3433963" cy="6819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800"/>
              </a:lnSpc>
              <a:defRPr sz="19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583"/>
              <a:t>More effective solutions when based on research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AA0588-B2B2-3E4C-EB41-58A63420D125}"/>
              </a:ext>
            </a:extLst>
          </p:cNvPr>
          <p:cNvSpPr txBox="1"/>
          <p:nvPr/>
        </p:nvSpPr>
        <p:spPr>
          <a:xfrm>
            <a:off x="166742" y="185564"/>
            <a:ext cx="2048178" cy="2692658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>
                <a:highlight>
                  <a:srgbClr val="FFFF00"/>
                </a:highlight>
              </a:rPr>
              <a:t>OUT​</a:t>
            </a:r>
          </a:p>
          <a:p>
            <a:pPr algn="ctr"/>
            <a:endParaRPr lang="en-US" sz="2833" b="1" dirty="0">
              <a:highlight>
                <a:srgbClr val="FFFF00"/>
              </a:highlight>
            </a:endParaRPr>
          </a:p>
          <a:p>
            <a:pPr algn="ctr"/>
            <a:r>
              <a:rPr lang="en-US" sz="2833" b="1">
                <a:highlight>
                  <a:srgbClr val="FFFF00"/>
                </a:highlight>
              </a:rPr>
              <a:t>Unless we want to add it on</a:t>
            </a:r>
            <a:endParaRPr lang="en-US" sz="2833" b="1" dirty="0">
              <a:highlight>
                <a:srgbClr val="FFFF00"/>
              </a:highlight>
            </a:endParaRPr>
          </a:p>
          <a:p>
            <a:pPr algn="ctr"/>
            <a:endParaRPr lang="en-US" sz="2833" b="1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8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8564"/>
            <a:ext cx="12192000" cy="2274294"/>
          </a:xfrm>
          <a:prstGeom prst="rect">
            <a:avLst/>
          </a:prstGeom>
          <a:ln w="12700">
            <a:miter lim="400000"/>
          </a:ln>
        </p:spPr>
      </p:pic>
      <p:sp>
        <p:nvSpPr>
          <p:cNvPr id="1119" name="Text 0"/>
          <p:cNvSpPr txBox="1"/>
          <p:nvPr/>
        </p:nvSpPr>
        <p:spPr>
          <a:xfrm>
            <a:off x="636786" y="2999284"/>
            <a:ext cx="8035854" cy="6111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300"/>
              </a:lnSpc>
              <a:defRPr sz="4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500"/>
              <a:t>Questioning Claims: The Mozart Effect</a:t>
            </a:r>
          </a:p>
        </p:txBody>
      </p:sp>
      <p:pic>
        <p:nvPicPr>
          <p:cNvPr id="1120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85" y="3616722"/>
            <a:ext cx="2729608" cy="727770"/>
          </a:xfrm>
          <a:prstGeom prst="rect">
            <a:avLst/>
          </a:prstGeom>
          <a:ln w="12700">
            <a:miter lim="400000"/>
          </a:ln>
        </p:spPr>
      </p:pic>
      <p:sp>
        <p:nvSpPr>
          <p:cNvPr id="1121" name="Text 1"/>
          <p:cNvSpPr txBox="1"/>
          <p:nvPr/>
        </p:nvSpPr>
        <p:spPr>
          <a:xfrm>
            <a:off x="818653" y="4617344"/>
            <a:ext cx="1120500" cy="3031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6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The Claim</a:t>
            </a:r>
          </a:p>
        </p:txBody>
      </p:sp>
      <p:sp>
        <p:nvSpPr>
          <p:cNvPr id="1122" name="Text 2"/>
          <p:cNvSpPr txBox="1"/>
          <p:nvPr/>
        </p:nvSpPr>
        <p:spPr>
          <a:xfrm>
            <a:off x="818653" y="5010744"/>
            <a:ext cx="2365873" cy="136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"Listening to classical music while studying guarantees an A on the test."</a:t>
            </a:r>
          </a:p>
        </p:txBody>
      </p:sp>
      <p:pic>
        <p:nvPicPr>
          <p:cNvPr id="1123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6393" y="3616722"/>
            <a:ext cx="2729607" cy="727770"/>
          </a:xfrm>
          <a:prstGeom prst="rect">
            <a:avLst/>
          </a:prstGeom>
          <a:ln w="12700">
            <a:miter lim="400000"/>
          </a:ln>
        </p:spPr>
      </p:pic>
      <p:sp>
        <p:nvSpPr>
          <p:cNvPr id="1124" name="Text 3"/>
          <p:cNvSpPr txBox="1"/>
          <p:nvPr/>
        </p:nvSpPr>
        <p:spPr>
          <a:xfrm>
            <a:off x="3548260" y="4617344"/>
            <a:ext cx="1290418" cy="3031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6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The Inquiry</a:t>
            </a:r>
          </a:p>
        </p:txBody>
      </p:sp>
      <p:sp>
        <p:nvSpPr>
          <p:cNvPr id="1125" name="Text 4"/>
          <p:cNvSpPr txBox="1"/>
          <p:nvPr/>
        </p:nvSpPr>
        <p:spPr>
          <a:xfrm>
            <a:off x="3548260" y="5010744"/>
            <a:ext cx="2365873" cy="10142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"What's that claim based on? Has anyone actually tested it?"</a:t>
            </a:r>
          </a:p>
        </p:txBody>
      </p:sp>
      <p:pic>
        <p:nvPicPr>
          <p:cNvPr id="1126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616722"/>
            <a:ext cx="2729607" cy="727770"/>
          </a:xfrm>
          <a:prstGeom prst="rect">
            <a:avLst/>
          </a:prstGeom>
          <a:ln w="12700">
            <a:miter lim="400000"/>
          </a:ln>
        </p:spPr>
      </p:pic>
      <p:sp>
        <p:nvSpPr>
          <p:cNvPr id="1127" name="Text 5"/>
          <p:cNvSpPr txBox="1"/>
          <p:nvPr/>
        </p:nvSpPr>
        <p:spPr>
          <a:xfrm>
            <a:off x="6277868" y="4617344"/>
            <a:ext cx="1471557" cy="3031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6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The Research</a:t>
            </a:r>
          </a:p>
        </p:txBody>
      </p:sp>
      <p:sp>
        <p:nvSpPr>
          <p:cNvPr id="1128" name="Text 6"/>
          <p:cNvSpPr txBox="1"/>
          <p:nvPr/>
        </p:nvSpPr>
        <p:spPr>
          <a:xfrm>
            <a:off x="6277867" y="5010744"/>
            <a:ext cx="2365872" cy="136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Find scientific studies or conduct a small experiment comparing study methods.</a:t>
            </a:r>
          </a:p>
        </p:txBody>
      </p:sp>
      <p:pic>
        <p:nvPicPr>
          <p:cNvPr id="1129" name="Image 4" descr="Imag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5606" y="3616722"/>
            <a:ext cx="2729608" cy="727770"/>
          </a:xfrm>
          <a:prstGeom prst="rect">
            <a:avLst/>
          </a:prstGeom>
          <a:ln w="12700">
            <a:miter lim="400000"/>
          </a:ln>
        </p:spPr>
      </p:pic>
      <p:sp>
        <p:nvSpPr>
          <p:cNvPr id="1130" name="Text 7"/>
          <p:cNvSpPr txBox="1"/>
          <p:nvPr/>
        </p:nvSpPr>
        <p:spPr>
          <a:xfrm>
            <a:off x="9007474" y="4617344"/>
            <a:ext cx="1453924" cy="3031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6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The Evidence</a:t>
            </a:r>
          </a:p>
        </p:txBody>
      </p:sp>
      <p:sp>
        <p:nvSpPr>
          <p:cNvPr id="1131" name="Text 8"/>
          <p:cNvSpPr txBox="1"/>
          <p:nvPr/>
        </p:nvSpPr>
        <p:spPr>
          <a:xfrm>
            <a:off x="9007474" y="5010744"/>
            <a:ext cx="2365872" cy="136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Music may help mood or focus for some people, but doesn't "guarantee" success.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0055C5-BA7A-C69B-178E-7C198D953071}"/>
              </a:ext>
            </a:extLst>
          </p:cNvPr>
          <p:cNvSpPr txBox="1"/>
          <p:nvPr/>
        </p:nvSpPr>
        <p:spPr>
          <a:xfrm>
            <a:off x="166742" y="185563"/>
            <a:ext cx="2048178" cy="948847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>
                <a:highlight>
                  <a:srgbClr val="FFFF00"/>
                </a:highlight>
              </a:rPr>
              <a:t>OUT​</a:t>
            </a:r>
          </a:p>
          <a:p>
            <a:pPr algn="ctr"/>
            <a:endParaRPr lang="en-US" sz="2833" b="1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Text 0"/>
          <p:cNvSpPr txBox="1"/>
          <p:nvPr/>
        </p:nvSpPr>
        <p:spPr>
          <a:xfrm>
            <a:off x="661491" y="1042591"/>
            <a:ext cx="10627909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Types of Research: A Multidisciplinary Approach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AD6A79-5C7E-595D-B343-E22B39169C1D}"/>
              </a:ext>
            </a:extLst>
          </p:cNvPr>
          <p:cNvSpPr txBox="1"/>
          <p:nvPr/>
        </p:nvSpPr>
        <p:spPr>
          <a:xfrm>
            <a:off x="166742" y="185563"/>
            <a:ext cx="2048178" cy="1820753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 sz="2833" b="1" dirty="0">
              <a:highlight>
                <a:srgbClr val="FFFF00"/>
              </a:highlight>
            </a:endParaRPr>
          </a:p>
          <a:p>
            <a:pPr algn="ctr"/>
            <a:r>
              <a:rPr lang="en-US" sz="2833" b="1" dirty="0">
                <a:highlight>
                  <a:srgbClr val="FFFF00"/>
                </a:highlight>
              </a:rPr>
              <a:t>Not in </a:t>
            </a:r>
            <a:r>
              <a:rPr lang="en-US" sz="2833" b="1">
                <a:highlight>
                  <a:srgbClr val="FFFF00"/>
                </a:highlight>
              </a:rPr>
              <a:t>curriculum</a:t>
            </a:r>
            <a:endParaRPr lang="en-US" sz="2833" b="1" dirty="0">
              <a:highlight>
                <a:srgbClr val="FFFF00"/>
              </a:highlight>
            </a:endParaRPr>
          </a:p>
          <a:p>
            <a:pPr algn="ctr"/>
            <a:endParaRPr lang="en-US" sz="2833" b="1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Text 0"/>
          <p:cNvSpPr txBox="1"/>
          <p:nvPr/>
        </p:nvSpPr>
        <p:spPr>
          <a:xfrm>
            <a:off x="661491" y="1042591"/>
            <a:ext cx="10627909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Types of Research: A Multidisciplinary Approach</a:t>
            </a:r>
          </a:p>
        </p:txBody>
      </p:sp>
      <p:sp>
        <p:nvSpPr>
          <p:cNvPr id="1136" name="Text 1"/>
          <p:cNvSpPr txBox="1"/>
          <p:nvPr/>
        </p:nvSpPr>
        <p:spPr>
          <a:xfrm>
            <a:off x="1929098" y="2233414"/>
            <a:ext cx="1981312" cy="310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lnSpc>
                <a:spcPts val="2700"/>
              </a:lnSpc>
              <a:defRPr sz="21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750"/>
              <a:t>Scientific Research</a:t>
            </a:r>
          </a:p>
        </p:txBody>
      </p:sp>
      <p:sp>
        <p:nvSpPr>
          <p:cNvPr id="1137" name="Text 2"/>
          <p:cNvSpPr txBox="1"/>
          <p:nvPr/>
        </p:nvSpPr>
        <p:spPr>
          <a:xfrm>
            <a:off x="661492" y="2642096"/>
            <a:ext cx="3248919" cy="1046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2800"/>
              </a:lnSpc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Explores the natural world through experiments and systematic observation</a:t>
            </a:r>
          </a:p>
        </p:txBody>
      </p:sp>
      <p:pic>
        <p:nvPicPr>
          <p:cNvPr id="1138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3877" y="2011264"/>
            <a:ext cx="3804147" cy="38041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39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8943" y="2647157"/>
            <a:ext cx="282774" cy="353518"/>
          </a:xfrm>
          <a:prstGeom prst="rect">
            <a:avLst/>
          </a:prstGeom>
          <a:ln w="12700">
            <a:miter lim="400000"/>
          </a:ln>
        </p:spPr>
      </p:pic>
      <p:sp>
        <p:nvSpPr>
          <p:cNvPr id="1140" name="Text 3"/>
          <p:cNvSpPr txBox="1"/>
          <p:nvPr/>
        </p:nvSpPr>
        <p:spPr>
          <a:xfrm>
            <a:off x="8281492" y="2233414"/>
            <a:ext cx="2476640" cy="310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1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750"/>
              <a:t>Social Science Research</a:t>
            </a:r>
          </a:p>
        </p:txBody>
      </p:sp>
      <p:sp>
        <p:nvSpPr>
          <p:cNvPr id="1141" name="Text 4"/>
          <p:cNvSpPr txBox="1"/>
          <p:nvPr/>
        </p:nvSpPr>
        <p:spPr>
          <a:xfrm>
            <a:off x="8281492" y="2642096"/>
            <a:ext cx="3249018" cy="1046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Examines human behavior and social systems through surveys and analyses</a:t>
            </a:r>
          </a:p>
        </p:txBody>
      </p:sp>
      <p:pic>
        <p:nvPicPr>
          <p:cNvPr id="1142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3877" y="2011264"/>
            <a:ext cx="3804147" cy="38041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43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3837" y="2970906"/>
            <a:ext cx="282774" cy="353518"/>
          </a:xfrm>
          <a:prstGeom prst="rect">
            <a:avLst/>
          </a:prstGeom>
          <a:ln w="12700">
            <a:miter lim="400000"/>
          </a:ln>
        </p:spPr>
      </p:pic>
      <p:sp>
        <p:nvSpPr>
          <p:cNvPr id="1144" name="Text 5"/>
          <p:cNvSpPr txBox="1"/>
          <p:nvPr/>
        </p:nvSpPr>
        <p:spPr>
          <a:xfrm>
            <a:off x="8281492" y="4277221"/>
            <a:ext cx="2040623" cy="310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1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750"/>
              <a:t>Historical Research</a:t>
            </a:r>
          </a:p>
        </p:txBody>
      </p:sp>
      <p:sp>
        <p:nvSpPr>
          <p:cNvPr id="1145" name="Text 6"/>
          <p:cNvSpPr txBox="1"/>
          <p:nvPr/>
        </p:nvSpPr>
        <p:spPr>
          <a:xfrm>
            <a:off x="8281492" y="4685903"/>
            <a:ext cx="3249018" cy="1046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Investigates the past through primary sources and contextual interpretation</a:t>
            </a:r>
          </a:p>
        </p:txBody>
      </p:sp>
      <p:pic>
        <p:nvPicPr>
          <p:cNvPr id="1146" name="Image 4" descr="Imag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3877" y="2011264"/>
            <a:ext cx="3804147" cy="38041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47" name="Image 5" descr="Imag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086" y="4825802"/>
            <a:ext cx="282774" cy="353518"/>
          </a:xfrm>
          <a:prstGeom prst="rect">
            <a:avLst/>
          </a:prstGeom>
          <a:ln w="12700">
            <a:miter lim="400000"/>
          </a:ln>
        </p:spPr>
      </p:pic>
      <p:sp>
        <p:nvSpPr>
          <p:cNvPr id="1148" name="Text 7"/>
          <p:cNvSpPr txBox="1"/>
          <p:nvPr/>
        </p:nvSpPr>
        <p:spPr>
          <a:xfrm>
            <a:off x="1140421" y="4428431"/>
            <a:ext cx="2769989" cy="310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lnSpc>
                <a:spcPts val="2700"/>
              </a:lnSpc>
              <a:defRPr sz="21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750"/>
              <a:t>Interdisciplinary Research</a:t>
            </a:r>
          </a:p>
        </p:txBody>
      </p:sp>
      <p:sp>
        <p:nvSpPr>
          <p:cNvPr id="1149" name="Text 8"/>
          <p:cNvSpPr txBox="1"/>
          <p:nvPr/>
        </p:nvSpPr>
        <p:spPr>
          <a:xfrm>
            <a:off x="661492" y="4837112"/>
            <a:ext cx="3248919" cy="687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2800"/>
              </a:lnSpc>
              <a:defRPr sz="21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750"/>
              <a:t>Combines multiple fields to address complex questions holistically</a:t>
            </a:r>
          </a:p>
        </p:txBody>
      </p:sp>
      <p:pic>
        <p:nvPicPr>
          <p:cNvPr id="1150" name="Image 6" descr="Imag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3877" y="2011264"/>
            <a:ext cx="3804147" cy="38041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51" name="Image 7" descr="Image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65192" y="4502050"/>
            <a:ext cx="282774" cy="353518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AB2D53-DB04-BAE8-81F9-088AF97AF509}"/>
              </a:ext>
            </a:extLst>
          </p:cNvPr>
          <p:cNvSpPr txBox="1"/>
          <p:nvPr/>
        </p:nvSpPr>
        <p:spPr>
          <a:xfrm>
            <a:off x="166742" y="185563"/>
            <a:ext cx="2048178" cy="1820753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 sz="2833" b="1" dirty="0">
              <a:highlight>
                <a:srgbClr val="FFFF00"/>
              </a:highlight>
            </a:endParaRPr>
          </a:p>
          <a:p>
            <a:pPr algn="ctr"/>
            <a:r>
              <a:rPr lang="en-US" sz="2833" b="1" dirty="0">
                <a:highlight>
                  <a:srgbClr val="FFFF00"/>
                </a:highlight>
              </a:rPr>
              <a:t>Not in </a:t>
            </a:r>
            <a:r>
              <a:rPr lang="en-US" sz="2833" b="1">
                <a:highlight>
                  <a:srgbClr val="FFFF00"/>
                </a:highlight>
              </a:rPr>
              <a:t>curriculum</a:t>
            </a:r>
            <a:endParaRPr lang="en-US" sz="2833" b="1" dirty="0">
              <a:highlight>
                <a:srgbClr val="FFFF00"/>
              </a:highlight>
            </a:endParaRPr>
          </a:p>
          <a:p>
            <a:pPr algn="ctr"/>
            <a:endParaRPr lang="en-US" sz="2833" b="1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Text 0"/>
          <p:cNvSpPr txBox="1"/>
          <p:nvPr/>
        </p:nvSpPr>
        <p:spPr>
          <a:xfrm>
            <a:off x="661492" y="1422995"/>
            <a:ext cx="5794856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Interdisciplinary Research</a:t>
            </a:r>
          </a:p>
        </p:txBody>
      </p:sp>
      <p:sp>
        <p:nvSpPr>
          <p:cNvPr id="1154" name="Text 1"/>
          <p:cNvSpPr txBox="1"/>
          <p:nvPr/>
        </p:nvSpPr>
        <p:spPr>
          <a:xfrm>
            <a:off x="1386272" y="2574826"/>
            <a:ext cx="2904641" cy="3152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lnSpc>
                <a:spcPts val="270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Climate Change Research</a:t>
            </a:r>
          </a:p>
        </p:txBody>
      </p:sp>
      <p:sp>
        <p:nvSpPr>
          <p:cNvPr id="1155" name="Text 2"/>
          <p:cNvSpPr txBox="1"/>
          <p:nvPr/>
        </p:nvSpPr>
        <p:spPr>
          <a:xfrm>
            <a:off x="661492" y="2983507"/>
            <a:ext cx="3629422" cy="1052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28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Combines natural science, economics, sociology, and policy studies</a:t>
            </a:r>
          </a:p>
        </p:txBody>
      </p:sp>
      <p:pic>
        <p:nvPicPr>
          <p:cNvPr id="1156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4381" y="2391668"/>
            <a:ext cx="3043238" cy="3043238"/>
          </a:xfrm>
          <a:prstGeom prst="rect">
            <a:avLst/>
          </a:prstGeom>
          <a:ln w="12700">
            <a:miter lim="400000"/>
          </a:ln>
        </p:spPr>
      </p:pic>
      <p:sp>
        <p:nvSpPr>
          <p:cNvPr id="1157" name="Shape 3"/>
          <p:cNvSpPr/>
          <p:nvPr/>
        </p:nvSpPr>
        <p:spPr>
          <a:xfrm>
            <a:off x="4824115" y="2641401"/>
            <a:ext cx="472481" cy="472481"/>
          </a:xfrm>
          <a:prstGeom prst="roundRect">
            <a:avLst>
              <a:gd name="adj" fmla="val 50000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1158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992" y="2744689"/>
            <a:ext cx="212627" cy="265808"/>
          </a:xfrm>
          <a:prstGeom prst="rect">
            <a:avLst/>
          </a:prstGeom>
          <a:ln w="12700">
            <a:miter lim="400000"/>
          </a:ln>
        </p:spPr>
      </p:pic>
      <p:sp>
        <p:nvSpPr>
          <p:cNvPr id="1159" name="Text 4"/>
          <p:cNvSpPr txBox="1"/>
          <p:nvPr/>
        </p:nvSpPr>
        <p:spPr>
          <a:xfrm>
            <a:off x="7901087" y="2574826"/>
            <a:ext cx="2271456" cy="3152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Public Health Crisis</a:t>
            </a:r>
          </a:p>
        </p:txBody>
      </p:sp>
      <p:sp>
        <p:nvSpPr>
          <p:cNvPr id="1160" name="Text 5"/>
          <p:cNvSpPr txBox="1"/>
          <p:nvPr/>
        </p:nvSpPr>
        <p:spPr>
          <a:xfrm>
            <a:off x="7901087" y="2983507"/>
            <a:ext cx="3629422" cy="693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Integrates biology, medicine, psychology, and historical precedent</a:t>
            </a:r>
          </a:p>
        </p:txBody>
      </p:sp>
      <p:pic>
        <p:nvPicPr>
          <p:cNvPr id="1161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4381" y="2391668"/>
            <a:ext cx="3043238" cy="3043238"/>
          </a:xfrm>
          <a:prstGeom prst="rect">
            <a:avLst/>
          </a:prstGeom>
          <a:ln w="12700">
            <a:miter lim="400000"/>
          </a:ln>
        </p:spPr>
      </p:pic>
      <p:sp>
        <p:nvSpPr>
          <p:cNvPr id="1162" name="Shape 6"/>
          <p:cNvSpPr/>
          <p:nvPr/>
        </p:nvSpPr>
        <p:spPr>
          <a:xfrm>
            <a:off x="6895306" y="2641401"/>
            <a:ext cx="472481" cy="472481"/>
          </a:xfrm>
          <a:prstGeom prst="roundRect">
            <a:avLst>
              <a:gd name="adj" fmla="val 50000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1163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5183" y="2744689"/>
            <a:ext cx="212627" cy="265808"/>
          </a:xfrm>
          <a:prstGeom prst="rect">
            <a:avLst/>
          </a:prstGeom>
          <a:ln w="12700">
            <a:miter lim="400000"/>
          </a:ln>
        </p:spPr>
      </p:pic>
      <p:sp>
        <p:nvSpPr>
          <p:cNvPr id="1164" name="Text 7"/>
          <p:cNvSpPr txBox="1"/>
          <p:nvPr/>
        </p:nvSpPr>
        <p:spPr>
          <a:xfrm>
            <a:off x="7901087" y="4238129"/>
            <a:ext cx="1790555" cy="3152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Urban Planning</a:t>
            </a:r>
          </a:p>
        </p:txBody>
      </p:sp>
      <p:sp>
        <p:nvSpPr>
          <p:cNvPr id="1165" name="Text 8"/>
          <p:cNvSpPr txBox="1"/>
          <p:nvPr/>
        </p:nvSpPr>
        <p:spPr>
          <a:xfrm>
            <a:off x="7901087" y="4646810"/>
            <a:ext cx="3629422" cy="1052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Merges architecture, sociology, economics, and environmental science</a:t>
            </a:r>
          </a:p>
        </p:txBody>
      </p:sp>
      <p:pic>
        <p:nvPicPr>
          <p:cNvPr id="1166" name="Image 4" descr="Imag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4381" y="2391668"/>
            <a:ext cx="3043238" cy="3043238"/>
          </a:xfrm>
          <a:prstGeom prst="rect">
            <a:avLst/>
          </a:prstGeom>
          <a:ln w="12700">
            <a:miter lim="400000"/>
          </a:ln>
        </p:spPr>
      </p:pic>
      <p:sp>
        <p:nvSpPr>
          <p:cNvPr id="1167" name="Shape 9"/>
          <p:cNvSpPr/>
          <p:nvPr/>
        </p:nvSpPr>
        <p:spPr>
          <a:xfrm>
            <a:off x="6895306" y="4712594"/>
            <a:ext cx="472481" cy="472481"/>
          </a:xfrm>
          <a:prstGeom prst="roundRect">
            <a:avLst>
              <a:gd name="adj" fmla="val 50000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1168" name="Image 5" descr="Imag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5183" y="4815880"/>
            <a:ext cx="212627" cy="265808"/>
          </a:xfrm>
          <a:prstGeom prst="rect">
            <a:avLst/>
          </a:prstGeom>
          <a:ln w="12700">
            <a:miter lim="400000"/>
          </a:ln>
        </p:spPr>
      </p:pic>
      <p:sp>
        <p:nvSpPr>
          <p:cNvPr id="1169" name="Text 10"/>
          <p:cNvSpPr txBox="1"/>
          <p:nvPr/>
        </p:nvSpPr>
        <p:spPr>
          <a:xfrm>
            <a:off x="2200597" y="4238129"/>
            <a:ext cx="2090317" cy="3152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lnSpc>
                <a:spcPts val="270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Technology Ethics</a:t>
            </a:r>
          </a:p>
        </p:txBody>
      </p:sp>
      <p:sp>
        <p:nvSpPr>
          <p:cNvPr id="1170" name="Text 11"/>
          <p:cNvSpPr txBox="1"/>
          <p:nvPr/>
        </p:nvSpPr>
        <p:spPr>
          <a:xfrm>
            <a:off x="661492" y="4646810"/>
            <a:ext cx="3629422" cy="693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28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Bridges computer science, philosophy, psychology, and law</a:t>
            </a:r>
          </a:p>
        </p:txBody>
      </p:sp>
      <p:pic>
        <p:nvPicPr>
          <p:cNvPr id="1171" name="Image 6" descr="Imag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4381" y="2391668"/>
            <a:ext cx="3043238" cy="3043238"/>
          </a:xfrm>
          <a:prstGeom prst="rect">
            <a:avLst/>
          </a:prstGeom>
          <a:ln w="12700">
            <a:miter lim="400000"/>
          </a:ln>
        </p:spPr>
      </p:pic>
      <p:sp>
        <p:nvSpPr>
          <p:cNvPr id="1172" name="Shape 12"/>
          <p:cNvSpPr/>
          <p:nvPr/>
        </p:nvSpPr>
        <p:spPr>
          <a:xfrm>
            <a:off x="4824115" y="4712594"/>
            <a:ext cx="472481" cy="472481"/>
          </a:xfrm>
          <a:prstGeom prst="roundRect">
            <a:avLst>
              <a:gd name="adj" fmla="val 50000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1173" name="Image 7" descr="Image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992" y="4815880"/>
            <a:ext cx="212627" cy="265808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E16E3EF-23D3-8E68-30E7-B651EFCB351A}"/>
              </a:ext>
            </a:extLst>
          </p:cNvPr>
          <p:cNvSpPr txBox="1"/>
          <p:nvPr/>
        </p:nvSpPr>
        <p:spPr>
          <a:xfrm>
            <a:off x="166742" y="185563"/>
            <a:ext cx="2048178" cy="1820753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 sz="2833" b="1" dirty="0">
              <a:highlight>
                <a:srgbClr val="FFFF00"/>
              </a:highlight>
            </a:endParaRPr>
          </a:p>
          <a:p>
            <a:pPr algn="ctr"/>
            <a:r>
              <a:rPr lang="en-US" sz="2833" b="1" dirty="0">
                <a:highlight>
                  <a:srgbClr val="FFFF00"/>
                </a:highlight>
              </a:rPr>
              <a:t>Not in </a:t>
            </a:r>
            <a:r>
              <a:rPr lang="en-US" sz="2833" b="1">
                <a:highlight>
                  <a:srgbClr val="FFFF00"/>
                </a:highlight>
              </a:rPr>
              <a:t>curriculum</a:t>
            </a:r>
            <a:endParaRPr lang="en-US" sz="2833" b="1" dirty="0">
              <a:highlight>
                <a:srgbClr val="FFFF00"/>
              </a:highlight>
            </a:endParaRPr>
          </a:p>
          <a:p>
            <a:pPr algn="ctr"/>
            <a:endParaRPr lang="en-US" sz="2833" b="1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Text 0"/>
          <p:cNvSpPr txBox="1"/>
          <p:nvPr/>
        </p:nvSpPr>
        <p:spPr>
          <a:xfrm>
            <a:off x="661492" y="810121"/>
            <a:ext cx="7303281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Core Principles of Good Research</a:t>
            </a:r>
          </a:p>
        </p:txBody>
      </p:sp>
      <p:sp>
        <p:nvSpPr>
          <p:cNvPr id="1176" name="Text 2"/>
          <p:cNvSpPr txBox="1"/>
          <p:nvPr/>
        </p:nvSpPr>
        <p:spPr>
          <a:xfrm>
            <a:off x="7142256" y="1347747"/>
            <a:ext cx="1979901" cy="317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No matter what the field 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358153-2337-B2B5-4D65-284929E3A130}"/>
              </a:ext>
            </a:extLst>
          </p:cNvPr>
          <p:cNvSpPr txBox="1"/>
          <p:nvPr/>
        </p:nvSpPr>
        <p:spPr>
          <a:xfrm>
            <a:off x="166742" y="185563"/>
            <a:ext cx="2048178" cy="1820753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 sz="2833" b="1" dirty="0">
              <a:highlight>
                <a:srgbClr val="FFFF00"/>
              </a:highlight>
            </a:endParaRPr>
          </a:p>
          <a:p>
            <a:pPr algn="ctr"/>
            <a:r>
              <a:rPr lang="en-US" sz="2833" b="1" dirty="0">
                <a:highlight>
                  <a:srgbClr val="FFFF00"/>
                </a:highlight>
              </a:rPr>
              <a:t>Not in </a:t>
            </a:r>
            <a:r>
              <a:rPr lang="en-US" sz="2833" b="1">
                <a:highlight>
                  <a:srgbClr val="FFFF00"/>
                </a:highlight>
              </a:rPr>
              <a:t>curriculum</a:t>
            </a:r>
            <a:endParaRPr lang="en-US" sz="2833" b="1" dirty="0">
              <a:highlight>
                <a:srgbClr val="FFFF00"/>
              </a:highlight>
            </a:endParaRPr>
          </a:p>
          <a:p>
            <a:pPr algn="ctr"/>
            <a:endParaRPr lang="en-US" sz="2833" b="1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Text 0"/>
          <p:cNvSpPr txBox="1"/>
          <p:nvPr/>
        </p:nvSpPr>
        <p:spPr>
          <a:xfrm>
            <a:off x="661492" y="810121"/>
            <a:ext cx="7303281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Core Principles of Good Research</a:t>
            </a:r>
          </a:p>
        </p:txBody>
      </p:sp>
      <p:pic>
        <p:nvPicPr>
          <p:cNvPr id="1179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1957" y="1778794"/>
            <a:ext cx="1793380" cy="1391543"/>
          </a:xfrm>
          <a:prstGeom prst="rect">
            <a:avLst/>
          </a:prstGeom>
          <a:ln w="12700">
            <a:miter lim="400000"/>
          </a:ln>
        </p:spPr>
      </p:pic>
      <p:pic>
        <p:nvPicPr>
          <p:cNvPr id="1180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5744" y="2488803"/>
            <a:ext cx="265808" cy="332185"/>
          </a:xfrm>
          <a:prstGeom prst="rect">
            <a:avLst/>
          </a:prstGeom>
          <a:ln w="12700">
            <a:miter lim="400000"/>
          </a:ln>
        </p:spPr>
      </p:pic>
      <p:sp>
        <p:nvSpPr>
          <p:cNvPr id="1181" name="Text 1"/>
          <p:cNvSpPr txBox="1"/>
          <p:nvPr/>
        </p:nvSpPr>
        <p:spPr>
          <a:xfrm>
            <a:off x="4464347" y="2119015"/>
            <a:ext cx="1508426" cy="3462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3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500"/>
              <a:t>Be Honest</a:t>
            </a:r>
          </a:p>
        </p:txBody>
      </p:sp>
      <p:sp>
        <p:nvSpPr>
          <p:cNvPr id="1182" name="Shape 3"/>
          <p:cNvSpPr/>
          <p:nvPr/>
        </p:nvSpPr>
        <p:spPr>
          <a:xfrm>
            <a:off x="4322564" y="3181251"/>
            <a:ext cx="7160718" cy="12701"/>
          </a:xfrm>
          <a:prstGeom prst="roundRect">
            <a:avLst>
              <a:gd name="adj" fmla="val 50000"/>
            </a:avLst>
          </a:prstGeom>
          <a:solidFill>
            <a:srgbClr val="B2D3E5"/>
          </a:solidFill>
          <a:ln w="12700">
            <a:miter lim="400000"/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1183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5317" y="3217565"/>
            <a:ext cx="3586758" cy="1391544"/>
          </a:xfrm>
          <a:prstGeom prst="rect">
            <a:avLst/>
          </a:prstGeom>
          <a:ln w="12700">
            <a:miter lim="400000"/>
          </a:ln>
        </p:spPr>
      </p:pic>
      <p:pic>
        <p:nvPicPr>
          <p:cNvPr id="1184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5744" y="3747193"/>
            <a:ext cx="265808" cy="332185"/>
          </a:xfrm>
          <a:prstGeom prst="rect">
            <a:avLst/>
          </a:prstGeom>
          <a:ln w="12700">
            <a:miter lim="400000"/>
          </a:ln>
        </p:spPr>
      </p:pic>
      <p:sp>
        <p:nvSpPr>
          <p:cNvPr id="1185" name="Text 4"/>
          <p:cNvSpPr txBox="1"/>
          <p:nvPr/>
        </p:nvSpPr>
        <p:spPr>
          <a:xfrm>
            <a:off x="5361086" y="3557785"/>
            <a:ext cx="2056653" cy="3462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3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500"/>
              <a:t>Be Systematic</a:t>
            </a:r>
          </a:p>
        </p:txBody>
      </p:sp>
      <p:sp>
        <p:nvSpPr>
          <p:cNvPr id="1186" name="Shape 6"/>
          <p:cNvSpPr/>
          <p:nvPr/>
        </p:nvSpPr>
        <p:spPr>
          <a:xfrm>
            <a:off x="5219303" y="4620021"/>
            <a:ext cx="6263978" cy="12701"/>
          </a:xfrm>
          <a:prstGeom prst="roundRect">
            <a:avLst>
              <a:gd name="adj" fmla="val 50000"/>
            </a:avLst>
          </a:prstGeom>
          <a:solidFill>
            <a:srgbClr val="B2D3E5"/>
          </a:solidFill>
          <a:ln w="12700">
            <a:miter lim="400000"/>
          </a:ln>
        </p:spPr>
        <p:txBody>
          <a:bodyPr lIns="38099" rIns="38099"/>
          <a:lstStyle/>
          <a:p>
            <a:pPr>
              <a:defRPr sz="3000"/>
            </a:pPr>
            <a:endParaRPr sz="2500"/>
          </a:p>
        </p:txBody>
      </p:sp>
      <p:pic>
        <p:nvPicPr>
          <p:cNvPr id="1187" name="Image 4" descr="Imag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579" y="4656336"/>
            <a:ext cx="5380138" cy="1391544"/>
          </a:xfrm>
          <a:prstGeom prst="rect">
            <a:avLst/>
          </a:prstGeom>
          <a:ln w="12700">
            <a:miter lim="400000"/>
          </a:ln>
        </p:spPr>
      </p:pic>
      <p:pic>
        <p:nvPicPr>
          <p:cNvPr id="1188" name="Image 5" descr="Imag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5644" y="5185965"/>
            <a:ext cx="265808" cy="332185"/>
          </a:xfrm>
          <a:prstGeom prst="rect">
            <a:avLst/>
          </a:prstGeom>
          <a:ln w="12700">
            <a:miter lim="400000"/>
          </a:ln>
        </p:spPr>
      </p:pic>
      <p:sp>
        <p:nvSpPr>
          <p:cNvPr id="1189" name="Text 7"/>
          <p:cNvSpPr txBox="1"/>
          <p:nvPr/>
        </p:nvSpPr>
        <p:spPr>
          <a:xfrm>
            <a:off x="6257726" y="4845348"/>
            <a:ext cx="1644681" cy="3462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3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500"/>
              <a:t>Be Curious</a:t>
            </a:r>
          </a:p>
        </p:txBody>
      </p:sp>
      <p:sp>
        <p:nvSpPr>
          <p:cNvPr id="1190" name="Text 2"/>
          <p:cNvSpPr txBox="1"/>
          <p:nvPr/>
        </p:nvSpPr>
        <p:spPr>
          <a:xfrm>
            <a:off x="7142256" y="1347747"/>
            <a:ext cx="1979901" cy="317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No matter what the field 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AB9305-FC0B-12B6-E634-ACF9326366D2}"/>
              </a:ext>
            </a:extLst>
          </p:cNvPr>
          <p:cNvSpPr txBox="1"/>
          <p:nvPr/>
        </p:nvSpPr>
        <p:spPr>
          <a:xfrm>
            <a:off x="166742" y="185563"/>
            <a:ext cx="2048178" cy="1820753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 sz="2833" b="1" dirty="0">
              <a:highlight>
                <a:srgbClr val="FFFF00"/>
              </a:highlight>
            </a:endParaRPr>
          </a:p>
          <a:p>
            <a:pPr algn="ctr"/>
            <a:r>
              <a:rPr lang="en-US" sz="2833" b="1" dirty="0">
                <a:highlight>
                  <a:srgbClr val="FFFF00"/>
                </a:highlight>
              </a:rPr>
              <a:t>Not in </a:t>
            </a:r>
            <a:r>
              <a:rPr lang="en-US" sz="2833" b="1">
                <a:highlight>
                  <a:srgbClr val="FFFF00"/>
                </a:highlight>
              </a:rPr>
              <a:t>curriculum</a:t>
            </a:r>
            <a:endParaRPr lang="en-US" sz="2833" b="1" dirty="0">
              <a:highlight>
                <a:srgbClr val="FFFF00"/>
              </a:highlight>
            </a:endParaRPr>
          </a:p>
          <a:p>
            <a:pPr algn="ctr"/>
            <a:endParaRPr lang="en-US" sz="2833" b="1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2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0482" y="880800"/>
            <a:ext cx="3795403" cy="5693104"/>
          </a:xfrm>
          <a:prstGeom prst="rect">
            <a:avLst/>
          </a:prstGeom>
          <a:ln w="12700">
            <a:miter lim="400000"/>
          </a:ln>
        </p:spPr>
      </p:pic>
      <p:sp>
        <p:nvSpPr>
          <p:cNvPr id="1193" name="Text 0"/>
          <p:cNvSpPr txBox="1"/>
          <p:nvPr/>
        </p:nvSpPr>
        <p:spPr>
          <a:xfrm>
            <a:off x="661491" y="1341934"/>
            <a:ext cx="4953279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Principle 1: Be Curious</a:t>
            </a:r>
          </a:p>
        </p:txBody>
      </p:sp>
      <p:sp>
        <p:nvSpPr>
          <p:cNvPr id="1194" name="Shape 1"/>
          <p:cNvSpPr/>
          <p:nvPr/>
        </p:nvSpPr>
        <p:spPr>
          <a:xfrm>
            <a:off x="661492" y="2216050"/>
            <a:ext cx="3054053" cy="1883052"/>
          </a:xfrm>
          <a:prstGeom prst="roundRect">
            <a:avLst>
              <a:gd name="adj" fmla="val 4216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400"/>
            </a:pPr>
            <a:endParaRPr sz="2000"/>
          </a:p>
        </p:txBody>
      </p:sp>
      <p:sp>
        <p:nvSpPr>
          <p:cNvPr id="1195" name="Text 2"/>
          <p:cNvSpPr txBox="1"/>
          <p:nvPr/>
        </p:nvSpPr>
        <p:spPr>
          <a:xfrm>
            <a:off x="856853" y="2411413"/>
            <a:ext cx="2172069" cy="317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00"/>
              <a:t>The Starting Point</a:t>
            </a:r>
          </a:p>
        </p:txBody>
      </p:sp>
      <p:sp>
        <p:nvSpPr>
          <p:cNvPr id="1196" name="Text 3"/>
          <p:cNvSpPr txBox="1"/>
          <p:nvPr/>
        </p:nvSpPr>
        <p:spPr>
          <a:xfrm>
            <a:off x="856853" y="2820094"/>
            <a:ext cx="2663330" cy="14142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4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00"/>
              <a:t>Curiosity is where all research begins—the spark that ignites investigation.</a:t>
            </a:r>
          </a:p>
        </p:txBody>
      </p:sp>
      <p:sp>
        <p:nvSpPr>
          <p:cNvPr id="1197" name="Shape 4"/>
          <p:cNvSpPr/>
          <p:nvPr/>
        </p:nvSpPr>
        <p:spPr>
          <a:xfrm>
            <a:off x="3904556" y="2216050"/>
            <a:ext cx="3054053" cy="1883052"/>
          </a:xfrm>
          <a:prstGeom prst="roundRect">
            <a:avLst>
              <a:gd name="adj" fmla="val 4216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400"/>
            </a:pPr>
            <a:endParaRPr sz="2000"/>
          </a:p>
        </p:txBody>
      </p:sp>
      <p:sp>
        <p:nvSpPr>
          <p:cNvPr id="1198" name="Text 5"/>
          <p:cNvSpPr txBox="1"/>
          <p:nvPr/>
        </p:nvSpPr>
        <p:spPr>
          <a:xfrm>
            <a:off x="4099917" y="2411413"/>
            <a:ext cx="2351606" cy="317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00"/>
              <a:t>Everyday Questions</a:t>
            </a:r>
          </a:p>
        </p:txBody>
      </p:sp>
      <p:sp>
        <p:nvSpPr>
          <p:cNvPr id="1199" name="Text 6"/>
          <p:cNvSpPr txBox="1"/>
          <p:nvPr/>
        </p:nvSpPr>
        <p:spPr>
          <a:xfrm>
            <a:off x="4099917" y="2820094"/>
            <a:ext cx="2663330" cy="14142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4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00"/>
              <a:t>Major discoveries often begin with simple observations or moments of wonder.</a:t>
            </a:r>
          </a:p>
        </p:txBody>
      </p:sp>
      <p:sp>
        <p:nvSpPr>
          <p:cNvPr id="1200" name="Shape 7"/>
          <p:cNvSpPr/>
          <p:nvPr/>
        </p:nvSpPr>
        <p:spPr>
          <a:xfrm>
            <a:off x="661492" y="4281057"/>
            <a:ext cx="6297018" cy="1404244"/>
          </a:xfrm>
          <a:prstGeom prst="roundRect">
            <a:avLst>
              <a:gd name="adj" fmla="val 5654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400"/>
            </a:pPr>
            <a:endParaRPr sz="2000"/>
          </a:p>
        </p:txBody>
      </p:sp>
      <p:sp>
        <p:nvSpPr>
          <p:cNvPr id="1201" name="Text 8"/>
          <p:cNvSpPr txBox="1"/>
          <p:nvPr/>
        </p:nvSpPr>
        <p:spPr>
          <a:xfrm>
            <a:off x="856853" y="4476420"/>
            <a:ext cx="2941511" cy="317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00"/>
              <a:t>Embracing the Unknown</a:t>
            </a:r>
          </a:p>
        </p:txBody>
      </p:sp>
      <p:sp>
        <p:nvSpPr>
          <p:cNvPr id="1202" name="Text 9"/>
          <p:cNvSpPr txBox="1"/>
          <p:nvPr/>
        </p:nvSpPr>
        <p:spPr>
          <a:xfrm>
            <a:off x="856854" y="4885102"/>
            <a:ext cx="5906293" cy="696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4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00"/>
              <a:t>Being comfortable asking "Why?" and "What if?" drives meaningful research.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2B230B-BE0F-3A72-C081-59E4EC03B63A}"/>
              </a:ext>
            </a:extLst>
          </p:cNvPr>
          <p:cNvSpPr txBox="1"/>
          <p:nvPr/>
        </p:nvSpPr>
        <p:spPr>
          <a:xfrm>
            <a:off x="166742" y="185563"/>
            <a:ext cx="2048178" cy="1820753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 sz="2833" b="1" dirty="0">
              <a:highlight>
                <a:srgbClr val="FFFF00"/>
              </a:highlight>
            </a:endParaRPr>
          </a:p>
          <a:p>
            <a:pPr algn="ctr"/>
            <a:r>
              <a:rPr lang="en-US" sz="2833" b="1" dirty="0">
                <a:highlight>
                  <a:srgbClr val="FFFF00"/>
                </a:highlight>
              </a:rPr>
              <a:t>Not in </a:t>
            </a:r>
            <a:r>
              <a:rPr lang="en-US" sz="2833" b="1">
                <a:highlight>
                  <a:srgbClr val="FFFF00"/>
                </a:highlight>
              </a:rPr>
              <a:t>curriculum</a:t>
            </a:r>
            <a:endParaRPr lang="en-US" sz="2833" b="1" dirty="0">
              <a:highlight>
                <a:srgbClr val="FFFF00"/>
              </a:highlight>
            </a:endParaRPr>
          </a:p>
          <a:p>
            <a:pPr algn="ctr"/>
            <a:endParaRPr lang="en-US" sz="2833" b="1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4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385150" cy="6577725"/>
          </a:xfrm>
          <a:prstGeom prst="rect">
            <a:avLst/>
          </a:prstGeom>
          <a:ln w="12700">
            <a:miter lim="400000"/>
          </a:ln>
        </p:spPr>
      </p:pic>
      <p:sp>
        <p:nvSpPr>
          <p:cNvPr id="1205" name="Text 0"/>
          <p:cNvSpPr txBox="1"/>
          <p:nvPr/>
        </p:nvSpPr>
        <p:spPr>
          <a:xfrm>
            <a:off x="5233491" y="1341934"/>
            <a:ext cx="5618526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Principle 2: Be Systematic</a:t>
            </a:r>
          </a:p>
        </p:txBody>
      </p:sp>
      <p:sp>
        <p:nvSpPr>
          <p:cNvPr id="1206" name="Shape 1"/>
          <p:cNvSpPr/>
          <p:nvPr/>
        </p:nvSpPr>
        <p:spPr>
          <a:xfrm>
            <a:off x="5233491" y="2216050"/>
            <a:ext cx="3054054" cy="1980180"/>
          </a:xfrm>
          <a:prstGeom prst="roundRect">
            <a:avLst>
              <a:gd name="adj" fmla="val 400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400"/>
            </a:pPr>
            <a:endParaRPr sz="2000"/>
          </a:p>
        </p:txBody>
      </p:sp>
      <p:sp>
        <p:nvSpPr>
          <p:cNvPr id="1207" name="Text 2"/>
          <p:cNvSpPr txBox="1"/>
          <p:nvPr/>
        </p:nvSpPr>
        <p:spPr>
          <a:xfrm>
            <a:off x="5428854" y="2411413"/>
            <a:ext cx="1998945" cy="317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00"/>
              <a:t>Beyond Hunches</a:t>
            </a:r>
          </a:p>
        </p:txBody>
      </p:sp>
      <p:sp>
        <p:nvSpPr>
          <p:cNvPr id="1208" name="Text 3"/>
          <p:cNvSpPr txBox="1"/>
          <p:nvPr/>
        </p:nvSpPr>
        <p:spPr>
          <a:xfrm>
            <a:off x="5428853" y="2820094"/>
            <a:ext cx="2663330" cy="14142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4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00"/>
              <a:t>Systematic research follows clear procedures rather than random exploration.</a:t>
            </a:r>
          </a:p>
        </p:txBody>
      </p:sp>
      <p:sp>
        <p:nvSpPr>
          <p:cNvPr id="1209" name="Shape 4"/>
          <p:cNvSpPr/>
          <p:nvPr/>
        </p:nvSpPr>
        <p:spPr>
          <a:xfrm>
            <a:off x="8476555" y="2216050"/>
            <a:ext cx="3054053" cy="1980180"/>
          </a:xfrm>
          <a:prstGeom prst="roundRect">
            <a:avLst>
              <a:gd name="adj" fmla="val 400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400"/>
            </a:pPr>
            <a:endParaRPr sz="2000"/>
          </a:p>
        </p:txBody>
      </p:sp>
      <p:sp>
        <p:nvSpPr>
          <p:cNvPr id="1210" name="Text 5"/>
          <p:cNvSpPr txBox="1"/>
          <p:nvPr/>
        </p:nvSpPr>
        <p:spPr>
          <a:xfrm>
            <a:off x="8671918" y="2411413"/>
            <a:ext cx="1495602" cy="317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00"/>
              <a:t>Replicability</a:t>
            </a:r>
          </a:p>
        </p:txBody>
      </p:sp>
      <p:sp>
        <p:nvSpPr>
          <p:cNvPr id="1211" name="Text 6"/>
          <p:cNvSpPr txBox="1"/>
          <p:nvPr/>
        </p:nvSpPr>
        <p:spPr>
          <a:xfrm>
            <a:off x="8671918" y="2820094"/>
            <a:ext cx="2663330" cy="10551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4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00"/>
              <a:t>Others should be able to follow your process and reach similar conclusions.</a:t>
            </a:r>
          </a:p>
        </p:txBody>
      </p:sp>
      <p:sp>
        <p:nvSpPr>
          <p:cNvPr id="1212" name="Shape 7"/>
          <p:cNvSpPr/>
          <p:nvPr/>
        </p:nvSpPr>
        <p:spPr>
          <a:xfrm>
            <a:off x="5233491" y="4302224"/>
            <a:ext cx="6297018" cy="1404244"/>
          </a:xfrm>
          <a:prstGeom prst="roundRect">
            <a:avLst>
              <a:gd name="adj" fmla="val 5654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400"/>
            </a:pPr>
            <a:endParaRPr sz="2000"/>
          </a:p>
        </p:txBody>
      </p:sp>
      <p:sp>
        <p:nvSpPr>
          <p:cNvPr id="1213" name="Text 8"/>
          <p:cNvSpPr txBox="1"/>
          <p:nvPr/>
        </p:nvSpPr>
        <p:spPr>
          <a:xfrm>
            <a:off x="5428854" y="4497586"/>
            <a:ext cx="1561325" cy="317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00"/>
              <a:t>Organization</a:t>
            </a:r>
          </a:p>
        </p:txBody>
      </p:sp>
      <p:sp>
        <p:nvSpPr>
          <p:cNvPr id="1214" name="Text 9"/>
          <p:cNvSpPr txBox="1"/>
          <p:nvPr/>
        </p:nvSpPr>
        <p:spPr>
          <a:xfrm>
            <a:off x="5428854" y="4906269"/>
            <a:ext cx="5906293" cy="696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4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00"/>
              <a:t>Keeping careful records and following methodical steps builds credibility.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1666EB-59E1-5564-7435-E4C3815E742C}"/>
              </a:ext>
            </a:extLst>
          </p:cNvPr>
          <p:cNvSpPr txBox="1"/>
          <p:nvPr/>
        </p:nvSpPr>
        <p:spPr>
          <a:xfrm>
            <a:off x="166742" y="185563"/>
            <a:ext cx="2048178" cy="1820753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 sz="2833" b="1" dirty="0">
              <a:highlight>
                <a:srgbClr val="FFFF00"/>
              </a:highlight>
            </a:endParaRPr>
          </a:p>
          <a:p>
            <a:pPr algn="ctr"/>
            <a:r>
              <a:rPr lang="en-US" sz="2833" b="1" dirty="0">
                <a:highlight>
                  <a:srgbClr val="FFFF00"/>
                </a:highlight>
              </a:rPr>
              <a:t>Not in </a:t>
            </a:r>
            <a:r>
              <a:rPr lang="en-US" sz="2833" b="1">
                <a:highlight>
                  <a:srgbClr val="FFFF00"/>
                </a:highlight>
              </a:rPr>
              <a:t>curriculum</a:t>
            </a:r>
            <a:endParaRPr lang="en-US" sz="2833" b="1" dirty="0">
              <a:highlight>
                <a:srgbClr val="FFFF00"/>
              </a:highlight>
            </a:endParaRPr>
          </a:p>
          <a:p>
            <a:pPr algn="ctr"/>
            <a:endParaRPr lang="en-US" sz="2833" b="1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6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" y="111894"/>
            <a:ext cx="4285886" cy="6428828"/>
          </a:xfrm>
          <a:prstGeom prst="rect">
            <a:avLst/>
          </a:prstGeom>
          <a:ln w="12700">
            <a:miter lim="400000"/>
          </a:ln>
        </p:spPr>
      </p:pic>
      <p:sp>
        <p:nvSpPr>
          <p:cNvPr id="1217" name="Text 0"/>
          <p:cNvSpPr txBox="1"/>
          <p:nvPr/>
        </p:nvSpPr>
        <p:spPr>
          <a:xfrm>
            <a:off x="5233491" y="872927"/>
            <a:ext cx="4800994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Principle 3: Be Honest</a:t>
            </a:r>
          </a:p>
        </p:txBody>
      </p:sp>
      <p:sp>
        <p:nvSpPr>
          <p:cNvPr id="1218" name="Shape 1"/>
          <p:cNvSpPr/>
          <p:nvPr/>
        </p:nvSpPr>
        <p:spPr>
          <a:xfrm>
            <a:off x="5233491" y="1747044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1219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4383" y="1782465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1220" name="Text 2"/>
          <p:cNvSpPr txBox="1"/>
          <p:nvPr/>
        </p:nvSpPr>
        <p:spPr>
          <a:xfrm>
            <a:off x="5847754" y="1748433"/>
            <a:ext cx="2213748" cy="3152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Report All Findings</a:t>
            </a:r>
          </a:p>
        </p:txBody>
      </p:sp>
      <p:sp>
        <p:nvSpPr>
          <p:cNvPr id="1221" name="Text 3"/>
          <p:cNvSpPr txBox="1"/>
          <p:nvPr/>
        </p:nvSpPr>
        <p:spPr>
          <a:xfrm>
            <a:off x="5847755" y="2157114"/>
            <a:ext cx="5464081" cy="693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Include inconvenient results that don't match your expectations</a:t>
            </a:r>
          </a:p>
        </p:txBody>
      </p:sp>
      <p:sp>
        <p:nvSpPr>
          <p:cNvPr id="1222" name="Shape 4"/>
          <p:cNvSpPr/>
          <p:nvPr/>
        </p:nvSpPr>
        <p:spPr>
          <a:xfrm>
            <a:off x="5233491" y="2901057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1223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4383" y="2936478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1224" name="Text 5"/>
          <p:cNvSpPr txBox="1"/>
          <p:nvPr/>
        </p:nvSpPr>
        <p:spPr>
          <a:xfrm>
            <a:off x="5847755" y="3008279"/>
            <a:ext cx="2159245" cy="3152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Accept Uncertainty</a:t>
            </a:r>
          </a:p>
        </p:txBody>
      </p:sp>
      <p:sp>
        <p:nvSpPr>
          <p:cNvPr id="1225" name="Text 6"/>
          <p:cNvSpPr txBox="1"/>
          <p:nvPr/>
        </p:nvSpPr>
        <p:spPr>
          <a:xfrm>
            <a:off x="5847755" y="3416961"/>
            <a:ext cx="5635261" cy="334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Acknowledge when the data doesn't show clear answers</a:t>
            </a:r>
          </a:p>
        </p:txBody>
      </p:sp>
      <p:sp>
        <p:nvSpPr>
          <p:cNvPr id="1226" name="Shape 7"/>
          <p:cNvSpPr/>
          <p:nvPr/>
        </p:nvSpPr>
        <p:spPr>
          <a:xfrm>
            <a:off x="5233491" y="4055069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1227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4383" y="4090491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1228" name="Text 8"/>
          <p:cNvSpPr txBox="1"/>
          <p:nvPr/>
        </p:nvSpPr>
        <p:spPr>
          <a:xfrm>
            <a:off x="5847754" y="4056459"/>
            <a:ext cx="1287212" cy="3152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Give Credit</a:t>
            </a:r>
          </a:p>
        </p:txBody>
      </p:sp>
      <p:sp>
        <p:nvSpPr>
          <p:cNvPr id="1229" name="Text 9"/>
          <p:cNvSpPr txBox="1"/>
          <p:nvPr/>
        </p:nvSpPr>
        <p:spPr>
          <a:xfrm>
            <a:off x="5847754" y="4465141"/>
            <a:ext cx="6310578" cy="334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Cite sources properly and acknowledge others' contributions</a:t>
            </a:r>
          </a:p>
        </p:txBody>
      </p:sp>
      <p:sp>
        <p:nvSpPr>
          <p:cNvPr id="1230" name="Shape 10"/>
          <p:cNvSpPr/>
          <p:nvPr/>
        </p:nvSpPr>
        <p:spPr>
          <a:xfrm>
            <a:off x="5233491" y="5209083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1231" name="Image 4" descr="Imag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4383" y="5244505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1232" name="Text 11"/>
          <p:cNvSpPr txBox="1"/>
          <p:nvPr/>
        </p:nvSpPr>
        <p:spPr>
          <a:xfrm>
            <a:off x="5847754" y="5273973"/>
            <a:ext cx="1301638" cy="3152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Build Trust</a:t>
            </a:r>
          </a:p>
        </p:txBody>
      </p:sp>
      <p:sp>
        <p:nvSpPr>
          <p:cNvPr id="1233" name="Text 12"/>
          <p:cNvSpPr txBox="1"/>
          <p:nvPr/>
        </p:nvSpPr>
        <p:spPr>
          <a:xfrm>
            <a:off x="5847754" y="5682655"/>
            <a:ext cx="5674397" cy="693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Integrity makes your research valuable in school and beyond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F4E7AD-C224-5564-D6C5-331AB65FF32A}"/>
              </a:ext>
            </a:extLst>
          </p:cNvPr>
          <p:cNvSpPr txBox="1"/>
          <p:nvPr/>
        </p:nvSpPr>
        <p:spPr>
          <a:xfrm>
            <a:off x="166742" y="185563"/>
            <a:ext cx="2048178" cy="1820753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 sz="2833" b="1" dirty="0">
              <a:highlight>
                <a:srgbClr val="FFFF00"/>
              </a:highlight>
            </a:endParaRPr>
          </a:p>
          <a:p>
            <a:pPr algn="ctr"/>
            <a:r>
              <a:rPr lang="en-US" sz="2833" b="1" dirty="0">
                <a:highlight>
                  <a:srgbClr val="FFFF00"/>
                </a:highlight>
              </a:rPr>
              <a:t>Not in </a:t>
            </a:r>
            <a:r>
              <a:rPr lang="en-US" sz="2833" b="1">
                <a:highlight>
                  <a:srgbClr val="FFFF00"/>
                </a:highlight>
              </a:rPr>
              <a:t>curriculum</a:t>
            </a:r>
            <a:endParaRPr lang="en-US" sz="2833" b="1" dirty="0">
              <a:highlight>
                <a:srgbClr val="FFFF00"/>
              </a:highlight>
            </a:endParaRPr>
          </a:p>
          <a:p>
            <a:pPr algn="ctr"/>
            <a:endParaRPr lang="en-US" sz="2833" b="1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5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6827" y="1086448"/>
            <a:ext cx="3480093" cy="5220140"/>
          </a:xfrm>
          <a:prstGeom prst="rect">
            <a:avLst/>
          </a:prstGeom>
          <a:ln w="12700">
            <a:miter lim="400000"/>
          </a:ln>
        </p:spPr>
      </p:pic>
      <p:sp>
        <p:nvSpPr>
          <p:cNvPr id="1236" name="Text 0"/>
          <p:cNvSpPr txBox="1"/>
          <p:nvPr/>
        </p:nvSpPr>
        <p:spPr>
          <a:xfrm>
            <a:off x="661492" y="1190724"/>
            <a:ext cx="5668218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The Value of Being Wrong</a:t>
            </a:r>
          </a:p>
        </p:txBody>
      </p:sp>
      <p:sp>
        <p:nvSpPr>
          <p:cNvPr id="1237" name="Shape 1"/>
          <p:cNvSpPr/>
          <p:nvPr/>
        </p:nvSpPr>
        <p:spPr>
          <a:xfrm>
            <a:off x="661492" y="2064841"/>
            <a:ext cx="3054053" cy="2145015"/>
          </a:xfrm>
          <a:prstGeom prst="roundRect">
            <a:avLst>
              <a:gd name="adj" fmla="val 3702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300"/>
            </a:pPr>
            <a:endParaRPr sz="1917"/>
          </a:p>
        </p:txBody>
      </p:sp>
      <p:sp>
        <p:nvSpPr>
          <p:cNvPr id="1238" name="Text 2"/>
          <p:cNvSpPr txBox="1"/>
          <p:nvPr/>
        </p:nvSpPr>
        <p:spPr>
          <a:xfrm>
            <a:off x="856853" y="2260203"/>
            <a:ext cx="2663330" cy="661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Embrace Unexpected Results</a:t>
            </a:r>
          </a:p>
        </p:txBody>
      </p:sp>
      <p:sp>
        <p:nvSpPr>
          <p:cNvPr id="1239" name="Text 3"/>
          <p:cNvSpPr txBox="1"/>
          <p:nvPr/>
        </p:nvSpPr>
        <p:spPr>
          <a:xfrm>
            <a:off x="856853" y="2964161"/>
            <a:ext cx="2663330" cy="1411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Surprising findings often lead to the most important discoveries in research.</a:t>
            </a:r>
          </a:p>
        </p:txBody>
      </p:sp>
      <p:sp>
        <p:nvSpPr>
          <p:cNvPr id="1240" name="Shape 4"/>
          <p:cNvSpPr/>
          <p:nvPr/>
        </p:nvSpPr>
        <p:spPr>
          <a:xfrm>
            <a:off x="3904556" y="2064841"/>
            <a:ext cx="3054053" cy="2145015"/>
          </a:xfrm>
          <a:prstGeom prst="roundRect">
            <a:avLst>
              <a:gd name="adj" fmla="val 3702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300"/>
            </a:pPr>
            <a:endParaRPr sz="1917"/>
          </a:p>
        </p:txBody>
      </p:sp>
      <p:sp>
        <p:nvSpPr>
          <p:cNvPr id="1241" name="Text 5"/>
          <p:cNvSpPr txBox="1"/>
          <p:nvPr/>
        </p:nvSpPr>
        <p:spPr>
          <a:xfrm>
            <a:off x="4099917" y="2260203"/>
            <a:ext cx="2511906" cy="3152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Learning Opportunity</a:t>
            </a:r>
          </a:p>
        </p:txBody>
      </p:sp>
      <p:sp>
        <p:nvSpPr>
          <p:cNvPr id="1242" name="Text 6"/>
          <p:cNvSpPr txBox="1"/>
          <p:nvPr/>
        </p:nvSpPr>
        <p:spPr>
          <a:xfrm>
            <a:off x="4099917" y="2668886"/>
            <a:ext cx="2663330" cy="1411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When your hypothesis is wrong, you've learned something valuable about what isn't true.</a:t>
            </a:r>
          </a:p>
        </p:txBody>
      </p:sp>
      <p:sp>
        <p:nvSpPr>
          <p:cNvPr id="1243" name="Shape 7"/>
          <p:cNvSpPr/>
          <p:nvPr/>
        </p:nvSpPr>
        <p:spPr>
          <a:xfrm>
            <a:off x="661492" y="4315850"/>
            <a:ext cx="6297018" cy="1404244"/>
          </a:xfrm>
          <a:prstGeom prst="roundRect">
            <a:avLst>
              <a:gd name="adj" fmla="val 5654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300"/>
            </a:pPr>
            <a:endParaRPr sz="1917"/>
          </a:p>
        </p:txBody>
      </p:sp>
      <p:sp>
        <p:nvSpPr>
          <p:cNvPr id="1244" name="Text 8"/>
          <p:cNvSpPr txBox="1"/>
          <p:nvPr/>
        </p:nvSpPr>
        <p:spPr>
          <a:xfrm>
            <a:off x="856853" y="4511212"/>
            <a:ext cx="2289088" cy="3152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Intellectual Honesty</a:t>
            </a:r>
          </a:p>
        </p:txBody>
      </p:sp>
      <p:sp>
        <p:nvSpPr>
          <p:cNvPr id="1245" name="Text 9"/>
          <p:cNvSpPr txBox="1"/>
          <p:nvPr/>
        </p:nvSpPr>
        <p:spPr>
          <a:xfrm>
            <a:off x="856854" y="4919894"/>
            <a:ext cx="5906293" cy="693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Acknowledging incorrect assumptions demonstrates scientific integrity and builds credibility.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F99572-5133-A37F-B6C0-5FB4BE7FA8E3}"/>
              </a:ext>
            </a:extLst>
          </p:cNvPr>
          <p:cNvSpPr txBox="1"/>
          <p:nvPr/>
        </p:nvSpPr>
        <p:spPr>
          <a:xfrm>
            <a:off x="166742" y="185563"/>
            <a:ext cx="2048178" cy="1820753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 sz="2833" b="1" dirty="0">
              <a:highlight>
                <a:srgbClr val="FFFF00"/>
              </a:highlight>
            </a:endParaRPr>
          </a:p>
          <a:p>
            <a:pPr algn="ctr"/>
            <a:r>
              <a:rPr lang="en-US" sz="2833" b="1" dirty="0">
                <a:highlight>
                  <a:srgbClr val="FFFF00"/>
                </a:highlight>
              </a:rPr>
              <a:t>Not in </a:t>
            </a:r>
            <a:r>
              <a:rPr lang="en-US" sz="2833" b="1">
                <a:highlight>
                  <a:srgbClr val="FFFF00"/>
                </a:highlight>
              </a:rPr>
              <a:t>curriculum</a:t>
            </a:r>
            <a:endParaRPr lang="en-US" sz="2833" b="1" dirty="0">
              <a:highlight>
                <a:srgbClr val="FFFF00"/>
              </a:highlight>
            </a:endParaRPr>
          </a:p>
          <a:p>
            <a:pPr algn="ctr"/>
            <a:endParaRPr lang="en-US" sz="2833" b="1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Text 0"/>
          <p:cNvSpPr txBox="1"/>
          <p:nvPr/>
        </p:nvSpPr>
        <p:spPr>
          <a:xfrm>
            <a:off x="553839" y="435173"/>
            <a:ext cx="3986669" cy="5317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4600"/>
              </a:lnSpc>
              <a:defRPr sz="37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083"/>
              <a:t>The Research Process</a:t>
            </a:r>
          </a:p>
        </p:txBody>
      </p:sp>
      <p:sp>
        <p:nvSpPr>
          <p:cNvPr id="1248" name="Text 1"/>
          <p:cNvSpPr txBox="1"/>
          <p:nvPr/>
        </p:nvSpPr>
        <p:spPr>
          <a:xfrm>
            <a:off x="553840" y="1245990"/>
            <a:ext cx="6591869" cy="294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The journey from question to insight follows these essential steps:</a:t>
            </a:r>
          </a:p>
        </p:txBody>
      </p:sp>
      <p:pic>
        <p:nvPicPr>
          <p:cNvPr id="1249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839" y="1677194"/>
            <a:ext cx="791170" cy="949426"/>
          </a:xfrm>
          <a:prstGeom prst="rect">
            <a:avLst/>
          </a:prstGeom>
          <a:ln w="12700">
            <a:miter lim="400000"/>
          </a:ln>
        </p:spPr>
      </p:pic>
      <p:sp>
        <p:nvSpPr>
          <p:cNvPr id="1250" name="Text 2"/>
          <p:cNvSpPr txBox="1"/>
          <p:nvPr/>
        </p:nvSpPr>
        <p:spPr>
          <a:xfrm>
            <a:off x="1582340" y="1835349"/>
            <a:ext cx="1699183" cy="294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Ask a Question</a:t>
            </a:r>
          </a:p>
        </p:txBody>
      </p:sp>
      <p:sp>
        <p:nvSpPr>
          <p:cNvPr id="1251" name="Text 3"/>
          <p:cNvSpPr txBox="1"/>
          <p:nvPr/>
        </p:nvSpPr>
        <p:spPr>
          <a:xfrm>
            <a:off x="1582340" y="2177455"/>
            <a:ext cx="5468613" cy="294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Formulate a clear, specific question worth investigating</a:t>
            </a:r>
          </a:p>
        </p:txBody>
      </p:sp>
      <p:pic>
        <p:nvPicPr>
          <p:cNvPr id="1252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839" y="2626618"/>
            <a:ext cx="791170" cy="949425"/>
          </a:xfrm>
          <a:prstGeom prst="rect">
            <a:avLst/>
          </a:prstGeom>
          <a:ln w="12700">
            <a:miter lim="400000"/>
          </a:ln>
        </p:spPr>
      </p:pic>
      <p:sp>
        <p:nvSpPr>
          <p:cNvPr id="1253" name="Text 4"/>
          <p:cNvSpPr txBox="1"/>
          <p:nvPr/>
        </p:nvSpPr>
        <p:spPr>
          <a:xfrm>
            <a:off x="1582340" y="2784773"/>
            <a:ext cx="2228174" cy="294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Gather Information</a:t>
            </a:r>
          </a:p>
        </p:txBody>
      </p:sp>
      <p:sp>
        <p:nvSpPr>
          <p:cNvPr id="1254" name="Text 5"/>
          <p:cNvSpPr txBox="1"/>
          <p:nvPr/>
        </p:nvSpPr>
        <p:spPr>
          <a:xfrm>
            <a:off x="1582340" y="3126880"/>
            <a:ext cx="5072414" cy="294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Collect relevant data through appropriate methods</a:t>
            </a:r>
          </a:p>
        </p:txBody>
      </p:sp>
      <p:pic>
        <p:nvPicPr>
          <p:cNvPr id="1255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839" y="3576042"/>
            <a:ext cx="791170" cy="949425"/>
          </a:xfrm>
          <a:prstGeom prst="rect">
            <a:avLst/>
          </a:prstGeom>
          <a:ln w="12700">
            <a:miter lim="400000"/>
          </a:ln>
        </p:spPr>
      </p:pic>
      <p:sp>
        <p:nvSpPr>
          <p:cNvPr id="1256" name="Text 6"/>
          <p:cNvSpPr txBox="1"/>
          <p:nvPr/>
        </p:nvSpPr>
        <p:spPr>
          <a:xfrm>
            <a:off x="1582341" y="3734197"/>
            <a:ext cx="2749151" cy="294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Analyze the Information</a:t>
            </a:r>
          </a:p>
        </p:txBody>
      </p:sp>
      <p:sp>
        <p:nvSpPr>
          <p:cNvPr id="1257" name="Text 7"/>
          <p:cNvSpPr txBox="1"/>
          <p:nvPr/>
        </p:nvSpPr>
        <p:spPr>
          <a:xfrm>
            <a:off x="1582340" y="4076303"/>
            <a:ext cx="4747197" cy="294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Examine data for patterns, trends, and meaning</a:t>
            </a:r>
          </a:p>
        </p:txBody>
      </p:sp>
      <p:pic>
        <p:nvPicPr>
          <p:cNvPr id="1258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839" y="4525466"/>
            <a:ext cx="791170" cy="949426"/>
          </a:xfrm>
          <a:prstGeom prst="rect">
            <a:avLst/>
          </a:prstGeom>
          <a:ln w="12700">
            <a:miter lim="400000"/>
          </a:ln>
        </p:spPr>
      </p:pic>
      <p:sp>
        <p:nvSpPr>
          <p:cNvPr id="1259" name="Text 8"/>
          <p:cNvSpPr txBox="1"/>
          <p:nvPr/>
        </p:nvSpPr>
        <p:spPr>
          <a:xfrm>
            <a:off x="1582340" y="4683621"/>
            <a:ext cx="2090316" cy="294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Draw Conclusions</a:t>
            </a:r>
          </a:p>
        </p:txBody>
      </p:sp>
      <p:sp>
        <p:nvSpPr>
          <p:cNvPr id="1260" name="Text 9"/>
          <p:cNvSpPr txBox="1"/>
          <p:nvPr/>
        </p:nvSpPr>
        <p:spPr>
          <a:xfrm>
            <a:off x="1582340" y="5025727"/>
            <a:ext cx="5812873" cy="294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Develop evidence-based answers to your original question</a:t>
            </a:r>
          </a:p>
        </p:txBody>
      </p:sp>
      <p:pic>
        <p:nvPicPr>
          <p:cNvPr id="1261" name="Image 4" descr="Imag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839" y="5474890"/>
            <a:ext cx="791170" cy="949425"/>
          </a:xfrm>
          <a:prstGeom prst="rect">
            <a:avLst/>
          </a:prstGeom>
          <a:ln w="12700">
            <a:miter lim="400000"/>
          </a:ln>
        </p:spPr>
      </p:pic>
      <p:sp>
        <p:nvSpPr>
          <p:cNvPr id="1262" name="Text 10"/>
          <p:cNvSpPr txBox="1"/>
          <p:nvPr/>
        </p:nvSpPr>
        <p:spPr>
          <a:xfrm>
            <a:off x="1582341" y="5633046"/>
            <a:ext cx="1715213" cy="294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Share Findings</a:t>
            </a:r>
          </a:p>
        </p:txBody>
      </p:sp>
      <p:sp>
        <p:nvSpPr>
          <p:cNvPr id="1263" name="Text 11"/>
          <p:cNvSpPr txBox="1"/>
          <p:nvPr/>
        </p:nvSpPr>
        <p:spPr>
          <a:xfrm>
            <a:off x="1582340" y="5975151"/>
            <a:ext cx="5745868" cy="294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Communicate results effectively to appropriate audiences</a:t>
            </a:r>
          </a:p>
        </p:txBody>
      </p:sp>
    </p:spTree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5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266" name="Text 0"/>
          <p:cNvSpPr txBox="1"/>
          <p:nvPr/>
        </p:nvSpPr>
        <p:spPr>
          <a:xfrm>
            <a:off x="5167214" y="497483"/>
            <a:ext cx="6429573" cy="1218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000"/>
              </a:lnSpc>
              <a:defRPr sz="4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333"/>
              <a:t>Real Research Example: AI Art in Education</a:t>
            </a:r>
          </a:p>
        </p:txBody>
      </p:sp>
      <p:pic>
        <p:nvPicPr>
          <p:cNvPr id="1267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7213" y="1815604"/>
            <a:ext cx="850405" cy="1020466"/>
          </a:xfrm>
          <a:prstGeom prst="rect">
            <a:avLst/>
          </a:prstGeom>
          <a:ln w="12700">
            <a:miter lim="400000"/>
          </a:ln>
        </p:spPr>
      </p:pic>
      <p:sp>
        <p:nvSpPr>
          <p:cNvPr id="1268" name="Text 1"/>
          <p:cNvSpPr txBox="1"/>
          <p:nvPr/>
        </p:nvSpPr>
        <p:spPr>
          <a:xfrm>
            <a:off x="6272708" y="1985664"/>
            <a:ext cx="1035540" cy="295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Question</a:t>
            </a:r>
          </a:p>
        </p:txBody>
      </p:sp>
      <p:sp>
        <p:nvSpPr>
          <p:cNvPr id="1269" name="Text 2"/>
          <p:cNvSpPr txBox="1"/>
          <p:nvPr/>
        </p:nvSpPr>
        <p:spPr>
          <a:xfrm>
            <a:off x="6272708" y="2353368"/>
            <a:ext cx="5522754" cy="625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Could AI tools help more students feel empowered to create art?</a:t>
            </a:r>
          </a:p>
        </p:txBody>
      </p:sp>
      <p:pic>
        <p:nvPicPr>
          <p:cNvPr id="1270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7213" y="2836069"/>
            <a:ext cx="850405" cy="1251943"/>
          </a:xfrm>
          <a:prstGeom prst="rect">
            <a:avLst/>
          </a:prstGeom>
          <a:ln w="12700">
            <a:miter lim="400000"/>
          </a:ln>
        </p:spPr>
      </p:pic>
      <p:sp>
        <p:nvSpPr>
          <p:cNvPr id="1271" name="Text 3"/>
          <p:cNvSpPr txBox="1"/>
          <p:nvPr/>
        </p:nvSpPr>
        <p:spPr>
          <a:xfrm>
            <a:off x="6272707" y="3069630"/>
            <a:ext cx="2592056" cy="295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Information Gathering</a:t>
            </a:r>
          </a:p>
        </p:txBody>
      </p:sp>
      <p:sp>
        <p:nvSpPr>
          <p:cNvPr id="1272" name="Text 4"/>
          <p:cNvSpPr txBox="1"/>
          <p:nvPr/>
        </p:nvSpPr>
        <p:spPr>
          <a:xfrm>
            <a:off x="6272708" y="3395000"/>
            <a:ext cx="5324079" cy="625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Surveys, teacher interviews, examples from other schools, literature review</a:t>
            </a:r>
          </a:p>
        </p:txBody>
      </p:sp>
      <p:pic>
        <p:nvPicPr>
          <p:cNvPr id="1273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7213" y="4088010"/>
            <a:ext cx="850405" cy="1020466"/>
          </a:xfrm>
          <a:prstGeom prst="rect">
            <a:avLst/>
          </a:prstGeom>
          <a:ln w="12700">
            <a:miter lim="400000"/>
          </a:ln>
        </p:spPr>
      </p:pic>
      <p:sp>
        <p:nvSpPr>
          <p:cNvPr id="1274" name="Text 5"/>
          <p:cNvSpPr txBox="1"/>
          <p:nvPr/>
        </p:nvSpPr>
        <p:spPr>
          <a:xfrm>
            <a:off x="6272707" y="4183989"/>
            <a:ext cx="827150" cy="288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2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667"/>
              <a:t>Analysis</a:t>
            </a:r>
          </a:p>
        </p:txBody>
      </p:sp>
      <p:sp>
        <p:nvSpPr>
          <p:cNvPr id="1275" name="Text 6"/>
          <p:cNvSpPr txBox="1"/>
          <p:nvPr/>
        </p:nvSpPr>
        <p:spPr>
          <a:xfrm>
            <a:off x="6272708" y="4551693"/>
            <a:ext cx="5522754" cy="625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30% felt confident in drawing skills; 80% would try AI art tools</a:t>
            </a:r>
          </a:p>
        </p:txBody>
      </p:sp>
      <p:pic>
        <p:nvPicPr>
          <p:cNvPr id="1276" name="Image 4" descr="Imag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7213" y="5108476"/>
            <a:ext cx="850405" cy="1251943"/>
          </a:xfrm>
          <a:prstGeom prst="rect">
            <a:avLst/>
          </a:prstGeom>
          <a:ln w="12700">
            <a:miter lim="400000"/>
          </a:ln>
        </p:spPr>
      </p:pic>
      <p:sp>
        <p:nvSpPr>
          <p:cNvPr id="1277" name="Text 7"/>
          <p:cNvSpPr txBox="1"/>
          <p:nvPr/>
        </p:nvSpPr>
        <p:spPr>
          <a:xfrm>
            <a:off x="6272708" y="5278536"/>
            <a:ext cx="2367636" cy="295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Conclusion &amp; Action</a:t>
            </a:r>
          </a:p>
        </p:txBody>
      </p:sp>
      <p:sp>
        <p:nvSpPr>
          <p:cNvPr id="1278" name="Text 8"/>
          <p:cNvSpPr txBox="1"/>
          <p:nvPr/>
        </p:nvSpPr>
        <p:spPr>
          <a:xfrm>
            <a:off x="6272708" y="5646242"/>
            <a:ext cx="5324079" cy="625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AI art competition could broaden creative access; school launched pilot program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B8F9B5-DB82-52E3-2FE4-331DF8859915}"/>
              </a:ext>
            </a:extLst>
          </p:cNvPr>
          <p:cNvSpPr txBox="1"/>
          <p:nvPr/>
        </p:nvSpPr>
        <p:spPr>
          <a:xfrm>
            <a:off x="166742" y="185564"/>
            <a:ext cx="4499197" cy="5590824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 sz="2833" b="1" dirty="0">
              <a:highlight>
                <a:srgbClr val="FFFF00"/>
              </a:highlight>
            </a:endParaRPr>
          </a:p>
          <a:p>
            <a:pPr algn="ctr"/>
            <a:r>
              <a:rPr lang="en-US" sz="2833" b="1" dirty="0">
                <a:highlight>
                  <a:srgbClr val="FFFF00"/>
                </a:highlight>
              </a:rPr>
              <a:t>  </a:t>
            </a:r>
            <a:r>
              <a:rPr lang="en-US" sz="2833" b="1">
                <a:highlight>
                  <a:srgbClr val="FFFF00"/>
                </a:highlight>
              </a:rPr>
              <a:t>Curriculum suggests different examples</a:t>
            </a:r>
            <a:endParaRPr lang="en-US" sz="2833" b="1" dirty="0">
              <a:highlight>
                <a:srgbClr val="FFFF00"/>
              </a:highlight>
            </a:endParaRPr>
          </a:p>
          <a:p>
            <a:pPr algn="ctr"/>
            <a:endParaRPr lang="en-US" sz="2833" b="1" dirty="0">
              <a:highlight>
                <a:srgbClr val="FFFF00"/>
              </a:highlight>
            </a:endParaRPr>
          </a:p>
          <a:p>
            <a:pPr algn="ctr"/>
            <a:r>
              <a:rPr lang="en-US" sz="2833" b="1">
                <a:highlight>
                  <a:srgbClr val="FFFF00"/>
                </a:highlight>
              </a:rPr>
              <a:t>#1</a:t>
            </a:r>
            <a:endParaRPr lang="en-US" sz="2833" b="1" dirty="0">
              <a:highlight>
                <a:srgbClr val="FFFF00"/>
              </a:highlight>
            </a:endParaRPr>
          </a:p>
          <a:p>
            <a:pPr algn="ctr"/>
            <a:endParaRPr lang="en-US" sz="2000" b="1" dirty="0">
              <a:highlight>
                <a:srgbClr val="FFFF00"/>
              </a:highlight>
            </a:endParaRPr>
          </a:p>
          <a:p>
            <a:pPr algn="ctr"/>
            <a:r>
              <a:rPr lang="en-US" sz="2000">
                <a:highlight>
                  <a:srgbClr val="FFFF00"/>
                </a:highlight>
                <a:ea typeface="+mn-lt"/>
                <a:cs typeface="+mn-lt"/>
              </a:rPr>
              <a:t>Case walk-through: 'How did researchers figure out smoking causes lung cancer?' Walk through the stages: observational data → hypothesis → design → evidence → policy change. Connect each stage to the research cycle.</a:t>
            </a:r>
            <a:endParaRPr lang="en-US" sz="2000"/>
          </a:p>
          <a:p>
            <a:pPr algn="ctr"/>
            <a:endParaRPr lang="en-US" sz="2833" b="1" dirty="0">
              <a:highlight>
                <a:srgbClr val="FFFF00"/>
              </a:highlight>
            </a:endParaRPr>
          </a:p>
          <a:p>
            <a:pPr algn="ctr"/>
            <a:endParaRPr lang="en-US" sz="2833" b="1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Text 0"/>
          <p:cNvSpPr txBox="1"/>
          <p:nvPr/>
        </p:nvSpPr>
        <p:spPr>
          <a:xfrm>
            <a:off x="661492" y="1628775"/>
            <a:ext cx="7704032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Case Study: School Lunch Research</a:t>
            </a:r>
          </a:p>
        </p:txBody>
      </p:sp>
      <p:sp>
        <p:nvSpPr>
          <p:cNvPr id="1281" name="Text 1"/>
          <p:cNvSpPr txBox="1"/>
          <p:nvPr/>
        </p:nvSpPr>
        <p:spPr>
          <a:xfrm>
            <a:off x="661491" y="2691904"/>
            <a:ext cx="1594988" cy="317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00"/>
              <a:t>The Question</a:t>
            </a:r>
          </a:p>
        </p:txBody>
      </p:sp>
      <p:sp>
        <p:nvSpPr>
          <p:cNvPr id="1282" name="Text 2"/>
          <p:cNvSpPr txBox="1"/>
          <p:nvPr/>
        </p:nvSpPr>
        <p:spPr>
          <a:xfrm>
            <a:off x="661491" y="3176190"/>
            <a:ext cx="5203926" cy="696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4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00"/>
              <a:t>Layla wondered: Are students getting nutritious lunches that support focus and learning?</a:t>
            </a:r>
          </a:p>
        </p:txBody>
      </p:sp>
      <p:sp>
        <p:nvSpPr>
          <p:cNvPr id="1283" name="Text 3"/>
          <p:cNvSpPr txBox="1"/>
          <p:nvPr/>
        </p:nvSpPr>
        <p:spPr>
          <a:xfrm>
            <a:off x="661491" y="4393373"/>
            <a:ext cx="1328890" cy="317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00"/>
              <a:t>Hypothesis</a:t>
            </a:r>
          </a:p>
        </p:txBody>
      </p:sp>
      <p:sp>
        <p:nvSpPr>
          <p:cNvPr id="1284" name="Text 4"/>
          <p:cNvSpPr txBox="1"/>
          <p:nvPr/>
        </p:nvSpPr>
        <p:spPr>
          <a:xfrm>
            <a:off x="661491" y="4877659"/>
            <a:ext cx="5203926" cy="696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4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00"/>
              <a:t>Students avoid lunches due to taste, freshness, or variety issues—not lack of hunger.</a:t>
            </a:r>
          </a:p>
        </p:txBody>
      </p:sp>
      <p:sp>
        <p:nvSpPr>
          <p:cNvPr id="1285" name="Text 5"/>
          <p:cNvSpPr txBox="1"/>
          <p:nvPr/>
        </p:nvSpPr>
        <p:spPr>
          <a:xfrm>
            <a:off x="6332934" y="2691904"/>
            <a:ext cx="1976503" cy="317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00"/>
              <a:t>Research Design</a:t>
            </a:r>
          </a:p>
        </p:txBody>
      </p:sp>
      <p:sp>
        <p:nvSpPr>
          <p:cNvPr id="1286" name="Text 6"/>
          <p:cNvSpPr txBox="1"/>
          <p:nvPr/>
        </p:nvSpPr>
        <p:spPr>
          <a:xfrm>
            <a:off x="6332934" y="3176190"/>
            <a:ext cx="5251053" cy="337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800"/>
              </a:lnSpc>
              <a:buSzPct val="100000"/>
              <a:buChar char="•"/>
              <a:defRPr sz="24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00"/>
              <a:t>Quantitative: Lunch program participation data</a:t>
            </a:r>
          </a:p>
        </p:txBody>
      </p:sp>
      <p:sp>
        <p:nvSpPr>
          <p:cNvPr id="1287" name="Text 7"/>
          <p:cNvSpPr txBox="1"/>
          <p:nvPr/>
        </p:nvSpPr>
        <p:spPr>
          <a:xfrm>
            <a:off x="6332933" y="3544690"/>
            <a:ext cx="5102744" cy="337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800"/>
              </a:lnSpc>
              <a:buSzPct val="100000"/>
              <a:buChar char="•"/>
              <a:defRPr sz="24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00"/>
              <a:t>Qualitative: Student surveys and focus groups</a:t>
            </a:r>
          </a:p>
        </p:txBody>
      </p:sp>
      <p:sp>
        <p:nvSpPr>
          <p:cNvPr id="1288" name="Text 8"/>
          <p:cNvSpPr txBox="1"/>
          <p:nvPr/>
        </p:nvSpPr>
        <p:spPr>
          <a:xfrm>
            <a:off x="6332934" y="3913188"/>
            <a:ext cx="4777333" cy="337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800"/>
              </a:lnSpc>
              <a:buSzPct val="100000"/>
              <a:buChar char="•"/>
              <a:defRPr sz="24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00"/>
              <a:t>Observational: Cafeteria behavior patterns</a:t>
            </a:r>
          </a:p>
        </p:txBody>
      </p:sp>
      <p:sp>
        <p:nvSpPr>
          <p:cNvPr id="1289" name="Text 9"/>
          <p:cNvSpPr txBox="1"/>
          <p:nvPr/>
        </p:nvSpPr>
        <p:spPr>
          <a:xfrm>
            <a:off x="6332933" y="4281685"/>
            <a:ext cx="3331874" cy="337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800"/>
              </a:lnSpc>
              <a:buSzPct val="100000"/>
              <a:buChar char="•"/>
              <a:defRPr sz="24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00"/>
              <a:t>Stakeholder: Staff interviews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7D03CA-91AF-0D4D-52D8-8420DD20990C}"/>
              </a:ext>
            </a:extLst>
          </p:cNvPr>
          <p:cNvSpPr txBox="1"/>
          <p:nvPr/>
        </p:nvSpPr>
        <p:spPr>
          <a:xfrm>
            <a:off x="166742" y="185564"/>
            <a:ext cx="5926126" cy="6821930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 sz="2833" b="1" dirty="0">
              <a:highlight>
                <a:srgbClr val="FFFF00"/>
              </a:highlight>
            </a:endParaRPr>
          </a:p>
          <a:p>
            <a:pPr algn="ctr"/>
            <a:r>
              <a:rPr lang="en-US" sz="2833" b="1" dirty="0">
                <a:highlight>
                  <a:srgbClr val="FFFF00"/>
                </a:highlight>
              </a:rPr>
              <a:t>  </a:t>
            </a:r>
            <a:r>
              <a:rPr lang="en-US" sz="2833" b="1">
                <a:highlight>
                  <a:srgbClr val="FFFF00"/>
                </a:highlight>
              </a:rPr>
              <a:t>Curriculum suggests different examples</a:t>
            </a:r>
            <a:endParaRPr lang="en-US" sz="2833" b="1" dirty="0">
              <a:highlight>
                <a:srgbClr val="FFFF00"/>
              </a:highlight>
            </a:endParaRPr>
          </a:p>
          <a:p>
            <a:pPr algn="ctr"/>
            <a:endParaRPr lang="en-US" sz="2833" b="1" dirty="0">
              <a:highlight>
                <a:srgbClr val="FFFF00"/>
              </a:highlight>
            </a:endParaRPr>
          </a:p>
          <a:p>
            <a:pPr algn="ctr"/>
            <a:r>
              <a:rPr lang="en-US" sz="2833" b="1">
                <a:highlight>
                  <a:srgbClr val="FFFF00"/>
                </a:highlight>
              </a:rPr>
              <a:t>#2</a:t>
            </a:r>
            <a:endParaRPr lang="en-US" sz="2833" b="1" dirty="0">
              <a:highlight>
                <a:srgbClr val="FFFF00"/>
              </a:highlight>
            </a:endParaRPr>
          </a:p>
          <a:p>
            <a:pPr algn="ctr"/>
            <a:endParaRPr lang="en-US" sz="2000" b="1" dirty="0">
              <a:highlight>
                <a:srgbClr val="FFFF00"/>
              </a:highlight>
            </a:endParaRPr>
          </a:p>
          <a:p>
            <a:pPr algn="ctr"/>
            <a:r>
              <a:rPr lang="en-US" sz="2000" b="1">
                <a:highlight>
                  <a:srgbClr val="FFFF00"/>
                </a:highlight>
                <a:ea typeface="+mn-lt"/>
                <a:cs typeface="+mn-lt"/>
              </a:rPr>
              <a:t>Real-World PBL Case: Sports Analytics: Do Home Teams Really Win More?</a:t>
            </a:r>
            <a:endParaRPr lang="en-US" sz="1500"/>
          </a:p>
          <a:p>
            <a:pPr algn="ctr"/>
            <a:r>
              <a:rPr lang="en-US" sz="2000">
                <a:highlight>
                  <a:srgbClr val="FFFF00"/>
                </a:highlight>
                <a:ea typeface="+mn-lt"/>
                <a:cs typeface="+mn-lt"/>
              </a:rPr>
              <a:t>Share the question: 'Do home teams have a real advantage in the NBA — and if so, why?' Present summary statistics from real NBA data (available at basketball-reference.com). Ask: Is this a research question? What evidence would we need? What would 'prove' it?</a:t>
            </a:r>
            <a:endParaRPr lang="en-US" sz="1500"/>
          </a:p>
          <a:p>
            <a:pPr algn="ctr"/>
            <a:r>
              <a:rPr lang="en-US" sz="2000" dirty="0">
                <a:highlight>
                  <a:srgbClr val="FFFF00"/>
                </a:highlight>
                <a:ea typeface="+mn-lt"/>
                <a:cs typeface="+mn-lt"/>
              </a:rPr>
              <a:t>This case is used again in </a:t>
            </a:r>
            <a:r>
              <a:rPr lang="en-US" sz="2000" dirty="0" err="1">
                <a:highlight>
                  <a:srgbClr val="FFFF00"/>
                </a:highlight>
                <a:ea typeface="+mn-lt"/>
                <a:cs typeface="+mn-lt"/>
              </a:rPr>
              <a:t>DataCORE</a:t>
            </a:r>
            <a:r>
              <a:rPr lang="en-US" sz="2000" dirty="0">
                <a:highlight>
                  <a:srgbClr val="FFFF00"/>
                </a:highlight>
                <a:ea typeface="+mn-lt"/>
                <a:cs typeface="+mn-lt"/>
              </a:rPr>
              <a:t> Day 1 PM when students load actual NBA game data in Python.</a:t>
            </a:r>
            <a:endParaRPr lang="en-US" sz="1500" dirty="0">
              <a:ea typeface="+mn-lt"/>
              <a:cs typeface="+mn-lt"/>
            </a:endParaRPr>
          </a:p>
          <a:p>
            <a:pPr algn="ctr"/>
            <a:endParaRPr lang="en-US" sz="2000" dirty="0">
              <a:highlight>
                <a:srgbClr val="FFFF00"/>
              </a:highlight>
            </a:endParaRPr>
          </a:p>
          <a:p>
            <a:pPr algn="ctr"/>
            <a:endParaRPr lang="en-US" sz="2833" b="1" dirty="0">
              <a:highlight>
                <a:srgbClr val="FFFF00"/>
              </a:highlight>
            </a:endParaRPr>
          </a:p>
          <a:p>
            <a:pPr algn="ctr"/>
            <a:endParaRPr lang="en-US" sz="2833" b="1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1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379312" cy="6568967"/>
          </a:xfrm>
          <a:prstGeom prst="rect">
            <a:avLst/>
          </a:prstGeom>
          <a:ln w="12700">
            <a:miter lim="400000"/>
          </a:ln>
        </p:spPr>
      </p:pic>
      <p:sp>
        <p:nvSpPr>
          <p:cNvPr id="1292" name="Text 0"/>
          <p:cNvSpPr txBox="1"/>
          <p:nvPr/>
        </p:nvSpPr>
        <p:spPr>
          <a:xfrm>
            <a:off x="5172968" y="838893"/>
            <a:ext cx="6418065" cy="1218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000"/>
              </a:lnSpc>
              <a:defRPr sz="4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333"/>
              <a:t>Lunch Research: Findings and Impact</a:t>
            </a:r>
          </a:p>
        </p:txBody>
      </p:sp>
      <p:sp>
        <p:nvSpPr>
          <p:cNvPr id="1293" name="Shape 1"/>
          <p:cNvSpPr/>
          <p:nvPr/>
        </p:nvSpPr>
        <p:spPr>
          <a:xfrm>
            <a:off x="5172969" y="2169517"/>
            <a:ext cx="386259" cy="386259"/>
          </a:xfrm>
          <a:prstGeom prst="roundRect">
            <a:avLst>
              <a:gd name="adj" fmla="val 18671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1294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7312" y="2201664"/>
            <a:ext cx="257473" cy="321867"/>
          </a:xfrm>
          <a:prstGeom prst="rect">
            <a:avLst/>
          </a:prstGeom>
          <a:ln w="12700">
            <a:miter lim="400000"/>
          </a:ln>
        </p:spPr>
      </p:pic>
      <p:sp>
        <p:nvSpPr>
          <p:cNvPr id="1295" name="Text 2"/>
          <p:cNvSpPr txBox="1"/>
          <p:nvPr/>
        </p:nvSpPr>
        <p:spPr>
          <a:xfrm>
            <a:off x="5730875" y="2228453"/>
            <a:ext cx="1418658" cy="2935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Key Findings</a:t>
            </a:r>
          </a:p>
        </p:txBody>
      </p:sp>
      <p:sp>
        <p:nvSpPr>
          <p:cNvPr id="1296" name="Text 3"/>
          <p:cNvSpPr txBox="1"/>
          <p:nvPr/>
        </p:nvSpPr>
        <p:spPr>
          <a:xfrm>
            <a:off x="5730875" y="2599631"/>
            <a:ext cx="5897181" cy="6231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Students wanted fresher options, menu variety, and customization</a:t>
            </a:r>
          </a:p>
        </p:txBody>
      </p:sp>
      <p:sp>
        <p:nvSpPr>
          <p:cNvPr id="1297" name="Shape 4"/>
          <p:cNvSpPr/>
          <p:nvPr/>
        </p:nvSpPr>
        <p:spPr>
          <a:xfrm>
            <a:off x="5172969" y="3217763"/>
            <a:ext cx="386259" cy="386259"/>
          </a:xfrm>
          <a:prstGeom prst="roundRect">
            <a:avLst>
              <a:gd name="adj" fmla="val 18671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1298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7312" y="3249910"/>
            <a:ext cx="257473" cy="321867"/>
          </a:xfrm>
          <a:prstGeom prst="rect">
            <a:avLst/>
          </a:prstGeom>
          <a:ln w="12700">
            <a:miter lim="400000"/>
          </a:ln>
        </p:spPr>
      </p:pic>
      <p:sp>
        <p:nvSpPr>
          <p:cNvPr id="1299" name="Text 5"/>
          <p:cNvSpPr txBox="1"/>
          <p:nvPr/>
        </p:nvSpPr>
        <p:spPr>
          <a:xfrm>
            <a:off x="5730875" y="3276699"/>
            <a:ext cx="2120773" cy="2935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Solutions Proposed</a:t>
            </a:r>
          </a:p>
        </p:txBody>
      </p:sp>
      <p:sp>
        <p:nvSpPr>
          <p:cNvPr id="1300" name="Text 6"/>
          <p:cNvSpPr txBox="1"/>
          <p:nvPr/>
        </p:nvSpPr>
        <p:spPr>
          <a:xfrm>
            <a:off x="5730875" y="3647877"/>
            <a:ext cx="6285822" cy="6231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Student advisory panel, taste tests, nutritional labeling, diverse options</a:t>
            </a:r>
          </a:p>
        </p:txBody>
      </p:sp>
      <p:sp>
        <p:nvSpPr>
          <p:cNvPr id="1301" name="Shape 7"/>
          <p:cNvSpPr/>
          <p:nvPr/>
        </p:nvSpPr>
        <p:spPr>
          <a:xfrm>
            <a:off x="5172969" y="4266010"/>
            <a:ext cx="386259" cy="386259"/>
          </a:xfrm>
          <a:prstGeom prst="roundRect">
            <a:avLst>
              <a:gd name="adj" fmla="val 18671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1302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7312" y="4298156"/>
            <a:ext cx="257473" cy="321867"/>
          </a:xfrm>
          <a:prstGeom prst="rect">
            <a:avLst/>
          </a:prstGeom>
          <a:ln w="12700">
            <a:miter lim="400000"/>
          </a:ln>
        </p:spPr>
      </p:pic>
      <p:sp>
        <p:nvSpPr>
          <p:cNvPr id="1303" name="Text 8"/>
          <p:cNvSpPr txBox="1"/>
          <p:nvPr/>
        </p:nvSpPr>
        <p:spPr>
          <a:xfrm>
            <a:off x="5730875" y="4324945"/>
            <a:ext cx="724557" cy="288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2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667"/>
              <a:t>Results</a:t>
            </a:r>
          </a:p>
        </p:txBody>
      </p:sp>
      <p:sp>
        <p:nvSpPr>
          <p:cNvPr id="1304" name="Text 9"/>
          <p:cNvSpPr txBox="1"/>
          <p:nvPr/>
        </p:nvSpPr>
        <p:spPr>
          <a:xfrm>
            <a:off x="5730875" y="4696123"/>
            <a:ext cx="6026278" cy="6231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School piloted ideas; lunch participation and satisfaction increased</a:t>
            </a:r>
          </a:p>
        </p:txBody>
      </p:sp>
      <p:sp>
        <p:nvSpPr>
          <p:cNvPr id="1305" name="Shape 10"/>
          <p:cNvSpPr/>
          <p:nvPr/>
        </p:nvSpPr>
        <p:spPr>
          <a:xfrm>
            <a:off x="5172969" y="5314256"/>
            <a:ext cx="386259" cy="386259"/>
          </a:xfrm>
          <a:prstGeom prst="roundRect">
            <a:avLst>
              <a:gd name="adj" fmla="val 18671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1306" name="Image 4" descr="Imag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7312" y="5346402"/>
            <a:ext cx="257473" cy="321867"/>
          </a:xfrm>
          <a:prstGeom prst="rect">
            <a:avLst/>
          </a:prstGeom>
          <a:ln w="12700">
            <a:miter lim="400000"/>
          </a:ln>
        </p:spPr>
      </p:pic>
      <p:sp>
        <p:nvSpPr>
          <p:cNvPr id="1307" name="Text 11"/>
          <p:cNvSpPr txBox="1"/>
          <p:nvPr/>
        </p:nvSpPr>
        <p:spPr>
          <a:xfrm>
            <a:off x="5730876" y="5373192"/>
            <a:ext cx="687689" cy="288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500"/>
              </a:lnSpc>
              <a:defRPr sz="2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667"/>
              <a:t>Lesson</a:t>
            </a:r>
          </a:p>
        </p:txBody>
      </p:sp>
      <p:sp>
        <p:nvSpPr>
          <p:cNvPr id="1308" name="Text 12"/>
          <p:cNvSpPr txBox="1"/>
          <p:nvPr/>
        </p:nvSpPr>
        <p:spPr>
          <a:xfrm>
            <a:off x="5730875" y="5744369"/>
            <a:ext cx="5897181" cy="6231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z="2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833"/>
              <a:t>Research can solve real problems and improve everyday experiences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89F24B-F5BA-DA97-180F-285FF3D9494B}"/>
              </a:ext>
            </a:extLst>
          </p:cNvPr>
          <p:cNvSpPr txBox="1"/>
          <p:nvPr/>
        </p:nvSpPr>
        <p:spPr>
          <a:xfrm>
            <a:off x="166742" y="185563"/>
            <a:ext cx="2048178" cy="948847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>
                <a:highlight>
                  <a:srgbClr val="FFFF00"/>
                </a:highlight>
              </a:rPr>
              <a:t>OUT​</a:t>
            </a:r>
          </a:p>
          <a:p>
            <a:pPr algn="ctr"/>
            <a:endParaRPr lang="en-US" sz="2833" b="1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0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21" y="135728"/>
            <a:ext cx="4274208" cy="6413351"/>
          </a:xfrm>
          <a:prstGeom prst="rect">
            <a:avLst/>
          </a:prstGeom>
          <a:ln w="12700">
            <a:miter lim="400000"/>
          </a:ln>
        </p:spPr>
      </p:pic>
      <p:sp>
        <p:nvSpPr>
          <p:cNvPr id="1311" name="Text 0"/>
          <p:cNvSpPr txBox="1"/>
          <p:nvPr/>
        </p:nvSpPr>
        <p:spPr>
          <a:xfrm>
            <a:off x="5189198" y="863553"/>
            <a:ext cx="6331546" cy="6231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400"/>
              </a:lnSpc>
              <a:defRPr sz="4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583"/>
              <a:t>Summary: Key Takeaways</a:t>
            </a:r>
          </a:p>
        </p:txBody>
      </p:sp>
      <p:sp>
        <p:nvSpPr>
          <p:cNvPr id="1312" name="Shape 1"/>
          <p:cNvSpPr/>
          <p:nvPr/>
        </p:nvSpPr>
        <p:spPr>
          <a:xfrm>
            <a:off x="5216227" y="1932582"/>
            <a:ext cx="414140" cy="414140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1313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5284" y="1967111"/>
            <a:ext cx="276028" cy="345083"/>
          </a:xfrm>
          <a:prstGeom prst="rect">
            <a:avLst/>
          </a:prstGeom>
          <a:ln w="12700">
            <a:miter lim="400000"/>
          </a:ln>
        </p:spPr>
      </p:pic>
      <p:sp>
        <p:nvSpPr>
          <p:cNvPr id="1314" name="Text 2"/>
          <p:cNvSpPr txBox="1"/>
          <p:nvPr/>
        </p:nvSpPr>
        <p:spPr>
          <a:xfrm>
            <a:off x="5814418" y="1932285"/>
            <a:ext cx="2358018" cy="317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00"/>
              <a:t>Research Definition</a:t>
            </a:r>
          </a:p>
        </p:txBody>
      </p:sp>
      <p:sp>
        <p:nvSpPr>
          <p:cNvPr id="1315" name="Text 3"/>
          <p:cNvSpPr txBox="1"/>
          <p:nvPr/>
        </p:nvSpPr>
        <p:spPr>
          <a:xfrm>
            <a:off x="5814418" y="2330251"/>
            <a:ext cx="6026065" cy="673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sz="24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00"/>
              <a:t>Systematic investigation to answer questions using evidence</a:t>
            </a:r>
          </a:p>
        </p:txBody>
      </p:sp>
      <p:sp>
        <p:nvSpPr>
          <p:cNvPr id="1316" name="Shape 4"/>
          <p:cNvSpPr/>
          <p:nvPr/>
        </p:nvSpPr>
        <p:spPr>
          <a:xfrm>
            <a:off x="5216227" y="3056333"/>
            <a:ext cx="414140" cy="414140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1317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5284" y="3090862"/>
            <a:ext cx="276028" cy="345083"/>
          </a:xfrm>
          <a:prstGeom prst="rect">
            <a:avLst/>
          </a:prstGeom>
          <a:ln w="12700">
            <a:miter lim="400000"/>
          </a:ln>
        </p:spPr>
      </p:pic>
      <p:sp>
        <p:nvSpPr>
          <p:cNvPr id="1318" name="Text 5"/>
          <p:cNvSpPr txBox="1"/>
          <p:nvPr/>
        </p:nvSpPr>
        <p:spPr>
          <a:xfrm>
            <a:off x="5814418" y="3098370"/>
            <a:ext cx="2481449" cy="317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00"/>
              <a:t>Opinion vs. Evidence</a:t>
            </a:r>
          </a:p>
        </p:txBody>
      </p:sp>
      <p:sp>
        <p:nvSpPr>
          <p:cNvPr id="1319" name="Text 6"/>
          <p:cNvSpPr txBox="1"/>
          <p:nvPr/>
        </p:nvSpPr>
        <p:spPr>
          <a:xfrm>
            <a:off x="5814418" y="3496336"/>
            <a:ext cx="6026064" cy="673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sz="24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00"/>
              <a:t>Research moves beyond personal beliefs to factual conclusions</a:t>
            </a:r>
          </a:p>
        </p:txBody>
      </p:sp>
      <p:sp>
        <p:nvSpPr>
          <p:cNvPr id="1320" name="Shape 7"/>
          <p:cNvSpPr/>
          <p:nvPr/>
        </p:nvSpPr>
        <p:spPr>
          <a:xfrm>
            <a:off x="5216227" y="4180086"/>
            <a:ext cx="414140" cy="414140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1321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284" y="4214614"/>
            <a:ext cx="276028" cy="345083"/>
          </a:xfrm>
          <a:prstGeom prst="rect">
            <a:avLst/>
          </a:prstGeom>
          <a:ln w="12700">
            <a:miter lim="400000"/>
          </a:ln>
        </p:spPr>
      </p:pic>
      <p:sp>
        <p:nvSpPr>
          <p:cNvPr id="1322" name="Text 8"/>
          <p:cNvSpPr txBox="1"/>
          <p:nvPr/>
        </p:nvSpPr>
        <p:spPr>
          <a:xfrm>
            <a:off x="5814418" y="4179789"/>
            <a:ext cx="1857881" cy="317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00"/>
              <a:t>Research Types</a:t>
            </a:r>
          </a:p>
        </p:txBody>
      </p:sp>
      <p:sp>
        <p:nvSpPr>
          <p:cNvPr id="1323" name="Text 9"/>
          <p:cNvSpPr txBox="1"/>
          <p:nvPr/>
        </p:nvSpPr>
        <p:spPr>
          <a:xfrm>
            <a:off x="5814417" y="4577755"/>
            <a:ext cx="5733357" cy="673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sz="24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00"/>
              <a:t>Scientific, social science, historical, and interdisciplinary approaches</a:t>
            </a:r>
          </a:p>
        </p:txBody>
      </p:sp>
      <p:sp>
        <p:nvSpPr>
          <p:cNvPr id="1324" name="Shape 10"/>
          <p:cNvSpPr/>
          <p:nvPr/>
        </p:nvSpPr>
        <p:spPr>
          <a:xfrm>
            <a:off x="5216227" y="5418402"/>
            <a:ext cx="414140" cy="414140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1325" name="Image 4" descr="Imag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5284" y="5452930"/>
            <a:ext cx="276028" cy="345083"/>
          </a:xfrm>
          <a:prstGeom prst="rect">
            <a:avLst/>
          </a:prstGeom>
          <a:ln w="12700">
            <a:miter lim="400000"/>
          </a:ln>
        </p:spPr>
      </p:pic>
      <p:sp>
        <p:nvSpPr>
          <p:cNvPr id="1326" name="Text 11"/>
          <p:cNvSpPr txBox="1"/>
          <p:nvPr/>
        </p:nvSpPr>
        <p:spPr>
          <a:xfrm>
            <a:off x="5814417" y="5418104"/>
            <a:ext cx="2074286" cy="317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000"/>
              <a:t>Research Process</a:t>
            </a:r>
          </a:p>
        </p:txBody>
      </p:sp>
      <p:sp>
        <p:nvSpPr>
          <p:cNvPr id="1327" name="Text 12"/>
          <p:cNvSpPr txBox="1"/>
          <p:nvPr/>
        </p:nvSpPr>
        <p:spPr>
          <a:xfrm>
            <a:off x="5814418" y="5816070"/>
            <a:ext cx="5714128" cy="327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4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00"/>
              <a:t>Question, gather, analyze, conclude, and share findings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ADB9DE-4F9F-F81F-11F1-20CF4E237D45}"/>
              </a:ext>
            </a:extLst>
          </p:cNvPr>
          <p:cNvSpPr txBox="1"/>
          <p:nvPr/>
        </p:nvSpPr>
        <p:spPr>
          <a:xfrm>
            <a:off x="166742" y="185563"/>
            <a:ext cx="2048178" cy="948847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>
                <a:highlight>
                  <a:srgbClr val="FFFF00"/>
                </a:highlight>
              </a:rPr>
              <a:t>OUT​</a:t>
            </a:r>
          </a:p>
          <a:p>
            <a:pPr algn="ctr"/>
            <a:endParaRPr lang="en-US" sz="2833" b="1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9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5228" y="1020132"/>
            <a:ext cx="3690300" cy="5535449"/>
          </a:xfrm>
          <a:prstGeom prst="rect">
            <a:avLst/>
          </a:prstGeom>
          <a:ln w="12700">
            <a:miter lim="400000"/>
          </a:ln>
        </p:spPr>
      </p:pic>
      <p:sp>
        <p:nvSpPr>
          <p:cNvPr id="1330" name="Text 0"/>
          <p:cNvSpPr txBox="1"/>
          <p:nvPr/>
        </p:nvSpPr>
        <p:spPr>
          <a:xfrm>
            <a:off x="661492" y="593923"/>
            <a:ext cx="6297018" cy="13405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lang="en-US" sz="3667" dirty="0"/>
              <a:t>Small Group Activity</a:t>
            </a:r>
            <a:r>
              <a:rPr sz="3667" dirty="0"/>
              <a:t>: Research in </a:t>
            </a:r>
            <a:r>
              <a:rPr lang="en-US" sz="3667"/>
              <a:t>Daily Life</a:t>
            </a:r>
            <a:endParaRPr sz="3667" dirty="0"/>
          </a:p>
        </p:txBody>
      </p:sp>
      <p:sp>
        <p:nvSpPr>
          <p:cNvPr id="1331" name="Shape 1"/>
          <p:cNvSpPr/>
          <p:nvPr/>
        </p:nvSpPr>
        <p:spPr>
          <a:xfrm>
            <a:off x="661492" y="2058690"/>
            <a:ext cx="141685" cy="711102"/>
          </a:xfrm>
          <a:prstGeom prst="roundRect">
            <a:avLst>
              <a:gd name="adj" fmla="val 50000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sp>
        <p:nvSpPr>
          <p:cNvPr id="1334" name="Shape 4"/>
          <p:cNvSpPr/>
          <p:nvPr/>
        </p:nvSpPr>
        <p:spPr>
          <a:xfrm>
            <a:off x="944959" y="2958802"/>
            <a:ext cx="141685" cy="711102"/>
          </a:xfrm>
          <a:prstGeom prst="roundRect">
            <a:avLst>
              <a:gd name="adj" fmla="val 50000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sp>
        <p:nvSpPr>
          <p:cNvPr id="1335" name="Shape 7"/>
          <p:cNvSpPr/>
          <p:nvPr/>
        </p:nvSpPr>
        <p:spPr>
          <a:xfrm>
            <a:off x="1228527" y="3858914"/>
            <a:ext cx="141685" cy="1013520"/>
          </a:xfrm>
          <a:prstGeom prst="roundRect">
            <a:avLst>
              <a:gd name="adj" fmla="val 50000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sp>
        <p:nvSpPr>
          <p:cNvPr id="1336" name="Shape 10"/>
          <p:cNvSpPr/>
          <p:nvPr/>
        </p:nvSpPr>
        <p:spPr>
          <a:xfrm>
            <a:off x="1512094" y="5061446"/>
            <a:ext cx="141685" cy="1013520"/>
          </a:xfrm>
          <a:prstGeom prst="roundRect">
            <a:avLst>
              <a:gd name="adj" fmla="val 50000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7C234E-4EFD-AD5B-A71E-4671DEFA9C68}"/>
              </a:ext>
            </a:extLst>
          </p:cNvPr>
          <p:cNvSpPr txBox="1"/>
          <p:nvPr/>
        </p:nvSpPr>
        <p:spPr>
          <a:xfrm>
            <a:off x="370589" y="2059016"/>
            <a:ext cx="6882268" cy="4333813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>
                <a:highlight>
                  <a:srgbClr val="FFFF00"/>
                </a:highlight>
              </a:rPr>
              <a:t>UPDATED ACTIVITY</a:t>
            </a:r>
          </a:p>
          <a:p>
            <a:pPr algn="ctr"/>
            <a:endParaRPr lang="en-US" sz="2833" b="1" dirty="0">
              <a:highlight>
                <a:srgbClr val="FFFF00"/>
              </a:highlight>
            </a:endParaRPr>
          </a:p>
          <a:p>
            <a:pPr algn="ctr"/>
            <a:r>
              <a:rPr lang="en-US" sz="2833" b="1">
                <a:highlight>
                  <a:srgbClr val="FFFF00"/>
                </a:highlight>
              </a:rPr>
              <a:t>Update slide accordingly</a:t>
            </a:r>
            <a:endParaRPr lang="en-US" sz="2833" b="1" dirty="0">
              <a:highlight>
                <a:srgbClr val="FFFF00"/>
              </a:highlight>
            </a:endParaRPr>
          </a:p>
          <a:p>
            <a:pPr algn="ctr"/>
            <a:endParaRPr lang="en-US" sz="2833" b="1" dirty="0">
              <a:highlight>
                <a:srgbClr val="FFFF00"/>
              </a:highlight>
            </a:endParaRPr>
          </a:p>
          <a:p>
            <a:pPr algn="ctr"/>
            <a:r>
              <a:rPr lang="en-US" sz="2333">
                <a:highlight>
                  <a:srgbClr val="FFFF00"/>
                </a:highlight>
                <a:ea typeface="+mn-lt"/>
                <a:cs typeface="+mn-lt"/>
              </a:rPr>
              <a:t>Teams of 3–4 students receive 5 real-world scenarios (a doctor testing a new medication; a city deciding where to build a bike lane; a company A/B testing a website design; a teacher comparing two teaching methods; a government tracking COVID-19 spread). Each team identifies: What is the research question? What data was collected? What was the conclusion?</a:t>
            </a:r>
            <a:endParaRPr lang="en-US" sz="2333"/>
          </a:p>
        </p:txBody>
      </p:sp>
    </p:spTree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8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5228" y="1020132"/>
            <a:ext cx="3690300" cy="5535449"/>
          </a:xfrm>
          <a:prstGeom prst="rect">
            <a:avLst/>
          </a:prstGeom>
          <a:ln w="12700">
            <a:miter lim="400000"/>
          </a:ln>
        </p:spPr>
      </p:pic>
      <p:sp>
        <p:nvSpPr>
          <p:cNvPr id="1339" name="Text 0"/>
          <p:cNvSpPr txBox="1"/>
          <p:nvPr/>
        </p:nvSpPr>
        <p:spPr>
          <a:xfrm>
            <a:off x="661492" y="593923"/>
            <a:ext cx="6297018" cy="13405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Activity: Find the Research in Your Life</a:t>
            </a:r>
          </a:p>
        </p:txBody>
      </p:sp>
      <p:sp>
        <p:nvSpPr>
          <p:cNvPr id="1340" name="Shape 1"/>
          <p:cNvSpPr/>
          <p:nvPr/>
        </p:nvSpPr>
        <p:spPr>
          <a:xfrm>
            <a:off x="661492" y="2058690"/>
            <a:ext cx="141685" cy="711102"/>
          </a:xfrm>
          <a:prstGeom prst="roundRect">
            <a:avLst>
              <a:gd name="adj" fmla="val 50000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sp>
        <p:nvSpPr>
          <p:cNvPr id="1341" name="Text 2"/>
          <p:cNvSpPr txBox="1"/>
          <p:nvPr/>
        </p:nvSpPr>
        <p:spPr>
          <a:xfrm>
            <a:off x="1086644" y="2058690"/>
            <a:ext cx="3113032" cy="3152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Identify A Recent Decisions</a:t>
            </a:r>
          </a:p>
        </p:txBody>
      </p:sp>
      <p:sp>
        <p:nvSpPr>
          <p:cNvPr id="1342" name="Text 3"/>
          <p:cNvSpPr txBox="1"/>
          <p:nvPr/>
        </p:nvSpPr>
        <p:spPr>
          <a:xfrm>
            <a:off x="1086644" y="2467372"/>
            <a:ext cx="6292685" cy="334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List questions or choices you've faced lately, small or significant</a:t>
            </a:r>
          </a:p>
        </p:txBody>
      </p:sp>
      <p:sp>
        <p:nvSpPr>
          <p:cNvPr id="1343" name="Shape 4"/>
          <p:cNvSpPr/>
          <p:nvPr/>
        </p:nvSpPr>
        <p:spPr>
          <a:xfrm>
            <a:off x="944959" y="2958802"/>
            <a:ext cx="141685" cy="711102"/>
          </a:xfrm>
          <a:prstGeom prst="roundRect">
            <a:avLst>
              <a:gd name="adj" fmla="val 50000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sp>
        <p:nvSpPr>
          <p:cNvPr id="1344" name="Text 5"/>
          <p:cNvSpPr txBox="1"/>
          <p:nvPr/>
        </p:nvSpPr>
        <p:spPr>
          <a:xfrm>
            <a:off x="1370111" y="2958803"/>
            <a:ext cx="2891817" cy="3152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Map Your Research Steps</a:t>
            </a:r>
          </a:p>
        </p:txBody>
      </p:sp>
      <p:sp>
        <p:nvSpPr>
          <p:cNvPr id="1345" name="Text 6"/>
          <p:cNvSpPr txBox="1"/>
          <p:nvPr/>
        </p:nvSpPr>
        <p:spPr>
          <a:xfrm>
            <a:off x="1370111" y="3367483"/>
            <a:ext cx="5196166" cy="334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Note how you gathered information before deciding</a:t>
            </a:r>
          </a:p>
        </p:txBody>
      </p:sp>
      <p:sp>
        <p:nvSpPr>
          <p:cNvPr id="1346" name="Shape 7"/>
          <p:cNvSpPr/>
          <p:nvPr/>
        </p:nvSpPr>
        <p:spPr>
          <a:xfrm>
            <a:off x="1228527" y="3858914"/>
            <a:ext cx="141685" cy="1013520"/>
          </a:xfrm>
          <a:prstGeom prst="roundRect">
            <a:avLst>
              <a:gd name="adj" fmla="val 50000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sp>
        <p:nvSpPr>
          <p:cNvPr id="1347" name="Text 8"/>
          <p:cNvSpPr txBox="1"/>
          <p:nvPr/>
        </p:nvSpPr>
        <p:spPr>
          <a:xfrm>
            <a:off x="1653678" y="3858914"/>
            <a:ext cx="2180084" cy="3152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Evaluate Outcomes</a:t>
            </a:r>
          </a:p>
        </p:txBody>
      </p:sp>
      <p:sp>
        <p:nvSpPr>
          <p:cNvPr id="1348" name="Text 9"/>
          <p:cNvSpPr txBox="1"/>
          <p:nvPr/>
        </p:nvSpPr>
        <p:spPr>
          <a:xfrm>
            <a:off x="1653679" y="4267597"/>
            <a:ext cx="5304831" cy="693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Record your decisions and whether research improved results</a:t>
            </a:r>
          </a:p>
        </p:txBody>
      </p:sp>
      <p:sp>
        <p:nvSpPr>
          <p:cNvPr id="1349" name="Shape 10"/>
          <p:cNvSpPr/>
          <p:nvPr/>
        </p:nvSpPr>
        <p:spPr>
          <a:xfrm>
            <a:off x="1512094" y="5061446"/>
            <a:ext cx="141685" cy="1013520"/>
          </a:xfrm>
          <a:prstGeom prst="roundRect">
            <a:avLst>
              <a:gd name="adj" fmla="val 50000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sp>
        <p:nvSpPr>
          <p:cNvPr id="1350" name="Text 11"/>
          <p:cNvSpPr txBox="1"/>
          <p:nvPr/>
        </p:nvSpPr>
        <p:spPr>
          <a:xfrm>
            <a:off x="1937245" y="5061446"/>
            <a:ext cx="1987724" cy="3152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Share and Reflect</a:t>
            </a:r>
          </a:p>
        </p:txBody>
      </p:sp>
      <p:sp>
        <p:nvSpPr>
          <p:cNvPr id="1351" name="Text 12"/>
          <p:cNvSpPr txBox="1"/>
          <p:nvPr/>
        </p:nvSpPr>
        <p:spPr>
          <a:xfrm>
            <a:off x="1937246" y="5470128"/>
            <a:ext cx="5021264" cy="693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Compare approaches with classmates or consider your research patterns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F2D574-DA70-707C-951D-C4D73D371658}"/>
              </a:ext>
            </a:extLst>
          </p:cNvPr>
          <p:cNvSpPr txBox="1"/>
          <p:nvPr/>
        </p:nvSpPr>
        <p:spPr>
          <a:xfrm>
            <a:off x="166742" y="185563"/>
            <a:ext cx="2048178" cy="948847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>
                <a:highlight>
                  <a:srgbClr val="FFFF00"/>
                </a:highlight>
              </a:rPr>
              <a:t>OUT​</a:t>
            </a:r>
          </a:p>
          <a:p>
            <a:pPr algn="ctr"/>
            <a:endParaRPr lang="en-US" sz="2833" b="1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LOBAL CHALLENGES…"/>
          <p:cNvSpPr txBox="1"/>
          <p:nvPr/>
        </p:nvSpPr>
        <p:spPr>
          <a:xfrm>
            <a:off x="81618" y="2114294"/>
            <a:ext cx="12028765" cy="1619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099" rIns="38099">
            <a:spAutoFit/>
          </a:bodyPr>
          <a:lstStyle/>
          <a:p>
            <a:pPr algn="ctr">
              <a:lnSpc>
                <a:spcPct val="90000"/>
              </a:lnSpc>
              <a:defRPr sz="4400">
                <a:latin typeface="Aptos Display"/>
                <a:ea typeface="Aptos Display"/>
                <a:cs typeface="Aptos Display"/>
                <a:sym typeface="Aptos Display"/>
              </a:defRPr>
            </a:pPr>
            <a:endParaRPr sz="3667"/>
          </a:p>
          <a:p>
            <a:pPr algn="ctr">
              <a:lnSpc>
                <a:spcPct val="90000"/>
              </a:lnSpc>
              <a:defRPr sz="4400">
                <a:latin typeface="Aptos Display"/>
                <a:ea typeface="Aptos Display"/>
                <a:cs typeface="Aptos Display"/>
                <a:sym typeface="Aptos Display"/>
              </a:defRPr>
            </a:pPr>
            <a:r>
              <a:rPr sz="3667" b="1"/>
              <a:t>GLOBAL CHALLENGES</a:t>
            </a:r>
          </a:p>
          <a:p>
            <a:pPr algn="ctr">
              <a:lnSpc>
                <a:spcPct val="90000"/>
              </a:lnSpc>
              <a:defRPr sz="4400">
                <a:latin typeface="Aptos Display"/>
                <a:ea typeface="Aptos Display"/>
                <a:cs typeface="Aptos Display"/>
                <a:sym typeface="Aptos Display"/>
              </a:defRPr>
            </a:pPr>
            <a:r>
              <a:rPr sz="3667" b="1"/>
              <a:t>&amp; TEAM FORMATION</a:t>
            </a:r>
          </a:p>
        </p:txBody>
      </p:sp>
    </p:spTree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Text 0"/>
          <p:cNvSpPr txBox="1"/>
          <p:nvPr/>
        </p:nvSpPr>
        <p:spPr>
          <a:xfrm>
            <a:off x="6667282" y="1425311"/>
            <a:ext cx="3191579" cy="1429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r">
              <a:lnSpc>
                <a:spcPts val="3833"/>
              </a:lnSpc>
              <a:defRPr sz="37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083"/>
              <a:t>Journey Ahead: </a:t>
            </a:r>
          </a:p>
          <a:p>
            <a:pPr algn="r">
              <a:lnSpc>
                <a:spcPts val="3833"/>
              </a:lnSpc>
              <a:defRPr sz="37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083"/>
              <a:t>Your Very Own </a:t>
            </a:r>
          </a:p>
          <a:p>
            <a:pPr algn="r">
              <a:lnSpc>
                <a:spcPts val="3833"/>
              </a:lnSpc>
              <a:defRPr sz="37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083"/>
              <a:t>Research Process</a:t>
            </a:r>
          </a:p>
        </p:txBody>
      </p:sp>
      <p:pic>
        <p:nvPicPr>
          <p:cNvPr id="1356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839" y="1677194"/>
            <a:ext cx="791170" cy="949426"/>
          </a:xfrm>
          <a:prstGeom prst="rect">
            <a:avLst/>
          </a:prstGeom>
          <a:ln w="12700">
            <a:miter lim="400000"/>
          </a:ln>
        </p:spPr>
      </p:pic>
      <p:sp>
        <p:nvSpPr>
          <p:cNvPr id="1357" name="Text 2"/>
          <p:cNvSpPr txBox="1"/>
          <p:nvPr/>
        </p:nvSpPr>
        <p:spPr>
          <a:xfrm>
            <a:off x="1576945" y="2032633"/>
            <a:ext cx="1553310" cy="271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1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750"/>
              <a:t>Ask a Question</a:t>
            </a:r>
          </a:p>
        </p:txBody>
      </p:sp>
      <p:pic>
        <p:nvPicPr>
          <p:cNvPr id="1358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839" y="2626618"/>
            <a:ext cx="791170" cy="949425"/>
          </a:xfrm>
          <a:prstGeom prst="rect">
            <a:avLst/>
          </a:prstGeom>
          <a:ln w="12700">
            <a:miter lim="400000"/>
          </a:ln>
        </p:spPr>
      </p:pic>
      <p:sp>
        <p:nvSpPr>
          <p:cNvPr id="1359" name="Text 4"/>
          <p:cNvSpPr txBox="1"/>
          <p:nvPr/>
        </p:nvSpPr>
        <p:spPr>
          <a:xfrm>
            <a:off x="1555970" y="2883415"/>
            <a:ext cx="2034211" cy="271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1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750"/>
              <a:t>Gather Information</a:t>
            </a:r>
          </a:p>
        </p:txBody>
      </p:sp>
      <p:pic>
        <p:nvPicPr>
          <p:cNvPr id="1360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839" y="3576042"/>
            <a:ext cx="791170" cy="949425"/>
          </a:xfrm>
          <a:prstGeom prst="rect">
            <a:avLst/>
          </a:prstGeom>
          <a:ln w="12700">
            <a:miter lim="400000"/>
          </a:ln>
        </p:spPr>
      </p:pic>
      <p:sp>
        <p:nvSpPr>
          <p:cNvPr id="1361" name="Text 6"/>
          <p:cNvSpPr txBox="1"/>
          <p:nvPr/>
        </p:nvSpPr>
        <p:spPr>
          <a:xfrm>
            <a:off x="1582573" y="3931482"/>
            <a:ext cx="2511906" cy="271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1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750"/>
              <a:t>Analyze the Information</a:t>
            </a:r>
          </a:p>
        </p:txBody>
      </p:sp>
      <p:pic>
        <p:nvPicPr>
          <p:cNvPr id="1362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839" y="4525466"/>
            <a:ext cx="791170" cy="949426"/>
          </a:xfrm>
          <a:prstGeom prst="rect">
            <a:avLst/>
          </a:prstGeom>
          <a:ln w="12700">
            <a:miter lim="400000"/>
          </a:ln>
        </p:spPr>
      </p:pic>
      <p:sp>
        <p:nvSpPr>
          <p:cNvPr id="1363" name="Text 8"/>
          <p:cNvSpPr txBox="1"/>
          <p:nvPr/>
        </p:nvSpPr>
        <p:spPr>
          <a:xfrm>
            <a:off x="1582340" y="4782263"/>
            <a:ext cx="1909177" cy="271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1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750"/>
              <a:t>Draw Conclusions</a:t>
            </a:r>
          </a:p>
        </p:txBody>
      </p:sp>
      <p:pic>
        <p:nvPicPr>
          <p:cNvPr id="1364" name="Image 4" descr="Imag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839" y="5474890"/>
            <a:ext cx="791170" cy="949425"/>
          </a:xfrm>
          <a:prstGeom prst="rect">
            <a:avLst/>
          </a:prstGeom>
          <a:ln w="12700">
            <a:miter lim="400000"/>
          </a:ln>
        </p:spPr>
      </p:pic>
      <p:sp>
        <p:nvSpPr>
          <p:cNvPr id="1365" name="Text 10"/>
          <p:cNvSpPr txBox="1"/>
          <p:nvPr/>
        </p:nvSpPr>
        <p:spPr>
          <a:xfrm>
            <a:off x="1582340" y="5750790"/>
            <a:ext cx="1567737" cy="271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1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750"/>
              <a:t>Share Findings</a:t>
            </a:r>
          </a:p>
        </p:txBody>
      </p:sp>
      <p:sp>
        <p:nvSpPr>
          <p:cNvPr id="1366" name="Text 11"/>
          <p:cNvSpPr txBox="1"/>
          <p:nvPr/>
        </p:nvSpPr>
        <p:spPr>
          <a:xfrm>
            <a:off x="3206264" y="5752007"/>
            <a:ext cx="6818918" cy="269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-      The final deliverables: A formal presentation by Day 10 and a research proposal by Day 9</a:t>
            </a:r>
          </a:p>
        </p:txBody>
      </p:sp>
      <p:sp>
        <p:nvSpPr>
          <p:cNvPr id="1367" name="Text 2"/>
          <p:cNvSpPr txBox="1"/>
          <p:nvPr/>
        </p:nvSpPr>
        <p:spPr>
          <a:xfrm>
            <a:off x="1582340" y="1083209"/>
            <a:ext cx="2455800" cy="271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100" b="1">
                <a:solidFill>
                  <a:srgbClr val="EA760A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750"/>
              <a:t>Pick a Global Challenge</a:t>
            </a:r>
          </a:p>
        </p:txBody>
      </p:sp>
      <p:pic>
        <p:nvPicPr>
          <p:cNvPr id="1368" name="Image 1" descr="Imag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222" y="692250"/>
            <a:ext cx="850405" cy="102046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SIX GLOBAL CHALLENGES"/>
          <p:cNvSpPr txBox="1"/>
          <p:nvPr/>
        </p:nvSpPr>
        <p:spPr>
          <a:xfrm>
            <a:off x="81618" y="829799"/>
            <a:ext cx="12028765" cy="1111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099" rIns="38099">
            <a:spAutoFit/>
          </a:bodyPr>
          <a:lstStyle/>
          <a:p>
            <a:pPr algn="ctr">
              <a:lnSpc>
                <a:spcPct val="90000"/>
              </a:lnSpc>
              <a:defRPr sz="4400">
                <a:latin typeface="Aptos Display"/>
                <a:ea typeface="Aptos Display"/>
                <a:cs typeface="Aptos Display"/>
                <a:sym typeface="Aptos Display"/>
              </a:defRPr>
            </a:pPr>
            <a:endParaRPr sz="3667"/>
          </a:p>
          <a:p>
            <a:pPr algn="ctr">
              <a:lnSpc>
                <a:spcPct val="90000"/>
              </a:lnSpc>
              <a:defRPr sz="4400">
                <a:latin typeface="Aptos Display"/>
                <a:ea typeface="Aptos Display"/>
                <a:cs typeface="Aptos Display"/>
                <a:sym typeface="Aptos Display"/>
              </a:defRPr>
            </a:pPr>
            <a:r>
              <a:rPr sz="3667"/>
              <a:t>SIX </a:t>
            </a:r>
            <a:r>
              <a:rPr sz="3667" b="1"/>
              <a:t>GLOBAL CHALLENGES</a:t>
            </a:r>
          </a:p>
        </p:txBody>
      </p:sp>
      <p:sp>
        <p:nvSpPr>
          <p:cNvPr id="1371" name="Climate Change…"/>
          <p:cNvSpPr txBox="1"/>
          <p:nvPr/>
        </p:nvSpPr>
        <p:spPr>
          <a:xfrm>
            <a:off x="3608724" y="2227434"/>
            <a:ext cx="3719478" cy="32084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099" rIns="38099">
            <a:spAutoFit/>
          </a:bodyPr>
          <a:lstStyle/>
          <a:p>
            <a:pPr marL="380985" indent="-264573" defTabSz="380985">
              <a:spcBef>
                <a:spcPts val="1333"/>
              </a:spcBef>
              <a:buSzPct val="100000"/>
              <a:buFont typeface="Helvetica"/>
              <a:buAutoNum type="arabicPeriod"/>
              <a:defRPr sz="2966">
                <a:latin typeface="+mj-lt"/>
                <a:ea typeface="+mj-ea"/>
                <a:cs typeface="+mj-cs"/>
                <a:sym typeface="Helvetica"/>
              </a:defRPr>
            </a:pPr>
            <a:r>
              <a:rPr sz="2472"/>
              <a:t> Climate Change</a:t>
            </a:r>
          </a:p>
          <a:p>
            <a:pPr marL="380985" indent="-264573" defTabSz="380985">
              <a:spcBef>
                <a:spcPts val="1333"/>
              </a:spcBef>
              <a:buSzPct val="100000"/>
              <a:buFont typeface="Helvetica"/>
              <a:buAutoNum type="arabicPeriod"/>
              <a:defRPr sz="2966">
                <a:latin typeface="+mj-lt"/>
                <a:ea typeface="+mj-ea"/>
                <a:cs typeface="+mj-cs"/>
                <a:sym typeface="Helvetica"/>
              </a:defRPr>
            </a:pPr>
            <a:r>
              <a:rPr sz="2472"/>
              <a:t> Renewable Energy</a:t>
            </a:r>
          </a:p>
          <a:p>
            <a:pPr marL="380985" indent="-264573" defTabSz="380985">
              <a:spcBef>
                <a:spcPts val="1333"/>
              </a:spcBef>
              <a:buSzPct val="100000"/>
              <a:buFont typeface="Helvetica"/>
              <a:buAutoNum type="arabicPeriod"/>
              <a:defRPr sz="2966">
                <a:latin typeface="+mj-lt"/>
                <a:ea typeface="+mj-ea"/>
                <a:cs typeface="+mj-cs"/>
                <a:sym typeface="Helvetica"/>
              </a:defRPr>
            </a:pPr>
            <a:r>
              <a:rPr sz="2472"/>
              <a:t> Public Health Pandemics</a:t>
            </a:r>
          </a:p>
          <a:p>
            <a:pPr marL="380985" indent="-264573" defTabSz="380985">
              <a:spcBef>
                <a:spcPts val="1333"/>
              </a:spcBef>
              <a:buSzPct val="100000"/>
              <a:buFont typeface="Helvetica"/>
              <a:buAutoNum type="arabicPeriod"/>
              <a:defRPr sz="2966">
                <a:latin typeface="+mj-lt"/>
                <a:ea typeface="+mj-ea"/>
                <a:cs typeface="+mj-cs"/>
                <a:sym typeface="Helvetica"/>
              </a:defRPr>
            </a:pPr>
            <a:r>
              <a:rPr sz="2472"/>
              <a:t> Poverty and Inequality</a:t>
            </a:r>
          </a:p>
          <a:p>
            <a:pPr marL="380985" indent="-264573" defTabSz="380985">
              <a:spcBef>
                <a:spcPts val="1333"/>
              </a:spcBef>
              <a:buSzPct val="100000"/>
              <a:buFont typeface="Helvetica"/>
              <a:buAutoNum type="arabicPeriod"/>
              <a:defRPr sz="2966">
                <a:latin typeface="+mj-lt"/>
                <a:ea typeface="+mj-ea"/>
                <a:cs typeface="+mj-cs"/>
                <a:sym typeface="Helvetica"/>
              </a:defRPr>
            </a:pPr>
            <a:r>
              <a:rPr sz="2472"/>
              <a:t> Educational Access</a:t>
            </a:r>
          </a:p>
          <a:p>
            <a:pPr marL="380985" indent="-264573" defTabSz="380985">
              <a:spcBef>
                <a:spcPts val="1333"/>
              </a:spcBef>
              <a:buSzPct val="100000"/>
              <a:buFont typeface="Helvetica"/>
              <a:buAutoNum type="arabicPeriod"/>
              <a:defRPr sz="2966">
                <a:latin typeface="+mj-lt"/>
                <a:ea typeface="+mj-ea"/>
                <a:cs typeface="+mj-cs"/>
                <a:sym typeface="Helvetica"/>
              </a:defRPr>
            </a:pPr>
            <a:r>
              <a:rPr sz="2472"/>
              <a:t> Digital Privacy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065880-D875-0BD6-F6A6-877CED4C062A}"/>
              </a:ext>
            </a:extLst>
          </p:cNvPr>
          <p:cNvSpPr txBox="1"/>
          <p:nvPr/>
        </p:nvSpPr>
        <p:spPr>
          <a:xfrm>
            <a:off x="147329" y="185564"/>
            <a:ext cx="4921451" cy="2872259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 dirty="0">
                <a:highlight>
                  <a:srgbClr val="FFFF00"/>
                </a:highlight>
              </a:rPr>
              <a:t>EXPAND THIS SLIDE and add more to include: </a:t>
            </a:r>
            <a:endParaRPr lang="en-US" sz="1500" dirty="0"/>
          </a:p>
          <a:p>
            <a:pPr algn="ctr"/>
            <a:endParaRPr lang="en-US" sz="2833" b="1" dirty="0">
              <a:highlight>
                <a:srgbClr val="FFFF00"/>
              </a:highlight>
            </a:endParaRPr>
          </a:p>
          <a:p>
            <a:pPr algn="ctr"/>
            <a:r>
              <a:rPr lang="en-US" sz="2000" dirty="0">
                <a:highlight>
                  <a:srgbClr val="FFFF00"/>
                </a:highlight>
                <a:ea typeface="+mn-lt"/>
                <a:cs typeface="+mn-lt"/>
              </a:rPr>
              <a:t>Introduce/display the six topic domains (see </a:t>
            </a:r>
            <a:r>
              <a:rPr lang="en-US" sz="2000">
                <a:highlight>
                  <a:srgbClr val="FFFF00"/>
                </a:highlight>
                <a:ea typeface="+mn-lt"/>
                <a:cs typeface="+mn-lt"/>
              </a:rPr>
              <a:t>the pink blue table below ) and Global Top 10 challenges. </a:t>
            </a:r>
            <a:r>
              <a:rPr lang="en-US" sz="2833" b="1" dirty="0">
                <a:highlight>
                  <a:srgbClr val="FFFF00"/>
                </a:highlight>
              </a:rPr>
              <a:t>​</a:t>
            </a:r>
            <a:endParaRPr lang="en-US" sz="1500" dirty="0"/>
          </a:p>
          <a:p>
            <a:pPr algn="ctr"/>
            <a:endParaRPr lang="en-US" sz="2833" b="1">
              <a:highlight>
                <a:srgbClr val="FFFF00"/>
              </a:highlight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61C251-D6D1-D81D-072C-3FEADF3DD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21" y="4038671"/>
            <a:ext cx="6482258" cy="2818773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What it’s about:…"/>
          <p:cNvSpPr txBox="1"/>
          <p:nvPr/>
        </p:nvSpPr>
        <p:spPr>
          <a:xfrm>
            <a:off x="812929" y="2106633"/>
            <a:ext cx="10566143" cy="43195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099" rIns="38099">
            <a:spAutoFit/>
          </a:bodyPr>
          <a:lstStyle/>
          <a:p>
            <a:pPr defTabSz="380985">
              <a:spcBef>
                <a:spcPts val="1333"/>
              </a:spcBef>
              <a:defRPr sz="2533">
                <a:latin typeface="+mj-lt"/>
                <a:ea typeface="+mj-ea"/>
                <a:cs typeface="+mj-cs"/>
                <a:sym typeface="Helvetica"/>
              </a:defRPr>
            </a:pPr>
            <a:r>
              <a:rPr sz="2111" b="1"/>
              <a:t>What it’s about:</a:t>
            </a:r>
            <a:r>
              <a:rPr sz="2111"/>
              <a:t> </a:t>
            </a:r>
          </a:p>
          <a:p>
            <a:pPr defTabSz="380985">
              <a:spcBef>
                <a:spcPts val="1333"/>
              </a:spcBef>
              <a:defRPr sz="2533">
                <a:latin typeface="+mj-lt"/>
                <a:ea typeface="+mj-ea"/>
                <a:cs typeface="+mj-cs"/>
                <a:sym typeface="Helvetica"/>
              </a:defRPr>
            </a:pPr>
            <a:r>
              <a:rPr sz="2111"/>
              <a:t>The Earth’s temperature is rising due to human activities, mainly burning fossil fuels, which leads to extreme weather, rising sea levels, and ecosystem disruptions. </a:t>
            </a:r>
          </a:p>
          <a:p>
            <a:pPr defTabSz="380985">
              <a:spcBef>
                <a:spcPts val="1333"/>
              </a:spcBef>
              <a:defRPr sz="1133">
                <a:latin typeface="+mj-lt"/>
                <a:ea typeface="+mj-ea"/>
                <a:cs typeface="+mj-cs"/>
                <a:sym typeface="Helvetica"/>
              </a:defRPr>
            </a:pPr>
            <a:endParaRPr sz="944"/>
          </a:p>
          <a:p>
            <a:pPr defTabSz="380985">
              <a:spcBef>
                <a:spcPts val="1333"/>
              </a:spcBef>
              <a:defRPr sz="2533">
                <a:latin typeface="+mj-lt"/>
                <a:ea typeface="+mj-ea"/>
                <a:cs typeface="+mj-cs"/>
                <a:sym typeface="Helvetica"/>
              </a:defRPr>
            </a:pPr>
            <a:r>
              <a:rPr sz="2111" b="1"/>
              <a:t>Key Facts:</a:t>
            </a:r>
            <a:endParaRPr sz="2111">
              <a:latin typeface="Times Roman"/>
              <a:ea typeface="Times Roman"/>
              <a:cs typeface="Times Roman"/>
              <a:sym typeface="Times Roman"/>
            </a:endParaRPr>
          </a:p>
          <a:p>
            <a:pPr marL="380985" indent="-264573" defTabSz="380985">
              <a:buSzPct val="100000"/>
              <a:buFont typeface="Helvetica"/>
              <a:buChar char="•"/>
              <a:defRPr sz="2533">
                <a:latin typeface="+mj-lt"/>
                <a:ea typeface="+mj-ea"/>
                <a:cs typeface="+mj-cs"/>
                <a:sym typeface="Helvetica"/>
              </a:defRPr>
            </a:pPr>
            <a:r>
              <a:rPr sz="2111"/>
              <a:t>The global average temperature has already increased by </a:t>
            </a:r>
            <a:r>
              <a:rPr sz="2111" b="1"/>
              <a:t>1.1°C (2°F)</a:t>
            </a:r>
            <a:r>
              <a:rPr sz="2111"/>
              <a:t> since the late 1800s (NASA, 2024).</a:t>
            </a:r>
            <a:endParaRPr sz="2111">
              <a:latin typeface="Arial"/>
              <a:ea typeface="Arial"/>
              <a:cs typeface="Arial"/>
              <a:sym typeface="Arial"/>
            </a:endParaRPr>
          </a:p>
          <a:p>
            <a:pPr marL="380985" indent="-264573" defTabSz="380985">
              <a:spcBef>
                <a:spcPts val="1333"/>
              </a:spcBef>
              <a:buSzPct val="100000"/>
              <a:buFont typeface="Helvetica"/>
              <a:buChar char="•"/>
              <a:defRPr sz="2533">
                <a:latin typeface="+mj-lt"/>
                <a:ea typeface="+mj-ea"/>
                <a:cs typeface="+mj-cs"/>
                <a:sym typeface="Helvetica"/>
              </a:defRPr>
            </a:pPr>
            <a:r>
              <a:rPr sz="2111" b="1"/>
              <a:t>2023 was the hottest year on record</a:t>
            </a:r>
            <a:r>
              <a:rPr sz="2111"/>
              <a:t>, with ocean temperatures hitting record highs (Copernicus Climate Change Service, 2024).</a:t>
            </a:r>
          </a:p>
          <a:p>
            <a:pPr marL="380985" indent="-264573" defTabSz="380985">
              <a:spcBef>
                <a:spcPts val="1333"/>
              </a:spcBef>
              <a:buSzPct val="100000"/>
              <a:buFont typeface="Helvetica"/>
              <a:buChar char="•"/>
              <a:defRPr sz="2533">
                <a:latin typeface="+mj-lt"/>
                <a:ea typeface="+mj-ea"/>
                <a:cs typeface="+mj-cs"/>
                <a:sym typeface="Helvetica"/>
              </a:defRPr>
            </a:pPr>
            <a:r>
              <a:rPr sz="2111"/>
              <a:t>By 2050, </a:t>
            </a:r>
            <a:r>
              <a:rPr sz="2111" b="1"/>
              <a:t>over 1.2 billion people could be displaced</a:t>
            </a:r>
            <a:r>
              <a:rPr sz="2111"/>
              <a:t> by climate-related hazards like flooding, extreme heat, and droughts (Institute for Economics and Peace, 2020).</a:t>
            </a:r>
          </a:p>
        </p:txBody>
      </p:sp>
      <p:sp>
        <p:nvSpPr>
          <p:cNvPr id="1374" name="Climate Change"/>
          <p:cNvSpPr txBox="1"/>
          <p:nvPr/>
        </p:nvSpPr>
        <p:spPr>
          <a:xfrm>
            <a:off x="4053118" y="913607"/>
            <a:ext cx="3529810" cy="733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099" rIns="38099">
            <a:spAutoFit/>
          </a:bodyPr>
          <a:lstStyle>
            <a:lvl1pPr defTabSz="457200">
              <a:spcBef>
                <a:spcPts val="1600"/>
              </a:spcBef>
              <a:defRPr sz="5000" b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/>
            </a:pPr>
            <a:r>
              <a:rPr sz="4167"/>
              <a:t>Climate Change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B6DAC3-549F-6820-9E2D-B3E5E7C4AFF8}"/>
              </a:ext>
            </a:extLst>
          </p:cNvPr>
          <p:cNvSpPr txBox="1"/>
          <p:nvPr/>
        </p:nvSpPr>
        <p:spPr>
          <a:xfrm>
            <a:off x="166742" y="185564"/>
            <a:ext cx="2048178" cy="2256706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 dirty="0">
                <a:highlight>
                  <a:srgbClr val="FFFF00"/>
                </a:highlight>
              </a:rPr>
              <a:t>Update with more relat</a:t>
            </a:r>
            <a:r>
              <a:rPr lang="en-US" sz="2833" b="1">
                <a:highlight>
                  <a:srgbClr val="FFFF00"/>
                </a:highlight>
              </a:rPr>
              <a:t>able examples</a:t>
            </a:r>
          </a:p>
          <a:p>
            <a:pPr algn="ctr"/>
            <a:endParaRPr lang="en-US" sz="2833" b="1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What it’s about:…"/>
          <p:cNvSpPr txBox="1"/>
          <p:nvPr/>
        </p:nvSpPr>
        <p:spPr>
          <a:xfrm>
            <a:off x="812929" y="2106633"/>
            <a:ext cx="10566143" cy="4016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099" rIns="38099">
            <a:spAutoFit/>
          </a:bodyPr>
          <a:lstStyle/>
          <a:p>
            <a:pPr defTabSz="380985">
              <a:spcBef>
                <a:spcPts val="1333"/>
              </a:spcBef>
              <a:defRPr sz="2533">
                <a:latin typeface="+mj-lt"/>
                <a:ea typeface="+mj-ea"/>
                <a:cs typeface="+mj-cs"/>
                <a:sym typeface="Helvetica"/>
              </a:defRPr>
            </a:pPr>
            <a:r>
              <a:rPr sz="2111" b="1"/>
              <a:t>What it’s about:</a:t>
            </a:r>
            <a:r>
              <a:rPr sz="2111"/>
              <a:t> </a:t>
            </a:r>
          </a:p>
          <a:p>
            <a:pPr defTabSz="380985">
              <a:spcBef>
                <a:spcPts val="1333"/>
              </a:spcBef>
              <a:defRPr sz="2533">
                <a:latin typeface="+mj-lt"/>
                <a:ea typeface="+mj-ea"/>
                <a:cs typeface="+mj-cs"/>
                <a:sym typeface="Helvetica"/>
              </a:defRPr>
            </a:pPr>
            <a:r>
              <a:rPr sz="2111"/>
              <a:t>To fight climate change and reduce pollution, we need to shift from fossil fuels to cleaner energy sources like solar, wind, and hydro.</a:t>
            </a:r>
          </a:p>
          <a:p>
            <a:pPr defTabSz="380985">
              <a:spcBef>
                <a:spcPts val="1333"/>
              </a:spcBef>
              <a:defRPr sz="2533">
                <a:latin typeface="+mj-lt"/>
                <a:ea typeface="+mj-ea"/>
                <a:cs typeface="+mj-cs"/>
                <a:sym typeface="Helvetica"/>
              </a:defRPr>
            </a:pPr>
            <a:endParaRPr sz="2111"/>
          </a:p>
          <a:p>
            <a:pPr defTabSz="380985">
              <a:spcBef>
                <a:spcPts val="1333"/>
              </a:spcBef>
              <a:defRPr sz="2533">
                <a:latin typeface="+mj-lt"/>
                <a:ea typeface="+mj-ea"/>
                <a:cs typeface="+mj-cs"/>
                <a:sym typeface="Helvetica"/>
              </a:defRPr>
            </a:pPr>
            <a:r>
              <a:rPr sz="2111" b="1"/>
              <a:t>Key Facts:</a:t>
            </a:r>
            <a:endParaRPr sz="2111">
              <a:latin typeface="Times Roman"/>
              <a:ea typeface="Times Roman"/>
              <a:cs typeface="Times Roman"/>
              <a:sym typeface="Times Roman"/>
            </a:endParaRPr>
          </a:p>
          <a:p>
            <a:pPr marL="211658" indent="-211658" defTabSz="380985">
              <a:spcBef>
                <a:spcPts val="1333"/>
              </a:spcBef>
              <a:buSzPct val="100000"/>
              <a:buChar char="•"/>
              <a:defRPr sz="2533">
                <a:latin typeface="+mj-lt"/>
                <a:ea typeface="+mj-ea"/>
                <a:cs typeface="+mj-cs"/>
                <a:sym typeface="Helvetica"/>
              </a:defRPr>
            </a:pPr>
            <a:r>
              <a:rPr sz="2111"/>
              <a:t>In 2023, </a:t>
            </a:r>
            <a:r>
              <a:rPr sz="2111" b="1"/>
              <a:t>30% of global electricity</a:t>
            </a:r>
            <a:r>
              <a:rPr sz="2111"/>
              <a:t> came from renewable sources (IEA).</a:t>
            </a:r>
          </a:p>
          <a:p>
            <a:pPr marL="211658" indent="-211658" defTabSz="380985">
              <a:spcBef>
                <a:spcPts val="1333"/>
              </a:spcBef>
              <a:buSzPct val="100000"/>
              <a:buChar char="•"/>
              <a:defRPr sz="2533">
                <a:latin typeface="+mj-lt"/>
                <a:ea typeface="+mj-ea"/>
                <a:cs typeface="+mj-cs"/>
                <a:sym typeface="Helvetica"/>
              </a:defRPr>
            </a:pPr>
            <a:r>
              <a:rPr sz="2111"/>
              <a:t>Solar power is now </a:t>
            </a:r>
            <a:r>
              <a:rPr sz="2111" b="1"/>
              <a:t>cheaper than coal</a:t>
            </a:r>
            <a:r>
              <a:rPr sz="2111"/>
              <a:t> in many countries (BloombergNEF, 2023).</a:t>
            </a:r>
          </a:p>
          <a:p>
            <a:pPr marL="211658" indent="-211658" defTabSz="380985">
              <a:spcBef>
                <a:spcPts val="1333"/>
              </a:spcBef>
              <a:buSzPct val="100000"/>
              <a:buChar char="•"/>
              <a:defRPr sz="2533">
                <a:latin typeface="+mj-lt"/>
                <a:ea typeface="+mj-ea"/>
                <a:cs typeface="+mj-cs"/>
                <a:sym typeface="Helvetica"/>
              </a:defRPr>
            </a:pPr>
            <a:r>
              <a:rPr sz="2111"/>
              <a:t>In 2023, China added </a:t>
            </a:r>
            <a:r>
              <a:rPr sz="2111" b="1"/>
              <a:t>more solar capacity than the rest of the world combined</a:t>
            </a:r>
            <a:r>
              <a:rPr sz="2111"/>
              <a:t>, installing over 230 gigawatts - more than enough to power all of France (International Energy Agency, 2024).</a:t>
            </a:r>
          </a:p>
        </p:txBody>
      </p:sp>
      <p:sp>
        <p:nvSpPr>
          <p:cNvPr id="1377" name="Renewable Energy"/>
          <p:cNvSpPr txBox="1"/>
          <p:nvPr/>
        </p:nvSpPr>
        <p:spPr>
          <a:xfrm>
            <a:off x="3709725" y="1032214"/>
            <a:ext cx="4058738" cy="733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099" rIns="38099">
            <a:spAutoFit/>
          </a:bodyPr>
          <a:lstStyle>
            <a:lvl1pPr defTabSz="457200">
              <a:spcBef>
                <a:spcPts val="1600"/>
              </a:spcBef>
              <a:defRPr sz="5000" b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/>
            </a:pPr>
            <a:r>
              <a:rPr sz="4167"/>
              <a:t>Renewable Energy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FDAFF6-6D17-5B30-8236-EB5CC42BAE54}"/>
              </a:ext>
            </a:extLst>
          </p:cNvPr>
          <p:cNvSpPr txBox="1"/>
          <p:nvPr/>
        </p:nvSpPr>
        <p:spPr>
          <a:xfrm>
            <a:off x="166742" y="185564"/>
            <a:ext cx="2048178" cy="2256706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 dirty="0">
                <a:highlight>
                  <a:srgbClr val="FFFF00"/>
                </a:highlight>
              </a:rPr>
              <a:t>Update with more relat</a:t>
            </a:r>
            <a:r>
              <a:rPr lang="en-US" sz="2833" b="1">
                <a:highlight>
                  <a:srgbClr val="FFFF00"/>
                </a:highlight>
              </a:rPr>
              <a:t>able examples</a:t>
            </a:r>
          </a:p>
          <a:p>
            <a:pPr algn="ctr"/>
            <a:endParaRPr lang="en-US" sz="2833" b="1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What it’s about:…"/>
          <p:cNvSpPr txBox="1"/>
          <p:nvPr/>
        </p:nvSpPr>
        <p:spPr>
          <a:xfrm>
            <a:off x="812929" y="2106633"/>
            <a:ext cx="10566143" cy="4187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099" rIns="38099">
            <a:spAutoFit/>
          </a:bodyPr>
          <a:lstStyle/>
          <a:p>
            <a:pPr defTabSz="380985">
              <a:spcBef>
                <a:spcPts val="1333"/>
              </a:spcBef>
              <a:defRPr sz="2533">
                <a:latin typeface="+mj-lt"/>
                <a:ea typeface="+mj-ea"/>
                <a:cs typeface="+mj-cs"/>
                <a:sym typeface="Helvetica"/>
              </a:defRPr>
            </a:pPr>
            <a:r>
              <a:rPr sz="2111" b="1"/>
              <a:t>What it’s about:</a:t>
            </a:r>
            <a:r>
              <a:rPr sz="2111"/>
              <a:t> </a:t>
            </a:r>
          </a:p>
          <a:p>
            <a:pPr defTabSz="380985">
              <a:spcBef>
                <a:spcPts val="1333"/>
              </a:spcBef>
              <a:defRPr sz="2533">
                <a:latin typeface="+mj-lt"/>
                <a:ea typeface="+mj-ea"/>
                <a:cs typeface="+mj-cs"/>
                <a:sym typeface="Helvetica"/>
              </a:defRPr>
            </a:pPr>
            <a:r>
              <a:rPr sz="2111"/>
              <a:t>Diseases that spread quickly across populations, like COVID-19, can disrupt societies, economies, and healthcare systems on a global scale.</a:t>
            </a:r>
          </a:p>
          <a:p>
            <a:pPr defTabSz="380985">
              <a:spcBef>
                <a:spcPts val="1333"/>
              </a:spcBef>
              <a:defRPr sz="1333">
                <a:latin typeface="+mj-lt"/>
                <a:ea typeface="+mj-ea"/>
                <a:cs typeface="+mj-cs"/>
                <a:sym typeface="Helvetica"/>
              </a:defRPr>
            </a:pPr>
            <a:endParaRPr sz="1111"/>
          </a:p>
          <a:p>
            <a:pPr defTabSz="380985">
              <a:spcBef>
                <a:spcPts val="1333"/>
              </a:spcBef>
              <a:defRPr sz="2533">
                <a:latin typeface="+mj-lt"/>
                <a:ea typeface="+mj-ea"/>
                <a:cs typeface="+mj-cs"/>
                <a:sym typeface="Helvetica"/>
              </a:defRPr>
            </a:pPr>
            <a:r>
              <a:rPr sz="2111" b="1"/>
              <a:t>Key Facts:</a:t>
            </a:r>
            <a:endParaRPr sz="2111">
              <a:latin typeface="Times Roman"/>
              <a:ea typeface="Times Roman"/>
              <a:cs typeface="Times Roman"/>
              <a:sym typeface="Times Roman"/>
            </a:endParaRPr>
          </a:p>
          <a:p>
            <a:pPr marL="211658" indent="-211658" defTabSz="380985">
              <a:spcBef>
                <a:spcPts val="1333"/>
              </a:spcBef>
              <a:buSzPct val="100000"/>
              <a:buChar char="•"/>
              <a:defRPr sz="2533">
                <a:latin typeface="+mj-lt"/>
                <a:ea typeface="+mj-ea"/>
                <a:cs typeface="+mj-cs"/>
                <a:sym typeface="Helvetica"/>
              </a:defRPr>
            </a:pPr>
            <a:r>
              <a:rPr sz="2111"/>
              <a:t>COVID-19 led to over </a:t>
            </a:r>
            <a:r>
              <a:rPr sz="2111" b="1"/>
              <a:t>770 million confirmed cases</a:t>
            </a:r>
            <a:r>
              <a:rPr sz="2111"/>
              <a:t> globally by 2024 (WHO).</a:t>
            </a:r>
          </a:p>
          <a:p>
            <a:pPr marL="211658" indent="-211658" defTabSz="380985">
              <a:spcBef>
                <a:spcPts val="1333"/>
              </a:spcBef>
              <a:buSzPct val="100000"/>
              <a:buChar char="•"/>
              <a:defRPr sz="2533">
                <a:latin typeface="+mj-lt"/>
                <a:ea typeface="+mj-ea"/>
                <a:cs typeface="+mj-cs"/>
                <a:sym typeface="Helvetica"/>
              </a:defRPr>
            </a:pPr>
            <a:r>
              <a:rPr sz="2111"/>
              <a:t>Global vaccine distribution exposed </a:t>
            </a:r>
            <a:r>
              <a:rPr sz="2111" b="1"/>
              <a:t>serious inequalities</a:t>
            </a:r>
            <a:r>
              <a:rPr sz="2111"/>
              <a:t>: only 26% of people in low-income countries received at least one vaccine dose by late 2022 (Our World in Data).</a:t>
            </a:r>
          </a:p>
          <a:p>
            <a:pPr marL="211658" indent="-211658" defTabSz="380985">
              <a:spcBef>
                <a:spcPts val="1333"/>
              </a:spcBef>
              <a:buSzPct val="100000"/>
              <a:buChar char="•"/>
              <a:defRPr sz="2533">
                <a:latin typeface="+mj-lt"/>
                <a:ea typeface="+mj-ea"/>
                <a:cs typeface="+mj-cs"/>
                <a:sym typeface="Helvetica"/>
              </a:defRPr>
            </a:pPr>
            <a:r>
              <a:rPr sz="2111"/>
              <a:t>In early 2020, China built two emergency hospitals in Wuhan </a:t>
            </a:r>
            <a:r>
              <a:rPr sz="2111" b="1"/>
              <a:t>in under 10 days</a:t>
            </a:r>
            <a:r>
              <a:rPr sz="2111"/>
              <a:t>, showcasing high-speed infrastructure deployment during health crises (BBC News, 2020).</a:t>
            </a:r>
          </a:p>
        </p:txBody>
      </p:sp>
      <p:sp>
        <p:nvSpPr>
          <p:cNvPr id="1380" name="Public Health Pandemics"/>
          <p:cNvSpPr txBox="1"/>
          <p:nvPr/>
        </p:nvSpPr>
        <p:spPr>
          <a:xfrm>
            <a:off x="2979475" y="1012384"/>
            <a:ext cx="5460917" cy="733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099" rIns="38099">
            <a:spAutoFit/>
          </a:bodyPr>
          <a:lstStyle>
            <a:lvl1pPr defTabSz="457200">
              <a:spcBef>
                <a:spcPts val="1600"/>
              </a:spcBef>
              <a:defRPr sz="5000" b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/>
            </a:pPr>
            <a:r>
              <a:rPr sz="4167"/>
              <a:t>Public Health Pandemics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BE611D-6D3A-DE91-3373-DA3BA832A10E}"/>
              </a:ext>
            </a:extLst>
          </p:cNvPr>
          <p:cNvSpPr txBox="1"/>
          <p:nvPr/>
        </p:nvSpPr>
        <p:spPr>
          <a:xfrm>
            <a:off x="166742" y="185564"/>
            <a:ext cx="2048178" cy="2256706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 dirty="0">
                <a:highlight>
                  <a:srgbClr val="FFFF00"/>
                </a:highlight>
              </a:rPr>
              <a:t>Update with more relat</a:t>
            </a:r>
            <a:r>
              <a:rPr lang="en-US" sz="2833" b="1">
                <a:highlight>
                  <a:srgbClr val="FFFF00"/>
                </a:highlight>
              </a:rPr>
              <a:t>able examples</a:t>
            </a:r>
          </a:p>
          <a:p>
            <a:pPr algn="ctr"/>
            <a:endParaRPr lang="en-US" sz="2833" b="1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What it’s about:…"/>
          <p:cNvSpPr txBox="1"/>
          <p:nvPr/>
        </p:nvSpPr>
        <p:spPr>
          <a:xfrm>
            <a:off x="812929" y="2106633"/>
            <a:ext cx="10566143" cy="40716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099" rIns="38099">
            <a:spAutoFit/>
          </a:bodyPr>
          <a:lstStyle/>
          <a:p>
            <a:pPr defTabSz="380985">
              <a:spcBef>
                <a:spcPts val="1333"/>
              </a:spcBef>
              <a:defRPr sz="2533">
                <a:latin typeface="+mj-lt"/>
                <a:ea typeface="+mj-ea"/>
                <a:cs typeface="+mj-cs"/>
                <a:sym typeface="Helvetica"/>
              </a:defRPr>
            </a:pPr>
            <a:r>
              <a:rPr sz="2111" b="1"/>
              <a:t>What it’s about:</a:t>
            </a:r>
            <a:r>
              <a:rPr sz="2111"/>
              <a:t> </a:t>
            </a:r>
          </a:p>
          <a:p>
            <a:pPr defTabSz="380985">
              <a:spcBef>
                <a:spcPts val="1333"/>
              </a:spcBef>
              <a:defRPr sz="2533">
                <a:latin typeface="+mj-lt"/>
                <a:ea typeface="+mj-ea"/>
                <a:cs typeface="+mj-cs"/>
                <a:sym typeface="Helvetica"/>
              </a:defRPr>
            </a:pPr>
            <a:r>
              <a:rPr sz="2111"/>
              <a:t>Not everyone has equal access to basic needs like food, shelter, education, and opportunity; this gap limits both individual lives and entire communities.</a:t>
            </a:r>
          </a:p>
          <a:p>
            <a:pPr defTabSz="380985">
              <a:spcBef>
                <a:spcPts val="1333"/>
              </a:spcBef>
              <a:defRPr sz="433">
                <a:latin typeface="+mj-lt"/>
                <a:ea typeface="+mj-ea"/>
                <a:cs typeface="+mj-cs"/>
                <a:sym typeface="Helvetica"/>
              </a:defRPr>
            </a:pPr>
            <a:endParaRPr sz="361"/>
          </a:p>
          <a:p>
            <a:pPr defTabSz="380985">
              <a:spcBef>
                <a:spcPts val="1333"/>
              </a:spcBef>
              <a:defRPr sz="2533">
                <a:latin typeface="+mj-lt"/>
                <a:ea typeface="+mj-ea"/>
                <a:cs typeface="+mj-cs"/>
                <a:sym typeface="Helvetica"/>
              </a:defRPr>
            </a:pPr>
            <a:r>
              <a:rPr sz="2111" b="1"/>
              <a:t>Key Facts:</a:t>
            </a:r>
            <a:endParaRPr sz="2111">
              <a:latin typeface="Times Roman"/>
              <a:ea typeface="Times Roman"/>
              <a:cs typeface="Times Roman"/>
              <a:sym typeface="Times Roman"/>
            </a:endParaRPr>
          </a:p>
          <a:p>
            <a:pPr marL="211658" indent="-211658" defTabSz="380985">
              <a:spcBef>
                <a:spcPts val="1333"/>
              </a:spcBef>
              <a:buSzPct val="100000"/>
              <a:buChar char="•"/>
              <a:defRPr sz="2533">
                <a:latin typeface="+mj-lt"/>
                <a:ea typeface="+mj-ea"/>
                <a:cs typeface="+mj-cs"/>
                <a:sym typeface="Helvetica"/>
              </a:defRPr>
            </a:pPr>
            <a:r>
              <a:rPr sz="2111"/>
              <a:t>Over</a:t>
            </a:r>
            <a:r>
              <a:rPr sz="2111" b="1"/>
              <a:t> 700 million people</a:t>
            </a:r>
            <a:r>
              <a:rPr sz="2111"/>
              <a:t>—about 1 in 11 globally—live on</a:t>
            </a:r>
            <a:r>
              <a:rPr sz="2111" b="1"/>
              <a:t> less than $2.15 a day</a:t>
            </a:r>
            <a:r>
              <a:rPr sz="2111"/>
              <a:t> (World Bank, 2024).</a:t>
            </a:r>
          </a:p>
          <a:p>
            <a:pPr marL="211658" indent="-211658" defTabSz="380985">
              <a:spcBef>
                <a:spcPts val="1333"/>
              </a:spcBef>
              <a:buSzPct val="100000"/>
              <a:buChar char="•"/>
              <a:defRPr sz="2533">
                <a:latin typeface="+mj-lt"/>
                <a:ea typeface="+mj-ea"/>
                <a:cs typeface="+mj-cs"/>
                <a:sym typeface="Helvetica"/>
              </a:defRPr>
            </a:pPr>
            <a:r>
              <a:rPr sz="2111"/>
              <a:t>The </a:t>
            </a:r>
            <a:r>
              <a:rPr sz="2111" b="1"/>
              <a:t>richest 1% </a:t>
            </a:r>
            <a:r>
              <a:rPr sz="2111"/>
              <a:t>of the world’s population owns almost </a:t>
            </a:r>
            <a:r>
              <a:rPr sz="2111" b="1"/>
              <a:t>half of all global wealth</a:t>
            </a:r>
            <a:r>
              <a:rPr sz="2111"/>
              <a:t> (Oxfam, 2023).</a:t>
            </a:r>
          </a:p>
          <a:p>
            <a:pPr marL="211658" indent="-211658" defTabSz="380985">
              <a:spcBef>
                <a:spcPts val="1333"/>
              </a:spcBef>
              <a:buSzPct val="100000"/>
              <a:buChar char="•"/>
              <a:defRPr sz="2533">
                <a:latin typeface="+mj-lt"/>
                <a:ea typeface="+mj-ea"/>
                <a:cs typeface="+mj-cs"/>
                <a:sym typeface="Helvetica"/>
              </a:defRPr>
            </a:pPr>
            <a:r>
              <a:rPr sz="2111"/>
              <a:t>China’s poverty rate fell from </a:t>
            </a:r>
            <a:r>
              <a:rPr sz="2111" b="1"/>
              <a:t>88% in 1981 to less than 1% in 2020</a:t>
            </a:r>
            <a:r>
              <a:rPr sz="2111"/>
              <a:t>, largely through rural development and targeted subsidies (World Bank, 2021).</a:t>
            </a:r>
          </a:p>
        </p:txBody>
      </p:sp>
      <p:sp>
        <p:nvSpPr>
          <p:cNvPr id="1383" name="Poverty and Inequality"/>
          <p:cNvSpPr txBox="1"/>
          <p:nvPr/>
        </p:nvSpPr>
        <p:spPr>
          <a:xfrm>
            <a:off x="3402808" y="1032214"/>
            <a:ext cx="4789771" cy="733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099" rIns="38099">
            <a:spAutoFit/>
          </a:bodyPr>
          <a:lstStyle>
            <a:lvl1pPr defTabSz="457200">
              <a:spcBef>
                <a:spcPts val="1600"/>
              </a:spcBef>
              <a:defRPr sz="5000" b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/>
            </a:pPr>
            <a:r>
              <a:rPr sz="4167"/>
              <a:t>Poverty and Inequality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606DE8-DB56-552A-3469-764A13BAD561}"/>
              </a:ext>
            </a:extLst>
          </p:cNvPr>
          <p:cNvSpPr txBox="1"/>
          <p:nvPr/>
        </p:nvSpPr>
        <p:spPr>
          <a:xfrm>
            <a:off x="166742" y="185564"/>
            <a:ext cx="2048178" cy="2256706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 dirty="0">
                <a:highlight>
                  <a:srgbClr val="FFFF00"/>
                </a:highlight>
              </a:rPr>
              <a:t>Update with more relat</a:t>
            </a:r>
            <a:r>
              <a:rPr lang="en-US" sz="2833" b="1">
                <a:highlight>
                  <a:srgbClr val="FFFF00"/>
                </a:highlight>
              </a:rPr>
              <a:t>able examples</a:t>
            </a:r>
          </a:p>
          <a:p>
            <a:pPr algn="ctr"/>
            <a:endParaRPr lang="en-US" sz="2833" b="1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What it’s about:…"/>
          <p:cNvSpPr txBox="1"/>
          <p:nvPr/>
        </p:nvSpPr>
        <p:spPr>
          <a:xfrm>
            <a:off x="812929" y="2106633"/>
            <a:ext cx="10566143" cy="34515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099" rIns="38099">
            <a:spAutoFit/>
          </a:bodyPr>
          <a:lstStyle/>
          <a:p>
            <a:pPr defTabSz="380985">
              <a:spcBef>
                <a:spcPts val="1333"/>
              </a:spcBef>
              <a:defRPr sz="2533">
                <a:latin typeface="+mj-lt"/>
                <a:ea typeface="+mj-ea"/>
                <a:cs typeface="+mj-cs"/>
                <a:sym typeface="Helvetica"/>
              </a:defRPr>
            </a:pPr>
            <a:r>
              <a:rPr sz="2111" b="1"/>
              <a:t>What it’s about:</a:t>
            </a:r>
            <a:r>
              <a:rPr sz="2111"/>
              <a:t> </a:t>
            </a:r>
          </a:p>
          <a:p>
            <a:pPr defTabSz="380985">
              <a:spcBef>
                <a:spcPts val="1333"/>
              </a:spcBef>
              <a:defRPr sz="2533">
                <a:latin typeface="+mj-lt"/>
                <a:ea typeface="+mj-ea"/>
                <a:cs typeface="+mj-cs"/>
                <a:sym typeface="Helvetica"/>
              </a:defRPr>
            </a:pPr>
            <a:r>
              <a:rPr sz="2111"/>
              <a:t>Millions of children and teens still don’t have access to quality education.</a:t>
            </a:r>
          </a:p>
          <a:p>
            <a:pPr defTabSz="380985">
              <a:spcBef>
                <a:spcPts val="1333"/>
              </a:spcBef>
              <a:defRPr sz="2533">
                <a:latin typeface="+mj-lt"/>
                <a:ea typeface="+mj-ea"/>
                <a:cs typeface="+mj-cs"/>
                <a:sym typeface="Helvetica"/>
              </a:defRPr>
            </a:pPr>
            <a:endParaRPr sz="2111"/>
          </a:p>
          <a:p>
            <a:pPr defTabSz="380985">
              <a:spcBef>
                <a:spcPts val="1333"/>
              </a:spcBef>
              <a:defRPr sz="2533">
                <a:latin typeface="+mj-lt"/>
                <a:ea typeface="+mj-ea"/>
                <a:cs typeface="+mj-cs"/>
                <a:sym typeface="Helvetica"/>
              </a:defRPr>
            </a:pPr>
            <a:r>
              <a:rPr sz="2111" b="1"/>
              <a:t>Key Facts:</a:t>
            </a:r>
            <a:endParaRPr sz="2111">
              <a:latin typeface="Times Roman"/>
              <a:ea typeface="Times Roman"/>
              <a:cs typeface="Times Roman"/>
              <a:sym typeface="Times Roman"/>
            </a:endParaRPr>
          </a:p>
          <a:p>
            <a:pPr marL="380985" indent="-264573" defTabSz="380985">
              <a:buSzPct val="100000"/>
              <a:buFont typeface="Helvetica"/>
              <a:buChar char="•"/>
              <a:defRPr sz="2433">
                <a:latin typeface="+mj-lt"/>
                <a:ea typeface="+mj-ea"/>
                <a:cs typeface="+mj-cs"/>
                <a:sym typeface="Helvetica"/>
              </a:defRPr>
            </a:pPr>
            <a:r>
              <a:rPr sz="2027" b="1"/>
              <a:t>244 million children and youth</a:t>
            </a:r>
            <a:r>
              <a:rPr sz="2027"/>
              <a:t> are out of school worldwide (UNESCO, 2023).</a:t>
            </a:r>
          </a:p>
          <a:p>
            <a:pPr marL="380985" indent="-264573" defTabSz="380985">
              <a:buSzPct val="100000"/>
              <a:buFont typeface="Helvetica"/>
              <a:buChar char="•"/>
              <a:defRPr sz="2433">
                <a:latin typeface="+mj-lt"/>
                <a:ea typeface="+mj-ea"/>
                <a:cs typeface="+mj-cs"/>
                <a:sym typeface="Helvetica"/>
              </a:defRPr>
            </a:pPr>
            <a:r>
              <a:rPr sz="2027"/>
              <a:t>Girls are </a:t>
            </a:r>
            <a:r>
              <a:rPr sz="2027" b="1"/>
              <a:t>more likely to be excluded</a:t>
            </a:r>
            <a:r>
              <a:rPr sz="2027"/>
              <a:t> from school in low-income countries, especially during crises like war or pandemics.</a:t>
            </a:r>
          </a:p>
          <a:p>
            <a:pPr marL="380985" indent="-264573" defTabSz="380985">
              <a:buSzPct val="100000"/>
              <a:buFont typeface="Helvetica"/>
              <a:buChar char="•"/>
              <a:defRPr sz="2433">
                <a:latin typeface="+mj-lt"/>
                <a:ea typeface="+mj-ea"/>
                <a:cs typeface="+mj-cs"/>
                <a:sym typeface="Helvetica"/>
              </a:defRPr>
            </a:pPr>
            <a:r>
              <a:rPr sz="2027"/>
              <a:t>In Sub-Saharan Africa, 9 out of 10 children are unable to read a simple sentence by age 10 due to poor schooling conditions (UNESCO, 2022).</a:t>
            </a:r>
          </a:p>
        </p:txBody>
      </p:sp>
      <p:sp>
        <p:nvSpPr>
          <p:cNvPr id="1386" name="Educational Access"/>
          <p:cNvSpPr txBox="1"/>
          <p:nvPr/>
        </p:nvSpPr>
        <p:spPr>
          <a:xfrm>
            <a:off x="3296975" y="1012384"/>
            <a:ext cx="4336313" cy="733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099" rIns="38099">
            <a:spAutoFit/>
          </a:bodyPr>
          <a:lstStyle>
            <a:lvl1pPr defTabSz="457200">
              <a:spcBef>
                <a:spcPts val="1600"/>
              </a:spcBef>
              <a:defRPr sz="5000" b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/>
            </a:pPr>
            <a:r>
              <a:rPr sz="4167"/>
              <a:t>Educational Access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4A8E82-CD2C-8D16-E802-470AB0EE3DC1}"/>
              </a:ext>
            </a:extLst>
          </p:cNvPr>
          <p:cNvSpPr txBox="1"/>
          <p:nvPr/>
        </p:nvSpPr>
        <p:spPr>
          <a:xfrm>
            <a:off x="166742" y="185564"/>
            <a:ext cx="2048178" cy="2256706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 dirty="0">
                <a:highlight>
                  <a:srgbClr val="FFFF00"/>
                </a:highlight>
              </a:rPr>
              <a:t>Update with more relat</a:t>
            </a:r>
            <a:r>
              <a:rPr lang="en-US" sz="2833" b="1">
                <a:highlight>
                  <a:srgbClr val="FFFF00"/>
                </a:highlight>
              </a:rPr>
              <a:t>able examples</a:t>
            </a:r>
          </a:p>
          <a:p>
            <a:pPr algn="ctr"/>
            <a:endParaRPr lang="en-US" sz="2833" b="1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What it’s about:…"/>
          <p:cNvSpPr txBox="1"/>
          <p:nvPr/>
        </p:nvSpPr>
        <p:spPr>
          <a:xfrm>
            <a:off x="823513" y="2117216"/>
            <a:ext cx="10566143" cy="3849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099" rIns="38099">
            <a:spAutoFit/>
          </a:bodyPr>
          <a:lstStyle/>
          <a:p>
            <a:pPr defTabSz="380985">
              <a:spcBef>
                <a:spcPts val="1333"/>
              </a:spcBef>
              <a:defRPr sz="2533">
                <a:latin typeface="+mj-lt"/>
                <a:ea typeface="+mj-ea"/>
                <a:cs typeface="+mj-cs"/>
                <a:sym typeface="Helvetica"/>
              </a:defRPr>
            </a:pPr>
            <a:r>
              <a:rPr sz="2111" b="1"/>
              <a:t>What it’s about:</a:t>
            </a:r>
            <a:r>
              <a:rPr sz="2111"/>
              <a:t> </a:t>
            </a:r>
          </a:p>
          <a:p>
            <a:pPr defTabSz="380985">
              <a:spcBef>
                <a:spcPts val="1333"/>
              </a:spcBef>
              <a:defRPr sz="2533">
                <a:latin typeface="+mj-lt"/>
                <a:ea typeface="+mj-ea"/>
                <a:cs typeface="+mj-cs"/>
                <a:sym typeface="Helvetica"/>
              </a:defRPr>
            </a:pPr>
            <a:r>
              <a:rPr sz="2111"/>
              <a:t>As more of our lives happen online, protecting our personal data from being misused by companies, hackers, or even governments is increasingly urgent.</a:t>
            </a:r>
          </a:p>
          <a:p>
            <a:pPr defTabSz="380985">
              <a:spcBef>
                <a:spcPts val="1333"/>
              </a:spcBef>
              <a:defRPr sz="2533">
                <a:latin typeface="+mj-lt"/>
                <a:ea typeface="+mj-ea"/>
                <a:cs typeface="+mj-cs"/>
                <a:sym typeface="Helvetica"/>
              </a:defRPr>
            </a:pPr>
            <a:endParaRPr sz="2111"/>
          </a:p>
          <a:p>
            <a:pPr defTabSz="380985">
              <a:spcBef>
                <a:spcPts val="1333"/>
              </a:spcBef>
              <a:defRPr sz="2533">
                <a:latin typeface="+mj-lt"/>
                <a:ea typeface="+mj-ea"/>
                <a:cs typeface="+mj-cs"/>
                <a:sym typeface="Helvetica"/>
              </a:defRPr>
            </a:pPr>
            <a:r>
              <a:rPr sz="2111" b="1"/>
              <a:t>Key Facts:</a:t>
            </a:r>
            <a:endParaRPr sz="2111">
              <a:latin typeface="Times Roman"/>
              <a:ea typeface="Times Roman"/>
              <a:cs typeface="Times Roman"/>
              <a:sym typeface="Times Roman"/>
            </a:endParaRPr>
          </a:p>
          <a:p>
            <a:pPr marL="211658" indent="-211658" defTabSz="380985">
              <a:spcBef>
                <a:spcPts val="1333"/>
              </a:spcBef>
              <a:buSzPct val="100000"/>
              <a:buChar char="•"/>
              <a:defRPr sz="2533">
                <a:latin typeface="+mj-lt"/>
                <a:ea typeface="+mj-ea"/>
                <a:cs typeface="+mj-cs"/>
                <a:sym typeface="Helvetica"/>
              </a:defRPr>
            </a:pPr>
            <a:r>
              <a:rPr sz="2111"/>
              <a:t>In 2023, </a:t>
            </a:r>
            <a:r>
              <a:rPr sz="2111" b="1"/>
              <a:t>over 7 billion data records</a:t>
            </a:r>
            <a:r>
              <a:rPr sz="2111"/>
              <a:t> were exposed due to breaches (IT Governance).</a:t>
            </a:r>
          </a:p>
          <a:p>
            <a:pPr marL="211658" indent="-211658" defTabSz="380985">
              <a:spcBef>
                <a:spcPts val="1333"/>
              </a:spcBef>
              <a:buSzPct val="100000"/>
              <a:buChar char="•"/>
              <a:defRPr sz="2533">
                <a:latin typeface="+mj-lt"/>
                <a:ea typeface="+mj-ea"/>
                <a:cs typeface="+mj-cs"/>
                <a:sym typeface="Helvetica"/>
              </a:defRPr>
            </a:pPr>
            <a:r>
              <a:rPr sz="2111"/>
              <a:t>Teens are among </a:t>
            </a:r>
            <a:r>
              <a:rPr sz="2111" b="1"/>
              <a:t>the most targeted </a:t>
            </a:r>
            <a:r>
              <a:rPr sz="2111"/>
              <a:t>age groups for scams and tracking via social media and apps (Pew Research, 2023). Yet, a global survey found that over 60% of teens do not understand how their online data is collected, shared or used (Harvard Kennedy School, 2023).</a:t>
            </a:r>
          </a:p>
        </p:txBody>
      </p:sp>
      <p:sp>
        <p:nvSpPr>
          <p:cNvPr id="1389" name="Digital Privacy"/>
          <p:cNvSpPr txBox="1"/>
          <p:nvPr/>
        </p:nvSpPr>
        <p:spPr>
          <a:xfrm>
            <a:off x="3974309" y="1021630"/>
            <a:ext cx="3089818" cy="733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099" rIns="38099">
            <a:spAutoFit/>
          </a:bodyPr>
          <a:lstStyle>
            <a:lvl1pPr defTabSz="457200">
              <a:spcBef>
                <a:spcPts val="1600"/>
              </a:spcBef>
              <a:defRPr sz="5000" b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b="0"/>
            </a:pPr>
            <a:r>
              <a:rPr sz="4167"/>
              <a:t>Digital Privacy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E3E40-432E-9D1F-6B71-78E796D82271}"/>
              </a:ext>
            </a:extLst>
          </p:cNvPr>
          <p:cNvSpPr txBox="1"/>
          <p:nvPr/>
        </p:nvSpPr>
        <p:spPr>
          <a:xfrm>
            <a:off x="166742" y="185564"/>
            <a:ext cx="2048178" cy="2256706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 dirty="0">
                <a:highlight>
                  <a:srgbClr val="FFFF00"/>
                </a:highlight>
              </a:rPr>
              <a:t>Update with more relat</a:t>
            </a:r>
            <a:r>
              <a:rPr lang="en-US" sz="2833" b="1">
                <a:highlight>
                  <a:srgbClr val="FFFF00"/>
                </a:highlight>
              </a:rPr>
              <a:t>able examples</a:t>
            </a:r>
          </a:p>
          <a:p>
            <a:pPr algn="ctr"/>
            <a:endParaRPr lang="en-US" sz="2833" b="1">
              <a:highlight>
                <a:srgbClr val="FFFF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86674B-CBB9-A071-5983-D21EA78D7B8A}"/>
              </a:ext>
            </a:extLst>
          </p:cNvPr>
          <p:cNvSpPr txBox="1"/>
          <p:nvPr/>
        </p:nvSpPr>
        <p:spPr>
          <a:xfrm>
            <a:off x="9102850" y="3190691"/>
            <a:ext cx="2048178" cy="3128611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 dirty="0">
                <a:highlight>
                  <a:srgbClr val="FFFF00"/>
                </a:highlight>
              </a:rPr>
              <a:t>Add 4 more slides with other challenges' description and ex's.</a:t>
            </a:r>
          </a:p>
          <a:p>
            <a:pPr algn="ctr"/>
            <a:endParaRPr lang="en-US" sz="2833" b="1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C1B0D7-874A-5E6A-AB30-67F25A8CB59F}"/>
              </a:ext>
            </a:extLst>
          </p:cNvPr>
          <p:cNvSpPr txBox="1"/>
          <p:nvPr/>
        </p:nvSpPr>
        <p:spPr>
          <a:xfrm>
            <a:off x="147329" y="185564"/>
            <a:ext cx="4921451" cy="5744327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>
                <a:highlight>
                  <a:srgbClr val="FFFF00"/>
                </a:highlight>
              </a:rPr>
              <a:t>NEW SLIDE to facilitate student engagement</a:t>
            </a:r>
            <a:r>
              <a:rPr lang="en-US" sz="2833" b="1" dirty="0">
                <a:highlight>
                  <a:srgbClr val="FFFF00"/>
                </a:highlight>
              </a:rPr>
              <a:t>: </a:t>
            </a:r>
            <a:endParaRPr lang="en-US" sz="1500"/>
          </a:p>
          <a:p>
            <a:pPr algn="ctr"/>
            <a:endParaRPr lang="en-US" sz="2833" b="1" dirty="0">
              <a:highlight>
                <a:srgbClr val="FFFF00"/>
              </a:highlight>
            </a:endParaRPr>
          </a:p>
          <a:p>
            <a:pPr algn="ctr"/>
            <a:r>
              <a:rPr lang="en-US" sz="2833">
                <a:highlight>
                  <a:srgbClr val="FFFF00"/>
                </a:highlight>
                <a:ea typeface="+mn-lt"/>
                <a:cs typeface="+mn-lt"/>
              </a:rPr>
              <a:t>Each student completes the </a:t>
            </a:r>
            <a:endParaRPr lang="en-US" sz="1500">
              <a:ea typeface="+mn-lt"/>
              <a:cs typeface="+mn-lt"/>
            </a:endParaRPr>
          </a:p>
          <a:p>
            <a:pPr algn="ctr"/>
            <a:r>
              <a:rPr lang="en-US" sz="2833">
                <a:highlight>
                  <a:srgbClr val="FFFF00"/>
                </a:highlight>
                <a:ea typeface="+mn-lt"/>
                <a:cs typeface="+mn-lt"/>
              </a:rPr>
              <a:t>'I am most curious about...' card (1 minute). </a:t>
            </a:r>
            <a:endParaRPr lang="en-US" sz="1500">
              <a:ea typeface="+mn-lt"/>
              <a:cs typeface="+mn-lt"/>
            </a:endParaRPr>
          </a:p>
          <a:p>
            <a:pPr algn="ctr"/>
            <a:endParaRPr lang="en-US" sz="2833" dirty="0">
              <a:highlight>
                <a:srgbClr val="FFFF00"/>
              </a:highlight>
              <a:ea typeface="+mn-lt"/>
              <a:cs typeface="+mn-lt"/>
            </a:endParaRPr>
          </a:p>
          <a:p>
            <a:pPr algn="ctr"/>
            <a:r>
              <a:rPr lang="en-US" sz="2833" dirty="0">
                <a:highlight>
                  <a:srgbClr val="FFFF00"/>
                </a:highlight>
                <a:ea typeface="+mn-lt"/>
                <a:cs typeface="+mn-lt"/>
              </a:rPr>
              <a:t>Students with similar interests may </a:t>
            </a:r>
            <a:r>
              <a:rPr lang="en-US" sz="2833">
                <a:highlight>
                  <a:srgbClr val="FFFF00"/>
                </a:highlight>
                <a:ea typeface="+mn-lt"/>
                <a:cs typeface="+mn-lt"/>
              </a:rPr>
              <a:t>find each other to work in teams of two OR prefer to work individually.</a:t>
            </a:r>
            <a:endParaRPr lang="en-US" sz="1500" dirty="0"/>
          </a:p>
          <a:p>
            <a:pPr algn="ctr"/>
            <a:r>
              <a:rPr lang="en-US" sz="2833" b="1">
                <a:highlight>
                  <a:srgbClr val="FFFF00"/>
                </a:highlight>
              </a:rPr>
              <a:t>​</a:t>
            </a:r>
            <a:endParaRPr lang="en-US" sz="1500"/>
          </a:p>
          <a:p>
            <a:pPr algn="ctr"/>
            <a:endParaRPr lang="en-US" sz="2833" b="1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822734774"/>
      </p:ext>
    </p:extLst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1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5380" y="700690"/>
            <a:ext cx="3935541" cy="5903311"/>
          </a:xfrm>
          <a:prstGeom prst="rect">
            <a:avLst/>
          </a:prstGeom>
          <a:ln w="12700">
            <a:miter lim="400000"/>
          </a:ln>
        </p:spPr>
      </p:pic>
      <p:sp>
        <p:nvSpPr>
          <p:cNvPr id="1392" name="Text 0"/>
          <p:cNvSpPr txBox="1"/>
          <p:nvPr/>
        </p:nvSpPr>
        <p:spPr>
          <a:xfrm>
            <a:off x="661492" y="1043087"/>
            <a:ext cx="5852564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Looking Ahead: Tomorrow</a:t>
            </a:r>
          </a:p>
        </p:txBody>
      </p:sp>
      <p:sp>
        <p:nvSpPr>
          <p:cNvPr id="1393" name="Shape 1"/>
          <p:cNvSpPr/>
          <p:nvPr/>
        </p:nvSpPr>
        <p:spPr>
          <a:xfrm>
            <a:off x="661492" y="1917205"/>
            <a:ext cx="3054053" cy="2304356"/>
          </a:xfrm>
          <a:prstGeom prst="roundRect">
            <a:avLst>
              <a:gd name="adj" fmla="val 3445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sp>
        <p:nvSpPr>
          <p:cNvPr id="1394" name="Text 2"/>
          <p:cNvSpPr txBox="1"/>
          <p:nvPr/>
        </p:nvSpPr>
        <p:spPr>
          <a:xfrm>
            <a:off x="856853" y="2112565"/>
            <a:ext cx="2663330" cy="6590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Formulating Research Questions</a:t>
            </a:r>
          </a:p>
        </p:txBody>
      </p:sp>
      <p:sp>
        <p:nvSpPr>
          <p:cNvPr id="1395" name="Text 3"/>
          <p:cNvSpPr txBox="1"/>
          <p:nvPr/>
        </p:nvSpPr>
        <p:spPr>
          <a:xfrm>
            <a:off x="856853" y="2816523"/>
            <a:ext cx="2663330" cy="1035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Techniques for developing focused, meaningful questions that drive effective research.</a:t>
            </a:r>
          </a:p>
        </p:txBody>
      </p:sp>
      <p:sp>
        <p:nvSpPr>
          <p:cNvPr id="1396" name="Shape 4"/>
          <p:cNvSpPr/>
          <p:nvPr/>
        </p:nvSpPr>
        <p:spPr>
          <a:xfrm>
            <a:off x="3904556" y="1917205"/>
            <a:ext cx="3054053" cy="2304356"/>
          </a:xfrm>
          <a:prstGeom prst="roundRect">
            <a:avLst>
              <a:gd name="adj" fmla="val 3445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sp>
        <p:nvSpPr>
          <p:cNvPr id="1397" name="Text 5"/>
          <p:cNvSpPr txBox="1"/>
          <p:nvPr/>
        </p:nvSpPr>
        <p:spPr>
          <a:xfrm>
            <a:off x="4099917" y="2112565"/>
            <a:ext cx="2500685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From Broad to Specific</a:t>
            </a:r>
          </a:p>
        </p:txBody>
      </p:sp>
      <p:sp>
        <p:nvSpPr>
          <p:cNvPr id="1398" name="Text 6"/>
          <p:cNvSpPr txBox="1"/>
          <p:nvPr/>
        </p:nvSpPr>
        <p:spPr>
          <a:xfrm>
            <a:off x="4099917" y="2521247"/>
            <a:ext cx="2663330" cy="1035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Methods to narrow general interests into precise, answerable research questions.</a:t>
            </a:r>
          </a:p>
        </p:txBody>
      </p:sp>
      <p:sp>
        <p:nvSpPr>
          <p:cNvPr id="1399" name="Shape 7"/>
          <p:cNvSpPr/>
          <p:nvPr/>
        </p:nvSpPr>
        <p:spPr>
          <a:xfrm>
            <a:off x="661492" y="4410571"/>
            <a:ext cx="6297018" cy="1404243"/>
          </a:xfrm>
          <a:prstGeom prst="roundRect">
            <a:avLst>
              <a:gd name="adj" fmla="val 5654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sp>
        <p:nvSpPr>
          <p:cNvPr id="1400" name="Text 8"/>
          <p:cNvSpPr txBox="1"/>
          <p:nvPr/>
        </p:nvSpPr>
        <p:spPr>
          <a:xfrm>
            <a:off x="856853" y="4605932"/>
            <a:ext cx="1931619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t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lang="en-US" sz="1833"/>
              <a:t>Identify Variables</a:t>
            </a:r>
          </a:p>
        </p:txBody>
      </p:sp>
      <p:sp>
        <p:nvSpPr>
          <p:cNvPr id="1401" name="Text 9"/>
          <p:cNvSpPr txBox="1"/>
          <p:nvPr/>
        </p:nvSpPr>
        <p:spPr>
          <a:xfrm>
            <a:off x="856854" y="5014615"/>
            <a:ext cx="5906293" cy="1035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>
            <a:spAutoFit/>
          </a:bodyPr>
          <a:lstStyle>
            <a:lvl1pPr>
              <a:lnSpc>
                <a:spcPts val="2800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lang="en-US" sz="1417"/>
              <a:t>Independent variable (what we change/compare), Dependent variable (what we measure), Confounding variable (the lurking third factor). </a:t>
            </a:r>
          </a:p>
          <a:p>
            <a:endParaRPr sz="1417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847F5D-5A66-4AC2-A356-AF6345591597}"/>
              </a:ext>
            </a:extLst>
          </p:cNvPr>
          <p:cNvSpPr txBox="1"/>
          <p:nvPr/>
        </p:nvSpPr>
        <p:spPr>
          <a:xfrm>
            <a:off x="166742" y="185563"/>
            <a:ext cx="2048178" cy="1820753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>
                <a:highlight>
                  <a:srgbClr val="FFFF00"/>
                </a:highlight>
              </a:rPr>
              <a:t>OUT​</a:t>
            </a:r>
          </a:p>
          <a:p>
            <a:pPr algn="ctr"/>
            <a:endParaRPr lang="en-US" sz="2833" b="1" dirty="0">
              <a:highlight>
                <a:srgbClr val="FFFF00"/>
              </a:highlight>
            </a:endParaRPr>
          </a:p>
          <a:p>
            <a:pPr algn="ctr"/>
            <a:r>
              <a:rPr lang="en-US" sz="2833" b="1">
                <a:highlight>
                  <a:srgbClr val="FFFF00"/>
                </a:highlight>
              </a:rPr>
              <a:t>Or update</a:t>
            </a:r>
            <a:endParaRPr lang="en-US" sz="2833" b="1" dirty="0">
              <a:highlight>
                <a:srgbClr val="FFFF00"/>
              </a:highlight>
            </a:endParaRPr>
          </a:p>
          <a:p>
            <a:pPr algn="ctr"/>
            <a:endParaRPr lang="en-US" sz="2833" b="1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3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5380" y="700690"/>
            <a:ext cx="3935541" cy="5903311"/>
          </a:xfrm>
          <a:prstGeom prst="rect">
            <a:avLst/>
          </a:prstGeom>
          <a:ln w="12700">
            <a:miter lim="400000"/>
          </a:ln>
        </p:spPr>
      </p:pic>
      <p:sp>
        <p:nvSpPr>
          <p:cNvPr id="1404" name="Text 0"/>
          <p:cNvSpPr txBox="1"/>
          <p:nvPr/>
        </p:nvSpPr>
        <p:spPr>
          <a:xfrm>
            <a:off x="661492" y="1043087"/>
            <a:ext cx="2681824" cy="1138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4583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/>
              <a:t>Homework: </a:t>
            </a:r>
          </a:p>
          <a:p>
            <a:pPr>
              <a:lnSpc>
                <a:spcPts val="4583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/>
              <a:t>Handout 1</a:t>
            </a:r>
          </a:p>
        </p:txBody>
      </p:sp>
      <p:sp>
        <p:nvSpPr>
          <p:cNvPr id="1405" name="Shape 1"/>
          <p:cNvSpPr/>
          <p:nvPr/>
        </p:nvSpPr>
        <p:spPr>
          <a:xfrm>
            <a:off x="661492" y="2255871"/>
            <a:ext cx="5883259" cy="891040"/>
          </a:xfrm>
          <a:prstGeom prst="roundRect">
            <a:avLst>
              <a:gd name="adj" fmla="val 890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sp>
        <p:nvSpPr>
          <p:cNvPr id="1406" name="Text 2"/>
          <p:cNvSpPr txBox="1"/>
          <p:nvPr/>
        </p:nvSpPr>
        <p:spPr>
          <a:xfrm>
            <a:off x="715742" y="2423010"/>
            <a:ext cx="5492536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Introduction to Research </a:t>
            </a:r>
          </a:p>
        </p:txBody>
      </p:sp>
      <p:sp>
        <p:nvSpPr>
          <p:cNvPr id="1407" name="Text 0"/>
          <p:cNvSpPr txBox="1"/>
          <p:nvPr/>
        </p:nvSpPr>
        <p:spPr>
          <a:xfrm>
            <a:off x="661492" y="3446098"/>
            <a:ext cx="6173165" cy="17091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4583"/>
              </a:lnSpc>
              <a:defRPr sz="36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000"/>
              <a:t>Finalize teams</a:t>
            </a:r>
          </a:p>
          <a:p>
            <a:pPr>
              <a:lnSpc>
                <a:spcPts val="4583"/>
              </a:lnSpc>
              <a:defRPr sz="36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000"/>
              <a:t>Explore data-sets</a:t>
            </a:r>
          </a:p>
          <a:p>
            <a:pPr>
              <a:lnSpc>
                <a:spcPts val="4583"/>
              </a:lnSpc>
              <a:defRPr sz="36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000"/>
              <a:t>Decide on your “Global Challenge”</a:t>
            </a:r>
          </a:p>
        </p:txBody>
      </p:sp>
      <p:sp>
        <p:nvSpPr>
          <p:cNvPr id="1408" name="Climate Change…"/>
          <p:cNvSpPr txBox="1"/>
          <p:nvPr/>
        </p:nvSpPr>
        <p:spPr>
          <a:xfrm>
            <a:off x="652880" y="5399000"/>
            <a:ext cx="3000403" cy="719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099" rIns="38099" anchor="ctr">
            <a:spAutoFit/>
          </a:bodyPr>
          <a:lstStyle/>
          <a:p>
            <a:pPr marL="247863" indent="-247863" defTabSz="380985">
              <a:lnSpc>
                <a:spcPct val="30000"/>
              </a:lnSpc>
              <a:spcBef>
                <a:spcPts val="1333"/>
              </a:spcBef>
              <a:buSzPct val="100000"/>
              <a:buChar char="•"/>
              <a:defRPr sz="2166">
                <a:latin typeface="+mj-lt"/>
                <a:ea typeface="+mj-ea"/>
                <a:cs typeface="+mj-cs"/>
                <a:sym typeface="Helvetica"/>
              </a:defRPr>
            </a:pPr>
            <a:r>
              <a:rPr sz="1805"/>
              <a:t> Climate Change</a:t>
            </a:r>
          </a:p>
          <a:p>
            <a:pPr marL="247863" indent="-247863" defTabSz="380985">
              <a:lnSpc>
                <a:spcPct val="30000"/>
              </a:lnSpc>
              <a:spcBef>
                <a:spcPts val="1333"/>
              </a:spcBef>
              <a:buSzPct val="100000"/>
              <a:buChar char="•"/>
              <a:defRPr sz="2166">
                <a:latin typeface="+mj-lt"/>
                <a:ea typeface="+mj-ea"/>
                <a:cs typeface="+mj-cs"/>
                <a:sym typeface="Helvetica"/>
              </a:defRPr>
            </a:pPr>
            <a:r>
              <a:rPr sz="1805"/>
              <a:t> Public Health Pandemics</a:t>
            </a:r>
          </a:p>
          <a:p>
            <a:pPr marL="247863" indent="-247863" defTabSz="380985">
              <a:lnSpc>
                <a:spcPct val="30000"/>
              </a:lnSpc>
              <a:spcBef>
                <a:spcPts val="1333"/>
              </a:spcBef>
              <a:buSzPct val="100000"/>
              <a:buChar char="•"/>
              <a:defRPr sz="2166">
                <a:latin typeface="+mj-lt"/>
                <a:ea typeface="+mj-ea"/>
                <a:cs typeface="+mj-cs"/>
                <a:sym typeface="Helvetica"/>
              </a:defRPr>
            </a:pPr>
            <a:r>
              <a:rPr sz="1805"/>
              <a:t> Poverty and Inequality</a:t>
            </a:r>
          </a:p>
        </p:txBody>
      </p:sp>
      <p:sp>
        <p:nvSpPr>
          <p:cNvPr id="1409" name="Renewable Energy…"/>
          <p:cNvSpPr txBox="1"/>
          <p:nvPr/>
        </p:nvSpPr>
        <p:spPr>
          <a:xfrm>
            <a:off x="3988497" y="5330987"/>
            <a:ext cx="2218362" cy="719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8099" rIns="38099">
            <a:spAutoFit/>
          </a:bodyPr>
          <a:lstStyle/>
          <a:p>
            <a:pPr marL="247863" indent="-247863" defTabSz="380985">
              <a:lnSpc>
                <a:spcPct val="30000"/>
              </a:lnSpc>
              <a:spcBef>
                <a:spcPts val="1333"/>
              </a:spcBef>
              <a:buSzPct val="100000"/>
              <a:buChar char="•"/>
              <a:defRPr sz="2166">
                <a:latin typeface="+mj-lt"/>
                <a:ea typeface="+mj-ea"/>
                <a:cs typeface="+mj-cs"/>
                <a:sym typeface="Helvetica"/>
              </a:defRPr>
            </a:pPr>
            <a:r>
              <a:rPr sz="1805"/>
              <a:t>Renewable Energy</a:t>
            </a:r>
          </a:p>
          <a:p>
            <a:pPr marL="247863" indent="-247863" defTabSz="380985">
              <a:lnSpc>
                <a:spcPct val="30000"/>
              </a:lnSpc>
              <a:spcBef>
                <a:spcPts val="1333"/>
              </a:spcBef>
              <a:buSzPct val="100000"/>
              <a:buChar char="•"/>
              <a:defRPr sz="2166">
                <a:latin typeface="+mj-lt"/>
                <a:ea typeface="+mj-ea"/>
                <a:cs typeface="+mj-cs"/>
                <a:sym typeface="Helvetica"/>
              </a:defRPr>
            </a:pPr>
            <a:r>
              <a:rPr sz="1805"/>
              <a:t> Educational Access</a:t>
            </a:r>
          </a:p>
          <a:p>
            <a:pPr marL="247863" indent="-247863" defTabSz="380985">
              <a:lnSpc>
                <a:spcPct val="30000"/>
              </a:lnSpc>
              <a:spcBef>
                <a:spcPts val="1333"/>
              </a:spcBef>
              <a:buSzPct val="100000"/>
              <a:buChar char="•"/>
              <a:defRPr sz="2166">
                <a:latin typeface="+mj-lt"/>
                <a:ea typeface="+mj-ea"/>
                <a:cs typeface="+mj-cs"/>
                <a:sym typeface="Helvetica"/>
              </a:defRPr>
            </a:pPr>
            <a:r>
              <a:rPr sz="1805"/>
              <a:t> Digital Privacy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65931B-3E1D-A11C-AF36-BB163B6E61AB}"/>
              </a:ext>
            </a:extLst>
          </p:cNvPr>
          <p:cNvSpPr txBox="1"/>
          <p:nvPr/>
        </p:nvSpPr>
        <p:spPr>
          <a:xfrm>
            <a:off x="166742" y="185564"/>
            <a:ext cx="5858178" cy="4361256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 dirty="0">
                <a:highlight>
                  <a:srgbClr val="FFFF00"/>
                </a:highlight>
              </a:rPr>
              <a:t>Update to match the new </a:t>
            </a:r>
            <a:r>
              <a:rPr lang="en-US" sz="2833" b="1">
                <a:highlight>
                  <a:srgbClr val="FFFF00"/>
                </a:highlight>
              </a:rPr>
              <a:t>curriculum</a:t>
            </a:r>
            <a:endParaRPr lang="en-US" sz="1500"/>
          </a:p>
          <a:p>
            <a:pPr algn="ctr"/>
            <a:endParaRPr lang="en-US" sz="1167" b="1" dirty="0">
              <a:highlight>
                <a:srgbClr val="FFFF00"/>
              </a:highlight>
            </a:endParaRPr>
          </a:p>
          <a:p>
            <a:pPr algn="ctr"/>
            <a:r>
              <a:rPr lang="en-US" sz="1167" b="1">
                <a:highlight>
                  <a:srgbClr val="FFFF00"/>
                </a:highlight>
              </a:rPr>
              <a:t>After-Class</a:t>
            </a:r>
            <a:r>
              <a:rPr lang="en-US" sz="1167" b="1">
                <a:highlight>
                  <a:srgbClr val="FFFF00"/>
                </a:highlight>
                <a:ea typeface="+mn-lt"/>
                <a:cs typeface="+mn-lt"/>
              </a:rPr>
              <a:t> Team Session  (3:15 – 5:15 PM)</a:t>
            </a:r>
            <a:endParaRPr lang="en-US" sz="1500"/>
          </a:p>
          <a:p>
            <a:r>
              <a:rPr lang="en-US" sz="1167" i="1">
                <a:highlight>
                  <a:srgbClr val="FFFF00"/>
                </a:highlight>
                <a:ea typeface="+mn-lt"/>
                <a:cs typeface="+mn-lt"/>
              </a:rPr>
              <a:t>Teams work with TA / peer mentor available. Produce a tangible output before dinner. Not free time.</a:t>
            </a:r>
            <a:endParaRPr lang="en-US" sz="1500"/>
          </a:p>
          <a:p>
            <a:pPr marL="238115" indent="-238115">
              <a:buFont typeface="Arial"/>
              <a:buChar char="•"/>
            </a:pPr>
            <a:r>
              <a:rPr lang="en-US" sz="1167">
                <a:highlight>
                  <a:srgbClr val="FFFF00"/>
                </a:highlight>
                <a:ea typeface="+mn-lt"/>
                <a:cs typeface="+mn-lt"/>
              </a:rPr>
              <a:t>Team meeting (3:15 PM): Agree on global challenge topic using consensus protocol — each member ranks top 3; pick highest aggregate</a:t>
            </a:r>
            <a:endParaRPr lang="en-US" sz="1500"/>
          </a:p>
          <a:p>
            <a:pPr marL="238115" indent="-238115">
              <a:buFont typeface="Arial"/>
              <a:buChar char="•"/>
            </a:pPr>
            <a:r>
              <a:rPr lang="en-US" sz="1167">
                <a:highlight>
                  <a:srgbClr val="FFFF00"/>
                </a:highlight>
                <a:ea typeface="+mn-lt"/>
                <a:cs typeface="+mn-lt"/>
              </a:rPr>
              <a:t>Complete Mission Sheet Part 1 together as a team — compare answers, discuss differences</a:t>
            </a:r>
            <a:endParaRPr lang="en-US" sz="1500"/>
          </a:p>
          <a:p>
            <a:pPr marL="238115" indent="-238115">
              <a:buFont typeface="Arial"/>
              <a:buChar char="•"/>
            </a:pPr>
            <a:r>
              <a:rPr lang="en-US" sz="1167">
                <a:highlight>
                  <a:srgbClr val="FFFF00"/>
                </a:highlight>
                <a:ea typeface="+mn-lt"/>
                <a:cs typeface="+mn-lt"/>
              </a:rPr>
              <a:t>Team output due before dinner: Team name, topic selection, and one-sentence team research interest statement posted in shared doc</a:t>
            </a:r>
            <a:endParaRPr lang="en-US" sz="1500"/>
          </a:p>
          <a:p>
            <a:pPr marL="238115" indent="-238115">
              <a:buFont typeface="Arial"/>
              <a:buChar char="•"/>
            </a:pPr>
            <a:endParaRPr lang="en-US" sz="1167" dirty="0">
              <a:highlight>
                <a:srgbClr val="FFFF00"/>
              </a:highlight>
            </a:endParaRPr>
          </a:p>
          <a:p>
            <a:pPr marL="238115" indent="-238115">
              <a:buFont typeface="Arial"/>
              <a:buChar char="•"/>
            </a:pPr>
            <a:endParaRPr lang="en-US" sz="1167" dirty="0">
              <a:highlight>
                <a:srgbClr val="FFFF00"/>
              </a:highlight>
            </a:endParaRPr>
          </a:p>
          <a:p>
            <a:r>
              <a:rPr lang="en-US" sz="1167" b="1">
                <a:highlight>
                  <a:srgbClr val="FFFF00"/>
                </a:highlight>
                <a:ea typeface="+mn-lt"/>
                <a:cs typeface="+mn-lt"/>
              </a:rPr>
              <a:t>Evening Work Period  (7:00 – 9:00 PM)</a:t>
            </a:r>
            <a:endParaRPr lang="en-US" sz="1167" dirty="0">
              <a:highlight>
                <a:srgbClr val="FFFF00"/>
              </a:highlight>
            </a:endParaRPr>
          </a:p>
          <a:p>
            <a:pPr>
              <a:buFont typeface="Arial"/>
              <a:buChar char="•"/>
            </a:pPr>
            <a:r>
              <a:rPr lang="en-US" sz="1167" i="1">
                <a:highlight>
                  <a:srgbClr val="FFFF00"/>
                </a:highlight>
                <a:ea typeface="+mn-lt"/>
                <a:cs typeface="+mn-lt"/>
              </a:rPr>
              <a:t>Individual + partner work during CTD RTA study hours. TA available for drop-in questions.</a:t>
            </a:r>
            <a:endParaRPr lang="en-US" sz="1500"/>
          </a:p>
          <a:p>
            <a:pPr>
              <a:buFont typeface="Arial"/>
              <a:buChar char="•"/>
            </a:pPr>
            <a:r>
              <a:rPr lang="en-US" sz="1167">
                <a:highlight>
                  <a:srgbClr val="FFFF00"/>
                </a:highlight>
                <a:ea typeface="+mn-lt"/>
                <a:cs typeface="+mn-lt"/>
              </a:rPr>
              <a:t>Individual: Complete Mission Sheet Part 2 — KWL table for your chosen topic domain</a:t>
            </a:r>
            <a:endParaRPr lang="en-US" sz="1500"/>
          </a:p>
          <a:p>
            <a:pPr>
              <a:buFont typeface="Arial"/>
              <a:buChar char="•"/>
            </a:pPr>
            <a:r>
              <a:rPr lang="en-US" sz="1167">
                <a:highlight>
                  <a:srgbClr val="FFFF00"/>
                </a:highlight>
                <a:ea typeface="+mn-lt"/>
                <a:cs typeface="+mn-lt"/>
              </a:rPr>
              <a:t>Individual reading: Review 'What is Research?' one-pager from class</a:t>
            </a:r>
            <a:endParaRPr lang="en-US" sz="1500"/>
          </a:p>
          <a:p>
            <a:pPr>
              <a:buFont typeface="Arial"/>
              <a:buChar char="•"/>
            </a:pPr>
            <a:r>
              <a:rPr lang="en-US" sz="1167">
                <a:highlight>
                  <a:srgbClr val="FFFF00"/>
                </a:highlight>
                <a:ea typeface="+mn-lt"/>
                <a:cs typeface="+mn-lt"/>
              </a:rPr>
              <a:t>Write a 200-word description of a research project you want to do — question, data </a:t>
            </a:r>
            <a:r>
              <a:rPr lang="en-US" sz="1167" dirty="0">
                <a:highlight>
                  <a:srgbClr val="FFFF00"/>
                </a:highlight>
                <a:ea typeface="+mn-lt"/>
                <a:cs typeface="+mn-lt"/>
              </a:rPr>
              <a:t>source, expected finding</a:t>
            </a:r>
            <a:endParaRPr lang="en-US" sz="1500" dirty="0"/>
          </a:p>
          <a:p>
            <a:endParaRPr lang="en-US" sz="1167" dirty="0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C5910-7EB2-5993-CEB4-091F83325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3" name="Image 0" descr="Image 0">
            <a:extLst>
              <a:ext uri="{FF2B5EF4-FFF2-40B4-BE49-F238E27FC236}">
                <a16:creationId xmlns:a16="http://schemas.microsoft.com/office/drawing/2014/main" id="{069A9EB9-2AF5-1818-BF03-7D86723D3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5380" y="700690"/>
            <a:ext cx="3935541" cy="5903311"/>
          </a:xfrm>
          <a:prstGeom prst="rect">
            <a:avLst/>
          </a:prstGeom>
          <a:ln w="12700">
            <a:miter lim="400000"/>
          </a:ln>
        </p:spPr>
      </p:pic>
      <p:sp>
        <p:nvSpPr>
          <p:cNvPr id="1404" name="Text 0">
            <a:extLst>
              <a:ext uri="{FF2B5EF4-FFF2-40B4-BE49-F238E27FC236}">
                <a16:creationId xmlns:a16="http://schemas.microsoft.com/office/drawing/2014/main" id="{B43F71FF-EE1E-17EC-3E25-C11ACF3900E4}"/>
              </a:ext>
            </a:extLst>
          </p:cNvPr>
          <p:cNvSpPr txBox="1"/>
          <p:nvPr/>
        </p:nvSpPr>
        <p:spPr>
          <a:xfrm>
            <a:off x="661492" y="1043087"/>
            <a:ext cx="2681824" cy="1138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4583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/>
              <a:t>Homework: </a:t>
            </a:r>
          </a:p>
          <a:p>
            <a:pPr>
              <a:lnSpc>
                <a:spcPts val="4583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/>
              <a:t>Handout 1</a:t>
            </a:r>
          </a:p>
        </p:txBody>
      </p:sp>
      <p:sp>
        <p:nvSpPr>
          <p:cNvPr id="1405" name="Shape 1">
            <a:extLst>
              <a:ext uri="{FF2B5EF4-FFF2-40B4-BE49-F238E27FC236}">
                <a16:creationId xmlns:a16="http://schemas.microsoft.com/office/drawing/2014/main" id="{1E755C43-3CB8-02EA-63FF-349BAFEEFFB7}"/>
              </a:ext>
            </a:extLst>
          </p:cNvPr>
          <p:cNvSpPr/>
          <p:nvPr/>
        </p:nvSpPr>
        <p:spPr>
          <a:xfrm>
            <a:off x="661492" y="2255871"/>
            <a:ext cx="5883259" cy="891040"/>
          </a:xfrm>
          <a:prstGeom prst="roundRect">
            <a:avLst>
              <a:gd name="adj" fmla="val 890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sp>
        <p:nvSpPr>
          <p:cNvPr id="1406" name="Text 2">
            <a:extLst>
              <a:ext uri="{FF2B5EF4-FFF2-40B4-BE49-F238E27FC236}">
                <a16:creationId xmlns:a16="http://schemas.microsoft.com/office/drawing/2014/main" id="{A4176442-87C4-097C-700C-F657BAA45448}"/>
              </a:ext>
            </a:extLst>
          </p:cNvPr>
          <p:cNvSpPr txBox="1"/>
          <p:nvPr/>
        </p:nvSpPr>
        <p:spPr>
          <a:xfrm>
            <a:off x="715742" y="2423010"/>
            <a:ext cx="5492536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Introduction to Research </a:t>
            </a:r>
          </a:p>
        </p:txBody>
      </p:sp>
      <p:sp>
        <p:nvSpPr>
          <p:cNvPr id="1407" name="Text 0">
            <a:extLst>
              <a:ext uri="{FF2B5EF4-FFF2-40B4-BE49-F238E27FC236}">
                <a16:creationId xmlns:a16="http://schemas.microsoft.com/office/drawing/2014/main" id="{3993FE1D-A99F-D561-F3E0-B094A29071A8}"/>
              </a:ext>
            </a:extLst>
          </p:cNvPr>
          <p:cNvSpPr txBox="1"/>
          <p:nvPr/>
        </p:nvSpPr>
        <p:spPr>
          <a:xfrm>
            <a:off x="661492" y="3446098"/>
            <a:ext cx="6173165" cy="17091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4583"/>
              </a:lnSpc>
              <a:defRPr sz="36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000"/>
              <a:t>Finalize teams</a:t>
            </a:r>
          </a:p>
          <a:p>
            <a:pPr>
              <a:lnSpc>
                <a:spcPts val="4583"/>
              </a:lnSpc>
              <a:defRPr sz="36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000"/>
              <a:t>Explore data-sets</a:t>
            </a:r>
          </a:p>
          <a:p>
            <a:pPr>
              <a:lnSpc>
                <a:spcPts val="4583"/>
              </a:lnSpc>
              <a:defRPr sz="36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000"/>
              <a:t>Decide on your “Global Challenge”</a:t>
            </a:r>
          </a:p>
        </p:txBody>
      </p:sp>
      <p:sp>
        <p:nvSpPr>
          <p:cNvPr id="1408" name="Climate Change…">
            <a:extLst>
              <a:ext uri="{FF2B5EF4-FFF2-40B4-BE49-F238E27FC236}">
                <a16:creationId xmlns:a16="http://schemas.microsoft.com/office/drawing/2014/main" id="{AEED1DA8-75DF-DEC0-E6C5-F302E92B90CF}"/>
              </a:ext>
            </a:extLst>
          </p:cNvPr>
          <p:cNvSpPr txBox="1"/>
          <p:nvPr/>
        </p:nvSpPr>
        <p:spPr>
          <a:xfrm>
            <a:off x="652880" y="5399000"/>
            <a:ext cx="3000403" cy="719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099" rIns="38099" anchor="ctr">
            <a:spAutoFit/>
          </a:bodyPr>
          <a:lstStyle/>
          <a:p>
            <a:pPr marL="247863" indent="-247863" defTabSz="380985">
              <a:lnSpc>
                <a:spcPct val="30000"/>
              </a:lnSpc>
              <a:spcBef>
                <a:spcPts val="1333"/>
              </a:spcBef>
              <a:buSzPct val="100000"/>
              <a:buChar char="•"/>
              <a:defRPr sz="2166">
                <a:latin typeface="+mj-lt"/>
                <a:ea typeface="+mj-ea"/>
                <a:cs typeface="+mj-cs"/>
                <a:sym typeface="Helvetica"/>
              </a:defRPr>
            </a:pPr>
            <a:r>
              <a:rPr sz="1805"/>
              <a:t> Climate Change</a:t>
            </a:r>
          </a:p>
          <a:p>
            <a:pPr marL="247863" indent="-247863" defTabSz="380985">
              <a:lnSpc>
                <a:spcPct val="30000"/>
              </a:lnSpc>
              <a:spcBef>
                <a:spcPts val="1333"/>
              </a:spcBef>
              <a:buSzPct val="100000"/>
              <a:buChar char="•"/>
              <a:defRPr sz="2166">
                <a:latin typeface="+mj-lt"/>
                <a:ea typeface="+mj-ea"/>
                <a:cs typeface="+mj-cs"/>
                <a:sym typeface="Helvetica"/>
              </a:defRPr>
            </a:pPr>
            <a:r>
              <a:rPr sz="1805"/>
              <a:t> Public Health Pandemics</a:t>
            </a:r>
          </a:p>
          <a:p>
            <a:pPr marL="247863" indent="-247863" defTabSz="380985">
              <a:lnSpc>
                <a:spcPct val="30000"/>
              </a:lnSpc>
              <a:spcBef>
                <a:spcPts val="1333"/>
              </a:spcBef>
              <a:buSzPct val="100000"/>
              <a:buChar char="•"/>
              <a:defRPr sz="2166">
                <a:latin typeface="+mj-lt"/>
                <a:ea typeface="+mj-ea"/>
                <a:cs typeface="+mj-cs"/>
                <a:sym typeface="Helvetica"/>
              </a:defRPr>
            </a:pPr>
            <a:r>
              <a:rPr sz="1805"/>
              <a:t> Poverty and Inequality</a:t>
            </a:r>
          </a:p>
        </p:txBody>
      </p:sp>
      <p:sp>
        <p:nvSpPr>
          <p:cNvPr id="1409" name="Renewable Energy…">
            <a:extLst>
              <a:ext uri="{FF2B5EF4-FFF2-40B4-BE49-F238E27FC236}">
                <a16:creationId xmlns:a16="http://schemas.microsoft.com/office/drawing/2014/main" id="{65516C13-50D3-12F9-D115-ADBC513CBF69}"/>
              </a:ext>
            </a:extLst>
          </p:cNvPr>
          <p:cNvSpPr txBox="1"/>
          <p:nvPr/>
        </p:nvSpPr>
        <p:spPr>
          <a:xfrm>
            <a:off x="3988497" y="5330987"/>
            <a:ext cx="2218362" cy="719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8099" rIns="38099">
            <a:spAutoFit/>
          </a:bodyPr>
          <a:lstStyle/>
          <a:p>
            <a:pPr marL="247863" indent="-247863" defTabSz="380985">
              <a:lnSpc>
                <a:spcPct val="30000"/>
              </a:lnSpc>
              <a:spcBef>
                <a:spcPts val="1333"/>
              </a:spcBef>
              <a:buSzPct val="100000"/>
              <a:buChar char="•"/>
              <a:defRPr sz="2166">
                <a:latin typeface="+mj-lt"/>
                <a:ea typeface="+mj-ea"/>
                <a:cs typeface="+mj-cs"/>
                <a:sym typeface="Helvetica"/>
              </a:defRPr>
            </a:pPr>
            <a:r>
              <a:rPr sz="1805"/>
              <a:t>Renewable Energy</a:t>
            </a:r>
          </a:p>
          <a:p>
            <a:pPr marL="247863" indent="-247863" defTabSz="380985">
              <a:lnSpc>
                <a:spcPct val="30000"/>
              </a:lnSpc>
              <a:spcBef>
                <a:spcPts val="1333"/>
              </a:spcBef>
              <a:buSzPct val="100000"/>
              <a:buChar char="•"/>
              <a:defRPr sz="2166">
                <a:latin typeface="+mj-lt"/>
                <a:ea typeface="+mj-ea"/>
                <a:cs typeface="+mj-cs"/>
                <a:sym typeface="Helvetica"/>
              </a:defRPr>
            </a:pPr>
            <a:r>
              <a:rPr sz="1805"/>
              <a:t> Educational Access</a:t>
            </a:r>
          </a:p>
          <a:p>
            <a:pPr marL="247863" indent="-247863" defTabSz="380985">
              <a:lnSpc>
                <a:spcPct val="30000"/>
              </a:lnSpc>
              <a:spcBef>
                <a:spcPts val="1333"/>
              </a:spcBef>
              <a:buSzPct val="100000"/>
              <a:buChar char="•"/>
              <a:defRPr sz="2166">
                <a:latin typeface="+mj-lt"/>
                <a:ea typeface="+mj-ea"/>
                <a:cs typeface="+mj-cs"/>
                <a:sym typeface="Helvetica"/>
              </a:defRPr>
            </a:pPr>
            <a:r>
              <a:rPr sz="1805"/>
              <a:t> Digital Privacy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2A281F-BFA0-841F-3D89-2FEF4EEFFEC6}"/>
              </a:ext>
            </a:extLst>
          </p:cNvPr>
          <p:cNvSpPr txBox="1"/>
          <p:nvPr/>
        </p:nvSpPr>
        <p:spPr>
          <a:xfrm>
            <a:off x="166742" y="185564"/>
            <a:ext cx="5858178" cy="4361256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 dirty="0">
                <a:highlight>
                  <a:srgbClr val="FFFF00"/>
                </a:highlight>
              </a:rPr>
              <a:t>Update to match the new </a:t>
            </a:r>
            <a:r>
              <a:rPr lang="en-US" sz="2833" b="1">
                <a:highlight>
                  <a:srgbClr val="FFFF00"/>
                </a:highlight>
              </a:rPr>
              <a:t>curriculum</a:t>
            </a:r>
            <a:endParaRPr lang="en-US" sz="1500"/>
          </a:p>
          <a:p>
            <a:pPr algn="ctr"/>
            <a:endParaRPr lang="en-US" sz="1167" b="1" dirty="0">
              <a:highlight>
                <a:srgbClr val="FFFF00"/>
              </a:highlight>
            </a:endParaRPr>
          </a:p>
          <a:p>
            <a:pPr algn="ctr"/>
            <a:r>
              <a:rPr lang="en-US" sz="1167" b="1">
                <a:highlight>
                  <a:srgbClr val="FFFF00"/>
                </a:highlight>
              </a:rPr>
              <a:t>After-Class</a:t>
            </a:r>
            <a:r>
              <a:rPr lang="en-US" sz="1167" b="1">
                <a:highlight>
                  <a:srgbClr val="FFFF00"/>
                </a:highlight>
                <a:ea typeface="+mn-lt"/>
                <a:cs typeface="+mn-lt"/>
              </a:rPr>
              <a:t> Team Session  (3:15 – 5:15 PM)</a:t>
            </a:r>
            <a:endParaRPr lang="en-US" sz="1500"/>
          </a:p>
          <a:p>
            <a:r>
              <a:rPr lang="en-US" sz="1167" i="1">
                <a:highlight>
                  <a:srgbClr val="FFFF00"/>
                </a:highlight>
                <a:ea typeface="+mn-lt"/>
                <a:cs typeface="+mn-lt"/>
              </a:rPr>
              <a:t>Teams work with TA / peer mentor available. Produce a tangible output before dinner. Not free time.</a:t>
            </a:r>
            <a:endParaRPr lang="en-US" sz="1500"/>
          </a:p>
          <a:p>
            <a:pPr marL="238115" indent="-238115">
              <a:buFont typeface="Arial"/>
              <a:buChar char="•"/>
            </a:pPr>
            <a:r>
              <a:rPr lang="en-US" sz="1167">
                <a:highlight>
                  <a:srgbClr val="FFFF00"/>
                </a:highlight>
                <a:ea typeface="+mn-lt"/>
                <a:cs typeface="+mn-lt"/>
              </a:rPr>
              <a:t>Team meeting (3:15 PM): Agree on global challenge topic using consensus protocol — each member ranks top 3; pick highest aggregate</a:t>
            </a:r>
            <a:endParaRPr lang="en-US" sz="1500"/>
          </a:p>
          <a:p>
            <a:pPr marL="238115" indent="-238115">
              <a:buFont typeface="Arial"/>
              <a:buChar char="•"/>
            </a:pPr>
            <a:r>
              <a:rPr lang="en-US" sz="1167">
                <a:highlight>
                  <a:srgbClr val="FFFF00"/>
                </a:highlight>
                <a:ea typeface="+mn-lt"/>
                <a:cs typeface="+mn-lt"/>
              </a:rPr>
              <a:t>Complete Mission Sheet Part 1 together as a team — compare answers, discuss differences</a:t>
            </a:r>
            <a:endParaRPr lang="en-US" sz="1500"/>
          </a:p>
          <a:p>
            <a:pPr marL="238115" indent="-238115">
              <a:buFont typeface="Arial"/>
              <a:buChar char="•"/>
            </a:pPr>
            <a:r>
              <a:rPr lang="en-US" sz="1167">
                <a:highlight>
                  <a:srgbClr val="FFFF00"/>
                </a:highlight>
                <a:ea typeface="+mn-lt"/>
                <a:cs typeface="+mn-lt"/>
              </a:rPr>
              <a:t>Team output due before dinner: Team name, topic selection, and one-sentence team research interest statement posted in shared doc</a:t>
            </a:r>
            <a:endParaRPr lang="en-US" sz="1500"/>
          </a:p>
          <a:p>
            <a:pPr marL="238115" indent="-238115">
              <a:buFont typeface="Arial"/>
              <a:buChar char="•"/>
            </a:pPr>
            <a:endParaRPr lang="en-US" sz="1167" dirty="0">
              <a:highlight>
                <a:srgbClr val="FFFF00"/>
              </a:highlight>
            </a:endParaRPr>
          </a:p>
          <a:p>
            <a:pPr marL="238115" indent="-238115">
              <a:buFont typeface="Arial"/>
              <a:buChar char="•"/>
            </a:pPr>
            <a:endParaRPr lang="en-US" sz="1167" dirty="0">
              <a:highlight>
                <a:srgbClr val="FFFF00"/>
              </a:highlight>
            </a:endParaRPr>
          </a:p>
          <a:p>
            <a:r>
              <a:rPr lang="en-US" sz="1167" b="1">
                <a:highlight>
                  <a:srgbClr val="FFFF00"/>
                </a:highlight>
                <a:ea typeface="+mn-lt"/>
                <a:cs typeface="+mn-lt"/>
              </a:rPr>
              <a:t>Evening Work Period  (7:00 – 9:00 PM)</a:t>
            </a:r>
            <a:endParaRPr lang="en-US" sz="1167" dirty="0">
              <a:highlight>
                <a:srgbClr val="FFFF00"/>
              </a:highlight>
            </a:endParaRPr>
          </a:p>
          <a:p>
            <a:pPr>
              <a:buFont typeface="Arial"/>
              <a:buChar char="•"/>
            </a:pPr>
            <a:r>
              <a:rPr lang="en-US" sz="1167" i="1">
                <a:highlight>
                  <a:srgbClr val="FFFF00"/>
                </a:highlight>
                <a:ea typeface="+mn-lt"/>
                <a:cs typeface="+mn-lt"/>
              </a:rPr>
              <a:t>Individual + partner work during CTD RTA study hours. TA available for drop-in questions.</a:t>
            </a:r>
            <a:endParaRPr lang="en-US" sz="1500"/>
          </a:p>
          <a:p>
            <a:pPr>
              <a:buFont typeface="Arial"/>
              <a:buChar char="•"/>
            </a:pPr>
            <a:r>
              <a:rPr lang="en-US" sz="1167">
                <a:highlight>
                  <a:srgbClr val="FFFF00"/>
                </a:highlight>
                <a:ea typeface="+mn-lt"/>
                <a:cs typeface="+mn-lt"/>
              </a:rPr>
              <a:t>Individual: Complete Mission Sheet Part 2 — KWL table for your chosen topic domain</a:t>
            </a:r>
            <a:endParaRPr lang="en-US" sz="1500"/>
          </a:p>
          <a:p>
            <a:pPr>
              <a:buFont typeface="Arial"/>
              <a:buChar char="•"/>
            </a:pPr>
            <a:r>
              <a:rPr lang="en-US" sz="1167">
                <a:highlight>
                  <a:srgbClr val="FFFF00"/>
                </a:highlight>
                <a:ea typeface="+mn-lt"/>
                <a:cs typeface="+mn-lt"/>
              </a:rPr>
              <a:t>Individual reading: Review 'What is Research?' one-pager from class</a:t>
            </a:r>
            <a:endParaRPr lang="en-US" sz="1500"/>
          </a:p>
          <a:p>
            <a:pPr>
              <a:buFont typeface="Arial"/>
              <a:buChar char="•"/>
            </a:pPr>
            <a:r>
              <a:rPr lang="en-US" sz="1167">
                <a:highlight>
                  <a:srgbClr val="FFFF00"/>
                </a:highlight>
                <a:ea typeface="+mn-lt"/>
                <a:cs typeface="+mn-lt"/>
              </a:rPr>
              <a:t>Write a 200-word description of a research project you want to do — question, data </a:t>
            </a:r>
            <a:r>
              <a:rPr lang="en-US" sz="1167" dirty="0">
                <a:highlight>
                  <a:srgbClr val="FFFF00"/>
                </a:highlight>
                <a:ea typeface="+mn-lt"/>
                <a:cs typeface="+mn-lt"/>
              </a:rPr>
              <a:t>source, expected finding</a:t>
            </a:r>
            <a:endParaRPr lang="en-US" sz="1500" dirty="0"/>
          </a:p>
          <a:p>
            <a:endParaRPr lang="en-US" sz="1167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935109222"/>
      </p:ext>
    </p:extLst>
  </p:cSld>
  <p:clrMapOvr>
    <a:masterClrMapping/>
  </p:clrMapOvr>
  <p:transition spd="med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1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6346"/>
            <a:ext cx="12192000" cy="2188469"/>
          </a:xfrm>
          <a:prstGeom prst="rect">
            <a:avLst/>
          </a:prstGeom>
          <a:ln w="12700">
            <a:miter lim="400000"/>
          </a:ln>
        </p:spPr>
      </p:pic>
      <p:sp>
        <p:nvSpPr>
          <p:cNvPr id="1412" name="Text 0"/>
          <p:cNvSpPr txBox="1"/>
          <p:nvPr/>
        </p:nvSpPr>
        <p:spPr>
          <a:xfrm>
            <a:off x="3434997" y="3549064"/>
            <a:ext cx="5730736" cy="16154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4250"/>
              </a:lnSpc>
              <a:defRPr sz="41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417"/>
              <a:t>Let’s wrap up this session!</a:t>
            </a:r>
          </a:p>
          <a:p>
            <a:pPr>
              <a:lnSpc>
                <a:spcPts val="4250"/>
              </a:lnSpc>
              <a:defRPr sz="41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3417"/>
          </a:p>
          <a:p>
            <a:pPr>
              <a:lnSpc>
                <a:spcPts val="4250"/>
              </a:lnSpc>
              <a:defRPr sz="41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417"/>
              <a:t>Questions? Final thoughts?  </a:t>
            </a:r>
          </a:p>
        </p:txBody>
      </p:sp>
    </p:spTree>
  </p:cSld>
  <p:clrMapOvr>
    <a:masterClrMapping/>
  </p:clrMapOvr>
  <p:transition spd="med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DFC3F-25F1-BF3B-55CB-1C79524BE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1C8FBA-3C7E-4A9C-1662-36F3D24387E9}"/>
              </a:ext>
            </a:extLst>
          </p:cNvPr>
          <p:cNvSpPr txBox="1"/>
          <p:nvPr/>
        </p:nvSpPr>
        <p:spPr>
          <a:xfrm>
            <a:off x="166742" y="185564"/>
            <a:ext cx="4523464" cy="2795507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 dirty="0">
                <a:highlight>
                  <a:srgbClr val="FFFF00"/>
                </a:highlight>
              </a:rPr>
              <a:t>NEW SLIDE </a:t>
            </a:r>
            <a:r>
              <a:rPr lang="en-US" sz="2833" b="1">
                <a:highlight>
                  <a:srgbClr val="FFFF00"/>
                </a:highlight>
              </a:rPr>
              <a:t>NEEDED </a:t>
            </a:r>
          </a:p>
          <a:p>
            <a:pPr algn="ctr"/>
            <a:endParaRPr lang="en-US" sz="2833" b="1" dirty="0">
              <a:highlight>
                <a:srgbClr val="FFFF00"/>
              </a:highlight>
            </a:endParaRPr>
          </a:p>
          <a:p>
            <a:pPr algn="ctr"/>
            <a:r>
              <a:rPr lang="en-US" sz="1500" b="1" dirty="0">
                <a:highlight>
                  <a:srgbClr val="FFFF00"/>
                </a:highlight>
                <a:ea typeface="+mn-lt"/>
                <a:cs typeface="+mn-lt"/>
              </a:rPr>
              <a:t> Scientific Storytelling — 'The Research Story Spine' </a:t>
            </a:r>
            <a:r>
              <a:rPr lang="en-US" sz="1500" b="1">
                <a:highlight>
                  <a:srgbClr val="FFFF00"/>
                </a:highlight>
                <a:ea typeface="+mn-lt"/>
                <a:cs typeface="+mn-lt"/>
              </a:rPr>
              <a:t>(5 min)</a:t>
            </a:r>
            <a:endParaRPr lang="en-US" sz="1500"/>
          </a:p>
          <a:p>
            <a:pPr algn="ctr"/>
            <a:endParaRPr lang="en-US" sz="1500" b="1" dirty="0">
              <a:highlight>
                <a:srgbClr val="FFFF00"/>
              </a:highlight>
              <a:ea typeface="+mn-lt"/>
              <a:cs typeface="+mn-lt"/>
            </a:endParaRPr>
          </a:p>
          <a:p>
            <a:pPr algn="ctr"/>
            <a:r>
              <a:rPr lang="en-US" sz="1500">
                <a:highlight>
                  <a:srgbClr val="FFFF00"/>
                </a:highlight>
                <a:ea typeface="+mn-lt"/>
                <a:cs typeface="+mn-lt"/>
              </a:rPr>
              <a:t>Introduce the narrative structure: Every good presentation tells a story with Beginning (Why does this matter? What did we ask?), Middle (What did we do? What did we find?), and End (What does it mean? What comes next?). </a:t>
            </a:r>
            <a:endParaRPr lang="en-US" sz="150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452343764"/>
      </p:ext>
    </p:extLst>
  </p:cSld>
  <p:clrMapOvr>
    <a:masterClrMapping/>
  </p:clrMapOvr>
  <p:transition spd="med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BF91F2E-6F44-077F-9D9D-2EA65D68C730}"/>
              </a:ext>
            </a:extLst>
          </p:cNvPr>
          <p:cNvSpPr txBox="1"/>
          <p:nvPr/>
        </p:nvSpPr>
        <p:spPr>
          <a:xfrm>
            <a:off x="166742" y="185564"/>
            <a:ext cx="4523464" cy="2564674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 dirty="0">
                <a:highlight>
                  <a:srgbClr val="FFFF00"/>
                </a:highlight>
              </a:rPr>
              <a:t>NEW SLIDE </a:t>
            </a:r>
            <a:r>
              <a:rPr lang="en-US" sz="2833" b="1">
                <a:highlight>
                  <a:srgbClr val="FFFF00"/>
                </a:highlight>
              </a:rPr>
              <a:t>NEEDED </a:t>
            </a:r>
          </a:p>
          <a:p>
            <a:pPr algn="ctr"/>
            <a:endParaRPr lang="en-US" sz="2833" b="1" dirty="0">
              <a:highlight>
                <a:srgbClr val="FFFF00"/>
              </a:highlight>
            </a:endParaRPr>
          </a:p>
          <a:p>
            <a:pPr algn="ctr"/>
            <a:r>
              <a:rPr lang="en-US" sz="1500" b="1" dirty="0">
                <a:highlight>
                  <a:srgbClr val="FFFF00"/>
                </a:highlight>
                <a:ea typeface="+mn-lt"/>
                <a:cs typeface="+mn-lt"/>
              </a:rPr>
              <a:t> Scientific Storytelling — '60-sec </a:t>
            </a:r>
            <a:r>
              <a:rPr lang="en-US" sz="1500" b="1" err="1">
                <a:highlight>
                  <a:srgbClr val="FFFF00"/>
                </a:highlight>
                <a:ea typeface="+mn-lt"/>
                <a:cs typeface="+mn-lt"/>
              </a:rPr>
              <a:t>Presentatio</a:t>
            </a:r>
            <a:r>
              <a:rPr lang="en-US" sz="1500" b="1">
                <a:highlight>
                  <a:srgbClr val="FFFF00"/>
                </a:highlight>
                <a:ea typeface="+mn-lt"/>
                <a:cs typeface="+mn-lt"/>
              </a:rPr>
              <a:t>n' </a:t>
            </a:r>
            <a:r>
              <a:rPr lang="en-US" sz="1500" b="1" dirty="0">
                <a:highlight>
                  <a:srgbClr val="FFFF00"/>
                </a:highlight>
                <a:ea typeface="+mn-lt"/>
                <a:cs typeface="+mn-lt"/>
              </a:rPr>
              <a:t>(10 min)</a:t>
            </a:r>
            <a:endParaRPr lang="en-US" sz="1500" dirty="0"/>
          </a:p>
          <a:p>
            <a:pPr algn="ctr"/>
            <a:endParaRPr lang="en-US" sz="1500" dirty="0">
              <a:highlight>
                <a:srgbClr val="FFFF00"/>
              </a:highlight>
              <a:ea typeface="+mn-lt"/>
              <a:cs typeface="+mn-lt"/>
            </a:endParaRPr>
          </a:p>
          <a:p>
            <a:pPr algn="ctr"/>
            <a:r>
              <a:rPr lang="en-US" sz="1500">
                <a:highlight>
                  <a:srgbClr val="FFFF00"/>
                </a:highlight>
                <a:ea typeface="+mn-lt"/>
                <a:cs typeface="+mn-lt"/>
              </a:rPr>
              <a:t>Students practice in pairs: each person takes one of their topic interests and tells a 60-second 'story spine' of a research project they'd want to do.</a:t>
            </a:r>
            <a:endParaRPr lang="en-US" sz="1500"/>
          </a:p>
          <a:p>
            <a:pPr algn="ctr"/>
            <a:endParaRPr lang="en-US" sz="15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016550067"/>
      </p:ext>
    </p:extLst>
  </p:cSld>
  <p:clrMapOvr>
    <a:masterClrMapping/>
  </p:clrMapOvr>
  <p:transition spd="med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Rectangle"/>
          <p:cNvSpPr/>
          <p:nvPr/>
        </p:nvSpPr>
        <p:spPr>
          <a:xfrm>
            <a:off x="10278766" y="-63446"/>
            <a:ext cx="1058334" cy="698489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 anchor="ctr"/>
          <a:lstStyle/>
          <a:p>
            <a:endParaRPr sz="1500"/>
          </a:p>
        </p:txBody>
      </p:sp>
      <p:sp>
        <p:nvSpPr>
          <p:cNvPr id="1415" name="Rectangle"/>
          <p:cNvSpPr/>
          <p:nvPr/>
        </p:nvSpPr>
        <p:spPr>
          <a:xfrm>
            <a:off x="8310266" y="120000"/>
            <a:ext cx="1058334" cy="698489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 anchor="ctr"/>
          <a:lstStyle/>
          <a:p>
            <a:endParaRPr sz="1500"/>
          </a:p>
        </p:txBody>
      </p:sp>
      <p:sp>
        <p:nvSpPr>
          <p:cNvPr id="1416" name="Rectangle"/>
          <p:cNvSpPr/>
          <p:nvPr/>
        </p:nvSpPr>
        <p:spPr>
          <a:xfrm>
            <a:off x="6341766" y="-63446"/>
            <a:ext cx="1058334" cy="698489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 anchor="ctr"/>
          <a:lstStyle/>
          <a:p>
            <a:endParaRPr sz="1500"/>
          </a:p>
        </p:txBody>
      </p:sp>
      <p:sp>
        <p:nvSpPr>
          <p:cNvPr id="1417" name="Rectangle"/>
          <p:cNvSpPr/>
          <p:nvPr/>
        </p:nvSpPr>
        <p:spPr>
          <a:xfrm>
            <a:off x="4474788" y="-63446"/>
            <a:ext cx="1058334" cy="698489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 anchor="ctr"/>
          <a:lstStyle/>
          <a:p>
            <a:endParaRPr sz="1500"/>
          </a:p>
        </p:txBody>
      </p:sp>
      <p:sp>
        <p:nvSpPr>
          <p:cNvPr id="1418" name="Rectangle"/>
          <p:cNvSpPr/>
          <p:nvPr/>
        </p:nvSpPr>
        <p:spPr>
          <a:xfrm>
            <a:off x="2607811" y="-63446"/>
            <a:ext cx="1058334" cy="698489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 anchor="ctr"/>
          <a:lstStyle/>
          <a:p>
            <a:endParaRPr sz="1500"/>
          </a:p>
        </p:txBody>
      </p:sp>
      <p:sp>
        <p:nvSpPr>
          <p:cNvPr id="1419" name="Rectangle"/>
          <p:cNvSpPr/>
          <p:nvPr/>
        </p:nvSpPr>
        <p:spPr>
          <a:xfrm>
            <a:off x="740833" y="-63446"/>
            <a:ext cx="1058333" cy="698489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 anchor="ctr"/>
          <a:lstStyle/>
          <a:p>
            <a:endParaRPr sz="1500"/>
          </a:p>
        </p:txBody>
      </p:sp>
      <p:sp>
        <p:nvSpPr>
          <p:cNvPr id="1420" name="EXTRA SLIDES FOR DAY 1…"/>
          <p:cNvSpPr txBox="1"/>
          <p:nvPr/>
        </p:nvSpPr>
        <p:spPr>
          <a:xfrm>
            <a:off x="81618" y="1146599"/>
            <a:ext cx="12028765" cy="160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099" tIns="38100" rIns="38099" bIns="38100" anchor="t">
            <a:spAutoFit/>
          </a:bodyPr>
          <a:lstStyle/>
          <a:p>
            <a:pPr algn="ctr">
              <a:lnSpc>
                <a:spcPct val="90000"/>
              </a:lnSpc>
              <a:defRPr sz="4400">
                <a:latin typeface="Aptos Display"/>
                <a:ea typeface="Aptos Display"/>
                <a:cs typeface="Aptos Display"/>
                <a:sym typeface="Aptos Display"/>
              </a:defRPr>
            </a:pPr>
            <a:endParaRPr sz="3667"/>
          </a:p>
          <a:p>
            <a:pPr algn="ctr">
              <a:lnSpc>
                <a:spcPct val="90000"/>
              </a:lnSpc>
              <a:defRPr sz="4400">
                <a:latin typeface="Aptos Display"/>
                <a:ea typeface="Aptos Display"/>
                <a:cs typeface="Aptos Display"/>
                <a:sym typeface="Aptos Display"/>
              </a:defRPr>
            </a:pPr>
            <a:r>
              <a:rPr sz="3667" b="1"/>
              <a:t>EXTRA SLIDES </a:t>
            </a:r>
          </a:p>
          <a:p>
            <a:pPr algn="ctr">
              <a:lnSpc>
                <a:spcPct val="90000"/>
              </a:lnSpc>
              <a:defRPr sz="4400">
                <a:latin typeface="Aptos Display"/>
                <a:ea typeface="Aptos Display"/>
                <a:cs typeface="Aptos Display"/>
                <a:sym typeface="Aptos Display"/>
              </a:defRPr>
            </a:pPr>
            <a:r>
              <a:rPr sz="3667" b="1"/>
              <a:t>(DIDN’T HAVE TIME TO COVER)</a:t>
            </a:r>
          </a:p>
        </p:txBody>
      </p:sp>
      <p:sp>
        <p:nvSpPr>
          <p:cNvPr id="1421" name="Rectangle"/>
          <p:cNvSpPr/>
          <p:nvPr/>
        </p:nvSpPr>
        <p:spPr>
          <a:xfrm>
            <a:off x="-155850" y="6147566"/>
            <a:ext cx="12503701" cy="7488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 anchor="ctr"/>
          <a:lstStyle/>
          <a:p>
            <a:endParaRPr sz="1500"/>
          </a:p>
        </p:txBody>
      </p:sp>
      <p:sp>
        <p:nvSpPr>
          <p:cNvPr id="1422" name="Rectangle"/>
          <p:cNvSpPr/>
          <p:nvPr/>
        </p:nvSpPr>
        <p:spPr>
          <a:xfrm>
            <a:off x="-11851" y="-58595"/>
            <a:ext cx="12215701" cy="7488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 anchor="ctr"/>
          <a:lstStyle/>
          <a:p>
            <a:endParaRPr sz="15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7D5C1D-54A9-5226-E833-E859B7789D2F}"/>
              </a:ext>
            </a:extLst>
          </p:cNvPr>
          <p:cNvSpPr txBox="1"/>
          <p:nvPr/>
        </p:nvSpPr>
        <p:spPr>
          <a:xfrm>
            <a:off x="166742" y="185563"/>
            <a:ext cx="2048178" cy="948847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>
                <a:highlight>
                  <a:srgbClr val="FFFF00"/>
                </a:highlight>
              </a:rPr>
              <a:t>OUT​</a:t>
            </a:r>
          </a:p>
          <a:p>
            <a:pPr algn="ctr"/>
            <a:endParaRPr lang="en-US" sz="2833" b="1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NEXT:…"/>
          <p:cNvSpPr txBox="1"/>
          <p:nvPr/>
        </p:nvSpPr>
        <p:spPr>
          <a:xfrm>
            <a:off x="81618" y="829800"/>
            <a:ext cx="12028765" cy="2127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099" rIns="38099">
            <a:spAutoFit/>
          </a:bodyPr>
          <a:lstStyle/>
          <a:p>
            <a:pPr algn="ctr">
              <a:lnSpc>
                <a:spcPct val="90000"/>
              </a:lnSpc>
              <a:defRPr sz="4400">
                <a:latin typeface="Aptos Display"/>
                <a:ea typeface="Aptos Display"/>
                <a:cs typeface="Aptos Display"/>
                <a:sym typeface="Aptos Display"/>
              </a:defRPr>
            </a:pPr>
            <a:endParaRPr sz="3667"/>
          </a:p>
          <a:p>
            <a:pPr algn="ctr">
              <a:lnSpc>
                <a:spcPct val="90000"/>
              </a:lnSpc>
              <a:defRPr sz="4400">
                <a:latin typeface="Aptos Display"/>
                <a:ea typeface="Aptos Display"/>
                <a:cs typeface="Aptos Display"/>
                <a:sym typeface="Aptos Display"/>
              </a:defRPr>
            </a:pPr>
            <a:r>
              <a:rPr sz="3667"/>
              <a:t>NEXT: </a:t>
            </a:r>
          </a:p>
          <a:p>
            <a:pPr algn="ctr">
              <a:lnSpc>
                <a:spcPct val="90000"/>
              </a:lnSpc>
              <a:defRPr sz="4400">
                <a:latin typeface="Aptos Display"/>
                <a:ea typeface="Aptos Display"/>
                <a:cs typeface="Aptos Display"/>
                <a:sym typeface="Aptos Display"/>
              </a:defRPr>
            </a:pPr>
            <a:endParaRPr sz="3667"/>
          </a:p>
          <a:p>
            <a:pPr algn="ctr">
              <a:lnSpc>
                <a:spcPct val="90000"/>
              </a:lnSpc>
              <a:defRPr sz="4400">
                <a:latin typeface="Aptos Display"/>
                <a:ea typeface="Aptos Display"/>
                <a:cs typeface="Aptos Display"/>
                <a:sym typeface="Aptos Display"/>
              </a:defRPr>
            </a:pPr>
            <a:r>
              <a:rPr sz="3667"/>
              <a:t>GOAL SETTING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052E99-652C-710E-9F65-87F07678AC12}"/>
              </a:ext>
            </a:extLst>
          </p:cNvPr>
          <p:cNvSpPr txBox="1"/>
          <p:nvPr/>
        </p:nvSpPr>
        <p:spPr>
          <a:xfrm>
            <a:off x="166742" y="185563"/>
            <a:ext cx="2048178" cy="948847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>
                <a:highlight>
                  <a:srgbClr val="FFFF00"/>
                </a:highlight>
              </a:rPr>
              <a:t>OUT​</a:t>
            </a:r>
          </a:p>
          <a:p>
            <a:pPr algn="ctr"/>
            <a:endParaRPr lang="en-US" sz="2833" b="1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55" name="Table 1"/>
          <p:cNvGraphicFramePr/>
          <p:nvPr/>
        </p:nvGraphicFramePr>
        <p:xfrm>
          <a:off x="2416969" y="894292"/>
          <a:ext cx="7358063" cy="5069417"/>
        </p:xfrm>
        <a:graphic>
          <a:graphicData uri="http://schemas.openxmlformats.org/drawingml/2006/table">
            <a:tbl>
              <a:tblPr bandRow="1"/>
              <a:tblGrid>
                <a:gridCol w="2452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2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2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13883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800" b="1"/>
                        <a:t>WHAT WE KNOW ABOUT THIS ISSUE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800" b="1"/>
                        <a:t>WHAT WE  
WANT TO KNOW</a:t>
                      </a:r>
                    </a:p>
                  </a:txBody>
                  <a:tcPr marL="0" marR="0" marT="0" marB="0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800" b="1"/>
                        <a:t>?</a:t>
                      </a:r>
                    </a:p>
                  </a:txBody>
                  <a:tcPr marL="0" marR="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388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500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500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500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388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500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500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500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388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500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500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500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388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500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500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endParaRPr sz="1500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77B46A5-BB5F-65B6-B92F-1E9EC0DE9474}"/>
              </a:ext>
            </a:extLst>
          </p:cNvPr>
          <p:cNvSpPr txBox="1"/>
          <p:nvPr/>
        </p:nvSpPr>
        <p:spPr>
          <a:xfrm>
            <a:off x="166742" y="185563"/>
            <a:ext cx="2048178" cy="948847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>
                <a:highlight>
                  <a:srgbClr val="FFFF00"/>
                </a:highlight>
              </a:rPr>
              <a:t>OUT​</a:t>
            </a:r>
          </a:p>
          <a:p>
            <a:pPr algn="ctr"/>
            <a:endParaRPr lang="en-US" sz="2833" b="1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WHAT ABOUT YOUR GOALS FOR THE CAMP?…"/>
          <p:cNvSpPr txBox="1"/>
          <p:nvPr/>
        </p:nvSpPr>
        <p:spPr>
          <a:xfrm>
            <a:off x="81618" y="829800"/>
            <a:ext cx="12028765" cy="21271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099" rIns="38099">
            <a:spAutoFit/>
          </a:bodyPr>
          <a:lstStyle/>
          <a:p>
            <a:pPr algn="ctr">
              <a:lnSpc>
                <a:spcPct val="90000"/>
              </a:lnSpc>
              <a:defRPr sz="4400">
                <a:latin typeface="Aptos Display"/>
                <a:ea typeface="Aptos Display"/>
                <a:cs typeface="Aptos Display"/>
                <a:sym typeface="Aptos Display"/>
              </a:defRPr>
            </a:pPr>
            <a:endParaRPr sz="3667"/>
          </a:p>
          <a:p>
            <a:pPr algn="ctr">
              <a:lnSpc>
                <a:spcPct val="90000"/>
              </a:lnSpc>
              <a:defRPr sz="4400" b="1">
                <a:latin typeface="Aptos Display"/>
                <a:ea typeface="Aptos Display"/>
                <a:cs typeface="Aptos Display"/>
                <a:sym typeface="Aptos Display"/>
              </a:defRPr>
            </a:pPr>
            <a:r>
              <a:rPr sz="3667"/>
              <a:t>WHAT ABOUT YOUR GOALS FOR THE CAMP? </a:t>
            </a:r>
          </a:p>
          <a:p>
            <a:pPr algn="ctr">
              <a:lnSpc>
                <a:spcPct val="90000"/>
              </a:lnSpc>
              <a:defRPr sz="4400">
                <a:latin typeface="Aptos Display"/>
                <a:ea typeface="Aptos Display"/>
                <a:cs typeface="Aptos Display"/>
                <a:sym typeface="Aptos Display"/>
              </a:defRPr>
            </a:pPr>
            <a:endParaRPr sz="3667"/>
          </a:p>
          <a:p>
            <a:pPr algn="ctr">
              <a:lnSpc>
                <a:spcPct val="90000"/>
              </a:lnSpc>
              <a:defRPr sz="4400">
                <a:latin typeface="Aptos Display"/>
                <a:ea typeface="Aptos Display"/>
                <a:cs typeface="Aptos Display"/>
                <a:sym typeface="Aptos Display"/>
              </a:defRPr>
            </a:pPr>
            <a:r>
              <a:rPr sz="3667"/>
              <a:t>Each team write down 2 goals.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4BEA4C-AF86-3DFE-CEA1-748BDB6C2404}"/>
              </a:ext>
            </a:extLst>
          </p:cNvPr>
          <p:cNvSpPr txBox="1"/>
          <p:nvPr/>
        </p:nvSpPr>
        <p:spPr>
          <a:xfrm>
            <a:off x="166742" y="185563"/>
            <a:ext cx="2048178" cy="948847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>
                <a:highlight>
                  <a:srgbClr val="FFFF00"/>
                </a:highlight>
              </a:rPr>
              <a:t>OUT​</a:t>
            </a:r>
          </a:p>
          <a:p>
            <a:pPr algn="ctr"/>
            <a:endParaRPr lang="en-US" sz="2833" b="1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3967</Words>
  <Application>Microsoft Macintosh PowerPoint</Application>
  <PresentationFormat>Widescreen</PresentationFormat>
  <Paragraphs>593</Paragraphs>
  <Slides>71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7" baseType="lpstr">
      <vt:lpstr>Aptos</vt:lpstr>
      <vt:lpstr>Aptos Display</vt:lpstr>
      <vt:lpstr>Arial</vt:lpstr>
      <vt:lpstr>Helvetica</vt:lpstr>
      <vt:lpstr>Times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Hussain Hadah</dc:creator>
  <cp:lastModifiedBy>Hussain Hadah</cp:lastModifiedBy>
  <cp:revision>1</cp:revision>
  <dcterms:created xsi:type="dcterms:W3CDTF">2026-06-20T16:45:46Z</dcterms:created>
  <dcterms:modified xsi:type="dcterms:W3CDTF">2026-06-20T16:46:08Z</dcterms:modified>
</cp:coreProperties>
</file>