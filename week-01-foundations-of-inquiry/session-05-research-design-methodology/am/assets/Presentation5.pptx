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08" r:id="rId2"/>
    <p:sldId id="653" r:id="rId3"/>
    <p:sldId id="654" r:id="rId4"/>
    <p:sldId id="390" r:id="rId5"/>
    <p:sldId id="426" r:id="rId6"/>
    <p:sldId id="391" r:id="rId7"/>
    <p:sldId id="393" r:id="rId8"/>
    <p:sldId id="394" r:id="rId9"/>
    <p:sldId id="395" r:id="rId10"/>
    <p:sldId id="396" r:id="rId11"/>
    <p:sldId id="397" r:id="rId12"/>
    <p:sldId id="398" r:id="rId13"/>
    <p:sldId id="399" r:id="rId14"/>
    <p:sldId id="400" r:id="rId15"/>
    <p:sldId id="401" r:id="rId16"/>
    <p:sldId id="430" r:id="rId17"/>
    <p:sldId id="431" r:id="rId18"/>
    <p:sldId id="432" r:id="rId19"/>
    <p:sldId id="433" r:id="rId20"/>
    <p:sldId id="436" r:id="rId21"/>
    <p:sldId id="656" r:id="rId22"/>
    <p:sldId id="446" r:id="rId23"/>
    <p:sldId id="447" r:id="rId24"/>
    <p:sldId id="65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78"/>
    <p:restoredTop sz="94668"/>
  </p:normalViewPr>
  <p:slideViewPr>
    <p:cSldViewPr snapToGrid="0">
      <p:cViewPr varScale="1">
        <p:scale>
          <a:sx n="124" d="100"/>
          <a:sy n="124" d="100"/>
        </p:scale>
        <p:origin x="192" y="29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0CB63-79ED-1BFF-4DBA-7EA2578510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59D9F7-4B1E-EDA1-C768-DF39FFC1C1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9895CA-5930-867D-FC34-842873C82521}"/>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5" name="Footer Placeholder 4">
            <a:extLst>
              <a:ext uri="{FF2B5EF4-FFF2-40B4-BE49-F238E27FC236}">
                <a16:creationId xmlns:a16="http://schemas.microsoft.com/office/drawing/2014/main" id="{A98D92A0-BC0F-CB93-42C8-D643881697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5DC3A6-7C0C-19CB-AA32-8A353A35E999}"/>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3849587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8F35B-28CF-5024-DB71-C3DB6C0D27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D5F38F-C292-B626-84DE-33B407E001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D71E4-528C-8144-4529-5C085BF7C01A}"/>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5" name="Footer Placeholder 4">
            <a:extLst>
              <a:ext uri="{FF2B5EF4-FFF2-40B4-BE49-F238E27FC236}">
                <a16:creationId xmlns:a16="http://schemas.microsoft.com/office/drawing/2014/main" id="{AFF687C6-8201-E43E-C57D-7A0E7B14A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D5D4DB-C1D5-0367-BA93-96B8BC2CF7E2}"/>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624634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6ACF4-433C-F281-BE8D-FBEABBA877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F21A54-3FE2-03B3-BA1F-D8BEFBB9AF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2EFF78-BE94-CE02-A3BA-C33637C0BF3F}"/>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5" name="Footer Placeholder 4">
            <a:extLst>
              <a:ext uri="{FF2B5EF4-FFF2-40B4-BE49-F238E27FC236}">
                <a16:creationId xmlns:a16="http://schemas.microsoft.com/office/drawing/2014/main" id="{E22ADE4E-80E6-37BD-0E3C-587D061D0F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56CB28-00CA-5A88-46B1-0127AD5BE6FF}"/>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1083426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69807-AC95-55FA-C356-A3C587F5B3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A3A579-FF6D-44A7-6BD2-D75943155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1EE88C-60A9-7508-147B-797C904E92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75F9C1-12A0-CBCE-97F3-1133E44D0CEB}"/>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6" name="Footer Placeholder 5">
            <a:extLst>
              <a:ext uri="{FF2B5EF4-FFF2-40B4-BE49-F238E27FC236}">
                <a16:creationId xmlns:a16="http://schemas.microsoft.com/office/drawing/2014/main" id="{0C713378-12D5-A7D5-19AF-CBE2EC9933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599F09-A75C-56E4-5C61-26A36049512C}"/>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133372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F34C3-E475-539D-DA80-92ED3FCFD5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1D067F-4193-CE04-FC6D-F09E1721E0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2FFB87-D5D0-F2A9-E498-9E6777CEDD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138357-2A03-9139-198D-A534B87952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FF4E93-CB48-F6DB-0412-B6BA2DB5B2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8B2B92-2972-B968-3E24-6B8378B2EDF7}"/>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8" name="Footer Placeholder 7">
            <a:extLst>
              <a:ext uri="{FF2B5EF4-FFF2-40B4-BE49-F238E27FC236}">
                <a16:creationId xmlns:a16="http://schemas.microsoft.com/office/drawing/2014/main" id="{A350799D-73A2-1540-A8AD-0BDC6A5482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0430AE-EE6A-DCEE-F40D-BFF0415D962E}"/>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3855111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6DC38-B207-83F1-DA6E-3022DF5840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10748A-3FAE-C2F4-711F-7CE788BCE963}"/>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4" name="Footer Placeholder 3">
            <a:extLst>
              <a:ext uri="{FF2B5EF4-FFF2-40B4-BE49-F238E27FC236}">
                <a16:creationId xmlns:a16="http://schemas.microsoft.com/office/drawing/2014/main" id="{C786CFF3-C567-425E-102B-9F5048A9ED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C76BBD-E17A-380B-B7B4-42A845357468}"/>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2168563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D544C1-072E-30CC-402A-25956CD81CF2}"/>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3" name="Footer Placeholder 2">
            <a:extLst>
              <a:ext uri="{FF2B5EF4-FFF2-40B4-BE49-F238E27FC236}">
                <a16:creationId xmlns:a16="http://schemas.microsoft.com/office/drawing/2014/main" id="{E5DFC523-A6B3-D9CE-411A-E30B55F5ED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7DC7D0-26B0-2EA0-14BD-2B68A8634F7B}"/>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1540042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75EB-1D5E-64A7-BE1E-84CC98F388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3B86B6D-1D65-FD27-868D-81F82DB193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2D58F2-1725-9C3F-F6E5-FE80B1D80B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7039FC-C274-FC81-576D-6C6DF7C22670}"/>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6" name="Footer Placeholder 5">
            <a:extLst>
              <a:ext uri="{FF2B5EF4-FFF2-40B4-BE49-F238E27FC236}">
                <a16:creationId xmlns:a16="http://schemas.microsoft.com/office/drawing/2014/main" id="{F82D0695-2EAB-A0FB-D8DB-CCB970A94B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467BA2-0C0D-FD87-E08B-2B9EC42D4C93}"/>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1802222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F7299-2A45-0E08-4910-382621C69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730356-9B5D-EF88-7CD2-31120BE979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B8105A-EA42-39FD-5CED-F7A4D8950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4A9F10-8EE1-288C-3F1B-FEE759CF0BDA}"/>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6" name="Footer Placeholder 5">
            <a:extLst>
              <a:ext uri="{FF2B5EF4-FFF2-40B4-BE49-F238E27FC236}">
                <a16:creationId xmlns:a16="http://schemas.microsoft.com/office/drawing/2014/main" id="{15E286C2-8549-C803-E687-8BDDFFC569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D79632-2C27-418B-6B89-7B675C4B3137}"/>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1715104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4C7A7-CA6C-1BA8-9012-286B9C95C9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6B4EB1-8D52-69FB-6678-6B0987261F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358A81-46F8-EA62-BE35-C72680EF34F0}"/>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5" name="Footer Placeholder 4">
            <a:extLst>
              <a:ext uri="{FF2B5EF4-FFF2-40B4-BE49-F238E27FC236}">
                <a16:creationId xmlns:a16="http://schemas.microsoft.com/office/drawing/2014/main" id="{E2A3143B-8128-42DA-ED72-F59D7A279A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33DC87-2B60-E882-A313-BFB629A52DBA}"/>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754912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5ABD9C-F8BA-B4FF-9167-F7F1B73392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643C4C-281A-10F6-3A5E-6E2E4D6EDD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65C2D-42E8-A7E8-02AE-5E53439C4162}"/>
              </a:ext>
            </a:extLst>
          </p:cNvPr>
          <p:cNvSpPr>
            <a:spLocks noGrp="1"/>
          </p:cNvSpPr>
          <p:nvPr>
            <p:ph type="dt" sz="half" idx="10"/>
          </p:nvPr>
        </p:nvSpPr>
        <p:spPr/>
        <p:txBody>
          <a:bodyPr/>
          <a:lstStyle/>
          <a:p>
            <a:fld id="{9F74BE98-15A0-C949-881B-BA06CEACC858}" type="datetimeFigureOut">
              <a:rPr lang="en-US" smtClean="0"/>
              <a:t>6/21/26</a:t>
            </a:fld>
            <a:endParaRPr lang="en-US"/>
          </a:p>
        </p:txBody>
      </p:sp>
      <p:sp>
        <p:nvSpPr>
          <p:cNvPr id="5" name="Footer Placeholder 4">
            <a:extLst>
              <a:ext uri="{FF2B5EF4-FFF2-40B4-BE49-F238E27FC236}">
                <a16:creationId xmlns:a16="http://schemas.microsoft.com/office/drawing/2014/main" id="{6E9CF2E2-6110-7DAF-B276-CC389784AE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CC408B-9061-7EF0-0AD2-7E76DAF800E5}"/>
              </a:ext>
            </a:extLst>
          </p:cNvPr>
          <p:cNvSpPr>
            <a:spLocks noGrp="1"/>
          </p:cNvSpPr>
          <p:nvPr>
            <p:ph type="sldNum" sz="quarter" idx="12"/>
          </p:nvPr>
        </p:nvSpPr>
        <p:spPr/>
        <p:txBody>
          <a:bodyPr/>
          <a:lstStyle/>
          <a:p>
            <a:fld id="{BBF7B3E6-2BE9-F847-B4DB-98624152C71C}" type="slidenum">
              <a:rPr lang="en-US" smtClean="0"/>
              <a:t>‹#›</a:t>
            </a:fld>
            <a:endParaRPr lang="en-US"/>
          </a:p>
        </p:txBody>
      </p:sp>
    </p:spTree>
    <p:extLst>
      <p:ext uri="{BB962C8B-B14F-4D97-AF65-F5344CB8AC3E}">
        <p14:creationId xmlns:p14="http://schemas.microsoft.com/office/powerpoint/2010/main" val="1837224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Slide 1 master">
    <p:spTree>
      <p:nvGrpSpPr>
        <p:cNvPr id="1" name=""/>
        <p:cNvGrpSpPr/>
        <p:nvPr/>
      </p:nvGrpSpPr>
      <p:grpSpPr>
        <a:xfrm>
          <a:off x="0" y="0"/>
          <a:ext cx="0" cy="0"/>
          <a:chOff x="0" y="0"/>
          <a:chExt cx="0" cy="0"/>
        </a:xfrm>
      </p:grpSpPr>
      <p:pic>
        <p:nvPicPr>
          <p:cNvPr id="94" name="Picture 7" descr="Picture 7"/>
          <p:cNvPicPr>
            <a:picLocks noChangeAspect="1"/>
          </p:cNvPicPr>
          <p:nvPr/>
        </p:nvPicPr>
        <p:blipFill>
          <a:blip r:embed="rId2"/>
          <a:stretch>
            <a:fillRect/>
          </a:stretch>
        </p:blipFill>
        <p:spPr>
          <a:xfrm>
            <a:off x="9627038" y="1277"/>
            <a:ext cx="2564962" cy="586750"/>
          </a:xfrm>
          <a:prstGeom prst="rect">
            <a:avLst/>
          </a:prstGeom>
          <a:ln w="12700">
            <a:miter lim="400000"/>
          </a:ln>
        </p:spPr>
      </p:pic>
      <p:pic>
        <p:nvPicPr>
          <p:cNvPr id="95" name="Picture 9" descr="Picture 9"/>
          <p:cNvPicPr>
            <a:picLocks noChangeAspect="1"/>
          </p:cNvPicPr>
          <p:nvPr/>
        </p:nvPicPr>
        <p:blipFill>
          <a:blip r:embed="rId3"/>
          <a:stretch>
            <a:fillRect/>
          </a:stretch>
        </p:blipFill>
        <p:spPr>
          <a:xfrm>
            <a:off x="4474788" y="6486580"/>
            <a:ext cx="3389313" cy="166688"/>
          </a:xfrm>
          <a:prstGeom prst="rect">
            <a:avLst/>
          </a:prstGeom>
          <a:ln w="12700">
            <a:miter lim="400000"/>
          </a:ln>
        </p:spPr>
      </p:pic>
      <p:sp>
        <p:nvSpPr>
          <p:cNvPr id="96" name="Slide Number"/>
          <p:cNvSpPr txBox="1">
            <a:spLocks noGrp="1"/>
          </p:cNvSpPr>
          <p:nvPr>
            <p:ph type="sldNum" sz="quarter" idx="2"/>
          </p:nvPr>
        </p:nvSpPr>
        <p:spPr>
          <a:xfrm>
            <a:off x="5892800" y="6173787"/>
            <a:ext cx="2844801" cy="36512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5949279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9FD6C6-27D7-FB8E-5198-B778AA077F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BFF890-DC64-E139-2A7F-247C1BD5A5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DBBF0-AF6E-4D29-07B4-C0953140EA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74BE98-15A0-C949-881B-BA06CEACC858}" type="datetimeFigureOut">
              <a:rPr lang="en-US" smtClean="0"/>
              <a:t>6/21/26</a:t>
            </a:fld>
            <a:endParaRPr lang="en-US"/>
          </a:p>
        </p:txBody>
      </p:sp>
      <p:sp>
        <p:nvSpPr>
          <p:cNvPr id="5" name="Footer Placeholder 4">
            <a:extLst>
              <a:ext uri="{FF2B5EF4-FFF2-40B4-BE49-F238E27FC236}">
                <a16:creationId xmlns:a16="http://schemas.microsoft.com/office/drawing/2014/main" id="{4615B990-6758-56FC-6BF5-478AD0E64C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73EF54-C550-C82F-25D1-ED93676706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F7B3E6-2BE9-F847-B4DB-98624152C71C}" type="slidenum">
              <a:rPr lang="en-US" smtClean="0"/>
              <a:t>‹#›</a:t>
            </a:fld>
            <a:endParaRPr lang="en-US"/>
          </a:p>
        </p:txBody>
      </p:sp>
    </p:spTree>
    <p:extLst>
      <p:ext uri="{BB962C8B-B14F-4D97-AF65-F5344CB8AC3E}">
        <p14:creationId xmlns:p14="http://schemas.microsoft.com/office/powerpoint/2010/main" val="18599207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5" name="RESEARCH METHODS…"/>
          <p:cNvSpPr txBox="1"/>
          <p:nvPr/>
        </p:nvSpPr>
        <p:spPr>
          <a:xfrm>
            <a:off x="853752" y="1470895"/>
            <a:ext cx="10191636" cy="2564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099" tIns="38100" rIns="38099" bIns="38100" anchor="t">
            <a:spAutoFit/>
          </a:bodyPr>
          <a:lstStyle/>
          <a:p>
            <a:pPr algn="ctr">
              <a:lnSpc>
                <a:spcPct val="90000"/>
              </a:lnSpc>
              <a:defRPr sz="6000" b="1">
                <a:latin typeface="Playfair Display Bold"/>
                <a:ea typeface="Playfair Display Bold"/>
                <a:cs typeface="Playfair Display Bold"/>
                <a:sym typeface="Playfair Display Bold"/>
              </a:defRPr>
            </a:pPr>
            <a:r>
              <a:rPr sz="5000"/>
              <a:t>RESEARCH METHODS</a:t>
            </a:r>
          </a:p>
          <a:p>
            <a:pPr algn="ctr">
              <a:lnSpc>
                <a:spcPct val="90000"/>
              </a:lnSpc>
              <a:defRPr sz="6000" b="1">
                <a:latin typeface="Playfair Display Bold"/>
                <a:ea typeface="Playfair Display Bold"/>
                <a:cs typeface="Playfair Display Bold"/>
                <a:sym typeface="Playfair Display Bold"/>
              </a:defRPr>
            </a:pPr>
            <a:endParaRPr sz="5000"/>
          </a:p>
          <a:p>
            <a:pPr algn="ctr">
              <a:lnSpc>
                <a:spcPct val="90000"/>
              </a:lnSpc>
              <a:defRPr sz="6000" b="1">
                <a:latin typeface="Playfair Display Bold"/>
                <a:ea typeface="Playfair Display Bold"/>
                <a:cs typeface="Playfair Display Bold"/>
                <a:sym typeface="Playfair Display Bold"/>
              </a:defRPr>
            </a:pPr>
            <a:r>
              <a:rPr sz="5000"/>
              <a:t>DAY </a:t>
            </a:r>
            <a:r>
              <a:rPr lang="en-US" sz="5000"/>
              <a:t>5</a:t>
            </a:r>
            <a:endParaRPr sz="5000"/>
          </a:p>
          <a:p>
            <a:pPr algn="ctr" defTabSz="380985">
              <a:defRPr sz="1600">
                <a:latin typeface="Playfair Display Bold"/>
                <a:ea typeface="Playfair Display Bold"/>
                <a:cs typeface="Playfair Display Bold"/>
                <a:sym typeface="Playfair Display Bold"/>
              </a:defRPr>
            </a:pPr>
            <a:endParaRPr sz="1333"/>
          </a:p>
          <a:p>
            <a:pPr algn="ctr" defTabSz="380985">
              <a:defRPr sz="1600">
                <a:latin typeface="Playfair Display Bold"/>
                <a:ea typeface="Playfair Display Bold"/>
                <a:cs typeface="Playfair Display Bold"/>
                <a:sym typeface="Playfair Display Bold"/>
              </a:defRPr>
            </a:pPr>
            <a:endParaRPr sz="1333"/>
          </a:p>
        </p:txBody>
      </p:sp>
      <p:sp>
        <p:nvSpPr>
          <p:cNvPr id="2256" name="Rectangle"/>
          <p:cNvSpPr/>
          <p:nvPr/>
        </p:nvSpPr>
        <p:spPr>
          <a:xfrm>
            <a:off x="-62743" y="-81"/>
            <a:ext cx="9701771" cy="586749"/>
          </a:xfrm>
          <a:prstGeom prst="rect">
            <a:avLst/>
          </a:prstGeom>
          <a:solidFill>
            <a:srgbClr val="FFFFFF"/>
          </a:solidFill>
          <a:ln w="12700">
            <a:miter lim="400000"/>
          </a:ln>
        </p:spPr>
        <p:txBody>
          <a:bodyPr lIns="38099" rIns="38099" anchor="ctr"/>
          <a:lstStyle/>
          <a:p>
            <a:endParaRPr sz="150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BE82F-6059-075C-5AFC-44DE687115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2CC102-7CBF-18B8-8421-04B712303EA2}"/>
              </a:ext>
            </a:extLst>
          </p:cNvPr>
          <p:cNvSpPr txBox="1"/>
          <p:nvPr/>
        </p:nvSpPr>
        <p:spPr>
          <a:xfrm>
            <a:off x="166742" y="185564"/>
            <a:ext cx="5241783" cy="4693591"/>
          </a:xfrm>
          <a:prstGeom prst="rect">
            <a:avLst/>
          </a:prstGeom>
          <a:solidFill>
            <a:srgbClr val="FFFF00"/>
          </a:solidFill>
          <a:ln w="5715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099" tIns="38099" rIns="38099" bIns="38099" numCol="1" spcCol="38100" rtlCol="0" fromWordArt="0" anchor="t" anchorCtr="0" forceAA="0" compatLnSpc="1">
            <a:prstTxWarp prst="textNoShape">
              <a:avLst/>
            </a:prstTxWarp>
            <a:spAutoFit/>
          </a:bodyPr>
          <a:lstStyle/>
          <a:p>
            <a:pPr algn="ctr"/>
            <a:r>
              <a:rPr lang="en-US" sz="2833" b="1">
                <a:highlight>
                  <a:srgbClr val="FFFF00"/>
                </a:highlight>
              </a:rPr>
              <a:t>New Slide to introduce activity:</a:t>
            </a:r>
          </a:p>
          <a:p>
            <a:pPr algn="ctr"/>
            <a:r>
              <a:rPr lang="en-US" sz="2833" b="1">
                <a:highlight>
                  <a:srgbClr val="FFFF00"/>
                </a:highlight>
              </a:rPr>
              <a:t>TEAM PRESENTATIONS: Lit Findings</a:t>
            </a:r>
            <a:endParaRPr lang="en-US" sz="2833" b="1" dirty="0">
              <a:highlight>
                <a:srgbClr val="FFFF00"/>
              </a:highlight>
            </a:endParaRPr>
          </a:p>
          <a:p>
            <a:pPr algn="ctr"/>
            <a:endParaRPr lang="en-US" sz="2833" b="1" dirty="0">
              <a:highlight>
                <a:srgbClr val="FFFF00"/>
              </a:highlight>
            </a:endParaRPr>
          </a:p>
          <a:p>
            <a:pPr algn="ctr"/>
            <a:r>
              <a:rPr lang="en-US" sz="2833" b="1">
                <a:highlight>
                  <a:srgbClr val="FFFF00"/>
                </a:highlight>
              </a:rPr>
              <a:t>Curriculum says:</a:t>
            </a:r>
            <a:endParaRPr lang="en-US" sz="1500"/>
          </a:p>
          <a:p>
            <a:pPr algn="ctr"/>
            <a:r>
              <a:rPr lang="en-US" sz="1667" dirty="0">
                <a:solidFill>
                  <a:srgbClr val="111111"/>
                </a:solidFill>
                <a:highlight>
                  <a:srgbClr val="FFFF00"/>
                </a:highlight>
                <a:latin typeface="Arial"/>
                <a:cs typeface="Arial"/>
              </a:rPr>
              <a:t> </a:t>
            </a:r>
            <a:r>
              <a:rPr lang="en-US" sz="1667">
                <a:solidFill>
                  <a:srgbClr val="111111"/>
                </a:solidFill>
                <a:highlight>
                  <a:srgbClr val="FFFF00"/>
                </a:highlight>
                <a:latin typeface="Arial"/>
                <a:cs typeface="Arial"/>
              </a:rPr>
              <a:t>Team Presentations: Literature Findings (30 min)</a:t>
            </a:r>
          </a:p>
          <a:p>
            <a:pPr algn="ctr"/>
            <a:r>
              <a:rPr lang="en-US" sz="1667">
                <a:solidFill>
                  <a:srgbClr val="111111"/>
                </a:solidFill>
                <a:highlight>
                  <a:srgbClr val="FFFF00"/>
                </a:highlight>
                <a:latin typeface="Arial"/>
                <a:cs typeface="Arial"/>
              </a:rPr>
              <a:t>Each team presents 1–2 interesting findings from their literature review (from Session 4 Mission Sheet Part 2). Class gives one piece of feedback per team: 'One question this raises for me...'</a:t>
            </a:r>
            <a:endParaRPr lang="en-US" sz="1500"/>
          </a:p>
          <a:p>
            <a:pPr algn="ctr"/>
            <a:br>
              <a:rPr lang="en-US" sz="1500" dirty="0"/>
            </a:br>
            <a:endParaRPr lang="en-US" sz="1500" dirty="0"/>
          </a:p>
          <a:p>
            <a:pPr algn="ctr"/>
            <a:br>
              <a:rPr lang="en-US" sz="1500" dirty="0"/>
            </a:br>
            <a:endParaRPr lang="en-US" sz="3000"/>
          </a:p>
        </p:txBody>
      </p:sp>
    </p:spTree>
    <p:extLst>
      <p:ext uri="{BB962C8B-B14F-4D97-AF65-F5344CB8AC3E}">
        <p14:creationId xmlns:p14="http://schemas.microsoft.com/office/powerpoint/2010/main" val="416981291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9E415-54BD-C6A1-0137-646B420E515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8EE431-460E-D06A-74BC-CA1BF1294F89}"/>
              </a:ext>
            </a:extLst>
          </p:cNvPr>
          <p:cNvSpPr txBox="1"/>
          <p:nvPr/>
        </p:nvSpPr>
        <p:spPr>
          <a:xfrm>
            <a:off x="166742" y="185563"/>
            <a:ext cx="5241783" cy="4770728"/>
          </a:xfrm>
          <a:prstGeom prst="rect">
            <a:avLst/>
          </a:prstGeom>
          <a:solidFill>
            <a:srgbClr val="FFFF00"/>
          </a:solidFill>
          <a:ln w="5715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099" tIns="38099" rIns="38099" bIns="38099" numCol="1" spcCol="38100" rtlCol="0" fromWordArt="0" anchor="t" anchorCtr="0" forceAA="0" compatLnSpc="1">
            <a:prstTxWarp prst="textNoShape">
              <a:avLst/>
            </a:prstTxWarp>
            <a:spAutoFit/>
          </a:bodyPr>
          <a:lstStyle/>
          <a:p>
            <a:pPr algn="ctr"/>
            <a:r>
              <a:rPr lang="en-US" sz="2833" b="1">
                <a:highlight>
                  <a:srgbClr val="FFFF00"/>
                </a:highlight>
              </a:rPr>
              <a:t>New Slide to introduce activity:</a:t>
            </a:r>
          </a:p>
          <a:p>
            <a:pPr algn="ctr"/>
            <a:r>
              <a:rPr lang="en-US" sz="2833" b="1">
                <a:highlight>
                  <a:srgbClr val="FFFF00"/>
                </a:highlight>
              </a:rPr>
              <a:t>EVIDENCE OF IMPORTANCE</a:t>
            </a:r>
            <a:endParaRPr lang="en-US" sz="2833" b="1" dirty="0">
              <a:highlight>
                <a:srgbClr val="FFFF00"/>
              </a:highlight>
            </a:endParaRPr>
          </a:p>
          <a:p>
            <a:pPr algn="ctr"/>
            <a:endParaRPr lang="en-US" sz="2833" b="1" dirty="0">
              <a:highlight>
                <a:srgbClr val="FFFF00"/>
              </a:highlight>
            </a:endParaRPr>
          </a:p>
          <a:p>
            <a:pPr algn="ctr"/>
            <a:r>
              <a:rPr lang="en-US" sz="2833" b="1">
                <a:highlight>
                  <a:srgbClr val="FFFF00"/>
                </a:highlight>
              </a:rPr>
              <a:t>Curriculum says:</a:t>
            </a:r>
            <a:endParaRPr lang="en-US" sz="1500"/>
          </a:p>
          <a:p>
            <a:pPr algn="ctr"/>
            <a:r>
              <a:rPr lang="en-US" sz="1667" dirty="0">
                <a:solidFill>
                  <a:srgbClr val="111111"/>
                </a:solidFill>
                <a:highlight>
                  <a:srgbClr val="FFFF00"/>
                </a:highlight>
                <a:latin typeface="Arial"/>
                <a:cs typeface="Arial"/>
              </a:rPr>
              <a:t> </a:t>
            </a:r>
            <a:r>
              <a:rPr lang="en-US" sz="1667">
                <a:solidFill>
                  <a:srgbClr val="111111"/>
                </a:solidFill>
                <a:highlight>
                  <a:srgbClr val="FFFF00"/>
                </a:highlight>
                <a:latin typeface="Arial"/>
                <a:cs typeface="Arial"/>
              </a:rPr>
              <a:t>Evidence of Importance (20 min)</a:t>
            </a:r>
          </a:p>
          <a:p>
            <a:pPr algn="ctr"/>
            <a:endParaRPr lang="en-US" sz="1667" dirty="0">
              <a:solidFill>
                <a:srgbClr val="111111"/>
              </a:solidFill>
              <a:highlight>
                <a:srgbClr val="FFFF00"/>
              </a:highlight>
              <a:latin typeface="Arial"/>
              <a:cs typeface="Arial"/>
            </a:endParaRPr>
          </a:p>
          <a:p>
            <a:pPr algn="ctr"/>
            <a:r>
              <a:rPr lang="en-US" sz="1667">
                <a:solidFill>
                  <a:srgbClr val="111111"/>
                </a:solidFill>
                <a:highlight>
                  <a:srgbClr val="FFFF00"/>
                </a:highlight>
                <a:latin typeface="Arial"/>
                <a:cs typeface="Arial"/>
              </a:rPr>
              <a:t>Using the 'Evidence of Importance' Handout: teams compile 2–3 statistics or findings from their literature review that show why their research topic matters. </a:t>
            </a:r>
            <a:endParaRPr lang="en-US" sz="1500">
              <a:latin typeface="Aptos"/>
              <a:cs typeface="Arial"/>
            </a:endParaRPr>
          </a:p>
          <a:p>
            <a:pPr algn="ctr"/>
            <a:endParaRPr lang="en-US" sz="1667" dirty="0">
              <a:solidFill>
                <a:srgbClr val="111111"/>
              </a:solidFill>
              <a:highlight>
                <a:srgbClr val="FFFF00"/>
              </a:highlight>
              <a:latin typeface="Arial"/>
              <a:cs typeface="Arial"/>
            </a:endParaRPr>
          </a:p>
          <a:p>
            <a:pPr algn="ctr"/>
            <a:r>
              <a:rPr lang="en-US" sz="1667">
                <a:solidFill>
                  <a:srgbClr val="111111"/>
                </a:solidFill>
                <a:highlight>
                  <a:srgbClr val="FFFF00"/>
                </a:highlight>
                <a:latin typeface="Arial"/>
                <a:cs typeface="Arial"/>
              </a:rPr>
              <a:t>This becomes the opening of their final presentation.</a:t>
            </a:r>
            <a:endParaRPr lang="en-US" sz="1500"/>
          </a:p>
          <a:p>
            <a:pPr algn="ctr"/>
            <a:br>
              <a:rPr lang="en-US" sz="1500" dirty="0"/>
            </a:br>
            <a:endParaRPr lang="en-US" sz="1500" dirty="0"/>
          </a:p>
          <a:p>
            <a:pPr algn="ctr"/>
            <a:br>
              <a:rPr lang="en-US" sz="1500" dirty="0"/>
            </a:br>
            <a:endParaRPr lang="en-US" sz="3000"/>
          </a:p>
        </p:txBody>
      </p:sp>
    </p:spTree>
    <p:extLst>
      <p:ext uri="{BB962C8B-B14F-4D97-AF65-F5344CB8AC3E}">
        <p14:creationId xmlns:p14="http://schemas.microsoft.com/office/powerpoint/2010/main" val="146188607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2" name="Image 0" descr="Image 0"/>
          <p:cNvPicPr>
            <a:picLocks noChangeAspect="1"/>
          </p:cNvPicPr>
          <p:nvPr/>
        </p:nvPicPr>
        <p:blipFill>
          <a:blip r:embed="rId2"/>
          <a:stretch>
            <a:fillRect/>
          </a:stretch>
        </p:blipFill>
        <p:spPr>
          <a:xfrm>
            <a:off x="8238941" y="928414"/>
            <a:ext cx="3953058" cy="5929586"/>
          </a:xfrm>
          <a:prstGeom prst="rect">
            <a:avLst/>
          </a:prstGeom>
          <a:ln w="12700">
            <a:miter lim="400000"/>
          </a:ln>
        </p:spPr>
      </p:pic>
      <p:sp>
        <p:nvSpPr>
          <p:cNvPr id="2073" name="Text 0"/>
          <p:cNvSpPr txBox="1"/>
          <p:nvPr/>
        </p:nvSpPr>
        <p:spPr>
          <a:xfrm>
            <a:off x="661492" y="1820069"/>
            <a:ext cx="6297018" cy="635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Designing a Research Project</a:t>
            </a:r>
          </a:p>
        </p:txBody>
      </p:sp>
      <p:sp>
        <p:nvSpPr>
          <p:cNvPr id="2074" name="Text 1"/>
          <p:cNvSpPr txBox="1"/>
          <p:nvPr/>
        </p:nvSpPr>
        <p:spPr>
          <a:xfrm>
            <a:off x="661492" y="3284835"/>
            <a:ext cx="6297018" cy="7045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700">
                <a:latin typeface="Inter"/>
                <a:ea typeface="Inter"/>
                <a:cs typeface="Inter"/>
                <a:sym typeface="Inter"/>
              </a:defRPr>
            </a:lvl1pPr>
          </a:lstStyle>
          <a:p>
            <a:r>
              <a:rPr sz="2250"/>
              <a:t>Let’s explore how to plan, execute, and analyze research that answers meaningful questions.</a:t>
            </a:r>
          </a:p>
        </p:txBody>
      </p:sp>
      <p:sp>
        <p:nvSpPr>
          <p:cNvPr id="2075" name="Shape 2"/>
          <p:cNvSpPr/>
          <p:nvPr/>
        </p:nvSpPr>
        <p:spPr>
          <a:xfrm>
            <a:off x="661492" y="4721225"/>
            <a:ext cx="302420" cy="302420"/>
          </a:xfrm>
          <a:prstGeom prst="roundRect">
            <a:avLst>
              <a:gd name="adj" fmla="val 50000"/>
            </a:avLst>
          </a:prstGeom>
          <a:ln w="7620">
            <a:solidFill>
              <a:srgbClr val="FFFFFF"/>
            </a:solidFill>
          </a:ln>
        </p:spPr>
        <p:txBody>
          <a:bodyPr lIns="38099" rIns="38099"/>
          <a:lstStyle/>
          <a:p>
            <a:endParaRPr sz="150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0" name="Image 0" descr="Image 0"/>
          <p:cNvPicPr>
            <a:picLocks noChangeAspect="1"/>
          </p:cNvPicPr>
          <p:nvPr/>
        </p:nvPicPr>
        <p:blipFill>
          <a:blip r:embed="rId2"/>
          <a:stretch>
            <a:fillRect/>
          </a:stretch>
        </p:blipFill>
        <p:spPr>
          <a:xfrm>
            <a:off x="8238941" y="928414"/>
            <a:ext cx="3953058" cy="5929586"/>
          </a:xfrm>
          <a:prstGeom prst="rect">
            <a:avLst/>
          </a:prstGeom>
          <a:ln w="12700">
            <a:miter lim="400000"/>
          </a:ln>
        </p:spPr>
      </p:pic>
      <p:sp>
        <p:nvSpPr>
          <p:cNvPr id="2381" name="Text 0"/>
          <p:cNvSpPr txBox="1"/>
          <p:nvPr/>
        </p:nvSpPr>
        <p:spPr>
          <a:xfrm>
            <a:off x="661492" y="1820069"/>
            <a:ext cx="6297018" cy="635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Designing a Research Project</a:t>
            </a:r>
          </a:p>
        </p:txBody>
      </p:sp>
      <p:sp>
        <p:nvSpPr>
          <p:cNvPr id="2382" name="Shape 2"/>
          <p:cNvSpPr/>
          <p:nvPr/>
        </p:nvSpPr>
        <p:spPr>
          <a:xfrm>
            <a:off x="661492" y="4721225"/>
            <a:ext cx="302420" cy="302420"/>
          </a:xfrm>
          <a:prstGeom prst="roundRect">
            <a:avLst>
              <a:gd name="adj" fmla="val 50000"/>
            </a:avLst>
          </a:prstGeom>
          <a:ln w="7620">
            <a:solidFill>
              <a:srgbClr val="FFFFFF"/>
            </a:solidFill>
          </a:ln>
        </p:spPr>
        <p:txBody>
          <a:bodyPr lIns="38099" rIns="38099"/>
          <a:lstStyle/>
          <a:p>
            <a:endParaRPr sz="1500"/>
          </a:p>
        </p:txBody>
      </p:sp>
      <p:sp>
        <p:nvSpPr>
          <p:cNvPr id="2383" name="Text 3"/>
          <p:cNvSpPr txBox="1"/>
          <p:nvPr/>
        </p:nvSpPr>
        <p:spPr>
          <a:xfrm>
            <a:off x="651338" y="3309484"/>
            <a:ext cx="3577903" cy="676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1700">
                <a:latin typeface="Inter"/>
                <a:ea typeface="Inter"/>
                <a:cs typeface="Inter"/>
                <a:sym typeface="Inter"/>
              </a:defRPr>
            </a:lvl1pPr>
          </a:lstStyle>
          <a:p>
            <a:r>
              <a:rPr sz="1417"/>
              <a:t>To make the steps of designing easier, you can review &amp; follow our checklist. </a:t>
            </a:r>
          </a:p>
        </p:txBody>
      </p:sp>
      <p:pic>
        <p:nvPicPr>
          <p:cNvPr id="2384" name="pasted-movie.png" descr="pasted-movie.png"/>
          <p:cNvPicPr>
            <a:picLocks/>
          </p:cNvPicPr>
          <p:nvPr/>
        </p:nvPicPr>
        <p:blipFill>
          <a:blip r:embed="rId3"/>
          <a:stretch>
            <a:fillRect/>
          </a:stretch>
        </p:blipFill>
        <p:spPr>
          <a:xfrm rot="180286">
            <a:off x="6040529" y="707928"/>
            <a:ext cx="4392170" cy="5777891"/>
          </a:xfrm>
          <a:prstGeom prst="rect">
            <a:avLst/>
          </a:prstGeom>
          <a:effectLst>
            <a:outerShdw blurRad="381000" dist="114300" rotWithShape="0">
              <a:srgbClr val="000000">
                <a:alpha val="75000"/>
              </a:srgbClr>
            </a:outerShdw>
          </a:effectLst>
        </p:spPr>
      </p:pic>
      <p:sp>
        <p:nvSpPr>
          <p:cNvPr id="3" name="TextBox 2">
            <a:extLst>
              <a:ext uri="{FF2B5EF4-FFF2-40B4-BE49-F238E27FC236}">
                <a16:creationId xmlns:a16="http://schemas.microsoft.com/office/drawing/2014/main" id="{CEBB5679-B84B-8C30-99AF-8E457650517B}"/>
              </a:ext>
            </a:extLst>
          </p:cNvPr>
          <p:cNvSpPr txBox="1"/>
          <p:nvPr/>
        </p:nvSpPr>
        <p:spPr>
          <a:xfrm>
            <a:off x="166742" y="185564"/>
            <a:ext cx="2048178" cy="5744327"/>
          </a:xfrm>
          <a:prstGeom prst="rect">
            <a:avLst/>
          </a:prstGeom>
          <a:solidFill>
            <a:srgbClr val="FFFF00"/>
          </a:solidFill>
          <a:ln w="5715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099" tIns="38099" rIns="38099" bIns="38099" numCol="1" spcCol="38100" rtlCol="0" fromWordArt="0" anchor="t" anchorCtr="0" forceAA="0" compatLnSpc="1">
            <a:prstTxWarp prst="textNoShape">
              <a:avLst/>
            </a:prstTxWarp>
            <a:spAutoFit/>
          </a:bodyPr>
          <a:lstStyle/>
          <a:p>
            <a:pPr algn="ctr"/>
            <a:r>
              <a:rPr lang="en-US" sz="2833" b="1" dirty="0">
                <a:highlight>
                  <a:srgbClr val="FFFF00"/>
                </a:highlight>
              </a:rPr>
              <a:t>DO WE STILL HAVE THE SAME CORE STEPS HANDOUT </a:t>
            </a:r>
            <a:r>
              <a:rPr lang="en-US" sz="2833" b="1">
                <a:highlight>
                  <a:srgbClr val="FFFF00"/>
                </a:highlight>
              </a:rPr>
              <a:t>TO SHARE? </a:t>
            </a:r>
            <a:endParaRPr lang="en-US" sz="2833" b="1" dirty="0">
              <a:highlight>
                <a:srgbClr val="FFFF00"/>
              </a:highlight>
            </a:endParaRPr>
          </a:p>
          <a:p>
            <a:pPr algn="ctr"/>
            <a:endParaRPr lang="en-US" sz="2833" b="1" dirty="0">
              <a:highlight>
                <a:srgbClr val="FFFF00"/>
              </a:highlight>
            </a:endParaRPr>
          </a:p>
          <a:p>
            <a:pPr algn="ctr"/>
            <a:endParaRPr lang="en-US" sz="2833" b="1" dirty="0">
              <a:highlight>
                <a:srgbClr val="FFFF00"/>
              </a:highlight>
            </a:endParaRPr>
          </a:p>
          <a:p>
            <a:pPr algn="ctr"/>
            <a:r>
              <a:rPr lang="en-US" sz="2833" b="1" dirty="0">
                <a:highlight>
                  <a:srgbClr val="FFFF00"/>
                </a:highlight>
              </a:rPr>
              <a:t>If </a:t>
            </a:r>
            <a:r>
              <a:rPr lang="en-US" sz="2833" b="1">
                <a:highlight>
                  <a:srgbClr val="FFFF00"/>
                </a:highlight>
              </a:rPr>
              <a:t>yes,</a:t>
            </a:r>
            <a:r>
              <a:rPr lang="en-US" sz="2833" b="1" dirty="0">
                <a:highlight>
                  <a:srgbClr val="FFFF00"/>
                </a:highlight>
              </a:rPr>
              <a:t> this slide can stay.</a:t>
            </a:r>
          </a:p>
          <a:p>
            <a:pPr algn="ctr"/>
            <a:endParaRPr lang="en-US" sz="2833" b="1">
              <a:highlight>
                <a:srgbClr val="FFFF00"/>
              </a:highlight>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7" name="Image 0" descr="Image 0"/>
          <p:cNvPicPr>
            <a:picLocks noChangeAspect="1"/>
          </p:cNvPicPr>
          <p:nvPr/>
        </p:nvPicPr>
        <p:blipFill>
          <a:blip r:embed="rId2"/>
          <a:stretch>
            <a:fillRect/>
          </a:stretch>
        </p:blipFill>
        <p:spPr>
          <a:xfrm>
            <a:off x="8171919" y="827881"/>
            <a:ext cx="4020080" cy="6030119"/>
          </a:xfrm>
          <a:prstGeom prst="rect">
            <a:avLst/>
          </a:prstGeom>
          <a:ln w="12700">
            <a:miter lim="400000"/>
          </a:ln>
        </p:spPr>
      </p:pic>
      <p:sp>
        <p:nvSpPr>
          <p:cNvPr id="2078" name="Text 0"/>
          <p:cNvSpPr txBox="1"/>
          <p:nvPr/>
        </p:nvSpPr>
        <p:spPr>
          <a:xfrm>
            <a:off x="661492" y="827881"/>
            <a:ext cx="6297018" cy="13405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Failing to Plan is Planning to Fail</a:t>
            </a:r>
          </a:p>
        </p:txBody>
      </p:sp>
      <p:sp>
        <p:nvSpPr>
          <p:cNvPr id="2079" name="Shape 1"/>
          <p:cNvSpPr/>
          <p:nvPr/>
        </p:nvSpPr>
        <p:spPr>
          <a:xfrm>
            <a:off x="661492" y="2292648"/>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080" name="Image 1" descr="Image 1"/>
          <p:cNvPicPr>
            <a:picLocks noChangeAspect="1"/>
          </p:cNvPicPr>
          <p:nvPr/>
        </p:nvPicPr>
        <p:blipFill>
          <a:blip r:embed="rId3"/>
          <a:stretch>
            <a:fillRect/>
          </a:stretch>
        </p:blipFill>
        <p:spPr>
          <a:xfrm>
            <a:off x="732384" y="2328068"/>
            <a:ext cx="283469" cy="354410"/>
          </a:xfrm>
          <a:prstGeom prst="rect">
            <a:avLst/>
          </a:prstGeom>
          <a:ln w="12700">
            <a:miter lim="400000"/>
          </a:ln>
        </p:spPr>
      </p:pic>
      <p:sp>
        <p:nvSpPr>
          <p:cNvPr id="2081" name="Text 2"/>
          <p:cNvSpPr txBox="1"/>
          <p:nvPr/>
        </p:nvSpPr>
        <p:spPr>
          <a:xfrm>
            <a:off x="1275754" y="2357536"/>
            <a:ext cx="2416177" cy="6662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700"/>
              </a:lnSpc>
              <a:defRPr sz="2500" b="1">
                <a:latin typeface="Playfair Display Bold"/>
                <a:ea typeface="Playfair Display Bold"/>
                <a:cs typeface="Playfair Display Bold"/>
                <a:sym typeface="Playfair Display Bold"/>
              </a:defRPr>
            </a:lvl1pPr>
          </a:lstStyle>
          <a:p>
            <a:r>
              <a:rPr sz="2083"/>
              <a:t>Research Requires Direction</a:t>
            </a:r>
          </a:p>
        </p:txBody>
      </p:sp>
      <p:sp>
        <p:nvSpPr>
          <p:cNvPr id="2082" name="Text 3"/>
          <p:cNvSpPr txBox="1"/>
          <p:nvPr/>
        </p:nvSpPr>
        <p:spPr>
          <a:xfrm>
            <a:off x="1275754" y="3061494"/>
            <a:ext cx="2416177" cy="17676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200">
                <a:latin typeface="Inter"/>
                <a:ea typeface="Inter"/>
                <a:cs typeface="Inter"/>
                <a:sym typeface="Inter"/>
              </a:defRPr>
            </a:lvl1pPr>
          </a:lstStyle>
          <a:p>
            <a:r>
              <a:rPr sz="1833"/>
              <a:t>Like baking without a recipe or traveling without a map, research without planning leads to confusion.</a:t>
            </a:r>
          </a:p>
        </p:txBody>
      </p:sp>
      <p:sp>
        <p:nvSpPr>
          <p:cNvPr id="2083" name="Shape 4"/>
          <p:cNvSpPr/>
          <p:nvPr/>
        </p:nvSpPr>
        <p:spPr>
          <a:xfrm>
            <a:off x="3928169" y="2292648"/>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084" name="Image 2" descr="Image 2"/>
          <p:cNvPicPr>
            <a:picLocks noChangeAspect="1"/>
          </p:cNvPicPr>
          <p:nvPr/>
        </p:nvPicPr>
        <p:blipFill>
          <a:blip r:embed="rId4"/>
          <a:stretch>
            <a:fillRect/>
          </a:stretch>
        </p:blipFill>
        <p:spPr>
          <a:xfrm>
            <a:off x="3999062" y="2328068"/>
            <a:ext cx="283469" cy="354410"/>
          </a:xfrm>
          <a:prstGeom prst="rect">
            <a:avLst/>
          </a:prstGeom>
          <a:ln w="12700">
            <a:miter lim="400000"/>
          </a:ln>
        </p:spPr>
      </p:pic>
      <p:sp>
        <p:nvSpPr>
          <p:cNvPr id="2085" name="Text 5"/>
          <p:cNvSpPr txBox="1"/>
          <p:nvPr/>
        </p:nvSpPr>
        <p:spPr>
          <a:xfrm>
            <a:off x="4542432" y="2357536"/>
            <a:ext cx="2263440" cy="3200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500" b="1">
                <a:latin typeface="Playfair Display Bold"/>
                <a:ea typeface="Playfair Display Bold"/>
                <a:cs typeface="Playfair Display Bold"/>
                <a:sym typeface="Playfair Display Bold"/>
              </a:defRPr>
            </a:lvl1pPr>
          </a:lstStyle>
          <a:p>
            <a:r>
              <a:rPr sz="2083"/>
              <a:t>Create a Blueprint</a:t>
            </a:r>
          </a:p>
        </p:txBody>
      </p:sp>
      <p:sp>
        <p:nvSpPr>
          <p:cNvPr id="2086" name="Text 6"/>
          <p:cNvSpPr txBox="1"/>
          <p:nvPr/>
        </p:nvSpPr>
        <p:spPr>
          <a:xfrm>
            <a:off x="4542432" y="2766219"/>
            <a:ext cx="2416176" cy="1408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200">
                <a:latin typeface="Inter"/>
                <a:ea typeface="Inter"/>
                <a:cs typeface="Inter"/>
                <a:sym typeface="Inter"/>
              </a:defRPr>
            </a:lvl1pPr>
          </a:lstStyle>
          <a:p>
            <a:r>
              <a:rPr sz="1833"/>
              <a:t>A well-designed project saves time and increases the chances of valid, meaningful findings.</a:t>
            </a:r>
          </a:p>
        </p:txBody>
      </p:sp>
      <p:sp>
        <p:nvSpPr>
          <p:cNvPr id="2087" name="Shape 7"/>
          <p:cNvSpPr/>
          <p:nvPr/>
        </p:nvSpPr>
        <p:spPr>
          <a:xfrm>
            <a:off x="661492" y="4951611"/>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088" name="Image 3" descr="Image 3"/>
          <p:cNvPicPr>
            <a:picLocks noChangeAspect="1"/>
          </p:cNvPicPr>
          <p:nvPr/>
        </p:nvPicPr>
        <p:blipFill>
          <a:blip r:embed="rId5"/>
          <a:stretch>
            <a:fillRect/>
          </a:stretch>
        </p:blipFill>
        <p:spPr>
          <a:xfrm>
            <a:off x="732384" y="4987031"/>
            <a:ext cx="283469" cy="354410"/>
          </a:xfrm>
          <a:prstGeom prst="rect">
            <a:avLst/>
          </a:prstGeom>
          <a:ln w="12700">
            <a:miter lim="400000"/>
          </a:ln>
        </p:spPr>
      </p:pic>
      <p:sp>
        <p:nvSpPr>
          <p:cNvPr id="2089" name="Text 8"/>
          <p:cNvSpPr txBox="1"/>
          <p:nvPr/>
        </p:nvSpPr>
        <p:spPr>
          <a:xfrm>
            <a:off x="1275754" y="5016500"/>
            <a:ext cx="2598468" cy="3200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500" b="1">
                <a:latin typeface="Playfair Display Bold"/>
                <a:ea typeface="Playfair Display Bold"/>
                <a:cs typeface="Playfair Display Bold"/>
                <a:sym typeface="Playfair Display Bold"/>
              </a:defRPr>
            </a:lvl1pPr>
          </a:lstStyle>
          <a:p>
            <a:r>
              <a:rPr sz="2083"/>
              <a:t>Develop a Game Plan</a:t>
            </a:r>
          </a:p>
        </p:txBody>
      </p:sp>
      <p:sp>
        <p:nvSpPr>
          <p:cNvPr id="2090" name="Text 9"/>
          <p:cNvSpPr txBox="1"/>
          <p:nvPr/>
        </p:nvSpPr>
        <p:spPr>
          <a:xfrm>
            <a:off x="1275755" y="5425182"/>
            <a:ext cx="5682754" cy="690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200">
                <a:latin typeface="Inter"/>
                <a:ea typeface="Inter"/>
                <a:cs typeface="Inter"/>
                <a:sym typeface="Inter"/>
              </a:defRPr>
            </a:lvl1pPr>
          </a:lstStyle>
          <a:p>
            <a:r>
              <a:rPr sz="1833"/>
              <a:t>We'll cover methodologies, tools, variables, and ethical considerations for your research journey.</a:t>
            </a:r>
          </a:p>
        </p:txBody>
      </p:sp>
      <p:sp>
        <p:nvSpPr>
          <p:cNvPr id="3" name="TextBox 2">
            <a:extLst>
              <a:ext uri="{FF2B5EF4-FFF2-40B4-BE49-F238E27FC236}">
                <a16:creationId xmlns:a16="http://schemas.microsoft.com/office/drawing/2014/main" id="{7A9FDA1F-702E-6C4E-446D-3DCEA9CE66D6}"/>
              </a:ext>
            </a:extLst>
          </p:cNvPr>
          <p:cNvSpPr txBox="1"/>
          <p:nvPr/>
        </p:nvSpPr>
        <p:spPr>
          <a:xfrm>
            <a:off x="166742" y="185564"/>
            <a:ext cx="2048178" cy="2256706"/>
          </a:xfrm>
          <a:prstGeom prst="rect">
            <a:avLst/>
          </a:prstGeom>
          <a:solidFill>
            <a:srgbClr val="FFFF00"/>
          </a:solidFill>
          <a:ln w="5715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099" tIns="38099" rIns="38099" bIns="38099" numCol="1" spcCol="38100" rtlCol="0" fromWordArt="0" anchor="t" anchorCtr="0" forceAA="0" compatLnSpc="1">
            <a:prstTxWarp prst="textNoShape">
              <a:avLst/>
            </a:prstTxWarp>
            <a:spAutoFit/>
          </a:bodyPr>
          <a:lstStyle/>
          <a:p>
            <a:pPr algn="ctr"/>
            <a:r>
              <a:rPr lang="en-US" sz="2833" b="1">
                <a:highlight>
                  <a:srgbClr val="FFFF00"/>
                </a:highlight>
              </a:rPr>
              <a:t>Not in Curriculum but should keep</a:t>
            </a:r>
          </a:p>
          <a:p>
            <a:pPr algn="ctr"/>
            <a:endParaRPr lang="en-US" sz="2833" b="1">
              <a:highlight>
                <a:srgbClr val="FFFF00"/>
              </a:highlight>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7" name="Text 0"/>
          <p:cNvSpPr txBox="1"/>
          <p:nvPr/>
        </p:nvSpPr>
        <p:spPr>
          <a:xfrm>
            <a:off x="602356" y="879772"/>
            <a:ext cx="5729132" cy="5774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5000"/>
              </a:lnSpc>
              <a:defRPr sz="4000" b="1">
                <a:latin typeface="Playfair Display Bold"/>
                <a:ea typeface="Playfair Display Bold"/>
                <a:cs typeface="Playfair Display Bold"/>
                <a:sym typeface="Playfair Display Bold"/>
              </a:defRPr>
            </a:lvl1pPr>
          </a:lstStyle>
          <a:p>
            <a:r>
              <a:rPr sz="3333"/>
              <a:t>Choosing a Research Method</a:t>
            </a:r>
          </a:p>
        </p:txBody>
      </p:sp>
      <p:sp>
        <p:nvSpPr>
          <p:cNvPr id="2108" name="Text 1"/>
          <p:cNvSpPr txBox="1"/>
          <p:nvPr/>
        </p:nvSpPr>
        <p:spPr>
          <a:xfrm>
            <a:off x="602356" y="1675806"/>
            <a:ext cx="6415288" cy="6540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600"/>
              </a:lnSpc>
              <a:defRPr sz="2500">
                <a:latin typeface="Inter"/>
                <a:ea typeface="Inter"/>
                <a:cs typeface="Inter"/>
                <a:sym typeface="Inter"/>
              </a:defRPr>
            </a:lvl1pPr>
          </a:lstStyle>
          <a:p>
            <a:r>
              <a:rPr sz="2083"/>
              <a:t>The first step in designing your project is selecting the right method to answer your question.</a:t>
            </a:r>
          </a:p>
        </p:txBody>
      </p:sp>
      <p:sp>
        <p:nvSpPr>
          <p:cNvPr id="2109" name="Text 1"/>
          <p:cNvSpPr txBox="1"/>
          <p:nvPr/>
        </p:nvSpPr>
        <p:spPr>
          <a:xfrm>
            <a:off x="602356" y="2854083"/>
            <a:ext cx="6415288" cy="1974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2167"/>
              </a:lnSpc>
              <a:defRPr sz="2500" b="1">
                <a:latin typeface="Inter"/>
                <a:ea typeface="Inter"/>
                <a:cs typeface="Inter"/>
                <a:sym typeface="Inter"/>
              </a:defRPr>
            </a:pPr>
            <a:r>
              <a:rPr sz="2083"/>
              <a:t>Methodology includes…</a:t>
            </a:r>
          </a:p>
          <a:p>
            <a:pPr marL="208872" indent="-208872">
              <a:lnSpc>
                <a:spcPts val="2167"/>
              </a:lnSpc>
              <a:buSzPct val="100000"/>
              <a:buChar char="•"/>
              <a:defRPr sz="2500">
                <a:latin typeface="Inter"/>
                <a:ea typeface="Inter"/>
                <a:cs typeface="Inter"/>
                <a:sym typeface="Inter"/>
              </a:defRPr>
            </a:pPr>
            <a:endParaRPr sz="2083"/>
          </a:p>
          <a:p>
            <a:pPr marL="208872" indent="-208872">
              <a:lnSpc>
                <a:spcPts val="2167"/>
              </a:lnSpc>
              <a:buSzPct val="100000"/>
              <a:buChar char="•"/>
              <a:defRPr sz="2500">
                <a:latin typeface="Inter"/>
                <a:ea typeface="Inter"/>
                <a:cs typeface="Inter"/>
                <a:sym typeface="Inter"/>
              </a:defRPr>
            </a:pPr>
            <a:r>
              <a:rPr sz="2083"/>
              <a:t>Your overall approach / strategy: </a:t>
            </a:r>
          </a:p>
          <a:p>
            <a:pPr>
              <a:lnSpc>
                <a:spcPts val="2167"/>
              </a:lnSpc>
              <a:defRPr sz="2500">
                <a:latin typeface="Inter"/>
                <a:ea typeface="Inter"/>
                <a:cs typeface="Inter"/>
                <a:sym typeface="Inter"/>
              </a:defRPr>
            </a:pPr>
            <a:r>
              <a:rPr sz="2083"/>
              <a:t>                            </a:t>
            </a:r>
          </a:p>
          <a:p>
            <a:pPr marL="208872" indent="-208872">
              <a:lnSpc>
                <a:spcPts val="2167"/>
              </a:lnSpc>
              <a:buSzPct val="100000"/>
              <a:buChar char="•"/>
              <a:defRPr sz="2500">
                <a:latin typeface="Inter"/>
                <a:ea typeface="Inter"/>
                <a:cs typeface="Inter"/>
                <a:sym typeface="Inter"/>
              </a:defRPr>
            </a:pPr>
            <a:endParaRPr sz="2083"/>
          </a:p>
          <a:p>
            <a:pPr marL="208872" indent="-208872">
              <a:lnSpc>
                <a:spcPts val="2167"/>
              </a:lnSpc>
              <a:buSzPct val="100000"/>
              <a:buChar char="•"/>
              <a:defRPr sz="2500">
                <a:latin typeface="Inter"/>
                <a:ea typeface="Inter"/>
                <a:cs typeface="Inter"/>
                <a:sym typeface="Inter"/>
              </a:defRPr>
            </a:pPr>
            <a:r>
              <a:rPr sz="2083"/>
              <a:t>Your data collection tools / techniques</a:t>
            </a:r>
          </a:p>
          <a:p>
            <a:pPr>
              <a:lnSpc>
                <a:spcPts val="2167"/>
              </a:lnSpc>
              <a:defRPr sz="2500">
                <a:latin typeface="Inter"/>
                <a:ea typeface="Inter"/>
                <a:cs typeface="Inter"/>
                <a:sym typeface="Inter"/>
              </a:defRPr>
            </a:pPr>
            <a:endParaRPr sz="2083"/>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1" name="Image 0" descr="Image 0"/>
          <p:cNvPicPr>
            <a:picLocks noChangeAspect="1"/>
          </p:cNvPicPr>
          <p:nvPr/>
        </p:nvPicPr>
        <p:blipFill>
          <a:blip r:embed="rId2"/>
          <a:stretch>
            <a:fillRect/>
          </a:stretch>
        </p:blipFill>
        <p:spPr>
          <a:xfrm>
            <a:off x="8206515" y="879771"/>
            <a:ext cx="3985486" cy="5978228"/>
          </a:xfrm>
          <a:prstGeom prst="rect">
            <a:avLst/>
          </a:prstGeom>
          <a:ln w="12700">
            <a:miter lim="400000"/>
          </a:ln>
        </p:spPr>
      </p:pic>
      <p:sp>
        <p:nvSpPr>
          <p:cNvPr id="2112" name="Text 0"/>
          <p:cNvSpPr txBox="1"/>
          <p:nvPr/>
        </p:nvSpPr>
        <p:spPr>
          <a:xfrm>
            <a:off x="602356" y="879772"/>
            <a:ext cx="5729132" cy="5774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5000"/>
              </a:lnSpc>
              <a:defRPr sz="4000" b="1">
                <a:latin typeface="Playfair Display Bold"/>
                <a:ea typeface="Playfair Display Bold"/>
                <a:cs typeface="Playfair Display Bold"/>
                <a:sym typeface="Playfair Display Bold"/>
              </a:defRPr>
            </a:lvl1pPr>
          </a:lstStyle>
          <a:p>
            <a:r>
              <a:rPr sz="3333"/>
              <a:t>Choosing a Research Method</a:t>
            </a:r>
          </a:p>
        </p:txBody>
      </p:sp>
      <p:sp>
        <p:nvSpPr>
          <p:cNvPr id="2113" name="Text 1"/>
          <p:cNvSpPr txBox="1"/>
          <p:nvPr/>
        </p:nvSpPr>
        <p:spPr>
          <a:xfrm>
            <a:off x="602356" y="1675806"/>
            <a:ext cx="6415288" cy="6540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600"/>
              </a:lnSpc>
              <a:defRPr sz="2500">
                <a:solidFill>
                  <a:srgbClr val="919191"/>
                </a:solidFill>
                <a:latin typeface="Inter"/>
                <a:ea typeface="Inter"/>
                <a:cs typeface="Inter"/>
                <a:sym typeface="Inter"/>
              </a:defRPr>
            </a:lvl1pPr>
          </a:lstStyle>
          <a:p>
            <a:r>
              <a:rPr sz="2083"/>
              <a:t>The first step in designing your project is selecting the right method to answer your question.</a:t>
            </a:r>
          </a:p>
        </p:txBody>
      </p:sp>
      <p:sp>
        <p:nvSpPr>
          <p:cNvPr id="2114" name="Text 1"/>
          <p:cNvSpPr txBox="1"/>
          <p:nvPr/>
        </p:nvSpPr>
        <p:spPr>
          <a:xfrm>
            <a:off x="602356" y="2854083"/>
            <a:ext cx="6415288" cy="1974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2167"/>
              </a:lnSpc>
              <a:defRPr sz="2500" b="1">
                <a:latin typeface="Inter"/>
                <a:ea typeface="Inter"/>
                <a:cs typeface="Inter"/>
                <a:sym typeface="Inter"/>
              </a:defRPr>
            </a:pPr>
            <a:r>
              <a:rPr sz="2083"/>
              <a:t>Methodology includes…</a:t>
            </a:r>
          </a:p>
          <a:p>
            <a:pPr marL="208872" indent="-208872">
              <a:lnSpc>
                <a:spcPts val="2167"/>
              </a:lnSpc>
              <a:buSzPct val="100000"/>
              <a:buChar char="•"/>
              <a:defRPr sz="2500">
                <a:latin typeface="Inter"/>
                <a:ea typeface="Inter"/>
                <a:cs typeface="Inter"/>
                <a:sym typeface="Inter"/>
              </a:defRPr>
            </a:pPr>
            <a:endParaRPr sz="2083"/>
          </a:p>
          <a:p>
            <a:pPr marL="208872" indent="-208872">
              <a:lnSpc>
                <a:spcPts val="2167"/>
              </a:lnSpc>
              <a:buSzPct val="100000"/>
              <a:buChar char="•"/>
              <a:defRPr sz="2500">
                <a:latin typeface="Inter"/>
                <a:ea typeface="Inter"/>
                <a:cs typeface="Inter"/>
                <a:sym typeface="Inter"/>
              </a:defRPr>
            </a:pPr>
            <a:r>
              <a:rPr sz="2083"/>
              <a:t>Your overall approach / strategy: </a:t>
            </a:r>
          </a:p>
          <a:p>
            <a:pPr>
              <a:lnSpc>
                <a:spcPts val="2167"/>
              </a:lnSpc>
              <a:defRPr sz="2500">
                <a:solidFill>
                  <a:srgbClr val="941751"/>
                </a:solidFill>
                <a:latin typeface="Inter"/>
                <a:ea typeface="Inter"/>
                <a:cs typeface="Inter"/>
                <a:sym typeface="Inter"/>
              </a:defRPr>
            </a:pPr>
            <a:r>
              <a:rPr sz="2083"/>
              <a:t>                             Qualitative vs. Quantitative</a:t>
            </a:r>
          </a:p>
          <a:p>
            <a:pPr marL="208872" indent="-208872">
              <a:lnSpc>
                <a:spcPts val="2167"/>
              </a:lnSpc>
              <a:buSzPct val="100000"/>
              <a:buChar char="•"/>
              <a:defRPr sz="2500">
                <a:latin typeface="Inter"/>
                <a:ea typeface="Inter"/>
                <a:cs typeface="Inter"/>
                <a:sym typeface="Inter"/>
              </a:defRPr>
            </a:pPr>
            <a:endParaRPr sz="2083"/>
          </a:p>
          <a:p>
            <a:pPr marL="208872" indent="-208872">
              <a:lnSpc>
                <a:spcPts val="2167"/>
              </a:lnSpc>
              <a:buSzPct val="100000"/>
              <a:buChar char="•"/>
              <a:defRPr sz="2500">
                <a:latin typeface="Inter"/>
                <a:ea typeface="Inter"/>
                <a:cs typeface="Inter"/>
                <a:sym typeface="Inter"/>
              </a:defRPr>
            </a:pPr>
            <a:r>
              <a:rPr sz="2083"/>
              <a:t>Your data collection tools / techniques</a:t>
            </a:r>
          </a:p>
          <a:p>
            <a:pPr>
              <a:lnSpc>
                <a:spcPts val="2167"/>
              </a:lnSpc>
              <a:defRPr sz="2500">
                <a:latin typeface="Inter"/>
                <a:ea typeface="Inter"/>
                <a:cs typeface="Inter"/>
                <a:sym typeface="Inter"/>
              </a:defRPr>
            </a:pPr>
            <a:endParaRPr sz="2083"/>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6" name="Image 0" descr="Image 0"/>
          <p:cNvPicPr>
            <a:picLocks noChangeAspect="1"/>
          </p:cNvPicPr>
          <p:nvPr/>
        </p:nvPicPr>
        <p:blipFill>
          <a:blip r:embed="rId2"/>
          <a:stretch>
            <a:fillRect/>
          </a:stretch>
        </p:blipFill>
        <p:spPr>
          <a:xfrm>
            <a:off x="8206515" y="879771"/>
            <a:ext cx="3985486" cy="5978228"/>
          </a:xfrm>
          <a:prstGeom prst="rect">
            <a:avLst/>
          </a:prstGeom>
          <a:ln w="12700">
            <a:miter lim="400000"/>
          </a:ln>
        </p:spPr>
      </p:pic>
      <p:sp>
        <p:nvSpPr>
          <p:cNvPr id="2117" name="Text 0"/>
          <p:cNvSpPr txBox="1"/>
          <p:nvPr/>
        </p:nvSpPr>
        <p:spPr>
          <a:xfrm>
            <a:off x="602356" y="879772"/>
            <a:ext cx="5729132" cy="5774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5000"/>
              </a:lnSpc>
              <a:defRPr sz="4000" b="1">
                <a:latin typeface="Playfair Display Bold"/>
                <a:ea typeface="Playfair Display Bold"/>
                <a:cs typeface="Playfair Display Bold"/>
                <a:sym typeface="Playfair Display Bold"/>
              </a:defRPr>
            </a:lvl1pPr>
          </a:lstStyle>
          <a:p>
            <a:r>
              <a:rPr sz="3333"/>
              <a:t>Choosing a Research Method</a:t>
            </a:r>
          </a:p>
        </p:txBody>
      </p:sp>
      <p:sp>
        <p:nvSpPr>
          <p:cNvPr id="2118" name="Shape 2"/>
          <p:cNvSpPr/>
          <p:nvPr/>
        </p:nvSpPr>
        <p:spPr>
          <a:xfrm>
            <a:off x="616468" y="4000687"/>
            <a:ext cx="3479745" cy="2358767"/>
          </a:xfrm>
          <a:prstGeom prst="roundRect">
            <a:avLst>
              <a:gd name="adj" fmla="val 3065"/>
            </a:avLst>
          </a:prstGeom>
          <a:solidFill>
            <a:srgbClr val="CCEDFF"/>
          </a:solidFill>
          <a:ln w="7620">
            <a:solidFill>
              <a:srgbClr val="B2D3E5"/>
            </a:solidFill>
          </a:ln>
        </p:spPr>
        <p:txBody>
          <a:bodyPr lIns="38099" rIns="38099"/>
          <a:lstStyle/>
          <a:p>
            <a:endParaRPr sz="1500"/>
          </a:p>
        </p:txBody>
      </p:sp>
      <p:sp>
        <p:nvSpPr>
          <p:cNvPr id="2119" name="Text 3"/>
          <p:cNvSpPr txBox="1"/>
          <p:nvPr/>
        </p:nvSpPr>
        <p:spPr>
          <a:xfrm>
            <a:off x="794863" y="4179083"/>
            <a:ext cx="2351606" cy="2935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500"/>
              </a:lnSpc>
              <a:defRPr sz="2200" b="1">
                <a:latin typeface="Playfair Display Bold"/>
                <a:ea typeface="Playfair Display Bold"/>
                <a:cs typeface="Playfair Display Bold"/>
                <a:sym typeface="Playfair Display Bold"/>
              </a:defRPr>
            </a:lvl1pPr>
          </a:lstStyle>
          <a:p>
            <a:r>
              <a:rPr sz="1833"/>
              <a:t>Quantitative Methods</a:t>
            </a:r>
          </a:p>
        </p:txBody>
      </p:sp>
      <p:sp>
        <p:nvSpPr>
          <p:cNvPr id="2120" name="Text 4"/>
          <p:cNvSpPr txBox="1"/>
          <p:nvPr/>
        </p:nvSpPr>
        <p:spPr>
          <a:xfrm>
            <a:off x="794864" y="4551252"/>
            <a:ext cx="3122953" cy="1678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2167"/>
              </a:lnSpc>
              <a:defRPr sz="2000">
                <a:latin typeface="Inter"/>
                <a:ea typeface="Inter"/>
                <a:cs typeface="Inter"/>
                <a:sym typeface="Inter"/>
              </a:defRPr>
            </a:pPr>
            <a:r>
              <a:rPr sz="1667"/>
              <a:t>Focus on numbers and measurable data. </a:t>
            </a:r>
          </a:p>
          <a:p>
            <a:pPr>
              <a:lnSpc>
                <a:spcPts val="2167"/>
              </a:lnSpc>
              <a:defRPr sz="2000">
                <a:latin typeface="Inter"/>
                <a:ea typeface="Inter"/>
                <a:cs typeface="Inter"/>
                <a:sym typeface="Inter"/>
              </a:defRPr>
            </a:pPr>
            <a:endParaRPr sz="1667"/>
          </a:p>
          <a:p>
            <a:pPr>
              <a:lnSpc>
                <a:spcPts val="2167"/>
              </a:lnSpc>
              <a:defRPr sz="2000">
                <a:latin typeface="Inter"/>
                <a:ea typeface="Inter"/>
                <a:cs typeface="Inter"/>
                <a:sym typeface="Inter"/>
              </a:defRPr>
            </a:pPr>
            <a:r>
              <a:rPr sz="1667"/>
              <a:t>Good for questions about "how many," "how much," or testing relationships between variables.</a:t>
            </a:r>
          </a:p>
        </p:txBody>
      </p:sp>
      <p:sp>
        <p:nvSpPr>
          <p:cNvPr id="2121" name="Shape 5"/>
          <p:cNvSpPr/>
          <p:nvPr/>
        </p:nvSpPr>
        <p:spPr>
          <a:xfrm>
            <a:off x="4195884" y="4000687"/>
            <a:ext cx="3316643" cy="2358767"/>
          </a:xfrm>
          <a:prstGeom prst="roundRect">
            <a:avLst>
              <a:gd name="adj" fmla="val 3065"/>
            </a:avLst>
          </a:prstGeom>
          <a:solidFill>
            <a:srgbClr val="CCEDFF"/>
          </a:solidFill>
          <a:ln w="7620">
            <a:solidFill>
              <a:srgbClr val="B2D3E5"/>
            </a:solidFill>
          </a:ln>
        </p:spPr>
        <p:txBody>
          <a:bodyPr lIns="38099" rIns="38099"/>
          <a:lstStyle/>
          <a:p>
            <a:endParaRPr sz="1500"/>
          </a:p>
        </p:txBody>
      </p:sp>
      <p:sp>
        <p:nvSpPr>
          <p:cNvPr id="2122" name="Text 6"/>
          <p:cNvSpPr txBox="1"/>
          <p:nvPr/>
        </p:nvSpPr>
        <p:spPr>
          <a:xfrm>
            <a:off x="4374279" y="4179083"/>
            <a:ext cx="2197718" cy="2935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500"/>
              </a:lnSpc>
              <a:defRPr sz="2200" b="1">
                <a:latin typeface="Playfair Display Bold"/>
                <a:ea typeface="Playfair Display Bold"/>
                <a:cs typeface="Playfair Display Bold"/>
                <a:sym typeface="Playfair Display Bold"/>
              </a:defRPr>
            </a:lvl1pPr>
          </a:lstStyle>
          <a:p>
            <a:r>
              <a:rPr sz="1833"/>
              <a:t>Qualitative Methods</a:t>
            </a:r>
          </a:p>
        </p:txBody>
      </p:sp>
      <p:sp>
        <p:nvSpPr>
          <p:cNvPr id="2123" name="Text 7"/>
          <p:cNvSpPr txBox="1"/>
          <p:nvPr/>
        </p:nvSpPr>
        <p:spPr>
          <a:xfrm>
            <a:off x="4374280" y="4551252"/>
            <a:ext cx="2959851" cy="1678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2167"/>
              </a:lnSpc>
              <a:defRPr sz="2000">
                <a:latin typeface="Inter"/>
                <a:ea typeface="Inter"/>
                <a:cs typeface="Inter"/>
                <a:sym typeface="Inter"/>
              </a:defRPr>
            </a:pPr>
            <a:r>
              <a:rPr sz="1667"/>
              <a:t>Focus on descriptions and  non-numerical insights. </a:t>
            </a:r>
          </a:p>
          <a:p>
            <a:pPr>
              <a:lnSpc>
                <a:spcPts val="2167"/>
              </a:lnSpc>
              <a:defRPr sz="2000">
                <a:latin typeface="Inter"/>
                <a:ea typeface="Inter"/>
                <a:cs typeface="Inter"/>
                <a:sym typeface="Inter"/>
              </a:defRPr>
            </a:pPr>
            <a:endParaRPr sz="1667"/>
          </a:p>
          <a:p>
            <a:pPr>
              <a:lnSpc>
                <a:spcPts val="2167"/>
              </a:lnSpc>
              <a:defRPr sz="2000">
                <a:latin typeface="Inter"/>
                <a:ea typeface="Inter"/>
                <a:cs typeface="Inter"/>
                <a:sym typeface="Inter"/>
              </a:defRPr>
            </a:pPr>
            <a:r>
              <a:rPr sz="1667"/>
              <a:t>Good for exploring experiences, opinions, and understanding "why" or "how."</a:t>
            </a:r>
          </a:p>
        </p:txBody>
      </p:sp>
      <p:sp>
        <p:nvSpPr>
          <p:cNvPr id="2124" name="Text 1"/>
          <p:cNvSpPr txBox="1"/>
          <p:nvPr/>
        </p:nvSpPr>
        <p:spPr>
          <a:xfrm>
            <a:off x="602356" y="1675806"/>
            <a:ext cx="6415288" cy="6540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600"/>
              </a:lnSpc>
              <a:defRPr sz="2500">
                <a:solidFill>
                  <a:srgbClr val="919191"/>
                </a:solidFill>
                <a:latin typeface="Inter"/>
                <a:ea typeface="Inter"/>
                <a:cs typeface="Inter"/>
                <a:sym typeface="Inter"/>
              </a:defRPr>
            </a:lvl1pPr>
          </a:lstStyle>
          <a:p>
            <a:r>
              <a:rPr sz="2083"/>
              <a:t>The first step in designing your project is selecting the right method to answer your question.</a:t>
            </a:r>
          </a:p>
        </p:txBody>
      </p:sp>
      <p:sp>
        <p:nvSpPr>
          <p:cNvPr id="2125" name="Text 1"/>
          <p:cNvSpPr txBox="1"/>
          <p:nvPr/>
        </p:nvSpPr>
        <p:spPr>
          <a:xfrm>
            <a:off x="602356" y="2854082"/>
            <a:ext cx="6415288" cy="8463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2167"/>
              </a:lnSpc>
              <a:defRPr sz="2500" b="1">
                <a:latin typeface="Inter"/>
                <a:ea typeface="Inter"/>
                <a:cs typeface="Inter"/>
                <a:sym typeface="Inter"/>
              </a:defRPr>
            </a:pPr>
            <a:r>
              <a:rPr sz="2083"/>
              <a:t>Methodology includes…</a:t>
            </a:r>
          </a:p>
          <a:p>
            <a:pPr marL="208872" indent="-208872">
              <a:lnSpc>
                <a:spcPts val="2167"/>
              </a:lnSpc>
              <a:buSzPct val="100000"/>
              <a:buChar char="•"/>
              <a:defRPr sz="2500">
                <a:latin typeface="Inter"/>
                <a:ea typeface="Inter"/>
                <a:cs typeface="Inter"/>
                <a:sym typeface="Inter"/>
              </a:defRPr>
            </a:pPr>
            <a:endParaRPr sz="2083"/>
          </a:p>
          <a:p>
            <a:pPr marL="208872" indent="-208872">
              <a:lnSpc>
                <a:spcPts val="2167"/>
              </a:lnSpc>
              <a:buSzPct val="100000"/>
              <a:buChar char="•"/>
              <a:defRPr sz="2500">
                <a:latin typeface="Inter"/>
                <a:ea typeface="Inter"/>
                <a:cs typeface="Inter"/>
                <a:sym typeface="Inter"/>
              </a:defRPr>
            </a:pPr>
            <a:r>
              <a:rPr sz="2083"/>
              <a:t>Your overall approach / strategy: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2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2122"/>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2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1" grpId="0" animBg="1" advAuto="0"/>
      <p:bldP spid="2122" grpId="0" animBg="1" advAuto="0"/>
      <p:bldP spid="2123"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7" name="Image 0" descr="Image 0"/>
          <p:cNvPicPr>
            <a:picLocks noChangeAspect="1"/>
          </p:cNvPicPr>
          <p:nvPr/>
        </p:nvPicPr>
        <p:blipFill>
          <a:blip r:embed="rId2"/>
          <a:stretch>
            <a:fillRect/>
          </a:stretch>
        </p:blipFill>
        <p:spPr>
          <a:xfrm>
            <a:off x="8206515" y="879771"/>
            <a:ext cx="3985486" cy="5978228"/>
          </a:xfrm>
          <a:prstGeom prst="rect">
            <a:avLst/>
          </a:prstGeom>
          <a:ln w="12700">
            <a:miter lim="400000"/>
          </a:ln>
        </p:spPr>
      </p:pic>
      <p:sp>
        <p:nvSpPr>
          <p:cNvPr id="2128" name="Text 0"/>
          <p:cNvSpPr txBox="1"/>
          <p:nvPr/>
        </p:nvSpPr>
        <p:spPr>
          <a:xfrm>
            <a:off x="602356" y="879772"/>
            <a:ext cx="5729132" cy="5774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5000"/>
              </a:lnSpc>
              <a:defRPr sz="4000" b="1">
                <a:latin typeface="Playfair Display Bold"/>
                <a:ea typeface="Playfair Display Bold"/>
                <a:cs typeface="Playfair Display Bold"/>
                <a:sym typeface="Playfair Display Bold"/>
              </a:defRPr>
            </a:lvl1pPr>
          </a:lstStyle>
          <a:p>
            <a:r>
              <a:rPr sz="3333"/>
              <a:t>Choosing a Research Method</a:t>
            </a:r>
          </a:p>
        </p:txBody>
      </p:sp>
      <p:sp>
        <p:nvSpPr>
          <p:cNvPr id="2129" name="Text 1"/>
          <p:cNvSpPr txBox="1"/>
          <p:nvPr/>
        </p:nvSpPr>
        <p:spPr>
          <a:xfrm>
            <a:off x="602356" y="1675806"/>
            <a:ext cx="6415288" cy="6540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600"/>
              </a:lnSpc>
              <a:defRPr sz="2500">
                <a:solidFill>
                  <a:srgbClr val="919191"/>
                </a:solidFill>
                <a:latin typeface="Inter"/>
                <a:ea typeface="Inter"/>
                <a:cs typeface="Inter"/>
                <a:sym typeface="Inter"/>
              </a:defRPr>
            </a:lvl1pPr>
          </a:lstStyle>
          <a:p>
            <a:r>
              <a:rPr sz="2083"/>
              <a:t>The first step in designing your project is selecting the right method to answer your question.</a:t>
            </a:r>
          </a:p>
        </p:txBody>
      </p:sp>
      <p:sp>
        <p:nvSpPr>
          <p:cNvPr id="2130" name="Text 1"/>
          <p:cNvSpPr txBox="1"/>
          <p:nvPr/>
        </p:nvSpPr>
        <p:spPr>
          <a:xfrm>
            <a:off x="602356" y="2854082"/>
            <a:ext cx="6415288" cy="33629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2167"/>
              </a:lnSpc>
              <a:defRPr sz="2500" b="1">
                <a:latin typeface="Inter"/>
                <a:ea typeface="Inter"/>
                <a:cs typeface="Inter"/>
                <a:sym typeface="Inter"/>
              </a:defRPr>
            </a:pPr>
            <a:r>
              <a:rPr sz="2083"/>
              <a:t>Methodology includes…</a:t>
            </a:r>
          </a:p>
          <a:p>
            <a:pPr marL="208872" indent="-208872">
              <a:lnSpc>
                <a:spcPts val="2167"/>
              </a:lnSpc>
              <a:buSzPct val="100000"/>
              <a:buChar char="•"/>
              <a:defRPr sz="2500">
                <a:latin typeface="Inter"/>
                <a:ea typeface="Inter"/>
                <a:cs typeface="Inter"/>
                <a:sym typeface="Inter"/>
              </a:defRPr>
            </a:pPr>
            <a:endParaRPr sz="2083"/>
          </a:p>
          <a:p>
            <a:pPr marL="208872" indent="-208872">
              <a:lnSpc>
                <a:spcPts val="2167"/>
              </a:lnSpc>
              <a:buSzPct val="100000"/>
              <a:buChar char="•"/>
              <a:defRPr sz="2500">
                <a:latin typeface="Inter"/>
                <a:ea typeface="Inter"/>
                <a:cs typeface="Inter"/>
                <a:sym typeface="Inter"/>
              </a:defRPr>
            </a:pPr>
            <a:r>
              <a:rPr sz="2083"/>
              <a:t>Your overall approach / strategy: </a:t>
            </a:r>
          </a:p>
          <a:p>
            <a:pPr>
              <a:lnSpc>
                <a:spcPts val="2167"/>
              </a:lnSpc>
              <a:defRPr sz="2500">
                <a:latin typeface="Inter"/>
                <a:ea typeface="Inter"/>
                <a:cs typeface="Inter"/>
                <a:sym typeface="Inter"/>
              </a:defRPr>
            </a:pPr>
            <a:r>
              <a:rPr sz="2083"/>
              <a:t>                             </a:t>
            </a:r>
            <a:r>
              <a:rPr sz="2083">
                <a:solidFill>
                  <a:srgbClr val="941751"/>
                </a:solidFill>
              </a:rPr>
              <a:t>Qualitative. Quantitative. Mixed.</a:t>
            </a:r>
          </a:p>
          <a:p>
            <a:pPr marL="208872" indent="-208872">
              <a:lnSpc>
                <a:spcPts val="2167"/>
              </a:lnSpc>
              <a:buSzPct val="100000"/>
              <a:buChar char="•"/>
              <a:defRPr sz="2500">
                <a:latin typeface="Inter"/>
                <a:ea typeface="Inter"/>
                <a:cs typeface="Inter"/>
                <a:sym typeface="Inter"/>
              </a:defRPr>
            </a:pPr>
            <a:endParaRPr sz="2083">
              <a:solidFill>
                <a:srgbClr val="941751"/>
              </a:solidFill>
            </a:endParaRPr>
          </a:p>
          <a:p>
            <a:pPr marL="208872" indent="-208872">
              <a:lnSpc>
                <a:spcPts val="2167"/>
              </a:lnSpc>
              <a:buSzPct val="100000"/>
              <a:buChar char="•"/>
              <a:defRPr sz="2500">
                <a:latin typeface="Inter"/>
                <a:ea typeface="Inter"/>
                <a:cs typeface="Inter"/>
                <a:sym typeface="Inter"/>
              </a:defRPr>
            </a:pPr>
            <a:r>
              <a:rPr sz="2083"/>
              <a:t>Your data collection tools / techniques</a:t>
            </a:r>
          </a:p>
          <a:p>
            <a:pPr>
              <a:lnSpc>
                <a:spcPts val="2167"/>
              </a:lnSpc>
              <a:defRPr sz="2500">
                <a:latin typeface="Inter"/>
                <a:ea typeface="Inter"/>
                <a:cs typeface="Inter"/>
                <a:sym typeface="Inter"/>
              </a:defRPr>
            </a:pPr>
            <a:endParaRPr sz="2083"/>
          </a:p>
          <a:p>
            <a:pPr>
              <a:lnSpc>
                <a:spcPts val="2167"/>
              </a:lnSpc>
              <a:defRPr sz="2400">
                <a:solidFill>
                  <a:srgbClr val="941751"/>
                </a:solidFill>
                <a:latin typeface="Inter"/>
                <a:ea typeface="Inter"/>
                <a:cs typeface="Inter"/>
                <a:sym typeface="Inter"/>
              </a:defRPr>
            </a:pPr>
            <a:r>
              <a:rPr sz="2000"/>
              <a:t>HERE YOU HAVE A COUPLE DIFFERENT  OPTIONS! </a:t>
            </a:r>
          </a:p>
          <a:p>
            <a:pPr marL="1161334" lvl="3" indent="-208872">
              <a:lnSpc>
                <a:spcPts val="2167"/>
              </a:lnSpc>
              <a:buSzPct val="100000"/>
              <a:buChar char="•"/>
              <a:defRPr sz="1700">
                <a:latin typeface="Inter"/>
                <a:ea typeface="Inter"/>
                <a:cs typeface="Inter"/>
                <a:sym typeface="Inter"/>
              </a:defRPr>
            </a:pPr>
            <a:r>
              <a:rPr sz="1417"/>
              <a:t>You can use already collected data: Secondary Research </a:t>
            </a:r>
          </a:p>
          <a:p>
            <a:pPr marL="1161334" lvl="3" indent="-208872">
              <a:lnSpc>
                <a:spcPts val="2167"/>
              </a:lnSpc>
              <a:buSzPct val="100000"/>
              <a:buChar char="•"/>
              <a:defRPr sz="1700">
                <a:latin typeface="Inter"/>
                <a:ea typeface="Inter"/>
                <a:cs typeface="Inter"/>
                <a:sym typeface="Inter"/>
              </a:defRPr>
            </a:pPr>
            <a:endParaRPr sz="1417"/>
          </a:p>
          <a:p>
            <a:pPr marL="1161334" lvl="3" indent="-208872">
              <a:lnSpc>
                <a:spcPts val="2167"/>
              </a:lnSpc>
              <a:buSzPct val="100000"/>
              <a:buChar char="•"/>
              <a:defRPr sz="1700">
                <a:latin typeface="Inter"/>
                <a:ea typeface="Inter"/>
                <a:cs typeface="Inter"/>
                <a:sym typeface="Inter"/>
              </a:defRPr>
            </a:pPr>
            <a:r>
              <a:rPr sz="1417"/>
              <a:t>You can collect your own data using one or multiple methods.   Ex: You can conduct an experiment and/or make natural observations. (Next)</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32" name="Image 0" descr="Image 0"/>
          <p:cNvPicPr>
            <a:picLocks noChangeAspect="1"/>
          </p:cNvPicPr>
          <p:nvPr/>
        </p:nvPicPr>
        <p:blipFill>
          <a:blip r:embed="rId2"/>
          <a:stretch>
            <a:fillRect/>
          </a:stretch>
        </p:blipFill>
        <p:spPr>
          <a:xfrm>
            <a:off x="8206515" y="879771"/>
            <a:ext cx="3985486" cy="5978228"/>
          </a:xfrm>
          <a:prstGeom prst="rect">
            <a:avLst/>
          </a:prstGeom>
          <a:ln w="12700">
            <a:miter lim="400000"/>
          </a:ln>
        </p:spPr>
      </p:pic>
      <p:sp>
        <p:nvSpPr>
          <p:cNvPr id="2133" name="Text 0"/>
          <p:cNvSpPr txBox="1"/>
          <p:nvPr/>
        </p:nvSpPr>
        <p:spPr>
          <a:xfrm>
            <a:off x="602356" y="879772"/>
            <a:ext cx="5729132" cy="5774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5000"/>
              </a:lnSpc>
              <a:defRPr sz="4000" b="1">
                <a:latin typeface="Playfair Display Bold"/>
                <a:ea typeface="Playfair Display Bold"/>
                <a:cs typeface="Playfair Display Bold"/>
                <a:sym typeface="Playfair Display Bold"/>
              </a:defRPr>
            </a:lvl1pPr>
          </a:lstStyle>
          <a:p>
            <a:r>
              <a:rPr sz="3333"/>
              <a:t>Choosing a Research Method</a:t>
            </a:r>
          </a:p>
        </p:txBody>
      </p:sp>
      <p:sp>
        <p:nvSpPr>
          <p:cNvPr id="2134" name="Text 1"/>
          <p:cNvSpPr txBox="1"/>
          <p:nvPr/>
        </p:nvSpPr>
        <p:spPr>
          <a:xfrm>
            <a:off x="602356" y="1675806"/>
            <a:ext cx="6415288" cy="6540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600"/>
              </a:lnSpc>
              <a:defRPr sz="2500">
                <a:solidFill>
                  <a:srgbClr val="919191"/>
                </a:solidFill>
                <a:latin typeface="Inter"/>
                <a:ea typeface="Inter"/>
                <a:cs typeface="Inter"/>
                <a:sym typeface="Inter"/>
              </a:defRPr>
            </a:lvl1pPr>
          </a:lstStyle>
          <a:p>
            <a:r>
              <a:rPr sz="2083"/>
              <a:t>The first step in designing your project is selecting the right method to answer your question.</a:t>
            </a:r>
          </a:p>
        </p:txBody>
      </p:sp>
      <p:sp>
        <p:nvSpPr>
          <p:cNvPr id="2135" name="Text 1"/>
          <p:cNvSpPr txBox="1"/>
          <p:nvPr/>
        </p:nvSpPr>
        <p:spPr>
          <a:xfrm>
            <a:off x="602356" y="2854083"/>
            <a:ext cx="6415288" cy="36676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2167"/>
              </a:lnSpc>
              <a:defRPr sz="2500" b="1">
                <a:latin typeface="Inter"/>
                <a:ea typeface="Inter"/>
                <a:cs typeface="Inter"/>
                <a:sym typeface="Inter"/>
              </a:defRPr>
            </a:pPr>
            <a:r>
              <a:rPr sz="2083"/>
              <a:t>Methodology includes…</a:t>
            </a:r>
          </a:p>
          <a:p>
            <a:pPr marL="208872" indent="-208872">
              <a:lnSpc>
                <a:spcPts val="2167"/>
              </a:lnSpc>
              <a:buSzPct val="100000"/>
              <a:buChar char="•"/>
              <a:defRPr sz="2500">
                <a:latin typeface="Inter"/>
                <a:ea typeface="Inter"/>
                <a:cs typeface="Inter"/>
                <a:sym typeface="Inter"/>
              </a:defRPr>
            </a:pPr>
            <a:endParaRPr sz="2083"/>
          </a:p>
          <a:p>
            <a:pPr marL="208872" indent="-208872">
              <a:lnSpc>
                <a:spcPts val="2167"/>
              </a:lnSpc>
              <a:buSzPct val="100000"/>
              <a:buChar char="•"/>
              <a:defRPr sz="2500">
                <a:latin typeface="Inter"/>
                <a:ea typeface="Inter"/>
                <a:cs typeface="Inter"/>
                <a:sym typeface="Inter"/>
              </a:defRPr>
            </a:pPr>
            <a:r>
              <a:rPr sz="2083"/>
              <a:t>Your overall approach / strategy: </a:t>
            </a:r>
          </a:p>
          <a:p>
            <a:pPr>
              <a:lnSpc>
                <a:spcPts val="2167"/>
              </a:lnSpc>
              <a:defRPr sz="2500">
                <a:latin typeface="Inter"/>
                <a:ea typeface="Inter"/>
                <a:cs typeface="Inter"/>
                <a:sym typeface="Inter"/>
              </a:defRPr>
            </a:pPr>
            <a:r>
              <a:rPr sz="2083"/>
              <a:t>                             </a:t>
            </a:r>
            <a:r>
              <a:rPr sz="2083">
                <a:solidFill>
                  <a:srgbClr val="941751"/>
                </a:solidFill>
              </a:rPr>
              <a:t>Qualitative vs. Quantitative</a:t>
            </a:r>
          </a:p>
          <a:p>
            <a:pPr marL="208872" indent="-208872">
              <a:lnSpc>
                <a:spcPts val="2167"/>
              </a:lnSpc>
              <a:buSzPct val="100000"/>
              <a:buChar char="•"/>
              <a:defRPr sz="2500">
                <a:latin typeface="Inter"/>
                <a:ea typeface="Inter"/>
                <a:cs typeface="Inter"/>
                <a:sym typeface="Inter"/>
              </a:defRPr>
            </a:pPr>
            <a:endParaRPr sz="2083">
              <a:solidFill>
                <a:srgbClr val="941751"/>
              </a:solidFill>
            </a:endParaRPr>
          </a:p>
          <a:p>
            <a:pPr marL="208872" indent="-208872">
              <a:lnSpc>
                <a:spcPts val="2167"/>
              </a:lnSpc>
              <a:buSzPct val="100000"/>
              <a:buChar char="•"/>
              <a:defRPr sz="2500">
                <a:latin typeface="Inter"/>
                <a:ea typeface="Inter"/>
                <a:cs typeface="Inter"/>
                <a:sym typeface="Inter"/>
              </a:defRPr>
            </a:pPr>
            <a:r>
              <a:rPr sz="2083"/>
              <a:t>Your data collection tools / techniques</a:t>
            </a:r>
          </a:p>
          <a:p>
            <a:pPr marL="1161334" lvl="3" indent="-208872">
              <a:lnSpc>
                <a:spcPts val="2167"/>
              </a:lnSpc>
              <a:buSzPct val="100000"/>
              <a:buChar char="•"/>
              <a:defRPr sz="2500">
                <a:solidFill>
                  <a:srgbClr val="941751"/>
                </a:solidFill>
                <a:latin typeface="Inter"/>
                <a:ea typeface="Inter"/>
                <a:cs typeface="Inter"/>
                <a:sym typeface="Inter"/>
              </a:defRPr>
            </a:pPr>
            <a:r>
              <a:rPr sz="2083"/>
              <a:t>Experiment</a:t>
            </a:r>
          </a:p>
          <a:p>
            <a:pPr marL="1161334" lvl="3" indent="-208872">
              <a:lnSpc>
                <a:spcPts val="2167"/>
              </a:lnSpc>
              <a:buSzPct val="100000"/>
              <a:buChar char="•"/>
              <a:defRPr sz="2500">
                <a:solidFill>
                  <a:srgbClr val="941751"/>
                </a:solidFill>
                <a:latin typeface="Inter"/>
                <a:ea typeface="Inter"/>
                <a:cs typeface="Inter"/>
                <a:sym typeface="Inter"/>
              </a:defRPr>
            </a:pPr>
            <a:r>
              <a:rPr sz="2083"/>
              <a:t>Surveys</a:t>
            </a:r>
          </a:p>
          <a:p>
            <a:pPr marL="1161334" lvl="3" indent="-208872">
              <a:lnSpc>
                <a:spcPts val="2167"/>
              </a:lnSpc>
              <a:buSzPct val="100000"/>
              <a:buChar char="•"/>
              <a:defRPr sz="2500">
                <a:solidFill>
                  <a:srgbClr val="941751"/>
                </a:solidFill>
                <a:latin typeface="Inter"/>
                <a:ea typeface="Inter"/>
                <a:cs typeface="Inter"/>
                <a:sym typeface="Inter"/>
              </a:defRPr>
            </a:pPr>
            <a:r>
              <a:rPr sz="2083"/>
              <a:t>Interview</a:t>
            </a:r>
          </a:p>
          <a:p>
            <a:pPr marL="1161334" lvl="3" indent="-208872">
              <a:lnSpc>
                <a:spcPts val="2167"/>
              </a:lnSpc>
              <a:buSzPct val="100000"/>
              <a:buChar char="•"/>
              <a:defRPr sz="2500">
                <a:solidFill>
                  <a:srgbClr val="941751"/>
                </a:solidFill>
                <a:latin typeface="Inter"/>
                <a:ea typeface="Inter"/>
                <a:cs typeface="Inter"/>
                <a:sym typeface="Inter"/>
              </a:defRPr>
            </a:pPr>
            <a:r>
              <a:rPr sz="2083"/>
              <a:t>Focus Groups</a:t>
            </a:r>
          </a:p>
          <a:p>
            <a:pPr marL="1161334" lvl="3" indent="-208872">
              <a:lnSpc>
                <a:spcPts val="2167"/>
              </a:lnSpc>
              <a:buSzPct val="100000"/>
              <a:buChar char="•"/>
              <a:defRPr sz="2500">
                <a:solidFill>
                  <a:srgbClr val="941751"/>
                </a:solidFill>
                <a:latin typeface="Inter"/>
                <a:ea typeface="Inter"/>
                <a:cs typeface="Inter"/>
                <a:sym typeface="Inter"/>
              </a:defRPr>
            </a:pPr>
            <a:r>
              <a:rPr sz="2083"/>
              <a:t>Observation</a:t>
            </a:r>
          </a:p>
          <a:p>
            <a:pPr marL="1161334" lvl="3" indent="-208872">
              <a:lnSpc>
                <a:spcPts val="2167"/>
              </a:lnSpc>
              <a:buSzPct val="100000"/>
              <a:buChar char="•"/>
              <a:defRPr sz="2500">
                <a:solidFill>
                  <a:srgbClr val="941751"/>
                </a:solidFill>
                <a:latin typeface="Inter"/>
                <a:ea typeface="Inter"/>
                <a:cs typeface="Inter"/>
                <a:sym typeface="Inter"/>
              </a:defRPr>
            </a:pPr>
            <a:r>
              <a:rPr sz="2083"/>
              <a:t>Case Study </a:t>
            </a:r>
          </a:p>
          <a:p>
            <a:pPr>
              <a:lnSpc>
                <a:spcPts val="2167"/>
              </a:lnSpc>
              <a:defRPr sz="2500">
                <a:latin typeface="Inter"/>
                <a:ea typeface="Inter"/>
                <a:cs typeface="Inter"/>
                <a:sym typeface="Inter"/>
              </a:defRPr>
            </a:pPr>
            <a:endParaRPr sz="2083"/>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7" name="Text 0"/>
          <p:cNvSpPr txBox="1"/>
          <p:nvPr/>
        </p:nvSpPr>
        <p:spPr>
          <a:xfrm>
            <a:off x="661491" y="1135658"/>
            <a:ext cx="8366073" cy="548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nSpc>
                <a:spcPts val="4583"/>
              </a:lnSpc>
              <a:defRPr sz="4400" b="1">
                <a:latin typeface="Playfair Display Bold"/>
                <a:ea typeface="Playfair Display Bold"/>
                <a:cs typeface="Playfair Display Bold"/>
                <a:sym typeface="Playfair Display Bold"/>
              </a:defRPr>
            </a:pPr>
            <a:r>
              <a:rPr sz="3667">
                <a:solidFill>
                  <a:srgbClr val="941751"/>
                </a:solidFill>
              </a:rPr>
              <a:t>Experiments:</a:t>
            </a:r>
            <a:r>
              <a:rPr sz="3667"/>
              <a:t> Testing Cause and Effect</a:t>
            </a:r>
          </a:p>
        </p:txBody>
      </p:sp>
      <p:sp>
        <p:nvSpPr>
          <p:cNvPr id="2138" name="Text 1"/>
          <p:cNvSpPr txBox="1"/>
          <p:nvPr/>
        </p:nvSpPr>
        <p:spPr>
          <a:xfrm>
            <a:off x="661491" y="2198786"/>
            <a:ext cx="1468351" cy="3176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400" b="1">
                <a:latin typeface="Playfair Display Bold"/>
                <a:ea typeface="Playfair Display Bold"/>
                <a:cs typeface="Playfair Display Bold"/>
                <a:sym typeface="Playfair Display Bold"/>
              </a:defRPr>
            </a:lvl1pPr>
          </a:lstStyle>
          <a:p>
            <a:r>
              <a:rPr sz="2000"/>
              <a:t>When to Use</a:t>
            </a:r>
          </a:p>
        </p:txBody>
      </p:sp>
      <p:sp>
        <p:nvSpPr>
          <p:cNvPr id="2139" name="Text 2"/>
          <p:cNvSpPr txBox="1"/>
          <p:nvPr/>
        </p:nvSpPr>
        <p:spPr>
          <a:xfrm>
            <a:off x="661491" y="2683073"/>
            <a:ext cx="3315098" cy="690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200">
                <a:latin typeface="Inter"/>
                <a:ea typeface="Inter"/>
                <a:cs typeface="Inter"/>
                <a:sym typeface="Inter"/>
              </a:defRPr>
            </a:lvl1pPr>
          </a:lstStyle>
          <a:p>
            <a:r>
              <a:rPr sz="1833"/>
              <a:t>Best for questions about cause-and-effect relationships.</a:t>
            </a:r>
          </a:p>
        </p:txBody>
      </p:sp>
      <p:sp>
        <p:nvSpPr>
          <p:cNvPr id="2140" name="Text 3"/>
          <p:cNvSpPr txBox="1"/>
          <p:nvPr/>
        </p:nvSpPr>
        <p:spPr>
          <a:xfrm>
            <a:off x="661491" y="3457972"/>
            <a:ext cx="3112647" cy="3313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You can manipulate variables</a:t>
            </a:r>
          </a:p>
        </p:txBody>
      </p:sp>
      <p:sp>
        <p:nvSpPr>
          <p:cNvPr id="2141" name="Text 4"/>
          <p:cNvSpPr txBox="1"/>
          <p:nvPr/>
        </p:nvSpPr>
        <p:spPr>
          <a:xfrm>
            <a:off x="661491" y="3826470"/>
            <a:ext cx="3483069" cy="3313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You need to control other factors</a:t>
            </a:r>
          </a:p>
        </p:txBody>
      </p:sp>
      <p:sp>
        <p:nvSpPr>
          <p:cNvPr id="2142" name="Text 5"/>
          <p:cNvSpPr txBox="1"/>
          <p:nvPr/>
        </p:nvSpPr>
        <p:spPr>
          <a:xfrm>
            <a:off x="661491" y="4194969"/>
            <a:ext cx="3315098" cy="690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Your question starts with "What is the effect of...?"</a:t>
            </a:r>
          </a:p>
        </p:txBody>
      </p:sp>
      <p:sp>
        <p:nvSpPr>
          <p:cNvPr id="2143" name="Text 6"/>
          <p:cNvSpPr txBox="1"/>
          <p:nvPr/>
        </p:nvSpPr>
        <p:spPr>
          <a:xfrm>
            <a:off x="4444106" y="2198786"/>
            <a:ext cx="2013372" cy="3176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400" b="1">
                <a:latin typeface="Playfair Display Bold"/>
                <a:ea typeface="Playfair Display Bold"/>
                <a:cs typeface="Playfair Display Bold"/>
                <a:sym typeface="Playfair Display Bold"/>
              </a:defRPr>
            </a:lvl1pPr>
          </a:lstStyle>
          <a:p>
            <a:r>
              <a:rPr sz="2000"/>
              <a:t>Key Components</a:t>
            </a:r>
          </a:p>
        </p:txBody>
      </p:sp>
      <p:sp>
        <p:nvSpPr>
          <p:cNvPr id="2144" name="Text 7"/>
          <p:cNvSpPr txBox="1"/>
          <p:nvPr/>
        </p:nvSpPr>
        <p:spPr>
          <a:xfrm>
            <a:off x="4444106" y="2683073"/>
            <a:ext cx="3315098" cy="690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Independent variable (what you change)</a:t>
            </a:r>
          </a:p>
        </p:txBody>
      </p:sp>
      <p:sp>
        <p:nvSpPr>
          <p:cNvPr id="2145" name="Text 8"/>
          <p:cNvSpPr txBox="1"/>
          <p:nvPr/>
        </p:nvSpPr>
        <p:spPr>
          <a:xfrm>
            <a:off x="4444106" y="3353990"/>
            <a:ext cx="3315098" cy="690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Dependent variable (what you measure)</a:t>
            </a:r>
          </a:p>
        </p:txBody>
      </p:sp>
      <p:sp>
        <p:nvSpPr>
          <p:cNvPr id="2146" name="Text 9"/>
          <p:cNvSpPr txBox="1"/>
          <p:nvPr/>
        </p:nvSpPr>
        <p:spPr>
          <a:xfrm>
            <a:off x="4444106" y="4024907"/>
            <a:ext cx="3300006" cy="3313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Control group (for comparison)</a:t>
            </a:r>
          </a:p>
        </p:txBody>
      </p:sp>
      <p:sp>
        <p:nvSpPr>
          <p:cNvPr id="2147" name="Text 10"/>
          <p:cNvSpPr txBox="1"/>
          <p:nvPr/>
        </p:nvSpPr>
        <p:spPr>
          <a:xfrm>
            <a:off x="4444106" y="4393406"/>
            <a:ext cx="3315098" cy="6904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Random assignment (reduces bias)</a:t>
            </a:r>
          </a:p>
        </p:txBody>
      </p:sp>
      <p:pic>
        <p:nvPicPr>
          <p:cNvPr id="2148" name="Image 0" descr="Image 0"/>
          <p:cNvPicPr>
            <a:picLocks noChangeAspect="1"/>
          </p:cNvPicPr>
          <p:nvPr/>
        </p:nvPicPr>
        <p:blipFill>
          <a:blip r:embed="rId2"/>
          <a:stretch>
            <a:fillRect/>
          </a:stretch>
        </p:blipFill>
        <p:spPr>
          <a:xfrm>
            <a:off x="8226723" y="2222401"/>
            <a:ext cx="3315098" cy="2209999"/>
          </a:xfrm>
          <a:prstGeom prst="rect">
            <a:avLst/>
          </a:prstGeom>
          <a:ln w="12700">
            <a:miter lim="400000"/>
          </a:ln>
        </p:spPr>
      </p:pic>
      <p:sp>
        <p:nvSpPr>
          <p:cNvPr id="2149" name="Text 11"/>
          <p:cNvSpPr txBox="1"/>
          <p:nvPr/>
        </p:nvSpPr>
        <p:spPr>
          <a:xfrm>
            <a:off x="8226723" y="4645024"/>
            <a:ext cx="3315098" cy="10466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100">
                <a:latin typeface="Inter"/>
                <a:ea typeface="Inter"/>
                <a:cs typeface="Inter"/>
                <a:sym typeface="Inter"/>
              </a:defRPr>
            </a:lvl1pPr>
          </a:lstStyle>
          <a:p>
            <a:r>
              <a:rPr sz="1750"/>
              <a:t>Example: Testing if sunlight affects plant growth by placing identical plants in different light conditions.</a:t>
            </a:r>
          </a:p>
        </p:txBody>
      </p:sp>
      <p:sp>
        <p:nvSpPr>
          <p:cNvPr id="2150" name="Text 1"/>
          <p:cNvSpPr txBox="1"/>
          <p:nvPr/>
        </p:nvSpPr>
        <p:spPr>
          <a:xfrm>
            <a:off x="633269" y="5457752"/>
            <a:ext cx="2260234" cy="3176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400" b="1" i="1">
                <a:solidFill>
                  <a:srgbClr val="0433FF"/>
                </a:solidFill>
                <a:latin typeface="Playfair Display Bold"/>
                <a:ea typeface="Playfair Display Bold"/>
                <a:cs typeface="Playfair Display Bold"/>
                <a:sym typeface="Playfair Display Bold"/>
              </a:defRPr>
            </a:lvl1pPr>
          </a:lstStyle>
          <a:p>
            <a:r>
              <a:rPr sz="2000"/>
              <a:t>Mostly quantitative</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2" name="Image 0" descr="Image 0"/>
          <p:cNvPicPr>
            <a:picLocks noChangeAspect="1"/>
          </p:cNvPicPr>
          <p:nvPr/>
        </p:nvPicPr>
        <p:blipFill>
          <a:blip r:embed="rId2"/>
          <a:stretch>
            <a:fillRect/>
          </a:stretch>
        </p:blipFill>
        <p:spPr>
          <a:xfrm>
            <a:off x="8157195" y="805794"/>
            <a:ext cx="4034805" cy="6052208"/>
          </a:xfrm>
          <a:prstGeom prst="rect">
            <a:avLst/>
          </a:prstGeom>
          <a:ln w="12700">
            <a:miter lim="400000"/>
          </a:ln>
        </p:spPr>
      </p:pic>
      <p:sp>
        <p:nvSpPr>
          <p:cNvPr id="2153" name="Text 0"/>
          <p:cNvSpPr txBox="1"/>
          <p:nvPr/>
        </p:nvSpPr>
        <p:spPr>
          <a:xfrm>
            <a:off x="661492" y="895449"/>
            <a:ext cx="6297018" cy="11385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4583"/>
              </a:lnSpc>
              <a:defRPr sz="4400" b="1">
                <a:solidFill>
                  <a:srgbClr val="941751"/>
                </a:solidFill>
                <a:latin typeface="Playfair Display Bold"/>
                <a:ea typeface="Playfair Display Bold"/>
                <a:cs typeface="Playfair Display Bold"/>
                <a:sym typeface="Playfair Display Bold"/>
              </a:defRPr>
            </a:pPr>
            <a:r>
              <a:rPr sz="3667"/>
              <a:t>Quasi-Experiments: </a:t>
            </a:r>
          </a:p>
          <a:p>
            <a:pPr>
              <a:lnSpc>
                <a:spcPts val="4583"/>
              </a:lnSpc>
              <a:defRPr sz="4400" b="1">
                <a:latin typeface="Playfair Display Bold"/>
                <a:ea typeface="Playfair Display Bold"/>
                <a:cs typeface="Playfair Display Bold"/>
                <a:sym typeface="Playfair Display Bold"/>
              </a:defRPr>
            </a:pPr>
            <a:r>
              <a:rPr sz="3667"/>
              <a:t>Real-World Testing</a:t>
            </a:r>
          </a:p>
        </p:txBody>
      </p:sp>
      <p:sp>
        <p:nvSpPr>
          <p:cNvPr id="2154" name="Shape 1"/>
          <p:cNvSpPr/>
          <p:nvPr/>
        </p:nvSpPr>
        <p:spPr>
          <a:xfrm>
            <a:off x="661492" y="2360215"/>
            <a:ext cx="3054053" cy="2009082"/>
          </a:xfrm>
          <a:prstGeom prst="roundRect">
            <a:avLst>
              <a:gd name="adj" fmla="val 3952"/>
            </a:avLst>
          </a:prstGeom>
          <a:solidFill>
            <a:srgbClr val="CCEDFF"/>
          </a:solidFill>
          <a:ln w="7620">
            <a:solidFill>
              <a:srgbClr val="B2D3E5"/>
            </a:solidFill>
          </a:ln>
        </p:spPr>
        <p:txBody>
          <a:bodyPr lIns="38099" rIns="38099"/>
          <a:lstStyle/>
          <a:p>
            <a:endParaRPr sz="1500"/>
          </a:p>
        </p:txBody>
      </p:sp>
      <p:sp>
        <p:nvSpPr>
          <p:cNvPr id="2155" name="Text 2"/>
          <p:cNvSpPr txBox="1"/>
          <p:nvPr/>
        </p:nvSpPr>
        <p:spPr>
          <a:xfrm>
            <a:off x="856852" y="2555578"/>
            <a:ext cx="1110882"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Definition</a:t>
            </a:r>
          </a:p>
        </p:txBody>
      </p:sp>
      <p:sp>
        <p:nvSpPr>
          <p:cNvPr id="2156" name="Text 3"/>
          <p:cNvSpPr txBox="1"/>
          <p:nvPr/>
        </p:nvSpPr>
        <p:spPr>
          <a:xfrm>
            <a:off x="856853" y="2964259"/>
            <a:ext cx="2663330" cy="11653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2333"/>
              </a:lnSpc>
              <a:defRPr sz="2100">
                <a:latin typeface="Inter"/>
                <a:ea typeface="Inter"/>
                <a:cs typeface="Inter"/>
                <a:sym typeface="Inter"/>
              </a:defRPr>
            </a:pPr>
            <a:r>
              <a:rPr sz="1750" dirty="0"/>
              <a:t>Similar to experiments </a:t>
            </a:r>
          </a:p>
          <a:p>
            <a:pPr>
              <a:lnSpc>
                <a:spcPts val="2333"/>
              </a:lnSpc>
              <a:defRPr sz="2100">
                <a:latin typeface="Inter"/>
                <a:ea typeface="Inter"/>
                <a:cs typeface="Inter"/>
                <a:sym typeface="Inter"/>
              </a:defRPr>
            </a:pPr>
            <a:r>
              <a:rPr sz="1750"/>
              <a:t>but without random assignment or </a:t>
            </a:r>
          </a:p>
          <a:p>
            <a:pPr>
              <a:lnSpc>
                <a:spcPts val="2333"/>
              </a:lnSpc>
              <a:defRPr sz="2100">
                <a:latin typeface="Inter"/>
                <a:ea typeface="Inter"/>
                <a:cs typeface="Inter"/>
                <a:sym typeface="Inter"/>
              </a:defRPr>
            </a:pPr>
            <a:r>
              <a:rPr sz="1750"/>
              <a:t>full control over all factors.</a:t>
            </a:r>
          </a:p>
        </p:txBody>
      </p:sp>
      <p:sp>
        <p:nvSpPr>
          <p:cNvPr id="2157" name="Shape 4"/>
          <p:cNvSpPr/>
          <p:nvPr/>
        </p:nvSpPr>
        <p:spPr>
          <a:xfrm>
            <a:off x="3904556" y="2360215"/>
            <a:ext cx="3382963" cy="2009082"/>
          </a:xfrm>
          <a:prstGeom prst="roundRect">
            <a:avLst>
              <a:gd name="adj" fmla="val 3952"/>
            </a:avLst>
          </a:prstGeom>
          <a:solidFill>
            <a:srgbClr val="CCEDFF"/>
          </a:solidFill>
          <a:ln w="7620">
            <a:solidFill>
              <a:srgbClr val="B2D3E5"/>
            </a:solidFill>
          </a:ln>
        </p:spPr>
        <p:txBody>
          <a:bodyPr lIns="38099" rIns="38099"/>
          <a:lstStyle/>
          <a:p>
            <a:endParaRPr sz="1500"/>
          </a:p>
        </p:txBody>
      </p:sp>
      <p:sp>
        <p:nvSpPr>
          <p:cNvPr id="2158" name="Text 5"/>
          <p:cNvSpPr txBox="1"/>
          <p:nvPr/>
        </p:nvSpPr>
        <p:spPr>
          <a:xfrm>
            <a:off x="4099917" y="2555578"/>
            <a:ext cx="1348126"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When to Use</a:t>
            </a:r>
          </a:p>
        </p:txBody>
      </p:sp>
      <p:sp>
        <p:nvSpPr>
          <p:cNvPr id="2159" name="Text 6"/>
          <p:cNvSpPr txBox="1"/>
          <p:nvPr/>
        </p:nvSpPr>
        <p:spPr>
          <a:xfrm>
            <a:off x="4099917" y="2964259"/>
            <a:ext cx="2992241" cy="1405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100">
                <a:latin typeface="Inter"/>
                <a:ea typeface="Inter"/>
                <a:cs typeface="Inter"/>
                <a:sym typeface="Inter"/>
              </a:defRPr>
            </a:lvl1pPr>
          </a:lstStyle>
          <a:p>
            <a:r>
              <a:rPr sz="1750"/>
              <a:t>When true experiments aren't feasible or ethical, but you still want to test relationships between variables.</a:t>
            </a:r>
          </a:p>
        </p:txBody>
      </p:sp>
      <p:sp>
        <p:nvSpPr>
          <p:cNvPr id="2160" name="Shape 7"/>
          <p:cNvSpPr/>
          <p:nvPr/>
        </p:nvSpPr>
        <p:spPr>
          <a:xfrm>
            <a:off x="661492" y="4558307"/>
            <a:ext cx="6625322" cy="1404244"/>
          </a:xfrm>
          <a:prstGeom prst="roundRect">
            <a:avLst>
              <a:gd name="adj" fmla="val 5654"/>
            </a:avLst>
          </a:prstGeom>
          <a:solidFill>
            <a:srgbClr val="CCEDFF"/>
          </a:solidFill>
          <a:ln w="7620">
            <a:solidFill>
              <a:srgbClr val="B2D3E5"/>
            </a:solidFill>
          </a:ln>
        </p:spPr>
        <p:txBody>
          <a:bodyPr lIns="38099" rIns="38099"/>
          <a:lstStyle/>
          <a:p>
            <a:endParaRPr sz="1500"/>
          </a:p>
        </p:txBody>
      </p:sp>
      <p:sp>
        <p:nvSpPr>
          <p:cNvPr id="2161" name="Text 8"/>
          <p:cNvSpPr txBox="1"/>
          <p:nvPr/>
        </p:nvSpPr>
        <p:spPr>
          <a:xfrm>
            <a:off x="856853" y="4753669"/>
            <a:ext cx="1253548"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Limitations</a:t>
            </a:r>
          </a:p>
        </p:txBody>
      </p:sp>
      <p:sp>
        <p:nvSpPr>
          <p:cNvPr id="2162" name="Text 9"/>
          <p:cNvSpPr txBox="1"/>
          <p:nvPr/>
        </p:nvSpPr>
        <p:spPr>
          <a:xfrm>
            <a:off x="856854" y="5162351"/>
            <a:ext cx="5906293" cy="6876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100">
                <a:latin typeface="Inter"/>
                <a:ea typeface="Inter"/>
                <a:cs typeface="Inter"/>
                <a:sym typeface="Inter"/>
              </a:defRPr>
            </a:lvl1pPr>
          </a:lstStyle>
          <a:p>
            <a:r>
              <a:rPr sz="1750"/>
              <a:t>Harder to establish causation because other factors might influence results.</a:t>
            </a:r>
          </a:p>
        </p:txBody>
      </p:sp>
      <p:sp>
        <p:nvSpPr>
          <p:cNvPr id="2163" name="Text 1"/>
          <p:cNvSpPr txBox="1"/>
          <p:nvPr/>
        </p:nvSpPr>
        <p:spPr>
          <a:xfrm>
            <a:off x="657963" y="6148386"/>
            <a:ext cx="2260234" cy="3176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400" b="1" i="1">
                <a:solidFill>
                  <a:srgbClr val="0433FF"/>
                </a:solidFill>
                <a:latin typeface="Playfair Display Bold"/>
                <a:ea typeface="Playfair Display Bold"/>
                <a:cs typeface="Playfair Display Bold"/>
                <a:sym typeface="Playfair Display Bold"/>
              </a:defRPr>
            </a:lvl1pPr>
          </a:lstStyle>
          <a:p>
            <a:r>
              <a:rPr sz="2000"/>
              <a:t>Mostly quantitative</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5" name="Image 0" descr="Image 0"/>
          <p:cNvPicPr>
            <a:picLocks noChangeAspect="1"/>
          </p:cNvPicPr>
          <p:nvPr/>
        </p:nvPicPr>
        <p:blipFill>
          <a:blip r:embed="rId2"/>
          <a:stretch>
            <a:fillRect/>
          </a:stretch>
        </p:blipFill>
        <p:spPr>
          <a:xfrm>
            <a:off x="0" y="760314"/>
            <a:ext cx="12192000" cy="2362698"/>
          </a:xfrm>
          <a:prstGeom prst="rect">
            <a:avLst/>
          </a:prstGeom>
          <a:ln w="12700">
            <a:miter lim="400000"/>
          </a:ln>
        </p:spPr>
      </p:pic>
      <p:sp>
        <p:nvSpPr>
          <p:cNvPr id="2166" name="Text 0"/>
          <p:cNvSpPr txBox="1"/>
          <p:nvPr/>
        </p:nvSpPr>
        <p:spPr>
          <a:xfrm>
            <a:off x="661492" y="3311524"/>
            <a:ext cx="8324395" cy="548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nSpc>
                <a:spcPts val="4583"/>
              </a:lnSpc>
              <a:defRPr sz="4400" b="1">
                <a:latin typeface="Playfair Display Bold"/>
                <a:ea typeface="Playfair Display Bold"/>
                <a:cs typeface="Playfair Display Bold"/>
                <a:sym typeface="Playfair Display Bold"/>
              </a:defRPr>
            </a:pPr>
            <a:r>
              <a:rPr sz="3667">
                <a:solidFill>
                  <a:srgbClr val="941751"/>
                </a:solidFill>
              </a:rPr>
              <a:t>Surveys</a:t>
            </a:r>
            <a:r>
              <a:rPr sz="3667">
                <a:solidFill>
                  <a:srgbClr val="942193"/>
                </a:solidFill>
              </a:rPr>
              <a:t>:</a:t>
            </a:r>
            <a:r>
              <a:rPr sz="3667"/>
              <a:t> Gathering Opinions and Data</a:t>
            </a:r>
          </a:p>
        </p:txBody>
      </p:sp>
      <p:pic>
        <p:nvPicPr>
          <p:cNvPr id="2167" name="Image 1" descr="Image 1"/>
          <p:cNvPicPr>
            <a:picLocks noChangeAspect="1"/>
          </p:cNvPicPr>
          <p:nvPr/>
        </p:nvPicPr>
        <p:blipFill>
          <a:blip r:embed="rId3"/>
          <a:stretch>
            <a:fillRect/>
          </a:stretch>
        </p:blipFill>
        <p:spPr>
          <a:xfrm>
            <a:off x="661492" y="4218682"/>
            <a:ext cx="472481" cy="472481"/>
          </a:xfrm>
          <a:prstGeom prst="rect">
            <a:avLst/>
          </a:prstGeom>
          <a:ln w="12700">
            <a:miter lim="400000"/>
          </a:ln>
        </p:spPr>
      </p:pic>
      <p:sp>
        <p:nvSpPr>
          <p:cNvPr id="2168" name="Text 1"/>
          <p:cNvSpPr txBox="1"/>
          <p:nvPr/>
        </p:nvSpPr>
        <p:spPr>
          <a:xfrm>
            <a:off x="1322982" y="4297859"/>
            <a:ext cx="1380186"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Broad Reach</a:t>
            </a:r>
          </a:p>
        </p:txBody>
      </p:sp>
      <p:sp>
        <p:nvSpPr>
          <p:cNvPr id="2169" name="Text 2"/>
          <p:cNvSpPr txBox="1"/>
          <p:nvPr/>
        </p:nvSpPr>
        <p:spPr>
          <a:xfrm>
            <a:off x="1322982" y="4706541"/>
            <a:ext cx="1878510" cy="14114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300">
                <a:latin typeface="Inter"/>
                <a:ea typeface="Inter"/>
                <a:cs typeface="Inter"/>
                <a:sym typeface="Inter"/>
              </a:defRPr>
            </a:lvl1pPr>
          </a:lstStyle>
          <a:p>
            <a:r>
              <a:rPr sz="1917"/>
              <a:t>Collect information from many people quickly.</a:t>
            </a:r>
          </a:p>
        </p:txBody>
      </p:sp>
      <p:pic>
        <p:nvPicPr>
          <p:cNvPr id="2170" name="Image 2" descr="Image 2"/>
          <p:cNvPicPr>
            <a:picLocks noChangeAspect="1"/>
          </p:cNvPicPr>
          <p:nvPr/>
        </p:nvPicPr>
        <p:blipFill>
          <a:blip r:embed="rId4"/>
          <a:stretch>
            <a:fillRect/>
          </a:stretch>
        </p:blipFill>
        <p:spPr>
          <a:xfrm>
            <a:off x="3437732" y="4218682"/>
            <a:ext cx="472481" cy="472481"/>
          </a:xfrm>
          <a:prstGeom prst="rect">
            <a:avLst/>
          </a:prstGeom>
          <a:ln w="12700">
            <a:miter lim="400000"/>
          </a:ln>
        </p:spPr>
      </p:pic>
      <p:sp>
        <p:nvSpPr>
          <p:cNvPr id="2171" name="Text 3"/>
          <p:cNvSpPr txBox="1"/>
          <p:nvPr/>
        </p:nvSpPr>
        <p:spPr>
          <a:xfrm>
            <a:off x="4099223" y="4297859"/>
            <a:ext cx="1878608" cy="6590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Versatile Questions</a:t>
            </a:r>
          </a:p>
        </p:txBody>
      </p:sp>
      <p:sp>
        <p:nvSpPr>
          <p:cNvPr id="2172" name="Text 4"/>
          <p:cNvSpPr txBox="1"/>
          <p:nvPr/>
        </p:nvSpPr>
        <p:spPr>
          <a:xfrm>
            <a:off x="4099223" y="5001816"/>
            <a:ext cx="1878608" cy="14114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300">
                <a:latin typeface="Inter"/>
                <a:ea typeface="Inter"/>
                <a:cs typeface="Inter"/>
                <a:sym typeface="Inter"/>
              </a:defRPr>
            </a:lvl1pPr>
          </a:lstStyle>
          <a:p>
            <a:r>
              <a:rPr sz="1917"/>
              <a:t>Use multiple-choice, scales, or open-ended questions.</a:t>
            </a:r>
          </a:p>
        </p:txBody>
      </p:sp>
      <p:pic>
        <p:nvPicPr>
          <p:cNvPr id="2173" name="Image 3" descr="Image 3"/>
          <p:cNvPicPr>
            <a:picLocks noChangeAspect="1"/>
          </p:cNvPicPr>
          <p:nvPr/>
        </p:nvPicPr>
        <p:blipFill>
          <a:blip r:embed="rId5"/>
          <a:stretch>
            <a:fillRect/>
          </a:stretch>
        </p:blipFill>
        <p:spPr>
          <a:xfrm>
            <a:off x="6214070" y="4218682"/>
            <a:ext cx="472481" cy="472481"/>
          </a:xfrm>
          <a:prstGeom prst="rect">
            <a:avLst/>
          </a:prstGeom>
          <a:ln w="12700">
            <a:miter lim="400000"/>
          </a:ln>
        </p:spPr>
      </p:pic>
      <p:sp>
        <p:nvSpPr>
          <p:cNvPr id="2174" name="Text 5"/>
          <p:cNvSpPr txBox="1"/>
          <p:nvPr/>
        </p:nvSpPr>
        <p:spPr>
          <a:xfrm>
            <a:off x="6875561" y="4297859"/>
            <a:ext cx="1878608" cy="6590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Quantifiable Results</a:t>
            </a:r>
          </a:p>
        </p:txBody>
      </p:sp>
      <p:sp>
        <p:nvSpPr>
          <p:cNvPr id="2175" name="Text 6"/>
          <p:cNvSpPr txBox="1"/>
          <p:nvPr/>
        </p:nvSpPr>
        <p:spPr>
          <a:xfrm>
            <a:off x="6875561" y="5001815"/>
            <a:ext cx="1878608" cy="1052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300">
                <a:latin typeface="Inter"/>
                <a:ea typeface="Inter"/>
                <a:cs typeface="Inter"/>
                <a:sym typeface="Inter"/>
              </a:defRPr>
            </a:lvl1pPr>
          </a:lstStyle>
          <a:p>
            <a:r>
              <a:rPr sz="1917"/>
              <a:t>Easily analyze and visualize responses.</a:t>
            </a:r>
          </a:p>
        </p:txBody>
      </p:sp>
      <p:pic>
        <p:nvPicPr>
          <p:cNvPr id="2176" name="Image 4" descr="Image 4"/>
          <p:cNvPicPr>
            <a:picLocks noChangeAspect="1"/>
          </p:cNvPicPr>
          <p:nvPr/>
        </p:nvPicPr>
        <p:blipFill>
          <a:blip r:embed="rId6"/>
          <a:stretch>
            <a:fillRect/>
          </a:stretch>
        </p:blipFill>
        <p:spPr>
          <a:xfrm>
            <a:off x="8990410" y="4218682"/>
            <a:ext cx="472481" cy="472481"/>
          </a:xfrm>
          <a:prstGeom prst="rect">
            <a:avLst/>
          </a:prstGeom>
          <a:ln w="12700">
            <a:miter lim="400000"/>
          </a:ln>
        </p:spPr>
      </p:pic>
      <p:sp>
        <p:nvSpPr>
          <p:cNvPr id="2177" name="Text 7"/>
          <p:cNvSpPr txBox="1"/>
          <p:nvPr/>
        </p:nvSpPr>
        <p:spPr>
          <a:xfrm>
            <a:off x="9651900" y="4297859"/>
            <a:ext cx="1878608"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Multiple Formats</a:t>
            </a:r>
          </a:p>
        </p:txBody>
      </p:sp>
      <p:sp>
        <p:nvSpPr>
          <p:cNvPr id="2178" name="Text 8"/>
          <p:cNvSpPr txBox="1"/>
          <p:nvPr/>
        </p:nvSpPr>
        <p:spPr>
          <a:xfrm>
            <a:off x="9651900" y="5001815"/>
            <a:ext cx="1878608" cy="1052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300">
                <a:latin typeface="Inter"/>
                <a:ea typeface="Inter"/>
                <a:cs typeface="Inter"/>
                <a:sym typeface="Inter"/>
              </a:defRPr>
            </a:lvl1pPr>
          </a:lstStyle>
          <a:p>
            <a:r>
              <a:rPr sz="1917"/>
              <a:t>Distribute on paper, online, or in person.</a:t>
            </a:r>
          </a:p>
        </p:txBody>
      </p:sp>
      <p:sp>
        <p:nvSpPr>
          <p:cNvPr id="2179" name="Text 1"/>
          <p:cNvSpPr txBox="1"/>
          <p:nvPr/>
        </p:nvSpPr>
        <p:spPr>
          <a:xfrm>
            <a:off x="2637047" y="6383423"/>
            <a:ext cx="6009658" cy="31040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100" b="1" i="1">
                <a:solidFill>
                  <a:srgbClr val="0433FF"/>
                </a:solidFill>
                <a:latin typeface="Playfair Display Bold"/>
                <a:ea typeface="Playfair Display Bold"/>
                <a:cs typeface="Playfair Display Bold"/>
                <a:sym typeface="Playfair Display Bold"/>
              </a:defRPr>
            </a:lvl1pPr>
          </a:lstStyle>
          <a:p>
            <a:r>
              <a:rPr sz="1750"/>
              <a:t>Common to use in both quantitative and qualitative studies</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 name="Text 0"/>
          <p:cNvSpPr txBox="1"/>
          <p:nvPr/>
        </p:nvSpPr>
        <p:spPr>
          <a:xfrm>
            <a:off x="661492" y="1110257"/>
            <a:ext cx="10477227" cy="548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nSpc>
                <a:spcPts val="4583"/>
              </a:lnSpc>
              <a:defRPr sz="4400" b="1">
                <a:latin typeface="Playfair Display Bold"/>
                <a:ea typeface="Playfair Display Bold"/>
                <a:cs typeface="Playfair Display Bold"/>
                <a:sym typeface="Playfair Display Bold"/>
              </a:defRPr>
            </a:pPr>
            <a:r>
              <a:rPr sz="3667">
                <a:solidFill>
                  <a:srgbClr val="941751"/>
                </a:solidFill>
              </a:rPr>
              <a:t>Interviews and Focus Groups</a:t>
            </a:r>
            <a:r>
              <a:rPr sz="3667"/>
              <a:t>: In-Depth Insights</a:t>
            </a:r>
          </a:p>
        </p:txBody>
      </p:sp>
      <p:sp>
        <p:nvSpPr>
          <p:cNvPr id="2182" name="Text 1"/>
          <p:cNvSpPr txBox="1"/>
          <p:nvPr/>
        </p:nvSpPr>
        <p:spPr>
          <a:xfrm>
            <a:off x="661491" y="2173387"/>
            <a:ext cx="1412246" cy="3462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700" b="1">
                <a:latin typeface="Playfair Display Bold"/>
                <a:ea typeface="Playfair Display Bold"/>
                <a:cs typeface="Playfair Display Bold"/>
                <a:sym typeface="Playfair Display Bold"/>
              </a:defRPr>
            </a:lvl1pPr>
          </a:lstStyle>
          <a:p>
            <a:r>
              <a:rPr sz="2250"/>
              <a:t>Interviews</a:t>
            </a:r>
          </a:p>
        </p:txBody>
      </p:sp>
      <p:sp>
        <p:nvSpPr>
          <p:cNvPr id="2183" name="Text 2"/>
          <p:cNvSpPr txBox="1"/>
          <p:nvPr/>
        </p:nvSpPr>
        <p:spPr>
          <a:xfrm>
            <a:off x="661491" y="2657674"/>
            <a:ext cx="3315098" cy="1052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300">
                <a:latin typeface="Inter"/>
                <a:ea typeface="Inter"/>
                <a:cs typeface="Inter"/>
                <a:sym typeface="Inter"/>
              </a:defRPr>
            </a:lvl1pPr>
          </a:lstStyle>
          <a:p>
            <a:r>
              <a:rPr sz="1917"/>
              <a:t>One-on-one conversations to explore personal experiences and perspectives.</a:t>
            </a:r>
          </a:p>
        </p:txBody>
      </p:sp>
      <p:sp>
        <p:nvSpPr>
          <p:cNvPr id="2184" name="Text 3"/>
          <p:cNvSpPr txBox="1"/>
          <p:nvPr/>
        </p:nvSpPr>
        <p:spPr>
          <a:xfrm>
            <a:off x="661491" y="3734990"/>
            <a:ext cx="3264099" cy="3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Detailed individual responses</a:t>
            </a:r>
          </a:p>
        </p:txBody>
      </p:sp>
      <p:sp>
        <p:nvSpPr>
          <p:cNvPr id="2185" name="Text 4"/>
          <p:cNvSpPr txBox="1"/>
          <p:nvPr/>
        </p:nvSpPr>
        <p:spPr>
          <a:xfrm>
            <a:off x="661491" y="4103489"/>
            <a:ext cx="3229089" cy="3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Follow-up questions possible</a:t>
            </a:r>
          </a:p>
        </p:txBody>
      </p:sp>
      <p:sp>
        <p:nvSpPr>
          <p:cNvPr id="2186" name="Text 5"/>
          <p:cNvSpPr txBox="1"/>
          <p:nvPr/>
        </p:nvSpPr>
        <p:spPr>
          <a:xfrm>
            <a:off x="661491" y="4471987"/>
            <a:ext cx="2808205" cy="3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Good for sensitive topics</a:t>
            </a:r>
          </a:p>
        </p:txBody>
      </p:sp>
      <p:sp>
        <p:nvSpPr>
          <p:cNvPr id="2187" name="Text 6"/>
          <p:cNvSpPr txBox="1"/>
          <p:nvPr/>
        </p:nvSpPr>
        <p:spPr>
          <a:xfrm>
            <a:off x="4444106" y="2173387"/>
            <a:ext cx="1843453" cy="3462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700" b="1">
                <a:latin typeface="Playfair Display Bold"/>
                <a:ea typeface="Playfair Display Bold"/>
                <a:cs typeface="Playfair Display Bold"/>
                <a:sym typeface="Playfair Display Bold"/>
              </a:defRPr>
            </a:lvl1pPr>
          </a:lstStyle>
          <a:p>
            <a:r>
              <a:rPr sz="2250"/>
              <a:t>Focus Groups</a:t>
            </a:r>
          </a:p>
        </p:txBody>
      </p:sp>
      <p:sp>
        <p:nvSpPr>
          <p:cNvPr id="2188" name="Text 7"/>
          <p:cNvSpPr txBox="1"/>
          <p:nvPr/>
        </p:nvSpPr>
        <p:spPr>
          <a:xfrm>
            <a:off x="4444106" y="2657673"/>
            <a:ext cx="3315098" cy="1052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300">
                <a:latin typeface="Inter"/>
                <a:ea typeface="Inter"/>
                <a:cs typeface="Inter"/>
                <a:sym typeface="Inter"/>
              </a:defRPr>
            </a:lvl1pPr>
          </a:lstStyle>
          <a:p>
            <a:r>
              <a:rPr sz="1917"/>
              <a:t>Guided discussions with several participants to gather multiple viewpoints.</a:t>
            </a:r>
          </a:p>
        </p:txBody>
      </p:sp>
      <p:sp>
        <p:nvSpPr>
          <p:cNvPr id="2189" name="Text 8"/>
          <p:cNvSpPr txBox="1"/>
          <p:nvPr/>
        </p:nvSpPr>
        <p:spPr>
          <a:xfrm>
            <a:off x="4444106" y="3734990"/>
            <a:ext cx="3315098" cy="6932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Group interaction generates ideas</a:t>
            </a:r>
          </a:p>
        </p:txBody>
      </p:sp>
      <p:sp>
        <p:nvSpPr>
          <p:cNvPr id="2190" name="Text 9"/>
          <p:cNvSpPr txBox="1"/>
          <p:nvPr/>
        </p:nvSpPr>
        <p:spPr>
          <a:xfrm>
            <a:off x="4444106" y="4405907"/>
            <a:ext cx="3315098" cy="6932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See how opinions form and change</a:t>
            </a:r>
          </a:p>
        </p:txBody>
      </p:sp>
      <p:sp>
        <p:nvSpPr>
          <p:cNvPr id="2191" name="Text 10"/>
          <p:cNvSpPr txBox="1"/>
          <p:nvPr/>
        </p:nvSpPr>
        <p:spPr>
          <a:xfrm>
            <a:off x="4444106" y="5076825"/>
            <a:ext cx="3315098" cy="6932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Efficient for hearing from many people</a:t>
            </a:r>
          </a:p>
        </p:txBody>
      </p:sp>
      <p:pic>
        <p:nvPicPr>
          <p:cNvPr id="2192" name="Image 0" descr="Image 0"/>
          <p:cNvPicPr>
            <a:picLocks noChangeAspect="1"/>
          </p:cNvPicPr>
          <p:nvPr/>
        </p:nvPicPr>
        <p:blipFill>
          <a:blip r:embed="rId2"/>
          <a:stretch>
            <a:fillRect/>
          </a:stretch>
        </p:blipFill>
        <p:spPr>
          <a:xfrm>
            <a:off x="8226723" y="2197001"/>
            <a:ext cx="3315098" cy="2209999"/>
          </a:xfrm>
          <a:prstGeom prst="rect">
            <a:avLst/>
          </a:prstGeom>
          <a:ln w="12700">
            <a:miter lim="400000"/>
          </a:ln>
        </p:spPr>
      </p:pic>
      <p:sp>
        <p:nvSpPr>
          <p:cNvPr id="2193" name="Text 11"/>
          <p:cNvSpPr txBox="1"/>
          <p:nvPr/>
        </p:nvSpPr>
        <p:spPr>
          <a:xfrm>
            <a:off x="8226723" y="4591402"/>
            <a:ext cx="3315098" cy="8703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r">
              <a:lnSpc>
                <a:spcPts val="2333"/>
              </a:lnSpc>
              <a:defRPr sz="2100" i="1">
                <a:latin typeface="Inter"/>
                <a:ea typeface="Inter"/>
                <a:cs typeface="Inter"/>
                <a:sym typeface="Inter"/>
              </a:defRPr>
            </a:pPr>
            <a:r>
              <a:rPr sz="1750"/>
              <a:t>Both methods provide rich </a:t>
            </a:r>
            <a:r>
              <a:rPr sz="1750" b="1">
                <a:solidFill>
                  <a:srgbClr val="0433FF"/>
                </a:solidFill>
              </a:rPr>
              <a:t>qualitative data </a:t>
            </a:r>
            <a:r>
              <a:rPr sz="1750"/>
              <a:t>that numbers alone can't capture.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8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218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218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2190"/>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219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2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7" grpId="0" animBg="1" advAuto="0"/>
      <p:bldP spid="2188" grpId="0" animBg="1" advAuto="0"/>
      <p:bldP spid="2189" grpId="0" animBg="1" advAuto="0"/>
      <p:bldP spid="2190" grpId="0" animBg="1" advAuto="0"/>
      <p:bldP spid="2191" grpId="0" animBg="1" advAuto="0"/>
      <p:bldP spid="2193" grpId="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19" name="Image 0" descr="Image 0"/>
          <p:cNvPicPr>
            <a:picLocks noChangeAspect="1"/>
          </p:cNvPicPr>
          <p:nvPr/>
        </p:nvPicPr>
        <p:blipFill>
          <a:blip r:embed="rId2"/>
          <a:stretch>
            <a:fillRect/>
          </a:stretch>
        </p:blipFill>
        <p:spPr>
          <a:xfrm>
            <a:off x="1" y="0"/>
            <a:ext cx="4355954" cy="6533931"/>
          </a:xfrm>
          <a:prstGeom prst="rect">
            <a:avLst/>
          </a:prstGeom>
          <a:ln w="12700">
            <a:miter lim="400000"/>
          </a:ln>
        </p:spPr>
      </p:pic>
      <p:sp>
        <p:nvSpPr>
          <p:cNvPr id="2420" name="Text 0"/>
          <p:cNvSpPr txBox="1"/>
          <p:nvPr/>
        </p:nvSpPr>
        <p:spPr>
          <a:xfrm>
            <a:off x="5187752" y="493515"/>
            <a:ext cx="6388497" cy="10640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4250"/>
              </a:lnSpc>
              <a:defRPr sz="4100" b="1">
                <a:solidFill>
                  <a:srgbClr val="941751"/>
                </a:solidFill>
                <a:latin typeface="Playfair Display Bold"/>
                <a:ea typeface="Playfair Display Bold"/>
                <a:cs typeface="Playfair Display Bold"/>
                <a:sym typeface="Playfair Display Bold"/>
              </a:defRPr>
            </a:pPr>
            <a:r>
              <a:rPr sz="3417"/>
              <a:t>Observation: </a:t>
            </a:r>
          </a:p>
          <a:p>
            <a:pPr>
              <a:lnSpc>
                <a:spcPts val="4250"/>
              </a:lnSpc>
              <a:defRPr sz="4100" b="1">
                <a:latin typeface="Playfair Display Bold"/>
                <a:ea typeface="Playfair Display Bold"/>
                <a:cs typeface="Playfair Display Bold"/>
                <a:sym typeface="Playfair Display Bold"/>
              </a:defRPr>
            </a:pPr>
            <a:r>
              <a:rPr sz="3417"/>
              <a:t>Watching Real Behavior</a:t>
            </a:r>
          </a:p>
        </p:txBody>
      </p:sp>
      <p:sp>
        <p:nvSpPr>
          <p:cNvPr id="2421" name="Shape 1"/>
          <p:cNvSpPr/>
          <p:nvPr/>
        </p:nvSpPr>
        <p:spPr>
          <a:xfrm>
            <a:off x="5187752" y="1729979"/>
            <a:ext cx="395883" cy="395883"/>
          </a:xfrm>
          <a:prstGeom prst="roundRect">
            <a:avLst>
              <a:gd name="adj" fmla="val 18667"/>
            </a:avLst>
          </a:prstGeom>
          <a:solidFill>
            <a:srgbClr val="CCEDFF"/>
          </a:solidFill>
          <a:ln w="7620">
            <a:solidFill>
              <a:srgbClr val="B2D3E5"/>
            </a:solidFill>
          </a:ln>
        </p:spPr>
        <p:txBody>
          <a:bodyPr lIns="38099" rIns="38099"/>
          <a:lstStyle/>
          <a:p>
            <a:endParaRPr sz="1500"/>
          </a:p>
        </p:txBody>
      </p:sp>
      <p:pic>
        <p:nvPicPr>
          <p:cNvPr id="2422" name="Image 1" descr="Image 1"/>
          <p:cNvPicPr>
            <a:picLocks noChangeAspect="1"/>
          </p:cNvPicPr>
          <p:nvPr/>
        </p:nvPicPr>
        <p:blipFill>
          <a:blip r:embed="rId3"/>
          <a:stretch>
            <a:fillRect/>
          </a:stretch>
        </p:blipFill>
        <p:spPr>
          <a:xfrm>
            <a:off x="5253731" y="1762968"/>
            <a:ext cx="263923" cy="329903"/>
          </a:xfrm>
          <a:prstGeom prst="rect">
            <a:avLst/>
          </a:prstGeom>
          <a:ln w="12700">
            <a:miter lim="400000"/>
          </a:ln>
        </p:spPr>
      </p:pic>
      <p:sp>
        <p:nvSpPr>
          <p:cNvPr id="2423" name="Text 2"/>
          <p:cNvSpPr txBox="1"/>
          <p:nvPr/>
        </p:nvSpPr>
        <p:spPr>
          <a:xfrm>
            <a:off x="5759548" y="1790403"/>
            <a:ext cx="1594988" cy="288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Natural Settings</a:t>
            </a:r>
          </a:p>
        </p:txBody>
      </p:sp>
      <p:sp>
        <p:nvSpPr>
          <p:cNvPr id="2424" name="Text 3"/>
          <p:cNvSpPr txBox="1"/>
          <p:nvPr/>
        </p:nvSpPr>
        <p:spPr>
          <a:xfrm>
            <a:off x="5759549" y="2170907"/>
            <a:ext cx="5533887" cy="3093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600"/>
              </a:lnSpc>
              <a:defRPr sz="2100">
                <a:latin typeface="Inter"/>
                <a:ea typeface="Inter"/>
                <a:cs typeface="Inter"/>
                <a:sym typeface="Inter"/>
              </a:defRPr>
            </a:lvl1pPr>
          </a:lstStyle>
          <a:p>
            <a:r>
              <a:rPr sz="1750"/>
              <a:t>Observe behavior as it naturally occurs without intervention.</a:t>
            </a:r>
          </a:p>
        </p:txBody>
      </p:sp>
      <p:sp>
        <p:nvSpPr>
          <p:cNvPr id="2425" name="Shape 4"/>
          <p:cNvSpPr/>
          <p:nvPr/>
        </p:nvSpPr>
        <p:spPr>
          <a:xfrm>
            <a:off x="5187752" y="2804119"/>
            <a:ext cx="395883" cy="395883"/>
          </a:xfrm>
          <a:prstGeom prst="roundRect">
            <a:avLst>
              <a:gd name="adj" fmla="val 18667"/>
            </a:avLst>
          </a:prstGeom>
          <a:solidFill>
            <a:srgbClr val="CCEDFF"/>
          </a:solidFill>
          <a:ln w="7620">
            <a:solidFill>
              <a:srgbClr val="B2D3E5"/>
            </a:solidFill>
          </a:ln>
        </p:spPr>
        <p:txBody>
          <a:bodyPr lIns="38099" rIns="38099"/>
          <a:lstStyle/>
          <a:p>
            <a:endParaRPr sz="1500"/>
          </a:p>
        </p:txBody>
      </p:sp>
      <p:pic>
        <p:nvPicPr>
          <p:cNvPr id="2426" name="Image 2" descr="Image 2"/>
          <p:cNvPicPr>
            <a:picLocks noChangeAspect="1"/>
          </p:cNvPicPr>
          <p:nvPr/>
        </p:nvPicPr>
        <p:blipFill>
          <a:blip r:embed="rId4"/>
          <a:stretch>
            <a:fillRect/>
          </a:stretch>
        </p:blipFill>
        <p:spPr>
          <a:xfrm>
            <a:off x="5253731" y="2837110"/>
            <a:ext cx="263923" cy="329903"/>
          </a:xfrm>
          <a:prstGeom prst="rect">
            <a:avLst/>
          </a:prstGeom>
          <a:ln w="12700">
            <a:miter lim="400000"/>
          </a:ln>
        </p:spPr>
      </p:pic>
      <p:sp>
        <p:nvSpPr>
          <p:cNvPr id="2427" name="Text 5"/>
          <p:cNvSpPr txBox="1"/>
          <p:nvPr/>
        </p:nvSpPr>
        <p:spPr>
          <a:xfrm>
            <a:off x="5759548" y="2864544"/>
            <a:ext cx="2723502" cy="288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Structured or Unstructured</a:t>
            </a:r>
          </a:p>
        </p:txBody>
      </p:sp>
      <p:sp>
        <p:nvSpPr>
          <p:cNvPr id="2428" name="Text 6"/>
          <p:cNvSpPr txBox="1"/>
          <p:nvPr/>
        </p:nvSpPr>
        <p:spPr>
          <a:xfrm>
            <a:off x="5759548" y="3245049"/>
            <a:ext cx="5816700" cy="6427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600"/>
              </a:lnSpc>
              <a:defRPr sz="2100">
                <a:latin typeface="Inter"/>
                <a:ea typeface="Inter"/>
                <a:cs typeface="Inter"/>
                <a:sym typeface="Inter"/>
              </a:defRPr>
            </a:lvl1pPr>
          </a:lstStyle>
          <a:p>
            <a:r>
              <a:rPr sz="1750"/>
              <a:t>Use checklists for specific behaviors or take open-ended notes on everything you see.</a:t>
            </a:r>
          </a:p>
        </p:txBody>
      </p:sp>
      <p:sp>
        <p:nvSpPr>
          <p:cNvPr id="2429" name="Shape 7"/>
          <p:cNvSpPr/>
          <p:nvPr/>
        </p:nvSpPr>
        <p:spPr>
          <a:xfrm>
            <a:off x="5187752" y="4011479"/>
            <a:ext cx="395883" cy="395883"/>
          </a:xfrm>
          <a:prstGeom prst="roundRect">
            <a:avLst>
              <a:gd name="adj" fmla="val 18667"/>
            </a:avLst>
          </a:prstGeom>
          <a:solidFill>
            <a:srgbClr val="CCEDFF"/>
          </a:solidFill>
          <a:ln w="7620">
            <a:solidFill>
              <a:srgbClr val="B2D3E5"/>
            </a:solidFill>
          </a:ln>
        </p:spPr>
        <p:txBody>
          <a:bodyPr lIns="38099" rIns="38099"/>
          <a:lstStyle/>
          <a:p>
            <a:endParaRPr sz="1500"/>
          </a:p>
        </p:txBody>
      </p:sp>
      <p:pic>
        <p:nvPicPr>
          <p:cNvPr id="2430" name="Image 3" descr="Image 3"/>
          <p:cNvPicPr>
            <a:picLocks noChangeAspect="1"/>
          </p:cNvPicPr>
          <p:nvPr/>
        </p:nvPicPr>
        <p:blipFill>
          <a:blip r:embed="rId5"/>
          <a:stretch>
            <a:fillRect/>
          </a:stretch>
        </p:blipFill>
        <p:spPr>
          <a:xfrm>
            <a:off x="5253731" y="4044471"/>
            <a:ext cx="263923" cy="329904"/>
          </a:xfrm>
          <a:prstGeom prst="rect">
            <a:avLst/>
          </a:prstGeom>
          <a:ln w="12700">
            <a:miter lim="400000"/>
          </a:ln>
        </p:spPr>
      </p:pic>
      <p:sp>
        <p:nvSpPr>
          <p:cNvPr id="2431" name="Text 8"/>
          <p:cNvSpPr txBox="1"/>
          <p:nvPr/>
        </p:nvSpPr>
        <p:spPr>
          <a:xfrm>
            <a:off x="5759549" y="4071905"/>
            <a:ext cx="1502014" cy="288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Time Sampling</a:t>
            </a:r>
          </a:p>
        </p:txBody>
      </p:sp>
      <p:sp>
        <p:nvSpPr>
          <p:cNvPr id="2432" name="Text 9"/>
          <p:cNvSpPr txBox="1"/>
          <p:nvPr/>
        </p:nvSpPr>
        <p:spPr>
          <a:xfrm>
            <a:off x="5759549" y="4452409"/>
            <a:ext cx="6013683" cy="6427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600"/>
              </a:lnSpc>
              <a:defRPr sz="2100">
                <a:latin typeface="Inter"/>
                <a:ea typeface="Inter"/>
                <a:cs typeface="Inter"/>
                <a:sym typeface="Inter"/>
              </a:defRPr>
            </a:lvl1pPr>
          </a:lstStyle>
          <a:p>
            <a:r>
              <a:rPr sz="1750"/>
              <a:t>Observe at different times to capture variation in behavior patterns.</a:t>
            </a:r>
          </a:p>
        </p:txBody>
      </p:sp>
      <p:sp>
        <p:nvSpPr>
          <p:cNvPr id="2433" name="Shape 10"/>
          <p:cNvSpPr/>
          <p:nvPr/>
        </p:nvSpPr>
        <p:spPr>
          <a:xfrm>
            <a:off x="5187752" y="5233789"/>
            <a:ext cx="395883" cy="395883"/>
          </a:xfrm>
          <a:prstGeom prst="roundRect">
            <a:avLst>
              <a:gd name="adj" fmla="val 18667"/>
            </a:avLst>
          </a:prstGeom>
          <a:solidFill>
            <a:srgbClr val="CCEDFF"/>
          </a:solidFill>
          <a:ln w="7620">
            <a:solidFill>
              <a:srgbClr val="B2D3E5"/>
            </a:solidFill>
          </a:ln>
        </p:spPr>
        <p:txBody>
          <a:bodyPr lIns="38099" rIns="38099"/>
          <a:lstStyle/>
          <a:p>
            <a:endParaRPr sz="1500"/>
          </a:p>
        </p:txBody>
      </p:sp>
      <p:pic>
        <p:nvPicPr>
          <p:cNvPr id="2434" name="Image 4" descr="Image 4"/>
          <p:cNvPicPr>
            <a:picLocks noChangeAspect="1"/>
          </p:cNvPicPr>
          <p:nvPr/>
        </p:nvPicPr>
        <p:blipFill>
          <a:blip r:embed="rId6"/>
          <a:stretch>
            <a:fillRect/>
          </a:stretch>
        </p:blipFill>
        <p:spPr>
          <a:xfrm>
            <a:off x="5253731" y="5266779"/>
            <a:ext cx="263923" cy="329903"/>
          </a:xfrm>
          <a:prstGeom prst="rect">
            <a:avLst/>
          </a:prstGeom>
          <a:ln w="12700">
            <a:miter lim="400000"/>
          </a:ln>
        </p:spPr>
      </p:pic>
      <p:sp>
        <p:nvSpPr>
          <p:cNvPr id="2435" name="Text 11"/>
          <p:cNvSpPr txBox="1"/>
          <p:nvPr/>
        </p:nvSpPr>
        <p:spPr>
          <a:xfrm>
            <a:off x="5759549" y="5294213"/>
            <a:ext cx="2526333" cy="288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Minimize Observer Effect</a:t>
            </a:r>
          </a:p>
        </p:txBody>
      </p:sp>
      <p:sp>
        <p:nvSpPr>
          <p:cNvPr id="2436" name="Text 12"/>
          <p:cNvSpPr txBox="1"/>
          <p:nvPr/>
        </p:nvSpPr>
        <p:spPr>
          <a:xfrm>
            <a:off x="5759548" y="5674718"/>
            <a:ext cx="5816700" cy="6427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600"/>
              </a:lnSpc>
              <a:defRPr sz="2100">
                <a:latin typeface="Inter"/>
                <a:ea typeface="Inter"/>
                <a:cs typeface="Inter"/>
                <a:sym typeface="Inter"/>
              </a:defRPr>
            </a:lvl1pPr>
          </a:lstStyle>
          <a:p>
            <a:r>
              <a:rPr sz="1750"/>
              <a:t>Be discreet so your presence doesn't change the behavior you're studying.</a:t>
            </a:r>
          </a:p>
        </p:txBody>
      </p:sp>
      <p:sp>
        <p:nvSpPr>
          <p:cNvPr id="2437" name="Text 1"/>
          <p:cNvSpPr txBox="1"/>
          <p:nvPr/>
        </p:nvSpPr>
        <p:spPr>
          <a:xfrm>
            <a:off x="4390353" y="6425757"/>
            <a:ext cx="5302734" cy="31040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100" b="1" i="1">
                <a:solidFill>
                  <a:srgbClr val="0433FF"/>
                </a:solidFill>
                <a:latin typeface="Playfair Display Bold"/>
                <a:ea typeface="Playfair Display Bold"/>
                <a:cs typeface="Playfair Display Bold"/>
                <a:sym typeface="Playfair Display Bold"/>
              </a:defRPr>
            </a:lvl1pPr>
          </a:lstStyle>
          <a:p>
            <a:r>
              <a:rPr sz="1750"/>
              <a:t>Can be utilized in quantitative or qualitative studies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9" name="Image 0" descr="Image 0"/>
          <p:cNvPicPr>
            <a:picLocks noChangeAspect="1"/>
          </p:cNvPicPr>
          <p:nvPr/>
        </p:nvPicPr>
        <p:blipFill>
          <a:blip r:embed="rId2"/>
          <a:stretch>
            <a:fillRect/>
          </a:stretch>
        </p:blipFill>
        <p:spPr>
          <a:xfrm>
            <a:off x="0" y="0"/>
            <a:ext cx="4344277" cy="6516415"/>
          </a:xfrm>
          <a:prstGeom prst="rect">
            <a:avLst/>
          </a:prstGeom>
          <a:ln w="12700">
            <a:miter lim="400000"/>
          </a:ln>
        </p:spPr>
      </p:pic>
      <p:sp>
        <p:nvSpPr>
          <p:cNvPr id="2440" name="Text 0"/>
          <p:cNvSpPr txBox="1"/>
          <p:nvPr/>
        </p:nvSpPr>
        <p:spPr>
          <a:xfrm>
            <a:off x="5233491" y="1190723"/>
            <a:ext cx="5430974" cy="548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nSpc>
                <a:spcPts val="4583"/>
              </a:lnSpc>
              <a:defRPr sz="4400" b="1">
                <a:latin typeface="Playfair Display Bold"/>
                <a:ea typeface="Playfair Display Bold"/>
                <a:cs typeface="Playfair Display Bold"/>
                <a:sym typeface="Playfair Display Bold"/>
              </a:defRPr>
            </a:pPr>
            <a:r>
              <a:rPr sz="3667">
                <a:solidFill>
                  <a:srgbClr val="941751"/>
                </a:solidFill>
              </a:rPr>
              <a:t>Case Studies: </a:t>
            </a:r>
            <a:r>
              <a:rPr sz="3667"/>
              <a:t>Deep Dives</a:t>
            </a:r>
          </a:p>
        </p:txBody>
      </p:sp>
      <p:sp>
        <p:nvSpPr>
          <p:cNvPr id="2441" name="Shape 1"/>
          <p:cNvSpPr/>
          <p:nvPr/>
        </p:nvSpPr>
        <p:spPr>
          <a:xfrm>
            <a:off x="5233491" y="2064841"/>
            <a:ext cx="3054054" cy="2311500"/>
          </a:xfrm>
          <a:prstGeom prst="roundRect">
            <a:avLst>
              <a:gd name="adj" fmla="val 3435"/>
            </a:avLst>
          </a:prstGeom>
          <a:solidFill>
            <a:srgbClr val="CCEDFF"/>
          </a:solidFill>
          <a:ln w="7620">
            <a:solidFill>
              <a:srgbClr val="B2D3E5"/>
            </a:solidFill>
          </a:ln>
        </p:spPr>
        <p:txBody>
          <a:bodyPr lIns="38099" rIns="38099"/>
          <a:lstStyle/>
          <a:p>
            <a:endParaRPr sz="1500"/>
          </a:p>
        </p:txBody>
      </p:sp>
      <p:sp>
        <p:nvSpPr>
          <p:cNvPr id="2442" name="Text 2"/>
          <p:cNvSpPr txBox="1"/>
          <p:nvPr/>
        </p:nvSpPr>
        <p:spPr>
          <a:xfrm>
            <a:off x="5428853" y="2260203"/>
            <a:ext cx="1110882"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Definition</a:t>
            </a:r>
          </a:p>
        </p:txBody>
      </p:sp>
      <p:sp>
        <p:nvSpPr>
          <p:cNvPr id="2443" name="Text 3"/>
          <p:cNvSpPr txBox="1"/>
          <p:nvPr/>
        </p:nvSpPr>
        <p:spPr>
          <a:xfrm>
            <a:off x="5428853" y="2668885"/>
            <a:ext cx="2663330" cy="1405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100">
                <a:latin typeface="Inter"/>
                <a:ea typeface="Inter"/>
                <a:cs typeface="Inter"/>
                <a:sym typeface="Inter"/>
              </a:defRPr>
            </a:lvl1pPr>
          </a:lstStyle>
          <a:p>
            <a:r>
              <a:rPr sz="1750"/>
              <a:t>Intensive study of a single case or small number of cases to gain in-depth understanding.</a:t>
            </a:r>
          </a:p>
        </p:txBody>
      </p:sp>
      <p:sp>
        <p:nvSpPr>
          <p:cNvPr id="2444" name="Shape 4"/>
          <p:cNvSpPr/>
          <p:nvPr/>
        </p:nvSpPr>
        <p:spPr>
          <a:xfrm>
            <a:off x="8476555" y="2064841"/>
            <a:ext cx="3054053" cy="2311500"/>
          </a:xfrm>
          <a:prstGeom prst="roundRect">
            <a:avLst>
              <a:gd name="adj" fmla="val 3435"/>
            </a:avLst>
          </a:prstGeom>
          <a:solidFill>
            <a:srgbClr val="CCEDFF"/>
          </a:solidFill>
          <a:ln w="7620">
            <a:solidFill>
              <a:srgbClr val="B2D3E5"/>
            </a:solidFill>
          </a:ln>
        </p:spPr>
        <p:txBody>
          <a:bodyPr lIns="38099" rIns="38099"/>
          <a:lstStyle/>
          <a:p>
            <a:endParaRPr sz="1500"/>
          </a:p>
        </p:txBody>
      </p:sp>
      <p:sp>
        <p:nvSpPr>
          <p:cNvPr id="2445" name="Text 5"/>
          <p:cNvSpPr txBox="1"/>
          <p:nvPr/>
        </p:nvSpPr>
        <p:spPr>
          <a:xfrm>
            <a:off x="8671918" y="2260203"/>
            <a:ext cx="1348126"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When to Use</a:t>
            </a:r>
          </a:p>
        </p:txBody>
      </p:sp>
      <p:sp>
        <p:nvSpPr>
          <p:cNvPr id="2446" name="Text 6"/>
          <p:cNvSpPr txBox="1"/>
          <p:nvPr/>
        </p:nvSpPr>
        <p:spPr>
          <a:xfrm>
            <a:off x="8671918" y="2668886"/>
            <a:ext cx="2663330" cy="17648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100">
                <a:latin typeface="Inter"/>
                <a:ea typeface="Inter"/>
                <a:cs typeface="Inter"/>
                <a:sym typeface="Inter"/>
              </a:defRPr>
            </a:lvl1pPr>
          </a:lstStyle>
          <a:p>
            <a:r>
              <a:rPr sz="1750"/>
              <a:t>For unique situations, rare phenomena, or when you need comprehensive understanding of one example.</a:t>
            </a:r>
          </a:p>
        </p:txBody>
      </p:sp>
      <p:sp>
        <p:nvSpPr>
          <p:cNvPr id="2447" name="Shape 7"/>
          <p:cNvSpPr/>
          <p:nvPr/>
        </p:nvSpPr>
        <p:spPr>
          <a:xfrm>
            <a:off x="5233491" y="4565352"/>
            <a:ext cx="6297018" cy="1101825"/>
          </a:xfrm>
          <a:prstGeom prst="roundRect">
            <a:avLst>
              <a:gd name="adj" fmla="val 7205"/>
            </a:avLst>
          </a:prstGeom>
          <a:solidFill>
            <a:srgbClr val="CCEDFF"/>
          </a:solidFill>
          <a:ln w="7620">
            <a:solidFill>
              <a:srgbClr val="B2D3E5"/>
            </a:solidFill>
          </a:ln>
        </p:spPr>
        <p:txBody>
          <a:bodyPr lIns="38099" rIns="38099"/>
          <a:lstStyle/>
          <a:p>
            <a:endParaRPr sz="1500"/>
          </a:p>
        </p:txBody>
      </p:sp>
      <p:sp>
        <p:nvSpPr>
          <p:cNvPr id="2448" name="Text 8"/>
          <p:cNvSpPr txBox="1"/>
          <p:nvPr/>
        </p:nvSpPr>
        <p:spPr>
          <a:xfrm>
            <a:off x="5428854" y="4760714"/>
            <a:ext cx="1253548"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Limitations</a:t>
            </a:r>
          </a:p>
        </p:txBody>
      </p:sp>
      <p:sp>
        <p:nvSpPr>
          <p:cNvPr id="2449" name="Text 9"/>
          <p:cNvSpPr txBox="1"/>
          <p:nvPr/>
        </p:nvSpPr>
        <p:spPr>
          <a:xfrm>
            <a:off x="5428854" y="5169396"/>
            <a:ext cx="5534849" cy="3313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800"/>
              </a:lnSpc>
              <a:defRPr sz="2200">
                <a:latin typeface="Inter"/>
                <a:ea typeface="Inter"/>
                <a:cs typeface="Inter"/>
                <a:sym typeface="Inter"/>
              </a:defRPr>
            </a:lvl1pPr>
          </a:lstStyle>
          <a:p>
            <a:r>
              <a:rPr sz="1833"/>
              <a:t>Findings may not generalize to other cases or populations.</a:t>
            </a:r>
          </a:p>
        </p:txBody>
      </p:sp>
      <p:sp>
        <p:nvSpPr>
          <p:cNvPr id="2450" name="Text 1"/>
          <p:cNvSpPr txBox="1"/>
          <p:nvPr/>
        </p:nvSpPr>
        <p:spPr>
          <a:xfrm>
            <a:off x="5367547" y="5939322"/>
            <a:ext cx="5700278" cy="3104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100" b="1" i="1">
                <a:solidFill>
                  <a:srgbClr val="0433FF"/>
                </a:solidFill>
                <a:latin typeface="Playfair Display Bold"/>
                <a:ea typeface="Playfair Display Bold"/>
                <a:cs typeface="Playfair Display Bold"/>
                <a:sym typeface="Playfair Display Bold"/>
              </a:defRPr>
            </a:lvl1pPr>
          </a:lstStyle>
          <a:p>
            <a:r>
              <a:rPr sz="1750"/>
              <a:t>Mostly qualitative but can include quantitative elements</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2" name="Image 0" descr="Image 0"/>
          <p:cNvPicPr>
            <a:picLocks noChangeAspect="1"/>
          </p:cNvPicPr>
          <p:nvPr/>
        </p:nvPicPr>
        <p:blipFill>
          <a:blip r:embed="rId2"/>
          <a:stretch>
            <a:fillRect/>
          </a:stretch>
        </p:blipFill>
        <p:spPr>
          <a:xfrm>
            <a:off x="0" y="0"/>
            <a:ext cx="4297563" cy="6446345"/>
          </a:xfrm>
          <a:prstGeom prst="rect">
            <a:avLst/>
          </a:prstGeom>
          <a:ln w="12700">
            <a:miter lim="400000"/>
          </a:ln>
        </p:spPr>
      </p:pic>
      <p:sp>
        <p:nvSpPr>
          <p:cNvPr id="2453" name="Text 0"/>
          <p:cNvSpPr txBox="1"/>
          <p:nvPr/>
        </p:nvSpPr>
        <p:spPr>
          <a:xfrm>
            <a:off x="5168701" y="762645"/>
            <a:ext cx="4213326" cy="10391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ts val="4167"/>
              </a:lnSpc>
              <a:defRPr sz="4000" b="1">
                <a:latin typeface="Playfair Display Bold"/>
                <a:ea typeface="Playfair Display Bold"/>
                <a:cs typeface="Playfair Display Bold"/>
                <a:sym typeface="Playfair Display Bold"/>
              </a:defRPr>
            </a:pPr>
            <a:r>
              <a:rPr sz="3333"/>
              <a:t>Using Existing Data: </a:t>
            </a:r>
          </a:p>
          <a:p>
            <a:pPr>
              <a:lnSpc>
                <a:spcPts val="4167"/>
              </a:lnSpc>
              <a:defRPr sz="4000" b="1">
                <a:solidFill>
                  <a:srgbClr val="941751"/>
                </a:solidFill>
                <a:latin typeface="Playfair Display Bold"/>
                <a:ea typeface="Playfair Display Bold"/>
                <a:cs typeface="Playfair Display Bold"/>
                <a:sym typeface="Playfair Display Bold"/>
              </a:defRPr>
            </a:pPr>
            <a:r>
              <a:rPr sz="3333"/>
              <a:t>Secondary Research</a:t>
            </a:r>
          </a:p>
        </p:txBody>
      </p:sp>
      <p:pic>
        <p:nvPicPr>
          <p:cNvPr id="2454" name="Image 1" descr="Image 1"/>
          <p:cNvPicPr>
            <a:picLocks noChangeAspect="1"/>
          </p:cNvPicPr>
          <p:nvPr/>
        </p:nvPicPr>
        <p:blipFill>
          <a:blip r:embed="rId3"/>
          <a:stretch>
            <a:fillRect/>
          </a:stretch>
        </p:blipFill>
        <p:spPr>
          <a:xfrm>
            <a:off x="5168701" y="1998762"/>
            <a:ext cx="426244" cy="426245"/>
          </a:xfrm>
          <a:prstGeom prst="rect">
            <a:avLst/>
          </a:prstGeom>
          <a:ln w="12700">
            <a:miter lim="400000"/>
          </a:ln>
        </p:spPr>
      </p:pic>
      <p:sp>
        <p:nvSpPr>
          <p:cNvPr id="2455" name="Text 1"/>
          <p:cNvSpPr txBox="1"/>
          <p:nvPr/>
        </p:nvSpPr>
        <p:spPr>
          <a:xfrm>
            <a:off x="5168701" y="2595464"/>
            <a:ext cx="1551707" cy="288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Efficient Access</a:t>
            </a:r>
          </a:p>
        </p:txBody>
      </p:sp>
      <p:sp>
        <p:nvSpPr>
          <p:cNvPr id="2456" name="Text 2"/>
          <p:cNvSpPr txBox="1"/>
          <p:nvPr/>
        </p:nvSpPr>
        <p:spPr>
          <a:xfrm>
            <a:off x="5168701" y="2964160"/>
            <a:ext cx="2000053" cy="1261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500"/>
              </a:lnSpc>
              <a:defRPr sz="2100">
                <a:latin typeface="Inter"/>
                <a:ea typeface="Inter"/>
                <a:cs typeface="Inter"/>
                <a:sym typeface="Inter"/>
              </a:defRPr>
            </a:lvl1pPr>
          </a:lstStyle>
          <a:p>
            <a:r>
              <a:rPr sz="1750"/>
              <a:t>Use data already collected by others instead of gathering new information.</a:t>
            </a:r>
          </a:p>
        </p:txBody>
      </p:sp>
      <p:pic>
        <p:nvPicPr>
          <p:cNvPr id="2457" name="Image 2" descr="Image 2"/>
          <p:cNvPicPr>
            <a:picLocks noChangeAspect="1"/>
          </p:cNvPicPr>
          <p:nvPr/>
        </p:nvPicPr>
        <p:blipFill>
          <a:blip r:embed="rId4"/>
          <a:stretch>
            <a:fillRect/>
          </a:stretch>
        </p:blipFill>
        <p:spPr>
          <a:xfrm>
            <a:off x="7381875" y="1998762"/>
            <a:ext cx="426243" cy="426245"/>
          </a:xfrm>
          <a:prstGeom prst="rect">
            <a:avLst/>
          </a:prstGeom>
          <a:ln w="12700">
            <a:miter lim="400000"/>
          </a:ln>
        </p:spPr>
      </p:pic>
      <p:sp>
        <p:nvSpPr>
          <p:cNvPr id="2458" name="Text 3"/>
          <p:cNvSpPr txBox="1"/>
          <p:nvPr/>
        </p:nvSpPr>
        <p:spPr>
          <a:xfrm>
            <a:off x="7381875" y="2595464"/>
            <a:ext cx="2000152" cy="6093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Historical Perspective</a:t>
            </a:r>
          </a:p>
        </p:txBody>
      </p:sp>
      <p:sp>
        <p:nvSpPr>
          <p:cNvPr id="2459" name="Text 4"/>
          <p:cNvSpPr txBox="1"/>
          <p:nvPr/>
        </p:nvSpPr>
        <p:spPr>
          <a:xfrm>
            <a:off x="7381875" y="3230563"/>
            <a:ext cx="2000152" cy="1261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500"/>
              </a:lnSpc>
              <a:defRPr sz="2100">
                <a:latin typeface="Inter"/>
                <a:ea typeface="Inter"/>
                <a:cs typeface="Inter"/>
                <a:sym typeface="Inter"/>
              </a:defRPr>
            </a:lvl1pPr>
          </a:lstStyle>
          <a:p>
            <a:r>
              <a:rPr sz="1750"/>
              <a:t>Analyze trends over time periods you couldn't study directly.</a:t>
            </a:r>
          </a:p>
        </p:txBody>
      </p:sp>
      <p:pic>
        <p:nvPicPr>
          <p:cNvPr id="2460" name="Image 3" descr="Image 3"/>
          <p:cNvPicPr>
            <a:picLocks noChangeAspect="1"/>
          </p:cNvPicPr>
          <p:nvPr/>
        </p:nvPicPr>
        <p:blipFill>
          <a:blip r:embed="rId5"/>
          <a:stretch>
            <a:fillRect/>
          </a:stretch>
        </p:blipFill>
        <p:spPr>
          <a:xfrm>
            <a:off x="9595148" y="1998762"/>
            <a:ext cx="426244" cy="426245"/>
          </a:xfrm>
          <a:prstGeom prst="rect">
            <a:avLst/>
          </a:prstGeom>
          <a:ln w="12700">
            <a:miter lim="400000"/>
          </a:ln>
        </p:spPr>
      </p:pic>
      <p:sp>
        <p:nvSpPr>
          <p:cNvPr id="2461" name="Text 5"/>
          <p:cNvSpPr txBox="1"/>
          <p:nvPr/>
        </p:nvSpPr>
        <p:spPr>
          <a:xfrm>
            <a:off x="9595148" y="2595464"/>
            <a:ext cx="1675139" cy="288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Multiple Sources</a:t>
            </a:r>
          </a:p>
        </p:txBody>
      </p:sp>
      <p:sp>
        <p:nvSpPr>
          <p:cNvPr id="2462" name="Text 6"/>
          <p:cNvSpPr txBox="1"/>
          <p:nvPr/>
        </p:nvSpPr>
        <p:spPr>
          <a:xfrm>
            <a:off x="9595147" y="2964161"/>
            <a:ext cx="2000152" cy="1582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500"/>
              </a:lnSpc>
              <a:defRPr sz="2100">
                <a:latin typeface="Inter"/>
                <a:ea typeface="Inter"/>
                <a:cs typeface="Inter"/>
                <a:sym typeface="Inter"/>
              </a:defRPr>
            </a:lvl1pPr>
          </a:lstStyle>
          <a:p>
            <a:r>
              <a:rPr sz="1750"/>
              <a:t>Government reports, research studies, archives, statistics, and historical documents.</a:t>
            </a:r>
          </a:p>
        </p:txBody>
      </p:sp>
      <p:pic>
        <p:nvPicPr>
          <p:cNvPr id="2463" name="Image 4" descr="Image 4"/>
          <p:cNvPicPr>
            <a:picLocks noChangeAspect="1"/>
          </p:cNvPicPr>
          <p:nvPr/>
        </p:nvPicPr>
        <p:blipFill>
          <a:blip r:embed="rId6"/>
          <a:stretch>
            <a:fillRect/>
          </a:stretch>
        </p:blipFill>
        <p:spPr>
          <a:xfrm>
            <a:off x="5168701" y="4396580"/>
            <a:ext cx="426244" cy="426245"/>
          </a:xfrm>
          <a:prstGeom prst="rect">
            <a:avLst/>
          </a:prstGeom>
          <a:ln w="12700">
            <a:miter lim="400000"/>
          </a:ln>
        </p:spPr>
      </p:pic>
      <p:sp>
        <p:nvSpPr>
          <p:cNvPr id="2464" name="Text 7"/>
          <p:cNvSpPr txBox="1"/>
          <p:nvPr/>
        </p:nvSpPr>
        <p:spPr>
          <a:xfrm>
            <a:off x="5168701" y="4993282"/>
            <a:ext cx="1907573" cy="2887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Source Verification</a:t>
            </a:r>
          </a:p>
        </p:txBody>
      </p:sp>
      <p:sp>
        <p:nvSpPr>
          <p:cNvPr id="2465" name="Text 8"/>
          <p:cNvSpPr txBox="1"/>
          <p:nvPr/>
        </p:nvSpPr>
        <p:spPr>
          <a:xfrm>
            <a:off x="5168701" y="5361979"/>
            <a:ext cx="5352985" cy="6231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500"/>
              </a:lnSpc>
              <a:defRPr sz="2200">
                <a:latin typeface="Inter"/>
                <a:ea typeface="Inter"/>
                <a:cs typeface="Inter"/>
                <a:sym typeface="Inter"/>
              </a:defRPr>
            </a:lvl1pPr>
          </a:lstStyle>
          <a:p>
            <a:r>
              <a:rPr sz="1833"/>
              <a:t>Always evaluate the credibility and quality of secondary data sources.</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 name="Text 0"/>
          <p:cNvSpPr txBox="1"/>
          <p:nvPr/>
        </p:nvSpPr>
        <p:spPr>
          <a:xfrm>
            <a:off x="661491" y="1135658"/>
            <a:ext cx="10566995" cy="5486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nSpc>
                <a:spcPts val="4583"/>
              </a:lnSpc>
              <a:defRPr sz="4400" b="1">
                <a:latin typeface="Playfair Display Bold"/>
                <a:ea typeface="Playfair Display Bold"/>
                <a:cs typeface="Playfair Display Bold"/>
                <a:sym typeface="Playfair Display Bold"/>
              </a:defRPr>
            </a:pPr>
            <a:r>
              <a:rPr sz="3667">
                <a:solidFill>
                  <a:srgbClr val="941751"/>
                </a:solidFill>
              </a:rPr>
              <a:t>Mixed Methods:</a:t>
            </a:r>
            <a:r>
              <a:rPr sz="3667"/>
              <a:t> Combining Approaches &amp; Tools</a:t>
            </a:r>
          </a:p>
        </p:txBody>
      </p:sp>
      <p:sp>
        <p:nvSpPr>
          <p:cNvPr id="2468" name="Text 1"/>
          <p:cNvSpPr txBox="1"/>
          <p:nvPr/>
        </p:nvSpPr>
        <p:spPr>
          <a:xfrm>
            <a:off x="661491" y="2198786"/>
            <a:ext cx="889667"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Benefits</a:t>
            </a:r>
          </a:p>
        </p:txBody>
      </p:sp>
      <p:sp>
        <p:nvSpPr>
          <p:cNvPr id="2469" name="Text 2"/>
          <p:cNvSpPr txBox="1"/>
          <p:nvPr/>
        </p:nvSpPr>
        <p:spPr>
          <a:xfrm>
            <a:off x="661491" y="2683073"/>
            <a:ext cx="3315098" cy="6932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Provides fuller picture of the topic</a:t>
            </a:r>
          </a:p>
        </p:txBody>
      </p:sp>
      <p:sp>
        <p:nvSpPr>
          <p:cNvPr id="2470" name="Text 3"/>
          <p:cNvSpPr txBox="1"/>
          <p:nvPr/>
        </p:nvSpPr>
        <p:spPr>
          <a:xfrm>
            <a:off x="661491" y="3353990"/>
            <a:ext cx="3267369" cy="3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Combines breadth and depth</a:t>
            </a:r>
          </a:p>
        </p:txBody>
      </p:sp>
      <p:sp>
        <p:nvSpPr>
          <p:cNvPr id="2471" name="Text 4"/>
          <p:cNvSpPr txBox="1"/>
          <p:nvPr/>
        </p:nvSpPr>
        <p:spPr>
          <a:xfrm>
            <a:off x="661491" y="3722489"/>
            <a:ext cx="3315098" cy="1052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Numbers + stories = comprehensive understanding</a:t>
            </a:r>
          </a:p>
        </p:txBody>
      </p:sp>
      <p:sp>
        <p:nvSpPr>
          <p:cNvPr id="2472" name="Text 5"/>
          <p:cNvSpPr txBox="1"/>
          <p:nvPr/>
        </p:nvSpPr>
        <p:spPr>
          <a:xfrm>
            <a:off x="661491" y="4683655"/>
            <a:ext cx="3315098" cy="6932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Compensates for weaknesses in single methods</a:t>
            </a:r>
          </a:p>
        </p:txBody>
      </p:sp>
      <p:sp>
        <p:nvSpPr>
          <p:cNvPr id="2473" name="Text 6"/>
          <p:cNvSpPr txBox="1"/>
          <p:nvPr/>
        </p:nvSpPr>
        <p:spPr>
          <a:xfrm>
            <a:off x="4444106" y="2198786"/>
            <a:ext cx="1053173"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Examples</a:t>
            </a:r>
          </a:p>
        </p:txBody>
      </p:sp>
      <p:sp>
        <p:nvSpPr>
          <p:cNvPr id="2474" name="Text 7"/>
          <p:cNvSpPr txBox="1"/>
          <p:nvPr/>
        </p:nvSpPr>
        <p:spPr>
          <a:xfrm>
            <a:off x="4444106" y="2683073"/>
            <a:ext cx="2278252" cy="3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Survey + interviews</a:t>
            </a:r>
          </a:p>
        </p:txBody>
      </p:sp>
      <p:sp>
        <p:nvSpPr>
          <p:cNvPr id="2475" name="Text 8"/>
          <p:cNvSpPr txBox="1"/>
          <p:nvPr/>
        </p:nvSpPr>
        <p:spPr>
          <a:xfrm>
            <a:off x="4444106" y="3051572"/>
            <a:ext cx="3106300" cy="3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Experiment + questionnaire</a:t>
            </a:r>
          </a:p>
        </p:txBody>
      </p:sp>
      <p:sp>
        <p:nvSpPr>
          <p:cNvPr id="2476" name="Text 9"/>
          <p:cNvSpPr txBox="1"/>
          <p:nvPr/>
        </p:nvSpPr>
        <p:spPr>
          <a:xfrm>
            <a:off x="4444106" y="3420069"/>
            <a:ext cx="3064237" cy="3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Observation + focus groups</a:t>
            </a:r>
          </a:p>
        </p:txBody>
      </p:sp>
      <p:sp>
        <p:nvSpPr>
          <p:cNvPr id="2477" name="Text 10"/>
          <p:cNvSpPr txBox="1"/>
          <p:nvPr/>
        </p:nvSpPr>
        <p:spPr>
          <a:xfrm>
            <a:off x="4444106" y="3788568"/>
            <a:ext cx="3412473" cy="3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Case study + statistical analysis</a:t>
            </a:r>
          </a:p>
        </p:txBody>
      </p:sp>
      <p:pic>
        <p:nvPicPr>
          <p:cNvPr id="2478" name="Image 0" descr="Image 0"/>
          <p:cNvPicPr>
            <a:picLocks noChangeAspect="1"/>
          </p:cNvPicPr>
          <p:nvPr/>
        </p:nvPicPr>
        <p:blipFill>
          <a:blip r:embed="rId2"/>
          <a:stretch>
            <a:fillRect/>
          </a:stretch>
        </p:blipFill>
        <p:spPr>
          <a:xfrm>
            <a:off x="8226723" y="2222401"/>
            <a:ext cx="3315098" cy="2209999"/>
          </a:xfrm>
          <a:prstGeom prst="rect">
            <a:avLst/>
          </a:prstGeom>
          <a:ln w="12700">
            <a:miter lim="400000"/>
          </a:ln>
        </p:spPr>
      </p:pic>
      <p:sp>
        <p:nvSpPr>
          <p:cNvPr id="2479" name="Text 11"/>
          <p:cNvSpPr txBox="1"/>
          <p:nvPr/>
        </p:nvSpPr>
        <p:spPr>
          <a:xfrm>
            <a:off x="8226723" y="4645024"/>
            <a:ext cx="3315098" cy="10495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r">
              <a:lnSpc>
                <a:spcPts val="2800"/>
              </a:lnSpc>
              <a:defRPr sz="2200" i="1">
                <a:latin typeface="Inter"/>
                <a:ea typeface="Inter"/>
                <a:cs typeface="Inter"/>
                <a:sym typeface="Inter"/>
              </a:defRPr>
            </a:lvl1pPr>
          </a:lstStyle>
          <a:p>
            <a:r>
              <a:rPr sz="1833"/>
              <a:t>Mixed methods require careful planning but provide rich, multidimensional insights.</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7" name="Text 0"/>
          <p:cNvSpPr txBox="1"/>
          <p:nvPr/>
        </p:nvSpPr>
        <p:spPr>
          <a:xfrm>
            <a:off x="652462" y="513854"/>
            <a:ext cx="5931111" cy="635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Choosing the Right Method</a:t>
            </a:r>
          </a:p>
        </p:txBody>
      </p:sp>
      <p:sp>
        <p:nvSpPr>
          <p:cNvPr id="2488" name="Shape 1"/>
          <p:cNvSpPr/>
          <p:nvPr/>
        </p:nvSpPr>
        <p:spPr>
          <a:xfrm>
            <a:off x="652463" y="1469331"/>
            <a:ext cx="1360884" cy="1074243"/>
          </a:xfrm>
          <a:prstGeom prst="roundRect">
            <a:avLst>
              <a:gd name="adj" fmla="val 7289"/>
            </a:avLst>
          </a:prstGeom>
          <a:solidFill>
            <a:srgbClr val="CCEDFF"/>
          </a:solidFill>
          <a:ln w="7620">
            <a:solidFill>
              <a:srgbClr val="B2D3E5"/>
            </a:solidFill>
          </a:ln>
        </p:spPr>
        <p:txBody>
          <a:bodyPr lIns="38099" rIns="38099"/>
          <a:lstStyle/>
          <a:p>
            <a:endParaRPr sz="1500"/>
          </a:p>
        </p:txBody>
      </p:sp>
      <p:pic>
        <p:nvPicPr>
          <p:cNvPr id="2489" name="Image 0" descr="Image 0"/>
          <p:cNvPicPr>
            <a:picLocks noChangeAspect="1"/>
          </p:cNvPicPr>
          <p:nvPr/>
        </p:nvPicPr>
        <p:blipFill>
          <a:blip r:embed="rId2"/>
          <a:stretch>
            <a:fillRect/>
          </a:stretch>
        </p:blipFill>
        <p:spPr>
          <a:xfrm>
            <a:off x="1201836" y="1842591"/>
            <a:ext cx="262137" cy="327621"/>
          </a:xfrm>
          <a:prstGeom prst="rect">
            <a:avLst/>
          </a:prstGeom>
          <a:ln w="12700">
            <a:miter lim="400000"/>
          </a:ln>
        </p:spPr>
      </p:pic>
      <p:sp>
        <p:nvSpPr>
          <p:cNvPr id="2490" name="Text 2"/>
          <p:cNvSpPr txBox="1"/>
          <p:nvPr/>
        </p:nvSpPr>
        <p:spPr>
          <a:xfrm>
            <a:off x="2199778" y="1655762"/>
            <a:ext cx="3552254"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Consider your research question</a:t>
            </a:r>
          </a:p>
        </p:txBody>
      </p:sp>
      <p:sp>
        <p:nvSpPr>
          <p:cNvPr id="2491" name="Text 3"/>
          <p:cNvSpPr txBox="1"/>
          <p:nvPr/>
        </p:nvSpPr>
        <p:spPr>
          <a:xfrm>
            <a:off x="2199779" y="2058889"/>
            <a:ext cx="6202275" cy="3285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800"/>
              </a:lnSpc>
              <a:defRPr sz="2100">
                <a:latin typeface="Inter"/>
                <a:ea typeface="Inter"/>
                <a:cs typeface="Inter"/>
                <a:sym typeface="Inter"/>
              </a:defRPr>
            </a:lvl1pPr>
          </a:lstStyle>
          <a:p>
            <a:r>
              <a:rPr sz="1750"/>
              <a:t>What type of answer do you need? Numbers, descriptions, or both?</a:t>
            </a:r>
          </a:p>
        </p:txBody>
      </p:sp>
      <p:sp>
        <p:nvSpPr>
          <p:cNvPr id="2492" name="Shape 4"/>
          <p:cNvSpPr/>
          <p:nvPr/>
        </p:nvSpPr>
        <p:spPr>
          <a:xfrm>
            <a:off x="2106514" y="2530872"/>
            <a:ext cx="9339858" cy="12701"/>
          </a:xfrm>
          <a:prstGeom prst="roundRect">
            <a:avLst>
              <a:gd name="adj" fmla="val 50000"/>
            </a:avLst>
          </a:prstGeom>
          <a:solidFill>
            <a:srgbClr val="B2D3E5"/>
          </a:solidFill>
          <a:ln w="12700">
            <a:miter lim="400000"/>
          </a:ln>
        </p:spPr>
        <p:txBody>
          <a:bodyPr lIns="38099" rIns="38099"/>
          <a:lstStyle/>
          <a:p>
            <a:endParaRPr sz="1500"/>
          </a:p>
        </p:txBody>
      </p:sp>
      <p:sp>
        <p:nvSpPr>
          <p:cNvPr id="2493" name="Shape 5"/>
          <p:cNvSpPr/>
          <p:nvPr/>
        </p:nvSpPr>
        <p:spPr>
          <a:xfrm>
            <a:off x="652462" y="2636738"/>
            <a:ext cx="2721770" cy="1074243"/>
          </a:xfrm>
          <a:prstGeom prst="roundRect">
            <a:avLst>
              <a:gd name="adj" fmla="val 7289"/>
            </a:avLst>
          </a:prstGeom>
          <a:solidFill>
            <a:srgbClr val="CCEDFF"/>
          </a:solidFill>
          <a:ln w="7620">
            <a:solidFill>
              <a:srgbClr val="B2D3E5"/>
            </a:solidFill>
          </a:ln>
        </p:spPr>
        <p:txBody>
          <a:bodyPr lIns="38099" rIns="38099"/>
          <a:lstStyle/>
          <a:p>
            <a:endParaRPr sz="1500"/>
          </a:p>
        </p:txBody>
      </p:sp>
      <p:pic>
        <p:nvPicPr>
          <p:cNvPr id="2494" name="Image 1" descr="Image 1"/>
          <p:cNvPicPr>
            <a:picLocks noChangeAspect="1"/>
          </p:cNvPicPr>
          <p:nvPr/>
        </p:nvPicPr>
        <p:blipFill>
          <a:blip r:embed="rId3"/>
          <a:stretch>
            <a:fillRect/>
          </a:stretch>
        </p:blipFill>
        <p:spPr>
          <a:xfrm>
            <a:off x="1882278" y="3009999"/>
            <a:ext cx="262137" cy="327621"/>
          </a:xfrm>
          <a:prstGeom prst="rect">
            <a:avLst/>
          </a:prstGeom>
          <a:ln w="12700">
            <a:miter lim="400000"/>
          </a:ln>
        </p:spPr>
      </p:pic>
      <p:sp>
        <p:nvSpPr>
          <p:cNvPr id="2495" name="Text 6"/>
          <p:cNvSpPr txBox="1"/>
          <p:nvPr/>
        </p:nvSpPr>
        <p:spPr>
          <a:xfrm>
            <a:off x="3560664" y="2823170"/>
            <a:ext cx="2393284"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Assess your resources</a:t>
            </a:r>
          </a:p>
        </p:txBody>
      </p:sp>
      <p:sp>
        <p:nvSpPr>
          <p:cNvPr id="2496" name="Text 7"/>
          <p:cNvSpPr txBox="1"/>
          <p:nvPr/>
        </p:nvSpPr>
        <p:spPr>
          <a:xfrm>
            <a:off x="3560664" y="3226296"/>
            <a:ext cx="5608843" cy="3285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800"/>
              </a:lnSpc>
              <a:defRPr sz="2100">
                <a:latin typeface="Inter"/>
                <a:ea typeface="Inter"/>
                <a:cs typeface="Inter"/>
                <a:sym typeface="Inter"/>
              </a:defRPr>
            </a:lvl1pPr>
          </a:lstStyle>
          <a:p>
            <a:r>
              <a:rPr sz="1750"/>
              <a:t>How much time, access, and materials do you have available?</a:t>
            </a:r>
          </a:p>
        </p:txBody>
      </p:sp>
      <p:sp>
        <p:nvSpPr>
          <p:cNvPr id="2497" name="Shape 8"/>
          <p:cNvSpPr/>
          <p:nvPr/>
        </p:nvSpPr>
        <p:spPr>
          <a:xfrm>
            <a:off x="3467398" y="3698280"/>
            <a:ext cx="7978974" cy="12701"/>
          </a:xfrm>
          <a:prstGeom prst="roundRect">
            <a:avLst>
              <a:gd name="adj" fmla="val 50000"/>
            </a:avLst>
          </a:prstGeom>
          <a:solidFill>
            <a:srgbClr val="B2D3E5"/>
          </a:solidFill>
          <a:ln w="12700">
            <a:miter lim="400000"/>
          </a:ln>
        </p:spPr>
        <p:txBody>
          <a:bodyPr lIns="38099" rIns="38099"/>
          <a:lstStyle/>
          <a:p>
            <a:endParaRPr sz="1500"/>
          </a:p>
        </p:txBody>
      </p:sp>
      <p:sp>
        <p:nvSpPr>
          <p:cNvPr id="2498" name="Shape 9"/>
          <p:cNvSpPr/>
          <p:nvPr/>
        </p:nvSpPr>
        <p:spPr>
          <a:xfrm>
            <a:off x="652463" y="3804145"/>
            <a:ext cx="4082653" cy="1074243"/>
          </a:xfrm>
          <a:prstGeom prst="roundRect">
            <a:avLst>
              <a:gd name="adj" fmla="val 7289"/>
            </a:avLst>
          </a:prstGeom>
          <a:solidFill>
            <a:srgbClr val="CCEDFF"/>
          </a:solidFill>
          <a:ln w="7620">
            <a:solidFill>
              <a:srgbClr val="B2D3E5"/>
            </a:solidFill>
          </a:ln>
        </p:spPr>
        <p:txBody>
          <a:bodyPr lIns="38099" rIns="38099"/>
          <a:lstStyle/>
          <a:p>
            <a:endParaRPr sz="1500"/>
          </a:p>
        </p:txBody>
      </p:sp>
      <p:pic>
        <p:nvPicPr>
          <p:cNvPr id="2499" name="Image 2" descr="Image 2"/>
          <p:cNvPicPr>
            <a:picLocks noChangeAspect="1"/>
          </p:cNvPicPr>
          <p:nvPr/>
        </p:nvPicPr>
        <p:blipFill>
          <a:blip r:embed="rId4"/>
          <a:stretch>
            <a:fillRect/>
          </a:stretch>
        </p:blipFill>
        <p:spPr>
          <a:xfrm>
            <a:off x="2562721" y="4177406"/>
            <a:ext cx="262136" cy="327621"/>
          </a:xfrm>
          <a:prstGeom prst="rect">
            <a:avLst/>
          </a:prstGeom>
          <a:ln w="12700">
            <a:miter lim="400000"/>
          </a:ln>
        </p:spPr>
      </p:pic>
      <p:sp>
        <p:nvSpPr>
          <p:cNvPr id="2500" name="Text 10"/>
          <p:cNvSpPr txBox="1"/>
          <p:nvPr/>
        </p:nvSpPr>
        <p:spPr>
          <a:xfrm>
            <a:off x="4921547" y="3990579"/>
            <a:ext cx="2702663"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Think about participants</a:t>
            </a:r>
          </a:p>
        </p:txBody>
      </p:sp>
      <p:sp>
        <p:nvSpPr>
          <p:cNvPr id="2501" name="Text 11"/>
          <p:cNvSpPr txBox="1"/>
          <p:nvPr/>
        </p:nvSpPr>
        <p:spPr>
          <a:xfrm>
            <a:off x="4921547" y="4393704"/>
            <a:ext cx="5780878" cy="3285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800"/>
              </a:lnSpc>
              <a:defRPr sz="2100">
                <a:latin typeface="Inter"/>
                <a:ea typeface="Inter"/>
                <a:cs typeface="Inter"/>
                <a:sym typeface="Inter"/>
              </a:defRPr>
            </a:lvl1pPr>
          </a:lstStyle>
          <a:p>
            <a:r>
              <a:rPr sz="1750"/>
              <a:t>Who will you study and how many can you realistically include?</a:t>
            </a:r>
          </a:p>
        </p:txBody>
      </p:sp>
      <p:sp>
        <p:nvSpPr>
          <p:cNvPr id="2502" name="Shape 12"/>
          <p:cNvSpPr/>
          <p:nvPr/>
        </p:nvSpPr>
        <p:spPr>
          <a:xfrm>
            <a:off x="4828281" y="4865688"/>
            <a:ext cx="6618090" cy="12701"/>
          </a:xfrm>
          <a:prstGeom prst="roundRect">
            <a:avLst>
              <a:gd name="adj" fmla="val 50000"/>
            </a:avLst>
          </a:prstGeom>
          <a:solidFill>
            <a:srgbClr val="B2D3E5"/>
          </a:solidFill>
          <a:ln w="12700">
            <a:miter lim="400000"/>
          </a:ln>
        </p:spPr>
        <p:txBody>
          <a:bodyPr lIns="38099" rIns="38099"/>
          <a:lstStyle/>
          <a:p>
            <a:endParaRPr sz="1500"/>
          </a:p>
        </p:txBody>
      </p:sp>
      <p:sp>
        <p:nvSpPr>
          <p:cNvPr id="2503" name="Shape 13"/>
          <p:cNvSpPr/>
          <p:nvPr/>
        </p:nvSpPr>
        <p:spPr>
          <a:xfrm>
            <a:off x="652463" y="4971554"/>
            <a:ext cx="5443538" cy="1372494"/>
          </a:xfrm>
          <a:prstGeom prst="roundRect">
            <a:avLst>
              <a:gd name="adj" fmla="val 5705"/>
            </a:avLst>
          </a:prstGeom>
          <a:solidFill>
            <a:srgbClr val="CCEDFF"/>
          </a:solidFill>
          <a:ln w="7620">
            <a:solidFill>
              <a:srgbClr val="B2D3E5"/>
            </a:solidFill>
          </a:ln>
        </p:spPr>
        <p:txBody>
          <a:bodyPr lIns="38099" rIns="38099"/>
          <a:lstStyle/>
          <a:p>
            <a:endParaRPr sz="1500"/>
          </a:p>
        </p:txBody>
      </p:sp>
      <p:pic>
        <p:nvPicPr>
          <p:cNvPr id="2504" name="Image 3" descr="Image 3"/>
          <p:cNvPicPr>
            <a:picLocks noChangeAspect="1"/>
          </p:cNvPicPr>
          <p:nvPr/>
        </p:nvPicPr>
        <p:blipFill>
          <a:blip r:embed="rId5"/>
          <a:stretch>
            <a:fillRect/>
          </a:stretch>
        </p:blipFill>
        <p:spPr>
          <a:xfrm>
            <a:off x="3243163" y="5493941"/>
            <a:ext cx="262137" cy="327621"/>
          </a:xfrm>
          <a:prstGeom prst="rect">
            <a:avLst/>
          </a:prstGeom>
          <a:ln w="12700">
            <a:miter lim="400000"/>
          </a:ln>
        </p:spPr>
      </p:pic>
      <p:sp>
        <p:nvSpPr>
          <p:cNvPr id="2505" name="Text 14"/>
          <p:cNvSpPr txBox="1"/>
          <p:nvPr/>
        </p:nvSpPr>
        <p:spPr>
          <a:xfrm>
            <a:off x="6282432" y="5157986"/>
            <a:ext cx="3475310" cy="3127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Weigh strengths and limitations</a:t>
            </a:r>
          </a:p>
        </p:txBody>
      </p:sp>
      <p:sp>
        <p:nvSpPr>
          <p:cNvPr id="2506" name="Text 15"/>
          <p:cNvSpPr txBox="1"/>
          <p:nvPr/>
        </p:nvSpPr>
        <p:spPr>
          <a:xfrm>
            <a:off x="6282432" y="5561111"/>
            <a:ext cx="5070674" cy="6876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nSpc>
                <a:spcPts val="2800"/>
              </a:lnSpc>
              <a:defRPr sz="2100">
                <a:latin typeface="Inter"/>
                <a:ea typeface="Inter"/>
                <a:cs typeface="Inter"/>
                <a:sym typeface="Inter"/>
              </a:defRPr>
            </a:lvl1pPr>
          </a:lstStyle>
          <a:p>
            <a:r>
              <a:rPr sz="1750"/>
              <a:t>Each method has trade-offs. Choose what best fits your specific needs.</a:t>
            </a:r>
          </a:p>
        </p:txBody>
      </p:sp>
      <p:sp>
        <p:nvSpPr>
          <p:cNvPr id="3" name="TextBox 2">
            <a:extLst>
              <a:ext uri="{FF2B5EF4-FFF2-40B4-BE49-F238E27FC236}">
                <a16:creationId xmlns:a16="http://schemas.microsoft.com/office/drawing/2014/main" id="{C790F149-62F8-7B95-4270-82FBFEEC9640}"/>
              </a:ext>
            </a:extLst>
          </p:cNvPr>
          <p:cNvSpPr txBox="1"/>
          <p:nvPr/>
        </p:nvSpPr>
        <p:spPr>
          <a:xfrm>
            <a:off x="166742" y="185563"/>
            <a:ext cx="2048178" cy="2256706"/>
          </a:xfrm>
          <a:prstGeom prst="rect">
            <a:avLst/>
          </a:prstGeom>
          <a:solidFill>
            <a:srgbClr val="FFFF00"/>
          </a:solidFill>
          <a:ln w="5715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099" tIns="38099" rIns="38099" bIns="38099" numCol="1" spcCol="38100" rtlCol="0" fromWordArt="0" anchor="t" anchorCtr="0" forceAA="0" compatLnSpc="1">
            <a:prstTxWarp prst="textNoShape">
              <a:avLst/>
            </a:prstTxWarp>
            <a:spAutoFit/>
          </a:bodyPr>
          <a:lstStyle/>
          <a:p>
            <a:pPr algn="ctr"/>
            <a:r>
              <a:rPr lang="en-US" sz="2833" b="1">
                <a:highlight>
                  <a:srgbClr val="FFFF00"/>
                </a:highlight>
              </a:rPr>
              <a:t>Not in the curriculum but can stay</a:t>
            </a:r>
          </a:p>
          <a:p>
            <a:pPr algn="ctr"/>
            <a:endParaRPr lang="en-US" sz="2833" b="1">
              <a:highlight>
                <a:srgbClr val="FFFF00"/>
              </a:highlight>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80D46-808D-6080-F801-C31E9062E53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726BA5-B3DB-0F55-9C0B-167F75C7222D}"/>
              </a:ext>
            </a:extLst>
          </p:cNvPr>
          <p:cNvSpPr txBox="1"/>
          <p:nvPr/>
        </p:nvSpPr>
        <p:spPr>
          <a:xfrm>
            <a:off x="166742" y="185564"/>
            <a:ext cx="6304699" cy="5232392"/>
          </a:xfrm>
          <a:prstGeom prst="rect">
            <a:avLst/>
          </a:prstGeom>
          <a:solidFill>
            <a:srgbClr val="FFFF00"/>
          </a:solidFill>
          <a:ln w="5715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099" tIns="38099" rIns="38099" bIns="38099" numCol="1" spcCol="38100" rtlCol="0" fromWordArt="0" anchor="t" anchorCtr="0" forceAA="0" compatLnSpc="1">
            <a:prstTxWarp prst="textNoShape">
              <a:avLst/>
            </a:prstTxWarp>
            <a:spAutoFit/>
          </a:bodyPr>
          <a:lstStyle/>
          <a:p>
            <a:pPr algn="ctr"/>
            <a:r>
              <a:rPr lang="en-US" sz="2833" b="1" dirty="0">
                <a:highlight>
                  <a:srgbClr val="FFFF00"/>
                </a:highlight>
              </a:rPr>
              <a:t>NEW SLIDE </a:t>
            </a:r>
            <a:r>
              <a:rPr lang="en-US" sz="2833" b="1">
                <a:highlight>
                  <a:srgbClr val="FFFF00"/>
                </a:highlight>
              </a:rPr>
              <a:t>NEEDED </a:t>
            </a:r>
          </a:p>
          <a:p>
            <a:pPr algn="ctr"/>
            <a:endParaRPr lang="en-US" sz="2833" b="1" dirty="0">
              <a:highlight>
                <a:srgbClr val="FFFF00"/>
              </a:highlight>
            </a:endParaRPr>
          </a:p>
          <a:p>
            <a:pPr algn="ctr"/>
            <a:r>
              <a:rPr lang="en-US" sz="7333" b="1" dirty="0">
                <a:highlight>
                  <a:srgbClr val="FFFF00"/>
                </a:highlight>
                <a:ea typeface="+mn-lt"/>
                <a:cs typeface="+mn-lt"/>
              </a:rPr>
              <a:t> </a:t>
            </a:r>
            <a:r>
              <a:rPr lang="en-US" sz="2667" b="1">
                <a:solidFill>
                  <a:srgbClr val="344E6B"/>
                </a:solidFill>
                <a:highlight>
                  <a:srgbClr val="FFFF00"/>
                </a:highlight>
                <a:latin typeface="Arial"/>
                <a:ea typeface="+mn-lt"/>
                <a:cs typeface="Arial"/>
              </a:rPr>
              <a:t>Activity: Design Your Study (25 min)</a:t>
            </a:r>
            <a:endParaRPr lang="en-US" sz="2667">
              <a:ea typeface="+mn-lt"/>
              <a:cs typeface="+mn-lt"/>
            </a:endParaRPr>
          </a:p>
          <a:p>
            <a:pPr algn="ctr"/>
            <a:r>
              <a:rPr lang="en-US" sz="2667">
                <a:solidFill>
                  <a:srgbClr val="111111"/>
                </a:solidFill>
                <a:highlight>
                  <a:srgbClr val="FFFF00"/>
                </a:highlight>
                <a:latin typeface="Arial"/>
                <a:ea typeface="+mn-lt"/>
                <a:cs typeface="Arial"/>
              </a:rPr>
              <a:t>Teams complete Session 5 'Research Design &amp; Methodology' Mission Sheet: identify methodology, dataset, sample, potential limitations. </a:t>
            </a:r>
            <a:endParaRPr lang="en-US" sz="1500">
              <a:latin typeface="Aptos"/>
              <a:ea typeface="+mn-lt"/>
              <a:cs typeface="Arial"/>
            </a:endParaRPr>
          </a:p>
          <a:p>
            <a:pPr algn="ctr"/>
            <a:endParaRPr lang="en-US" sz="2667" dirty="0">
              <a:solidFill>
                <a:srgbClr val="111111"/>
              </a:solidFill>
              <a:highlight>
                <a:srgbClr val="FFFF00"/>
              </a:highlight>
              <a:latin typeface="Arial"/>
              <a:ea typeface="+mn-lt"/>
              <a:cs typeface="Arial"/>
            </a:endParaRPr>
          </a:p>
          <a:p>
            <a:pPr algn="ctr"/>
            <a:r>
              <a:rPr lang="en-US" sz="2667">
                <a:solidFill>
                  <a:srgbClr val="111111"/>
                </a:solidFill>
                <a:highlight>
                  <a:srgbClr val="FFFF00"/>
                </a:highlight>
                <a:latin typeface="Arial"/>
                <a:ea typeface="+mn-lt"/>
                <a:cs typeface="Arial"/>
              </a:rPr>
              <a:t>Instructor circulates to check feasibility.</a:t>
            </a:r>
            <a:br>
              <a:rPr lang="en-US" sz="1500" dirty="0"/>
            </a:br>
            <a:br>
              <a:rPr lang="en-US" sz="1500" dirty="0"/>
            </a:br>
            <a:endParaRPr lang="en-US" sz="1500"/>
          </a:p>
          <a:p>
            <a:pPr algn="ctr"/>
            <a:endParaRPr lang="en-US" sz="1500" dirty="0">
              <a:highlight>
                <a:srgbClr val="FFFF00"/>
              </a:highlight>
            </a:endParaRPr>
          </a:p>
        </p:txBody>
      </p:sp>
    </p:spTree>
    <p:extLst>
      <p:ext uri="{BB962C8B-B14F-4D97-AF65-F5344CB8AC3E}">
        <p14:creationId xmlns:p14="http://schemas.microsoft.com/office/powerpoint/2010/main" val="416486796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2" name="Text 0"/>
          <p:cNvSpPr txBox="1"/>
          <p:nvPr/>
        </p:nvSpPr>
        <p:spPr>
          <a:xfrm>
            <a:off x="610789" y="3169700"/>
            <a:ext cx="5344412" cy="10640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nSpc>
                <a:spcPts val="4250"/>
              </a:lnSpc>
              <a:defRPr sz="4100" b="1">
                <a:latin typeface="Playfair Display Bold"/>
                <a:ea typeface="Playfair Display Bold"/>
                <a:cs typeface="Playfair Display Bold"/>
                <a:sym typeface="Playfair Display Bold"/>
              </a:defRPr>
            </a:pPr>
            <a:r>
              <a:rPr sz="3417" dirty="0"/>
              <a:t>Tomorrow we continue to </a:t>
            </a:r>
          </a:p>
          <a:p>
            <a:pPr>
              <a:lnSpc>
                <a:spcPts val="4250"/>
              </a:lnSpc>
              <a:defRPr sz="4100" b="1">
                <a:latin typeface="Playfair Display Bold"/>
                <a:ea typeface="Playfair Display Bold"/>
                <a:cs typeface="Playfair Display Bold"/>
                <a:sym typeface="Playfair Display Bold"/>
              </a:defRPr>
            </a:pPr>
            <a:r>
              <a:rPr sz="3417"/>
              <a:t>look into planning</a:t>
            </a:r>
          </a:p>
        </p:txBody>
      </p:sp>
      <p:sp>
        <p:nvSpPr>
          <p:cNvPr id="2633" name="Text 1"/>
          <p:cNvSpPr txBox="1"/>
          <p:nvPr/>
        </p:nvSpPr>
        <p:spPr>
          <a:xfrm>
            <a:off x="610790" y="4577934"/>
            <a:ext cx="4485395" cy="5642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nSpc>
                <a:spcPts val="2167"/>
              </a:lnSpc>
              <a:defRPr sz="2300">
                <a:latin typeface="Inter"/>
                <a:ea typeface="Inter"/>
                <a:cs typeface="Inter"/>
                <a:sym typeface="Inter"/>
              </a:defRPr>
            </a:pPr>
            <a:r>
              <a:rPr sz="1917"/>
              <a:t>Specifically reflecting on validity &amp; reliability, </a:t>
            </a:r>
          </a:p>
          <a:p>
            <a:pPr>
              <a:lnSpc>
                <a:spcPts val="2167"/>
              </a:lnSpc>
              <a:defRPr sz="2300">
                <a:latin typeface="Inter"/>
                <a:ea typeface="Inter"/>
                <a:cs typeface="Inter"/>
                <a:sym typeface="Inter"/>
              </a:defRPr>
            </a:pPr>
            <a:r>
              <a:rPr sz="1917"/>
              <a:t>sampling, and materials/resources. </a:t>
            </a:r>
          </a:p>
        </p:txBody>
      </p:sp>
      <p:pic>
        <p:nvPicPr>
          <p:cNvPr id="2634" name="pasted-movie.png" descr="pasted-movie.png"/>
          <p:cNvPicPr>
            <a:picLocks/>
          </p:cNvPicPr>
          <p:nvPr/>
        </p:nvPicPr>
        <p:blipFill>
          <a:blip r:embed="rId2"/>
          <a:stretch>
            <a:fillRect/>
          </a:stretch>
        </p:blipFill>
        <p:spPr>
          <a:xfrm rot="180286">
            <a:off x="6217324" y="567994"/>
            <a:ext cx="4601400" cy="6053533"/>
          </a:xfrm>
          <a:prstGeom prst="rect">
            <a:avLst/>
          </a:prstGeom>
          <a:effectLst>
            <a:outerShdw blurRad="381000" dist="114300" rotWithShape="0">
              <a:srgbClr val="000000">
                <a:alpha val="75000"/>
              </a:srgbClr>
            </a:outerShdw>
          </a:effectLst>
        </p:spPr>
      </p:pic>
      <p:sp>
        <p:nvSpPr>
          <p:cNvPr id="2635" name="Arrow 11"/>
          <p:cNvSpPr/>
          <p:nvPr/>
        </p:nvSpPr>
        <p:spPr>
          <a:xfrm>
            <a:off x="5753516" y="4248001"/>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
        <p:nvSpPr>
          <p:cNvPr id="2636" name="Arrow 11"/>
          <p:cNvSpPr/>
          <p:nvPr/>
        </p:nvSpPr>
        <p:spPr>
          <a:xfrm>
            <a:off x="6060433" y="3687084"/>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
        <p:nvSpPr>
          <p:cNvPr id="2637" name="Arrow 11"/>
          <p:cNvSpPr/>
          <p:nvPr/>
        </p:nvSpPr>
        <p:spPr>
          <a:xfrm>
            <a:off x="8175540" y="1729168"/>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
        <p:nvSpPr>
          <p:cNvPr id="2638" name="Arrow 11"/>
          <p:cNvSpPr/>
          <p:nvPr/>
        </p:nvSpPr>
        <p:spPr>
          <a:xfrm>
            <a:off x="8175540" y="2554668"/>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
        <p:nvSpPr>
          <p:cNvPr id="3" name="TextBox 2">
            <a:extLst>
              <a:ext uri="{FF2B5EF4-FFF2-40B4-BE49-F238E27FC236}">
                <a16:creationId xmlns:a16="http://schemas.microsoft.com/office/drawing/2014/main" id="{76A990CE-BD69-ABC2-A480-5B6B411D18B7}"/>
              </a:ext>
            </a:extLst>
          </p:cNvPr>
          <p:cNvSpPr txBox="1"/>
          <p:nvPr/>
        </p:nvSpPr>
        <p:spPr>
          <a:xfrm>
            <a:off x="166742" y="185563"/>
            <a:ext cx="2048178" cy="1820753"/>
          </a:xfrm>
          <a:prstGeom prst="rect">
            <a:avLst/>
          </a:prstGeom>
          <a:solidFill>
            <a:srgbClr val="FFFF00"/>
          </a:solidFill>
          <a:ln w="5715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099" tIns="38099" rIns="38099" bIns="38099" numCol="1" spcCol="38100" rtlCol="0" fromWordArt="0" anchor="t" anchorCtr="0" forceAA="0" compatLnSpc="1">
            <a:prstTxWarp prst="textNoShape">
              <a:avLst/>
            </a:prstTxWarp>
            <a:spAutoFit/>
          </a:bodyPr>
          <a:lstStyle/>
          <a:p>
            <a:pPr algn="ctr"/>
            <a:r>
              <a:rPr lang="en-US" sz="2833" b="1">
                <a:highlight>
                  <a:srgbClr val="FFFF00"/>
                </a:highlight>
              </a:rPr>
              <a:t>FITS </a:t>
            </a:r>
            <a:endParaRPr lang="en-US" sz="1500"/>
          </a:p>
          <a:p>
            <a:pPr algn="ctr"/>
            <a:endParaRPr lang="en-US" sz="2833" b="1" dirty="0">
              <a:highlight>
                <a:srgbClr val="FFFF00"/>
              </a:highlight>
            </a:endParaRPr>
          </a:p>
          <a:p>
            <a:pPr algn="ctr"/>
            <a:r>
              <a:rPr lang="en-US" sz="2833" b="1">
                <a:highlight>
                  <a:srgbClr val="FFFF00"/>
                </a:highlight>
              </a:rPr>
              <a:t>can stay</a:t>
            </a:r>
            <a:endParaRPr lang="en-US" sz="1500"/>
          </a:p>
          <a:p>
            <a:pPr algn="ctr"/>
            <a:endParaRPr lang="en-US" sz="2833" b="1">
              <a:highlight>
                <a:srgbClr val="FFFF00"/>
              </a:highlight>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0" name="Image 0" descr="Image 0"/>
          <p:cNvPicPr>
            <a:picLocks noChangeAspect="1"/>
          </p:cNvPicPr>
          <p:nvPr/>
        </p:nvPicPr>
        <p:blipFill>
          <a:blip r:embed="rId2"/>
          <a:stretch>
            <a:fillRect/>
          </a:stretch>
        </p:blipFill>
        <p:spPr>
          <a:xfrm>
            <a:off x="8005380" y="700690"/>
            <a:ext cx="3935541" cy="5903311"/>
          </a:xfrm>
          <a:prstGeom prst="rect">
            <a:avLst/>
          </a:prstGeom>
          <a:ln w="12700">
            <a:miter lim="400000"/>
          </a:ln>
        </p:spPr>
      </p:pic>
      <p:sp>
        <p:nvSpPr>
          <p:cNvPr id="2641" name="Text 0"/>
          <p:cNvSpPr txBox="1"/>
          <p:nvPr/>
        </p:nvSpPr>
        <p:spPr>
          <a:xfrm>
            <a:off x="661492" y="1043087"/>
            <a:ext cx="5232202" cy="635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Homework - Teamwork</a:t>
            </a:r>
          </a:p>
        </p:txBody>
      </p:sp>
      <p:sp>
        <p:nvSpPr>
          <p:cNvPr id="2642" name="Shape 1"/>
          <p:cNvSpPr/>
          <p:nvPr/>
        </p:nvSpPr>
        <p:spPr>
          <a:xfrm>
            <a:off x="661492" y="1917205"/>
            <a:ext cx="6843855" cy="4514671"/>
          </a:xfrm>
          <a:prstGeom prst="roundRect">
            <a:avLst>
              <a:gd name="adj" fmla="val 1764"/>
            </a:avLst>
          </a:prstGeom>
          <a:solidFill>
            <a:srgbClr val="CCEDFF"/>
          </a:solidFill>
          <a:ln w="7620">
            <a:solidFill>
              <a:srgbClr val="B2D3E5"/>
            </a:solidFill>
          </a:ln>
        </p:spPr>
        <p:txBody>
          <a:bodyPr lIns="38099" rIns="38099"/>
          <a:lstStyle/>
          <a:p>
            <a:endParaRPr sz="1500"/>
          </a:p>
        </p:txBody>
      </p:sp>
      <p:sp>
        <p:nvSpPr>
          <p:cNvPr id="2643" name="Text 2"/>
          <p:cNvSpPr txBox="1"/>
          <p:nvPr/>
        </p:nvSpPr>
        <p:spPr>
          <a:xfrm>
            <a:off x="856853" y="2112565"/>
            <a:ext cx="5148571" cy="38137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83808" indent="-183808">
              <a:lnSpc>
                <a:spcPts val="2250"/>
              </a:lnSpc>
              <a:buSzPct val="100000"/>
              <a:buChar char="•"/>
              <a:defRPr sz="2200" b="1">
                <a:latin typeface="Playfair Display Bold"/>
                <a:ea typeface="Playfair Display Bold"/>
                <a:cs typeface="Playfair Display Bold"/>
                <a:sym typeface="Playfair Display Bold"/>
              </a:defRPr>
            </a:pPr>
            <a:r>
              <a:rPr sz="1833"/>
              <a:t>Review: "Research Design Checklist” with your team members.</a:t>
            </a:r>
          </a:p>
          <a:p>
            <a:pPr marL="183808" indent="-183808">
              <a:lnSpc>
                <a:spcPts val="2250"/>
              </a:lnSpc>
              <a:buSzPct val="100000"/>
              <a:buChar char="•"/>
              <a:defRPr sz="2200" b="1">
                <a:latin typeface="Playfair Display Bold"/>
                <a:ea typeface="Playfair Display Bold"/>
                <a:cs typeface="Playfair Display Bold"/>
                <a:sym typeface="Playfair Display Bold"/>
              </a:defRPr>
            </a:pPr>
            <a:endParaRPr sz="1833"/>
          </a:p>
          <a:p>
            <a:pPr marL="183808" indent="-183808">
              <a:lnSpc>
                <a:spcPts val="2250"/>
              </a:lnSpc>
              <a:buSzPct val="100000"/>
              <a:buChar char="•"/>
              <a:defRPr sz="2200" b="1">
                <a:latin typeface="Playfair Display Bold"/>
                <a:ea typeface="Playfair Display Bold"/>
                <a:cs typeface="Playfair Display Bold"/>
                <a:sym typeface="Playfair Display Bold"/>
              </a:defRPr>
            </a:pPr>
            <a:r>
              <a:rPr sz="1833"/>
              <a:t>Start working on Handout 4: Research Design Blueprint. Finish first half of the items. </a:t>
            </a:r>
          </a:p>
          <a:p>
            <a:pPr>
              <a:lnSpc>
                <a:spcPts val="2250"/>
              </a:lnSpc>
              <a:defRPr sz="2200" b="1">
                <a:latin typeface="Playfair Display Bold"/>
                <a:ea typeface="Playfair Display Bold"/>
                <a:cs typeface="Playfair Display Bold"/>
                <a:sym typeface="Playfair Display Bold"/>
              </a:defRPr>
            </a:pPr>
            <a:endParaRPr sz="1833"/>
          </a:p>
          <a:p>
            <a:pPr marL="183808" indent="-183808">
              <a:lnSpc>
                <a:spcPts val="2250"/>
              </a:lnSpc>
              <a:buSzPct val="100000"/>
              <a:buChar char="•"/>
              <a:defRPr sz="2200" b="1">
                <a:latin typeface="Playfair Display Bold"/>
                <a:ea typeface="Playfair Display Bold"/>
                <a:cs typeface="Playfair Display Bold"/>
                <a:sym typeface="Playfair Display Bold"/>
              </a:defRPr>
            </a:pPr>
            <a:r>
              <a:rPr sz="1833"/>
              <a:t>Continue with your lit review. Review 1-2 more articles and keep track of your resources through “Source Tracker”.  Identify 2–3 of the most important or interesting findings you gathered from the literature. Share your notes with one team members.</a:t>
            </a:r>
          </a:p>
          <a:p>
            <a:pPr>
              <a:lnSpc>
                <a:spcPts val="2250"/>
              </a:lnSpc>
              <a:defRPr sz="2200" b="1">
                <a:latin typeface="Playfair Display Bold"/>
                <a:ea typeface="Playfair Display Bold"/>
                <a:cs typeface="Playfair Display Bold"/>
                <a:sym typeface="Playfair Display Bold"/>
              </a:defRPr>
            </a:pPr>
            <a:endParaRPr sz="1833"/>
          </a:p>
        </p:txBody>
      </p:sp>
      <p:pic>
        <p:nvPicPr>
          <p:cNvPr id="2644" name="pasted-movie.png" descr="pasted-movie.png"/>
          <p:cNvPicPr>
            <a:picLocks/>
          </p:cNvPicPr>
          <p:nvPr/>
        </p:nvPicPr>
        <p:blipFill>
          <a:blip r:embed="rId3"/>
          <a:stretch>
            <a:fillRect/>
          </a:stretch>
        </p:blipFill>
        <p:spPr>
          <a:xfrm rot="360000">
            <a:off x="6246565" y="2838592"/>
            <a:ext cx="2996112" cy="3781180"/>
          </a:xfrm>
          <a:prstGeom prst="rect">
            <a:avLst/>
          </a:prstGeom>
          <a:effectLst>
            <a:outerShdw blurRad="381000" dist="114300" rotWithShape="0">
              <a:srgbClr val="000000">
                <a:alpha val="75000"/>
              </a:srgbClr>
            </a:outerShdw>
          </a:effectLst>
        </p:spPr>
      </p:pic>
      <p:sp>
        <p:nvSpPr>
          <p:cNvPr id="3" name="TextBox 2">
            <a:extLst>
              <a:ext uri="{FF2B5EF4-FFF2-40B4-BE49-F238E27FC236}">
                <a16:creationId xmlns:a16="http://schemas.microsoft.com/office/drawing/2014/main" id="{641005A9-5373-DF84-FF97-F5E4391DA6F7}"/>
              </a:ext>
            </a:extLst>
          </p:cNvPr>
          <p:cNvSpPr txBox="1"/>
          <p:nvPr/>
        </p:nvSpPr>
        <p:spPr>
          <a:xfrm>
            <a:off x="166742" y="185564"/>
            <a:ext cx="3746904" cy="6745563"/>
          </a:xfrm>
          <a:prstGeom prst="rect">
            <a:avLst/>
          </a:prstGeom>
          <a:solidFill>
            <a:srgbClr val="FFFF00"/>
          </a:solidFill>
          <a:ln w="5715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099" tIns="38099" rIns="38099" bIns="38099" numCol="1" spcCol="38100" rtlCol="0" fromWordArt="0" anchor="t" anchorCtr="0" forceAA="0" compatLnSpc="1">
            <a:prstTxWarp prst="textNoShape">
              <a:avLst/>
            </a:prstTxWarp>
            <a:spAutoFit/>
          </a:bodyPr>
          <a:lstStyle/>
          <a:p>
            <a:pPr algn="ctr"/>
            <a:r>
              <a:rPr lang="en-US" sz="2833" b="1" dirty="0">
                <a:highlight>
                  <a:srgbClr val="FFFF00"/>
                </a:highlight>
              </a:rPr>
              <a:t>NEEDS TO BE </a:t>
            </a:r>
            <a:r>
              <a:rPr lang="en-US" sz="2833" b="1">
                <a:highlight>
                  <a:srgbClr val="FFFF00"/>
                </a:highlight>
              </a:rPr>
              <a:t>UPDATED based on curriculum</a:t>
            </a:r>
          </a:p>
          <a:p>
            <a:pPr algn="ctr"/>
            <a:endParaRPr lang="en-US" sz="2833" b="1" dirty="0">
              <a:highlight>
                <a:srgbClr val="FFFF00"/>
              </a:highlight>
            </a:endParaRPr>
          </a:p>
          <a:p>
            <a:pPr algn="ctr"/>
            <a:r>
              <a:rPr lang="en-US" sz="2000" b="1" dirty="0">
                <a:highlight>
                  <a:srgbClr val="FFFF00"/>
                </a:highlight>
              </a:rPr>
              <a:t>BUT curriculum  seems to be missing giving directions on reading literature over the weekend. Keep that part of this </a:t>
            </a:r>
            <a:r>
              <a:rPr lang="en-US" sz="2000" b="1">
                <a:highlight>
                  <a:srgbClr val="FFFF00"/>
                </a:highlight>
              </a:rPr>
              <a:t>original slide. </a:t>
            </a:r>
            <a:endParaRPr lang="en-US" sz="2000" b="1" dirty="0">
              <a:highlight>
                <a:srgbClr val="FFFF00"/>
              </a:highlight>
            </a:endParaRPr>
          </a:p>
          <a:p>
            <a:pPr algn="ctr"/>
            <a:endParaRPr lang="en-US" sz="2000" b="1" dirty="0">
              <a:highlight>
                <a:srgbClr val="FFFF00"/>
              </a:highlight>
            </a:endParaRPr>
          </a:p>
          <a:p>
            <a:pPr algn="ctr"/>
            <a:r>
              <a:rPr lang="en-US" sz="833" b="1">
                <a:solidFill>
                  <a:srgbClr val="344E6B"/>
                </a:solidFill>
                <a:highlight>
                  <a:srgbClr val="FFFF00"/>
                </a:highlight>
                <a:latin typeface="Arial"/>
                <a:cs typeface="Arial"/>
              </a:rPr>
              <a:t>After-Class Team Session  (3:15 – 5:15 PM)</a:t>
            </a:r>
            <a:endParaRPr lang="en-US" sz="1500"/>
          </a:p>
          <a:p>
            <a:pPr algn="ctr"/>
            <a:r>
              <a:rPr lang="en-US" sz="833" i="1">
                <a:solidFill>
                  <a:srgbClr val="555555"/>
                </a:solidFill>
                <a:highlight>
                  <a:srgbClr val="FFFF00"/>
                </a:highlight>
                <a:latin typeface="Arial"/>
                <a:cs typeface="Arial"/>
              </a:rPr>
              <a:t>Teams work with TA / peer mentor available. Produce a tangible output before dinner. Not free time.</a:t>
            </a:r>
            <a:endParaRPr lang="en-US" sz="1500"/>
          </a:p>
          <a:p>
            <a:pPr marL="238115" indent="-238115" algn="ctr">
              <a:buFont typeface="Arial"/>
              <a:buChar char="•"/>
            </a:pPr>
            <a:r>
              <a:rPr lang="en-US" sz="917">
                <a:solidFill>
                  <a:srgbClr val="111111"/>
                </a:solidFill>
                <a:highlight>
                  <a:srgbClr val="FFFF00"/>
                </a:highlight>
                <a:latin typeface="Arial"/>
                <a:cs typeface="Arial"/>
              </a:rPr>
              <a:t>Complete Research Design Mission Sheet as a team — methodology, data source, sample description, potential limitations</a:t>
            </a:r>
            <a:endParaRPr lang="en-US" sz="1500"/>
          </a:p>
          <a:p>
            <a:pPr marL="238115" indent="-238115" algn="ctr">
              <a:buFont typeface="Arial"/>
              <a:buChar char="•"/>
            </a:pPr>
            <a:r>
              <a:rPr lang="en-US" sz="917">
                <a:solidFill>
                  <a:srgbClr val="111111"/>
                </a:solidFill>
                <a:highlight>
                  <a:srgbClr val="FFFF00"/>
                </a:highlight>
                <a:latin typeface="Arial"/>
                <a:cs typeface="Arial"/>
              </a:rPr>
              <a:t>Confirm dataset is finalized: name, source, timeframe, row/column count. If collecting primary data, finalize your instrument today</a:t>
            </a:r>
            <a:endParaRPr lang="en-US" sz="1500"/>
          </a:p>
          <a:p>
            <a:pPr algn="ctr"/>
            <a:endParaRPr lang="en-US" sz="2000" b="1" dirty="0">
              <a:highlight>
                <a:srgbClr val="FFFF00"/>
              </a:highlight>
            </a:endParaRPr>
          </a:p>
          <a:p>
            <a:pPr algn="ctr"/>
            <a:r>
              <a:rPr lang="en-US" sz="833" b="1">
                <a:solidFill>
                  <a:srgbClr val="5B3E8C"/>
                </a:solidFill>
                <a:highlight>
                  <a:srgbClr val="FFFF00"/>
                </a:highlight>
                <a:latin typeface="Arial"/>
                <a:cs typeface="Arial"/>
              </a:rPr>
              <a:t>Evening Work Period  (7:00 – 9:00 PM)</a:t>
            </a:r>
            <a:endParaRPr lang="en-US" sz="1500"/>
          </a:p>
          <a:p>
            <a:pPr algn="ctr"/>
            <a:r>
              <a:rPr lang="en-US" sz="833" i="1">
                <a:solidFill>
                  <a:srgbClr val="555555"/>
                </a:solidFill>
                <a:highlight>
                  <a:srgbClr val="FFFF00"/>
                </a:highlight>
                <a:latin typeface="Arial"/>
                <a:cs typeface="Arial"/>
              </a:rPr>
              <a:t>Individual + partner work during CTD RTA study hours. TA available for drop-in questions.</a:t>
            </a:r>
            <a:endParaRPr lang="en-US" sz="1500"/>
          </a:p>
          <a:p>
            <a:pPr marL="238115" indent="-238115" algn="ctr">
              <a:buFont typeface="Arial"/>
              <a:buChar char="•"/>
            </a:pPr>
            <a:r>
              <a:rPr lang="en-US" sz="917">
                <a:solidFill>
                  <a:srgbClr val="111111"/>
                </a:solidFill>
                <a:highlight>
                  <a:srgbClr val="FFFF00"/>
                </a:highlight>
                <a:latin typeface="Arial"/>
                <a:cs typeface="Arial"/>
              </a:rPr>
              <a:t>Individual reflection: What are your study's two biggest limitations? Write 3–4 sentences explaining each and how you might address them</a:t>
            </a:r>
            <a:endParaRPr lang="en-US" sz="1500"/>
          </a:p>
          <a:p>
            <a:pPr marL="238115" indent="-238115" algn="ctr">
              <a:buFont typeface="Arial"/>
              <a:buChar char="•"/>
            </a:pPr>
            <a:r>
              <a:rPr lang="en-US" sz="917" dirty="0" err="1">
                <a:solidFill>
                  <a:srgbClr val="111111"/>
                </a:solidFill>
                <a:highlight>
                  <a:srgbClr val="FFFF00"/>
                </a:highlight>
                <a:latin typeface="Arial"/>
                <a:cs typeface="Arial"/>
              </a:rPr>
              <a:t>DataCORE</a:t>
            </a:r>
            <a:r>
              <a:rPr lang="en-US" sz="917" dirty="0">
                <a:solidFill>
                  <a:srgbClr val="111111"/>
                </a:solidFill>
                <a:highlight>
                  <a:srgbClr val="FFFF00"/>
                </a:highlight>
                <a:latin typeface="Arial"/>
                <a:cs typeface="Arial"/>
              </a:rPr>
              <a:t> Journal: What is one question about your data you cannot yet answer? What analysis would you need to run?</a:t>
            </a:r>
            <a:endParaRPr lang="en-US" sz="1500" dirty="0"/>
          </a:p>
          <a:p>
            <a:pPr marL="238115" indent="-238115" algn="ctr">
              <a:buFont typeface="Arial"/>
              <a:buChar char="•"/>
            </a:pPr>
            <a:r>
              <a:rPr lang="en-US" sz="917" dirty="0">
                <a:solidFill>
                  <a:srgbClr val="111111"/>
                </a:solidFill>
                <a:highlight>
                  <a:srgbClr val="FFFF00"/>
                </a:highlight>
                <a:latin typeface="Arial"/>
                <a:cs typeface="Arial"/>
              </a:rPr>
              <a:t>(</a:t>
            </a:r>
            <a:r>
              <a:rPr lang="en-US" sz="917" dirty="0" err="1">
                <a:solidFill>
                  <a:srgbClr val="111111"/>
                </a:solidFill>
                <a:highlight>
                  <a:srgbClr val="FFFF00"/>
                </a:highlight>
                <a:latin typeface="Arial"/>
                <a:cs typeface="Arial"/>
              </a:rPr>
              <a:t>RcS</a:t>
            </a:r>
            <a:r>
              <a:rPr lang="en-US" sz="917" dirty="0">
                <a:solidFill>
                  <a:srgbClr val="111111"/>
                </a:solidFill>
                <a:highlight>
                  <a:srgbClr val="FFFF00"/>
                </a:highlight>
                <a:latin typeface="Arial"/>
                <a:cs typeface="Arial"/>
              </a:rPr>
              <a:t>): Draft the Methods section of your research proposal — past tense, 200–250 words, all fields from Session 5 Mission Sheet covered</a:t>
            </a:r>
            <a:endParaRPr lang="en-US" sz="1500" dirty="0"/>
          </a:p>
          <a:p>
            <a:pPr algn="ctr"/>
            <a:endParaRPr lang="en-US" sz="2000" b="1" dirty="0">
              <a:highlight>
                <a:srgbClr val="FFFF00"/>
              </a:highlight>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80D46-808D-6080-F801-C31E9062E53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726BA5-B3DB-0F55-9C0B-167F75C7222D}"/>
              </a:ext>
            </a:extLst>
          </p:cNvPr>
          <p:cNvSpPr txBox="1"/>
          <p:nvPr/>
        </p:nvSpPr>
        <p:spPr>
          <a:xfrm>
            <a:off x="166742" y="185563"/>
            <a:ext cx="4523464" cy="5001175"/>
          </a:xfrm>
          <a:prstGeom prst="rect">
            <a:avLst/>
          </a:prstGeom>
          <a:solidFill>
            <a:srgbClr val="FFFF00"/>
          </a:solidFill>
          <a:ln w="5715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099" tIns="38099" rIns="38099" bIns="38099" numCol="1" spcCol="38100" rtlCol="0" fromWordArt="0" anchor="t" anchorCtr="0" forceAA="0" compatLnSpc="1">
            <a:prstTxWarp prst="textNoShape">
              <a:avLst/>
            </a:prstTxWarp>
            <a:spAutoFit/>
          </a:bodyPr>
          <a:lstStyle/>
          <a:p>
            <a:pPr algn="ctr"/>
            <a:r>
              <a:rPr lang="en-US" sz="2833" b="1" dirty="0">
                <a:highlight>
                  <a:srgbClr val="FFFF00"/>
                </a:highlight>
              </a:rPr>
              <a:t>NEW SLIDE </a:t>
            </a:r>
            <a:r>
              <a:rPr lang="en-US" sz="2833" b="1">
                <a:highlight>
                  <a:srgbClr val="FFFF00"/>
                </a:highlight>
              </a:rPr>
              <a:t>NEEDED </a:t>
            </a:r>
          </a:p>
          <a:p>
            <a:pPr algn="ctr"/>
            <a:endParaRPr lang="en-US" sz="2833" b="1" dirty="0">
              <a:highlight>
                <a:srgbClr val="FFFF00"/>
              </a:highlight>
            </a:endParaRPr>
          </a:p>
          <a:p>
            <a:pPr algn="ctr"/>
            <a:r>
              <a:rPr lang="en-US" sz="3333" b="1" dirty="0">
                <a:highlight>
                  <a:srgbClr val="FFFF00"/>
                </a:highlight>
                <a:ea typeface="+mn-lt"/>
                <a:cs typeface="+mn-lt"/>
              </a:rPr>
              <a:t> </a:t>
            </a:r>
            <a:r>
              <a:rPr lang="en-US" sz="2000" b="1">
                <a:solidFill>
                  <a:srgbClr val="344E6B"/>
                </a:solidFill>
                <a:highlight>
                  <a:srgbClr val="FFFF00"/>
                </a:highlight>
                <a:latin typeface="Arial"/>
                <a:ea typeface="+mn-lt"/>
                <a:cs typeface="Arial"/>
              </a:rPr>
              <a:t>Scientific Storytelling: Methods Paragraph Practice (10 min)</a:t>
            </a:r>
            <a:endParaRPr lang="en-US" sz="2000">
              <a:ea typeface="+mn-lt"/>
              <a:cs typeface="+mn-lt"/>
            </a:endParaRPr>
          </a:p>
          <a:p>
            <a:pPr algn="ctr"/>
            <a:r>
              <a:rPr lang="en-US" sz="2000">
                <a:solidFill>
                  <a:srgbClr val="111111"/>
                </a:solidFill>
                <a:highlight>
                  <a:srgbClr val="FFFF00"/>
                </a:highlight>
                <a:latin typeface="Arial"/>
                <a:ea typeface="+mn-lt"/>
                <a:cs typeface="Arial"/>
              </a:rPr>
              <a:t>Write one sentence describing your methodology in plain language: 'This study uses secondary data from [source] to examine whether [IV] is associated with [DV] among [population].' No jargon. Read aloud.</a:t>
            </a:r>
            <a:endParaRPr lang="en-US" sz="2000"/>
          </a:p>
          <a:p>
            <a:pPr algn="ctr"/>
            <a:br>
              <a:rPr lang="en-US" sz="1500" dirty="0"/>
            </a:br>
            <a:br>
              <a:rPr lang="en-US" sz="1500" dirty="0"/>
            </a:br>
            <a:endParaRPr lang="en-US" sz="1500"/>
          </a:p>
          <a:p>
            <a:pPr algn="ctr"/>
            <a:br>
              <a:rPr lang="en-US" sz="1500" dirty="0"/>
            </a:br>
            <a:endParaRPr lang="en-US" sz="1500" dirty="0"/>
          </a:p>
          <a:p>
            <a:pPr algn="ctr"/>
            <a:endParaRPr lang="en-US" sz="1500" dirty="0">
              <a:highlight>
                <a:srgbClr val="FFFF00"/>
              </a:highlight>
            </a:endParaRPr>
          </a:p>
        </p:txBody>
      </p:sp>
    </p:spTree>
    <p:extLst>
      <p:ext uri="{BB962C8B-B14F-4D97-AF65-F5344CB8AC3E}">
        <p14:creationId xmlns:p14="http://schemas.microsoft.com/office/powerpoint/2010/main" val="615796317"/>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1538</Words>
  <Application>Microsoft Macintosh PowerPoint</Application>
  <PresentationFormat>Widescreen</PresentationFormat>
  <Paragraphs>230</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Hussain Hadah</dc:creator>
  <cp:lastModifiedBy>Hussain Hadah</cp:lastModifiedBy>
  <cp:revision>2</cp:revision>
  <dcterms:created xsi:type="dcterms:W3CDTF">2026-06-21T22:20:27Z</dcterms:created>
  <dcterms:modified xsi:type="dcterms:W3CDTF">2026-06-21T22:45:29Z</dcterms:modified>
</cp:coreProperties>
</file>