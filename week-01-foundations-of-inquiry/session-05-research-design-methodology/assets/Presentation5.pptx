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458" r:id="rId2"/>
    <p:sldId id="459" r:id="rId3"/>
    <p:sldId id="460" r:id="rId4"/>
    <p:sldId id="461" r:id="rId5"/>
    <p:sldId id="462" r:id="rId6"/>
    <p:sldId id="463" r:id="rId7"/>
    <p:sldId id="464" r:id="rId8"/>
    <p:sldId id="465" r:id="rId9"/>
    <p:sldId id="466" r:id="rId10"/>
    <p:sldId id="467" r:id="rId11"/>
    <p:sldId id="468" r:id="rId12"/>
    <p:sldId id="469" r:id="rId13"/>
    <p:sldId id="470" r:id="rId14"/>
    <p:sldId id="471" r:id="rId15"/>
    <p:sldId id="472" r:id="rId16"/>
    <p:sldId id="473" r:id="rId17"/>
    <p:sldId id="474" r:id="rId18"/>
    <p:sldId id="475" r:id="rId19"/>
    <p:sldId id="476" r:id="rId20"/>
    <p:sldId id="477" r:id="rId21"/>
    <p:sldId id="478" r:id="rId22"/>
    <p:sldId id="479" r:id="rId23"/>
    <p:sldId id="480" r:id="rId24"/>
    <p:sldId id="481" r:id="rId25"/>
    <p:sldId id="482" r:id="rId26"/>
    <p:sldId id="483" r:id="rId27"/>
    <p:sldId id="484" r:id="rId28"/>
    <p:sldId id="485" r:id="rId29"/>
    <p:sldId id="486" r:id="rId30"/>
    <p:sldId id="487" r:id="rId31"/>
    <p:sldId id="488" r:id="rId32"/>
    <p:sldId id="489" r:id="rId33"/>
    <p:sldId id="490" r:id="rId34"/>
    <p:sldId id="491" r:id="rId35"/>
    <p:sldId id="492" r:id="rId36"/>
    <p:sldId id="493" r:id="rId37"/>
    <p:sldId id="494" r:id="rId38"/>
    <p:sldId id="495" r:id="rId39"/>
    <p:sldId id="496" r:id="rId40"/>
    <p:sldId id="497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66"/>
  </p:normalViewPr>
  <p:slideViewPr>
    <p:cSldViewPr snapToGrid="0">
      <p:cViewPr varScale="1">
        <p:scale>
          <a:sx n="126" d="100"/>
          <a:sy n="126" d="100"/>
        </p:scale>
        <p:origin x="232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ADECF-FB88-FE8B-4D0E-19D5FC7978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941D6D-7923-773D-0535-58F052BE1C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96665-C683-2E44-9BD9-F7AFD5810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D558C-8021-324B-B561-69083F99D460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36FDFB-9277-A7A2-6CB4-B27F49DF2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D6BD2B-9BD9-BE5C-B747-C4D4F1B8F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5769C-FC23-084D-A3F6-7EEF156D8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950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A4DBB-C50C-AFE8-4016-8D0BC4A9C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B59C7-4AE7-DA15-F7B2-D573DE3815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BC7218-0C07-00C6-2DA9-CF59C7E6C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D558C-8021-324B-B561-69083F99D460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1DE547-B329-56C3-6511-A832AF389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4DE44B-C206-40A3-7C1F-00C13C8C5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5769C-FC23-084D-A3F6-7EEF156D8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347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81C5F-C879-CA6C-C094-A4D229F8D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27E619-F82C-1175-6F49-C0DA3EBC7C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20137-5FCB-2DCF-48BC-66CE30EAC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D558C-8021-324B-B561-69083F99D460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0A12BD-2B93-1F64-9718-B69EB89B7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AE3F21-B6B5-DC10-217A-8D7037B37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5769C-FC23-084D-A3F6-7EEF156D8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033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652C6-41BE-683B-0618-0B6EC7332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D8A65-3FC1-2C62-AE89-2D19C3B182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471BC5-D726-D8B2-A645-7FA3021B81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1135FD-3014-C933-74F4-7E57117D3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D558C-8021-324B-B561-69083F99D460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8E0E9E-10C9-5B66-75B1-0A60B0212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E2B841-ABB1-3182-5A45-4ED688792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5769C-FC23-084D-A3F6-7EEF156D8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256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785BE-0D44-CBAE-37E2-87425B881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6B777A-31FF-DC99-B6A1-003C336321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FBB92F-831C-2EFC-9986-E8AE8676CC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B5E2C3-63A1-CA14-03A6-97A1CAC0EC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CE5588-66CE-03DD-24FB-177B1441F0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222969-EC1A-58E8-3CC3-E31FB8C3C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D558C-8021-324B-B561-69083F99D460}" type="datetimeFigureOut">
              <a:rPr lang="en-US" smtClean="0"/>
              <a:t>6/10/26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75CE1C-77E4-3F89-81B9-25B1BC18B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F6B6DB-8B92-7F9D-020F-FB3A7A904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5769C-FC23-084D-A3F6-7EEF156D8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739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AF28A-1A7F-1AEB-4592-DF2D2A8AC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11F617-FECA-4391-76F8-13F90193A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D558C-8021-324B-B561-69083F99D460}" type="datetimeFigureOut">
              <a:rPr lang="en-US" smtClean="0"/>
              <a:t>6/10/26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0DEDF4-5B4A-0311-4DD2-A5B174072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71B227-4EAC-ABA7-69C5-DD99EFC65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5769C-FC23-084D-A3F6-7EEF156D8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43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7963D9-689C-80CA-701B-D126B0E53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D558C-8021-324B-B561-69083F99D460}" type="datetimeFigureOut">
              <a:rPr lang="en-US" smtClean="0"/>
              <a:t>6/10/26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B1FB51-6FB2-A6C6-844E-92D80DCE7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EC6778-38C8-5CDE-9DA4-CD1D28AB1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5769C-FC23-084D-A3F6-7EEF156D8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149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834C1-329F-75DA-F573-80D7EE48E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B5899-A5BB-8F15-D535-C7D07DD0B0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3B4474-948C-76EE-E23F-4910F0604F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9A1156-02A1-4CAB-64E0-7B8084AD5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D558C-8021-324B-B561-69083F99D460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FB8641-BE4B-75ED-2897-49F17F8A3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D9D57B-39AA-B04E-7FB5-B0E45104B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5769C-FC23-084D-A3F6-7EEF156D8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391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CF7DA-ED27-2122-50B6-49A72C616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A4A4A2-A726-B5E6-D9EE-A5C845E0DD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5D8827-F235-0C15-1A1A-D03138C3FB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71660B-E598-CF32-A0E3-8ECC9FB75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D558C-8021-324B-B561-69083F99D460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FDFE0A-98E3-06FE-D5FF-0A579DA98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82BFD3-4CD5-D6BF-422D-944EBEBAE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5769C-FC23-084D-A3F6-7EEF156D8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392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A9804-D015-135B-20BA-A77BB4512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7BD795-47AF-4EB1-4E1F-EE58C0EFC9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D6E940-9FBE-CEB6-6A17-5D7DAB205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D558C-8021-324B-B561-69083F99D460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3F1514-D612-3AA6-CF99-0B13FB1D4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F6F0A-07CC-A604-A3B5-F782002F4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5769C-FC23-084D-A3F6-7EEF156D8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231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011CD1-8395-BCC1-C796-DF5B47044A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765F13-03BE-F31C-5B97-CDCE897C8C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50B610-AD8A-2689-D8E9-29A3DAE15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D558C-8021-324B-B561-69083F99D460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99F350-56EE-AAB5-89D2-95F71AE26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232868-1C84-CB5D-52E2-851203646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5769C-FC23-084D-A3F6-7EEF156D8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7196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7038" y="1277"/>
            <a:ext cx="2564962" cy="586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95" name="Picture 9" descr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4788" y="6486580"/>
            <a:ext cx="3389313" cy="166688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3787"/>
            <a:ext cx="2844801" cy="365126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0882101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6557F4-A52B-8E2D-F76C-108EFD1A9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8FE040-7B9A-5704-A606-AACC819006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2757C7-057F-2E03-19F3-AABB93391A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2D558C-8021-324B-B561-69083F99D460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520CCE-2A82-C50E-7C1B-1E4D493505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1EE88-B90D-75C5-9EC3-746799F027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E5769C-FC23-084D-A3F6-7EEF156D8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193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1" name="RESEARCH METHODS…"/>
          <p:cNvSpPr txBox="1"/>
          <p:nvPr/>
        </p:nvSpPr>
        <p:spPr>
          <a:xfrm>
            <a:off x="853752" y="1470895"/>
            <a:ext cx="10191636" cy="2580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099" rIns="38099">
            <a:spAutoFit/>
          </a:bodyPr>
          <a:lstStyle/>
          <a:p>
            <a:pPr algn="ctr">
              <a:lnSpc>
                <a:spcPct val="90000"/>
              </a:lnSpc>
              <a:defRPr sz="6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5000"/>
              <a:t>RESEARCH METHODS</a:t>
            </a:r>
          </a:p>
          <a:p>
            <a:pPr algn="ctr">
              <a:lnSpc>
                <a:spcPct val="90000"/>
              </a:lnSpc>
              <a:defRPr sz="6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5000"/>
          </a:p>
          <a:p>
            <a:pPr algn="ctr">
              <a:lnSpc>
                <a:spcPct val="90000"/>
              </a:lnSpc>
              <a:defRPr sz="6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5000"/>
              <a:t>DAY 5</a:t>
            </a:r>
          </a:p>
          <a:p>
            <a:pPr algn="ctr" defTabSz="380985">
              <a:defRPr sz="16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1333"/>
          </a:p>
          <a:p>
            <a:pPr algn="ctr" defTabSz="380985">
              <a:defRPr sz="16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1333"/>
          </a:p>
        </p:txBody>
      </p:sp>
      <p:sp>
        <p:nvSpPr>
          <p:cNvPr id="2732" name="Rectangle"/>
          <p:cNvSpPr/>
          <p:nvPr/>
        </p:nvSpPr>
        <p:spPr>
          <a:xfrm>
            <a:off x="-62743" y="-81"/>
            <a:ext cx="9701771" cy="58674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099" rIns="38099" anchor="ctr"/>
          <a:lstStyle/>
          <a:p>
            <a:endParaRPr sz="150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" name="Text 0"/>
          <p:cNvSpPr txBox="1"/>
          <p:nvPr/>
        </p:nvSpPr>
        <p:spPr>
          <a:xfrm>
            <a:off x="661492" y="1971278"/>
            <a:ext cx="6297018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Welcome to Day 5! </a:t>
            </a:r>
          </a:p>
        </p:txBody>
      </p:sp>
      <p:sp>
        <p:nvSpPr>
          <p:cNvPr id="2735" name="Text 1"/>
          <p:cNvSpPr txBox="1"/>
          <p:nvPr/>
        </p:nvSpPr>
        <p:spPr>
          <a:xfrm>
            <a:off x="688153" y="3108932"/>
            <a:ext cx="8450722" cy="294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333"/>
              </a:lnSpc>
              <a:defRPr sz="2600">
                <a:latin typeface="Inter"/>
                <a:ea typeface="Inter"/>
                <a:cs typeface="Inter"/>
                <a:sym typeface="Inter"/>
              </a:defRPr>
            </a:pPr>
            <a:endParaRPr sz="2167"/>
          </a:p>
        </p:txBody>
      </p:sp>
      <p:sp>
        <p:nvSpPr>
          <p:cNvPr id="2736" name="Shape 2"/>
          <p:cNvSpPr/>
          <p:nvPr/>
        </p:nvSpPr>
        <p:spPr>
          <a:xfrm>
            <a:off x="661492" y="4570016"/>
            <a:ext cx="302420" cy="302420"/>
          </a:xfrm>
          <a:prstGeom prst="roundRect">
            <a:avLst>
              <a:gd name="adj" fmla="val 50000"/>
            </a:avLst>
          </a:prstGeom>
          <a:ln w="7620">
            <a:solidFill>
              <a:srgbClr val="FFFFFF"/>
            </a:solidFill>
          </a:ln>
        </p:spPr>
        <p:txBody>
          <a:bodyPr lIns="38099" rIns="38099"/>
          <a:lstStyle/>
          <a:p>
            <a:endParaRPr sz="1500"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8" name="Text 0"/>
          <p:cNvSpPr txBox="1"/>
          <p:nvPr/>
        </p:nvSpPr>
        <p:spPr>
          <a:xfrm>
            <a:off x="661492" y="1971278"/>
            <a:ext cx="6297018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Let’s Reflect on our Process</a:t>
            </a:r>
          </a:p>
        </p:txBody>
      </p:sp>
      <p:sp>
        <p:nvSpPr>
          <p:cNvPr id="2739" name="Text 1"/>
          <p:cNvSpPr txBox="1"/>
          <p:nvPr/>
        </p:nvSpPr>
        <p:spPr>
          <a:xfrm>
            <a:off x="618675" y="3130658"/>
            <a:ext cx="7262357" cy="11798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333"/>
              </a:lnSpc>
              <a:defRPr sz="2600">
                <a:latin typeface="Inter"/>
                <a:ea typeface="Inter"/>
                <a:cs typeface="Inter"/>
                <a:sym typeface="Inter"/>
              </a:defRPr>
            </a:pPr>
            <a:r>
              <a:rPr sz="2167"/>
              <a:t>What are your thoughts? </a:t>
            </a:r>
          </a:p>
          <a:p>
            <a:pPr>
              <a:lnSpc>
                <a:spcPts val="2333"/>
              </a:lnSpc>
              <a:defRPr sz="2600">
                <a:latin typeface="Inter"/>
                <a:ea typeface="Inter"/>
                <a:cs typeface="Inter"/>
                <a:sym typeface="Inter"/>
              </a:defRPr>
            </a:pPr>
            <a:r>
              <a:rPr sz="2167"/>
              <a:t>What are the challenges you are facing? </a:t>
            </a:r>
          </a:p>
          <a:p>
            <a:pPr>
              <a:lnSpc>
                <a:spcPts val="2333"/>
              </a:lnSpc>
              <a:defRPr sz="2600">
                <a:latin typeface="Inter"/>
                <a:ea typeface="Inter"/>
                <a:cs typeface="Inter"/>
                <a:sym typeface="Inter"/>
              </a:defRPr>
            </a:pPr>
            <a:r>
              <a:rPr sz="2167"/>
              <a:t>What can be done next? </a:t>
            </a:r>
          </a:p>
          <a:p>
            <a:pPr>
              <a:lnSpc>
                <a:spcPts val="2333"/>
              </a:lnSpc>
              <a:defRPr sz="2600">
                <a:latin typeface="Inter"/>
                <a:ea typeface="Inter"/>
                <a:cs typeface="Inter"/>
                <a:sym typeface="Inter"/>
              </a:defRPr>
            </a:pPr>
            <a:endParaRPr sz="2167"/>
          </a:p>
        </p:txBody>
      </p:sp>
      <p:sp>
        <p:nvSpPr>
          <p:cNvPr id="2740" name="Shape 2"/>
          <p:cNvSpPr/>
          <p:nvPr/>
        </p:nvSpPr>
        <p:spPr>
          <a:xfrm>
            <a:off x="661492" y="4570016"/>
            <a:ext cx="302420" cy="302420"/>
          </a:xfrm>
          <a:prstGeom prst="roundRect">
            <a:avLst>
              <a:gd name="adj" fmla="val 50000"/>
            </a:avLst>
          </a:prstGeom>
          <a:ln w="7620">
            <a:solidFill>
              <a:srgbClr val="FFFFFF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2741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8138" y="972518"/>
            <a:ext cx="3923863" cy="588766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3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9377" y="959068"/>
            <a:ext cx="3932622" cy="5898933"/>
          </a:xfrm>
          <a:prstGeom prst="rect">
            <a:avLst/>
          </a:prstGeom>
          <a:ln w="12700">
            <a:miter lim="400000"/>
          </a:ln>
        </p:spPr>
      </p:pic>
      <p:sp>
        <p:nvSpPr>
          <p:cNvPr id="2744" name="Text 0"/>
          <p:cNvSpPr txBox="1"/>
          <p:nvPr/>
        </p:nvSpPr>
        <p:spPr>
          <a:xfrm>
            <a:off x="661492" y="872927"/>
            <a:ext cx="6093015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REFINEMENT IS NORMAL! </a:t>
            </a:r>
          </a:p>
        </p:txBody>
      </p:sp>
      <p:sp>
        <p:nvSpPr>
          <p:cNvPr id="2745" name="Text 12"/>
          <p:cNvSpPr txBox="1"/>
          <p:nvPr/>
        </p:nvSpPr>
        <p:spPr>
          <a:xfrm>
            <a:off x="697200" y="1883238"/>
            <a:ext cx="4936916" cy="33329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0000"/>
              </a:lnSpc>
              <a:defRPr sz="3400">
                <a:solidFill>
                  <a:srgbClr val="941751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rPr sz="2833"/>
              <a:t>Questions and hypotheses often evolve as you learn more.</a:t>
            </a:r>
          </a:p>
          <a:p>
            <a:pPr>
              <a:lnSpc>
                <a:spcPct val="110000"/>
              </a:lnSpc>
              <a:defRPr sz="3400">
                <a:latin typeface="Inter"/>
                <a:ea typeface="Inter"/>
                <a:cs typeface="Inter"/>
                <a:sym typeface="Inter"/>
              </a:defRPr>
            </a:pPr>
            <a:endParaRPr sz="2833"/>
          </a:p>
          <a:p>
            <a:pPr>
              <a:lnSpc>
                <a:spcPct val="110000"/>
              </a:lnSpc>
              <a:defRPr sz="3400">
                <a:latin typeface="Inter"/>
                <a:ea typeface="Inter"/>
                <a:cs typeface="Inter"/>
                <a:sym typeface="Inter"/>
              </a:defRPr>
            </a:pPr>
            <a:r>
              <a:rPr sz="2833"/>
              <a:t>But how do you “learn more”? </a:t>
            </a:r>
          </a:p>
          <a:p>
            <a:pPr>
              <a:lnSpc>
                <a:spcPct val="110000"/>
              </a:lnSpc>
              <a:defRPr sz="3400">
                <a:latin typeface="Inter"/>
                <a:ea typeface="Inter"/>
                <a:cs typeface="Inter"/>
                <a:sym typeface="Inter"/>
              </a:defRPr>
            </a:pPr>
            <a:endParaRPr sz="2833"/>
          </a:p>
          <a:p>
            <a:pPr>
              <a:lnSpc>
                <a:spcPct val="110000"/>
              </a:lnSpc>
              <a:defRPr sz="3400">
                <a:solidFill>
                  <a:srgbClr val="941751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rPr sz="2833">
                <a:solidFill>
                  <a:srgbClr val="000000"/>
                </a:solidFill>
              </a:rPr>
              <a:t>Answer: </a:t>
            </a:r>
            <a:r>
              <a:rPr sz="2833"/>
              <a:t>Literature Review</a:t>
            </a:r>
          </a:p>
          <a:p>
            <a:pPr>
              <a:lnSpc>
                <a:spcPct val="110000"/>
              </a:lnSpc>
              <a:defRPr sz="3400">
                <a:latin typeface="Inter"/>
                <a:ea typeface="Inter"/>
                <a:cs typeface="Inter"/>
                <a:sym typeface="Inter"/>
              </a:defRPr>
            </a:pPr>
            <a:r>
              <a:rPr sz="2833"/>
              <a:t>Next phase of research!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74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7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7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7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7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7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27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45" grpId="0" build="p" bldLvl="5" animBg="1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7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9377" y="959068"/>
            <a:ext cx="3932622" cy="5898933"/>
          </a:xfrm>
          <a:prstGeom prst="rect">
            <a:avLst/>
          </a:prstGeom>
          <a:ln w="12700">
            <a:miter lim="400000"/>
          </a:ln>
        </p:spPr>
      </p:pic>
      <p:sp>
        <p:nvSpPr>
          <p:cNvPr id="2748" name="Text 0"/>
          <p:cNvSpPr txBox="1"/>
          <p:nvPr/>
        </p:nvSpPr>
        <p:spPr>
          <a:xfrm>
            <a:off x="661492" y="872927"/>
            <a:ext cx="4893968" cy="1138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4583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667"/>
              <a:t>SMALL PROGRESS IS </a:t>
            </a:r>
          </a:p>
          <a:p>
            <a:pPr>
              <a:lnSpc>
                <a:spcPts val="4583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667"/>
              <a:t>STILL PROGRESS</a:t>
            </a:r>
          </a:p>
        </p:txBody>
      </p:sp>
      <p:sp>
        <p:nvSpPr>
          <p:cNvPr id="2749" name="Text 12"/>
          <p:cNvSpPr txBox="1"/>
          <p:nvPr/>
        </p:nvSpPr>
        <p:spPr>
          <a:xfrm>
            <a:off x="729820" y="2259651"/>
            <a:ext cx="4936915" cy="23738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0000"/>
              </a:lnSpc>
              <a:defRPr sz="3400">
                <a:solidFill>
                  <a:srgbClr val="941751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rPr sz="2833"/>
              <a:t>You are just beginning this journey.</a:t>
            </a:r>
          </a:p>
          <a:p>
            <a:pPr>
              <a:lnSpc>
                <a:spcPct val="110000"/>
              </a:lnSpc>
              <a:defRPr sz="3400">
                <a:latin typeface="Inter"/>
                <a:ea typeface="Inter"/>
                <a:cs typeface="Inter"/>
                <a:sym typeface="Inter"/>
              </a:defRPr>
            </a:pPr>
            <a:endParaRPr sz="2833"/>
          </a:p>
          <a:p>
            <a:pPr>
              <a:lnSpc>
                <a:spcPct val="110000"/>
              </a:lnSpc>
              <a:defRPr sz="3400">
                <a:latin typeface="Inter"/>
                <a:ea typeface="Inter"/>
                <a:cs typeface="Inter"/>
                <a:sym typeface="Inter"/>
              </a:defRPr>
            </a:pPr>
            <a:r>
              <a:rPr sz="2833"/>
              <a:t>Allow yourself to take smaller steps. And </a:t>
            </a:r>
            <a:r>
              <a:rPr sz="2833" b="1"/>
              <a:t>trust the process.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74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7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7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49" grpId="0" build="p" bldLvl="5" animBg="1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1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9377" y="959068"/>
            <a:ext cx="3932622" cy="5898933"/>
          </a:xfrm>
          <a:prstGeom prst="rect">
            <a:avLst/>
          </a:prstGeom>
          <a:ln w="12700">
            <a:miter lim="400000"/>
          </a:ln>
        </p:spPr>
      </p:pic>
      <p:sp>
        <p:nvSpPr>
          <p:cNvPr id="2752" name="Text 0"/>
          <p:cNvSpPr txBox="1"/>
          <p:nvPr/>
        </p:nvSpPr>
        <p:spPr>
          <a:xfrm>
            <a:off x="661492" y="872927"/>
            <a:ext cx="5119991" cy="1138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4583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667"/>
              <a:t>HOW YOU LOOK AT IT</a:t>
            </a:r>
          </a:p>
          <a:p>
            <a:pPr>
              <a:lnSpc>
                <a:spcPts val="4583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667"/>
              <a:t>IS A GAME-CHANGER</a:t>
            </a:r>
          </a:p>
        </p:txBody>
      </p:sp>
      <p:sp>
        <p:nvSpPr>
          <p:cNvPr id="2753" name="Text 12"/>
          <p:cNvSpPr txBox="1"/>
          <p:nvPr/>
        </p:nvSpPr>
        <p:spPr>
          <a:xfrm>
            <a:off x="729820" y="2259651"/>
            <a:ext cx="4936915" cy="33329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0000"/>
              </a:lnSpc>
              <a:defRPr sz="3400">
                <a:solidFill>
                  <a:srgbClr val="941751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rPr sz="2833"/>
              <a:t>If you see it like “spending your time reading articles” vs. making an exploration.</a:t>
            </a:r>
          </a:p>
          <a:p>
            <a:pPr>
              <a:lnSpc>
                <a:spcPct val="110000"/>
              </a:lnSpc>
              <a:defRPr sz="3400">
                <a:latin typeface="Inter"/>
                <a:ea typeface="Inter"/>
                <a:cs typeface="Inter"/>
                <a:sym typeface="Inter"/>
              </a:defRPr>
            </a:pPr>
            <a:endParaRPr sz="2833"/>
          </a:p>
          <a:p>
            <a:pPr>
              <a:lnSpc>
                <a:spcPct val="110000"/>
              </a:lnSpc>
              <a:defRPr sz="3400">
                <a:latin typeface="Inter"/>
                <a:ea typeface="Inter"/>
                <a:cs typeface="Inter"/>
                <a:sym typeface="Inter"/>
              </a:defRPr>
            </a:pPr>
            <a:r>
              <a:rPr sz="2833"/>
              <a:t>Take 2-3 key points from a resource and keep on with exploring. </a:t>
            </a:r>
            <a:r>
              <a:rPr sz="2833" b="1"/>
              <a:t>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75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7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7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7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53" grpId="0" build="p" bldLvl="5" animBg="1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5" name="Text 0"/>
          <p:cNvSpPr txBox="1"/>
          <p:nvPr/>
        </p:nvSpPr>
        <p:spPr>
          <a:xfrm>
            <a:off x="661492" y="1971278"/>
            <a:ext cx="6297018" cy="13405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Now, Let’s Continue with Planning</a:t>
            </a:r>
          </a:p>
        </p:txBody>
      </p:sp>
      <p:sp>
        <p:nvSpPr>
          <p:cNvPr id="2756" name="Text 1"/>
          <p:cNvSpPr txBox="1"/>
          <p:nvPr/>
        </p:nvSpPr>
        <p:spPr>
          <a:xfrm>
            <a:off x="618675" y="3702158"/>
            <a:ext cx="7262357" cy="11798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333"/>
              </a:lnSpc>
              <a:defRPr sz="2600">
                <a:latin typeface="Inter"/>
                <a:ea typeface="Inter"/>
                <a:cs typeface="Inter"/>
                <a:sym typeface="Inter"/>
              </a:defRPr>
            </a:pPr>
            <a:r>
              <a:rPr sz="2167"/>
              <a:t>Reliability &amp; Validity</a:t>
            </a:r>
          </a:p>
          <a:p>
            <a:pPr>
              <a:lnSpc>
                <a:spcPts val="2333"/>
              </a:lnSpc>
              <a:defRPr sz="2600">
                <a:latin typeface="Inter"/>
                <a:ea typeface="Inter"/>
                <a:cs typeface="Inter"/>
                <a:sym typeface="Inter"/>
              </a:defRPr>
            </a:pPr>
            <a:endParaRPr sz="2167"/>
          </a:p>
          <a:p>
            <a:pPr>
              <a:lnSpc>
                <a:spcPts val="2333"/>
              </a:lnSpc>
              <a:defRPr sz="2600">
                <a:latin typeface="Inter"/>
                <a:ea typeface="Inter"/>
                <a:cs typeface="Inter"/>
                <a:sym typeface="Inter"/>
              </a:defRPr>
            </a:pPr>
            <a:r>
              <a:rPr sz="2167"/>
              <a:t>Sampling</a:t>
            </a:r>
          </a:p>
          <a:p>
            <a:pPr>
              <a:lnSpc>
                <a:spcPts val="2333"/>
              </a:lnSpc>
              <a:defRPr sz="2600">
                <a:latin typeface="Inter"/>
                <a:ea typeface="Inter"/>
                <a:cs typeface="Inter"/>
                <a:sym typeface="Inter"/>
              </a:defRPr>
            </a:pPr>
            <a:endParaRPr sz="2167"/>
          </a:p>
        </p:txBody>
      </p:sp>
      <p:sp>
        <p:nvSpPr>
          <p:cNvPr id="2757" name="Shape 2"/>
          <p:cNvSpPr/>
          <p:nvPr/>
        </p:nvSpPr>
        <p:spPr>
          <a:xfrm>
            <a:off x="661492" y="4570016"/>
            <a:ext cx="302420" cy="302420"/>
          </a:xfrm>
          <a:prstGeom prst="roundRect">
            <a:avLst>
              <a:gd name="adj" fmla="val 50000"/>
            </a:avLst>
          </a:prstGeom>
          <a:ln w="7620">
            <a:solidFill>
              <a:srgbClr val="FFFFFF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2758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8138" y="972518"/>
            <a:ext cx="3923863" cy="588766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0" name="Image 0" descr="Image 0"/>
          <p:cNvPicPr>
            <a:picLocks noChangeAspect="1"/>
          </p:cNvPicPr>
          <p:nvPr/>
        </p:nvPicPr>
        <p:blipFill>
          <a:blip r:embed="rId2"/>
          <a:srcRect r="51906"/>
          <a:stretch>
            <a:fillRect/>
          </a:stretch>
        </p:blipFill>
        <p:spPr>
          <a:xfrm>
            <a:off x="7102634" y="1277449"/>
            <a:ext cx="2412928" cy="3344706"/>
          </a:xfrm>
          <a:prstGeom prst="rect">
            <a:avLst/>
          </a:prstGeom>
          <a:ln w="12700">
            <a:miter lim="400000"/>
          </a:ln>
        </p:spPr>
      </p:pic>
      <p:sp>
        <p:nvSpPr>
          <p:cNvPr id="2761" name="Text 0"/>
          <p:cNvSpPr txBox="1"/>
          <p:nvPr/>
        </p:nvSpPr>
        <p:spPr>
          <a:xfrm>
            <a:off x="661491" y="1286868"/>
            <a:ext cx="4943661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Reliability and Validity</a:t>
            </a:r>
          </a:p>
        </p:txBody>
      </p:sp>
      <p:sp>
        <p:nvSpPr>
          <p:cNvPr id="2762" name="Text 1"/>
          <p:cNvSpPr txBox="1"/>
          <p:nvPr/>
        </p:nvSpPr>
        <p:spPr>
          <a:xfrm>
            <a:off x="661491" y="2349995"/>
            <a:ext cx="1114088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Reliability</a:t>
            </a:r>
          </a:p>
        </p:txBody>
      </p:sp>
      <p:sp>
        <p:nvSpPr>
          <p:cNvPr id="2763" name="Text 2"/>
          <p:cNvSpPr txBox="1"/>
          <p:nvPr/>
        </p:nvSpPr>
        <p:spPr>
          <a:xfrm>
            <a:off x="661491" y="2834282"/>
            <a:ext cx="7099007" cy="2832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333"/>
              </a:lnSpc>
              <a:defRPr sz="2200">
                <a:latin typeface="Inter"/>
                <a:ea typeface="Inter"/>
                <a:cs typeface="Inter"/>
                <a:sym typeface="Inter"/>
              </a:defRPr>
            </a:pPr>
            <a:r>
              <a:rPr sz="1833">
                <a:solidFill>
                  <a:srgbClr val="941751"/>
                </a:solidFill>
              </a:rPr>
              <a:t>Consistency</a:t>
            </a:r>
            <a:r>
              <a:rPr sz="1833"/>
              <a:t> of results if repeated under the same conditions.</a:t>
            </a:r>
          </a:p>
        </p:txBody>
      </p:sp>
      <p:sp>
        <p:nvSpPr>
          <p:cNvPr id="2764" name="Text 3"/>
          <p:cNvSpPr txBox="1"/>
          <p:nvPr/>
        </p:nvSpPr>
        <p:spPr>
          <a:xfrm>
            <a:off x="693604" y="3327036"/>
            <a:ext cx="5630074" cy="3313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342899" indent="-342899">
              <a:lnSpc>
                <a:spcPts val="2800"/>
              </a:lnSpc>
              <a:buSzPct val="100000"/>
              <a:buChar char="•"/>
              <a:defRPr sz="2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33"/>
              <a:t>Would you get similar results if repeated?</a:t>
            </a:r>
          </a:p>
        </p:txBody>
      </p:sp>
      <p:sp>
        <p:nvSpPr>
          <p:cNvPr id="2765" name="Text 4"/>
          <p:cNvSpPr txBox="1"/>
          <p:nvPr/>
        </p:nvSpPr>
        <p:spPr>
          <a:xfrm>
            <a:off x="682899" y="3730350"/>
            <a:ext cx="3287823" cy="3313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899" indent="-342899">
              <a:lnSpc>
                <a:spcPts val="2800"/>
              </a:lnSpc>
              <a:buSzPct val="100000"/>
              <a:buChar char="•"/>
              <a:defRPr sz="2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33"/>
              <a:t>Are measurements consistent?</a:t>
            </a:r>
          </a:p>
        </p:txBody>
      </p:sp>
      <p:sp>
        <p:nvSpPr>
          <p:cNvPr id="2766" name="Text 5"/>
          <p:cNvSpPr txBox="1"/>
          <p:nvPr/>
        </p:nvSpPr>
        <p:spPr>
          <a:xfrm>
            <a:off x="682899" y="4098848"/>
            <a:ext cx="3400418" cy="3313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899" indent="-342899">
              <a:lnSpc>
                <a:spcPts val="2800"/>
              </a:lnSpc>
              <a:buSzPct val="100000"/>
              <a:buChar char="•"/>
              <a:defRPr sz="2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33"/>
              <a:t>Is your procedure standardized?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8" name="Image 0" descr="Image 0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-20739"/>
            <a:ext cx="12192000" cy="2362698"/>
          </a:xfrm>
          <a:prstGeom prst="rect">
            <a:avLst/>
          </a:prstGeom>
          <a:ln w="12700">
            <a:miter lim="400000"/>
          </a:ln>
        </p:spPr>
      </p:pic>
      <p:sp>
        <p:nvSpPr>
          <p:cNvPr id="2769" name="Text 0"/>
          <p:cNvSpPr txBox="1"/>
          <p:nvPr/>
        </p:nvSpPr>
        <p:spPr>
          <a:xfrm>
            <a:off x="661492" y="2779899"/>
            <a:ext cx="4637488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Improving Reliability</a:t>
            </a:r>
          </a:p>
        </p:txBody>
      </p:sp>
      <p:sp>
        <p:nvSpPr>
          <p:cNvPr id="2770" name="Shape 1"/>
          <p:cNvSpPr/>
          <p:nvPr/>
        </p:nvSpPr>
        <p:spPr>
          <a:xfrm>
            <a:off x="661492" y="3779936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2771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384" y="3815358"/>
            <a:ext cx="283469" cy="354410"/>
          </a:xfrm>
          <a:prstGeom prst="rect">
            <a:avLst/>
          </a:prstGeom>
          <a:ln w="12700">
            <a:miter lim="400000"/>
          </a:ln>
        </p:spPr>
      </p:pic>
      <p:sp>
        <p:nvSpPr>
          <p:cNvPr id="2772" name="Text 2"/>
          <p:cNvSpPr txBox="1"/>
          <p:nvPr/>
        </p:nvSpPr>
        <p:spPr>
          <a:xfrm>
            <a:off x="1275754" y="3844825"/>
            <a:ext cx="2608086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Standardize Procedures</a:t>
            </a:r>
          </a:p>
        </p:txBody>
      </p:sp>
      <p:sp>
        <p:nvSpPr>
          <p:cNvPr id="2773" name="Text 3"/>
          <p:cNvSpPr txBox="1"/>
          <p:nvPr/>
        </p:nvSpPr>
        <p:spPr>
          <a:xfrm>
            <a:off x="1275754" y="4253507"/>
            <a:ext cx="4702177" cy="690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33"/>
              <a:t>Use the same methods, instructions, and conditions for all participants or trials.</a:t>
            </a:r>
          </a:p>
        </p:txBody>
      </p:sp>
      <p:sp>
        <p:nvSpPr>
          <p:cNvPr id="2774" name="Shape 4"/>
          <p:cNvSpPr/>
          <p:nvPr/>
        </p:nvSpPr>
        <p:spPr>
          <a:xfrm>
            <a:off x="6214169" y="3779936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2775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5061" y="3815358"/>
            <a:ext cx="283469" cy="354410"/>
          </a:xfrm>
          <a:prstGeom prst="rect">
            <a:avLst/>
          </a:prstGeom>
          <a:ln w="12700">
            <a:miter lim="400000"/>
          </a:ln>
        </p:spPr>
      </p:pic>
      <p:sp>
        <p:nvSpPr>
          <p:cNvPr id="2776" name="Text 5"/>
          <p:cNvSpPr txBox="1"/>
          <p:nvPr/>
        </p:nvSpPr>
        <p:spPr>
          <a:xfrm>
            <a:off x="6828432" y="3844825"/>
            <a:ext cx="1987724" cy="310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1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750"/>
              <a:t>Check Instruments</a:t>
            </a:r>
          </a:p>
        </p:txBody>
      </p:sp>
      <p:sp>
        <p:nvSpPr>
          <p:cNvPr id="2777" name="Text 6"/>
          <p:cNvSpPr txBox="1"/>
          <p:nvPr/>
        </p:nvSpPr>
        <p:spPr>
          <a:xfrm>
            <a:off x="6828433" y="4253507"/>
            <a:ext cx="4702176" cy="6876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750"/>
              <a:t>Ensure measuring tools are working properly and giving consistent readings.</a:t>
            </a:r>
          </a:p>
        </p:txBody>
      </p:sp>
      <p:sp>
        <p:nvSpPr>
          <p:cNvPr id="2778" name="Shape 7"/>
          <p:cNvSpPr/>
          <p:nvPr/>
        </p:nvSpPr>
        <p:spPr>
          <a:xfrm>
            <a:off x="661492" y="5236369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2779" name="Image 3" descr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384" y="5271789"/>
            <a:ext cx="283469" cy="354410"/>
          </a:xfrm>
          <a:prstGeom prst="rect">
            <a:avLst/>
          </a:prstGeom>
          <a:ln w="12700">
            <a:miter lim="400000"/>
          </a:ln>
        </p:spPr>
      </p:pic>
      <p:sp>
        <p:nvSpPr>
          <p:cNvPr id="2780" name="Text 8"/>
          <p:cNvSpPr txBox="1"/>
          <p:nvPr/>
        </p:nvSpPr>
        <p:spPr>
          <a:xfrm>
            <a:off x="1275754" y="5301257"/>
            <a:ext cx="1623842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Multiple Trials</a:t>
            </a:r>
          </a:p>
        </p:txBody>
      </p:sp>
      <p:sp>
        <p:nvSpPr>
          <p:cNvPr id="2781" name="Text 9"/>
          <p:cNvSpPr txBox="1"/>
          <p:nvPr/>
        </p:nvSpPr>
        <p:spPr>
          <a:xfrm>
            <a:off x="1275754" y="5709940"/>
            <a:ext cx="4702177" cy="690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33"/>
              <a:t>Repeat measurements or tests to see if results are consistent.</a:t>
            </a:r>
          </a:p>
        </p:txBody>
      </p:sp>
      <p:sp>
        <p:nvSpPr>
          <p:cNvPr id="2782" name="Shape 10"/>
          <p:cNvSpPr/>
          <p:nvPr/>
        </p:nvSpPr>
        <p:spPr>
          <a:xfrm>
            <a:off x="6214169" y="5236369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2783" name="Image 4" descr="Imag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5061" y="5271789"/>
            <a:ext cx="283469" cy="354410"/>
          </a:xfrm>
          <a:prstGeom prst="rect">
            <a:avLst/>
          </a:prstGeom>
          <a:ln w="12700">
            <a:miter lim="400000"/>
          </a:ln>
        </p:spPr>
      </p:pic>
      <p:sp>
        <p:nvSpPr>
          <p:cNvPr id="2784" name="Text 11"/>
          <p:cNvSpPr txBox="1"/>
          <p:nvPr/>
        </p:nvSpPr>
        <p:spPr>
          <a:xfrm>
            <a:off x="6828433" y="5301257"/>
            <a:ext cx="1998945" cy="310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1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750"/>
              <a:t>Larger Sample Size</a:t>
            </a:r>
          </a:p>
        </p:txBody>
      </p:sp>
      <p:sp>
        <p:nvSpPr>
          <p:cNvPr id="2785" name="Text 12"/>
          <p:cNvSpPr txBox="1"/>
          <p:nvPr/>
        </p:nvSpPr>
        <p:spPr>
          <a:xfrm>
            <a:off x="6828433" y="5709941"/>
            <a:ext cx="4702176" cy="6876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750"/>
              <a:t>Include more participants or items to reduce the impact of individual variations.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7" name="Image 0" descr="Image 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102634" y="1277449"/>
            <a:ext cx="5017208" cy="3344706"/>
          </a:xfrm>
          <a:prstGeom prst="rect">
            <a:avLst/>
          </a:prstGeom>
          <a:ln w="12700">
            <a:miter lim="400000"/>
          </a:ln>
        </p:spPr>
      </p:pic>
      <p:sp>
        <p:nvSpPr>
          <p:cNvPr id="2788" name="Text 0"/>
          <p:cNvSpPr txBox="1"/>
          <p:nvPr/>
        </p:nvSpPr>
        <p:spPr>
          <a:xfrm>
            <a:off x="661491" y="1286868"/>
            <a:ext cx="4943661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Reliability and Validity</a:t>
            </a:r>
          </a:p>
        </p:txBody>
      </p:sp>
      <p:sp>
        <p:nvSpPr>
          <p:cNvPr id="2789" name="Text 1"/>
          <p:cNvSpPr txBox="1"/>
          <p:nvPr/>
        </p:nvSpPr>
        <p:spPr>
          <a:xfrm>
            <a:off x="661491" y="2349995"/>
            <a:ext cx="1114088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Reliability</a:t>
            </a:r>
          </a:p>
        </p:txBody>
      </p:sp>
      <p:sp>
        <p:nvSpPr>
          <p:cNvPr id="2790" name="Text 2"/>
          <p:cNvSpPr txBox="1"/>
          <p:nvPr/>
        </p:nvSpPr>
        <p:spPr>
          <a:xfrm>
            <a:off x="661491" y="2834282"/>
            <a:ext cx="7099007" cy="2832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333"/>
              </a:lnSpc>
              <a:defRPr sz="2200">
                <a:latin typeface="Inter"/>
                <a:ea typeface="Inter"/>
                <a:cs typeface="Inter"/>
                <a:sym typeface="Inter"/>
              </a:defRPr>
            </a:pPr>
            <a:r>
              <a:rPr sz="1833">
                <a:solidFill>
                  <a:srgbClr val="941751"/>
                </a:solidFill>
              </a:rPr>
              <a:t>Consistency</a:t>
            </a:r>
            <a:r>
              <a:rPr sz="1833"/>
              <a:t> of results if repeated under the same conditions.</a:t>
            </a:r>
          </a:p>
        </p:txBody>
      </p:sp>
      <p:sp>
        <p:nvSpPr>
          <p:cNvPr id="2791" name="Text 11"/>
          <p:cNvSpPr txBox="1"/>
          <p:nvPr/>
        </p:nvSpPr>
        <p:spPr>
          <a:xfrm>
            <a:off x="7156644" y="4689193"/>
            <a:ext cx="4674187" cy="69890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2800"/>
              </a:lnSpc>
              <a:defRPr sz="2500" i="1">
                <a:solidFill>
                  <a:srgbClr val="941751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Good research needs both reliability and validity to be trustworthy.</a:t>
            </a:r>
          </a:p>
        </p:txBody>
      </p:sp>
      <p:sp>
        <p:nvSpPr>
          <p:cNvPr id="2792" name="Text 6"/>
          <p:cNvSpPr txBox="1"/>
          <p:nvPr/>
        </p:nvSpPr>
        <p:spPr>
          <a:xfrm>
            <a:off x="640521" y="3652340"/>
            <a:ext cx="846386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Validity</a:t>
            </a:r>
          </a:p>
        </p:txBody>
      </p:sp>
      <p:sp>
        <p:nvSpPr>
          <p:cNvPr id="2793" name="Text 7"/>
          <p:cNvSpPr txBox="1"/>
          <p:nvPr/>
        </p:nvSpPr>
        <p:spPr>
          <a:xfrm>
            <a:off x="640521" y="4136627"/>
            <a:ext cx="6114268" cy="2832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333"/>
              </a:lnSpc>
              <a:defRPr sz="2200">
                <a:latin typeface="Inter"/>
                <a:ea typeface="Inter"/>
                <a:cs typeface="Inter"/>
                <a:sym typeface="Inter"/>
              </a:defRPr>
            </a:pPr>
            <a:r>
              <a:rPr sz="1833"/>
              <a:t>Whether you're actually measuring </a:t>
            </a:r>
            <a:r>
              <a:rPr sz="1833">
                <a:solidFill>
                  <a:srgbClr val="941751"/>
                </a:solidFill>
              </a:rPr>
              <a:t>what you intend to</a:t>
            </a:r>
            <a:r>
              <a:rPr sz="1833"/>
              <a:t> measure.</a:t>
            </a:r>
          </a:p>
        </p:txBody>
      </p:sp>
      <p:sp>
        <p:nvSpPr>
          <p:cNvPr id="2794" name="Text 8"/>
          <p:cNvSpPr txBox="1"/>
          <p:nvPr/>
        </p:nvSpPr>
        <p:spPr>
          <a:xfrm>
            <a:off x="822491" y="4822682"/>
            <a:ext cx="5750328" cy="3313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342899" indent="-342899">
              <a:lnSpc>
                <a:spcPts val="2800"/>
              </a:lnSpc>
              <a:buSzPct val="100000"/>
              <a:buChar char="•"/>
              <a:defRPr sz="2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33"/>
              <a:t>Does your method truly address your question?</a:t>
            </a:r>
          </a:p>
        </p:txBody>
      </p:sp>
      <p:sp>
        <p:nvSpPr>
          <p:cNvPr id="2795" name="Text 9"/>
          <p:cNvSpPr txBox="1"/>
          <p:nvPr/>
        </p:nvSpPr>
        <p:spPr>
          <a:xfrm>
            <a:off x="822491" y="5183179"/>
            <a:ext cx="3580980" cy="3313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899" indent="-342899">
              <a:lnSpc>
                <a:spcPts val="2800"/>
              </a:lnSpc>
              <a:buSzPct val="100000"/>
              <a:buChar char="•"/>
              <a:defRPr sz="2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33"/>
              <a:t>Are your measurements relevant?</a:t>
            </a:r>
          </a:p>
        </p:txBody>
      </p:sp>
      <p:sp>
        <p:nvSpPr>
          <p:cNvPr id="2796" name="Text 10"/>
          <p:cNvSpPr txBox="1"/>
          <p:nvPr/>
        </p:nvSpPr>
        <p:spPr>
          <a:xfrm>
            <a:off x="822491" y="5551677"/>
            <a:ext cx="5390528" cy="3313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342899" indent="-342899">
              <a:lnSpc>
                <a:spcPts val="2800"/>
              </a:lnSpc>
              <a:buSzPct val="100000"/>
              <a:buChar char="•"/>
              <a:defRPr sz="2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33"/>
              <a:t>Can you draw appropriate conclusions?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91" grpId="0" animBg="1" advAuto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8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1425" y="902138"/>
            <a:ext cx="3970575" cy="5955863"/>
          </a:xfrm>
          <a:prstGeom prst="rect">
            <a:avLst/>
          </a:prstGeom>
          <a:ln w="12700">
            <a:miter lim="400000"/>
          </a:ln>
        </p:spPr>
      </p:pic>
      <p:sp>
        <p:nvSpPr>
          <p:cNvPr id="2799" name="Text 0"/>
          <p:cNvSpPr txBox="1"/>
          <p:nvPr/>
        </p:nvSpPr>
        <p:spPr>
          <a:xfrm>
            <a:off x="605035" y="476151"/>
            <a:ext cx="3730188" cy="5870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100"/>
              </a:lnSpc>
              <a:defRPr sz="4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333"/>
              <a:t>Improving Validity</a:t>
            </a:r>
          </a:p>
        </p:txBody>
      </p:sp>
      <p:sp>
        <p:nvSpPr>
          <p:cNvPr id="2800" name="Shape 1"/>
          <p:cNvSpPr/>
          <p:nvPr/>
        </p:nvSpPr>
        <p:spPr>
          <a:xfrm>
            <a:off x="605035" y="1275655"/>
            <a:ext cx="6409930" cy="1285182"/>
          </a:xfrm>
          <a:prstGeom prst="roundRect">
            <a:avLst>
              <a:gd name="adj" fmla="val 5650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pPr>
              <a:defRPr sz="2100"/>
            </a:pPr>
            <a:endParaRPr sz="1750"/>
          </a:p>
        </p:txBody>
      </p:sp>
      <p:sp>
        <p:nvSpPr>
          <p:cNvPr id="2801" name="Text 2"/>
          <p:cNvSpPr txBox="1"/>
          <p:nvPr/>
        </p:nvSpPr>
        <p:spPr>
          <a:xfrm>
            <a:off x="784225" y="1454844"/>
            <a:ext cx="3124253" cy="2911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21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750"/>
              <a:t>Align Methods with Questions</a:t>
            </a:r>
          </a:p>
        </p:txBody>
      </p:sp>
      <p:sp>
        <p:nvSpPr>
          <p:cNvPr id="2802" name="Text 3"/>
          <p:cNvSpPr txBox="1"/>
          <p:nvPr/>
        </p:nvSpPr>
        <p:spPr>
          <a:xfrm>
            <a:off x="784225" y="1807435"/>
            <a:ext cx="6051550" cy="64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600"/>
              </a:lnSpc>
              <a:defRPr sz="2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750"/>
              <a:t>Choose research approaches that directly address what you want to know.</a:t>
            </a:r>
          </a:p>
        </p:txBody>
      </p:sp>
      <p:sp>
        <p:nvSpPr>
          <p:cNvPr id="2803" name="Shape 4"/>
          <p:cNvSpPr/>
          <p:nvPr/>
        </p:nvSpPr>
        <p:spPr>
          <a:xfrm>
            <a:off x="605035" y="2733674"/>
            <a:ext cx="6409930" cy="1285182"/>
          </a:xfrm>
          <a:prstGeom prst="roundRect">
            <a:avLst>
              <a:gd name="adj" fmla="val 5650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pPr>
              <a:defRPr sz="2100"/>
            </a:pPr>
            <a:endParaRPr sz="1750"/>
          </a:p>
        </p:txBody>
      </p:sp>
      <p:sp>
        <p:nvSpPr>
          <p:cNvPr id="2804" name="Text 5"/>
          <p:cNvSpPr txBox="1"/>
          <p:nvPr/>
        </p:nvSpPr>
        <p:spPr>
          <a:xfrm>
            <a:off x="784224" y="2912864"/>
            <a:ext cx="2362826" cy="2911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21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750"/>
              <a:t>Use Multiple Measures</a:t>
            </a:r>
          </a:p>
        </p:txBody>
      </p:sp>
      <p:sp>
        <p:nvSpPr>
          <p:cNvPr id="2805" name="Text 6"/>
          <p:cNvSpPr txBox="1"/>
          <p:nvPr/>
        </p:nvSpPr>
        <p:spPr>
          <a:xfrm>
            <a:off x="784225" y="3244287"/>
            <a:ext cx="6051550" cy="64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600"/>
              </a:lnSpc>
              <a:defRPr sz="2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750"/>
              <a:t>Collect different types of data to get a more complete picture of what you're studying.</a:t>
            </a:r>
          </a:p>
        </p:txBody>
      </p:sp>
      <p:sp>
        <p:nvSpPr>
          <p:cNvPr id="2806" name="Shape 7"/>
          <p:cNvSpPr/>
          <p:nvPr/>
        </p:nvSpPr>
        <p:spPr>
          <a:xfrm>
            <a:off x="605035" y="4191694"/>
            <a:ext cx="6409930" cy="1008658"/>
          </a:xfrm>
          <a:prstGeom prst="roundRect">
            <a:avLst>
              <a:gd name="adj" fmla="val 7198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pPr>
              <a:defRPr sz="2100"/>
            </a:pPr>
            <a:endParaRPr sz="1750"/>
          </a:p>
        </p:txBody>
      </p:sp>
      <p:sp>
        <p:nvSpPr>
          <p:cNvPr id="2807" name="Text 8"/>
          <p:cNvSpPr txBox="1"/>
          <p:nvPr/>
        </p:nvSpPr>
        <p:spPr>
          <a:xfrm>
            <a:off x="784224" y="4370883"/>
            <a:ext cx="1835439" cy="2911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21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750"/>
              <a:t>Control Variables</a:t>
            </a:r>
          </a:p>
        </p:txBody>
      </p:sp>
      <p:sp>
        <p:nvSpPr>
          <p:cNvPr id="2808" name="Text 9"/>
          <p:cNvSpPr txBox="1"/>
          <p:nvPr/>
        </p:nvSpPr>
        <p:spPr>
          <a:xfrm>
            <a:off x="784225" y="4691724"/>
            <a:ext cx="5574988" cy="309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600"/>
              </a:lnSpc>
              <a:defRPr sz="2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750"/>
              <a:t>Identify and minimize factors that could confuse your results.</a:t>
            </a:r>
          </a:p>
        </p:txBody>
      </p:sp>
      <p:sp>
        <p:nvSpPr>
          <p:cNvPr id="2809" name="Shape 10"/>
          <p:cNvSpPr/>
          <p:nvPr/>
        </p:nvSpPr>
        <p:spPr>
          <a:xfrm>
            <a:off x="605035" y="5373192"/>
            <a:ext cx="6409930" cy="1008658"/>
          </a:xfrm>
          <a:prstGeom prst="roundRect">
            <a:avLst>
              <a:gd name="adj" fmla="val 7198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pPr>
              <a:defRPr sz="2100"/>
            </a:pPr>
            <a:endParaRPr sz="1750"/>
          </a:p>
        </p:txBody>
      </p:sp>
      <p:sp>
        <p:nvSpPr>
          <p:cNvPr id="2810" name="Text 11"/>
          <p:cNvSpPr txBox="1"/>
          <p:nvPr/>
        </p:nvSpPr>
        <p:spPr>
          <a:xfrm>
            <a:off x="784224" y="5499464"/>
            <a:ext cx="939360" cy="288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2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667"/>
              <a:t>Pilot Test</a:t>
            </a:r>
          </a:p>
        </p:txBody>
      </p:sp>
      <p:sp>
        <p:nvSpPr>
          <p:cNvPr id="2811" name="Text 12"/>
          <p:cNvSpPr txBox="1"/>
          <p:nvPr/>
        </p:nvSpPr>
        <p:spPr>
          <a:xfrm>
            <a:off x="784225" y="5809721"/>
            <a:ext cx="5964778" cy="64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600"/>
              </a:lnSpc>
              <a:defRPr sz="2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750"/>
              <a:t>Try out your methods on a small scale first to identify and fix problems.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3" name="Text 0"/>
          <p:cNvSpPr txBox="1"/>
          <p:nvPr/>
        </p:nvSpPr>
        <p:spPr>
          <a:xfrm>
            <a:off x="661491" y="1135658"/>
            <a:ext cx="5740354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Aisha's Research Revisited</a:t>
            </a:r>
          </a:p>
        </p:txBody>
      </p:sp>
      <p:sp>
        <p:nvSpPr>
          <p:cNvPr id="2814" name="Text 1"/>
          <p:cNvSpPr txBox="1"/>
          <p:nvPr/>
        </p:nvSpPr>
        <p:spPr>
          <a:xfrm>
            <a:off x="661491" y="2198786"/>
            <a:ext cx="2507097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Initial Approach (Poor)</a:t>
            </a:r>
          </a:p>
        </p:txBody>
      </p:sp>
      <p:sp>
        <p:nvSpPr>
          <p:cNvPr id="2815" name="Text 2"/>
          <p:cNvSpPr txBox="1"/>
          <p:nvPr/>
        </p:nvSpPr>
        <p:spPr>
          <a:xfrm>
            <a:off x="661491" y="2683073"/>
            <a:ext cx="2606676" cy="317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800"/>
              </a:lnSpc>
              <a:buSzPct val="100000"/>
              <a:buChar char="•"/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Different music for each friend</a:t>
            </a:r>
          </a:p>
        </p:txBody>
      </p:sp>
      <p:sp>
        <p:nvSpPr>
          <p:cNvPr id="2816" name="Text 3"/>
          <p:cNvSpPr txBox="1"/>
          <p:nvPr/>
        </p:nvSpPr>
        <p:spPr>
          <a:xfrm>
            <a:off x="661491" y="3051572"/>
            <a:ext cx="3315098" cy="676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ts val="2800"/>
              </a:lnSpc>
              <a:buSzPct val="100000"/>
              <a:buChar char="•"/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"Productivity" measured by self-reports of “fine” or “good”</a:t>
            </a:r>
          </a:p>
        </p:txBody>
      </p:sp>
      <p:sp>
        <p:nvSpPr>
          <p:cNvPr id="2817" name="Text 4"/>
          <p:cNvSpPr txBox="1"/>
          <p:nvPr/>
        </p:nvSpPr>
        <p:spPr>
          <a:xfrm>
            <a:off x="661491" y="3722489"/>
            <a:ext cx="2609304" cy="317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800"/>
              </a:lnSpc>
              <a:buSzPct val="100000"/>
              <a:buChar char="•"/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Different tasks for each person</a:t>
            </a:r>
          </a:p>
        </p:txBody>
      </p:sp>
      <p:sp>
        <p:nvSpPr>
          <p:cNvPr id="2818" name="Text 5"/>
          <p:cNvSpPr txBox="1"/>
          <p:nvPr/>
        </p:nvSpPr>
        <p:spPr>
          <a:xfrm>
            <a:off x="661491" y="4090987"/>
            <a:ext cx="2671309" cy="317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800"/>
              </a:lnSpc>
              <a:buSzPct val="100000"/>
              <a:buChar char="•"/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Inconsistent reporting methods</a:t>
            </a:r>
          </a:p>
        </p:txBody>
      </p:sp>
      <p:sp>
        <p:nvSpPr>
          <p:cNvPr id="2819" name="Text 6"/>
          <p:cNvSpPr txBox="1"/>
          <p:nvPr/>
        </p:nvSpPr>
        <p:spPr>
          <a:xfrm>
            <a:off x="4444106" y="2198786"/>
            <a:ext cx="3056927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Improved Approach (Better)</a:t>
            </a:r>
          </a:p>
        </p:txBody>
      </p:sp>
      <p:sp>
        <p:nvSpPr>
          <p:cNvPr id="2820" name="Text 7"/>
          <p:cNvSpPr txBox="1"/>
          <p:nvPr/>
        </p:nvSpPr>
        <p:spPr>
          <a:xfrm>
            <a:off x="4444106" y="2683073"/>
            <a:ext cx="3304366" cy="3313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899" indent="-342899">
              <a:lnSpc>
                <a:spcPts val="2800"/>
              </a:lnSpc>
              <a:buSzPct val="100000"/>
              <a:buChar char="•"/>
              <a:defRPr sz="2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33"/>
              <a:t>Same calm music playlist for all</a:t>
            </a:r>
          </a:p>
        </p:txBody>
      </p:sp>
      <p:sp>
        <p:nvSpPr>
          <p:cNvPr id="2821" name="Text 8"/>
          <p:cNvSpPr txBox="1"/>
          <p:nvPr/>
        </p:nvSpPr>
        <p:spPr>
          <a:xfrm>
            <a:off x="4444106" y="3051572"/>
            <a:ext cx="3315098" cy="690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342899" indent="-342899">
              <a:lnSpc>
                <a:spcPts val="2800"/>
              </a:lnSpc>
              <a:buSzPct val="100000"/>
              <a:buChar char="•"/>
              <a:defRPr sz="2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33"/>
              <a:t>Productivity measured by task completion and quiz scores</a:t>
            </a:r>
          </a:p>
        </p:txBody>
      </p:sp>
      <p:sp>
        <p:nvSpPr>
          <p:cNvPr id="2822" name="Text 9"/>
          <p:cNvSpPr txBox="1"/>
          <p:nvPr/>
        </p:nvSpPr>
        <p:spPr>
          <a:xfrm>
            <a:off x="4444106" y="3955323"/>
            <a:ext cx="3315098" cy="690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342899" indent="-342899">
              <a:lnSpc>
                <a:spcPts val="2800"/>
              </a:lnSpc>
              <a:buSzPct val="100000"/>
              <a:buChar char="•"/>
              <a:defRPr sz="2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33"/>
              <a:t>Same reading and math tasks for everyone</a:t>
            </a:r>
          </a:p>
        </p:txBody>
      </p:sp>
      <p:sp>
        <p:nvSpPr>
          <p:cNvPr id="2823" name="Text 10"/>
          <p:cNvSpPr txBox="1"/>
          <p:nvPr/>
        </p:nvSpPr>
        <p:spPr>
          <a:xfrm>
            <a:off x="4444106" y="4626240"/>
            <a:ext cx="3226653" cy="3313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899" indent="-342899">
              <a:lnSpc>
                <a:spcPts val="2800"/>
              </a:lnSpc>
              <a:buSzPct val="100000"/>
              <a:buChar char="•"/>
              <a:defRPr sz="2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33"/>
              <a:t>Consistent 30-minute sessions</a:t>
            </a:r>
          </a:p>
        </p:txBody>
      </p:sp>
      <p:pic>
        <p:nvPicPr>
          <p:cNvPr id="2824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6723" y="2222401"/>
            <a:ext cx="3315098" cy="2209999"/>
          </a:xfrm>
          <a:prstGeom prst="rect">
            <a:avLst/>
          </a:prstGeom>
          <a:ln w="12700">
            <a:miter lim="400000"/>
          </a:ln>
        </p:spPr>
      </p:pic>
      <p:sp>
        <p:nvSpPr>
          <p:cNvPr id="2825" name="Text 11"/>
          <p:cNvSpPr txBox="1"/>
          <p:nvPr/>
        </p:nvSpPr>
        <p:spPr>
          <a:xfrm>
            <a:off x="8226723" y="4645024"/>
            <a:ext cx="3315098" cy="1046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2800"/>
              </a:lnSpc>
              <a:defRPr sz="2100" i="1">
                <a:solidFill>
                  <a:srgbClr val="941751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750"/>
              <a:t>The improved design has better reliability and validity, leading to more trustworthy results.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7" name="Text 0"/>
          <p:cNvSpPr txBox="1"/>
          <p:nvPr/>
        </p:nvSpPr>
        <p:spPr>
          <a:xfrm>
            <a:off x="661491" y="1286868"/>
            <a:ext cx="8725145" cy="548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4583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667">
                <a:solidFill>
                  <a:srgbClr val="941751"/>
                </a:solidFill>
              </a:rPr>
              <a:t>Sampling</a:t>
            </a:r>
            <a:r>
              <a:rPr sz="3667"/>
              <a:t>: Who or What Will You Study?</a:t>
            </a:r>
          </a:p>
        </p:txBody>
      </p:sp>
      <p:pic>
        <p:nvPicPr>
          <p:cNvPr id="2828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6723" y="2373610"/>
            <a:ext cx="3315098" cy="2209999"/>
          </a:xfrm>
          <a:prstGeom prst="rect">
            <a:avLst/>
          </a:prstGeom>
          <a:ln w="12700">
            <a:miter lim="400000"/>
          </a:ln>
        </p:spPr>
      </p:pic>
      <p:sp>
        <p:nvSpPr>
          <p:cNvPr id="2829" name="Text 9"/>
          <p:cNvSpPr txBox="1"/>
          <p:nvPr/>
        </p:nvSpPr>
        <p:spPr>
          <a:xfrm>
            <a:off x="8226723" y="4796233"/>
            <a:ext cx="3315098" cy="10636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2800"/>
              </a:lnSpc>
              <a:defRPr sz="2700" i="1">
                <a:solidFill>
                  <a:srgbClr val="941751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250"/>
              <a:t>Good sampling makes your results more reliable, generalizable and valid.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Text 0"/>
          <p:cNvSpPr txBox="1"/>
          <p:nvPr/>
        </p:nvSpPr>
        <p:spPr>
          <a:xfrm>
            <a:off x="661491" y="1286868"/>
            <a:ext cx="8725145" cy="548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4583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667">
                <a:solidFill>
                  <a:srgbClr val="941751"/>
                </a:solidFill>
              </a:rPr>
              <a:t>Sampling</a:t>
            </a:r>
            <a:r>
              <a:rPr sz="3667"/>
              <a:t>: Who or What Will You Study?</a:t>
            </a:r>
          </a:p>
        </p:txBody>
      </p:sp>
      <p:sp>
        <p:nvSpPr>
          <p:cNvPr id="2832" name="Text 1"/>
          <p:cNvSpPr txBox="1"/>
          <p:nvPr/>
        </p:nvSpPr>
        <p:spPr>
          <a:xfrm>
            <a:off x="661491" y="2349995"/>
            <a:ext cx="1968488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What is a Sample?</a:t>
            </a:r>
          </a:p>
        </p:txBody>
      </p:sp>
      <p:sp>
        <p:nvSpPr>
          <p:cNvPr id="2833" name="Text 2"/>
          <p:cNvSpPr txBox="1"/>
          <p:nvPr/>
        </p:nvSpPr>
        <p:spPr>
          <a:xfrm>
            <a:off x="661491" y="2834282"/>
            <a:ext cx="3315098" cy="6876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750"/>
              <a:t>A smaller subset of the population or items you're interested in.</a:t>
            </a:r>
          </a:p>
        </p:txBody>
      </p:sp>
      <p:sp>
        <p:nvSpPr>
          <p:cNvPr id="2834" name="Text 3"/>
          <p:cNvSpPr txBox="1"/>
          <p:nvPr/>
        </p:nvSpPr>
        <p:spPr>
          <a:xfrm>
            <a:off x="661491" y="3842014"/>
            <a:ext cx="3315098" cy="870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333"/>
              </a:lnSpc>
              <a:defRPr sz="2100">
                <a:latin typeface="Inter"/>
                <a:ea typeface="Inter"/>
                <a:cs typeface="Inter"/>
                <a:sym typeface="Inter"/>
              </a:defRPr>
            </a:pPr>
            <a:r>
              <a:rPr sz="1750"/>
              <a:t>Since studying everyone or everything is usually impossible, researchers select </a:t>
            </a:r>
            <a:r>
              <a:rPr sz="1750" b="1"/>
              <a:t>representatives</a:t>
            </a:r>
            <a:r>
              <a:rPr sz="1750"/>
              <a:t>.</a:t>
            </a:r>
          </a:p>
        </p:txBody>
      </p:sp>
      <p:sp>
        <p:nvSpPr>
          <p:cNvPr id="2835" name="Text 4"/>
          <p:cNvSpPr txBox="1"/>
          <p:nvPr/>
        </p:nvSpPr>
        <p:spPr>
          <a:xfrm>
            <a:off x="4444106" y="2349995"/>
            <a:ext cx="2652970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Key Sampling Questions</a:t>
            </a:r>
          </a:p>
        </p:txBody>
      </p:sp>
      <p:sp>
        <p:nvSpPr>
          <p:cNvPr id="2836" name="Text 5"/>
          <p:cNvSpPr txBox="1"/>
          <p:nvPr/>
        </p:nvSpPr>
        <p:spPr>
          <a:xfrm>
            <a:off x="4444106" y="2834282"/>
            <a:ext cx="3315098" cy="6876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342899" indent="-342899">
              <a:lnSpc>
                <a:spcPts val="2800"/>
              </a:lnSpc>
              <a:buSzPct val="100000"/>
              <a:buChar char="•"/>
              <a:defRPr sz="2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750"/>
              <a:t>How many people/items will you include?</a:t>
            </a:r>
          </a:p>
        </p:txBody>
      </p:sp>
      <p:sp>
        <p:nvSpPr>
          <p:cNvPr id="2837" name="Text 6"/>
          <p:cNvSpPr txBox="1"/>
          <p:nvPr/>
        </p:nvSpPr>
        <p:spPr>
          <a:xfrm>
            <a:off x="4444106" y="3505200"/>
            <a:ext cx="2742417" cy="328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899" indent="-342899">
              <a:lnSpc>
                <a:spcPts val="2800"/>
              </a:lnSpc>
              <a:buSzPct val="100000"/>
              <a:buChar char="•"/>
              <a:defRPr sz="2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750"/>
              <a:t>How will you select them?</a:t>
            </a:r>
          </a:p>
        </p:txBody>
      </p:sp>
      <p:sp>
        <p:nvSpPr>
          <p:cNvPr id="2838" name="Text 7"/>
          <p:cNvSpPr txBox="1"/>
          <p:nvPr/>
        </p:nvSpPr>
        <p:spPr>
          <a:xfrm>
            <a:off x="4444106" y="3873698"/>
            <a:ext cx="3315098" cy="6876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342899" indent="-342899">
              <a:lnSpc>
                <a:spcPts val="2800"/>
              </a:lnSpc>
              <a:buSzPct val="100000"/>
              <a:buChar char="•"/>
              <a:defRPr sz="2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750"/>
              <a:t>Will your sample represent the larger group?</a:t>
            </a:r>
          </a:p>
        </p:txBody>
      </p:sp>
      <p:sp>
        <p:nvSpPr>
          <p:cNvPr id="2839" name="Text 8"/>
          <p:cNvSpPr txBox="1"/>
          <p:nvPr/>
        </p:nvSpPr>
        <p:spPr>
          <a:xfrm>
            <a:off x="4444106" y="4544616"/>
            <a:ext cx="3315098" cy="6876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342899" indent="-342899">
              <a:lnSpc>
                <a:spcPts val="2800"/>
              </a:lnSpc>
              <a:buSzPct val="100000"/>
              <a:buChar char="•"/>
              <a:defRPr sz="2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750"/>
              <a:t>What potential biases might affect your selection?</a:t>
            </a:r>
          </a:p>
        </p:txBody>
      </p:sp>
      <p:pic>
        <p:nvPicPr>
          <p:cNvPr id="2840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6723" y="2373610"/>
            <a:ext cx="3315098" cy="2209999"/>
          </a:xfrm>
          <a:prstGeom prst="rect">
            <a:avLst/>
          </a:prstGeom>
          <a:ln w="12700">
            <a:miter lim="400000"/>
          </a:ln>
        </p:spPr>
      </p:pic>
      <p:sp>
        <p:nvSpPr>
          <p:cNvPr id="2841" name="Text 9"/>
          <p:cNvSpPr txBox="1"/>
          <p:nvPr/>
        </p:nvSpPr>
        <p:spPr>
          <a:xfrm>
            <a:off x="8226723" y="4796233"/>
            <a:ext cx="3315098" cy="10636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2800"/>
              </a:lnSpc>
              <a:defRPr sz="2700" i="1">
                <a:solidFill>
                  <a:srgbClr val="941751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250"/>
              <a:t>Good sampling makes your results more reliable, generalizable and valid.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2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2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35" grpId="0" animBg="1" advAuto="0"/>
      <p:bldP spid="2836" grpId="0" animBg="1" advAuto="0"/>
      <p:bldP spid="2837" grpId="0" animBg="1" advAuto="0"/>
      <p:bldP spid="2838" grpId="0" animBg="1" advAuto="0"/>
      <p:bldP spid="2839" grpId="0" animBg="1" advAuto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3" name="Text 0"/>
          <p:cNvSpPr txBox="1"/>
          <p:nvPr/>
        </p:nvSpPr>
        <p:spPr>
          <a:xfrm>
            <a:off x="637382" y="500756"/>
            <a:ext cx="3919343" cy="613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300"/>
              </a:lnSpc>
              <a:defRPr sz="43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583"/>
              <a:t>Types of Sampling</a:t>
            </a:r>
          </a:p>
        </p:txBody>
      </p:sp>
      <p:pic>
        <p:nvPicPr>
          <p:cNvPr id="2844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0789" y="3207544"/>
            <a:ext cx="6550323" cy="6550323"/>
          </a:xfrm>
          <a:prstGeom prst="rect">
            <a:avLst/>
          </a:prstGeom>
          <a:ln w="12700">
            <a:miter lim="400000"/>
          </a:ln>
        </p:spPr>
      </p:pic>
      <p:pic>
        <p:nvPicPr>
          <p:cNvPr id="2845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2781" y="5350568"/>
            <a:ext cx="307282" cy="384077"/>
          </a:xfrm>
          <a:prstGeom prst="rect">
            <a:avLst/>
          </a:prstGeom>
          <a:ln w="12700">
            <a:miter lim="400000"/>
          </a:ln>
        </p:spPr>
      </p:pic>
      <p:pic>
        <p:nvPicPr>
          <p:cNvPr id="2846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0789" y="3207544"/>
            <a:ext cx="6550323" cy="6550323"/>
          </a:xfrm>
          <a:prstGeom prst="rect">
            <a:avLst/>
          </a:prstGeom>
          <a:ln w="12700">
            <a:miter lim="400000"/>
          </a:ln>
        </p:spPr>
      </p:pic>
      <p:pic>
        <p:nvPicPr>
          <p:cNvPr id="2847" name="Image 3" descr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2212" y="4021137"/>
            <a:ext cx="307282" cy="384077"/>
          </a:xfrm>
          <a:prstGeom prst="rect">
            <a:avLst/>
          </a:prstGeom>
          <a:ln w="12700">
            <a:miter lim="400000"/>
          </a:ln>
        </p:spPr>
      </p:pic>
      <p:pic>
        <p:nvPicPr>
          <p:cNvPr id="2848" name="Image 4" descr="Imag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0789" y="3207544"/>
            <a:ext cx="6550323" cy="6550323"/>
          </a:xfrm>
          <a:prstGeom prst="rect">
            <a:avLst/>
          </a:prstGeom>
          <a:ln w="12700">
            <a:miter lim="400000"/>
          </a:ln>
        </p:spPr>
      </p:pic>
      <p:pic>
        <p:nvPicPr>
          <p:cNvPr id="2849" name="Image 5" descr="Imag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82208" y="4021137"/>
            <a:ext cx="307282" cy="384077"/>
          </a:xfrm>
          <a:prstGeom prst="rect">
            <a:avLst/>
          </a:prstGeom>
          <a:ln w="12700">
            <a:miter lim="400000"/>
          </a:ln>
        </p:spPr>
      </p:pic>
      <p:pic>
        <p:nvPicPr>
          <p:cNvPr id="2850" name="Image 6" descr="Imag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20789" y="3207544"/>
            <a:ext cx="6550323" cy="6550323"/>
          </a:xfrm>
          <a:prstGeom prst="rect">
            <a:avLst/>
          </a:prstGeom>
          <a:ln w="12700">
            <a:miter lim="400000"/>
          </a:ln>
        </p:spPr>
      </p:pic>
      <p:pic>
        <p:nvPicPr>
          <p:cNvPr id="2851" name="Image 7" descr="Image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11542" y="5350568"/>
            <a:ext cx="307282" cy="384077"/>
          </a:xfrm>
          <a:prstGeom prst="rect">
            <a:avLst/>
          </a:prstGeom>
          <a:ln w="12700">
            <a:miter lim="400000"/>
          </a:ln>
        </p:spPr>
      </p:pic>
      <p:sp>
        <p:nvSpPr>
          <p:cNvPr id="2852" name="Text 1"/>
          <p:cNvSpPr txBox="1"/>
          <p:nvPr/>
        </p:nvSpPr>
        <p:spPr>
          <a:xfrm>
            <a:off x="623483" y="2137386"/>
            <a:ext cx="2184893" cy="308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600"/>
              </a:lnSpc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000"/>
              <a:t>Random Sampling</a:t>
            </a:r>
          </a:p>
        </p:txBody>
      </p:sp>
      <p:sp>
        <p:nvSpPr>
          <p:cNvPr id="2853" name="Text 2"/>
          <p:cNvSpPr txBox="1"/>
          <p:nvPr/>
        </p:nvSpPr>
        <p:spPr>
          <a:xfrm>
            <a:off x="453768" y="2531085"/>
            <a:ext cx="2524423" cy="10057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700"/>
              </a:lnSpc>
              <a:defRPr sz="1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583"/>
              <a:t>Everyone has equal chance of selection (like drawing names from a hat).</a:t>
            </a:r>
          </a:p>
        </p:txBody>
      </p:sp>
      <p:sp>
        <p:nvSpPr>
          <p:cNvPr id="2854" name="Line"/>
          <p:cNvSpPr/>
          <p:nvPr/>
        </p:nvSpPr>
        <p:spPr>
          <a:xfrm flipV="1">
            <a:off x="6096000" y="900378"/>
            <a:ext cx="0" cy="5057245"/>
          </a:xfrm>
          <a:prstGeom prst="line">
            <a:avLst/>
          </a:prstGeom>
          <a:ln w="19050">
            <a:solidFill>
              <a:schemeClr val="accent1"/>
            </a:solidFill>
            <a:miter/>
          </a:ln>
        </p:spPr>
        <p:txBody>
          <a:bodyPr lIns="38099" rIns="38099"/>
          <a:lstStyle/>
          <a:p>
            <a:endParaRPr sz="1500"/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" name="Text 0"/>
          <p:cNvSpPr txBox="1"/>
          <p:nvPr/>
        </p:nvSpPr>
        <p:spPr>
          <a:xfrm>
            <a:off x="637382" y="500756"/>
            <a:ext cx="3919343" cy="613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300"/>
              </a:lnSpc>
              <a:defRPr sz="43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583"/>
              <a:t>Types of Sampling</a:t>
            </a:r>
          </a:p>
        </p:txBody>
      </p:sp>
      <p:pic>
        <p:nvPicPr>
          <p:cNvPr id="2857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0789" y="3207544"/>
            <a:ext cx="6550323" cy="6550323"/>
          </a:xfrm>
          <a:prstGeom prst="rect">
            <a:avLst/>
          </a:prstGeom>
          <a:ln w="12700">
            <a:miter lim="400000"/>
          </a:ln>
        </p:spPr>
      </p:pic>
      <p:pic>
        <p:nvPicPr>
          <p:cNvPr id="2858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2781" y="5350568"/>
            <a:ext cx="307282" cy="384077"/>
          </a:xfrm>
          <a:prstGeom prst="rect">
            <a:avLst/>
          </a:prstGeom>
          <a:ln w="12700">
            <a:miter lim="400000"/>
          </a:ln>
        </p:spPr>
      </p:pic>
      <p:pic>
        <p:nvPicPr>
          <p:cNvPr id="2859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0789" y="3207544"/>
            <a:ext cx="6550323" cy="6550323"/>
          </a:xfrm>
          <a:prstGeom prst="rect">
            <a:avLst/>
          </a:prstGeom>
          <a:ln w="12700">
            <a:miter lim="400000"/>
          </a:ln>
        </p:spPr>
      </p:pic>
      <p:pic>
        <p:nvPicPr>
          <p:cNvPr id="2860" name="Image 3" descr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2212" y="4021137"/>
            <a:ext cx="307282" cy="384077"/>
          </a:xfrm>
          <a:prstGeom prst="rect">
            <a:avLst/>
          </a:prstGeom>
          <a:ln w="12700">
            <a:miter lim="400000"/>
          </a:ln>
        </p:spPr>
      </p:pic>
      <p:pic>
        <p:nvPicPr>
          <p:cNvPr id="2861" name="Image 4" descr="Imag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0789" y="3207544"/>
            <a:ext cx="6550323" cy="6550323"/>
          </a:xfrm>
          <a:prstGeom prst="rect">
            <a:avLst/>
          </a:prstGeom>
          <a:ln w="12700">
            <a:miter lim="400000"/>
          </a:ln>
        </p:spPr>
      </p:pic>
      <p:pic>
        <p:nvPicPr>
          <p:cNvPr id="2862" name="Image 5" descr="Imag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82208" y="4021137"/>
            <a:ext cx="307282" cy="384077"/>
          </a:xfrm>
          <a:prstGeom prst="rect">
            <a:avLst/>
          </a:prstGeom>
          <a:ln w="12700">
            <a:miter lim="400000"/>
          </a:ln>
        </p:spPr>
      </p:pic>
      <p:pic>
        <p:nvPicPr>
          <p:cNvPr id="2863" name="Image 6" descr="Imag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20789" y="3207544"/>
            <a:ext cx="6550323" cy="6550323"/>
          </a:xfrm>
          <a:prstGeom prst="rect">
            <a:avLst/>
          </a:prstGeom>
          <a:ln w="12700">
            <a:miter lim="400000"/>
          </a:ln>
        </p:spPr>
      </p:pic>
      <p:pic>
        <p:nvPicPr>
          <p:cNvPr id="2864" name="Image 7" descr="Image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11542" y="5350568"/>
            <a:ext cx="307282" cy="384077"/>
          </a:xfrm>
          <a:prstGeom prst="rect">
            <a:avLst/>
          </a:prstGeom>
          <a:ln w="12700">
            <a:miter lim="400000"/>
          </a:ln>
        </p:spPr>
      </p:pic>
      <p:sp>
        <p:nvSpPr>
          <p:cNvPr id="2865" name="Text 1"/>
          <p:cNvSpPr txBox="1"/>
          <p:nvPr/>
        </p:nvSpPr>
        <p:spPr>
          <a:xfrm>
            <a:off x="623483" y="2137386"/>
            <a:ext cx="2184893" cy="308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600"/>
              </a:lnSpc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000"/>
              <a:t>Random Sampling</a:t>
            </a:r>
          </a:p>
        </p:txBody>
      </p:sp>
      <p:sp>
        <p:nvSpPr>
          <p:cNvPr id="2866" name="Text 2"/>
          <p:cNvSpPr txBox="1"/>
          <p:nvPr/>
        </p:nvSpPr>
        <p:spPr>
          <a:xfrm>
            <a:off x="453768" y="2531085"/>
            <a:ext cx="2524423" cy="10057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700"/>
              </a:lnSpc>
              <a:defRPr sz="1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583"/>
              <a:t>Everyone has equal chance of selection (like drawing names from a hat).</a:t>
            </a:r>
          </a:p>
        </p:txBody>
      </p:sp>
      <p:sp>
        <p:nvSpPr>
          <p:cNvPr id="2867" name="Text 3"/>
          <p:cNvSpPr txBox="1"/>
          <p:nvPr/>
        </p:nvSpPr>
        <p:spPr>
          <a:xfrm>
            <a:off x="3546159" y="1434009"/>
            <a:ext cx="2301912" cy="308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600"/>
              </a:lnSpc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000"/>
              <a:t>Stratified Sampling</a:t>
            </a:r>
          </a:p>
        </p:txBody>
      </p:sp>
      <p:sp>
        <p:nvSpPr>
          <p:cNvPr id="2868" name="Text 4"/>
          <p:cNvSpPr txBox="1"/>
          <p:nvPr/>
        </p:nvSpPr>
        <p:spPr>
          <a:xfrm>
            <a:off x="3434954" y="1827709"/>
            <a:ext cx="2524423" cy="13519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700"/>
              </a:lnSpc>
              <a:defRPr sz="1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583"/>
              <a:t>Select from important subgroups to ensure representation (e.g., different grades).</a:t>
            </a:r>
          </a:p>
        </p:txBody>
      </p:sp>
      <p:sp>
        <p:nvSpPr>
          <p:cNvPr id="2869" name="Text 11"/>
          <p:cNvSpPr txBox="1"/>
          <p:nvPr/>
        </p:nvSpPr>
        <p:spPr>
          <a:xfrm>
            <a:off x="319664" y="4460665"/>
            <a:ext cx="1978106" cy="3152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3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917"/>
              <a:t>Cluster Sampling</a:t>
            </a:r>
          </a:p>
        </p:txBody>
      </p:sp>
      <p:sp>
        <p:nvSpPr>
          <p:cNvPr id="2870" name="Text 12"/>
          <p:cNvSpPr txBox="1"/>
          <p:nvPr/>
        </p:nvSpPr>
        <p:spPr>
          <a:xfrm>
            <a:off x="319664" y="4869347"/>
            <a:ext cx="2240278" cy="10409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583"/>
              <a:t>Randomly select entire groups (randomly choose 3 classrooms)</a:t>
            </a:r>
          </a:p>
        </p:txBody>
      </p:sp>
      <p:sp>
        <p:nvSpPr>
          <p:cNvPr id="2871" name="Line"/>
          <p:cNvSpPr/>
          <p:nvPr/>
        </p:nvSpPr>
        <p:spPr>
          <a:xfrm flipV="1">
            <a:off x="6096000" y="900378"/>
            <a:ext cx="0" cy="5057245"/>
          </a:xfrm>
          <a:prstGeom prst="line">
            <a:avLst/>
          </a:prstGeom>
          <a:ln w="19050">
            <a:solidFill>
              <a:schemeClr val="accent1"/>
            </a:solidFill>
            <a:miter/>
          </a:ln>
        </p:spPr>
        <p:txBody>
          <a:bodyPr lIns="38099" rIns="38099"/>
          <a:lstStyle/>
          <a:p>
            <a:endParaRPr sz="1500"/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3" name="Text 0"/>
          <p:cNvSpPr txBox="1"/>
          <p:nvPr/>
        </p:nvSpPr>
        <p:spPr>
          <a:xfrm>
            <a:off x="637382" y="500756"/>
            <a:ext cx="3919343" cy="613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300"/>
              </a:lnSpc>
              <a:defRPr sz="43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583"/>
              <a:t>Types of Sampling</a:t>
            </a:r>
          </a:p>
        </p:txBody>
      </p:sp>
      <p:pic>
        <p:nvPicPr>
          <p:cNvPr id="2874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0789" y="3207544"/>
            <a:ext cx="6550323" cy="6550323"/>
          </a:xfrm>
          <a:prstGeom prst="rect">
            <a:avLst/>
          </a:prstGeom>
          <a:ln w="12700">
            <a:miter lim="400000"/>
          </a:ln>
        </p:spPr>
      </p:pic>
      <p:pic>
        <p:nvPicPr>
          <p:cNvPr id="2875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2781" y="5350568"/>
            <a:ext cx="307282" cy="384077"/>
          </a:xfrm>
          <a:prstGeom prst="rect">
            <a:avLst/>
          </a:prstGeom>
          <a:ln w="12700">
            <a:miter lim="400000"/>
          </a:ln>
        </p:spPr>
      </p:pic>
      <p:pic>
        <p:nvPicPr>
          <p:cNvPr id="2876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0789" y="3207544"/>
            <a:ext cx="6550323" cy="6550323"/>
          </a:xfrm>
          <a:prstGeom prst="rect">
            <a:avLst/>
          </a:prstGeom>
          <a:ln w="12700">
            <a:miter lim="400000"/>
          </a:ln>
        </p:spPr>
      </p:pic>
      <p:pic>
        <p:nvPicPr>
          <p:cNvPr id="2877" name="Image 3" descr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2212" y="4021137"/>
            <a:ext cx="307282" cy="384077"/>
          </a:xfrm>
          <a:prstGeom prst="rect">
            <a:avLst/>
          </a:prstGeom>
          <a:ln w="12700">
            <a:miter lim="400000"/>
          </a:ln>
        </p:spPr>
      </p:pic>
      <p:pic>
        <p:nvPicPr>
          <p:cNvPr id="2878" name="Image 4" descr="Imag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0789" y="3207544"/>
            <a:ext cx="6550323" cy="6550323"/>
          </a:xfrm>
          <a:prstGeom prst="rect">
            <a:avLst/>
          </a:prstGeom>
          <a:ln w="12700">
            <a:miter lim="400000"/>
          </a:ln>
        </p:spPr>
      </p:pic>
      <p:pic>
        <p:nvPicPr>
          <p:cNvPr id="2879" name="Image 5" descr="Imag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82208" y="4021137"/>
            <a:ext cx="307282" cy="384077"/>
          </a:xfrm>
          <a:prstGeom prst="rect">
            <a:avLst/>
          </a:prstGeom>
          <a:ln w="12700">
            <a:miter lim="400000"/>
          </a:ln>
        </p:spPr>
      </p:pic>
      <p:pic>
        <p:nvPicPr>
          <p:cNvPr id="2880" name="Image 6" descr="Imag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20789" y="3207544"/>
            <a:ext cx="6550323" cy="6550323"/>
          </a:xfrm>
          <a:prstGeom prst="rect">
            <a:avLst/>
          </a:prstGeom>
          <a:ln w="12700">
            <a:miter lim="400000"/>
          </a:ln>
        </p:spPr>
      </p:pic>
      <p:pic>
        <p:nvPicPr>
          <p:cNvPr id="2881" name="Image 7" descr="Image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11542" y="5350568"/>
            <a:ext cx="307282" cy="384077"/>
          </a:xfrm>
          <a:prstGeom prst="rect">
            <a:avLst/>
          </a:prstGeom>
          <a:ln w="12700">
            <a:miter lim="400000"/>
          </a:ln>
        </p:spPr>
      </p:pic>
      <p:sp>
        <p:nvSpPr>
          <p:cNvPr id="2882" name="Text 1"/>
          <p:cNvSpPr txBox="1"/>
          <p:nvPr/>
        </p:nvSpPr>
        <p:spPr>
          <a:xfrm>
            <a:off x="623483" y="2137386"/>
            <a:ext cx="2184893" cy="308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600"/>
              </a:lnSpc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000"/>
              <a:t>Random Sampling</a:t>
            </a:r>
          </a:p>
        </p:txBody>
      </p:sp>
      <p:sp>
        <p:nvSpPr>
          <p:cNvPr id="2883" name="Text 2"/>
          <p:cNvSpPr txBox="1"/>
          <p:nvPr/>
        </p:nvSpPr>
        <p:spPr>
          <a:xfrm>
            <a:off x="453768" y="2531085"/>
            <a:ext cx="2524423" cy="10057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700"/>
              </a:lnSpc>
              <a:defRPr sz="1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583"/>
              <a:t>Everyone has equal chance of selection (like drawing names from a hat).</a:t>
            </a:r>
          </a:p>
        </p:txBody>
      </p:sp>
      <p:sp>
        <p:nvSpPr>
          <p:cNvPr id="2884" name="Text 3"/>
          <p:cNvSpPr txBox="1"/>
          <p:nvPr/>
        </p:nvSpPr>
        <p:spPr>
          <a:xfrm>
            <a:off x="3546159" y="1434009"/>
            <a:ext cx="2301912" cy="308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600"/>
              </a:lnSpc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000"/>
              <a:t>Stratified Sampling</a:t>
            </a:r>
          </a:p>
        </p:txBody>
      </p:sp>
      <p:sp>
        <p:nvSpPr>
          <p:cNvPr id="2885" name="Text 4"/>
          <p:cNvSpPr txBox="1"/>
          <p:nvPr/>
        </p:nvSpPr>
        <p:spPr>
          <a:xfrm>
            <a:off x="3434954" y="1827709"/>
            <a:ext cx="2524423" cy="13519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700"/>
              </a:lnSpc>
              <a:defRPr sz="1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583"/>
              <a:t>Select from important subgroups to ensure representation (e.g., different grades).</a:t>
            </a:r>
          </a:p>
        </p:txBody>
      </p:sp>
      <p:sp>
        <p:nvSpPr>
          <p:cNvPr id="2886" name="Text 5"/>
          <p:cNvSpPr txBox="1"/>
          <p:nvPr/>
        </p:nvSpPr>
        <p:spPr>
          <a:xfrm>
            <a:off x="6489399" y="2016621"/>
            <a:ext cx="2709075" cy="308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600"/>
              </a:lnSpc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000"/>
              <a:t>Convenience Sampling</a:t>
            </a:r>
          </a:p>
        </p:txBody>
      </p:sp>
      <p:sp>
        <p:nvSpPr>
          <p:cNvPr id="2887" name="Text 6"/>
          <p:cNvSpPr txBox="1"/>
          <p:nvPr/>
        </p:nvSpPr>
        <p:spPr>
          <a:xfrm>
            <a:off x="6581775" y="2410321"/>
            <a:ext cx="2524423" cy="659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700"/>
              </a:lnSpc>
              <a:defRPr sz="1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583"/>
              <a:t>Select whoever is easiest to reach (like your own class).</a:t>
            </a:r>
          </a:p>
        </p:txBody>
      </p:sp>
      <p:sp>
        <p:nvSpPr>
          <p:cNvPr id="2888" name="Text 7"/>
          <p:cNvSpPr txBox="1"/>
          <p:nvPr/>
        </p:nvSpPr>
        <p:spPr>
          <a:xfrm>
            <a:off x="9089821" y="3109965"/>
            <a:ext cx="2383666" cy="308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600"/>
              </a:lnSpc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000"/>
              <a:t>Purposive Sampling</a:t>
            </a:r>
          </a:p>
        </p:txBody>
      </p:sp>
      <p:sp>
        <p:nvSpPr>
          <p:cNvPr id="2889" name="Text 8"/>
          <p:cNvSpPr txBox="1"/>
          <p:nvPr/>
        </p:nvSpPr>
        <p:spPr>
          <a:xfrm>
            <a:off x="9019393" y="3503664"/>
            <a:ext cx="2524523" cy="10057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700"/>
              </a:lnSpc>
              <a:defRPr sz="1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583"/>
              <a:t>Deliberately select specific cases based on research needs.</a:t>
            </a:r>
          </a:p>
        </p:txBody>
      </p:sp>
      <p:sp>
        <p:nvSpPr>
          <p:cNvPr id="2890" name="Text 11"/>
          <p:cNvSpPr txBox="1"/>
          <p:nvPr/>
        </p:nvSpPr>
        <p:spPr>
          <a:xfrm>
            <a:off x="319664" y="4460665"/>
            <a:ext cx="1978106" cy="3152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3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917"/>
              <a:t>Cluster Sampling</a:t>
            </a:r>
          </a:p>
        </p:txBody>
      </p:sp>
      <p:sp>
        <p:nvSpPr>
          <p:cNvPr id="2891" name="Text 12"/>
          <p:cNvSpPr txBox="1"/>
          <p:nvPr/>
        </p:nvSpPr>
        <p:spPr>
          <a:xfrm>
            <a:off x="319664" y="4869347"/>
            <a:ext cx="2240278" cy="10409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583"/>
              <a:t>Randomly select entire groups (randomly choose 3 classrooms)</a:t>
            </a:r>
          </a:p>
        </p:txBody>
      </p:sp>
      <p:sp>
        <p:nvSpPr>
          <p:cNvPr id="2892" name="Line"/>
          <p:cNvSpPr/>
          <p:nvPr/>
        </p:nvSpPr>
        <p:spPr>
          <a:xfrm flipV="1">
            <a:off x="6096000" y="900378"/>
            <a:ext cx="0" cy="5057245"/>
          </a:xfrm>
          <a:prstGeom prst="line">
            <a:avLst/>
          </a:prstGeom>
          <a:ln w="19050">
            <a:solidFill>
              <a:schemeClr val="accent1"/>
            </a:solidFill>
            <a:miter/>
          </a:ln>
        </p:spPr>
        <p:txBody>
          <a:bodyPr lIns="38099" rIns="38099"/>
          <a:lstStyle/>
          <a:p>
            <a:endParaRPr sz="1500"/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4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278848" cy="6419850"/>
          </a:xfrm>
          <a:prstGeom prst="rect">
            <a:avLst/>
          </a:prstGeom>
          <a:ln w="12700">
            <a:miter lim="400000"/>
          </a:ln>
        </p:spPr>
      </p:pic>
      <p:sp>
        <p:nvSpPr>
          <p:cNvPr id="2895" name="Text 0"/>
          <p:cNvSpPr txBox="1"/>
          <p:nvPr/>
        </p:nvSpPr>
        <p:spPr>
          <a:xfrm>
            <a:off x="5131792" y="439837"/>
            <a:ext cx="3597139" cy="54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4700"/>
              </a:lnSpc>
              <a:defRPr sz="37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083"/>
              <a:t>Sampling Examples</a:t>
            </a:r>
          </a:p>
        </p:txBody>
      </p:sp>
      <p:sp>
        <p:nvSpPr>
          <p:cNvPr id="2896" name="Shape 1"/>
          <p:cNvSpPr/>
          <p:nvPr/>
        </p:nvSpPr>
        <p:spPr>
          <a:xfrm>
            <a:off x="5131792" y="1179512"/>
            <a:ext cx="6500417" cy="1190130"/>
          </a:xfrm>
          <a:prstGeom prst="roundRect">
            <a:avLst>
              <a:gd name="adj" fmla="val 5645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pPr>
              <a:defRPr sz="2000"/>
            </a:pPr>
            <a:endParaRPr sz="1667"/>
          </a:p>
        </p:txBody>
      </p:sp>
      <p:sp>
        <p:nvSpPr>
          <p:cNvPr id="2897" name="Text 2"/>
          <p:cNvSpPr txBox="1"/>
          <p:nvPr/>
        </p:nvSpPr>
        <p:spPr>
          <a:xfrm>
            <a:off x="5298083" y="1345804"/>
            <a:ext cx="681277" cy="269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667"/>
              <a:t>Survey</a:t>
            </a:r>
          </a:p>
        </p:txBody>
      </p:sp>
      <p:sp>
        <p:nvSpPr>
          <p:cNvPr id="2898" name="Text 3"/>
          <p:cNvSpPr txBox="1"/>
          <p:nvPr/>
        </p:nvSpPr>
        <p:spPr>
          <a:xfrm>
            <a:off x="5298083" y="1691581"/>
            <a:ext cx="6167835" cy="5950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400"/>
              </a:lnSpc>
              <a:defRPr sz="20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667"/>
              <a:t>Instead of surveying all 1,200 students in a school, randomly select 120 students across all grade levels.</a:t>
            </a:r>
          </a:p>
        </p:txBody>
      </p:sp>
      <p:sp>
        <p:nvSpPr>
          <p:cNvPr id="2899" name="Shape 4"/>
          <p:cNvSpPr/>
          <p:nvPr/>
        </p:nvSpPr>
        <p:spPr>
          <a:xfrm>
            <a:off x="5131792" y="2529582"/>
            <a:ext cx="6500417" cy="1190130"/>
          </a:xfrm>
          <a:prstGeom prst="roundRect">
            <a:avLst>
              <a:gd name="adj" fmla="val 5645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pPr>
              <a:defRPr sz="2000"/>
            </a:pPr>
            <a:endParaRPr sz="1667"/>
          </a:p>
        </p:txBody>
      </p:sp>
      <p:sp>
        <p:nvSpPr>
          <p:cNvPr id="2900" name="Text 5"/>
          <p:cNvSpPr txBox="1"/>
          <p:nvPr/>
        </p:nvSpPr>
        <p:spPr>
          <a:xfrm>
            <a:off x="5298083" y="2695872"/>
            <a:ext cx="1729641" cy="269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667"/>
              <a:t>Plant Experiment</a:t>
            </a:r>
          </a:p>
        </p:txBody>
      </p:sp>
      <p:sp>
        <p:nvSpPr>
          <p:cNvPr id="2901" name="Text 6"/>
          <p:cNvSpPr txBox="1"/>
          <p:nvPr/>
        </p:nvSpPr>
        <p:spPr>
          <a:xfrm>
            <a:off x="5298083" y="3041649"/>
            <a:ext cx="6167835" cy="5950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400"/>
              </a:lnSpc>
              <a:defRPr sz="20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667"/>
              <a:t>Use 30 plants of the same species and size, randomly assigning 15 to experimental and 15 to control groups.</a:t>
            </a:r>
          </a:p>
        </p:txBody>
      </p:sp>
      <p:sp>
        <p:nvSpPr>
          <p:cNvPr id="2902" name="Shape 7"/>
          <p:cNvSpPr/>
          <p:nvPr/>
        </p:nvSpPr>
        <p:spPr>
          <a:xfrm>
            <a:off x="5131792" y="3879652"/>
            <a:ext cx="6500417" cy="1190130"/>
          </a:xfrm>
          <a:prstGeom prst="roundRect">
            <a:avLst>
              <a:gd name="adj" fmla="val 5645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pPr>
              <a:defRPr sz="2000"/>
            </a:pPr>
            <a:endParaRPr sz="1667"/>
          </a:p>
        </p:txBody>
      </p:sp>
      <p:sp>
        <p:nvSpPr>
          <p:cNvPr id="2903" name="Text 8"/>
          <p:cNvSpPr txBox="1"/>
          <p:nvPr/>
        </p:nvSpPr>
        <p:spPr>
          <a:xfrm>
            <a:off x="5298083" y="4045943"/>
            <a:ext cx="1215076" cy="269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667"/>
              <a:t>Observation</a:t>
            </a:r>
          </a:p>
        </p:txBody>
      </p:sp>
      <p:sp>
        <p:nvSpPr>
          <p:cNvPr id="2904" name="Text 9"/>
          <p:cNvSpPr txBox="1"/>
          <p:nvPr/>
        </p:nvSpPr>
        <p:spPr>
          <a:xfrm>
            <a:off x="5298083" y="4391718"/>
            <a:ext cx="6167835" cy="5950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400"/>
              </a:lnSpc>
              <a:defRPr sz="20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667"/>
              <a:t>Instead of observing a park 24/7, sample time periods by observing for 1 hour on mornings and 1 hour on afternoons.</a:t>
            </a:r>
          </a:p>
        </p:txBody>
      </p:sp>
      <p:sp>
        <p:nvSpPr>
          <p:cNvPr id="2905" name="Shape 10"/>
          <p:cNvSpPr/>
          <p:nvPr/>
        </p:nvSpPr>
        <p:spPr>
          <a:xfrm>
            <a:off x="5131792" y="5229721"/>
            <a:ext cx="6500417" cy="1190129"/>
          </a:xfrm>
          <a:prstGeom prst="roundRect">
            <a:avLst>
              <a:gd name="adj" fmla="val 5645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pPr>
              <a:defRPr sz="2000"/>
            </a:pPr>
            <a:endParaRPr sz="1667"/>
          </a:p>
        </p:txBody>
      </p:sp>
      <p:sp>
        <p:nvSpPr>
          <p:cNvPr id="2906" name="Text 11"/>
          <p:cNvSpPr txBox="1"/>
          <p:nvPr/>
        </p:nvSpPr>
        <p:spPr>
          <a:xfrm>
            <a:off x="5298082" y="5396012"/>
            <a:ext cx="1939634" cy="269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667"/>
              <a:t>Historical Research</a:t>
            </a:r>
          </a:p>
        </p:txBody>
      </p:sp>
      <p:sp>
        <p:nvSpPr>
          <p:cNvPr id="2907" name="Text 12"/>
          <p:cNvSpPr txBox="1"/>
          <p:nvPr/>
        </p:nvSpPr>
        <p:spPr>
          <a:xfrm>
            <a:off x="5298083" y="5741788"/>
            <a:ext cx="6167835" cy="5950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400"/>
              </a:lnSpc>
              <a:defRPr sz="20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667"/>
              <a:t>Instead of reading every newspaper from 100 years, sample by examining the first issue of each month from selected years.</a:t>
            </a: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9" name="Text 0"/>
          <p:cNvSpPr txBox="1"/>
          <p:nvPr/>
        </p:nvSpPr>
        <p:spPr>
          <a:xfrm>
            <a:off x="661491" y="1135658"/>
            <a:ext cx="3100208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Sampling Bias</a:t>
            </a:r>
          </a:p>
        </p:txBody>
      </p:sp>
      <p:sp>
        <p:nvSpPr>
          <p:cNvPr id="2910" name="Text 1"/>
          <p:cNvSpPr txBox="1"/>
          <p:nvPr/>
        </p:nvSpPr>
        <p:spPr>
          <a:xfrm>
            <a:off x="661491" y="2198786"/>
            <a:ext cx="2428550" cy="310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1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750"/>
              <a:t>What is Sampling Bias?</a:t>
            </a:r>
          </a:p>
        </p:txBody>
      </p:sp>
      <p:sp>
        <p:nvSpPr>
          <p:cNvPr id="2911" name="Text 2"/>
          <p:cNvSpPr txBox="1"/>
          <p:nvPr/>
        </p:nvSpPr>
        <p:spPr>
          <a:xfrm>
            <a:off x="661491" y="2683073"/>
            <a:ext cx="3315098" cy="1046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750"/>
              <a:t>When your sample doesn't fairly represent the population you're studying.</a:t>
            </a:r>
          </a:p>
        </p:txBody>
      </p:sp>
      <p:sp>
        <p:nvSpPr>
          <p:cNvPr id="2912" name="Text 3"/>
          <p:cNvSpPr txBox="1"/>
          <p:nvPr/>
        </p:nvSpPr>
        <p:spPr>
          <a:xfrm>
            <a:off x="661491" y="3760391"/>
            <a:ext cx="3315098" cy="6876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750"/>
              <a:t>This can skew results and lead to incorrect conclusions.</a:t>
            </a:r>
          </a:p>
        </p:txBody>
      </p:sp>
      <p:sp>
        <p:nvSpPr>
          <p:cNvPr id="2913" name="Text 4"/>
          <p:cNvSpPr txBox="1"/>
          <p:nvPr/>
        </p:nvSpPr>
        <p:spPr>
          <a:xfrm>
            <a:off x="4444106" y="2198786"/>
            <a:ext cx="902491" cy="310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1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750"/>
              <a:t>Example</a:t>
            </a:r>
          </a:p>
        </p:txBody>
      </p:sp>
      <p:sp>
        <p:nvSpPr>
          <p:cNvPr id="2914" name="Text 5"/>
          <p:cNvSpPr txBox="1"/>
          <p:nvPr/>
        </p:nvSpPr>
        <p:spPr>
          <a:xfrm>
            <a:off x="4444106" y="2683073"/>
            <a:ext cx="3315098" cy="1405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750"/>
              <a:t>Surveying only cooking club members about school lunch preferences would give biased results.</a:t>
            </a:r>
          </a:p>
        </p:txBody>
      </p:sp>
      <p:sp>
        <p:nvSpPr>
          <p:cNvPr id="2915" name="Text 6"/>
          <p:cNvSpPr txBox="1"/>
          <p:nvPr/>
        </p:nvSpPr>
        <p:spPr>
          <a:xfrm>
            <a:off x="4444106" y="4062809"/>
            <a:ext cx="3315098" cy="1046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750"/>
              <a:t>These students likely have different food interests than the general student body.</a:t>
            </a:r>
          </a:p>
        </p:txBody>
      </p:sp>
      <p:pic>
        <p:nvPicPr>
          <p:cNvPr id="2916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6723" y="2222401"/>
            <a:ext cx="3315098" cy="2209999"/>
          </a:xfrm>
          <a:prstGeom prst="rect">
            <a:avLst/>
          </a:prstGeom>
          <a:ln w="12700">
            <a:miter lim="400000"/>
          </a:ln>
        </p:spPr>
      </p:pic>
      <p:sp>
        <p:nvSpPr>
          <p:cNvPr id="2917" name="Text 7"/>
          <p:cNvSpPr txBox="1"/>
          <p:nvPr/>
        </p:nvSpPr>
        <p:spPr>
          <a:xfrm>
            <a:off x="8226723" y="4645024"/>
            <a:ext cx="3315098" cy="1046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2800"/>
              </a:lnSpc>
              <a:defRPr sz="2100" i="1">
                <a:solidFill>
                  <a:srgbClr val="941751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750"/>
              <a:t>Even with limited resources, try to broaden your sample to reduce obvious biases.</a:t>
            </a: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9" name="Image 0" descr="Image 0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729044"/>
            <a:ext cx="12192000" cy="2362698"/>
          </a:xfrm>
          <a:prstGeom prst="rect">
            <a:avLst/>
          </a:prstGeom>
          <a:ln w="12700">
            <a:miter lim="400000"/>
          </a:ln>
        </p:spPr>
      </p:pic>
      <p:sp>
        <p:nvSpPr>
          <p:cNvPr id="2920" name="Text 0"/>
          <p:cNvSpPr txBox="1"/>
          <p:nvPr/>
        </p:nvSpPr>
        <p:spPr>
          <a:xfrm>
            <a:off x="670101" y="3091741"/>
            <a:ext cx="5180905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Practical Sampling Tips</a:t>
            </a:r>
          </a:p>
        </p:txBody>
      </p:sp>
      <p:sp>
        <p:nvSpPr>
          <p:cNvPr id="2921" name="Shape 1"/>
          <p:cNvSpPr/>
          <p:nvPr/>
        </p:nvSpPr>
        <p:spPr>
          <a:xfrm>
            <a:off x="661492" y="3779936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2922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384" y="3815358"/>
            <a:ext cx="283469" cy="354410"/>
          </a:xfrm>
          <a:prstGeom prst="rect">
            <a:avLst/>
          </a:prstGeom>
          <a:ln w="12700">
            <a:miter lim="400000"/>
          </a:ln>
        </p:spPr>
      </p:pic>
      <p:sp>
        <p:nvSpPr>
          <p:cNvPr id="2923" name="Text 2"/>
          <p:cNvSpPr txBox="1"/>
          <p:nvPr/>
        </p:nvSpPr>
        <p:spPr>
          <a:xfrm>
            <a:off x="1275754" y="3844825"/>
            <a:ext cx="2228174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Broaden Your Reach</a:t>
            </a:r>
          </a:p>
        </p:txBody>
      </p:sp>
      <p:sp>
        <p:nvSpPr>
          <p:cNvPr id="2924" name="Text 3"/>
          <p:cNvSpPr txBox="1"/>
          <p:nvPr/>
        </p:nvSpPr>
        <p:spPr>
          <a:xfrm>
            <a:off x="1275754" y="4253507"/>
            <a:ext cx="4702177" cy="6819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583"/>
              <a:t>Instead of just surveying friends, include students from different classes or groups.</a:t>
            </a:r>
          </a:p>
        </p:txBody>
      </p:sp>
      <p:sp>
        <p:nvSpPr>
          <p:cNvPr id="2925" name="Shape 4"/>
          <p:cNvSpPr/>
          <p:nvPr/>
        </p:nvSpPr>
        <p:spPr>
          <a:xfrm>
            <a:off x="6214169" y="3779936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2926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5061" y="3815358"/>
            <a:ext cx="283469" cy="354410"/>
          </a:xfrm>
          <a:prstGeom prst="rect">
            <a:avLst/>
          </a:prstGeom>
          <a:ln w="12700">
            <a:miter lim="400000"/>
          </a:ln>
        </p:spPr>
      </p:pic>
      <p:sp>
        <p:nvSpPr>
          <p:cNvPr id="2927" name="Text 5"/>
          <p:cNvSpPr txBox="1"/>
          <p:nvPr/>
        </p:nvSpPr>
        <p:spPr>
          <a:xfrm>
            <a:off x="6828433" y="3844825"/>
            <a:ext cx="2414122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Use Random Selection</a:t>
            </a:r>
          </a:p>
        </p:txBody>
      </p:sp>
      <p:sp>
        <p:nvSpPr>
          <p:cNvPr id="2928" name="Text 6"/>
          <p:cNvSpPr txBox="1"/>
          <p:nvPr/>
        </p:nvSpPr>
        <p:spPr>
          <a:xfrm>
            <a:off x="6828433" y="4253507"/>
            <a:ext cx="4702176" cy="6819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583"/>
              <a:t>When possible, use methods like drawing names or random number generators to select participants.</a:t>
            </a:r>
          </a:p>
        </p:txBody>
      </p:sp>
      <p:sp>
        <p:nvSpPr>
          <p:cNvPr id="2929" name="Shape 7"/>
          <p:cNvSpPr/>
          <p:nvPr/>
        </p:nvSpPr>
        <p:spPr>
          <a:xfrm>
            <a:off x="661492" y="5236369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2930" name="Image 3" descr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384" y="5271789"/>
            <a:ext cx="283469" cy="354410"/>
          </a:xfrm>
          <a:prstGeom prst="rect">
            <a:avLst/>
          </a:prstGeom>
          <a:ln w="12700">
            <a:miter lim="400000"/>
          </a:ln>
        </p:spPr>
      </p:pic>
      <p:sp>
        <p:nvSpPr>
          <p:cNvPr id="2931" name="Text 8"/>
          <p:cNvSpPr txBox="1"/>
          <p:nvPr/>
        </p:nvSpPr>
        <p:spPr>
          <a:xfrm>
            <a:off x="1275754" y="5301257"/>
            <a:ext cx="1904367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Consider Balance</a:t>
            </a:r>
          </a:p>
        </p:txBody>
      </p:sp>
      <p:sp>
        <p:nvSpPr>
          <p:cNvPr id="2932" name="Text 9"/>
          <p:cNvSpPr txBox="1"/>
          <p:nvPr/>
        </p:nvSpPr>
        <p:spPr>
          <a:xfrm>
            <a:off x="1275754" y="5709940"/>
            <a:ext cx="4702177" cy="6819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583"/>
              <a:t>Try to include representation from important subgroups (different grades, genders, etc.).</a:t>
            </a:r>
          </a:p>
        </p:txBody>
      </p:sp>
      <p:sp>
        <p:nvSpPr>
          <p:cNvPr id="2933" name="Shape 10"/>
          <p:cNvSpPr/>
          <p:nvPr/>
        </p:nvSpPr>
        <p:spPr>
          <a:xfrm>
            <a:off x="6214169" y="5236369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2934" name="Image 4" descr="Imag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5061" y="5271789"/>
            <a:ext cx="283469" cy="354410"/>
          </a:xfrm>
          <a:prstGeom prst="rect">
            <a:avLst/>
          </a:prstGeom>
          <a:ln w="12700">
            <a:miter lim="400000"/>
          </a:ln>
        </p:spPr>
      </p:pic>
      <p:sp>
        <p:nvSpPr>
          <p:cNvPr id="2935" name="Text 11"/>
          <p:cNvSpPr txBox="1"/>
          <p:nvPr/>
        </p:nvSpPr>
        <p:spPr>
          <a:xfrm>
            <a:off x="6828433" y="5301257"/>
            <a:ext cx="2763577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Acknowledge Limitations</a:t>
            </a:r>
          </a:p>
        </p:txBody>
      </p:sp>
      <p:sp>
        <p:nvSpPr>
          <p:cNvPr id="2936" name="Text 12"/>
          <p:cNvSpPr txBox="1"/>
          <p:nvPr/>
        </p:nvSpPr>
        <p:spPr>
          <a:xfrm>
            <a:off x="6828433" y="5709940"/>
            <a:ext cx="4702176" cy="6819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583"/>
              <a:t>Be transparent about who your sample represents and any potential biases.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8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0879" y="886320"/>
            <a:ext cx="3981120" cy="5971680"/>
          </a:xfrm>
          <a:prstGeom prst="rect">
            <a:avLst/>
          </a:prstGeom>
          <a:ln w="12700">
            <a:miter lim="400000"/>
          </a:ln>
        </p:spPr>
      </p:pic>
      <p:sp>
        <p:nvSpPr>
          <p:cNvPr id="2939" name="Text 0"/>
          <p:cNvSpPr txBox="1"/>
          <p:nvPr/>
        </p:nvSpPr>
        <p:spPr>
          <a:xfrm>
            <a:off x="599381" y="886320"/>
            <a:ext cx="4841069" cy="5774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000"/>
              </a:lnSpc>
              <a:defRPr sz="4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333"/>
              <a:t>Materials and Resources</a:t>
            </a:r>
          </a:p>
        </p:txBody>
      </p:sp>
      <p:pic>
        <p:nvPicPr>
          <p:cNvPr id="2940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381" y="2497658"/>
            <a:ext cx="428129" cy="428130"/>
          </a:xfrm>
          <a:prstGeom prst="rect">
            <a:avLst/>
          </a:prstGeom>
          <a:ln w="12700">
            <a:miter lim="400000"/>
          </a:ln>
        </p:spPr>
      </p:pic>
      <p:sp>
        <p:nvSpPr>
          <p:cNvPr id="2941" name="Text 1"/>
          <p:cNvSpPr txBox="1"/>
          <p:nvPr/>
        </p:nvSpPr>
        <p:spPr>
          <a:xfrm>
            <a:off x="1325760" y="2573031"/>
            <a:ext cx="1476366" cy="32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27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250"/>
              <a:t>Equipment</a:t>
            </a:r>
          </a:p>
        </p:txBody>
      </p:sp>
      <p:sp>
        <p:nvSpPr>
          <p:cNvPr id="2942" name="Text 4"/>
          <p:cNvSpPr txBox="1"/>
          <p:nvPr/>
        </p:nvSpPr>
        <p:spPr>
          <a:xfrm>
            <a:off x="5743701" y="4332896"/>
            <a:ext cx="934551" cy="32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28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333"/>
              <a:t>People</a:t>
            </a:r>
          </a:p>
        </p:txBody>
      </p:sp>
      <p:pic>
        <p:nvPicPr>
          <p:cNvPr id="2943" name="Image 3" descr="Imag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9933" y="2497658"/>
            <a:ext cx="428130" cy="428130"/>
          </a:xfrm>
          <a:prstGeom prst="rect">
            <a:avLst/>
          </a:prstGeom>
          <a:ln w="12700">
            <a:miter lim="400000"/>
          </a:ln>
        </p:spPr>
      </p:pic>
      <p:sp>
        <p:nvSpPr>
          <p:cNvPr id="2944" name="Text 6"/>
          <p:cNvSpPr txBox="1"/>
          <p:nvPr/>
        </p:nvSpPr>
        <p:spPr>
          <a:xfrm>
            <a:off x="5685731" y="2430141"/>
            <a:ext cx="2417398" cy="64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sz="28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333"/>
              <a:t>Access &amp; Permissions</a:t>
            </a:r>
          </a:p>
        </p:txBody>
      </p:sp>
      <p:pic>
        <p:nvPicPr>
          <p:cNvPr id="2945" name="Image 4" descr="Imag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381" y="4159943"/>
            <a:ext cx="428129" cy="428130"/>
          </a:xfrm>
          <a:prstGeom prst="rect">
            <a:avLst/>
          </a:prstGeom>
          <a:ln w="12700">
            <a:miter lim="400000"/>
          </a:ln>
        </p:spPr>
      </p:pic>
      <p:sp>
        <p:nvSpPr>
          <p:cNvPr id="2946" name="Text 8"/>
          <p:cNvSpPr txBox="1"/>
          <p:nvPr/>
        </p:nvSpPr>
        <p:spPr>
          <a:xfrm>
            <a:off x="1431593" y="4235317"/>
            <a:ext cx="948978" cy="32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27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250"/>
              <a:t>Budget</a:t>
            </a:r>
          </a:p>
        </p:txBody>
      </p:sp>
      <p:pic>
        <p:nvPicPr>
          <p:cNvPr id="2947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1683" y="4258740"/>
            <a:ext cx="428130" cy="42813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9" name="Image 0" descr="Image 0"/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715367"/>
            <a:ext cx="12192000" cy="2362697"/>
          </a:xfrm>
          <a:prstGeom prst="rect">
            <a:avLst/>
          </a:prstGeom>
          <a:ln w="12700">
            <a:miter lim="400000"/>
          </a:ln>
        </p:spPr>
      </p:pic>
      <p:sp>
        <p:nvSpPr>
          <p:cNvPr id="2950" name="Text 0"/>
          <p:cNvSpPr txBox="1"/>
          <p:nvPr/>
        </p:nvSpPr>
        <p:spPr>
          <a:xfrm>
            <a:off x="661492" y="3056772"/>
            <a:ext cx="4477188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Equipment Planning</a:t>
            </a:r>
          </a:p>
        </p:txBody>
      </p:sp>
      <p:sp>
        <p:nvSpPr>
          <p:cNvPr id="2951" name="Shape 1"/>
          <p:cNvSpPr/>
          <p:nvPr/>
        </p:nvSpPr>
        <p:spPr>
          <a:xfrm>
            <a:off x="661492" y="3779936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2952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384" y="3815358"/>
            <a:ext cx="283469" cy="354410"/>
          </a:xfrm>
          <a:prstGeom prst="rect">
            <a:avLst/>
          </a:prstGeom>
          <a:ln w="12700">
            <a:miter lim="400000"/>
          </a:ln>
        </p:spPr>
      </p:pic>
      <p:sp>
        <p:nvSpPr>
          <p:cNvPr id="2953" name="Text 2"/>
          <p:cNvSpPr txBox="1"/>
          <p:nvPr/>
        </p:nvSpPr>
        <p:spPr>
          <a:xfrm>
            <a:off x="1275754" y="3844825"/>
            <a:ext cx="1271182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Technology</a:t>
            </a:r>
          </a:p>
        </p:txBody>
      </p:sp>
      <p:sp>
        <p:nvSpPr>
          <p:cNvPr id="2954" name="Text 3"/>
          <p:cNvSpPr txBox="1"/>
          <p:nvPr/>
        </p:nvSpPr>
        <p:spPr>
          <a:xfrm>
            <a:off x="1275754" y="4253507"/>
            <a:ext cx="4702177" cy="676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Computers, tablets, cameras, recording devices, or specialized equipment.</a:t>
            </a:r>
          </a:p>
        </p:txBody>
      </p:sp>
      <p:sp>
        <p:nvSpPr>
          <p:cNvPr id="2955" name="Shape 4"/>
          <p:cNvSpPr/>
          <p:nvPr/>
        </p:nvSpPr>
        <p:spPr>
          <a:xfrm>
            <a:off x="6214169" y="3779936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2956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5061" y="3815358"/>
            <a:ext cx="283469" cy="354410"/>
          </a:xfrm>
          <a:prstGeom prst="rect">
            <a:avLst/>
          </a:prstGeom>
          <a:ln w="12700">
            <a:miter lim="400000"/>
          </a:ln>
        </p:spPr>
      </p:pic>
      <p:sp>
        <p:nvSpPr>
          <p:cNvPr id="2957" name="Text 5"/>
          <p:cNvSpPr txBox="1"/>
          <p:nvPr/>
        </p:nvSpPr>
        <p:spPr>
          <a:xfrm>
            <a:off x="6828433" y="3844825"/>
            <a:ext cx="1396216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Lab Supplies</a:t>
            </a:r>
          </a:p>
        </p:txBody>
      </p:sp>
      <p:sp>
        <p:nvSpPr>
          <p:cNvPr id="2958" name="Text 6"/>
          <p:cNvSpPr txBox="1"/>
          <p:nvPr/>
        </p:nvSpPr>
        <p:spPr>
          <a:xfrm>
            <a:off x="6828433" y="4253507"/>
            <a:ext cx="4702176" cy="676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Chemicals, test tubes, measuring tools, or experiment-specific materials.</a:t>
            </a:r>
          </a:p>
        </p:txBody>
      </p:sp>
      <p:sp>
        <p:nvSpPr>
          <p:cNvPr id="2959" name="Shape 7"/>
          <p:cNvSpPr/>
          <p:nvPr/>
        </p:nvSpPr>
        <p:spPr>
          <a:xfrm>
            <a:off x="661492" y="5236369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2960" name="Image 3" descr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384" y="5271789"/>
            <a:ext cx="283469" cy="354410"/>
          </a:xfrm>
          <a:prstGeom prst="rect">
            <a:avLst/>
          </a:prstGeom>
          <a:ln w="12700">
            <a:miter lim="400000"/>
          </a:ln>
        </p:spPr>
      </p:pic>
      <p:sp>
        <p:nvSpPr>
          <p:cNvPr id="2961" name="Text 8"/>
          <p:cNvSpPr txBox="1"/>
          <p:nvPr/>
        </p:nvSpPr>
        <p:spPr>
          <a:xfrm>
            <a:off x="1275754" y="5301257"/>
            <a:ext cx="2351606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Documentation Tools</a:t>
            </a:r>
          </a:p>
        </p:txBody>
      </p:sp>
      <p:sp>
        <p:nvSpPr>
          <p:cNvPr id="2962" name="Text 9"/>
          <p:cNvSpPr txBox="1"/>
          <p:nvPr/>
        </p:nvSpPr>
        <p:spPr>
          <a:xfrm>
            <a:off x="1275754" y="5709940"/>
            <a:ext cx="4702177" cy="676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Survey forms, observation checklists, interview guides, or data collection sheets.</a:t>
            </a:r>
          </a:p>
        </p:txBody>
      </p:sp>
      <p:sp>
        <p:nvSpPr>
          <p:cNvPr id="2963" name="Shape 10"/>
          <p:cNvSpPr/>
          <p:nvPr/>
        </p:nvSpPr>
        <p:spPr>
          <a:xfrm>
            <a:off x="6214169" y="5236369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2964" name="Image 4" descr="Imag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5061" y="5271789"/>
            <a:ext cx="283469" cy="354410"/>
          </a:xfrm>
          <a:prstGeom prst="rect">
            <a:avLst/>
          </a:prstGeom>
          <a:ln w="12700">
            <a:miter lim="400000"/>
          </a:ln>
        </p:spPr>
      </p:pic>
      <p:sp>
        <p:nvSpPr>
          <p:cNvPr id="2965" name="Text 11"/>
          <p:cNvSpPr txBox="1"/>
          <p:nvPr/>
        </p:nvSpPr>
        <p:spPr>
          <a:xfrm>
            <a:off x="6828433" y="5301257"/>
            <a:ext cx="2896627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Measurement Instruments</a:t>
            </a:r>
          </a:p>
        </p:txBody>
      </p:sp>
      <p:sp>
        <p:nvSpPr>
          <p:cNvPr id="2966" name="Text 12"/>
          <p:cNvSpPr txBox="1"/>
          <p:nvPr/>
        </p:nvSpPr>
        <p:spPr>
          <a:xfrm>
            <a:off x="6828433" y="5709940"/>
            <a:ext cx="4702176" cy="676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Stopwatches, rulers, scales, thermometers, or other measuring devices.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2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2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2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2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53" grpId="0" animBg="1" advAuto="0"/>
      <p:bldP spid="2954" grpId="0" animBg="1" advAuto="0"/>
      <p:bldP spid="2957" grpId="0" animBg="1" advAuto="0"/>
      <p:bldP spid="2958" grpId="0" animBg="1" advAuto="0"/>
      <p:bldP spid="2961" grpId="0" animBg="1" advAuto="0"/>
      <p:bldP spid="2962" grpId="0" animBg="1" advAuto="0"/>
      <p:bldP spid="2965" grpId="0" animBg="1" advAuto="0"/>
      <p:bldP spid="2966" grpId="0" animBg="1" advAuto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8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313583" cy="6472622"/>
          </a:xfrm>
          <a:prstGeom prst="rect">
            <a:avLst/>
          </a:prstGeom>
          <a:ln w="12700">
            <a:miter lim="400000"/>
          </a:ln>
        </p:spPr>
      </p:pic>
      <p:sp>
        <p:nvSpPr>
          <p:cNvPr id="2969" name="Text 0"/>
          <p:cNvSpPr txBox="1"/>
          <p:nvPr/>
        </p:nvSpPr>
        <p:spPr>
          <a:xfrm>
            <a:off x="5153718" y="457001"/>
            <a:ext cx="4409862" cy="565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4900"/>
              </a:lnSpc>
              <a:defRPr sz="39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250"/>
              <a:t>Budget Considerations</a:t>
            </a:r>
          </a:p>
        </p:txBody>
      </p:sp>
      <p:sp>
        <p:nvSpPr>
          <p:cNvPr id="2970" name="Shape 1"/>
          <p:cNvSpPr/>
          <p:nvPr/>
        </p:nvSpPr>
        <p:spPr>
          <a:xfrm>
            <a:off x="5153718" y="1225649"/>
            <a:ext cx="6456562" cy="1236267"/>
          </a:xfrm>
          <a:prstGeom prst="roundRect">
            <a:avLst>
              <a:gd name="adj" fmla="val 5647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pPr>
              <a:defRPr sz="2000"/>
            </a:pPr>
            <a:endParaRPr sz="1667"/>
          </a:p>
        </p:txBody>
      </p:sp>
      <p:sp>
        <p:nvSpPr>
          <p:cNvPr id="2971" name="Text 2"/>
          <p:cNvSpPr txBox="1"/>
          <p:nvPr/>
        </p:nvSpPr>
        <p:spPr>
          <a:xfrm>
            <a:off x="5326260" y="1398190"/>
            <a:ext cx="2103140" cy="276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sz="19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583"/>
              <a:t>Low-Cost Alternatives</a:t>
            </a:r>
          </a:p>
        </p:txBody>
      </p:sp>
      <p:sp>
        <p:nvSpPr>
          <p:cNvPr id="2972" name="Text 3"/>
          <p:cNvSpPr txBox="1"/>
          <p:nvPr/>
        </p:nvSpPr>
        <p:spPr>
          <a:xfrm>
            <a:off x="5326260" y="1757561"/>
            <a:ext cx="6111480" cy="617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sz="20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667"/>
              <a:t>Look for free or inexpensive substitutes for costly materials. Borrow equipment when possible.</a:t>
            </a:r>
          </a:p>
        </p:txBody>
      </p:sp>
      <p:sp>
        <p:nvSpPr>
          <p:cNvPr id="2973" name="Shape 4"/>
          <p:cNvSpPr/>
          <p:nvPr/>
        </p:nvSpPr>
        <p:spPr>
          <a:xfrm>
            <a:off x="5153718" y="2628107"/>
            <a:ext cx="6456562" cy="970360"/>
          </a:xfrm>
          <a:prstGeom prst="roundRect">
            <a:avLst>
              <a:gd name="adj" fmla="val 7194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pPr>
              <a:defRPr sz="2000"/>
            </a:pPr>
            <a:endParaRPr sz="1667"/>
          </a:p>
        </p:txBody>
      </p:sp>
      <p:sp>
        <p:nvSpPr>
          <p:cNvPr id="2974" name="Text 5"/>
          <p:cNvSpPr txBox="1"/>
          <p:nvPr/>
        </p:nvSpPr>
        <p:spPr>
          <a:xfrm>
            <a:off x="5287142" y="2720771"/>
            <a:ext cx="1732847" cy="279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sz="2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667"/>
              <a:t>School Resources</a:t>
            </a:r>
          </a:p>
        </p:txBody>
      </p:sp>
      <p:sp>
        <p:nvSpPr>
          <p:cNvPr id="2975" name="Text 6"/>
          <p:cNvSpPr txBox="1"/>
          <p:nvPr/>
        </p:nvSpPr>
        <p:spPr>
          <a:xfrm>
            <a:off x="5298039" y="3027064"/>
            <a:ext cx="5823163" cy="617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sz="20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667"/>
              <a:t>Check what supplies your school already has available for student projects.</a:t>
            </a:r>
          </a:p>
        </p:txBody>
      </p:sp>
      <p:sp>
        <p:nvSpPr>
          <p:cNvPr id="2976" name="Shape 7"/>
          <p:cNvSpPr/>
          <p:nvPr/>
        </p:nvSpPr>
        <p:spPr>
          <a:xfrm>
            <a:off x="5153718" y="3764656"/>
            <a:ext cx="6456562" cy="1236267"/>
          </a:xfrm>
          <a:prstGeom prst="roundRect">
            <a:avLst>
              <a:gd name="adj" fmla="val 5647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pPr>
              <a:defRPr sz="2000"/>
            </a:pPr>
            <a:endParaRPr sz="1667"/>
          </a:p>
        </p:txBody>
      </p:sp>
      <p:sp>
        <p:nvSpPr>
          <p:cNvPr id="2977" name="Text 8"/>
          <p:cNvSpPr txBox="1"/>
          <p:nvPr/>
        </p:nvSpPr>
        <p:spPr>
          <a:xfrm>
            <a:off x="5326261" y="3937198"/>
            <a:ext cx="1675139" cy="279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sz="2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667"/>
              <a:t>Funding Options</a:t>
            </a:r>
          </a:p>
        </p:txBody>
      </p:sp>
      <p:sp>
        <p:nvSpPr>
          <p:cNvPr id="2978" name="Text 9"/>
          <p:cNvSpPr txBox="1"/>
          <p:nvPr/>
        </p:nvSpPr>
        <p:spPr>
          <a:xfrm>
            <a:off x="5326260" y="4296569"/>
            <a:ext cx="6111480" cy="617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sz="20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667"/>
              <a:t>Consider mini-grants from school clubs, PTAs, or community organizations for special projects.</a:t>
            </a:r>
          </a:p>
        </p:txBody>
      </p:sp>
      <p:sp>
        <p:nvSpPr>
          <p:cNvPr id="2979" name="Shape 10"/>
          <p:cNvSpPr/>
          <p:nvPr/>
        </p:nvSpPr>
        <p:spPr>
          <a:xfrm>
            <a:off x="5153718" y="5167114"/>
            <a:ext cx="6456562" cy="1236267"/>
          </a:xfrm>
          <a:prstGeom prst="roundRect">
            <a:avLst>
              <a:gd name="adj" fmla="val 5647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pPr>
              <a:defRPr sz="2000"/>
            </a:pPr>
            <a:endParaRPr sz="1667"/>
          </a:p>
        </p:txBody>
      </p:sp>
      <p:sp>
        <p:nvSpPr>
          <p:cNvPr id="2980" name="Text 11"/>
          <p:cNvSpPr txBox="1"/>
          <p:nvPr/>
        </p:nvSpPr>
        <p:spPr>
          <a:xfrm>
            <a:off x="5326260" y="5339656"/>
            <a:ext cx="1947649" cy="279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sz="2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667"/>
              <a:t>Scale Appropriately</a:t>
            </a:r>
          </a:p>
        </p:txBody>
      </p:sp>
      <p:sp>
        <p:nvSpPr>
          <p:cNvPr id="2981" name="Text 12"/>
          <p:cNvSpPr txBox="1"/>
          <p:nvPr/>
        </p:nvSpPr>
        <p:spPr>
          <a:xfrm>
            <a:off x="5326260" y="5699025"/>
            <a:ext cx="6111480" cy="617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sz="20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667"/>
              <a:t>Adjust your project scope to match available resources rather than overextending.</a:t>
            </a: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3" name="Image 0" descr="Image 0"/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12192000" cy="2362697"/>
          </a:xfrm>
          <a:prstGeom prst="rect">
            <a:avLst/>
          </a:prstGeom>
          <a:ln w="12700">
            <a:miter lim="400000"/>
          </a:ln>
        </p:spPr>
      </p:pic>
      <p:sp>
        <p:nvSpPr>
          <p:cNvPr id="2984" name="Text 0"/>
          <p:cNvSpPr txBox="1"/>
          <p:nvPr/>
        </p:nvSpPr>
        <p:spPr>
          <a:xfrm>
            <a:off x="661492" y="2905819"/>
            <a:ext cx="5172891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Access and Permissions</a:t>
            </a:r>
          </a:p>
        </p:txBody>
      </p:sp>
      <p:sp>
        <p:nvSpPr>
          <p:cNvPr id="2985" name="Shape 1"/>
          <p:cNvSpPr/>
          <p:nvPr/>
        </p:nvSpPr>
        <p:spPr>
          <a:xfrm>
            <a:off x="661492" y="3779936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2986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384" y="3815358"/>
            <a:ext cx="283469" cy="354410"/>
          </a:xfrm>
          <a:prstGeom prst="rect">
            <a:avLst/>
          </a:prstGeom>
          <a:ln w="12700">
            <a:miter lim="400000"/>
          </a:ln>
        </p:spPr>
      </p:pic>
      <p:sp>
        <p:nvSpPr>
          <p:cNvPr id="2987" name="Text 2"/>
          <p:cNvSpPr txBox="1"/>
          <p:nvPr/>
        </p:nvSpPr>
        <p:spPr>
          <a:xfrm>
            <a:off x="1275754" y="3844825"/>
            <a:ext cx="1710405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Physical Spaces</a:t>
            </a:r>
          </a:p>
        </p:txBody>
      </p:sp>
      <p:sp>
        <p:nvSpPr>
          <p:cNvPr id="2988" name="Text 3"/>
          <p:cNvSpPr txBox="1"/>
          <p:nvPr/>
        </p:nvSpPr>
        <p:spPr>
          <a:xfrm>
            <a:off x="1275754" y="4253507"/>
            <a:ext cx="4702177" cy="690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33"/>
              <a:t>Permission to use classrooms, labs, libraries, or community spaces for your research.</a:t>
            </a:r>
          </a:p>
        </p:txBody>
      </p:sp>
      <p:sp>
        <p:nvSpPr>
          <p:cNvPr id="2989" name="Shape 4"/>
          <p:cNvSpPr/>
          <p:nvPr/>
        </p:nvSpPr>
        <p:spPr>
          <a:xfrm>
            <a:off x="6214169" y="3779936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2990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5061" y="3815358"/>
            <a:ext cx="283469" cy="354410"/>
          </a:xfrm>
          <a:prstGeom prst="rect">
            <a:avLst/>
          </a:prstGeom>
          <a:ln w="12700">
            <a:miter lim="400000"/>
          </a:ln>
        </p:spPr>
      </p:pic>
      <p:sp>
        <p:nvSpPr>
          <p:cNvPr id="2991" name="Text 5"/>
          <p:cNvSpPr txBox="1"/>
          <p:nvPr/>
        </p:nvSpPr>
        <p:spPr>
          <a:xfrm>
            <a:off x="6828433" y="3844825"/>
            <a:ext cx="2109552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Information Access</a:t>
            </a:r>
          </a:p>
        </p:txBody>
      </p:sp>
      <p:sp>
        <p:nvSpPr>
          <p:cNvPr id="2992" name="Text 6"/>
          <p:cNvSpPr txBox="1"/>
          <p:nvPr/>
        </p:nvSpPr>
        <p:spPr>
          <a:xfrm>
            <a:off x="6828433" y="4253507"/>
            <a:ext cx="4702176" cy="690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33"/>
              <a:t>Approval to use school records, databases, or other information sources.</a:t>
            </a:r>
          </a:p>
        </p:txBody>
      </p:sp>
      <p:sp>
        <p:nvSpPr>
          <p:cNvPr id="2993" name="Shape 7"/>
          <p:cNvSpPr/>
          <p:nvPr/>
        </p:nvSpPr>
        <p:spPr>
          <a:xfrm>
            <a:off x="661492" y="5236369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2994" name="Image 3" descr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384" y="5271789"/>
            <a:ext cx="283469" cy="354410"/>
          </a:xfrm>
          <a:prstGeom prst="rect">
            <a:avLst/>
          </a:prstGeom>
          <a:ln w="12700">
            <a:miter lim="400000"/>
          </a:ln>
        </p:spPr>
      </p:pic>
      <p:sp>
        <p:nvSpPr>
          <p:cNvPr id="2995" name="Text 8"/>
          <p:cNvSpPr txBox="1"/>
          <p:nvPr/>
        </p:nvSpPr>
        <p:spPr>
          <a:xfrm>
            <a:off x="1275754" y="5301257"/>
            <a:ext cx="2172069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Participant Consent</a:t>
            </a:r>
          </a:p>
        </p:txBody>
      </p:sp>
      <p:sp>
        <p:nvSpPr>
          <p:cNvPr id="2996" name="Text 9"/>
          <p:cNvSpPr txBox="1"/>
          <p:nvPr/>
        </p:nvSpPr>
        <p:spPr>
          <a:xfrm>
            <a:off x="1275754" y="5709940"/>
            <a:ext cx="4702177" cy="690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33"/>
              <a:t>Permission from people (and parents for minors) to participate in your study.</a:t>
            </a:r>
          </a:p>
        </p:txBody>
      </p:sp>
      <p:sp>
        <p:nvSpPr>
          <p:cNvPr id="2997" name="Shape 10"/>
          <p:cNvSpPr/>
          <p:nvPr/>
        </p:nvSpPr>
        <p:spPr>
          <a:xfrm>
            <a:off x="6214169" y="5236369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2998" name="Image 4" descr="Imag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5061" y="5271789"/>
            <a:ext cx="283469" cy="354410"/>
          </a:xfrm>
          <a:prstGeom prst="rect">
            <a:avLst/>
          </a:prstGeom>
          <a:ln w="12700">
            <a:miter lim="400000"/>
          </a:ln>
        </p:spPr>
      </p:pic>
      <p:sp>
        <p:nvSpPr>
          <p:cNvPr id="2999" name="Text 11"/>
          <p:cNvSpPr txBox="1"/>
          <p:nvPr/>
        </p:nvSpPr>
        <p:spPr>
          <a:xfrm>
            <a:off x="6828433" y="5301257"/>
            <a:ext cx="2404504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Institutional Approval</a:t>
            </a:r>
          </a:p>
        </p:txBody>
      </p:sp>
      <p:sp>
        <p:nvSpPr>
          <p:cNvPr id="3000" name="Text 12"/>
          <p:cNvSpPr txBox="1"/>
          <p:nvPr/>
        </p:nvSpPr>
        <p:spPr>
          <a:xfrm>
            <a:off x="6828433" y="5709940"/>
            <a:ext cx="4702176" cy="690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33"/>
              <a:t>Permission from school administration for activities that affect school operations.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2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3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2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2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87" grpId="0" animBg="1" advAuto="0"/>
      <p:bldP spid="2988" grpId="0" animBg="1" advAuto="0"/>
      <p:bldP spid="2991" grpId="0" animBg="1" advAuto="0"/>
      <p:bldP spid="2992" grpId="0" animBg="1" advAuto="0"/>
      <p:bldP spid="2995" grpId="0" animBg="1" advAuto="0"/>
      <p:bldP spid="2996" grpId="0" animBg="1" advAuto="0"/>
      <p:bldP spid="2999" grpId="0" animBg="1" advAuto="0"/>
      <p:bldP spid="3000" grpId="0" animBg="1" advAuto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2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2689" y="859259"/>
            <a:ext cx="3999310" cy="6000527"/>
          </a:xfrm>
          <a:prstGeom prst="rect">
            <a:avLst/>
          </a:prstGeom>
          <a:ln w="12700">
            <a:miter lim="400000"/>
          </a:ln>
        </p:spPr>
      </p:pic>
      <p:sp>
        <p:nvSpPr>
          <p:cNvPr id="3003" name="Text 0"/>
          <p:cNvSpPr txBox="1"/>
          <p:nvPr/>
        </p:nvSpPr>
        <p:spPr>
          <a:xfrm>
            <a:off x="559891" y="439837"/>
            <a:ext cx="3204403" cy="54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4700"/>
              </a:lnSpc>
              <a:defRPr sz="37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083"/>
              <a:t>People Resources</a:t>
            </a:r>
          </a:p>
        </p:txBody>
      </p:sp>
      <p:sp>
        <p:nvSpPr>
          <p:cNvPr id="3004" name="Shape 1"/>
          <p:cNvSpPr/>
          <p:nvPr/>
        </p:nvSpPr>
        <p:spPr>
          <a:xfrm>
            <a:off x="559891" y="1179612"/>
            <a:ext cx="6500219" cy="1190130"/>
          </a:xfrm>
          <a:prstGeom prst="roundRect">
            <a:avLst>
              <a:gd name="adj" fmla="val 5646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pPr>
              <a:defRPr sz="2100"/>
            </a:pPr>
            <a:endParaRPr sz="1750"/>
          </a:p>
        </p:txBody>
      </p:sp>
      <p:sp>
        <p:nvSpPr>
          <p:cNvPr id="3005" name="Text 2"/>
          <p:cNvSpPr txBox="1"/>
          <p:nvPr/>
        </p:nvSpPr>
        <p:spPr>
          <a:xfrm>
            <a:off x="726182" y="1345902"/>
            <a:ext cx="1593385" cy="271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1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750"/>
              <a:t>Research Team</a:t>
            </a:r>
          </a:p>
        </p:txBody>
      </p:sp>
      <p:sp>
        <p:nvSpPr>
          <p:cNvPr id="3006" name="Text 3"/>
          <p:cNvSpPr txBox="1"/>
          <p:nvPr/>
        </p:nvSpPr>
        <p:spPr>
          <a:xfrm>
            <a:off x="726182" y="1691680"/>
            <a:ext cx="6167637" cy="5978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400"/>
              </a:lnSpc>
              <a:defRPr sz="2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750"/>
              <a:t>Friends or classmates who will help conduct the research. List specific roles and responsibilities.</a:t>
            </a:r>
          </a:p>
        </p:txBody>
      </p:sp>
      <p:sp>
        <p:nvSpPr>
          <p:cNvPr id="3007" name="Shape 4"/>
          <p:cNvSpPr/>
          <p:nvPr/>
        </p:nvSpPr>
        <p:spPr>
          <a:xfrm>
            <a:off x="559891" y="2529682"/>
            <a:ext cx="6500219" cy="1190129"/>
          </a:xfrm>
          <a:prstGeom prst="roundRect">
            <a:avLst>
              <a:gd name="adj" fmla="val 5646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pPr>
              <a:defRPr sz="2100"/>
            </a:pPr>
            <a:endParaRPr sz="1750"/>
          </a:p>
        </p:txBody>
      </p:sp>
      <p:sp>
        <p:nvSpPr>
          <p:cNvPr id="3008" name="Text 5"/>
          <p:cNvSpPr txBox="1"/>
          <p:nvPr/>
        </p:nvSpPr>
        <p:spPr>
          <a:xfrm>
            <a:off x="726181" y="2695972"/>
            <a:ext cx="1267976" cy="271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1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750"/>
              <a:t>Participants</a:t>
            </a:r>
          </a:p>
        </p:txBody>
      </p:sp>
      <p:sp>
        <p:nvSpPr>
          <p:cNvPr id="3009" name="Text 6"/>
          <p:cNvSpPr txBox="1"/>
          <p:nvPr/>
        </p:nvSpPr>
        <p:spPr>
          <a:xfrm>
            <a:off x="726182" y="3041749"/>
            <a:ext cx="6167637" cy="5978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400"/>
              </a:lnSpc>
              <a:defRPr sz="2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750"/>
              <a:t>How many people will be in your study? How will you recruit them? What will they need to do?</a:t>
            </a:r>
          </a:p>
        </p:txBody>
      </p:sp>
      <p:sp>
        <p:nvSpPr>
          <p:cNvPr id="3010" name="Shape 7"/>
          <p:cNvSpPr/>
          <p:nvPr/>
        </p:nvSpPr>
        <p:spPr>
          <a:xfrm>
            <a:off x="559891" y="3879751"/>
            <a:ext cx="6500219" cy="1190130"/>
          </a:xfrm>
          <a:prstGeom prst="roundRect">
            <a:avLst>
              <a:gd name="adj" fmla="val 5646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pPr>
              <a:defRPr sz="2100"/>
            </a:pPr>
            <a:endParaRPr sz="1750"/>
          </a:p>
        </p:txBody>
      </p:sp>
      <p:sp>
        <p:nvSpPr>
          <p:cNvPr id="3011" name="Text 8"/>
          <p:cNvSpPr txBox="1"/>
          <p:nvPr/>
        </p:nvSpPr>
        <p:spPr>
          <a:xfrm>
            <a:off x="726182" y="4046042"/>
            <a:ext cx="1243930" cy="271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1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750"/>
              <a:t>Supervisors</a:t>
            </a:r>
          </a:p>
        </p:txBody>
      </p:sp>
      <p:sp>
        <p:nvSpPr>
          <p:cNvPr id="3012" name="Text 9"/>
          <p:cNvSpPr txBox="1"/>
          <p:nvPr/>
        </p:nvSpPr>
        <p:spPr>
          <a:xfrm>
            <a:off x="726182" y="4391819"/>
            <a:ext cx="6167637" cy="5978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400"/>
              </a:lnSpc>
              <a:defRPr sz="2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750"/>
              <a:t>Teachers, parents, or other adults who need to oversee activities, especially for safety or access reasons.</a:t>
            </a:r>
          </a:p>
        </p:txBody>
      </p:sp>
      <p:sp>
        <p:nvSpPr>
          <p:cNvPr id="3013" name="Shape 10"/>
          <p:cNvSpPr/>
          <p:nvPr/>
        </p:nvSpPr>
        <p:spPr>
          <a:xfrm>
            <a:off x="559891" y="5229819"/>
            <a:ext cx="6500219" cy="1190130"/>
          </a:xfrm>
          <a:prstGeom prst="roundRect">
            <a:avLst>
              <a:gd name="adj" fmla="val 5646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pPr>
              <a:defRPr sz="2100"/>
            </a:pPr>
            <a:endParaRPr sz="1750"/>
          </a:p>
        </p:txBody>
      </p:sp>
      <p:sp>
        <p:nvSpPr>
          <p:cNvPr id="3014" name="Text 11"/>
          <p:cNvSpPr txBox="1"/>
          <p:nvPr/>
        </p:nvSpPr>
        <p:spPr>
          <a:xfrm>
            <a:off x="726182" y="5396111"/>
            <a:ext cx="798295" cy="271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1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750"/>
              <a:t>Experts</a:t>
            </a:r>
          </a:p>
        </p:txBody>
      </p:sp>
      <p:sp>
        <p:nvSpPr>
          <p:cNvPr id="3015" name="Text 12"/>
          <p:cNvSpPr txBox="1"/>
          <p:nvPr/>
        </p:nvSpPr>
        <p:spPr>
          <a:xfrm>
            <a:off x="726182" y="5741889"/>
            <a:ext cx="6167637" cy="5978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400"/>
              </a:lnSpc>
              <a:defRPr sz="2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750"/>
              <a:t>People with specialized knowledge who might advise on your project or help interpret results.</a:t>
            </a:r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7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5441" y="863325"/>
            <a:ext cx="3996559" cy="5995966"/>
          </a:xfrm>
          <a:prstGeom prst="rect">
            <a:avLst/>
          </a:prstGeom>
          <a:ln w="12700">
            <a:miter lim="400000"/>
          </a:ln>
        </p:spPr>
      </p:pic>
      <p:sp>
        <p:nvSpPr>
          <p:cNvPr id="3018" name="Text 0"/>
          <p:cNvSpPr txBox="1"/>
          <p:nvPr/>
        </p:nvSpPr>
        <p:spPr>
          <a:xfrm>
            <a:off x="616446" y="484286"/>
            <a:ext cx="4584588" cy="5991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200"/>
              </a:lnSpc>
              <a:defRPr sz="41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417"/>
              <a:t>Timeline and Logistics</a:t>
            </a:r>
          </a:p>
        </p:txBody>
      </p:sp>
      <p:sp>
        <p:nvSpPr>
          <p:cNvPr id="3019" name="Shape 1"/>
          <p:cNvSpPr/>
          <p:nvPr/>
        </p:nvSpPr>
        <p:spPr>
          <a:xfrm>
            <a:off x="814586" y="1298773"/>
            <a:ext cx="19051" cy="5076230"/>
          </a:xfrm>
          <a:prstGeom prst="roundRect">
            <a:avLst>
              <a:gd name="adj" fmla="val 50000"/>
            </a:avLst>
          </a:prstGeom>
          <a:solidFill>
            <a:srgbClr val="B2D3E5"/>
          </a:solidFill>
          <a:ln w="12700">
            <a:miter lim="400000"/>
          </a:ln>
        </p:spPr>
        <p:txBody>
          <a:bodyPr lIns="38099" rIns="38099"/>
          <a:lstStyle/>
          <a:p>
            <a:endParaRPr sz="1500"/>
          </a:p>
        </p:txBody>
      </p:sp>
      <p:sp>
        <p:nvSpPr>
          <p:cNvPr id="3020" name="Shape 2"/>
          <p:cNvSpPr/>
          <p:nvPr/>
        </p:nvSpPr>
        <p:spPr>
          <a:xfrm>
            <a:off x="993676" y="1487389"/>
            <a:ext cx="528341" cy="19051"/>
          </a:xfrm>
          <a:prstGeom prst="roundRect">
            <a:avLst>
              <a:gd name="adj" fmla="val 50000"/>
            </a:avLst>
          </a:prstGeom>
          <a:solidFill>
            <a:srgbClr val="B2D3E5"/>
          </a:solidFill>
          <a:ln w="12700">
            <a:miter lim="400000"/>
          </a:ln>
        </p:spPr>
        <p:txBody>
          <a:bodyPr lIns="38099" rIns="38099"/>
          <a:lstStyle/>
          <a:p>
            <a:endParaRPr sz="1500"/>
          </a:p>
        </p:txBody>
      </p:sp>
      <p:sp>
        <p:nvSpPr>
          <p:cNvPr id="3021" name="Shape 3"/>
          <p:cNvSpPr/>
          <p:nvPr/>
        </p:nvSpPr>
        <p:spPr>
          <a:xfrm>
            <a:off x="616445" y="1298774"/>
            <a:ext cx="396281" cy="396281"/>
          </a:xfrm>
          <a:prstGeom prst="roundRect">
            <a:avLst>
              <a:gd name="adj" fmla="val 18668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3022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526" y="1331812"/>
            <a:ext cx="264121" cy="330202"/>
          </a:xfrm>
          <a:prstGeom prst="rect">
            <a:avLst/>
          </a:prstGeom>
          <a:ln w="12700">
            <a:miter lim="400000"/>
          </a:ln>
        </p:spPr>
      </p:pic>
      <p:sp>
        <p:nvSpPr>
          <p:cNvPr id="3023" name="Text 4"/>
          <p:cNvSpPr txBox="1"/>
          <p:nvPr/>
        </p:nvSpPr>
        <p:spPr>
          <a:xfrm>
            <a:off x="1695251" y="1359297"/>
            <a:ext cx="1753685" cy="305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600"/>
              </a:lnSpc>
              <a:defRPr sz="23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917"/>
              <a:t>Planning Phase</a:t>
            </a:r>
          </a:p>
        </p:txBody>
      </p:sp>
      <p:sp>
        <p:nvSpPr>
          <p:cNvPr id="3024" name="Text 5"/>
          <p:cNvSpPr txBox="1"/>
          <p:nvPr/>
        </p:nvSpPr>
        <p:spPr>
          <a:xfrm>
            <a:off x="1695251" y="1740098"/>
            <a:ext cx="5308304" cy="648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600"/>
              </a:lnSpc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Design research, create materials, get permissions, and prepare resources.</a:t>
            </a:r>
          </a:p>
        </p:txBody>
      </p:sp>
      <p:sp>
        <p:nvSpPr>
          <p:cNvPr id="3025" name="Shape 6"/>
          <p:cNvSpPr/>
          <p:nvPr/>
        </p:nvSpPr>
        <p:spPr>
          <a:xfrm>
            <a:off x="993676" y="2844502"/>
            <a:ext cx="528341" cy="19051"/>
          </a:xfrm>
          <a:prstGeom prst="roundRect">
            <a:avLst>
              <a:gd name="adj" fmla="val 50000"/>
            </a:avLst>
          </a:prstGeom>
          <a:solidFill>
            <a:srgbClr val="B2D3E5"/>
          </a:solidFill>
          <a:ln w="12700">
            <a:miter lim="400000"/>
          </a:ln>
        </p:spPr>
        <p:txBody>
          <a:bodyPr lIns="38099" rIns="38099"/>
          <a:lstStyle/>
          <a:p>
            <a:endParaRPr sz="1500"/>
          </a:p>
        </p:txBody>
      </p:sp>
      <p:sp>
        <p:nvSpPr>
          <p:cNvPr id="3026" name="Shape 7"/>
          <p:cNvSpPr/>
          <p:nvPr/>
        </p:nvSpPr>
        <p:spPr>
          <a:xfrm>
            <a:off x="616445" y="2655887"/>
            <a:ext cx="396281" cy="396281"/>
          </a:xfrm>
          <a:prstGeom prst="roundRect">
            <a:avLst>
              <a:gd name="adj" fmla="val 18668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3027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526" y="2688927"/>
            <a:ext cx="264121" cy="330201"/>
          </a:xfrm>
          <a:prstGeom prst="rect">
            <a:avLst/>
          </a:prstGeom>
          <a:ln w="12700">
            <a:miter lim="400000"/>
          </a:ln>
        </p:spPr>
      </p:pic>
      <p:sp>
        <p:nvSpPr>
          <p:cNvPr id="3028" name="Text 8"/>
          <p:cNvSpPr txBox="1"/>
          <p:nvPr/>
        </p:nvSpPr>
        <p:spPr>
          <a:xfrm>
            <a:off x="1695251" y="2716410"/>
            <a:ext cx="1753685" cy="305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600"/>
              </a:lnSpc>
              <a:defRPr sz="23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917"/>
              <a:t>Data Collection</a:t>
            </a:r>
          </a:p>
        </p:txBody>
      </p:sp>
      <p:sp>
        <p:nvSpPr>
          <p:cNvPr id="3029" name="Text 9"/>
          <p:cNvSpPr txBox="1"/>
          <p:nvPr/>
        </p:nvSpPr>
        <p:spPr>
          <a:xfrm>
            <a:off x="1695251" y="3097212"/>
            <a:ext cx="5308304" cy="648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600"/>
              </a:lnSpc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Conduct experiments, distribute surveys, perform interviews or observations.</a:t>
            </a:r>
          </a:p>
        </p:txBody>
      </p:sp>
      <p:sp>
        <p:nvSpPr>
          <p:cNvPr id="3030" name="Shape 10"/>
          <p:cNvSpPr/>
          <p:nvPr/>
        </p:nvSpPr>
        <p:spPr>
          <a:xfrm>
            <a:off x="993676" y="4201616"/>
            <a:ext cx="528341" cy="19051"/>
          </a:xfrm>
          <a:prstGeom prst="roundRect">
            <a:avLst>
              <a:gd name="adj" fmla="val 50000"/>
            </a:avLst>
          </a:prstGeom>
          <a:solidFill>
            <a:srgbClr val="B2D3E5"/>
          </a:solidFill>
          <a:ln w="12700">
            <a:miter lim="400000"/>
          </a:ln>
        </p:spPr>
        <p:txBody>
          <a:bodyPr lIns="38099" rIns="38099"/>
          <a:lstStyle/>
          <a:p>
            <a:endParaRPr sz="1500"/>
          </a:p>
        </p:txBody>
      </p:sp>
      <p:sp>
        <p:nvSpPr>
          <p:cNvPr id="3031" name="Shape 11"/>
          <p:cNvSpPr/>
          <p:nvPr/>
        </p:nvSpPr>
        <p:spPr>
          <a:xfrm>
            <a:off x="616445" y="4013002"/>
            <a:ext cx="396281" cy="396281"/>
          </a:xfrm>
          <a:prstGeom prst="roundRect">
            <a:avLst>
              <a:gd name="adj" fmla="val 18668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3032" name="Image 3" descr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526" y="4046042"/>
            <a:ext cx="264121" cy="330201"/>
          </a:xfrm>
          <a:prstGeom prst="rect">
            <a:avLst/>
          </a:prstGeom>
          <a:ln w="12700">
            <a:miter lim="400000"/>
          </a:ln>
        </p:spPr>
      </p:pic>
      <p:sp>
        <p:nvSpPr>
          <p:cNvPr id="3033" name="Text 12"/>
          <p:cNvSpPr txBox="1"/>
          <p:nvPr/>
        </p:nvSpPr>
        <p:spPr>
          <a:xfrm>
            <a:off x="1695251" y="4073524"/>
            <a:ext cx="950581" cy="305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600"/>
              </a:lnSpc>
              <a:defRPr sz="23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917"/>
              <a:t>Analysis</a:t>
            </a:r>
          </a:p>
        </p:txBody>
      </p:sp>
      <p:sp>
        <p:nvSpPr>
          <p:cNvPr id="3034" name="Text 13"/>
          <p:cNvSpPr txBox="1"/>
          <p:nvPr/>
        </p:nvSpPr>
        <p:spPr>
          <a:xfrm>
            <a:off x="1695251" y="4454326"/>
            <a:ext cx="5308304" cy="648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600"/>
              </a:lnSpc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Organize data, perform calculations, identify patterns, and interpret findings.</a:t>
            </a:r>
          </a:p>
        </p:txBody>
      </p:sp>
      <p:sp>
        <p:nvSpPr>
          <p:cNvPr id="3035" name="Shape 14"/>
          <p:cNvSpPr/>
          <p:nvPr/>
        </p:nvSpPr>
        <p:spPr>
          <a:xfrm>
            <a:off x="993676" y="5558731"/>
            <a:ext cx="528341" cy="19051"/>
          </a:xfrm>
          <a:prstGeom prst="roundRect">
            <a:avLst>
              <a:gd name="adj" fmla="val 50000"/>
            </a:avLst>
          </a:prstGeom>
          <a:solidFill>
            <a:srgbClr val="B2D3E5"/>
          </a:solidFill>
          <a:ln w="12700">
            <a:miter lim="400000"/>
          </a:ln>
        </p:spPr>
        <p:txBody>
          <a:bodyPr lIns="38099" rIns="38099"/>
          <a:lstStyle/>
          <a:p>
            <a:endParaRPr sz="1500"/>
          </a:p>
        </p:txBody>
      </p:sp>
      <p:sp>
        <p:nvSpPr>
          <p:cNvPr id="3036" name="Shape 15"/>
          <p:cNvSpPr/>
          <p:nvPr/>
        </p:nvSpPr>
        <p:spPr>
          <a:xfrm>
            <a:off x="616445" y="5370115"/>
            <a:ext cx="396281" cy="396281"/>
          </a:xfrm>
          <a:prstGeom prst="roundRect">
            <a:avLst>
              <a:gd name="adj" fmla="val 18668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3037" name="Image 4" descr="Imag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526" y="5403156"/>
            <a:ext cx="264121" cy="330201"/>
          </a:xfrm>
          <a:prstGeom prst="rect">
            <a:avLst/>
          </a:prstGeom>
          <a:ln w="12700">
            <a:miter lim="400000"/>
          </a:ln>
        </p:spPr>
      </p:pic>
      <p:sp>
        <p:nvSpPr>
          <p:cNvPr id="3038" name="Text 16"/>
          <p:cNvSpPr txBox="1"/>
          <p:nvPr/>
        </p:nvSpPr>
        <p:spPr>
          <a:xfrm>
            <a:off x="1695251" y="5430639"/>
            <a:ext cx="1146148" cy="305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600"/>
              </a:lnSpc>
              <a:defRPr sz="23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917"/>
              <a:t>Reporting</a:t>
            </a:r>
          </a:p>
        </p:txBody>
      </p:sp>
      <p:sp>
        <p:nvSpPr>
          <p:cNvPr id="3039" name="Text 17"/>
          <p:cNvSpPr txBox="1"/>
          <p:nvPr/>
        </p:nvSpPr>
        <p:spPr>
          <a:xfrm>
            <a:off x="1695251" y="5811441"/>
            <a:ext cx="5308304" cy="648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600"/>
              </a:lnSpc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Write up results, create visuals, prepare presentation, and share conclusions.</a:t>
            </a:r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1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0552" y="840826"/>
            <a:ext cx="4011448" cy="6017174"/>
          </a:xfrm>
          <a:prstGeom prst="rect">
            <a:avLst/>
          </a:prstGeom>
          <a:ln w="12700">
            <a:miter lim="400000"/>
          </a:ln>
        </p:spPr>
      </p:pic>
      <p:sp>
        <p:nvSpPr>
          <p:cNvPr id="3042" name="Text 0"/>
          <p:cNvSpPr txBox="1"/>
          <p:nvPr/>
        </p:nvSpPr>
        <p:spPr>
          <a:xfrm>
            <a:off x="616445" y="624482"/>
            <a:ext cx="5814092" cy="5991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200"/>
              </a:lnSpc>
              <a:defRPr sz="41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417"/>
              <a:t>Creating a Detailed Timeline</a:t>
            </a:r>
          </a:p>
        </p:txBody>
      </p:sp>
      <p:sp>
        <p:nvSpPr>
          <p:cNvPr id="3043" name="Shape 1"/>
          <p:cNvSpPr/>
          <p:nvPr/>
        </p:nvSpPr>
        <p:spPr>
          <a:xfrm>
            <a:off x="616445" y="1438970"/>
            <a:ext cx="396281" cy="396281"/>
          </a:xfrm>
          <a:prstGeom prst="roundRect">
            <a:avLst>
              <a:gd name="adj" fmla="val 18668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3044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526" y="1472009"/>
            <a:ext cx="264121" cy="330201"/>
          </a:xfrm>
          <a:prstGeom prst="rect">
            <a:avLst/>
          </a:prstGeom>
          <a:ln w="12700">
            <a:miter lim="400000"/>
          </a:ln>
        </p:spPr>
      </p:pic>
      <p:sp>
        <p:nvSpPr>
          <p:cNvPr id="3045" name="Text 2"/>
          <p:cNvSpPr txBox="1"/>
          <p:nvPr/>
        </p:nvSpPr>
        <p:spPr>
          <a:xfrm>
            <a:off x="1188839" y="1499493"/>
            <a:ext cx="2967159" cy="308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600"/>
              </a:lnSpc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000"/>
              <a:t>Schedule Data Collection</a:t>
            </a:r>
          </a:p>
        </p:txBody>
      </p:sp>
      <p:sp>
        <p:nvSpPr>
          <p:cNvPr id="3046" name="Text 3"/>
          <p:cNvSpPr txBox="1"/>
          <p:nvPr/>
        </p:nvSpPr>
        <p:spPr>
          <a:xfrm>
            <a:off x="1188840" y="1880294"/>
            <a:ext cx="6249156" cy="651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600"/>
              </a:lnSpc>
              <a:defRPr sz="24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00"/>
              <a:t>Plan exactly when you'll collect data, with specific dates and times.</a:t>
            </a:r>
          </a:p>
        </p:txBody>
      </p:sp>
      <p:sp>
        <p:nvSpPr>
          <p:cNvPr id="3047" name="Shape 4"/>
          <p:cNvSpPr/>
          <p:nvPr/>
        </p:nvSpPr>
        <p:spPr>
          <a:xfrm>
            <a:off x="616445" y="2609552"/>
            <a:ext cx="396281" cy="396281"/>
          </a:xfrm>
          <a:prstGeom prst="roundRect">
            <a:avLst>
              <a:gd name="adj" fmla="val 18668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3048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526" y="2642593"/>
            <a:ext cx="264121" cy="330201"/>
          </a:xfrm>
          <a:prstGeom prst="rect">
            <a:avLst/>
          </a:prstGeom>
          <a:ln w="12700">
            <a:miter lim="400000"/>
          </a:ln>
        </p:spPr>
      </p:pic>
      <p:sp>
        <p:nvSpPr>
          <p:cNvPr id="3049" name="Text 5"/>
          <p:cNvSpPr txBox="1"/>
          <p:nvPr/>
        </p:nvSpPr>
        <p:spPr>
          <a:xfrm>
            <a:off x="1188839" y="2670076"/>
            <a:ext cx="2173672" cy="308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600"/>
              </a:lnSpc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000"/>
              <a:t>Estimate Duration</a:t>
            </a:r>
          </a:p>
        </p:txBody>
      </p:sp>
      <p:sp>
        <p:nvSpPr>
          <p:cNvPr id="3050" name="Text 6"/>
          <p:cNvSpPr txBox="1"/>
          <p:nvPr/>
        </p:nvSpPr>
        <p:spPr>
          <a:xfrm>
            <a:off x="1188839" y="3050877"/>
            <a:ext cx="5814715" cy="651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600"/>
              </a:lnSpc>
              <a:defRPr sz="24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00"/>
              <a:t>Calculate how long each session or step will take to ensure it's feasible.</a:t>
            </a:r>
          </a:p>
        </p:txBody>
      </p:sp>
      <p:sp>
        <p:nvSpPr>
          <p:cNvPr id="3051" name="Shape 7"/>
          <p:cNvSpPr/>
          <p:nvPr/>
        </p:nvSpPr>
        <p:spPr>
          <a:xfrm>
            <a:off x="616445" y="3871417"/>
            <a:ext cx="396281" cy="396281"/>
          </a:xfrm>
          <a:prstGeom prst="roundRect">
            <a:avLst>
              <a:gd name="adj" fmla="val 18668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3052" name="Image 3" descr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526" y="3904457"/>
            <a:ext cx="264121" cy="330201"/>
          </a:xfrm>
          <a:prstGeom prst="rect">
            <a:avLst/>
          </a:prstGeom>
          <a:ln w="12700">
            <a:miter lim="400000"/>
          </a:ln>
        </p:spPr>
      </p:pic>
      <p:sp>
        <p:nvSpPr>
          <p:cNvPr id="3053" name="Text 8"/>
          <p:cNvSpPr txBox="1"/>
          <p:nvPr/>
        </p:nvSpPr>
        <p:spPr>
          <a:xfrm>
            <a:off x="1188840" y="3931940"/>
            <a:ext cx="2859757" cy="308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600"/>
              </a:lnSpc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000"/>
              <a:t>Include Waiting Periods</a:t>
            </a:r>
          </a:p>
        </p:txBody>
      </p:sp>
      <p:sp>
        <p:nvSpPr>
          <p:cNvPr id="3054" name="Text 9"/>
          <p:cNvSpPr txBox="1"/>
          <p:nvPr/>
        </p:nvSpPr>
        <p:spPr>
          <a:xfrm>
            <a:off x="1188839" y="4312741"/>
            <a:ext cx="5814715" cy="651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600"/>
              </a:lnSpc>
              <a:defRPr sz="24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00"/>
              <a:t>Account for necessary delays between steps, like plant growth or survey response time.</a:t>
            </a:r>
          </a:p>
        </p:txBody>
      </p:sp>
      <p:sp>
        <p:nvSpPr>
          <p:cNvPr id="3055" name="Shape 10"/>
          <p:cNvSpPr/>
          <p:nvPr/>
        </p:nvSpPr>
        <p:spPr>
          <a:xfrm>
            <a:off x="616445" y="5228531"/>
            <a:ext cx="396281" cy="396281"/>
          </a:xfrm>
          <a:prstGeom prst="roundRect">
            <a:avLst>
              <a:gd name="adj" fmla="val 18668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3056" name="Image 4" descr="Imag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526" y="5261570"/>
            <a:ext cx="264121" cy="330201"/>
          </a:xfrm>
          <a:prstGeom prst="rect">
            <a:avLst/>
          </a:prstGeom>
          <a:ln w="12700">
            <a:miter lim="400000"/>
          </a:ln>
        </p:spPr>
      </p:pic>
      <p:sp>
        <p:nvSpPr>
          <p:cNvPr id="3057" name="Text 11"/>
          <p:cNvSpPr txBox="1"/>
          <p:nvPr/>
        </p:nvSpPr>
        <p:spPr>
          <a:xfrm>
            <a:off x="1188839" y="5289054"/>
            <a:ext cx="2632131" cy="308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600"/>
              </a:lnSpc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000"/>
              <a:t>Set Internal Deadlines</a:t>
            </a:r>
          </a:p>
        </p:txBody>
      </p:sp>
      <p:sp>
        <p:nvSpPr>
          <p:cNvPr id="3058" name="Text 12"/>
          <p:cNvSpPr txBox="1"/>
          <p:nvPr/>
        </p:nvSpPr>
        <p:spPr>
          <a:xfrm>
            <a:off x="1188839" y="5669856"/>
            <a:ext cx="5814715" cy="651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600"/>
              </a:lnSpc>
              <a:defRPr sz="24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00"/>
              <a:t>Create target dates for completing each phase to stay on track throughout the project.</a:t>
            </a:r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0" name="Text 0"/>
          <p:cNvSpPr txBox="1"/>
          <p:nvPr/>
        </p:nvSpPr>
        <p:spPr>
          <a:xfrm>
            <a:off x="661492" y="1042591"/>
            <a:ext cx="6857647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Flexibility and Troubleshooting</a:t>
            </a:r>
          </a:p>
        </p:txBody>
      </p:sp>
      <p:sp>
        <p:nvSpPr>
          <p:cNvPr id="3061" name="Text 1"/>
          <p:cNvSpPr txBox="1"/>
          <p:nvPr/>
        </p:nvSpPr>
        <p:spPr>
          <a:xfrm>
            <a:off x="1544377" y="2309019"/>
            <a:ext cx="2366032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Anticipate Challenges</a:t>
            </a:r>
          </a:p>
        </p:txBody>
      </p:sp>
      <p:sp>
        <p:nvSpPr>
          <p:cNvPr id="3062" name="Text 2"/>
          <p:cNvSpPr txBox="1"/>
          <p:nvPr/>
        </p:nvSpPr>
        <p:spPr>
          <a:xfrm>
            <a:off x="661492" y="2717700"/>
            <a:ext cx="3248919" cy="676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2800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Think ahead about what might go wrong and how you'll handle it.</a:t>
            </a:r>
          </a:p>
        </p:txBody>
      </p:sp>
      <p:pic>
        <p:nvPicPr>
          <p:cNvPr id="3063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3877" y="2011264"/>
            <a:ext cx="3804147" cy="38041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064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8943" y="2647157"/>
            <a:ext cx="282774" cy="353518"/>
          </a:xfrm>
          <a:prstGeom prst="rect">
            <a:avLst/>
          </a:prstGeom>
          <a:ln w="12700">
            <a:miter lim="400000"/>
          </a:ln>
        </p:spPr>
      </p:pic>
      <p:sp>
        <p:nvSpPr>
          <p:cNvPr id="3065" name="Text 3"/>
          <p:cNvSpPr txBox="1"/>
          <p:nvPr/>
        </p:nvSpPr>
        <p:spPr>
          <a:xfrm>
            <a:off x="8281492" y="2309019"/>
            <a:ext cx="1966885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Be Ready to Adapt</a:t>
            </a:r>
          </a:p>
        </p:txBody>
      </p:sp>
      <p:sp>
        <p:nvSpPr>
          <p:cNvPr id="3066" name="Text 4"/>
          <p:cNvSpPr txBox="1"/>
          <p:nvPr/>
        </p:nvSpPr>
        <p:spPr>
          <a:xfrm>
            <a:off x="8281492" y="2717700"/>
            <a:ext cx="3249018" cy="676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Prepare to adjust your methods if you discover better approaches.</a:t>
            </a:r>
          </a:p>
        </p:txBody>
      </p:sp>
      <p:pic>
        <p:nvPicPr>
          <p:cNvPr id="3067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3877" y="2011264"/>
            <a:ext cx="3804147" cy="38041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068" name="Image 3" descr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3837" y="2970906"/>
            <a:ext cx="282774" cy="353518"/>
          </a:xfrm>
          <a:prstGeom prst="rect">
            <a:avLst/>
          </a:prstGeom>
          <a:ln w="12700">
            <a:miter lim="400000"/>
          </a:ln>
        </p:spPr>
      </p:pic>
      <p:sp>
        <p:nvSpPr>
          <p:cNvPr id="3069" name="Text 5"/>
          <p:cNvSpPr txBox="1"/>
          <p:nvPr/>
        </p:nvSpPr>
        <p:spPr>
          <a:xfrm>
            <a:off x="8281492" y="4201616"/>
            <a:ext cx="2120773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Document Changes</a:t>
            </a:r>
          </a:p>
        </p:txBody>
      </p:sp>
      <p:sp>
        <p:nvSpPr>
          <p:cNvPr id="3070" name="Text 6"/>
          <p:cNvSpPr txBox="1"/>
          <p:nvPr/>
        </p:nvSpPr>
        <p:spPr>
          <a:xfrm>
            <a:off x="8281492" y="4610299"/>
            <a:ext cx="3249018" cy="676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Record any modifications to your original plan and why you made them.</a:t>
            </a:r>
          </a:p>
        </p:txBody>
      </p:sp>
      <p:pic>
        <p:nvPicPr>
          <p:cNvPr id="3071" name="Image 4" descr="Imag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3877" y="2011264"/>
            <a:ext cx="3804147" cy="38041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072" name="Image 5" descr="Imag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086" y="4825802"/>
            <a:ext cx="282774" cy="353518"/>
          </a:xfrm>
          <a:prstGeom prst="rect">
            <a:avLst/>
          </a:prstGeom>
          <a:ln w="12700">
            <a:miter lim="400000"/>
          </a:ln>
        </p:spPr>
      </p:pic>
      <p:sp>
        <p:nvSpPr>
          <p:cNvPr id="3073" name="Text 7"/>
          <p:cNvSpPr txBox="1"/>
          <p:nvPr/>
        </p:nvSpPr>
        <p:spPr>
          <a:xfrm>
            <a:off x="1836124" y="4352825"/>
            <a:ext cx="2074286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Have Backup Plans</a:t>
            </a:r>
          </a:p>
        </p:txBody>
      </p:sp>
      <p:sp>
        <p:nvSpPr>
          <p:cNvPr id="3074" name="Text 8"/>
          <p:cNvSpPr txBox="1"/>
          <p:nvPr/>
        </p:nvSpPr>
        <p:spPr>
          <a:xfrm>
            <a:off x="661492" y="4761507"/>
            <a:ext cx="3248919" cy="676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2800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Create alternative approaches for critical parts of your research.</a:t>
            </a:r>
          </a:p>
        </p:txBody>
      </p:sp>
      <p:pic>
        <p:nvPicPr>
          <p:cNvPr id="3075" name="Image 6" descr="Imag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93877" y="2011264"/>
            <a:ext cx="3804147" cy="38041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076" name="Image 7" descr="Image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65192" y="4502050"/>
            <a:ext cx="282774" cy="35351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Text 0"/>
          <p:cNvSpPr txBox="1"/>
          <p:nvPr/>
        </p:nvSpPr>
        <p:spPr>
          <a:xfrm>
            <a:off x="4102577" y="1579072"/>
            <a:ext cx="3872855" cy="4873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8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Literature Review</a:t>
            </a:r>
          </a:p>
        </p:txBody>
      </p:sp>
      <p:pic>
        <p:nvPicPr>
          <p:cNvPr id="3079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36336"/>
            <a:ext cx="3681109" cy="552166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1" name="Text 0"/>
          <p:cNvSpPr txBox="1"/>
          <p:nvPr/>
        </p:nvSpPr>
        <p:spPr>
          <a:xfrm>
            <a:off x="607971" y="1402937"/>
            <a:ext cx="9468450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What is a Literature Review? </a:t>
            </a:r>
          </a:p>
        </p:txBody>
      </p:sp>
      <p:sp>
        <p:nvSpPr>
          <p:cNvPr id="3082" name="Text 1"/>
          <p:cNvSpPr txBox="1"/>
          <p:nvPr/>
        </p:nvSpPr>
        <p:spPr>
          <a:xfrm>
            <a:off x="618675" y="2548575"/>
            <a:ext cx="10954650" cy="2067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333"/>
              </a:lnSpc>
              <a:defRPr sz="2700">
                <a:latin typeface="Inter"/>
                <a:ea typeface="Inter"/>
                <a:cs typeface="Inter"/>
                <a:sym typeface="Inter"/>
              </a:defRPr>
            </a:pPr>
            <a:r>
              <a:rPr sz="2250"/>
              <a:t>A literature review is a summary and analysis of what has already been written on a topic.</a:t>
            </a:r>
            <a:br>
              <a:rPr sz="2250"/>
            </a:br>
            <a:endParaRPr sz="2250"/>
          </a:p>
          <a:p>
            <a:pPr>
              <a:lnSpc>
                <a:spcPts val="2333"/>
              </a:lnSpc>
              <a:defRPr sz="2700">
                <a:latin typeface="Inter"/>
                <a:ea typeface="Inter"/>
                <a:cs typeface="Inter"/>
                <a:sym typeface="Inter"/>
              </a:defRPr>
            </a:pPr>
            <a:r>
              <a:rPr sz="2250"/>
              <a:t>It helps you:</a:t>
            </a:r>
          </a:p>
          <a:p>
            <a:pPr marL="217228" indent="-217228">
              <a:lnSpc>
                <a:spcPts val="2333"/>
              </a:lnSpc>
              <a:buSzPct val="100000"/>
              <a:buChar char="•"/>
              <a:defRPr sz="2700">
                <a:latin typeface="Inter"/>
                <a:ea typeface="Inter"/>
                <a:cs typeface="Inter"/>
                <a:sym typeface="Inter"/>
              </a:defRPr>
            </a:pPr>
            <a:r>
              <a:rPr sz="2250"/>
              <a:t>Understand what’s already known,</a:t>
            </a:r>
          </a:p>
          <a:p>
            <a:pPr marL="217228" indent="-217228">
              <a:lnSpc>
                <a:spcPts val="2333"/>
              </a:lnSpc>
              <a:buSzPct val="100000"/>
              <a:buChar char="•"/>
              <a:defRPr sz="2700">
                <a:latin typeface="Inter"/>
                <a:ea typeface="Inter"/>
                <a:cs typeface="Inter"/>
                <a:sym typeface="Inter"/>
              </a:defRPr>
            </a:pPr>
            <a:r>
              <a:rPr sz="2250"/>
              <a:t>See where there are gaps or debates,</a:t>
            </a:r>
          </a:p>
          <a:p>
            <a:pPr marL="217228" indent="-217228">
              <a:lnSpc>
                <a:spcPts val="2333"/>
              </a:lnSpc>
              <a:buSzPct val="100000"/>
              <a:buChar char="•"/>
              <a:defRPr sz="2700">
                <a:latin typeface="Inter"/>
                <a:ea typeface="Inter"/>
                <a:cs typeface="Inter"/>
                <a:sym typeface="Inter"/>
              </a:defRPr>
            </a:pPr>
            <a:r>
              <a:rPr sz="2250"/>
              <a:t>Avoid repeating others’ work,</a:t>
            </a:r>
          </a:p>
          <a:p>
            <a:pPr marL="217228" indent="-217228">
              <a:lnSpc>
                <a:spcPts val="2333"/>
              </a:lnSpc>
              <a:buSzPct val="100000"/>
              <a:buChar char="•"/>
              <a:defRPr sz="2700">
                <a:latin typeface="Inter"/>
                <a:ea typeface="Inter"/>
                <a:cs typeface="Inter"/>
                <a:sym typeface="Inter"/>
              </a:defRPr>
            </a:pPr>
            <a:r>
              <a:rPr sz="2250"/>
              <a:t>And build a strong foundation for your own research.</a:t>
            </a:r>
          </a:p>
        </p:txBody>
      </p:sp>
      <p:sp>
        <p:nvSpPr>
          <p:cNvPr id="3083" name="Shape 2"/>
          <p:cNvSpPr/>
          <p:nvPr/>
        </p:nvSpPr>
        <p:spPr>
          <a:xfrm>
            <a:off x="661492" y="4570016"/>
            <a:ext cx="302420" cy="302420"/>
          </a:xfrm>
          <a:prstGeom prst="roundRect">
            <a:avLst>
              <a:gd name="adj" fmla="val 50000"/>
            </a:avLst>
          </a:prstGeom>
          <a:ln w="7620">
            <a:solidFill>
              <a:srgbClr val="FFFFFF"/>
            </a:solidFill>
          </a:ln>
        </p:spPr>
        <p:txBody>
          <a:bodyPr lIns="38099" rIns="38099"/>
          <a:lstStyle/>
          <a:p>
            <a:endParaRPr sz="1500"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2" grpId="0" animBg="1" advAuto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5" name="Text 0"/>
          <p:cNvSpPr txBox="1"/>
          <p:nvPr/>
        </p:nvSpPr>
        <p:spPr>
          <a:xfrm>
            <a:off x="607971" y="1402937"/>
            <a:ext cx="9468450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How to Conduct a Lit Review</a:t>
            </a:r>
          </a:p>
        </p:txBody>
      </p:sp>
      <p:sp>
        <p:nvSpPr>
          <p:cNvPr id="3086" name="Text 1"/>
          <p:cNvSpPr txBox="1"/>
          <p:nvPr/>
        </p:nvSpPr>
        <p:spPr>
          <a:xfrm>
            <a:off x="618675" y="2287591"/>
            <a:ext cx="10954650" cy="471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333"/>
              </a:lnSpc>
              <a:defRPr sz="2600" b="1">
                <a:latin typeface="Inter"/>
                <a:ea typeface="Inter"/>
                <a:cs typeface="Inter"/>
                <a:sym typeface="Inter"/>
              </a:defRPr>
            </a:pPr>
            <a:r>
              <a:rPr sz="2167"/>
              <a:t>Step 1: Clarify Your Topic or Research Question</a:t>
            </a:r>
          </a:p>
          <a:p>
            <a:pPr>
              <a:lnSpc>
                <a:spcPts val="2333"/>
              </a:lnSpc>
              <a:defRPr sz="2600" b="1">
                <a:latin typeface="Inter"/>
                <a:ea typeface="Inter"/>
                <a:cs typeface="Inter"/>
                <a:sym typeface="Inter"/>
              </a:defRPr>
            </a:pPr>
            <a:endParaRPr sz="2167"/>
          </a:p>
          <a:p>
            <a:pPr>
              <a:lnSpc>
                <a:spcPts val="2333"/>
              </a:lnSpc>
              <a:defRPr sz="2600" b="1">
                <a:latin typeface="Inter"/>
                <a:ea typeface="Inter"/>
                <a:cs typeface="Inter"/>
                <a:sym typeface="Inter"/>
              </a:defRPr>
            </a:pPr>
            <a:r>
              <a:rPr sz="2167"/>
              <a:t>Step 2: Search for Reliable Sources</a:t>
            </a:r>
          </a:p>
          <a:p>
            <a:pPr>
              <a:lnSpc>
                <a:spcPts val="2333"/>
              </a:lnSpc>
              <a:defRPr sz="2600" b="1">
                <a:latin typeface="Inter"/>
                <a:ea typeface="Inter"/>
                <a:cs typeface="Inter"/>
                <a:sym typeface="Inter"/>
              </a:defRPr>
            </a:pPr>
            <a:endParaRPr sz="2167"/>
          </a:p>
          <a:p>
            <a:pPr>
              <a:lnSpc>
                <a:spcPts val="2333"/>
              </a:lnSpc>
              <a:defRPr sz="2600" b="1">
                <a:latin typeface="Inter"/>
                <a:ea typeface="Inter"/>
                <a:cs typeface="Inter"/>
                <a:sym typeface="Inter"/>
              </a:defRPr>
            </a:pPr>
            <a:r>
              <a:rPr sz="2167"/>
              <a:t>Step 3: Skim and Select</a:t>
            </a:r>
          </a:p>
          <a:p>
            <a:pPr marL="217228" indent="-217228">
              <a:lnSpc>
                <a:spcPts val="2333"/>
              </a:lnSpc>
              <a:buSzPct val="100000"/>
              <a:buChar char="•"/>
              <a:defRPr sz="2600">
                <a:latin typeface="Inter"/>
                <a:ea typeface="Inter"/>
                <a:cs typeface="Inter"/>
                <a:sym typeface="Inter"/>
              </a:defRPr>
            </a:pPr>
            <a:r>
              <a:rPr sz="2167"/>
              <a:t>Read abstracts first to decide if the source is relevant.</a:t>
            </a:r>
          </a:p>
          <a:p>
            <a:pPr marL="217228" indent="-217228">
              <a:lnSpc>
                <a:spcPts val="2333"/>
              </a:lnSpc>
              <a:buSzPct val="100000"/>
              <a:buChar char="•"/>
              <a:defRPr sz="2600">
                <a:latin typeface="Inter"/>
                <a:ea typeface="Inter"/>
                <a:cs typeface="Inter"/>
                <a:sym typeface="Inter"/>
              </a:defRPr>
            </a:pPr>
            <a:r>
              <a:rPr sz="2167"/>
              <a:t>Choose a mix of recent, relevant, and diverse perspectives.</a:t>
            </a:r>
          </a:p>
          <a:p>
            <a:pPr marL="217228" indent="-217228">
              <a:lnSpc>
                <a:spcPts val="2333"/>
              </a:lnSpc>
              <a:buSzPct val="100000"/>
              <a:buChar char="•"/>
              <a:defRPr sz="2600">
                <a:latin typeface="Inter"/>
                <a:ea typeface="Inter"/>
                <a:cs typeface="Inter"/>
                <a:sym typeface="Inter"/>
              </a:defRPr>
            </a:pPr>
            <a:r>
              <a:rPr sz="2167"/>
              <a:t>Aim for at least 5–10 solid sources (depending on assignment length).</a:t>
            </a:r>
          </a:p>
          <a:p>
            <a:pPr>
              <a:lnSpc>
                <a:spcPts val="2333"/>
              </a:lnSpc>
              <a:defRPr sz="2600">
                <a:latin typeface="Inter"/>
                <a:ea typeface="Inter"/>
                <a:cs typeface="Inter"/>
                <a:sym typeface="Inter"/>
              </a:defRPr>
            </a:pPr>
            <a:endParaRPr sz="2167"/>
          </a:p>
          <a:p>
            <a:pPr>
              <a:lnSpc>
                <a:spcPts val="2333"/>
              </a:lnSpc>
              <a:defRPr sz="2600" b="1">
                <a:latin typeface="Inter"/>
                <a:ea typeface="Inter"/>
                <a:cs typeface="Inter"/>
                <a:sym typeface="Inter"/>
              </a:defRPr>
            </a:pPr>
            <a:r>
              <a:rPr sz="2167"/>
              <a:t>Step 4: Take Notes</a:t>
            </a:r>
          </a:p>
          <a:p>
            <a:pPr marL="217228" indent="-217228">
              <a:lnSpc>
                <a:spcPts val="2333"/>
              </a:lnSpc>
              <a:buSzPct val="100000"/>
              <a:buChar char="•"/>
              <a:defRPr sz="2600">
                <a:latin typeface="Inter"/>
                <a:ea typeface="Inter"/>
                <a:cs typeface="Inter"/>
                <a:sym typeface="Inter"/>
              </a:defRPr>
            </a:pPr>
            <a:r>
              <a:rPr sz="2167"/>
              <a:t>Write down the main point of each source.</a:t>
            </a:r>
          </a:p>
          <a:p>
            <a:pPr marL="217228" indent="-217228">
              <a:lnSpc>
                <a:spcPts val="2333"/>
              </a:lnSpc>
              <a:buSzPct val="100000"/>
              <a:buChar char="•"/>
              <a:defRPr sz="2600">
                <a:latin typeface="Inter"/>
                <a:ea typeface="Inter"/>
                <a:cs typeface="Inter"/>
                <a:sym typeface="Inter"/>
              </a:defRPr>
            </a:pPr>
            <a:r>
              <a:rPr sz="2167"/>
              <a:t>Note how it relates to your topic, and any key quotes or data.</a:t>
            </a:r>
          </a:p>
          <a:p>
            <a:pPr marL="217228" indent="-217228">
              <a:lnSpc>
                <a:spcPts val="2333"/>
              </a:lnSpc>
              <a:buSzPct val="100000"/>
              <a:buChar char="•"/>
              <a:defRPr sz="2600">
                <a:latin typeface="Inter"/>
                <a:ea typeface="Inter"/>
                <a:cs typeface="Inter"/>
                <a:sym typeface="Inter"/>
              </a:defRPr>
            </a:pPr>
            <a:r>
              <a:rPr sz="2167"/>
              <a:t>Use color coding or a chart to organize themes or arguments.</a:t>
            </a:r>
          </a:p>
          <a:p>
            <a:pPr>
              <a:lnSpc>
                <a:spcPts val="2333"/>
              </a:lnSpc>
              <a:defRPr sz="2600">
                <a:latin typeface="Inter"/>
                <a:ea typeface="Inter"/>
                <a:cs typeface="Inter"/>
                <a:sym typeface="Inter"/>
              </a:defRPr>
            </a:pPr>
            <a:endParaRPr sz="2167"/>
          </a:p>
          <a:p>
            <a:pPr>
              <a:lnSpc>
                <a:spcPts val="2333"/>
              </a:lnSpc>
              <a:defRPr sz="2600">
                <a:latin typeface="Inter"/>
                <a:ea typeface="Inter"/>
                <a:cs typeface="Inter"/>
                <a:sym typeface="Inter"/>
              </a:defRPr>
            </a:pPr>
            <a:endParaRPr sz="2167"/>
          </a:p>
          <a:p>
            <a:pPr>
              <a:lnSpc>
                <a:spcPts val="2333"/>
              </a:lnSpc>
              <a:defRPr sz="2600">
                <a:latin typeface="Inter"/>
                <a:ea typeface="Inter"/>
                <a:cs typeface="Inter"/>
                <a:sym typeface="Inter"/>
              </a:defRPr>
            </a:pPr>
            <a:endParaRPr sz="2167"/>
          </a:p>
        </p:txBody>
      </p:sp>
      <p:sp>
        <p:nvSpPr>
          <p:cNvPr id="3087" name="Shape 2"/>
          <p:cNvSpPr/>
          <p:nvPr/>
        </p:nvSpPr>
        <p:spPr>
          <a:xfrm>
            <a:off x="661492" y="4570016"/>
            <a:ext cx="302420" cy="302420"/>
          </a:xfrm>
          <a:prstGeom prst="roundRect">
            <a:avLst>
              <a:gd name="adj" fmla="val 50000"/>
            </a:avLst>
          </a:prstGeom>
          <a:ln w="7620">
            <a:solidFill>
              <a:srgbClr val="FFFFFF"/>
            </a:solidFill>
          </a:ln>
        </p:spPr>
        <p:txBody>
          <a:bodyPr lIns="38099" rIns="38099"/>
          <a:lstStyle/>
          <a:p>
            <a:endParaRPr sz="1500"/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Text 0"/>
          <p:cNvSpPr txBox="1"/>
          <p:nvPr/>
        </p:nvSpPr>
        <p:spPr>
          <a:xfrm>
            <a:off x="607971" y="1402937"/>
            <a:ext cx="9468450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How to Conduct a Lit Review</a:t>
            </a:r>
          </a:p>
        </p:txBody>
      </p:sp>
      <p:sp>
        <p:nvSpPr>
          <p:cNvPr id="3090" name="Text 1"/>
          <p:cNvSpPr txBox="1"/>
          <p:nvPr/>
        </p:nvSpPr>
        <p:spPr>
          <a:xfrm>
            <a:off x="618675" y="2287591"/>
            <a:ext cx="10954650" cy="23596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333"/>
              </a:lnSpc>
              <a:defRPr sz="2600" b="1">
                <a:latin typeface="Inter"/>
                <a:ea typeface="Inter"/>
                <a:cs typeface="Inter"/>
                <a:sym typeface="Inter"/>
              </a:defRPr>
            </a:pPr>
            <a:r>
              <a:rPr sz="2167"/>
              <a:t>Step 5: Group by Themes or Ideas</a:t>
            </a:r>
          </a:p>
          <a:p>
            <a:pPr marL="217228" indent="-217228">
              <a:lnSpc>
                <a:spcPts val="2333"/>
              </a:lnSpc>
              <a:buSzPct val="100000"/>
              <a:buChar char="•"/>
              <a:defRPr sz="2600">
                <a:latin typeface="Inter"/>
                <a:ea typeface="Inter"/>
                <a:cs typeface="Inter"/>
                <a:sym typeface="Inter"/>
              </a:defRPr>
            </a:pPr>
            <a:r>
              <a:rPr sz="2167"/>
              <a:t>Don’t stop at summarizing each article one by one.</a:t>
            </a:r>
          </a:p>
          <a:p>
            <a:pPr marL="217228" indent="-217228">
              <a:lnSpc>
                <a:spcPts val="2333"/>
              </a:lnSpc>
              <a:buSzPct val="100000"/>
              <a:buChar char="•"/>
              <a:defRPr sz="2600">
                <a:latin typeface="Inter"/>
                <a:ea typeface="Inter"/>
                <a:cs typeface="Inter"/>
                <a:sym typeface="Inter"/>
              </a:defRPr>
            </a:pPr>
            <a:r>
              <a:rPr sz="2167"/>
              <a:t>Instead, group your notes by common themes, disagreements, or trends.</a:t>
            </a:r>
          </a:p>
          <a:p>
            <a:pPr marL="217228" indent="-217228">
              <a:lnSpc>
                <a:spcPts val="2333"/>
              </a:lnSpc>
              <a:buSzPct val="100000"/>
              <a:buChar char="•"/>
              <a:defRPr sz="2600">
                <a:latin typeface="Inter"/>
                <a:ea typeface="Inter"/>
                <a:cs typeface="Inter"/>
                <a:sym typeface="Inter"/>
              </a:defRPr>
            </a:pPr>
            <a:r>
              <a:rPr sz="2167"/>
              <a:t>Ask: What do these sources have in common? How do they differ?</a:t>
            </a:r>
          </a:p>
          <a:p>
            <a:pPr>
              <a:lnSpc>
                <a:spcPts val="2333"/>
              </a:lnSpc>
              <a:defRPr sz="2600">
                <a:latin typeface="Inter"/>
                <a:ea typeface="Inter"/>
                <a:cs typeface="Inter"/>
                <a:sym typeface="Inter"/>
              </a:defRPr>
            </a:pPr>
            <a:endParaRPr sz="2167"/>
          </a:p>
          <a:p>
            <a:pPr>
              <a:lnSpc>
                <a:spcPts val="2333"/>
              </a:lnSpc>
              <a:defRPr sz="2600" b="1">
                <a:latin typeface="Inter"/>
                <a:ea typeface="Inter"/>
                <a:cs typeface="Inter"/>
                <a:sym typeface="Inter"/>
              </a:defRPr>
            </a:pPr>
            <a:r>
              <a:rPr sz="2167"/>
              <a:t>Step 6: Start Writing</a:t>
            </a:r>
          </a:p>
          <a:p>
            <a:pPr>
              <a:lnSpc>
                <a:spcPts val="2333"/>
              </a:lnSpc>
              <a:defRPr sz="2600">
                <a:latin typeface="Inter"/>
                <a:ea typeface="Inter"/>
                <a:cs typeface="Inter"/>
                <a:sym typeface="Inter"/>
              </a:defRPr>
            </a:pPr>
            <a:endParaRPr sz="2167"/>
          </a:p>
          <a:p>
            <a:pPr>
              <a:lnSpc>
                <a:spcPts val="2333"/>
              </a:lnSpc>
              <a:defRPr sz="2600" b="1">
                <a:latin typeface="Inter"/>
                <a:ea typeface="Inter"/>
                <a:cs typeface="Inter"/>
                <a:sym typeface="Inter"/>
              </a:defRPr>
            </a:pPr>
            <a:r>
              <a:rPr sz="2167"/>
              <a:t>Step 7: Cite Everything</a:t>
            </a:r>
          </a:p>
        </p:txBody>
      </p:sp>
      <p:sp>
        <p:nvSpPr>
          <p:cNvPr id="3091" name="Shape 2"/>
          <p:cNvSpPr/>
          <p:nvPr/>
        </p:nvSpPr>
        <p:spPr>
          <a:xfrm>
            <a:off x="661492" y="4570016"/>
            <a:ext cx="302420" cy="302420"/>
          </a:xfrm>
          <a:prstGeom prst="roundRect">
            <a:avLst>
              <a:gd name="adj" fmla="val 50000"/>
            </a:avLst>
          </a:prstGeom>
          <a:ln w="7620">
            <a:solidFill>
              <a:srgbClr val="FFFFFF"/>
            </a:solidFill>
          </a:ln>
        </p:spPr>
        <p:txBody>
          <a:bodyPr lIns="38099" rIns="38099"/>
          <a:lstStyle/>
          <a:p>
            <a:endParaRPr sz="1500"/>
          </a:p>
        </p:txBody>
      </p: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3" name="Text 0"/>
          <p:cNvSpPr txBox="1"/>
          <p:nvPr/>
        </p:nvSpPr>
        <p:spPr>
          <a:xfrm>
            <a:off x="470319" y="556033"/>
            <a:ext cx="6032101" cy="8243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3167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667"/>
              <a:t>Literature Review Template</a:t>
            </a:r>
          </a:p>
          <a:p>
            <a:pPr>
              <a:lnSpc>
                <a:spcPts val="3167"/>
              </a:lnSpc>
              <a:defRPr sz="4400" i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667"/>
              <a:t>Short Version</a:t>
            </a:r>
          </a:p>
        </p:txBody>
      </p:sp>
      <p:sp>
        <p:nvSpPr>
          <p:cNvPr id="3094" name="Begin with a short introduction:…"/>
          <p:cNvSpPr txBox="1"/>
          <p:nvPr/>
        </p:nvSpPr>
        <p:spPr>
          <a:xfrm>
            <a:off x="4149249" y="1791161"/>
            <a:ext cx="7313946" cy="30418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099" rIns="38099">
            <a:spAutoFit/>
          </a:bodyPr>
          <a:lstStyle/>
          <a:p>
            <a:pPr marL="217228" indent="-217228">
              <a:lnSpc>
                <a:spcPts val="2333"/>
              </a:lnSpc>
              <a:buSzPct val="100000"/>
              <a:buChar char="•"/>
              <a:defRPr sz="2600">
                <a:latin typeface="Inter"/>
                <a:ea typeface="Inter"/>
                <a:cs typeface="Inter"/>
                <a:sym typeface="Inter"/>
              </a:defRPr>
            </a:pPr>
            <a:r>
              <a:rPr sz="2167" b="1"/>
              <a:t>Begin with a short introduction: </a:t>
            </a:r>
          </a:p>
          <a:p>
            <a:pPr marL="534715" lvl="1" indent="-217228">
              <a:lnSpc>
                <a:spcPts val="2333"/>
              </a:lnSpc>
              <a:buSzPct val="100000"/>
              <a:buChar char="•"/>
              <a:defRPr sz="2300">
                <a:latin typeface="Inter"/>
                <a:ea typeface="Inter"/>
                <a:cs typeface="Inter"/>
                <a:sym typeface="Inter"/>
              </a:defRPr>
            </a:pPr>
            <a:r>
              <a:rPr sz="1917"/>
              <a:t>What is your topic? </a:t>
            </a:r>
          </a:p>
          <a:p>
            <a:pPr marL="534715" lvl="1" indent="-217228">
              <a:lnSpc>
                <a:spcPts val="2333"/>
              </a:lnSpc>
              <a:buSzPct val="100000"/>
              <a:buChar char="•"/>
              <a:defRPr sz="2300">
                <a:latin typeface="Inter"/>
                <a:ea typeface="Inter"/>
                <a:cs typeface="Inter"/>
                <a:sym typeface="Inter"/>
              </a:defRPr>
            </a:pPr>
            <a:r>
              <a:rPr sz="1917"/>
              <a:t>Why is it important?</a:t>
            </a:r>
          </a:p>
          <a:p>
            <a:pPr>
              <a:lnSpc>
                <a:spcPts val="2333"/>
              </a:lnSpc>
              <a:defRPr sz="2600">
                <a:latin typeface="Inter"/>
                <a:ea typeface="Inter"/>
                <a:cs typeface="Inter"/>
                <a:sym typeface="Inter"/>
              </a:defRPr>
            </a:pPr>
            <a:endParaRPr sz="2167" b="1"/>
          </a:p>
          <a:p>
            <a:pPr marL="217228" indent="-217228">
              <a:lnSpc>
                <a:spcPts val="2333"/>
              </a:lnSpc>
              <a:buSzPct val="100000"/>
              <a:buChar char="•"/>
              <a:defRPr sz="2600">
                <a:latin typeface="Inter"/>
                <a:ea typeface="Inter"/>
                <a:cs typeface="Inter"/>
                <a:sym typeface="Inter"/>
              </a:defRPr>
            </a:pPr>
            <a:r>
              <a:rPr sz="2167" b="1"/>
              <a:t>Body: </a:t>
            </a:r>
          </a:p>
          <a:p>
            <a:pPr marL="534715" lvl="1" indent="-217228">
              <a:lnSpc>
                <a:spcPts val="2333"/>
              </a:lnSpc>
              <a:buSzPct val="100000"/>
              <a:buChar char="•"/>
              <a:defRPr sz="2300">
                <a:latin typeface="Inter"/>
                <a:ea typeface="Inter"/>
                <a:cs typeface="Inter"/>
                <a:sym typeface="Inter"/>
              </a:defRPr>
            </a:pPr>
            <a:r>
              <a:rPr sz="1917"/>
              <a:t>Share what other studies have found. </a:t>
            </a:r>
          </a:p>
          <a:p>
            <a:pPr marL="534715" lvl="1" indent="-217228">
              <a:lnSpc>
                <a:spcPts val="2333"/>
              </a:lnSpc>
              <a:buSzPct val="100000"/>
              <a:buChar char="•"/>
              <a:defRPr sz="2300">
                <a:latin typeface="Inter"/>
                <a:ea typeface="Inter"/>
                <a:cs typeface="Inter"/>
                <a:sym typeface="Inter"/>
              </a:defRPr>
            </a:pPr>
            <a:r>
              <a:rPr sz="1917"/>
              <a:t>Organize the body by themes, not by author.</a:t>
            </a:r>
            <a:endParaRPr sz="1917" b="1"/>
          </a:p>
          <a:p>
            <a:pPr marL="217228" indent="-217228">
              <a:lnSpc>
                <a:spcPts val="2333"/>
              </a:lnSpc>
              <a:buSzPct val="100000"/>
              <a:buChar char="•"/>
              <a:defRPr sz="2600">
                <a:latin typeface="Inter"/>
                <a:ea typeface="Inter"/>
                <a:cs typeface="Inter"/>
                <a:sym typeface="Inter"/>
              </a:defRPr>
            </a:pPr>
            <a:endParaRPr sz="2167" b="1"/>
          </a:p>
          <a:p>
            <a:pPr marL="217228" indent="-217228">
              <a:lnSpc>
                <a:spcPts val="2333"/>
              </a:lnSpc>
              <a:buSzPct val="100000"/>
              <a:buChar char="•"/>
              <a:defRPr sz="2600">
                <a:latin typeface="Inter"/>
                <a:ea typeface="Inter"/>
                <a:cs typeface="Inter"/>
                <a:sym typeface="Inter"/>
              </a:defRPr>
            </a:pPr>
            <a:r>
              <a:rPr sz="2167" b="1"/>
              <a:t>End with a summary: </a:t>
            </a:r>
          </a:p>
          <a:p>
            <a:pPr marL="534715" lvl="1" indent="-217228">
              <a:lnSpc>
                <a:spcPts val="2333"/>
              </a:lnSpc>
              <a:buSzPct val="100000"/>
              <a:buChar char="•"/>
              <a:defRPr sz="2300">
                <a:latin typeface="Inter"/>
                <a:ea typeface="Inter"/>
                <a:cs typeface="Inter"/>
                <a:sym typeface="Inter"/>
              </a:defRPr>
            </a:pPr>
            <a:r>
              <a:rPr sz="1917"/>
              <a:t>Clarify how your project connects to past research.</a:t>
            </a:r>
          </a:p>
        </p:txBody>
      </p:sp>
      <p:pic>
        <p:nvPicPr>
          <p:cNvPr id="3095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36336"/>
            <a:ext cx="3681109" cy="552166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7" name="Text 0"/>
          <p:cNvSpPr txBox="1"/>
          <p:nvPr/>
        </p:nvSpPr>
        <p:spPr>
          <a:xfrm>
            <a:off x="607971" y="1402937"/>
            <a:ext cx="9468450" cy="548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4583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667"/>
              <a:t>Importance of giving reference </a:t>
            </a:r>
            <a:r>
              <a:rPr sz="3667">
                <a:solidFill>
                  <a:srgbClr val="941751"/>
                </a:solidFill>
              </a:rPr>
              <a:t>aka citing</a:t>
            </a:r>
          </a:p>
        </p:txBody>
      </p:sp>
      <p:sp>
        <p:nvSpPr>
          <p:cNvPr id="3098" name="Text 1"/>
          <p:cNvSpPr txBox="1"/>
          <p:nvPr/>
        </p:nvSpPr>
        <p:spPr>
          <a:xfrm>
            <a:off x="546982" y="2548575"/>
            <a:ext cx="10835276" cy="2659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333"/>
              </a:lnSpc>
              <a:defRPr sz="2800" b="1">
                <a:latin typeface="Inter"/>
                <a:ea typeface="Inter"/>
                <a:cs typeface="Inter"/>
                <a:sym typeface="Inter"/>
              </a:defRPr>
            </a:pPr>
            <a:r>
              <a:rPr sz="2333"/>
              <a:t>What is Citing?</a:t>
            </a:r>
          </a:p>
          <a:p>
            <a:pPr>
              <a:lnSpc>
                <a:spcPts val="2333"/>
              </a:lnSpc>
              <a:defRPr sz="2800" b="1">
                <a:latin typeface="Inter"/>
                <a:ea typeface="Inter"/>
                <a:cs typeface="Inter"/>
                <a:sym typeface="Inter"/>
              </a:defRPr>
            </a:pPr>
            <a:endParaRPr sz="2333"/>
          </a:p>
          <a:p>
            <a:pPr>
              <a:lnSpc>
                <a:spcPts val="2333"/>
              </a:lnSpc>
              <a:defRPr sz="2800" b="1">
                <a:latin typeface="Inter"/>
                <a:ea typeface="Inter"/>
                <a:cs typeface="Inter"/>
                <a:sym typeface="Inter"/>
              </a:defRPr>
            </a:pPr>
            <a:r>
              <a:rPr sz="2333"/>
              <a:t>Citing your sources means giving credit to the original authors of the ideas, words, or data you use in your work.</a:t>
            </a:r>
          </a:p>
          <a:p>
            <a:pPr>
              <a:lnSpc>
                <a:spcPts val="2333"/>
              </a:lnSpc>
              <a:defRPr sz="2800" b="1">
                <a:latin typeface="Inter"/>
                <a:ea typeface="Inter"/>
                <a:cs typeface="Inter"/>
                <a:sym typeface="Inter"/>
              </a:defRPr>
            </a:pPr>
            <a:br>
              <a:rPr sz="2333"/>
            </a:br>
            <a:r>
              <a:rPr sz="2333"/>
              <a:t>We cite to:</a:t>
            </a:r>
          </a:p>
          <a:p>
            <a:pPr marL="183808" indent="-183808">
              <a:lnSpc>
                <a:spcPts val="2333"/>
              </a:lnSpc>
              <a:buSzPct val="100000"/>
              <a:buChar char="•"/>
              <a:defRPr sz="2800">
                <a:latin typeface="Inter"/>
                <a:ea typeface="Inter"/>
                <a:cs typeface="Inter"/>
                <a:sym typeface="Inter"/>
              </a:defRPr>
            </a:pPr>
            <a:r>
              <a:rPr sz="2333"/>
              <a:t>Avoid plagiarism (taking credit for someone else's work),</a:t>
            </a:r>
          </a:p>
          <a:p>
            <a:pPr marL="183808" indent="-183808">
              <a:lnSpc>
                <a:spcPts val="2333"/>
              </a:lnSpc>
              <a:buSzPct val="100000"/>
              <a:buChar char="•"/>
              <a:defRPr sz="2800">
                <a:latin typeface="Inter"/>
                <a:ea typeface="Inter"/>
                <a:cs typeface="Inter"/>
                <a:sym typeface="Inter"/>
              </a:defRPr>
            </a:pPr>
            <a:r>
              <a:rPr sz="2333"/>
              <a:t>Show where your information came from, and</a:t>
            </a:r>
          </a:p>
          <a:p>
            <a:pPr marL="183808" indent="-183808">
              <a:lnSpc>
                <a:spcPts val="2333"/>
              </a:lnSpc>
              <a:buSzPct val="100000"/>
              <a:buChar char="•"/>
              <a:defRPr sz="2800">
                <a:latin typeface="Inter"/>
                <a:ea typeface="Inter"/>
                <a:cs typeface="Inter"/>
                <a:sym typeface="Inter"/>
              </a:defRPr>
            </a:pPr>
            <a:r>
              <a:rPr sz="2333"/>
              <a:t>Help others find those sources if they want to learn more.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09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30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30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30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30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30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30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30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98" grpId="0" build="p" bldLvl="5" animBg="1" advAuto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0" name="Text 0"/>
          <p:cNvSpPr txBox="1"/>
          <p:nvPr/>
        </p:nvSpPr>
        <p:spPr>
          <a:xfrm>
            <a:off x="607971" y="1402937"/>
            <a:ext cx="9468450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What to Cite? What not to Cite? </a:t>
            </a:r>
          </a:p>
        </p:txBody>
      </p:sp>
      <p:sp>
        <p:nvSpPr>
          <p:cNvPr id="3101" name="Text 1"/>
          <p:cNvSpPr txBox="1"/>
          <p:nvPr/>
        </p:nvSpPr>
        <p:spPr>
          <a:xfrm>
            <a:off x="546982" y="2181347"/>
            <a:ext cx="10835276" cy="38227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333"/>
              </a:lnSpc>
              <a:defRPr sz="2200" b="1">
                <a:latin typeface="Inter"/>
                <a:ea typeface="Inter"/>
                <a:cs typeface="Inter"/>
                <a:sym typeface="Inter"/>
              </a:defRPr>
            </a:pPr>
            <a:r>
              <a:rPr sz="1833"/>
              <a:t>You should cite:</a:t>
            </a:r>
          </a:p>
          <a:p>
            <a:pPr marL="183808" indent="-183808">
              <a:lnSpc>
                <a:spcPts val="2333"/>
              </a:lnSpc>
              <a:buSzPct val="100000"/>
              <a:buChar char="•"/>
              <a:defRPr sz="2200">
                <a:latin typeface="Inter"/>
                <a:ea typeface="Inter"/>
                <a:cs typeface="Inter"/>
                <a:sym typeface="Inter"/>
              </a:defRPr>
            </a:pPr>
            <a:r>
              <a:rPr sz="1833"/>
              <a:t>Direct quotes (even short ones)</a:t>
            </a:r>
          </a:p>
          <a:p>
            <a:pPr marL="183808" indent="-183808">
              <a:lnSpc>
                <a:spcPts val="2333"/>
              </a:lnSpc>
              <a:buSzPct val="100000"/>
              <a:buChar char="•"/>
              <a:defRPr sz="2200">
                <a:latin typeface="Inter"/>
                <a:ea typeface="Inter"/>
                <a:cs typeface="Inter"/>
                <a:sym typeface="Inter"/>
              </a:defRPr>
            </a:pPr>
            <a:r>
              <a:rPr sz="1833"/>
              <a:t>Paraphrased ideas (putting someone else’s idea into your own words)</a:t>
            </a:r>
          </a:p>
          <a:p>
            <a:pPr marL="183808" indent="-183808">
              <a:lnSpc>
                <a:spcPts val="2333"/>
              </a:lnSpc>
              <a:buSzPct val="100000"/>
              <a:buChar char="•"/>
              <a:defRPr sz="2200">
                <a:latin typeface="Inter"/>
                <a:ea typeface="Inter"/>
                <a:cs typeface="Inter"/>
                <a:sym typeface="Inter"/>
              </a:defRPr>
            </a:pPr>
            <a:r>
              <a:rPr sz="1833"/>
              <a:t>Statistics or data</a:t>
            </a:r>
          </a:p>
          <a:p>
            <a:pPr marL="183808" indent="-183808">
              <a:lnSpc>
                <a:spcPts val="2333"/>
              </a:lnSpc>
              <a:buSzPct val="100000"/>
              <a:buChar char="•"/>
              <a:defRPr sz="2200">
                <a:latin typeface="Inter"/>
                <a:ea typeface="Inter"/>
                <a:cs typeface="Inter"/>
                <a:sym typeface="Inter"/>
              </a:defRPr>
            </a:pPr>
            <a:r>
              <a:rPr sz="1833"/>
              <a:t>Images, charts, or graphics you didn’t create</a:t>
            </a:r>
          </a:p>
          <a:p>
            <a:pPr>
              <a:lnSpc>
                <a:spcPts val="2333"/>
              </a:lnSpc>
              <a:defRPr sz="2200">
                <a:latin typeface="Inter"/>
                <a:ea typeface="Inter"/>
                <a:cs typeface="Inter"/>
                <a:sym typeface="Inter"/>
              </a:defRPr>
            </a:pPr>
            <a:endParaRPr sz="1833"/>
          </a:p>
          <a:p>
            <a:pPr>
              <a:lnSpc>
                <a:spcPts val="2333"/>
              </a:lnSpc>
              <a:defRPr sz="2200" b="1">
                <a:latin typeface="Inter"/>
                <a:ea typeface="Inter"/>
                <a:cs typeface="Inter"/>
                <a:sym typeface="Inter"/>
              </a:defRPr>
            </a:pPr>
            <a:r>
              <a:rPr sz="1833"/>
              <a:t>You do not need to cite:</a:t>
            </a:r>
          </a:p>
          <a:p>
            <a:pPr marL="183808" indent="-183808">
              <a:lnSpc>
                <a:spcPts val="2333"/>
              </a:lnSpc>
              <a:buSzPct val="100000"/>
              <a:buChar char="•"/>
              <a:defRPr sz="2200">
                <a:latin typeface="Inter"/>
                <a:ea typeface="Inter"/>
                <a:cs typeface="Inter"/>
                <a:sym typeface="Inter"/>
              </a:defRPr>
            </a:pPr>
            <a:r>
              <a:rPr sz="1833"/>
              <a:t>Common knowledge (e.g., “Water freezes at 0°C”)</a:t>
            </a:r>
          </a:p>
          <a:p>
            <a:pPr marL="183808" indent="-183808">
              <a:lnSpc>
                <a:spcPts val="2333"/>
              </a:lnSpc>
              <a:buSzPct val="100000"/>
              <a:buChar char="•"/>
              <a:defRPr sz="2200">
                <a:latin typeface="Inter"/>
                <a:ea typeface="Inter"/>
                <a:cs typeface="Inter"/>
                <a:sym typeface="Inter"/>
              </a:defRPr>
            </a:pPr>
            <a:r>
              <a:rPr sz="1833"/>
              <a:t>Your own original thoughts</a:t>
            </a:r>
          </a:p>
          <a:p>
            <a:pPr>
              <a:lnSpc>
                <a:spcPts val="2333"/>
              </a:lnSpc>
              <a:defRPr sz="2200">
                <a:latin typeface="Inter"/>
                <a:ea typeface="Inter"/>
                <a:cs typeface="Inter"/>
                <a:sym typeface="Inter"/>
              </a:defRPr>
            </a:pPr>
            <a:endParaRPr sz="1833"/>
          </a:p>
          <a:p>
            <a:pPr>
              <a:lnSpc>
                <a:spcPts val="2333"/>
              </a:lnSpc>
              <a:defRPr sz="2200" b="1">
                <a:latin typeface="Inter"/>
                <a:ea typeface="Inter"/>
                <a:cs typeface="Inter"/>
                <a:sym typeface="Inter"/>
              </a:defRPr>
            </a:pPr>
            <a:r>
              <a:rPr sz="1833"/>
              <a:t>How to cite (more about this on Day 8): </a:t>
            </a:r>
          </a:p>
          <a:p>
            <a:pPr marL="183808" indent="-183808">
              <a:lnSpc>
                <a:spcPts val="2333"/>
              </a:lnSpc>
              <a:buSzPct val="100000"/>
              <a:buChar char="•"/>
              <a:defRPr sz="2200">
                <a:latin typeface="Inter"/>
                <a:ea typeface="Inter"/>
                <a:cs typeface="Inter"/>
                <a:sym typeface="Inter"/>
              </a:defRPr>
            </a:pPr>
            <a:r>
              <a:rPr sz="1833"/>
              <a:t>Name of the first author &amp; date - in the text</a:t>
            </a:r>
          </a:p>
          <a:p>
            <a:pPr marL="183808" indent="-183808">
              <a:lnSpc>
                <a:spcPts val="2333"/>
              </a:lnSpc>
              <a:buSzPct val="100000"/>
              <a:buChar char="•"/>
              <a:defRPr sz="2200">
                <a:latin typeface="Inter"/>
                <a:ea typeface="Inter"/>
                <a:cs typeface="Inter"/>
                <a:sym typeface="Inter"/>
              </a:defRPr>
            </a:pPr>
            <a:r>
              <a:rPr sz="1833"/>
              <a:t>Full info - on the references page</a:t>
            </a:r>
          </a:p>
        </p:txBody>
      </p:sp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3" name="Text 0"/>
          <p:cNvSpPr txBox="1"/>
          <p:nvPr/>
        </p:nvSpPr>
        <p:spPr>
          <a:xfrm>
            <a:off x="4102577" y="1579072"/>
            <a:ext cx="7386638" cy="4873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8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Hands-on Reading / Writing Time</a:t>
            </a:r>
          </a:p>
        </p:txBody>
      </p:sp>
      <p:pic>
        <p:nvPicPr>
          <p:cNvPr id="3104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36336"/>
            <a:ext cx="3681109" cy="552166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6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5380" y="700690"/>
            <a:ext cx="3935541" cy="5903311"/>
          </a:xfrm>
          <a:prstGeom prst="rect">
            <a:avLst/>
          </a:prstGeom>
          <a:ln w="12700">
            <a:miter lim="400000"/>
          </a:ln>
        </p:spPr>
      </p:pic>
      <p:sp>
        <p:nvSpPr>
          <p:cNvPr id="3107" name="Text 0"/>
          <p:cNvSpPr txBox="1"/>
          <p:nvPr/>
        </p:nvSpPr>
        <p:spPr>
          <a:xfrm>
            <a:off x="661492" y="1043087"/>
            <a:ext cx="5232202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Homework - Teamwork</a:t>
            </a:r>
          </a:p>
        </p:txBody>
      </p:sp>
      <p:sp>
        <p:nvSpPr>
          <p:cNvPr id="3108" name="Shape 1"/>
          <p:cNvSpPr/>
          <p:nvPr/>
        </p:nvSpPr>
        <p:spPr>
          <a:xfrm>
            <a:off x="661492" y="1917204"/>
            <a:ext cx="6843855" cy="3419048"/>
          </a:xfrm>
          <a:prstGeom prst="roundRect">
            <a:avLst>
              <a:gd name="adj" fmla="val 232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sp>
        <p:nvSpPr>
          <p:cNvPr id="3109" name="Text 2"/>
          <p:cNvSpPr txBox="1"/>
          <p:nvPr/>
        </p:nvSpPr>
        <p:spPr>
          <a:xfrm>
            <a:off x="856853" y="2112565"/>
            <a:ext cx="5148571" cy="3223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83808" indent="-183808">
              <a:lnSpc>
                <a:spcPts val="2250"/>
              </a:lnSpc>
              <a:buSzPct val="100000"/>
              <a:buChar char="•"/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1833"/>
          </a:p>
          <a:p>
            <a:pPr marL="183808" indent="-183808">
              <a:lnSpc>
                <a:spcPts val="2250"/>
              </a:lnSpc>
              <a:buSzPct val="100000"/>
              <a:buChar char="•"/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1833"/>
              <a:t>Finish Handout 4: Research Design Blueprint.  </a:t>
            </a:r>
          </a:p>
          <a:p>
            <a:pPr>
              <a:lnSpc>
                <a:spcPts val="225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1833"/>
          </a:p>
          <a:p>
            <a:pPr marL="183808" indent="-183808">
              <a:lnSpc>
                <a:spcPts val="2250"/>
              </a:lnSpc>
              <a:buSzPct val="100000"/>
              <a:buChar char="•"/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1833"/>
              <a:t>Continue with your lit review. Make sure you have resources that speak to why your topic is important. </a:t>
            </a:r>
            <a:r>
              <a:rPr sz="1833">
                <a:solidFill>
                  <a:srgbClr val="941751"/>
                </a:solidFill>
              </a:rPr>
              <a:t>You would need this information for your upcoming presentation!</a:t>
            </a:r>
            <a:r>
              <a:rPr sz="1833"/>
              <a:t> As always, keep track of your resources through “Source Tracker”. Share your notes with your team members.</a:t>
            </a:r>
          </a:p>
          <a:p>
            <a:pPr>
              <a:lnSpc>
                <a:spcPts val="225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1833"/>
          </a:p>
        </p:txBody>
      </p:sp>
      <p:pic>
        <p:nvPicPr>
          <p:cNvPr id="3110" name="pasted-movie.png" descr="pasted-movie.png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 rot="360000">
            <a:off x="6246565" y="2838592"/>
            <a:ext cx="2996112" cy="3781180"/>
          </a:xfrm>
          <a:prstGeom prst="rect">
            <a:avLst/>
          </a:prstGeom>
          <a:effectLst>
            <a:outerShdw blurRad="381000" dist="114300" rotWithShape="0">
              <a:srgbClr val="000000">
                <a:alpha val="75000"/>
              </a:srgbClr>
            </a:outerShdw>
          </a:effectLst>
        </p:spPr>
      </p:pic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" name="Rectangle"/>
          <p:cNvSpPr/>
          <p:nvPr/>
        </p:nvSpPr>
        <p:spPr>
          <a:xfrm>
            <a:off x="10278766" y="-63446"/>
            <a:ext cx="1058334" cy="698489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099" rIns="38099" anchor="ctr"/>
          <a:lstStyle/>
          <a:p>
            <a:endParaRPr sz="1500"/>
          </a:p>
        </p:txBody>
      </p:sp>
      <p:sp>
        <p:nvSpPr>
          <p:cNvPr id="3113" name="Rectangle"/>
          <p:cNvSpPr/>
          <p:nvPr/>
        </p:nvSpPr>
        <p:spPr>
          <a:xfrm>
            <a:off x="8310266" y="120000"/>
            <a:ext cx="1058334" cy="698489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099" rIns="38099" anchor="ctr"/>
          <a:lstStyle/>
          <a:p>
            <a:endParaRPr sz="1500"/>
          </a:p>
        </p:txBody>
      </p:sp>
      <p:sp>
        <p:nvSpPr>
          <p:cNvPr id="3114" name="Rectangle"/>
          <p:cNvSpPr/>
          <p:nvPr/>
        </p:nvSpPr>
        <p:spPr>
          <a:xfrm>
            <a:off x="6341766" y="-63446"/>
            <a:ext cx="1058334" cy="698489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099" rIns="38099" anchor="ctr"/>
          <a:lstStyle/>
          <a:p>
            <a:endParaRPr sz="1500"/>
          </a:p>
        </p:txBody>
      </p:sp>
      <p:sp>
        <p:nvSpPr>
          <p:cNvPr id="3115" name="Rectangle"/>
          <p:cNvSpPr/>
          <p:nvPr/>
        </p:nvSpPr>
        <p:spPr>
          <a:xfrm>
            <a:off x="4474788" y="-63446"/>
            <a:ext cx="1058334" cy="698489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099" rIns="38099" anchor="ctr"/>
          <a:lstStyle/>
          <a:p>
            <a:endParaRPr sz="1500"/>
          </a:p>
        </p:txBody>
      </p:sp>
      <p:sp>
        <p:nvSpPr>
          <p:cNvPr id="3116" name="Rectangle"/>
          <p:cNvSpPr/>
          <p:nvPr/>
        </p:nvSpPr>
        <p:spPr>
          <a:xfrm>
            <a:off x="2607811" y="-63446"/>
            <a:ext cx="1058334" cy="698489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099" rIns="38099" anchor="ctr"/>
          <a:lstStyle/>
          <a:p>
            <a:endParaRPr sz="1500"/>
          </a:p>
        </p:txBody>
      </p:sp>
      <p:sp>
        <p:nvSpPr>
          <p:cNvPr id="3117" name="Rectangle"/>
          <p:cNvSpPr/>
          <p:nvPr/>
        </p:nvSpPr>
        <p:spPr>
          <a:xfrm>
            <a:off x="740833" y="-63446"/>
            <a:ext cx="1058333" cy="698489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099" rIns="38099" anchor="ctr"/>
          <a:lstStyle/>
          <a:p>
            <a:endParaRPr sz="1500"/>
          </a:p>
        </p:txBody>
      </p:sp>
      <p:sp>
        <p:nvSpPr>
          <p:cNvPr id="3118" name="EXTRA SLIDES FOR DAY 5"/>
          <p:cNvSpPr txBox="1"/>
          <p:nvPr/>
        </p:nvSpPr>
        <p:spPr>
          <a:xfrm>
            <a:off x="81618" y="1146599"/>
            <a:ext cx="12028765" cy="1111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099" rIns="38099">
            <a:spAutoFit/>
          </a:bodyPr>
          <a:lstStyle/>
          <a:p>
            <a:pPr algn="ctr">
              <a:lnSpc>
                <a:spcPct val="90000"/>
              </a:lnSpc>
              <a:defRPr sz="4400">
                <a:latin typeface="Aptos Display"/>
                <a:ea typeface="Aptos Display"/>
                <a:cs typeface="Aptos Display"/>
                <a:sym typeface="Aptos Display"/>
              </a:defRPr>
            </a:pPr>
            <a:endParaRPr sz="3667"/>
          </a:p>
          <a:p>
            <a:pPr algn="ctr">
              <a:lnSpc>
                <a:spcPct val="90000"/>
              </a:lnSpc>
              <a:defRPr sz="4400">
                <a:latin typeface="Aptos Display"/>
                <a:ea typeface="Aptos Display"/>
                <a:cs typeface="Aptos Display"/>
                <a:sym typeface="Aptos Display"/>
              </a:defRPr>
            </a:pPr>
            <a:r>
              <a:rPr sz="3667" b="1"/>
              <a:t>EXTRA SLIDES FOR DAY 5</a:t>
            </a:r>
          </a:p>
        </p:txBody>
      </p:sp>
      <p:sp>
        <p:nvSpPr>
          <p:cNvPr id="3119" name="Rectangle"/>
          <p:cNvSpPr/>
          <p:nvPr/>
        </p:nvSpPr>
        <p:spPr>
          <a:xfrm>
            <a:off x="-155850" y="6147566"/>
            <a:ext cx="12503701" cy="74882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099" rIns="38099" anchor="ctr"/>
          <a:lstStyle/>
          <a:p>
            <a:endParaRPr sz="1500"/>
          </a:p>
        </p:txBody>
      </p:sp>
      <p:sp>
        <p:nvSpPr>
          <p:cNvPr id="3120" name="Rectangle"/>
          <p:cNvSpPr/>
          <p:nvPr/>
        </p:nvSpPr>
        <p:spPr>
          <a:xfrm>
            <a:off x="-11851" y="-58595"/>
            <a:ext cx="12215701" cy="74882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099" rIns="38099" anchor="ctr"/>
          <a:lstStyle/>
          <a:p>
            <a:endParaRPr sz="1500"/>
          </a:p>
        </p:txBody>
      </p:sp>
    </p:spTree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2" name="Text 0"/>
          <p:cNvSpPr txBox="1"/>
          <p:nvPr/>
        </p:nvSpPr>
        <p:spPr>
          <a:xfrm>
            <a:off x="661491" y="1360686"/>
            <a:ext cx="6613990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Common Research Challenges</a:t>
            </a:r>
          </a:p>
        </p:txBody>
      </p:sp>
      <p:sp>
        <p:nvSpPr>
          <p:cNvPr id="3123" name="Text 1"/>
          <p:cNvSpPr txBox="1"/>
          <p:nvPr/>
        </p:nvSpPr>
        <p:spPr>
          <a:xfrm>
            <a:off x="661491" y="2423815"/>
            <a:ext cx="2157642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Participation Issues</a:t>
            </a:r>
          </a:p>
        </p:txBody>
      </p:sp>
      <p:sp>
        <p:nvSpPr>
          <p:cNvPr id="3124" name="Text 2"/>
          <p:cNvSpPr txBox="1"/>
          <p:nvPr/>
        </p:nvSpPr>
        <p:spPr>
          <a:xfrm>
            <a:off x="661491" y="2908101"/>
            <a:ext cx="2291846" cy="317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800"/>
              </a:lnSpc>
              <a:buSzPct val="100000"/>
              <a:buChar char="•"/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Low survey response rates</a:t>
            </a:r>
          </a:p>
        </p:txBody>
      </p:sp>
      <p:sp>
        <p:nvSpPr>
          <p:cNvPr id="3125" name="Text 3"/>
          <p:cNvSpPr txBox="1"/>
          <p:nvPr/>
        </p:nvSpPr>
        <p:spPr>
          <a:xfrm>
            <a:off x="661491" y="3276600"/>
            <a:ext cx="2222853" cy="317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800"/>
              </a:lnSpc>
              <a:buSzPct val="100000"/>
              <a:buChar char="•"/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Participants dropping out</a:t>
            </a:r>
          </a:p>
        </p:txBody>
      </p:sp>
      <p:sp>
        <p:nvSpPr>
          <p:cNvPr id="3126" name="Text 4"/>
          <p:cNvSpPr txBox="1"/>
          <p:nvPr/>
        </p:nvSpPr>
        <p:spPr>
          <a:xfrm>
            <a:off x="661491" y="3645098"/>
            <a:ext cx="1805559" cy="317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800"/>
              </a:lnSpc>
              <a:buSzPct val="100000"/>
              <a:buChar char="•"/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Scheduling conflicts</a:t>
            </a:r>
          </a:p>
        </p:txBody>
      </p:sp>
      <p:sp>
        <p:nvSpPr>
          <p:cNvPr id="3127" name="Text 5"/>
          <p:cNvSpPr txBox="1"/>
          <p:nvPr/>
        </p:nvSpPr>
        <p:spPr>
          <a:xfrm>
            <a:off x="661491" y="4117579"/>
            <a:ext cx="3315098" cy="1035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Solution: Recruit more than needed, send reminders, offer incentives, be flexible with scheduling.</a:t>
            </a:r>
          </a:p>
        </p:txBody>
      </p:sp>
      <p:sp>
        <p:nvSpPr>
          <p:cNvPr id="3128" name="Text 6"/>
          <p:cNvSpPr txBox="1"/>
          <p:nvPr/>
        </p:nvSpPr>
        <p:spPr>
          <a:xfrm>
            <a:off x="4444106" y="2423815"/>
            <a:ext cx="2596865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Measurement Problems</a:t>
            </a:r>
          </a:p>
        </p:txBody>
      </p:sp>
      <p:sp>
        <p:nvSpPr>
          <p:cNvPr id="3129" name="Text 7"/>
          <p:cNvSpPr txBox="1"/>
          <p:nvPr/>
        </p:nvSpPr>
        <p:spPr>
          <a:xfrm>
            <a:off x="4444106" y="2908101"/>
            <a:ext cx="1451551" cy="317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800"/>
              </a:lnSpc>
              <a:buSzPct val="100000"/>
              <a:buChar char="•"/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Unclear results</a:t>
            </a:r>
          </a:p>
        </p:txBody>
      </p:sp>
      <p:sp>
        <p:nvSpPr>
          <p:cNvPr id="3130" name="Text 8"/>
          <p:cNvSpPr txBox="1"/>
          <p:nvPr/>
        </p:nvSpPr>
        <p:spPr>
          <a:xfrm>
            <a:off x="4444106" y="3276600"/>
            <a:ext cx="1735411" cy="317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800"/>
              </a:lnSpc>
              <a:buSzPct val="100000"/>
              <a:buChar char="•"/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Equipment failures</a:t>
            </a:r>
          </a:p>
        </p:txBody>
      </p:sp>
      <p:sp>
        <p:nvSpPr>
          <p:cNvPr id="3131" name="Text 9"/>
          <p:cNvSpPr txBox="1"/>
          <p:nvPr/>
        </p:nvSpPr>
        <p:spPr>
          <a:xfrm>
            <a:off x="4444106" y="3645098"/>
            <a:ext cx="1609543" cy="317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800"/>
              </a:lnSpc>
              <a:buSzPct val="100000"/>
              <a:buChar char="•"/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Inconsistent data</a:t>
            </a:r>
          </a:p>
        </p:txBody>
      </p:sp>
      <p:sp>
        <p:nvSpPr>
          <p:cNvPr id="3132" name="Text 10"/>
          <p:cNvSpPr txBox="1"/>
          <p:nvPr/>
        </p:nvSpPr>
        <p:spPr>
          <a:xfrm>
            <a:off x="4444106" y="4117579"/>
            <a:ext cx="3315098" cy="1035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Solution: Test instruments beforehand, use multiple measures, document anomalies, increase sample size.</a:t>
            </a:r>
          </a:p>
        </p:txBody>
      </p:sp>
      <p:sp>
        <p:nvSpPr>
          <p:cNvPr id="3133" name="Text 11"/>
          <p:cNvSpPr txBox="1"/>
          <p:nvPr/>
        </p:nvSpPr>
        <p:spPr>
          <a:xfrm>
            <a:off x="8226723" y="2423815"/>
            <a:ext cx="2317942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Resource Limitations</a:t>
            </a:r>
          </a:p>
        </p:txBody>
      </p:sp>
      <p:sp>
        <p:nvSpPr>
          <p:cNvPr id="3134" name="Text 12"/>
          <p:cNvSpPr txBox="1"/>
          <p:nvPr/>
        </p:nvSpPr>
        <p:spPr>
          <a:xfrm>
            <a:off x="8226723" y="2908101"/>
            <a:ext cx="1724575" cy="317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800"/>
              </a:lnSpc>
              <a:buSzPct val="100000"/>
              <a:buChar char="•"/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Budget constraints</a:t>
            </a:r>
          </a:p>
        </p:txBody>
      </p:sp>
      <p:sp>
        <p:nvSpPr>
          <p:cNvPr id="3135" name="Text 13"/>
          <p:cNvSpPr txBox="1"/>
          <p:nvPr/>
        </p:nvSpPr>
        <p:spPr>
          <a:xfrm>
            <a:off x="8226723" y="3276600"/>
            <a:ext cx="1410322" cy="317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800"/>
              </a:lnSpc>
              <a:buSzPct val="100000"/>
              <a:buChar char="•"/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Limited access</a:t>
            </a:r>
          </a:p>
        </p:txBody>
      </p:sp>
      <p:sp>
        <p:nvSpPr>
          <p:cNvPr id="3136" name="Text 14"/>
          <p:cNvSpPr txBox="1"/>
          <p:nvPr/>
        </p:nvSpPr>
        <p:spPr>
          <a:xfrm>
            <a:off x="8226723" y="3645098"/>
            <a:ext cx="1469377" cy="317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800"/>
              </a:lnSpc>
              <a:buSzPct val="100000"/>
              <a:buChar char="•"/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Time shortages</a:t>
            </a:r>
          </a:p>
        </p:txBody>
      </p:sp>
      <p:sp>
        <p:nvSpPr>
          <p:cNvPr id="3137" name="Text 15"/>
          <p:cNvSpPr txBox="1"/>
          <p:nvPr/>
        </p:nvSpPr>
        <p:spPr>
          <a:xfrm>
            <a:off x="8226723" y="4117579"/>
            <a:ext cx="3315098" cy="676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Solution: Scale project appropriately, find alternatives, prioritize essential elements.</a:t>
            </a:r>
          </a:p>
        </p:txBody>
      </p:sp>
    </p:spTree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9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4274" y="801562"/>
            <a:ext cx="4037725" cy="6057727"/>
          </a:xfrm>
          <a:prstGeom prst="rect">
            <a:avLst/>
          </a:prstGeom>
          <a:ln w="12700">
            <a:miter lim="400000"/>
          </a:ln>
        </p:spPr>
      </p:pic>
      <p:sp>
        <p:nvSpPr>
          <p:cNvPr id="3140" name="Text 0"/>
          <p:cNvSpPr txBox="1"/>
          <p:nvPr/>
        </p:nvSpPr>
        <p:spPr>
          <a:xfrm>
            <a:off x="616445" y="484286"/>
            <a:ext cx="4610236" cy="5991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200"/>
              </a:lnSpc>
              <a:defRPr sz="41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417"/>
              <a:t>Ethical Considerations</a:t>
            </a:r>
          </a:p>
        </p:txBody>
      </p:sp>
      <p:sp>
        <p:nvSpPr>
          <p:cNvPr id="3141" name="Shape 1"/>
          <p:cNvSpPr/>
          <p:nvPr/>
        </p:nvSpPr>
        <p:spPr>
          <a:xfrm>
            <a:off x="616445" y="1298774"/>
            <a:ext cx="396281" cy="396281"/>
          </a:xfrm>
          <a:prstGeom prst="roundRect">
            <a:avLst>
              <a:gd name="adj" fmla="val 18668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3142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526" y="1331812"/>
            <a:ext cx="264121" cy="330202"/>
          </a:xfrm>
          <a:prstGeom prst="rect">
            <a:avLst/>
          </a:prstGeom>
          <a:ln w="12700">
            <a:miter lim="400000"/>
          </a:ln>
        </p:spPr>
      </p:pic>
      <p:sp>
        <p:nvSpPr>
          <p:cNvPr id="3143" name="Text 2"/>
          <p:cNvSpPr txBox="1"/>
          <p:nvPr/>
        </p:nvSpPr>
        <p:spPr>
          <a:xfrm>
            <a:off x="1188839" y="1359297"/>
            <a:ext cx="1559722" cy="2984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600"/>
              </a:lnSpc>
              <a:defRPr sz="2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667"/>
              <a:t>Respect Privacy</a:t>
            </a:r>
          </a:p>
        </p:txBody>
      </p:sp>
      <p:sp>
        <p:nvSpPr>
          <p:cNvPr id="3144" name="Text 3"/>
          <p:cNvSpPr txBox="1"/>
          <p:nvPr/>
        </p:nvSpPr>
        <p:spPr>
          <a:xfrm>
            <a:off x="1188839" y="1740099"/>
            <a:ext cx="5814715" cy="6286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600"/>
              </a:lnSpc>
              <a:defRPr sz="16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333"/>
              <a:t>Protect participants' identities and personal information. Use anonymous responses when possible.</a:t>
            </a:r>
          </a:p>
        </p:txBody>
      </p:sp>
      <p:sp>
        <p:nvSpPr>
          <p:cNvPr id="3145" name="Shape 4"/>
          <p:cNvSpPr/>
          <p:nvPr/>
        </p:nvSpPr>
        <p:spPr>
          <a:xfrm>
            <a:off x="616445" y="2655887"/>
            <a:ext cx="396281" cy="396281"/>
          </a:xfrm>
          <a:prstGeom prst="roundRect">
            <a:avLst>
              <a:gd name="adj" fmla="val 18668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3146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526" y="2688927"/>
            <a:ext cx="264121" cy="330201"/>
          </a:xfrm>
          <a:prstGeom prst="rect">
            <a:avLst/>
          </a:prstGeom>
          <a:ln w="12700">
            <a:miter lim="400000"/>
          </a:ln>
        </p:spPr>
      </p:pic>
      <p:sp>
        <p:nvSpPr>
          <p:cNvPr id="3147" name="Text 5"/>
          <p:cNvSpPr txBox="1"/>
          <p:nvPr/>
        </p:nvSpPr>
        <p:spPr>
          <a:xfrm>
            <a:off x="1188840" y="2716411"/>
            <a:ext cx="1801775" cy="2984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600"/>
              </a:lnSpc>
              <a:defRPr sz="2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667"/>
              <a:t>Informed Consent</a:t>
            </a:r>
          </a:p>
        </p:txBody>
      </p:sp>
      <p:sp>
        <p:nvSpPr>
          <p:cNvPr id="3148" name="Text 6"/>
          <p:cNvSpPr txBox="1"/>
          <p:nvPr/>
        </p:nvSpPr>
        <p:spPr>
          <a:xfrm>
            <a:off x="1188839" y="3097212"/>
            <a:ext cx="5814715" cy="6286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600"/>
              </a:lnSpc>
              <a:defRPr sz="16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333"/>
              <a:t>Ensure participants understand what they're agreeing to. Get permission from parents for minors.</a:t>
            </a:r>
          </a:p>
        </p:txBody>
      </p:sp>
      <p:sp>
        <p:nvSpPr>
          <p:cNvPr id="3149" name="Shape 7"/>
          <p:cNvSpPr/>
          <p:nvPr/>
        </p:nvSpPr>
        <p:spPr>
          <a:xfrm>
            <a:off x="616445" y="4013002"/>
            <a:ext cx="396281" cy="396281"/>
          </a:xfrm>
          <a:prstGeom prst="roundRect">
            <a:avLst>
              <a:gd name="adj" fmla="val 18668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3150" name="Image 3" descr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526" y="4046042"/>
            <a:ext cx="264121" cy="330201"/>
          </a:xfrm>
          <a:prstGeom prst="rect">
            <a:avLst/>
          </a:prstGeom>
          <a:ln w="12700">
            <a:miter lim="400000"/>
          </a:ln>
        </p:spPr>
      </p:pic>
      <p:sp>
        <p:nvSpPr>
          <p:cNvPr id="3151" name="Text 8"/>
          <p:cNvSpPr txBox="1"/>
          <p:nvPr/>
        </p:nvSpPr>
        <p:spPr>
          <a:xfrm>
            <a:off x="1188839" y="4073525"/>
            <a:ext cx="1559722" cy="2984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600"/>
              </a:lnSpc>
              <a:defRPr sz="2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667"/>
              <a:t>Minimize Harm</a:t>
            </a:r>
          </a:p>
        </p:txBody>
      </p:sp>
      <p:sp>
        <p:nvSpPr>
          <p:cNvPr id="3152" name="Text 9"/>
          <p:cNvSpPr txBox="1"/>
          <p:nvPr/>
        </p:nvSpPr>
        <p:spPr>
          <a:xfrm>
            <a:off x="1188839" y="4454326"/>
            <a:ext cx="5814715" cy="2952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600"/>
              </a:lnSpc>
              <a:defRPr sz="16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333"/>
              <a:t>Design research that doesn't cause physical or emotional distress to participants.</a:t>
            </a:r>
          </a:p>
        </p:txBody>
      </p:sp>
      <p:sp>
        <p:nvSpPr>
          <p:cNvPr id="3153" name="Shape 10"/>
          <p:cNvSpPr/>
          <p:nvPr/>
        </p:nvSpPr>
        <p:spPr>
          <a:xfrm>
            <a:off x="616445" y="5370115"/>
            <a:ext cx="396281" cy="396281"/>
          </a:xfrm>
          <a:prstGeom prst="roundRect">
            <a:avLst>
              <a:gd name="adj" fmla="val 18668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3154" name="Image 4" descr="Imag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526" y="5403156"/>
            <a:ext cx="264121" cy="330201"/>
          </a:xfrm>
          <a:prstGeom prst="rect">
            <a:avLst/>
          </a:prstGeom>
          <a:ln w="12700">
            <a:miter lim="400000"/>
          </a:ln>
        </p:spPr>
      </p:pic>
      <p:sp>
        <p:nvSpPr>
          <p:cNvPr id="3155" name="Text 11"/>
          <p:cNvSpPr txBox="1"/>
          <p:nvPr/>
        </p:nvSpPr>
        <p:spPr>
          <a:xfrm>
            <a:off x="1188839" y="5430640"/>
            <a:ext cx="1393010" cy="2984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600"/>
              </a:lnSpc>
              <a:defRPr sz="2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667"/>
              <a:t>Get Approvals</a:t>
            </a:r>
          </a:p>
        </p:txBody>
      </p:sp>
      <p:sp>
        <p:nvSpPr>
          <p:cNvPr id="3156" name="Text 12"/>
          <p:cNvSpPr txBox="1"/>
          <p:nvPr/>
        </p:nvSpPr>
        <p:spPr>
          <a:xfrm>
            <a:off x="1188839" y="5811441"/>
            <a:ext cx="5814715" cy="2952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600"/>
              </a:lnSpc>
              <a:defRPr sz="16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333"/>
              <a:t>Obtain necessary permissions from teachers, administrators, or other authorities.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2045</Words>
  <Application>Microsoft Macintosh PowerPoint</Application>
  <PresentationFormat>Widescreen</PresentationFormat>
  <Paragraphs>300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Hussain Hadah</dc:creator>
  <cp:lastModifiedBy>Hussain Hadah</cp:lastModifiedBy>
  <cp:revision>1</cp:revision>
  <dcterms:created xsi:type="dcterms:W3CDTF">2026-06-10T23:03:05Z</dcterms:created>
  <dcterms:modified xsi:type="dcterms:W3CDTF">2026-06-10T23:03:13Z</dcterms:modified>
</cp:coreProperties>
</file>