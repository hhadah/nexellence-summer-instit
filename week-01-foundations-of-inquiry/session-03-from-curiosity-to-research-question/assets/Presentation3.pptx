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3" r:id="rId2"/>
    <p:sldId id="36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396" r:id="rId35"/>
    <p:sldId id="397" r:id="rId36"/>
    <p:sldId id="398" r:id="rId37"/>
    <p:sldId id="399" r:id="rId38"/>
    <p:sldId id="400" r:id="rId39"/>
    <p:sldId id="401" r:id="rId40"/>
    <p:sldId id="402" r:id="rId41"/>
    <p:sldId id="403" r:id="rId42"/>
    <p:sldId id="404" r:id="rId43"/>
    <p:sldId id="405" r:id="rId44"/>
    <p:sldId id="406" r:id="rId45"/>
    <p:sldId id="40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56"/>
    <p:restoredTop sz="94666"/>
  </p:normalViewPr>
  <p:slideViewPr>
    <p:cSldViewPr snapToGrid="0">
      <p:cViewPr varScale="1">
        <p:scale>
          <a:sx n="126" d="100"/>
          <a:sy n="126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3987-02DD-91EA-187D-384F328A7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72A75-1E72-BAAA-AE5B-E5B180BE9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E82A2-B238-A911-DFDF-295278F0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4B2BA-4492-6ABC-CA68-2E4E8CED2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1373-C84F-7374-C407-84F55180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3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8D87-A3C7-1C62-A553-51CE7519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489A9-57A7-AB23-C9D9-A9CB0CB1B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F42FF-8C37-F572-4B61-9D040F5B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4D2B0-BFC4-B1FD-9A05-643DB7732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C6A4-31C0-BAF5-D87A-7B582C80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CFFB-4D74-8EAA-F55B-D0398BA4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E2C07-4755-A69A-592C-0409F18EE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541B-0264-21C2-7513-AF61EAAF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8C0D-678F-7432-D243-EE930B99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B3073-8097-8381-DE1B-A9024492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2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ADB0-54DD-E5AF-13B6-1D639787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F3F7E-6EBC-3D35-0BDA-C46C0523C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9ED-EFDB-C0A3-4C6A-40655B890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3E421-7ED7-8A4C-4806-2BAA360E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B103E-492C-DAE0-D721-9258A9B7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6D01-3775-F3BB-0822-A4B5410D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5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C817-0829-B1CC-7723-23015787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E8ACC-2013-93DE-2DBB-E6E74228C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DD402-0396-F6C1-0E6A-652D999CB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5F55A-F3A5-99F9-5863-0B2D8EDA3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7D7BD-6B75-3D81-A449-76D063A86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53B13-46B3-4BFC-0ED0-84C2572C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F71DA-79F0-8C82-5C29-4E693B1D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87555E-DD21-EFD7-B235-15960FE0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5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324E-04E2-8A40-BFA6-79110668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80851-1F3C-C6B1-2E01-CFABB668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807EE-282D-E545-FD12-9CCDAEB0C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4F7F2-0686-4D83-5194-58AFD351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10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0F8802-0CB2-52A6-4F7A-F61E1357A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2D04A-7D01-9835-684D-3F4E1697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BEBDC-345A-875A-B7AC-E0B1AD2C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3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919B-1D70-2E56-96EF-4BAB6CFC3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51C68-4D34-226A-DEFC-E0955FE1E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A2D85-AEB0-AB4E-E362-2306D6705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3934C-6F7A-325F-6D12-9359B7712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E84B6-B934-4933-993C-4803CDD9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96E3F-E59C-B5B5-5505-092C6DFF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9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2E7F-94D3-8D57-83ED-22D5C9B6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2BF8A-6CB3-82F3-7412-1893696D6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6F4E9-9A09-8BF4-32F9-B5F3CCDF5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ED59B-7FF6-027D-7329-F1867952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D62FF-5F93-2739-07E5-4E0FB90E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84474-BA20-AD11-F33D-36A87022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7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350A-EF36-B59A-4840-1DB76F0C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4CD8A-DAA3-1375-B83B-D7E84A616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126CC-B6FD-D8EA-4AA0-1D70DA1D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EA4C9-E0C1-21E5-D7B1-FA17D33F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F52EF-F568-FA1B-9273-B5BB58F0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5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BB469-AAD5-983B-5170-563459E33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664A8-8837-B3AD-7ED2-D92093FA7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7E5E6-D89E-7C05-62B9-DD7C7C4A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74D01-7525-098D-E859-61D12A50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92ED2-5A98-1C33-71A8-42028C48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89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6087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DA082-6893-4A50-346C-7755CAD0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D254-3C6F-74B7-2974-FC2054B9C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CFE6-86C4-0820-A5B5-01B18C926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D59AE-9AEC-6F49-8F4D-FFC5B7470B5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8907C-1A7F-1C85-8A5E-F901550BE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0FDB0-A330-7D5A-5009-E4EE381BB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79DF5-6D4E-8B4B-B0E9-FD110949B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3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RESEARCH METHODS…"/>
          <p:cNvSpPr txBox="1"/>
          <p:nvPr/>
        </p:nvSpPr>
        <p:spPr>
          <a:xfrm>
            <a:off x="853752" y="1470895"/>
            <a:ext cx="10191636" cy="258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3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1812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Text 0"/>
          <p:cNvSpPr txBox="1"/>
          <p:nvPr/>
        </p:nvSpPr>
        <p:spPr>
          <a:xfrm>
            <a:off x="661492" y="1971278"/>
            <a:ext cx="4476078" cy="3906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5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4666"/>
              <a:t>Welcome Back to Day 3! </a:t>
            </a:r>
          </a:p>
          <a:p>
            <a:pPr>
              <a:lnSpc>
                <a:spcPts val="4583"/>
              </a:lnSpc>
              <a:defRPr sz="5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4666"/>
          </a:p>
          <a:p>
            <a:pPr>
              <a:lnSpc>
                <a:spcPts val="3417"/>
              </a:lnSpc>
              <a:defRPr sz="27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250"/>
              <a:t>Today we shape your research projects. </a:t>
            </a:r>
          </a:p>
          <a:p>
            <a:pPr>
              <a:lnSpc>
                <a:spcPts val="3417"/>
              </a:lnSpc>
              <a:defRPr sz="27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2250"/>
          </a:p>
          <a:p>
            <a:pPr>
              <a:lnSpc>
                <a:spcPts val="3417"/>
              </a:lnSpc>
              <a:defRPr sz="27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250"/>
              <a:t>First, lets talk about your homework. </a:t>
            </a:r>
          </a:p>
        </p:txBody>
      </p:sp>
      <p:pic>
        <p:nvPicPr>
          <p:cNvPr id="181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10" y="853965"/>
            <a:ext cx="4002691" cy="60040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7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991641"/>
            <a:ext cx="12192000" cy="2188469"/>
          </a:xfrm>
          <a:prstGeom prst="rect">
            <a:avLst/>
          </a:prstGeom>
          <a:ln w="12700">
            <a:miter lim="400000"/>
          </a:ln>
        </p:spPr>
      </p:pic>
      <p:sp>
        <p:nvSpPr>
          <p:cNvPr id="1818" name="Text 0"/>
          <p:cNvSpPr txBox="1"/>
          <p:nvPr/>
        </p:nvSpPr>
        <p:spPr>
          <a:xfrm>
            <a:off x="598663" y="3563416"/>
            <a:ext cx="4411464" cy="5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1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Handout / Homework</a:t>
            </a:r>
          </a:p>
        </p:txBody>
      </p:sp>
      <p:sp>
        <p:nvSpPr>
          <p:cNvPr id="1819" name="Shape 1"/>
          <p:cNvSpPr/>
          <p:nvPr/>
        </p:nvSpPr>
        <p:spPr>
          <a:xfrm>
            <a:off x="584553" y="4481490"/>
            <a:ext cx="5395715" cy="1021458"/>
          </a:xfrm>
          <a:prstGeom prst="roundRect">
            <a:avLst>
              <a:gd name="adj" fmla="val 719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1820" name="Text 2"/>
          <p:cNvSpPr txBox="1"/>
          <p:nvPr/>
        </p:nvSpPr>
        <p:spPr>
          <a:xfrm>
            <a:off x="1735053" y="4722452"/>
            <a:ext cx="2862963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3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167"/>
              <a:t>What we know/assume</a:t>
            </a:r>
          </a:p>
          <a:p>
            <a:pPr algn="ctr">
              <a:lnSpc>
                <a:spcPts val="2083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167"/>
              <a:t>What we want to know</a:t>
            </a:r>
          </a:p>
        </p:txBody>
      </p:sp>
      <p:sp>
        <p:nvSpPr>
          <p:cNvPr id="1821" name="Shape 1"/>
          <p:cNvSpPr/>
          <p:nvPr/>
        </p:nvSpPr>
        <p:spPr>
          <a:xfrm>
            <a:off x="6292497" y="4481490"/>
            <a:ext cx="5395715" cy="1021458"/>
          </a:xfrm>
          <a:prstGeom prst="roundRect">
            <a:avLst>
              <a:gd name="adj" fmla="val 719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1822" name="Text 2"/>
          <p:cNvSpPr txBox="1"/>
          <p:nvPr/>
        </p:nvSpPr>
        <p:spPr>
          <a:xfrm>
            <a:off x="6513716" y="4722452"/>
            <a:ext cx="4953280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2083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167"/>
              <a:t>Narrowed Down Research Questions &amp; </a:t>
            </a:r>
          </a:p>
          <a:p>
            <a:pPr algn="ctr">
              <a:lnSpc>
                <a:spcPts val="2083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167"/>
              <a:t>BRIC-FOR Ratings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939" y="1048407"/>
            <a:ext cx="3873063" cy="5809593"/>
          </a:xfrm>
          <a:prstGeom prst="rect">
            <a:avLst/>
          </a:prstGeom>
          <a:ln w="12700">
            <a:miter lim="400000"/>
          </a:ln>
        </p:spPr>
      </p:pic>
      <p:sp>
        <p:nvSpPr>
          <p:cNvPr id="1825" name="Text 1"/>
          <p:cNvSpPr txBox="1"/>
          <p:nvPr/>
        </p:nvSpPr>
        <p:spPr>
          <a:xfrm>
            <a:off x="1198960" y="1808218"/>
            <a:ext cx="6013549" cy="1769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400" b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00" i="1"/>
              <a:t>"</a:t>
            </a:r>
            <a:r>
              <a:rPr sz="2500" i="1"/>
              <a:t>The formulation of a problem is often more essential than its solution, which may be merely a matter of mathematical or experimental skill.”</a:t>
            </a:r>
            <a:r>
              <a:rPr sz="2000"/>
              <a:t> </a:t>
            </a:r>
          </a:p>
          <a:p>
            <a:pPr>
              <a:lnSpc>
                <a:spcPts val="2333"/>
              </a:lnSpc>
              <a:defRPr sz="2400" b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 </a:t>
            </a:r>
          </a:p>
          <a:p>
            <a:pPr>
              <a:lnSpc>
                <a:spcPts val="2333"/>
              </a:lnSpc>
              <a:defRPr sz="2400" b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Albert Einstein</a:t>
            </a:r>
          </a:p>
        </p:txBody>
      </p:sp>
      <p:sp>
        <p:nvSpPr>
          <p:cNvPr id="1826" name="Shape 2"/>
          <p:cNvSpPr/>
          <p:nvPr/>
        </p:nvSpPr>
        <p:spPr>
          <a:xfrm>
            <a:off x="887269" y="1734204"/>
            <a:ext cx="25401" cy="1332508"/>
          </a:xfrm>
          <a:prstGeom prst="rect">
            <a:avLst/>
          </a:prstGeom>
          <a:solidFill>
            <a:srgbClr val="00263B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827" name="Text 3"/>
          <p:cNvSpPr txBox="1"/>
          <p:nvPr/>
        </p:nvSpPr>
        <p:spPr>
          <a:xfrm>
            <a:off x="661492" y="4184947"/>
            <a:ext cx="6297018" cy="1055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The quality of your question largely determines the quality of your research. Take time to craft brick-strong (BRIC-FOR) questions.</a:t>
            </a:r>
          </a:p>
        </p:txBody>
      </p:sp>
      <p:sp>
        <p:nvSpPr>
          <p:cNvPr id="1828" name="Text 0"/>
          <p:cNvSpPr txBox="1"/>
          <p:nvPr/>
        </p:nvSpPr>
        <p:spPr>
          <a:xfrm>
            <a:off x="620072" y="726822"/>
            <a:ext cx="3326232" cy="58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1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Good reminder: 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Text 0"/>
          <p:cNvSpPr txBox="1"/>
          <p:nvPr/>
        </p:nvSpPr>
        <p:spPr>
          <a:xfrm>
            <a:off x="553839" y="435173"/>
            <a:ext cx="3986669" cy="531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6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The Research Process</a:t>
            </a:r>
          </a:p>
        </p:txBody>
      </p:sp>
      <p:sp>
        <p:nvSpPr>
          <p:cNvPr id="1831" name="Text 1"/>
          <p:cNvSpPr txBox="1"/>
          <p:nvPr/>
        </p:nvSpPr>
        <p:spPr>
          <a:xfrm>
            <a:off x="553840" y="1245990"/>
            <a:ext cx="65918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The journey from question to insight follows these essential steps:</a:t>
            </a:r>
          </a:p>
        </p:txBody>
      </p:sp>
      <p:pic>
        <p:nvPicPr>
          <p:cNvPr id="183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9" y="1677194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833" name="Text 2"/>
          <p:cNvSpPr txBox="1"/>
          <p:nvPr/>
        </p:nvSpPr>
        <p:spPr>
          <a:xfrm>
            <a:off x="1582340" y="1835349"/>
            <a:ext cx="169918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Ask a Question</a:t>
            </a:r>
          </a:p>
        </p:txBody>
      </p:sp>
      <p:sp>
        <p:nvSpPr>
          <p:cNvPr id="1834" name="Text 3"/>
          <p:cNvSpPr txBox="1"/>
          <p:nvPr/>
        </p:nvSpPr>
        <p:spPr>
          <a:xfrm>
            <a:off x="1582340" y="2177455"/>
            <a:ext cx="54686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Formulate a clear, specific question worth investigating</a:t>
            </a:r>
          </a:p>
        </p:txBody>
      </p:sp>
      <p:pic>
        <p:nvPicPr>
          <p:cNvPr id="183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9" y="2626618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836" name="Text 4"/>
          <p:cNvSpPr txBox="1"/>
          <p:nvPr/>
        </p:nvSpPr>
        <p:spPr>
          <a:xfrm>
            <a:off x="1582340" y="2784773"/>
            <a:ext cx="2228174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Gather Information</a:t>
            </a:r>
          </a:p>
        </p:txBody>
      </p:sp>
      <p:sp>
        <p:nvSpPr>
          <p:cNvPr id="1837" name="Text 5"/>
          <p:cNvSpPr txBox="1"/>
          <p:nvPr/>
        </p:nvSpPr>
        <p:spPr>
          <a:xfrm>
            <a:off x="1582341" y="3126880"/>
            <a:ext cx="74051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Review the literature &amp; collect relevant data through appropriate methods</a:t>
            </a:r>
          </a:p>
        </p:txBody>
      </p:sp>
      <p:pic>
        <p:nvPicPr>
          <p:cNvPr id="183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9" y="3576042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839" name="Text 6"/>
          <p:cNvSpPr txBox="1"/>
          <p:nvPr/>
        </p:nvSpPr>
        <p:spPr>
          <a:xfrm>
            <a:off x="1582341" y="3734197"/>
            <a:ext cx="2749151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Analyze the Information</a:t>
            </a:r>
          </a:p>
        </p:txBody>
      </p:sp>
      <p:sp>
        <p:nvSpPr>
          <p:cNvPr id="1840" name="Text 7"/>
          <p:cNvSpPr txBox="1"/>
          <p:nvPr/>
        </p:nvSpPr>
        <p:spPr>
          <a:xfrm>
            <a:off x="1582340" y="4076303"/>
            <a:ext cx="4747197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Examine data for patterns, trends, and meaning</a:t>
            </a:r>
          </a:p>
        </p:txBody>
      </p:sp>
      <p:pic>
        <p:nvPicPr>
          <p:cNvPr id="1841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9" y="4525466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842" name="Text 8"/>
          <p:cNvSpPr txBox="1"/>
          <p:nvPr/>
        </p:nvSpPr>
        <p:spPr>
          <a:xfrm>
            <a:off x="1582340" y="4683621"/>
            <a:ext cx="2090316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Draw Conclusions</a:t>
            </a:r>
          </a:p>
        </p:txBody>
      </p:sp>
      <p:sp>
        <p:nvSpPr>
          <p:cNvPr id="1843" name="Text 9"/>
          <p:cNvSpPr txBox="1"/>
          <p:nvPr/>
        </p:nvSpPr>
        <p:spPr>
          <a:xfrm>
            <a:off x="1582340" y="5025727"/>
            <a:ext cx="581287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Develop evidence-based answers to your original question</a:t>
            </a:r>
          </a:p>
        </p:txBody>
      </p:sp>
      <p:pic>
        <p:nvPicPr>
          <p:cNvPr id="184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39" y="5474890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845" name="Text 10"/>
          <p:cNvSpPr txBox="1"/>
          <p:nvPr/>
        </p:nvSpPr>
        <p:spPr>
          <a:xfrm>
            <a:off x="1582341" y="5633046"/>
            <a:ext cx="17152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Share Findings</a:t>
            </a:r>
          </a:p>
        </p:txBody>
      </p:sp>
      <p:sp>
        <p:nvSpPr>
          <p:cNvPr id="1846" name="Text 11"/>
          <p:cNvSpPr txBox="1"/>
          <p:nvPr/>
        </p:nvSpPr>
        <p:spPr>
          <a:xfrm>
            <a:off x="1582340" y="5975151"/>
            <a:ext cx="5745868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Communicate results effectively to appropriate audiences</a:t>
            </a:r>
          </a:p>
        </p:txBody>
      </p:sp>
      <p:sp>
        <p:nvSpPr>
          <p:cNvPr id="1847" name="Line"/>
          <p:cNvSpPr/>
          <p:nvPr/>
        </p:nvSpPr>
        <p:spPr>
          <a:xfrm>
            <a:off x="8205611" y="2151906"/>
            <a:ext cx="1240177" cy="1"/>
          </a:xfrm>
          <a:prstGeom prst="line">
            <a:avLst/>
          </a:prstGeom>
          <a:ln w="139700">
            <a:solidFill>
              <a:schemeClr val="accent5"/>
            </a:solidFill>
            <a:miter lim="400000"/>
            <a:headEnd type="triangle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848" name="Line"/>
          <p:cNvSpPr/>
          <p:nvPr/>
        </p:nvSpPr>
        <p:spPr>
          <a:xfrm>
            <a:off x="9895417" y="3252236"/>
            <a:ext cx="1240177" cy="1"/>
          </a:xfrm>
          <a:prstGeom prst="line">
            <a:avLst/>
          </a:prstGeom>
          <a:ln w="139700">
            <a:solidFill>
              <a:schemeClr val="accent5"/>
            </a:solidFill>
            <a:miter lim="400000"/>
            <a:headEnd type="triangle"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" grpId="0" animBg="1" advAuto="0"/>
      <p:bldP spid="1848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Text 0"/>
          <p:cNvSpPr txBox="1"/>
          <p:nvPr/>
        </p:nvSpPr>
        <p:spPr>
          <a:xfrm>
            <a:off x="661491" y="1644154"/>
            <a:ext cx="18909023" cy="1728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NOW LET’S TURN OUR ATTENTION TO THE NEXT PHASE OF RESEARCH PROCESS: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Gathering Information through </a:t>
            </a:r>
          </a:p>
        </p:txBody>
      </p:sp>
      <p:sp>
        <p:nvSpPr>
          <p:cNvPr id="1851" name="LITERATURE REVIEW"/>
          <p:cNvSpPr txBox="1"/>
          <p:nvPr/>
        </p:nvSpPr>
        <p:spPr>
          <a:xfrm>
            <a:off x="6236681" y="3919582"/>
            <a:ext cx="5030221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LITERATURE REVIEW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1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56689" cy="638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854" name="Text 0"/>
          <p:cNvSpPr txBox="1"/>
          <p:nvPr/>
        </p:nvSpPr>
        <p:spPr>
          <a:xfrm>
            <a:off x="5233491" y="831652"/>
            <a:ext cx="576760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Efficient Literature Search</a:t>
            </a:r>
          </a:p>
        </p:txBody>
      </p:sp>
      <p:sp>
        <p:nvSpPr>
          <p:cNvPr id="1855" name="Shape 1"/>
          <p:cNvSpPr/>
          <p:nvPr/>
        </p:nvSpPr>
        <p:spPr>
          <a:xfrm>
            <a:off x="5159408" y="1589352"/>
            <a:ext cx="3054054" cy="2561091"/>
          </a:xfrm>
          <a:prstGeom prst="roundRect">
            <a:avLst>
              <a:gd name="adj" fmla="val 31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56" name="Text 2"/>
          <p:cNvSpPr txBox="1"/>
          <p:nvPr/>
        </p:nvSpPr>
        <p:spPr>
          <a:xfrm>
            <a:off x="5354770" y="1784714"/>
            <a:ext cx="18899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Smart Keywords</a:t>
            </a:r>
          </a:p>
        </p:txBody>
      </p:sp>
      <p:sp>
        <p:nvSpPr>
          <p:cNvPr id="1857" name="Text 3"/>
          <p:cNvSpPr txBox="1"/>
          <p:nvPr/>
        </p:nvSpPr>
        <p:spPr>
          <a:xfrm>
            <a:off x="5354770" y="2193396"/>
            <a:ext cx="2663330" cy="1769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Choosing keywords that would help you find the right content.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Try synonyms. 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Use quotation marks “Climate Change”</a:t>
            </a:r>
          </a:p>
        </p:txBody>
      </p:sp>
      <p:sp>
        <p:nvSpPr>
          <p:cNvPr id="1858" name="Shape 5"/>
          <p:cNvSpPr/>
          <p:nvPr/>
        </p:nvSpPr>
        <p:spPr>
          <a:xfrm>
            <a:off x="8402473" y="1588225"/>
            <a:ext cx="3528429" cy="2563346"/>
          </a:xfrm>
          <a:prstGeom prst="roundRect">
            <a:avLst>
              <a:gd name="adj" fmla="val 309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59" name="Text 6"/>
          <p:cNvSpPr txBox="1"/>
          <p:nvPr/>
        </p:nvSpPr>
        <p:spPr>
          <a:xfrm>
            <a:off x="8597834" y="1784714"/>
            <a:ext cx="2226572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Intentional Sources</a:t>
            </a:r>
          </a:p>
        </p:txBody>
      </p:sp>
      <p:sp>
        <p:nvSpPr>
          <p:cNvPr id="1860" name="Text 7"/>
          <p:cNvSpPr txBox="1"/>
          <p:nvPr/>
        </p:nvSpPr>
        <p:spPr>
          <a:xfrm>
            <a:off x="8597834" y="2193396"/>
            <a:ext cx="3294857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Google Scholar - if available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Library access to databases (and use filters)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Reliable sites with .edu .gov or trusted organizations</a:t>
            </a:r>
          </a:p>
        </p:txBody>
      </p:sp>
      <p:sp>
        <p:nvSpPr>
          <p:cNvPr id="1861" name="Shape 9"/>
          <p:cNvSpPr/>
          <p:nvPr/>
        </p:nvSpPr>
        <p:spPr>
          <a:xfrm>
            <a:off x="5159408" y="4232223"/>
            <a:ext cx="6755574" cy="2058711"/>
          </a:xfrm>
          <a:prstGeom prst="roundRect">
            <a:avLst>
              <a:gd name="adj" fmla="val 385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62" name="Text 10"/>
          <p:cNvSpPr txBox="1"/>
          <p:nvPr/>
        </p:nvSpPr>
        <p:spPr>
          <a:xfrm>
            <a:off x="5354771" y="4277718"/>
            <a:ext cx="16767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Initial Reading</a:t>
            </a:r>
          </a:p>
        </p:txBody>
      </p:sp>
      <p:sp>
        <p:nvSpPr>
          <p:cNvPr id="1863" name="Text 11"/>
          <p:cNvSpPr txBox="1"/>
          <p:nvPr/>
        </p:nvSpPr>
        <p:spPr>
          <a:xfrm>
            <a:off x="5354770" y="4686398"/>
            <a:ext cx="6282002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Abstract - summary to read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Conclusions section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Review the graphs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Track and maybe “rate” what you find using a “Source Tracker”.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8" grpId="0" animBg="1" advAuto="0"/>
      <p:bldP spid="1859" grpId="0" animBg="1" advAuto="0"/>
      <p:bldP spid="1860" grpId="0" animBg="1" advAuto="0"/>
      <p:bldP spid="1861" grpId="0" animBg="1" advAuto="0"/>
      <p:bldP spid="1862" grpId="0" animBg="1" advAuto="0"/>
      <p:bldP spid="1863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Text 0"/>
          <p:cNvSpPr txBox="1"/>
          <p:nvPr/>
        </p:nvSpPr>
        <p:spPr>
          <a:xfrm>
            <a:off x="1070713" y="799523"/>
            <a:ext cx="6347892" cy="625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How to Spot Credible Resources</a:t>
            </a:r>
          </a:p>
        </p:txBody>
      </p:sp>
      <p:sp>
        <p:nvSpPr>
          <p:cNvPr id="1866" name="Check the Author - Is the author an expert in the field? Look for credentials or name of the university or organization.…"/>
          <p:cNvSpPr txBox="1"/>
          <p:nvPr/>
        </p:nvSpPr>
        <p:spPr>
          <a:xfrm>
            <a:off x="560251" y="1590193"/>
            <a:ext cx="6088528" cy="45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Check the Author - </a:t>
            </a:r>
            <a:r>
              <a:rPr sz="2000"/>
              <a:t>Is the author an expert in the field? Look for credentials or name of the university or organization.</a:t>
            </a:r>
          </a:p>
          <a:p>
            <a:pPr defTabSz="380985">
              <a:spcBef>
                <a:spcPts val="1000"/>
              </a:spcBef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Look at the Source - </a:t>
            </a:r>
            <a:r>
              <a:rPr sz="2000"/>
              <a:t>Prefer .edu, .gov, and well-known .org or .com sites (like National Geographic, Mayo Clinic). Avoid personal blogs or random forums.</a:t>
            </a:r>
          </a:p>
          <a:p>
            <a:pPr defTabSz="380985">
              <a:spcBef>
                <a:spcPts val="1000"/>
              </a:spcBef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Check the Date - </a:t>
            </a:r>
            <a:r>
              <a:rPr sz="2000"/>
              <a:t>Is the info recent and up-to-date? For most topics, aim for the last 5–10 years.</a:t>
            </a:r>
          </a:p>
          <a:p>
            <a:pPr defTabSz="380985">
              <a:spcBef>
                <a:spcPts val="1000"/>
              </a:spcBef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Is It Cited? Does it give references?</a:t>
            </a:r>
          </a:p>
        </p:txBody>
      </p:sp>
      <p:pic>
        <p:nvPicPr>
          <p:cNvPr id="186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776" y="1553985"/>
            <a:ext cx="4884444" cy="3256296"/>
          </a:xfrm>
          <a:prstGeom prst="rect">
            <a:avLst/>
          </a:prstGeom>
          <a:ln w="12700">
            <a:miter lim="400000"/>
          </a:ln>
        </p:spPr>
      </p:pic>
      <p:sp>
        <p:nvSpPr>
          <p:cNvPr id="1868" name="Good sources list where their info comes from (references, links, or footnotes)."/>
          <p:cNvSpPr txBox="1"/>
          <p:nvPr/>
        </p:nvSpPr>
        <p:spPr>
          <a:xfrm>
            <a:off x="678068" y="6049081"/>
            <a:ext cx="9162763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200"/>
              </a:spcBef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Good sources list where their info comes from (references, links, or footnotes).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6" grpId="0" build="p" bldLvl="5" animBg="1" advAuto="0"/>
      <p:bldP spid="1868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Bias Alert - Does the source present facts or just opinions? Watch for emotional language or one-sided arguments.…"/>
          <p:cNvSpPr txBox="1"/>
          <p:nvPr/>
        </p:nvSpPr>
        <p:spPr>
          <a:xfrm>
            <a:off x="539084" y="1637818"/>
            <a:ext cx="6336133" cy="455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Bias Alert - </a:t>
            </a:r>
            <a:r>
              <a:rPr sz="2000"/>
              <a:t>Does the source present facts or just opinions? Watch for emotional language or one-sided arguments.</a:t>
            </a:r>
          </a:p>
          <a:p>
            <a:pPr defTabSz="380985">
              <a:spcBef>
                <a:spcPts val="1000"/>
              </a:spcBef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Peer-Reviewed? - </a:t>
            </a:r>
            <a:r>
              <a:rPr sz="2000"/>
              <a:t>For academic research, articles from journals that have been reviewed by other experts are best (Google Scholar is great for this).</a:t>
            </a:r>
          </a:p>
          <a:p>
            <a:pPr defTabSz="380985">
              <a:spcBef>
                <a:spcPts val="1000"/>
              </a:spcBef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Design + Grammar - </a:t>
            </a:r>
            <a:r>
              <a:rPr sz="2000"/>
              <a:t>Trustworthy sites look professional and are free of spelling mistakes or sketchy ads.</a:t>
            </a:r>
          </a:p>
          <a:p>
            <a:pPr defTabSz="380985">
              <a:spcBef>
                <a:spcPts val="1000"/>
              </a:spcBef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marL="142033" indent="-142033" defTabSz="380985">
              <a:spcBef>
                <a:spcPts val="1000"/>
              </a:spcBef>
              <a:buSzPct val="100000"/>
              <a:buChar char="•"/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 b="1"/>
              <a:t>Cross-Check -</a:t>
            </a:r>
          </a:p>
        </p:txBody>
      </p:sp>
      <p:pic>
        <p:nvPicPr>
          <p:cNvPr id="187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776" y="1553985"/>
            <a:ext cx="4884444" cy="3256296"/>
          </a:xfrm>
          <a:prstGeom prst="rect">
            <a:avLst/>
          </a:prstGeom>
          <a:ln w="12700">
            <a:miter lim="400000"/>
          </a:ln>
        </p:spPr>
      </p:pic>
      <p:sp>
        <p:nvSpPr>
          <p:cNvPr id="1872" name="Text 0"/>
          <p:cNvSpPr txBox="1"/>
          <p:nvPr/>
        </p:nvSpPr>
        <p:spPr>
          <a:xfrm>
            <a:off x="1070713" y="799523"/>
            <a:ext cx="6347892" cy="625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How to Spot Credible Resources</a:t>
            </a:r>
          </a:p>
        </p:txBody>
      </p:sp>
      <p:sp>
        <p:nvSpPr>
          <p:cNvPr id="1873" name="See if the same info appears in multiple trusted sources. That’s a good sign it's reliable."/>
          <p:cNvSpPr txBox="1"/>
          <p:nvPr/>
        </p:nvSpPr>
        <p:spPr>
          <a:xfrm>
            <a:off x="670012" y="6080830"/>
            <a:ext cx="1095781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 defTabSz="457200">
              <a:spcBef>
                <a:spcPts val="1200"/>
              </a:spcBef>
              <a:defRPr sz="2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See if the same info appears in multiple trusted sources. That’s a good sign it's reliable.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8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8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0" grpId="0" build="p" bldLvl="5" animBg="1" advAuto="0"/>
      <p:bldP spid="1873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Text 0"/>
          <p:cNvSpPr txBox="1"/>
          <p:nvPr/>
        </p:nvSpPr>
        <p:spPr>
          <a:xfrm>
            <a:off x="4767825" y="1630043"/>
            <a:ext cx="6163547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Activity: </a:t>
            </a:r>
            <a:r>
              <a:rPr sz="3667"/>
              <a:t>Literature Hunting!</a:t>
            </a:r>
          </a:p>
        </p:txBody>
      </p:sp>
      <p:sp>
        <p:nvSpPr>
          <p:cNvPr id="1876" name="Text 2"/>
          <p:cNvSpPr txBox="1"/>
          <p:nvPr/>
        </p:nvSpPr>
        <p:spPr>
          <a:xfrm>
            <a:off x="4817644" y="2663943"/>
            <a:ext cx="6070516" cy="1193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r>
              <a:rPr sz="2583"/>
              <a:t>Let’s see what other researchers have found about your issue? </a:t>
            </a:r>
          </a:p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endParaRPr sz="2583"/>
          </a:p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r>
              <a:rPr sz="2583"/>
              <a:t>Use your </a:t>
            </a:r>
            <a:r>
              <a:rPr sz="2583" b="1"/>
              <a:t>Source Tracker </a:t>
            </a:r>
            <a:r>
              <a:rPr sz="2583"/>
              <a:t>doc! </a:t>
            </a:r>
          </a:p>
        </p:txBody>
      </p:sp>
      <p:pic>
        <p:nvPicPr>
          <p:cNvPr id="187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56689" cy="63850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56689" cy="638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880" name="Text 0"/>
          <p:cNvSpPr txBox="1"/>
          <p:nvPr/>
        </p:nvSpPr>
        <p:spPr>
          <a:xfrm>
            <a:off x="5233491" y="831652"/>
            <a:ext cx="576760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Efficient Literature Search</a:t>
            </a:r>
          </a:p>
        </p:txBody>
      </p:sp>
      <p:sp>
        <p:nvSpPr>
          <p:cNvPr id="1881" name="Shape 1"/>
          <p:cNvSpPr/>
          <p:nvPr/>
        </p:nvSpPr>
        <p:spPr>
          <a:xfrm>
            <a:off x="5159408" y="1589352"/>
            <a:ext cx="3054054" cy="2561091"/>
          </a:xfrm>
          <a:prstGeom prst="roundRect">
            <a:avLst>
              <a:gd name="adj" fmla="val 31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82" name="Text 2"/>
          <p:cNvSpPr txBox="1"/>
          <p:nvPr/>
        </p:nvSpPr>
        <p:spPr>
          <a:xfrm>
            <a:off x="5354770" y="1784714"/>
            <a:ext cx="18899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Smart Keywords</a:t>
            </a:r>
          </a:p>
        </p:txBody>
      </p:sp>
      <p:sp>
        <p:nvSpPr>
          <p:cNvPr id="1883" name="Text 3"/>
          <p:cNvSpPr txBox="1"/>
          <p:nvPr/>
        </p:nvSpPr>
        <p:spPr>
          <a:xfrm>
            <a:off x="5354770" y="2193396"/>
            <a:ext cx="2663330" cy="1769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Choosing </a:t>
            </a:r>
            <a:r>
              <a:rPr sz="1917" b="1">
                <a:solidFill>
                  <a:srgbClr val="941751"/>
                </a:solidFill>
              </a:rPr>
              <a:t>keywords</a:t>
            </a:r>
            <a:r>
              <a:rPr sz="1917"/>
              <a:t> that would help you find the right content.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Try </a:t>
            </a:r>
            <a:r>
              <a:rPr sz="1917" b="1">
                <a:solidFill>
                  <a:srgbClr val="941751"/>
                </a:solidFill>
              </a:rPr>
              <a:t>synonyms</a:t>
            </a:r>
            <a:r>
              <a:rPr sz="1917"/>
              <a:t>. 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Use </a:t>
            </a:r>
            <a:r>
              <a:rPr sz="1917">
                <a:solidFill>
                  <a:srgbClr val="941751"/>
                </a:solidFill>
              </a:rPr>
              <a:t>quotation marks</a:t>
            </a:r>
            <a:r>
              <a:rPr sz="1917"/>
              <a:t> “Climate Change”</a:t>
            </a:r>
          </a:p>
        </p:txBody>
      </p:sp>
      <p:sp>
        <p:nvSpPr>
          <p:cNvPr id="1884" name="Shape 5"/>
          <p:cNvSpPr/>
          <p:nvPr/>
        </p:nvSpPr>
        <p:spPr>
          <a:xfrm>
            <a:off x="8402473" y="1588225"/>
            <a:ext cx="3528429" cy="2563346"/>
          </a:xfrm>
          <a:prstGeom prst="roundRect">
            <a:avLst>
              <a:gd name="adj" fmla="val 309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85" name="Text 6"/>
          <p:cNvSpPr txBox="1"/>
          <p:nvPr/>
        </p:nvSpPr>
        <p:spPr>
          <a:xfrm>
            <a:off x="8597834" y="1784715"/>
            <a:ext cx="222657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25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917"/>
              <a:t>Intentional </a:t>
            </a:r>
            <a:r>
              <a:rPr sz="1917">
                <a:solidFill>
                  <a:srgbClr val="941751"/>
                </a:solidFill>
              </a:rPr>
              <a:t>Sources</a:t>
            </a:r>
          </a:p>
        </p:txBody>
      </p:sp>
      <p:sp>
        <p:nvSpPr>
          <p:cNvPr id="1886" name="Text 7"/>
          <p:cNvSpPr txBox="1"/>
          <p:nvPr/>
        </p:nvSpPr>
        <p:spPr>
          <a:xfrm>
            <a:off x="8597834" y="2193396"/>
            <a:ext cx="3294857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Google Scholar - if available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Library access to databases (and use filters)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Reliable sites with .edu .gov or trusted organizations</a:t>
            </a:r>
          </a:p>
        </p:txBody>
      </p:sp>
      <p:sp>
        <p:nvSpPr>
          <p:cNvPr id="1887" name="Shape 9"/>
          <p:cNvSpPr/>
          <p:nvPr/>
        </p:nvSpPr>
        <p:spPr>
          <a:xfrm>
            <a:off x="5159408" y="4232223"/>
            <a:ext cx="6755574" cy="2058711"/>
          </a:xfrm>
          <a:prstGeom prst="roundRect">
            <a:avLst>
              <a:gd name="adj" fmla="val 385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88" name="Text 10"/>
          <p:cNvSpPr txBox="1"/>
          <p:nvPr/>
        </p:nvSpPr>
        <p:spPr>
          <a:xfrm>
            <a:off x="5354771" y="4277718"/>
            <a:ext cx="16767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Initial Reading</a:t>
            </a:r>
          </a:p>
        </p:txBody>
      </p:sp>
      <p:sp>
        <p:nvSpPr>
          <p:cNvPr id="1889" name="Text 11"/>
          <p:cNvSpPr txBox="1"/>
          <p:nvPr/>
        </p:nvSpPr>
        <p:spPr>
          <a:xfrm>
            <a:off x="5354770" y="4686398"/>
            <a:ext cx="6500393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Abstract - summary to read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Conclusions section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Review the graphs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Track and maybe “rate” what you find using a “Source Tracker”. ;)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" grpId="0" animBg="1" advAuto="0"/>
      <p:bldP spid="1885" grpId="0" animBg="1" advAuto="0"/>
      <p:bldP spid="1886" grpId="0" animBg="1" advAuto="0"/>
      <p:bldP spid="1887" grpId="0" animBg="1" advAuto="0"/>
      <p:bldP spid="1888" grpId="0" animBg="1" advAuto="0"/>
      <p:bldP spid="1889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56689" cy="638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892" name="Text 0"/>
          <p:cNvSpPr txBox="1"/>
          <p:nvPr/>
        </p:nvSpPr>
        <p:spPr>
          <a:xfrm>
            <a:off x="5085325" y="831652"/>
            <a:ext cx="5079917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More articles to come…</a:t>
            </a:r>
          </a:p>
        </p:txBody>
      </p:sp>
      <p:sp>
        <p:nvSpPr>
          <p:cNvPr id="1893" name="Text 2"/>
          <p:cNvSpPr txBox="1"/>
          <p:nvPr/>
        </p:nvSpPr>
        <p:spPr>
          <a:xfrm>
            <a:off x="5141479" y="1784714"/>
            <a:ext cx="5990581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50"/>
              </a:lnSpc>
              <a:defRPr sz="25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83"/>
              <a:t>Soon, we will share a package of articles that you can read which would facilitate your preparation process. </a:t>
            </a:r>
          </a:p>
          <a:p>
            <a:pPr>
              <a:lnSpc>
                <a:spcPts val="2250"/>
              </a:lnSpc>
              <a:defRPr sz="25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2083"/>
          </a:p>
          <a:p>
            <a:pPr>
              <a:lnSpc>
                <a:spcPts val="2250"/>
              </a:lnSpc>
              <a:defRPr sz="25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83"/>
              <a:t>But feel free to explore more on your own!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Text 0"/>
          <p:cNvSpPr txBox="1"/>
          <p:nvPr/>
        </p:nvSpPr>
        <p:spPr>
          <a:xfrm>
            <a:off x="553839" y="435173"/>
            <a:ext cx="3986669" cy="531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6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The Research Process</a:t>
            </a:r>
          </a:p>
        </p:txBody>
      </p:sp>
      <p:sp>
        <p:nvSpPr>
          <p:cNvPr id="1896" name="Text 1"/>
          <p:cNvSpPr txBox="1"/>
          <p:nvPr/>
        </p:nvSpPr>
        <p:spPr>
          <a:xfrm>
            <a:off x="553840" y="1245990"/>
            <a:ext cx="65918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The journey from question to insight follows these essential steps:</a:t>
            </a:r>
          </a:p>
        </p:txBody>
      </p:sp>
      <p:pic>
        <p:nvPicPr>
          <p:cNvPr id="189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9" y="1677194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898" name="Text 2"/>
          <p:cNvSpPr txBox="1"/>
          <p:nvPr/>
        </p:nvSpPr>
        <p:spPr>
          <a:xfrm>
            <a:off x="1582340" y="1835349"/>
            <a:ext cx="169918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Ask a Question</a:t>
            </a:r>
          </a:p>
        </p:txBody>
      </p:sp>
      <p:sp>
        <p:nvSpPr>
          <p:cNvPr id="1899" name="Text 3"/>
          <p:cNvSpPr txBox="1"/>
          <p:nvPr/>
        </p:nvSpPr>
        <p:spPr>
          <a:xfrm>
            <a:off x="1582340" y="2177455"/>
            <a:ext cx="54686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Formulate a clear, specific question worth investigating</a:t>
            </a:r>
          </a:p>
        </p:txBody>
      </p:sp>
      <p:pic>
        <p:nvPicPr>
          <p:cNvPr id="190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9" y="2626618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901" name="Text 4"/>
          <p:cNvSpPr txBox="1"/>
          <p:nvPr/>
        </p:nvSpPr>
        <p:spPr>
          <a:xfrm>
            <a:off x="1582340" y="2784773"/>
            <a:ext cx="2228174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Gather Information</a:t>
            </a:r>
          </a:p>
        </p:txBody>
      </p:sp>
      <p:sp>
        <p:nvSpPr>
          <p:cNvPr id="1902" name="Text 5"/>
          <p:cNvSpPr txBox="1"/>
          <p:nvPr/>
        </p:nvSpPr>
        <p:spPr>
          <a:xfrm>
            <a:off x="1582341" y="3126880"/>
            <a:ext cx="74051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Review the literature &amp; collect relevant data through appropriate methods</a:t>
            </a:r>
          </a:p>
        </p:txBody>
      </p:sp>
      <p:pic>
        <p:nvPicPr>
          <p:cNvPr id="190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9" y="3576042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904" name="Text 6"/>
          <p:cNvSpPr txBox="1"/>
          <p:nvPr/>
        </p:nvSpPr>
        <p:spPr>
          <a:xfrm>
            <a:off x="1582341" y="3734197"/>
            <a:ext cx="2749151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solidFill>
                  <a:srgbClr val="91919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Analyze the Information</a:t>
            </a:r>
          </a:p>
        </p:txBody>
      </p:sp>
      <p:sp>
        <p:nvSpPr>
          <p:cNvPr id="1905" name="Text 7"/>
          <p:cNvSpPr txBox="1"/>
          <p:nvPr/>
        </p:nvSpPr>
        <p:spPr>
          <a:xfrm>
            <a:off x="1582340" y="4076303"/>
            <a:ext cx="4747197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Examine data for patterns, trends, and meaning</a:t>
            </a:r>
          </a:p>
        </p:txBody>
      </p:sp>
      <p:pic>
        <p:nvPicPr>
          <p:cNvPr id="1906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9" y="4525466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907" name="Text 8"/>
          <p:cNvSpPr txBox="1"/>
          <p:nvPr/>
        </p:nvSpPr>
        <p:spPr>
          <a:xfrm>
            <a:off x="1582340" y="4683621"/>
            <a:ext cx="2090316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solidFill>
                  <a:srgbClr val="91919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Draw Conclusions</a:t>
            </a:r>
          </a:p>
        </p:txBody>
      </p:sp>
      <p:sp>
        <p:nvSpPr>
          <p:cNvPr id="1908" name="Text 9"/>
          <p:cNvSpPr txBox="1"/>
          <p:nvPr/>
        </p:nvSpPr>
        <p:spPr>
          <a:xfrm>
            <a:off x="1582340" y="5025727"/>
            <a:ext cx="581287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Develop evidence-based answers to your original question</a:t>
            </a:r>
          </a:p>
        </p:txBody>
      </p:sp>
      <p:pic>
        <p:nvPicPr>
          <p:cNvPr id="1909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39" y="5474890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910" name="Text 10"/>
          <p:cNvSpPr txBox="1"/>
          <p:nvPr/>
        </p:nvSpPr>
        <p:spPr>
          <a:xfrm>
            <a:off x="1582341" y="5633046"/>
            <a:ext cx="17152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solidFill>
                  <a:srgbClr val="91919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Share Findings</a:t>
            </a:r>
          </a:p>
        </p:txBody>
      </p:sp>
      <p:sp>
        <p:nvSpPr>
          <p:cNvPr id="1911" name="Text 11"/>
          <p:cNvSpPr txBox="1"/>
          <p:nvPr/>
        </p:nvSpPr>
        <p:spPr>
          <a:xfrm>
            <a:off x="1582340" y="5975151"/>
            <a:ext cx="5745868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Communicate results effectively to appropriate audiences</a:t>
            </a:r>
          </a:p>
        </p:txBody>
      </p:sp>
      <p:sp>
        <p:nvSpPr>
          <p:cNvPr id="1912" name="Line"/>
          <p:cNvSpPr/>
          <p:nvPr/>
        </p:nvSpPr>
        <p:spPr>
          <a:xfrm>
            <a:off x="8205611" y="2151906"/>
            <a:ext cx="1240177" cy="1"/>
          </a:xfrm>
          <a:prstGeom prst="line">
            <a:avLst/>
          </a:prstGeom>
          <a:ln w="139700">
            <a:solidFill>
              <a:schemeClr val="accent5"/>
            </a:solidFill>
            <a:miter lim="400000"/>
            <a:headEnd type="triangle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913" name="Line"/>
          <p:cNvSpPr/>
          <p:nvPr/>
        </p:nvSpPr>
        <p:spPr>
          <a:xfrm>
            <a:off x="9895417" y="3252236"/>
            <a:ext cx="1240177" cy="1"/>
          </a:xfrm>
          <a:prstGeom prst="line">
            <a:avLst/>
          </a:prstGeom>
          <a:ln w="139700">
            <a:solidFill>
              <a:schemeClr val="accent5"/>
            </a:solidFill>
            <a:miter lim="400000"/>
            <a:headEnd type="triangle"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2" grpId="0" animBg="1" advAuto="0"/>
      <p:bldP spid="1913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Text 0"/>
          <p:cNvSpPr txBox="1"/>
          <p:nvPr/>
        </p:nvSpPr>
        <p:spPr>
          <a:xfrm>
            <a:off x="661492" y="657224"/>
            <a:ext cx="667650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From Questions to Hypotheses</a:t>
            </a:r>
          </a:p>
        </p:txBody>
      </p:sp>
      <p:sp>
        <p:nvSpPr>
          <p:cNvPr id="1916" name="Text 2"/>
          <p:cNvSpPr txBox="1"/>
          <p:nvPr/>
        </p:nvSpPr>
        <p:spPr>
          <a:xfrm>
            <a:off x="661491" y="2204640"/>
            <a:ext cx="5203926" cy="206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The information you have collected from the literature may help you translate your questions to hypotheses.</a:t>
            </a:r>
          </a:p>
          <a:p>
            <a:pPr>
              <a:lnSpc>
                <a:spcPts val="2333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>
              <a:lnSpc>
                <a:spcPts val="2333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>
              <a:lnSpc>
                <a:spcPts val="2333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Singular: Hypothesis</a:t>
            </a:r>
          </a:p>
          <a:p>
            <a:pPr>
              <a:lnSpc>
                <a:spcPts val="2333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Plural: Hypotheses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Text 0"/>
          <p:cNvSpPr txBox="1"/>
          <p:nvPr/>
        </p:nvSpPr>
        <p:spPr>
          <a:xfrm>
            <a:off x="661492" y="657224"/>
            <a:ext cx="667650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From Questions to Hypotheses</a:t>
            </a:r>
          </a:p>
        </p:txBody>
      </p:sp>
      <p:sp>
        <p:nvSpPr>
          <p:cNvPr id="1919" name="Text 1"/>
          <p:cNvSpPr txBox="1"/>
          <p:nvPr/>
        </p:nvSpPr>
        <p:spPr>
          <a:xfrm>
            <a:off x="661491" y="1720353"/>
            <a:ext cx="2704266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What is a Hypothesis?</a:t>
            </a:r>
          </a:p>
        </p:txBody>
      </p:sp>
      <p:sp>
        <p:nvSpPr>
          <p:cNvPr id="1920" name="Text 2"/>
          <p:cNvSpPr txBox="1"/>
          <p:nvPr/>
        </p:nvSpPr>
        <p:spPr>
          <a:xfrm>
            <a:off x="661491" y="2204640"/>
            <a:ext cx="5203926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An educated guess about what you expect to find based on your research question.</a:t>
            </a:r>
          </a:p>
        </p:txBody>
      </p:sp>
      <p:pic>
        <p:nvPicPr>
          <p:cNvPr id="192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933" y="1743968"/>
            <a:ext cx="5203925" cy="34692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Text 0"/>
          <p:cNvSpPr txBox="1"/>
          <p:nvPr/>
        </p:nvSpPr>
        <p:spPr>
          <a:xfrm>
            <a:off x="661492" y="657224"/>
            <a:ext cx="667650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From Questions to Hypotheses</a:t>
            </a:r>
          </a:p>
        </p:txBody>
      </p:sp>
      <p:sp>
        <p:nvSpPr>
          <p:cNvPr id="1924" name="Text 1"/>
          <p:cNvSpPr txBox="1"/>
          <p:nvPr/>
        </p:nvSpPr>
        <p:spPr>
          <a:xfrm>
            <a:off x="661491" y="1720353"/>
            <a:ext cx="2704266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What is a Hypothesis?</a:t>
            </a:r>
          </a:p>
        </p:txBody>
      </p:sp>
      <p:sp>
        <p:nvSpPr>
          <p:cNvPr id="1925" name="Text 2"/>
          <p:cNvSpPr txBox="1"/>
          <p:nvPr/>
        </p:nvSpPr>
        <p:spPr>
          <a:xfrm>
            <a:off x="661491" y="2204640"/>
            <a:ext cx="5203926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An educated guess about what you expect to find based on your research question.</a:t>
            </a:r>
          </a:p>
        </p:txBody>
      </p:sp>
      <p:sp>
        <p:nvSpPr>
          <p:cNvPr id="1926" name="Text 4"/>
          <p:cNvSpPr txBox="1"/>
          <p:nvPr/>
        </p:nvSpPr>
        <p:spPr>
          <a:xfrm>
            <a:off x="661491" y="4330237"/>
            <a:ext cx="5203926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Good hypotheses are developed from prior knowledge, preliminary research, and logical reasoning.</a:t>
            </a:r>
          </a:p>
        </p:txBody>
      </p:sp>
      <p:pic>
        <p:nvPicPr>
          <p:cNvPr id="19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933" y="1743968"/>
            <a:ext cx="5203925" cy="3469283"/>
          </a:xfrm>
          <a:prstGeom prst="rect">
            <a:avLst/>
          </a:prstGeom>
          <a:ln w="12700">
            <a:miter lim="400000"/>
          </a:ln>
        </p:spPr>
      </p:pic>
      <p:sp>
        <p:nvSpPr>
          <p:cNvPr id="1928" name="Text 6"/>
          <p:cNvSpPr txBox="1"/>
          <p:nvPr/>
        </p:nvSpPr>
        <p:spPr>
          <a:xfrm>
            <a:off x="661491" y="3199370"/>
            <a:ext cx="5203926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 hypothesis transforms your curiosity into a testable prediction that guides your research process.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0" name="Image 0" descr="Image 0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937121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1931" name="Text 0"/>
          <p:cNvSpPr txBox="1"/>
          <p:nvPr/>
        </p:nvSpPr>
        <p:spPr>
          <a:xfrm>
            <a:off x="661492" y="3335238"/>
            <a:ext cx="801982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Characteristics of a Good Hypothesis</a:t>
            </a:r>
          </a:p>
        </p:txBody>
      </p:sp>
      <p:sp>
        <p:nvSpPr>
          <p:cNvPr id="1932" name="Shape 1"/>
          <p:cNvSpPr/>
          <p:nvPr/>
        </p:nvSpPr>
        <p:spPr>
          <a:xfrm>
            <a:off x="661492" y="4209355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93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4244777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934" name="Text 2"/>
          <p:cNvSpPr txBox="1"/>
          <p:nvPr/>
        </p:nvSpPr>
        <p:spPr>
          <a:xfrm>
            <a:off x="1275754" y="4274245"/>
            <a:ext cx="2851250" cy="666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It's a statement, not a question</a:t>
            </a:r>
          </a:p>
        </p:txBody>
      </p:sp>
      <p:sp>
        <p:nvSpPr>
          <p:cNvPr id="1935" name="Text 3"/>
          <p:cNvSpPr txBox="1"/>
          <p:nvPr/>
        </p:nvSpPr>
        <p:spPr>
          <a:xfrm>
            <a:off x="1275754" y="4978201"/>
            <a:ext cx="2851250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Directly answers your research question or predicts an outcome.</a:t>
            </a:r>
          </a:p>
        </p:txBody>
      </p:sp>
      <p:sp>
        <p:nvSpPr>
          <p:cNvPr id="1936" name="Shape 4"/>
          <p:cNvSpPr/>
          <p:nvPr/>
        </p:nvSpPr>
        <p:spPr>
          <a:xfrm>
            <a:off x="4363244" y="4209355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93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136" y="4244777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938" name="Text 5"/>
          <p:cNvSpPr txBox="1"/>
          <p:nvPr/>
        </p:nvSpPr>
        <p:spPr>
          <a:xfrm>
            <a:off x="4977506" y="4274244"/>
            <a:ext cx="1487587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 is testable</a:t>
            </a:r>
          </a:p>
        </p:txBody>
      </p:sp>
      <p:sp>
        <p:nvSpPr>
          <p:cNvPr id="1939" name="Text 6"/>
          <p:cNvSpPr txBox="1"/>
          <p:nvPr/>
        </p:nvSpPr>
        <p:spPr>
          <a:xfrm>
            <a:off x="4977506" y="4682927"/>
            <a:ext cx="2851250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You can gather data to support or refute it.</a:t>
            </a:r>
          </a:p>
        </p:txBody>
      </p:sp>
      <p:sp>
        <p:nvSpPr>
          <p:cNvPr id="1940" name="Shape 7"/>
          <p:cNvSpPr/>
          <p:nvPr/>
        </p:nvSpPr>
        <p:spPr>
          <a:xfrm>
            <a:off x="8064996" y="4209355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941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888" y="4244777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942" name="Text 8"/>
          <p:cNvSpPr txBox="1"/>
          <p:nvPr/>
        </p:nvSpPr>
        <p:spPr>
          <a:xfrm>
            <a:off x="8679259" y="4274245"/>
            <a:ext cx="3155411" cy="666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 predicts a relationship between variables</a:t>
            </a:r>
          </a:p>
        </p:txBody>
      </p:sp>
      <p:sp>
        <p:nvSpPr>
          <p:cNvPr id="1943" name="Text 9"/>
          <p:cNvSpPr txBox="1"/>
          <p:nvPr/>
        </p:nvSpPr>
        <p:spPr>
          <a:xfrm>
            <a:off x="8679258" y="4978201"/>
            <a:ext cx="2851250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Often phrased as "If X happens, then Y will happen."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Text 0"/>
          <p:cNvSpPr txBox="1"/>
          <p:nvPr/>
        </p:nvSpPr>
        <p:spPr>
          <a:xfrm>
            <a:off x="661492" y="1319907"/>
            <a:ext cx="715901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Example: Study Time Hypothesis</a:t>
            </a:r>
          </a:p>
        </p:txBody>
      </p:sp>
      <p:sp>
        <p:nvSpPr>
          <p:cNvPr id="1946" name="Text 1"/>
          <p:cNvSpPr txBox="1"/>
          <p:nvPr/>
        </p:nvSpPr>
        <p:spPr>
          <a:xfrm>
            <a:off x="661491" y="2383036"/>
            <a:ext cx="2321148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Research Question</a:t>
            </a:r>
          </a:p>
        </p:txBody>
      </p:sp>
      <p:sp>
        <p:nvSpPr>
          <p:cNvPr id="1947" name="Text 2"/>
          <p:cNvSpPr txBox="1"/>
          <p:nvPr/>
        </p:nvSpPr>
        <p:spPr>
          <a:xfrm>
            <a:off x="661491" y="2867322"/>
            <a:ext cx="5203926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"How does the amount of time spent studying affect test scores among 8th graders?"</a:t>
            </a:r>
          </a:p>
        </p:txBody>
      </p:sp>
      <p:sp>
        <p:nvSpPr>
          <p:cNvPr id="1948" name="Text 3"/>
          <p:cNvSpPr txBox="1"/>
          <p:nvPr/>
        </p:nvSpPr>
        <p:spPr>
          <a:xfrm>
            <a:off x="6332933" y="2383036"/>
            <a:ext cx="1383392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Hypothesis</a:t>
            </a:r>
          </a:p>
        </p:txBody>
      </p:sp>
      <p:sp>
        <p:nvSpPr>
          <p:cNvPr id="1949" name="Text 4"/>
          <p:cNvSpPr txBox="1"/>
          <p:nvPr/>
        </p:nvSpPr>
        <p:spPr>
          <a:xfrm>
            <a:off x="6332933" y="2867322"/>
            <a:ext cx="5203925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"8th graders who study for at least 2 hours a day will have higher test scores than those who study for less than 1 hour a day."</a:t>
            </a:r>
          </a:p>
        </p:txBody>
      </p:sp>
      <p:sp>
        <p:nvSpPr>
          <p:cNvPr id="1950" name="Shape 5"/>
          <p:cNvSpPr/>
          <p:nvPr/>
        </p:nvSpPr>
        <p:spPr>
          <a:xfrm>
            <a:off x="661492" y="428426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51" name="Text 6"/>
          <p:cNvSpPr txBox="1"/>
          <p:nvPr/>
        </p:nvSpPr>
        <p:spPr>
          <a:xfrm>
            <a:off x="1275755" y="4349155"/>
            <a:ext cx="1869101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It’s a statement</a:t>
            </a:r>
          </a:p>
        </p:txBody>
      </p:sp>
      <p:sp>
        <p:nvSpPr>
          <p:cNvPr id="1952" name="Text 7"/>
          <p:cNvSpPr txBox="1"/>
          <p:nvPr/>
        </p:nvSpPr>
        <p:spPr>
          <a:xfrm>
            <a:off x="1275754" y="4757836"/>
            <a:ext cx="2851250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It's a statement predicting an outcome (more study → higher scores).</a:t>
            </a:r>
          </a:p>
        </p:txBody>
      </p:sp>
      <p:sp>
        <p:nvSpPr>
          <p:cNvPr id="1953" name="Shape 8"/>
          <p:cNvSpPr/>
          <p:nvPr/>
        </p:nvSpPr>
        <p:spPr>
          <a:xfrm>
            <a:off x="4363244" y="428426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54" name="Text 9"/>
          <p:cNvSpPr txBox="1"/>
          <p:nvPr/>
        </p:nvSpPr>
        <p:spPr>
          <a:xfrm>
            <a:off x="4977506" y="4349155"/>
            <a:ext cx="1397819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It's testable</a:t>
            </a:r>
          </a:p>
        </p:txBody>
      </p:sp>
      <p:sp>
        <p:nvSpPr>
          <p:cNvPr id="1955" name="Text 10"/>
          <p:cNvSpPr txBox="1"/>
          <p:nvPr/>
        </p:nvSpPr>
        <p:spPr>
          <a:xfrm>
            <a:off x="4977506" y="4757836"/>
            <a:ext cx="2851250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You could gather data on study habits and test scores.</a:t>
            </a:r>
          </a:p>
        </p:txBody>
      </p:sp>
      <p:sp>
        <p:nvSpPr>
          <p:cNvPr id="1956" name="Shape 11"/>
          <p:cNvSpPr/>
          <p:nvPr/>
        </p:nvSpPr>
        <p:spPr>
          <a:xfrm>
            <a:off x="8064996" y="428426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57" name="Text 12"/>
          <p:cNvSpPr txBox="1"/>
          <p:nvPr/>
        </p:nvSpPr>
        <p:spPr>
          <a:xfrm>
            <a:off x="8679258" y="4349156"/>
            <a:ext cx="2851250" cy="666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 mentions specific groups to compare</a:t>
            </a:r>
          </a:p>
        </p:txBody>
      </p:sp>
      <p:sp>
        <p:nvSpPr>
          <p:cNvPr id="1958" name="Text 13"/>
          <p:cNvSpPr txBox="1"/>
          <p:nvPr/>
        </p:nvSpPr>
        <p:spPr>
          <a:xfrm>
            <a:off x="8679258" y="5053112"/>
            <a:ext cx="2851250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Those who study ≥2 hours vs. those who study &lt;1 hour.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" grpId="0" animBg="1" advAuto="0"/>
      <p:bldP spid="1949" grpId="0" animBg="1" advAuto="0"/>
      <p:bldP spid="1950" grpId="0" animBg="1" advAuto="0"/>
      <p:bldP spid="1951" grpId="0" animBg="1" advAuto="0"/>
      <p:bldP spid="1952" grpId="0" animBg="1" advAuto="0"/>
      <p:bldP spid="1953" grpId="0" animBg="1" advAuto="0"/>
      <p:bldP spid="1954" grpId="0" animBg="1" advAuto="0"/>
      <p:bldP spid="1955" grpId="0" animBg="1" advAuto="0"/>
      <p:bldP spid="1956" grpId="0" animBg="1" advAuto="0"/>
      <p:bldP spid="1957" grpId="0" animBg="1" advAuto="0"/>
      <p:bldP spid="1958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Text 0"/>
          <p:cNvSpPr txBox="1"/>
          <p:nvPr/>
        </p:nvSpPr>
        <p:spPr>
          <a:xfrm>
            <a:off x="661492" y="1295102"/>
            <a:ext cx="748602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Example: Sleep and Sugary Drinks</a:t>
            </a:r>
          </a:p>
        </p:txBody>
      </p:sp>
      <p:sp>
        <p:nvSpPr>
          <p:cNvPr id="1961" name="Text 1"/>
          <p:cNvSpPr txBox="1"/>
          <p:nvPr/>
        </p:nvSpPr>
        <p:spPr>
          <a:xfrm>
            <a:off x="661491" y="2358232"/>
            <a:ext cx="2321148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Research Question</a:t>
            </a:r>
          </a:p>
        </p:txBody>
      </p:sp>
      <p:sp>
        <p:nvSpPr>
          <p:cNvPr id="1962" name="Text 2"/>
          <p:cNvSpPr txBox="1"/>
          <p:nvPr/>
        </p:nvSpPr>
        <p:spPr>
          <a:xfrm>
            <a:off x="661491" y="2842519"/>
            <a:ext cx="5203926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"Does drinking sugary drinks before bed affect sleep quality in teenagers?"</a:t>
            </a:r>
          </a:p>
        </p:txBody>
      </p:sp>
      <p:sp>
        <p:nvSpPr>
          <p:cNvPr id="1963" name="Text 3"/>
          <p:cNvSpPr txBox="1"/>
          <p:nvPr/>
        </p:nvSpPr>
        <p:spPr>
          <a:xfrm>
            <a:off x="6332933" y="2358232"/>
            <a:ext cx="1383392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Hypothesis</a:t>
            </a:r>
          </a:p>
        </p:txBody>
      </p:sp>
      <p:sp>
        <p:nvSpPr>
          <p:cNvPr id="1964" name="Text 4"/>
          <p:cNvSpPr txBox="1"/>
          <p:nvPr/>
        </p:nvSpPr>
        <p:spPr>
          <a:xfrm>
            <a:off x="6332933" y="2842519"/>
            <a:ext cx="5203925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"Drinking sugary drinks in the evening will lead to poorer sleep quality in teenagers, with more frequent waking during the night."</a:t>
            </a:r>
          </a:p>
        </p:txBody>
      </p:sp>
      <p:sp>
        <p:nvSpPr>
          <p:cNvPr id="1965" name="Text 5"/>
          <p:cNvSpPr txBox="1"/>
          <p:nvPr/>
        </p:nvSpPr>
        <p:spPr>
          <a:xfrm>
            <a:off x="1279403" y="5403553"/>
            <a:ext cx="10014745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It </a:t>
            </a:r>
            <a:r>
              <a:rPr sz="2083" b="1"/>
              <a:t>predicts</a:t>
            </a:r>
            <a:r>
              <a:rPr sz="2083"/>
              <a:t> an effect (poorer sleep) and gives a </a:t>
            </a:r>
            <a:r>
              <a:rPr sz="2083" b="1"/>
              <a:t>rationale</a:t>
            </a:r>
            <a:r>
              <a:rPr sz="2083"/>
              <a:t> (sugar disrupts sleep)</a:t>
            </a:r>
          </a:p>
        </p:txBody>
      </p:sp>
      <p:sp>
        <p:nvSpPr>
          <p:cNvPr id="1966" name="Shape 5"/>
          <p:cNvSpPr/>
          <p:nvPr/>
        </p:nvSpPr>
        <p:spPr>
          <a:xfrm>
            <a:off x="661492" y="415726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67" name="Text 6"/>
          <p:cNvSpPr txBox="1"/>
          <p:nvPr/>
        </p:nvSpPr>
        <p:spPr>
          <a:xfrm>
            <a:off x="1275755" y="4222155"/>
            <a:ext cx="1869101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It’s a statement</a:t>
            </a:r>
          </a:p>
        </p:txBody>
      </p:sp>
      <p:sp>
        <p:nvSpPr>
          <p:cNvPr id="1968" name="Shape 8"/>
          <p:cNvSpPr/>
          <p:nvPr/>
        </p:nvSpPr>
        <p:spPr>
          <a:xfrm>
            <a:off x="4363244" y="415726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69" name="Text 9"/>
          <p:cNvSpPr txBox="1"/>
          <p:nvPr/>
        </p:nvSpPr>
        <p:spPr>
          <a:xfrm>
            <a:off x="4977506" y="4222155"/>
            <a:ext cx="1397819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It's testable</a:t>
            </a:r>
          </a:p>
        </p:txBody>
      </p:sp>
      <p:sp>
        <p:nvSpPr>
          <p:cNvPr id="1970" name="Shape 11"/>
          <p:cNvSpPr/>
          <p:nvPr/>
        </p:nvSpPr>
        <p:spPr>
          <a:xfrm>
            <a:off x="8064996" y="415726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71" name="Text 12"/>
          <p:cNvSpPr txBox="1"/>
          <p:nvPr/>
        </p:nvSpPr>
        <p:spPr>
          <a:xfrm>
            <a:off x="8679258" y="4222155"/>
            <a:ext cx="2851250" cy="666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It mentions a specific group</a:t>
            </a:r>
          </a:p>
        </p:txBody>
      </p:sp>
      <p:sp>
        <p:nvSpPr>
          <p:cNvPr id="1972" name="Shape 5"/>
          <p:cNvSpPr/>
          <p:nvPr/>
        </p:nvSpPr>
        <p:spPr>
          <a:xfrm>
            <a:off x="661492" y="533988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500">
                <a:solidFill>
                  <a:srgbClr val="941751"/>
                </a:solidFill>
              </a:defRPr>
            </a:pPr>
            <a:endParaRPr sz="2083"/>
          </a:p>
        </p:txBody>
      </p:sp>
      <p:sp>
        <p:nvSpPr>
          <p:cNvPr id="1973" name="through comparison of sleep patterns"/>
          <p:cNvSpPr txBox="1"/>
          <p:nvPr/>
        </p:nvSpPr>
        <p:spPr>
          <a:xfrm>
            <a:off x="4935173" y="4468200"/>
            <a:ext cx="2898480" cy="791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2800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through comparison of sleep patterns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3" grpId="0" animBg="1" advAuto="0"/>
      <p:bldP spid="1964" grpId="0" animBg="1" advAuto="0"/>
      <p:bldP spid="1965" grpId="0" animBg="1" advAuto="0"/>
      <p:bldP spid="1966" grpId="0" animBg="1" advAuto="0"/>
      <p:bldP spid="1967" grpId="0" animBg="1" advAuto="0"/>
      <p:bldP spid="1968" grpId="0" animBg="1" advAuto="0"/>
      <p:bldP spid="1969" grpId="0" animBg="1" advAuto="0"/>
      <p:bldP spid="1970" grpId="0" animBg="1" advAuto="0"/>
      <p:bldP spid="1971" grpId="0" animBg="1" advAuto="0"/>
      <p:bldP spid="1972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250"/>
            <a:ext cx="4169104" cy="6253656"/>
          </a:xfrm>
          <a:prstGeom prst="rect">
            <a:avLst/>
          </a:prstGeom>
          <a:ln w="12700">
            <a:miter lim="400000"/>
          </a:ln>
        </p:spPr>
      </p:pic>
      <p:sp>
        <p:nvSpPr>
          <p:cNvPr id="1976" name="Text 0"/>
          <p:cNvSpPr txBox="1"/>
          <p:nvPr/>
        </p:nvSpPr>
        <p:spPr>
          <a:xfrm>
            <a:off x="5233491" y="774899"/>
            <a:ext cx="470000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Variables in Research</a:t>
            </a:r>
          </a:p>
        </p:txBody>
      </p:sp>
      <p:sp>
        <p:nvSpPr>
          <p:cNvPr id="1977" name="Shape 1"/>
          <p:cNvSpPr/>
          <p:nvPr/>
        </p:nvSpPr>
        <p:spPr>
          <a:xfrm>
            <a:off x="5233491" y="1649015"/>
            <a:ext cx="3054054" cy="2840733"/>
          </a:xfrm>
          <a:prstGeom prst="roundRect">
            <a:avLst>
              <a:gd name="adj" fmla="val 279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978" name="Text 2"/>
          <p:cNvSpPr txBox="1"/>
          <p:nvPr/>
        </p:nvSpPr>
        <p:spPr>
          <a:xfrm>
            <a:off x="5428853" y="1844378"/>
            <a:ext cx="2455800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Independent Variable</a:t>
            </a:r>
          </a:p>
        </p:txBody>
      </p:sp>
      <p:sp>
        <p:nvSpPr>
          <p:cNvPr id="1979" name="Text 3"/>
          <p:cNvSpPr txBox="1"/>
          <p:nvPr/>
        </p:nvSpPr>
        <p:spPr>
          <a:xfrm>
            <a:off x="5428854" y="2253059"/>
            <a:ext cx="2853928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What you change or what differs between groups.</a:t>
            </a:r>
          </a:p>
        </p:txBody>
      </p:sp>
      <p:sp>
        <p:nvSpPr>
          <p:cNvPr id="1980" name="Text 4"/>
          <p:cNvSpPr txBox="1"/>
          <p:nvPr/>
        </p:nvSpPr>
        <p:spPr>
          <a:xfrm>
            <a:off x="5428853" y="2971304"/>
            <a:ext cx="2663330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The potential cause or input you're testing.</a:t>
            </a:r>
          </a:p>
        </p:txBody>
      </p:sp>
      <p:sp>
        <p:nvSpPr>
          <p:cNvPr id="1981" name="Text 5"/>
          <p:cNvSpPr txBox="1"/>
          <p:nvPr/>
        </p:nvSpPr>
        <p:spPr>
          <a:xfrm>
            <a:off x="5428853" y="3689548"/>
            <a:ext cx="2663330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Example: amount of study time</a:t>
            </a:r>
          </a:p>
        </p:txBody>
      </p:sp>
      <p:sp>
        <p:nvSpPr>
          <p:cNvPr id="1982" name="Shape 6"/>
          <p:cNvSpPr/>
          <p:nvPr/>
        </p:nvSpPr>
        <p:spPr>
          <a:xfrm>
            <a:off x="8476555" y="1649015"/>
            <a:ext cx="3054053" cy="2840733"/>
          </a:xfrm>
          <a:prstGeom prst="roundRect">
            <a:avLst>
              <a:gd name="adj" fmla="val 279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983" name="Text 7"/>
          <p:cNvSpPr txBox="1"/>
          <p:nvPr/>
        </p:nvSpPr>
        <p:spPr>
          <a:xfrm>
            <a:off x="8671917" y="1844378"/>
            <a:ext cx="225542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Dependent Variable</a:t>
            </a:r>
          </a:p>
        </p:txBody>
      </p:sp>
      <p:sp>
        <p:nvSpPr>
          <p:cNvPr id="1984" name="Text 8"/>
          <p:cNvSpPr txBox="1"/>
          <p:nvPr/>
        </p:nvSpPr>
        <p:spPr>
          <a:xfrm>
            <a:off x="8671918" y="2253059"/>
            <a:ext cx="2663330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What you measure as the outcome.</a:t>
            </a:r>
          </a:p>
        </p:txBody>
      </p:sp>
      <p:sp>
        <p:nvSpPr>
          <p:cNvPr id="1985" name="Text 9"/>
          <p:cNvSpPr txBox="1"/>
          <p:nvPr/>
        </p:nvSpPr>
        <p:spPr>
          <a:xfrm>
            <a:off x="8671918" y="2971304"/>
            <a:ext cx="2663330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The effect that might change based on the independent variable.</a:t>
            </a:r>
          </a:p>
        </p:txBody>
      </p:sp>
      <p:sp>
        <p:nvSpPr>
          <p:cNvPr id="1986" name="Text 10"/>
          <p:cNvSpPr txBox="1"/>
          <p:nvPr/>
        </p:nvSpPr>
        <p:spPr>
          <a:xfrm>
            <a:off x="8671918" y="3991968"/>
            <a:ext cx="2025491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Example: test scores</a:t>
            </a:r>
          </a:p>
        </p:txBody>
      </p:sp>
      <p:sp>
        <p:nvSpPr>
          <p:cNvPr id="1987" name="Shape 11"/>
          <p:cNvSpPr/>
          <p:nvPr/>
        </p:nvSpPr>
        <p:spPr>
          <a:xfrm>
            <a:off x="5233491" y="4678760"/>
            <a:ext cx="6297018" cy="1404244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988" name="Text 12"/>
          <p:cNvSpPr txBox="1"/>
          <p:nvPr/>
        </p:nvSpPr>
        <p:spPr>
          <a:xfrm>
            <a:off x="5428853" y="4874120"/>
            <a:ext cx="2309928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Hypothesis Formula</a:t>
            </a:r>
          </a:p>
        </p:txBody>
      </p:sp>
      <p:sp>
        <p:nvSpPr>
          <p:cNvPr id="1989" name="Text 13"/>
          <p:cNvSpPr txBox="1"/>
          <p:nvPr/>
        </p:nvSpPr>
        <p:spPr>
          <a:xfrm>
            <a:off x="5428854" y="5282803"/>
            <a:ext cx="5906293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"If [independent variable], then [dependent variable], because [reason]."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2" grpId="0" animBg="1" advAuto="0"/>
      <p:bldP spid="1983" grpId="0" animBg="1" advAuto="0"/>
      <p:bldP spid="1984" grpId="0" animBg="1" advAuto="0"/>
      <p:bldP spid="1985" grpId="0" animBg="1" advAuto="0"/>
      <p:bldP spid="1986" grpId="0" animBg="1" advAuto="0"/>
      <p:bldP spid="1987" grpId="0" animBg="1" advAuto="0"/>
      <p:bldP spid="1988" grpId="0" animBg="1" advAuto="0"/>
      <p:bldP spid="1989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Text 0"/>
          <p:cNvSpPr txBox="1"/>
          <p:nvPr/>
        </p:nvSpPr>
        <p:spPr>
          <a:xfrm>
            <a:off x="661492" y="1319907"/>
            <a:ext cx="715901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Example: Study Time Hypothesis</a:t>
            </a:r>
          </a:p>
        </p:txBody>
      </p:sp>
      <p:sp>
        <p:nvSpPr>
          <p:cNvPr id="1992" name="Text 1"/>
          <p:cNvSpPr txBox="1"/>
          <p:nvPr/>
        </p:nvSpPr>
        <p:spPr>
          <a:xfrm>
            <a:off x="661491" y="2383036"/>
            <a:ext cx="2321148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Research Question</a:t>
            </a:r>
          </a:p>
        </p:txBody>
      </p:sp>
      <p:sp>
        <p:nvSpPr>
          <p:cNvPr id="1993" name="Text 2"/>
          <p:cNvSpPr txBox="1"/>
          <p:nvPr/>
        </p:nvSpPr>
        <p:spPr>
          <a:xfrm>
            <a:off x="661491" y="2867322"/>
            <a:ext cx="5203926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"How does the amount of time spent studying affect test scores among 8th graders?"</a:t>
            </a:r>
          </a:p>
        </p:txBody>
      </p:sp>
      <p:sp>
        <p:nvSpPr>
          <p:cNvPr id="1994" name="Text 3"/>
          <p:cNvSpPr txBox="1"/>
          <p:nvPr/>
        </p:nvSpPr>
        <p:spPr>
          <a:xfrm>
            <a:off x="6332933" y="2383036"/>
            <a:ext cx="1383392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Hypothesis</a:t>
            </a:r>
          </a:p>
        </p:txBody>
      </p:sp>
      <p:sp>
        <p:nvSpPr>
          <p:cNvPr id="1995" name="Text 4"/>
          <p:cNvSpPr txBox="1"/>
          <p:nvPr/>
        </p:nvSpPr>
        <p:spPr>
          <a:xfrm>
            <a:off x="6332933" y="2867322"/>
            <a:ext cx="5203925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"8th graders who study for at least 2 hours a day will have higher test scores than those who study for less than 1 hour a day."</a:t>
            </a:r>
          </a:p>
        </p:txBody>
      </p:sp>
      <p:sp>
        <p:nvSpPr>
          <p:cNvPr id="1996" name="Text 13"/>
          <p:cNvSpPr txBox="1"/>
          <p:nvPr/>
        </p:nvSpPr>
        <p:spPr>
          <a:xfrm>
            <a:off x="3413312" y="4267034"/>
            <a:ext cx="4652738" cy="58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 b="1"/>
              <a:t>Independent variable:</a:t>
            </a:r>
            <a:r>
              <a:rPr sz="2083"/>
              <a:t> Study Time</a:t>
            </a:r>
          </a:p>
          <a:p>
            <a:pPr>
              <a:lnSpc>
                <a:spcPts val="2333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 b="1"/>
              <a:t>Dependent variable:</a:t>
            </a:r>
            <a:r>
              <a:rPr sz="2083"/>
              <a:t> Test scores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Text 0"/>
          <p:cNvSpPr txBox="1"/>
          <p:nvPr/>
        </p:nvSpPr>
        <p:spPr>
          <a:xfrm>
            <a:off x="661492" y="1379769"/>
            <a:ext cx="748602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Example: Sleep and Sugary Drinks</a:t>
            </a:r>
          </a:p>
        </p:txBody>
      </p:sp>
      <p:sp>
        <p:nvSpPr>
          <p:cNvPr id="1999" name="Text 1"/>
          <p:cNvSpPr txBox="1"/>
          <p:nvPr/>
        </p:nvSpPr>
        <p:spPr>
          <a:xfrm>
            <a:off x="661491" y="2442898"/>
            <a:ext cx="2321148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Research Question</a:t>
            </a:r>
          </a:p>
        </p:txBody>
      </p:sp>
      <p:sp>
        <p:nvSpPr>
          <p:cNvPr id="2000" name="Text 2"/>
          <p:cNvSpPr txBox="1"/>
          <p:nvPr/>
        </p:nvSpPr>
        <p:spPr>
          <a:xfrm>
            <a:off x="661491" y="2927186"/>
            <a:ext cx="5203926" cy="69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"Does drinking sugary drinks before bed affect sleep quality in teenagers?"</a:t>
            </a:r>
          </a:p>
        </p:txBody>
      </p:sp>
      <p:sp>
        <p:nvSpPr>
          <p:cNvPr id="2001" name="Text 3"/>
          <p:cNvSpPr txBox="1"/>
          <p:nvPr/>
        </p:nvSpPr>
        <p:spPr>
          <a:xfrm>
            <a:off x="6332933" y="2442898"/>
            <a:ext cx="1383392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Hypothesis</a:t>
            </a:r>
          </a:p>
        </p:txBody>
      </p:sp>
      <p:sp>
        <p:nvSpPr>
          <p:cNvPr id="2002" name="Text 4"/>
          <p:cNvSpPr txBox="1"/>
          <p:nvPr/>
        </p:nvSpPr>
        <p:spPr>
          <a:xfrm>
            <a:off x="6332933" y="2927185"/>
            <a:ext cx="5203925" cy="1057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"Drinking sugary drinks in the evening will lead to poorer sleep quality in teenagers, with more frequent waking during the night."</a:t>
            </a:r>
          </a:p>
        </p:txBody>
      </p:sp>
      <p:sp>
        <p:nvSpPr>
          <p:cNvPr id="2003" name="Text 13"/>
          <p:cNvSpPr txBox="1"/>
          <p:nvPr/>
        </p:nvSpPr>
        <p:spPr>
          <a:xfrm>
            <a:off x="3078045" y="4269562"/>
            <a:ext cx="6402816" cy="884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3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1917" b="1"/>
              <a:t>Independent variable:</a:t>
            </a:r>
            <a:r>
              <a:rPr sz="1917"/>
              <a:t> Drinking sugary drinks</a:t>
            </a:r>
          </a:p>
          <a:p>
            <a:pPr>
              <a:lnSpc>
                <a:spcPts val="2333"/>
              </a:lnSpc>
              <a:defRPr sz="23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1917" b="1"/>
              <a:t>Dependent variable:</a:t>
            </a:r>
            <a:r>
              <a:rPr sz="1917"/>
              <a:t> Sleep quality, more specifically frequency of night awakenings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3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65448" cy="6398173"/>
          </a:xfrm>
          <a:prstGeom prst="rect">
            <a:avLst/>
          </a:prstGeom>
          <a:ln w="12700">
            <a:miter lim="400000"/>
          </a:ln>
        </p:spPr>
      </p:pic>
      <p:sp>
        <p:nvSpPr>
          <p:cNvPr id="2006" name="Text 0"/>
          <p:cNvSpPr txBox="1"/>
          <p:nvPr/>
        </p:nvSpPr>
        <p:spPr>
          <a:xfrm>
            <a:off x="5233491" y="577552"/>
            <a:ext cx="6297018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Your Turn: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Formulate a Hypothesis</a:t>
            </a:r>
          </a:p>
        </p:txBody>
      </p:sp>
      <p:sp>
        <p:nvSpPr>
          <p:cNvPr id="2007" name="Shape 1"/>
          <p:cNvSpPr/>
          <p:nvPr/>
        </p:nvSpPr>
        <p:spPr>
          <a:xfrm>
            <a:off x="5233491" y="204231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008" name="Text 2"/>
          <p:cNvSpPr txBox="1"/>
          <p:nvPr/>
        </p:nvSpPr>
        <p:spPr>
          <a:xfrm>
            <a:off x="5393217" y="2077740"/>
            <a:ext cx="105799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1</a:t>
            </a:r>
          </a:p>
        </p:txBody>
      </p:sp>
      <p:sp>
        <p:nvSpPr>
          <p:cNvPr id="2009" name="Text 3"/>
          <p:cNvSpPr txBox="1"/>
          <p:nvPr/>
        </p:nvSpPr>
        <p:spPr>
          <a:xfrm>
            <a:off x="5847755" y="2033124"/>
            <a:ext cx="2149627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Make a Prediction</a:t>
            </a:r>
          </a:p>
        </p:txBody>
      </p:sp>
      <p:sp>
        <p:nvSpPr>
          <p:cNvPr id="2010" name="Text 4"/>
          <p:cNvSpPr txBox="1"/>
          <p:nvPr/>
        </p:nvSpPr>
        <p:spPr>
          <a:xfrm>
            <a:off x="5847754" y="2441807"/>
            <a:ext cx="5603906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Based on what you know, what do you expect to find?</a:t>
            </a:r>
          </a:p>
        </p:txBody>
      </p:sp>
      <p:sp>
        <p:nvSpPr>
          <p:cNvPr id="2011" name="Shape 5"/>
          <p:cNvSpPr/>
          <p:nvPr/>
        </p:nvSpPr>
        <p:spPr>
          <a:xfrm>
            <a:off x="5233491" y="3196332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012" name="Text 6"/>
          <p:cNvSpPr txBox="1"/>
          <p:nvPr/>
        </p:nvSpPr>
        <p:spPr>
          <a:xfrm>
            <a:off x="5373180" y="3231753"/>
            <a:ext cx="145874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2</a:t>
            </a:r>
          </a:p>
        </p:txBody>
      </p:sp>
      <p:sp>
        <p:nvSpPr>
          <p:cNvPr id="2013" name="Text 7"/>
          <p:cNvSpPr txBox="1"/>
          <p:nvPr/>
        </p:nvSpPr>
        <p:spPr>
          <a:xfrm>
            <a:off x="5847754" y="3187138"/>
            <a:ext cx="2431756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Write as a Statement</a:t>
            </a:r>
          </a:p>
        </p:txBody>
      </p:sp>
      <p:sp>
        <p:nvSpPr>
          <p:cNvPr id="2014" name="Text 8"/>
          <p:cNvSpPr txBox="1"/>
          <p:nvPr/>
        </p:nvSpPr>
        <p:spPr>
          <a:xfrm>
            <a:off x="5847755" y="3595820"/>
            <a:ext cx="5730095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Not a question - a clear prediction of what will happen.</a:t>
            </a:r>
          </a:p>
        </p:txBody>
      </p:sp>
      <p:sp>
        <p:nvSpPr>
          <p:cNvPr id="2015" name="Shape 9"/>
          <p:cNvSpPr/>
          <p:nvPr/>
        </p:nvSpPr>
        <p:spPr>
          <a:xfrm>
            <a:off x="5233491" y="435034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016" name="Text 10"/>
          <p:cNvSpPr txBox="1"/>
          <p:nvPr/>
        </p:nvSpPr>
        <p:spPr>
          <a:xfrm>
            <a:off x="5377990" y="4385766"/>
            <a:ext cx="136256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3</a:t>
            </a:r>
          </a:p>
        </p:txBody>
      </p:sp>
      <p:sp>
        <p:nvSpPr>
          <p:cNvPr id="2017" name="Text 11"/>
          <p:cNvSpPr txBox="1"/>
          <p:nvPr/>
        </p:nvSpPr>
        <p:spPr>
          <a:xfrm>
            <a:off x="5847754" y="4341151"/>
            <a:ext cx="3355086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Identify &amp; Include Variables</a:t>
            </a:r>
          </a:p>
        </p:txBody>
      </p:sp>
      <p:sp>
        <p:nvSpPr>
          <p:cNvPr id="2018" name="Text 12"/>
          <p:cNvSpPr txBox="1"/>
          <p:nvPr/>
        </p:nvSpPr>
        <p:spPr>
          <a:xfrm>
            <a:off x="5847754" y="4749834"/>
            <a:ext cx="5489964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Connect your independent and dependent variables.</a:t>
            </a:r>
          </a:p>
        </p:txBody>
      </p:sp>
      <p:sp>
        <p:nvSpPr>
          <p:cNvPr id="2019" name="Shape 13"/>
          <p:cNvSpPr/>
          <p:nvPr/>
        </p:nvSpPr>
        <p:spPr>
          <a:xfrm>
            <a:off x="5233491" y="550435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020" name="Text 14"/>
          <p:cNvSpPr txBox="1"/>
          <p:nvPr/>
        </p:nvSpPr>
        <p:spPr>
          <a:xfrm>
            <a:off x="5372378" y="5539781"/>
            <a:ext cx="147477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4</a:t>
            </a:r>
          </a:p>
        </p:txBody>
      </p:sp>
      <p:sp>
        <p:nvSpPr>
          <p:cNvPr id="2021" name="Text 15"/>
          <p:cNvSpPr txBox="1"/>
          <p:nvPr/>
        </p:nvSpPr>
        <p:spPr>
          <a:xfrm>
            <a:off x="5847754" y="5495164"/>
            <a:ext cx="1777731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Add Reasoning</a:t>
            </a:r>
          </a:p>
        </p:txBody>
      </p:sp>
      <p:sp>
        <p:nvSpPr>
          <p:cNvPr id="2022" name="Text 16"/>
          <p:cNvSpPr txBox="1"/>
          <p:nvPr/>
        </p:nvSpPr>
        <p:spPr>
          <a:xfrm>
            <a:off x="5847755" y="5903846"/>
            <a:ext cx="5381473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Explain why you expect this outcome ("because...").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Text 0"/>
          <p:cNvSpPr txBox="1"/>
          <p:nvPr/>
        </p:nvSpPr>
        <p:spPr>
          <a:xfrm>
            <a:off x="5233491" y="577552"/>
            <a:ext cx="6297018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Your Turn: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Share Your Hypothesis</a:t>
            </a:r>
          </a:p>
        </p:txBody>
      </p:sp>
      <p:sp>
        <p:nvSpPr>
          <p:cNvPr id="2025" name="Text 2"/>
          <p:cNvSpPr txBox="1"/>
          <p:nvPr/>
        </p:nvSpPr>
        <p:spPr>
          <a:xfrm>
            <a:off x="6125208" y="2772932"/>
            <a:ext cx="2851249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Is it a statement?</a:t>
            </a:r>
          </a:p>
        </p:txBody>
      </p:sp>
      <p:sp>
        <p:nvSpPr>
          <p:cNvPr id="2026" name="Text 5"/>
          <p:cNvSpPr txBox="1"/>
          <p:nvPr/>
        </p:nvSpPr>
        <p:spPr>
          <a:xfrm>
            <a:off x="6133552" y="3319676"/>
            <a:ext cx="1639873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Is it testable?</a:t>
            </a:r>
          </a:p>
        </p:txBody>
      </p:sp>
      <p:sp>
        <p:nvSpPr>
          <p:cNvPr id="2027" name="Text 8"/>
          <p:cNvSpPr txBox="1"/>
          <p:nvPr/>
        </p:nvSpPr>
        <p:spPr>
          <a:xfrm>
            <a:off x="6124845" y="3845253"/>
            <a:ext cx="5474137" cy="66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Does it predict a relationship between variables?</a:t>
            </a:r>
          </a:p>
        </p:txBody>
      </p:sp>
      <p:sp>
        <p:nvSpPr>
          <p:cNvPr id="2028" name="Shape 1"/>
          <p:cNvSpPr/>
          <p:nvPr/>
        </p:nvSpPr>
        <p:spPr>
          <a:xfrm>
            <a:off x="5443036" y="272254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29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927" y="2757968"/>
            <a:ext cx="283469" cy="3544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5448" cy="6398173"/>
          </a:xfrm>
          <a:prstGeom prst="rect">
            <a:avLst/>
          </a:prstGeom>
          <a:ln w="12700">
            <a:miter lim="400000"/>
          </a:ln>
        </p:spPr>
      </p:pic>
      <p:sp>
        <p:nvSpPr>
          <p:cNvPr id="2031" name="Shape 1"/>
          <p:cNvSpPr/>
          <p:nvPr/>
        </p:nvSpPr>
        <p:spPr>
          <a:xfrm>
            <a:off x="5432453" y="326229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32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44" y="329771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33" name="Shape 1"/>
          <p:cNvSpPr/>
          <p:nvPr/>
        </p:nvSpPr>
        <p:spPr>
          <a:xfrm>
            <a:off x="5448328" y="3875331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34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19" y="3910752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35" name="Shape 1"/>
          <p:cNvSpPr/>
          <p:nvPr/>
        </p:nvSpPr>
        <p:spPr>
          <a:xfrm>
            <a:off x="5437744" y="448916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36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6" y="4524585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37" name="Text 5"/>
          <p:cNvSpPr txBox="1"/>
          <p:nvPr/>
        </p:nvSpPr>
        <p:spPr>
          <a:xfrm>
            <a:off x="6133552" y="4560717"/>
            <a:ext cx="1280800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Is it clear?</a:t>
            </a:r>
          </a:p>
        </p:txBody>
      </p:sp>
      <p:sp>
        <p:nvSpPr>
          <p:cNvPr id="2038" name="Shape 1"/>
          <p:cNvSpPr/>
          <p:nvPr/>
        </p:nvSpPr>
        <p:spPr>
          <a:xfrm>
            <a:off x="5437744" y="5018331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39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6" y="5053752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40" name="Text 5"/>
          <p:cNvSpPr txBox="1"/>
          <p:nvPr/>
        </p:nvSpPr>
        <p:spPr>
          <a:xfrm>
            <a:off x="6133552" y="5064335"/>
            <a:ext cx="2710678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Does it mention who?</a:t>
            </a:r>
          </a:p>
        </p:txBody>
      </p:sp>
      <p:sp>
        <p:nvSpPr>
          <p:cNvPr id="2041" name="Text 2"/>
          <p:cNvSpPr txBox="1"/>
          <p:nvPr/>
        </p:nvSpPr>
        <p:spPr>
          <a:xfrm>
            <a:off x="6113054" y="2278733"/>
            <a:ext cx="5398004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Is it relevant to the issue at hand?</a:t>
            </a:r>
          </a:p>
        </p:txBody>
      </p:sp>
      <p:sp>
        <p:nvSpPr>
          <p:cNvPr id="2042" name="Shape 1"/>
          <p:cNvSpPr/>
          <p:nvPr/>
        </p:nvSpPr>
        <p:spPr>
          <a:xfrm>
            <a:off x="5430882" y="2228348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43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774" y="2263768"/>
            <a:ext cx="283469" cy="3544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046" name="Text 0"/>
          <p:cNvSpPr txBox="1"/>
          <p:nvPr/>
        </p:nvSpPr>
        <p:spPr>
          <a:xfrm>
            <a:off x="661492" y="872927"/>
            <a:ext cx="609301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REFINEMENT IS NORMAL! </a:t>
            </a:r>
          </a:p>
        </p:txBody>
      </p:sp>
      <p:sp>
        <p:nvSpPr>
          <p:cNvPr id="2047" name="Text 12"/>
          <p:cNvSpPr txBox="1"/>
          <p:nvPr/>
        </p:nvSpPr>
        <p:spPr>
          <a:xfrm>
            <a:off x="697200" y="1883238"/>
            <a:ext cx="4936916" cy="285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Questions and hypotheses often evolve as you learn more.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But how do you “learn more”? 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>
                <a:solidFill>
                  <a:srgbClr val="000000"/>
                </a:solidFill>
              </a:rPr>
              <a:t>Answer: </a:t>
            </a:r>
            <a:r>
              <a:rPr sz="2833"/>
              <a:t>Literature Review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7" grpId="0" build="p" bldLvl="5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050" name="Text 0"/>
          <p:cNvSpPr txBox="1"/>
          <p:nvPr/>
        </p:nvSpPr>
        <p:spPr>
          <a:xfrm>
            <a:off x="661492" y="872927"/>
            <a:ext cx="331501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Key Takeaways</a:t>
            </a:r>
          </a:p>
        </p:txBody>
      </p:sp>
      <p:sp>
        <p:nvSpPr>
          <p:cNvPr id="2051" name="Shape 1"/>
          <p:cNvSpPr/>
          <p:nvPr/>
        </p:nvSpPr>
        <p:spPr>
          <a:xfrm>
            <a:off x="624429" y="200117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5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1" y="203659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Text 2"/>
          <p:cNvSpPr txBox="1"/>
          <p:nvPr/>
        </p:nvSpPr>
        <p:spPr>
          <a:xfrm>
            <a:off x="1238693" y="2076649"/>
            <a:ext cx="4079643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Good Questions Drive Good Research</a:t>
            </a:r>
          </a:p>
        </p:txBody>
      </p:sp>
      <p:sp>
        <p:nvSpPr>
          <p:cNvPr id="2054" name="Shape 4"/>
          <p:cNvSpPr/>
          <p:nvPr/>
        </p:nvSpPr>
        <p:spPr>
          <a:xfrm>
            <a:off x="661492" y="273172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5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84" y="2767145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56" name="Text 5"/>
          <p:cNvSpPr txBox="1"/>
          <p:nvPr/>
        </p:nvSpPr>
        <p:spPr>
          <a:xfrm>
            <a:off x="1275754" y="2807196"/>
            <a:ext cx="246381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Narrowing Is Essential</a:t>
            </a:r>
          </a:p>
        </p:txBody>
      </p:sp>
      <p:sp>
        <p:nvSpPr>
          <p:cNvPr id="2057" name="Shape 7"/>
          <p:cNvSpPr/>
          <p:nvPr/>
        </p:nvSpPr>
        <p:spPr>
          <a:xfrm>
            <a:off x="666601" y="346119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5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93" y="349661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59" name="Text 8"/>
          <p:cNvSpPr txBox="1"/>
          <p:nvPr/>
        </p:nvSpPr>
        <p:spPr>
          <a:xfrm>
            <a:off x="1309087" y="3536669"/>
            <a:ext cx="370774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Hypotheses Are Educated Guesses</a:t>
            </a:r>
          </a:p>
        </p:txBody>
      </p:sp>
      <p:sp>
        <p:nvSpPr>
          <p:cNvPr id="2060" name="Shape 10"/>
          <p:cNvSpPr/>
          <p:nvPr/>
        </p:nvSpPr>
        <p:spPr>
          <a:xfrm>
            <a:off x="652490" y="419187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6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82" y="422729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62" name="Text 11"/>
          <p:cNvSpPr txBox="1"/>
          <p:nvPr/>
        </p:nvSpPr>
        <p:spPr>
          <a:xfrm>
            <a:off x="1294975" y="4267349"/>
            <a:ext cx="238687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Refinement Is Normal</a:t>
            </a:r>
          </a:p>
        </p:txBody>
      </p:sp>
      <p:sp>
        <p:nvSpPr>
          <p:cNvPr id="2063" name="Shape 1"/>
          <p:cNvSpPr/>
          <p:nvPr/>
        </p:nvSpPr>
        <p:spPr>
          <a:xfrm>
            <a:off x="678799" y="541587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6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1" y="5451297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65" name="Text 2"/>
          <p:cNvSpPr txBox="1"/>
          <p:nvPr/>
        </p:nvSpPr>
        <p:spPr>
          <a:xfrm>
            <a:off x="1293063" y="5470181"/>
            <a:ext cx="4350219" cy="659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Literature is a source of information. How you approach it is critical! 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941" y="928414"/>
            <a:ext cx="3953058" cy="5929586"/>
          </a:xfrm>
          <a:prstGeom prst="rect">
            <a:avLst/>
          </a:prstGeom>
          <a:ln w="12700">
            <a:miter lim="400000"/>
          </a:ln>
        </p:spPr>
      </p:pic>
      <p:sp>
        <p:nvSpPr>
          <p:cNvPr id="2068" name="Text 0"/>
          <p:cNvSpPr txBox="1"/>
          <p:nvPr/>
        </p:nvSpPr>
        <p:spPr>
          <a:xfrm>
            <a:off x="661492" y="1820069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Designing a Research Project</a:t>
            </a:r>
          </a:p>
        </p:txBody>
      </p:sp>
      <p:sp>
        <p:nvSpPr>
          <p:cNvPr id="2069" name="Shape 2"/>
          <p:cNvSpPr/>
          <p:nvPr/>
        </p:nvSpPr>
        <p:spPr>
          <a:xfrm>
            <a:off x="661492" y="4721225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070" name="Text 0"/>
          <p:cNvSpPr txBox="1"/>
          <p:nvPr/>
        </p:nvSpPr>
        <p:spPr>
          <a:xfrm>
            <a:off x="661492" y="895791"/>
            <a:ext cx="6297018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NEXT</a:t>
            </a:r>
            <a:r>
              <a:rPr sz="3667"/>
              <a:t> 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941" y="928414"/>
            <a:ext cx="3953058" cy="5929586"/>
          </a:xfrm>
          <a:prstGeom prst="rect">
            <a:avLst/>
          </a:prstGeom>
          <a:ln w="12700">
            <a:miter lim="400000"/>
          </a:ln>
        </p:spPr>
      </p:pic>
      <p:sp>
        <p:nvSpPr>
          <p:cNvPr id="2073" name="Text 0"/>
          <p:cNvSpPr txBox="1"/>
          <p:nvPr/>
        </p:nvSpPr>
        <p:spPr>
          <a:xfrm>
            <a:off x="661492" y="1820069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Designing a Research Project</a:t>
            </a:r>
          </a:p>
        </p:txBody>
      </p:sp>
      <p:sp>
        <p:nvSpPr>
          <p:cNvPr id="2074" name="Text 1"/>
          <p:cNvSpPr txBox="1"/>
          <p:nvPr/>
        </p:nvSpPr>
        <p:spPr>
          <a:xfrm>
            <a:off x="661492" y="3284835"/>
            <a:ext cx="6297018" cy="704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Let’s explore how to plan, execute, and analyze research that answers meaningful questions.</a:t>
            </a:r>
          </a:p>
        </p:txBody>
      </p:sp>
      <p:sp>
        <p:nvSpPr>
          <p:cNvPr id="2075" name="Shape 2"/>
          <p:cNvSpPr/>
          <p:nvPr/>
        </p:nvSpPr>
        <p:spPr>
          <a:xfrm>
            <a:off x="661492" y="4721225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919" y="827881"/>
            <a:ext cx="4020080" cy="6030119"/>
          </a:xfrm>
          <a:prstGeom prst="rect">
            <a:avLst/>
          </a:prstGeom>
          <a:ln w="12700">
            <a:miter lim="400000"/>
          </a:ln>
        </p:spPr>
      </p:pic>
      <p:sp>
        <p:nvSpPr>
          <p:cNvPr id="2078" name="Text 0"/>
          <p:cNvSpPr txBox="1"/>
          <p:nvPr/>
        </p:nvSpPr>
        <p:spPr>
          <a:xfrm>
            <a:off x="661492" y="827881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Failing to Plan is Planning to Fail</a:t>
            </a:r>
          </a:p>
        </p:txBody>
      </p:sp>
      <p:sp>
        <p:nvSpPr>
          <p:cNvPr id="2079" name="Shape 1"/>
          <p:cNvSpPr/>
          <p:nvPr/>
        </p:nvSpPr>
        <p:spPr>
          <a:xfrm>
            <a:off x="661492" y="2292648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8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232806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81" name="Text 2"/>
          <p:cNvSpPr txBox="1"/>
          <p:nvPr/>
        </p:nvSpPr>
        <p:spPr>
          <a:xfrm>
            <a:off x="1275754" y="2357536"/>
            <a:ext cx="2416177" cy="666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Research Requires Direction</a:t>
            </a:r>
          </a:p>
        </p:txBody>
      </p:sp>
      <p:sp>
        <p:nvSpPr>
          <p:cNvPr id="2082" name="Text 3"/>
          <p:cNvSpPr txBox="1"/>
          <p:nvPr/>
        </p:nvSpPr>
        <p:spPr>
          <a:xfrm>
            <a:off x="1275754" y="3061494"/>
            <a:ext cx="2416177" cy="1767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Like baking without a recipe or traveling without a map, research without planning leads to confusion.</a:t>
            </a:r>
          </a:p>
        </p:txBody>
      </p:sp>
      <p:sp>
        <p:nvSpPr>
          <p:cNvPr id="2083" name="Shape 4"/>
          <p:cNvSpPr/>
          <p:nvPr/>
        </p:nvSpPr>
        <p:spPr>
          <a:xfrm>
            <a:off x="3928169" y="2292648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8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062" y="232806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85" name="Text 5"/>
          <p:cNvSpPr txBox="1"/>
          <p:nvPr/>
        </p:nvSpPr>
        <p:spPr>
          <a:xfrm>
            <a:off x="4542432" y="2357536"/>
            <a:ext cx="2263440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Create a Blueprint</a:t>
            </a:r>
          </a:p>
        </p:txBody>
      </p:sp>
      <p:sp>
        <p:nvSpPr>
          <p:cNvPr id="2086" name="Text 6"/>
          <p:cNvSpPr txBox="1"/>
          <p:nvPr/>
        </p:nvSpPr>
        <p:spPr>
          <a:xfrm>
            <a:off x="4542432" y="2766219"/>
            <a:ext cx="2416176" cy="1408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 well-designed project saves time and increases the chances of valid, meaningful findings.</a:t>
            </a:r>
          </a:p>
        </p:txBody>
      </p:sp>
      <p:sp>
        <p:nvSpPr>
          <p:cNvPr id="2087" name="Shape 7"/>
          <p:cNvSpPr/>
          <p:nvPr/>
        </p:nvSpPr>
        <p:spPr>
          <a:xfrm>
            <a:off x="661492" y="4951611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08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4987031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89" name="Text 8"/>
          <p:cNvSpPr txBox="1"/>
          <p:nvPr/>
        </p:nvSpPr>
        <p:spPr>
          <a:xfrm>
            <a:off x="1275754" y="5016500"/>
            <a:ext cx="2598468" cy="32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Develop a Game Plan</a:t>
            </a:r>
          </a:p>
        </p:txBody>
      </p:sp>
      <p:sp>
        <p:nvSpPr>
          <p:cNvPr id="2090" name="Text 9"/>
          <p:cNvSpPr txBox="1"/>
          <p:nvPr/>
        </p:nvSpPr>
        <p:spPr>
          <a:xfrm>
            <a:off x="1275755" y="5425182"/>
            <a:ext cx="5682754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We'll cover methodologies, tools, variables, and ethical considerations for your research journey.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2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1837929"/>
          </a:xfrm>
          <a:prstGeom prst="rect">
            <a:avLst/>
          </a:prstGeom>
          <a:ln w="12700">
            <a:miter lim="400000"/>
          </a:ln>
        </p:spPr>
      </p:pic>
      <p:sp>
        <p:nvSpPr>
          <p:cNvPr id="2093" name="Text 0"/>
          <p:cNvSpPr txBox="1"/>
          <p:nvPr/>
        </p:nvSpPr>
        <p:spPr>
          <a:xfrm>
            <a:off x="514549" y="2243634"/>
            <a:ext cx="4211089" cy="495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300"/>
              </a:lnSpc>
              <a:defRPr sz="3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833"/>
              <a:t>Aisha's Research Journey</a:t>
            </a:r>
          </a:p>
        </p:txBody>
      </p:sp>
      <p:pic>
        <p:nvPicPr>
          <p:cNvPr id="209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48" y="2923579"/>
            <a:ext cx="735113" cy="882155"/>
          </a:xfrm>
          <a:prstGeom prst="rect">
            <a:avLst/>
          </a:prstGeom>
          <a:ln w="12700">
            <a:miter lim="400000"/>
          </a:ln>
        </p:spPr>
      </p:pic>
      <p:sp>
        <p:nvSpPr>
          <p:cNvPr id="2095" name="Text 1"/>
          <p:cNvSpPr txBox="1"/>
          <p:nvPr/>
        </p:nvSpPr>
        <p:spPr>
          <a:xfrm>
            <a:off x="1470124" y="3070523"/>
            <a:ext cx="1726435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Great Question</a:t>
            </a:r>
          </a:p>
        </p:txBody>
      </p:sp>
      <p:sp>
        <p:nvSpPr>
          <p:cNvPr id="2096" name="Text 2"/>
          <p:cNvSpPr txBox="1"/>
          <p:nvPr/>
        </p:nvSpPr>
        <p:spPr>
          <a:xfrm>
            <a:off x="1470124" y="3388419"/>
            <a:ext cx="5600187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Aisha wondered if music affects homework productivity.</a:t>
            </a:r>
          </a:p>
        </p:txBody>
      </p:sp>
      <p:pic>
        <p:nvPicPr>
          <p:cNvPr id="209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48" y="3805733"/>
            <a:ext cx="735113" cy="882155"/>
          </a:xfrm>
          <a:prstGeom prst="rect">
            <a:avLst/>
          </a:prstGeom>
          <a:ln w="12700">
            <a:miter lim="400000"/>
          </a:ln>
        </p:spPr>
      </p:pic>
      <p:sp>
        <p:nvSpPr>
          <p:cNvPr id="2098" name="Text 3"/>
          <p:cNvSpPr txBox="1"/>
          <p:nvPr/>
        </p:nvSpPr>
        <p:spPr>
          <a:xfrm>
            <a:off x="1470124" y="3952677"/>
            <a:ext cx="1635063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Poor Planning</a:t>
            </a:r>
          </a:p>
        </p:txBody>
      </p:sp>
      <p:sp>
        <p:nvSpPr>
          <p:cNvPr id="2099" name="Text 4"/>
          <p:cNvSpPr txBox="1"/>
          <p:nvPr/>
        </p:nvSpPr>
        <p:spPr>
          <a:xfrm>
            <a:off x="1470123" y="4270573"/>
            <a:ext cx="9421682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She jumped into gathering data without specifying music type or how to measure productivity.</a:t>
            </a:r>
          </a:p>
        </p:txBody>
      </p:sp>
      <p:pic>
        <p:nvPicPr>
          <p:cNvPr id="210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48" y="4687888"/>
            <a:ext cx="735113" cy="882155"/>
          </a:xfrm>
          <a:prstGeom prst="rect">
            <a:avLst/>
          </a:prstGeom>
          <a:ln w="12700">
            <a:miter lim="400000"/>
          </a:ln>
        </p:spPr>
      </p:pic>
      <p:sp>
        <p:nvSpPr>
          <p:cNvPr id="2101" name="Text 5"/>
          <p:cNvSpPr txBox="1"/>
          <p:nvPr/>
        </p:nvSpPr>
        <p:spPr>
          <a:xfrm>
            <a:off x="1470124" y="4834831"/>
            <a:ext cx="2641749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Back to Drawing Board</a:t>
            </a:r>
          </a:p>
        </p:txBody>
      </p:sp>
      <p:sp>
        <p:nvSpPr>
          <p:cNvPr id="2102" name="Text 6"/>
          <p:cNvSpPr txBox="1"/>
          <p:nvPr/>
        </p:nvSpPr>
        <p:spPr>
          <a:xfrm>
            <a:off x="1470123" y="5152727"/>
            <a:ext cx="7319504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Confused by inconsistent results, Aisha realized she needed a better plan.</a:t>
            </a:r>
          </a:p>
        </p:txBody>
      </p:sp>
      <p:pic>
        <p:nvPicPr>
          <p:cNvPr id="2103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48" y="5570042"/>
            <a:ext cx="735113" cy="882155"/>
          </a:xfrm>
          <a:prstGeom prst="rect">
            <a:avLst/>
          </a:prstGeom>
          <a:ln w="12700">
            <a:miter lim="400000"/>
          </a:ln>
        </p:spPr>
      </p:pic>
      <p:sp>
        <p:nvSpPr>
          <p:cNvPr id="2104" name="Text 7"/>
          <p:cNvSpPr txBox="1"/>
          <p:nvPr/>
        </p:nvSpPr>
        <p:spPr>
          <a:xfrm>
            <a:off x="1470124" y="5716984"/>
            <a:ext cx="1963679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Improved Design</a:t>
            </a:r>
          </a:p>
        </p:txBody>
      </p:sp>
      <p:sp>
        <p:nvSpPr>
          <p:cNvPr id="2105" name="Text 8"/>
          <p:cNvSpPr txBox="1"/>
          <p:nvPr/>
        </p:nvSpPr>
        <p:spPr>
          <a:xfrm>
            <a:off x="1470124" y="6034881"/>
            <a:ext cx="9469324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She created a controlled study with specific tasks, consistent music, and measurable outcomes.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Text 0"/>
          <p:cNvSpPr txBox="1"/>
          <p:nvPr/>
        </p:nvSpPr>
        <p:spPr>
          <a:xfrm>
            <a:off x="602356" y="879772"/>
            <a:ext cx="5729132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Choosing a Research Method</a:t>
            </a:r>
          </a:p>
        </p:txBody>
      </p:sp>
      <p:sp>
        <p:nvSpPr>
          <p:cNvPr id="2108" name="Text 1"/>
          <p:cNvSpPr txBox="1"/>
          <p:nvPr/>
        </p:nvSpPr>
        <p:spPr>
          <a:xfrm>
            <a:off x="602356" y="1675806"/>
            <a:ext cx="6415288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The first step in designing your project is selecting the right method to answer your question.</a:t>
            </a:r>
          </a:p>
        </p:txBody>
      </p:sp>
      <p:sp>
        <p:nvSpPr>
          <p:cNvPr id="2109" name="Text 1"/>
          <p:cNvSpPr txBox="1"/>
          <p:nvPr/>
        </p:nvSpPr>
        <p:spPr>
          <a:xfrm>
            <a:off x="602356" y="2854083"/>
            <a:ext cx="6415288" cy="19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Methodology includes…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overall approach / strategy: 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                            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data collection tools / techniques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15" y="879771"/>
            <a:ext cx="3985486" cy="5978228"/>
          </a:xfrm>
          <a:prstGeom prst="rect">
            <a:avLst/>
          </a:prstGeom>
          <a:ln w="12700">
            <a:miter lim="400000"/>
          </a:ln>
        </p:spPr>
      </p:pic>
      <p:sp>
        <p:nvSpPr>
          <p:cNvPr id="2112" name="Text 0"/>
          <p:cNvSpPr txBox="1"/>
          <p:nvPr/>
        </p:nvSpPr>
        <p:spPr>
          <a:xfrm>
            <a:off x="602356" y="879772"/>
            <a:ext cx="5729132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Choosing a Research Method</a:t>
            </a:r>
          </a:p>
        </p:txBody>
      </p:sp>
      <p:sp>
        <p:nvSpPr>
          <p:cNvPr id="2113" name="Text 1"/>
          <p:cNvSpPr txBox="1"/>
          <p:nvPr/>
        </p:nvSpPr>
        <p:spPr>
          <a:xfrm>
            <a:off x="602356" y="1675806"/>
            <a:ext cx="6415288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5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The first step in designing your project is selecting the right method to answer your question.</a:t>
            </a:r>
          </a:p>
        </p:txBody>
      </p:sp>
      <p:sp>
        <p:nvSpPr>
          <p:cNvPr id="2114" name="Text 1"/>
          <p:cNvSpPr txBox="1"/>
          <p:nvPr/>
        </p:nvSpPr>
        <p:spPr>
          <a:xfrm>
            <a:off x="602356" y="2854083"/>
            <a:ext cx="6415288" cy="19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Methodology includes…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overall approach / strategy: </a:t>
            </a:r>
          </a:p>
          <a:p>
            <a:pPr>
              <a:lnSpc>
                <a:spcPts val="2167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                             Qualitative vs. Quantitative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data collection tools / techniques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15" y="879771"/>
            <a:ext cx="3985486" cy="5978228"/>
          </a:xfrm>
          <a:prstGeom prst="rect">
            <a:avLst/>
          </a:prstGeom>
          <a:ln w="12700">
            <a:miter lim="400000"/>
          </a:ln>
        </p:spPr>
      </p:pic>
      <p:sp>
        <p:nvSpPr>
          <p:cNvPr id="2117" name="Text 0"/>
          <p:cNvSpPr txBox="1"/>
          <p:nvPr/>
        </p:nvSpPr>
        <p:spPr>
          <a:xfrm>
            <a:off x="602356" y="879772"/>
            <a:ext cx="5729132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Choosing a Research Method</a:t>
            </a:r>
          </a:p>
        </p:txBody>
      </p:sp>
      <p:sp>
        <p:nvSpPr>
          <p:cNvPr id="2118" name="Shape 2"/>
          <p:cNvSpPr/>
          <p:nvPr/>
        </p:nvSpPr>
        <p:spPr>
          <a:xfrm>
            <a:off x="616468" y="4000687"/>
            <a:ext cx="3479745" cy="2358767"/>
          </a:xfrm>
          <a:prstGeom prst="roundRect">
            <a:avLst>
              <a:gd name="adj" fmla="val 306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119" name="Text 3"/>
          <p:cNvSpPr txBox="1"/>
          <p:nvPr/>
        </p:nvSpPr>
        <p:spPr>
          <a:xfrm>
            <a:off x="794863" y="4179083"/>
            <a:ext cx="2351606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Quantitative Methods</a:t>
            </a:r>
          </a:p>
        </p:txBody>
      </p:sp>
      <p:sp>
        <p:nvSpPr>
          <p:cNvPr id="2120" name="Text 4"/>
          <p:cNvSpPr txBox="1"/>
          <p:nvPr/>
        </p:nvSpPr>
        <p:spPr>
          <a:xfrm>
            <a:off x="794864" y="4551252"/>
            <a:ext cx="3122953" cy="1678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r>
              <a:rPr sz="1667"/>
              <a:t>Focus on numbers and measurable data. </a:t>
            </a:r>
          </a:p>
          <a:p>
            <a:pPr>
              <a:lnSpc>
                <a:spcPts val="2167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endParaRPr sz="1667"/>
          </a:p>
          <a:p>
            <a:pPr>
              <a:lnSpc>
                <a:spcPts val="2167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r>
              <a:rPr sz="1667"/>
              <a:t>Good for questions about "how many," "how much," or testing relationships between variables.</a:t>
            </a:r>
          </a:p>
        </p:txBody>
      </p:sp>
      <p:sp>
        <p:nvSpPr>
          <p:cNvPr id="2121" name="Shape 5"/>
          <p:cNvSpPr/>
          <p:nvPr/>
        </p:nvSpPr>
        <p:spPr>
          <a:xfrm>
            <a:off x="4195884" y="4000687"/>
            <a:ext cx="3316643" cy="2358767"/>
          </a:xfrm>
          <a:prstGeom prst="roundRect">
            <a:avLst>
              <a:gd name="adj" fmla="val 306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122" name="Text 6"/>
          <p:cNvSpPr txBox="1"/>
          <p:nvPr/>
        </p:nvSpPr>
        <p:spPr>
          <a:xfrm>
            <a:off x="4374279" y="4179083"/>
            <a:ext cx="2197718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Qualitative Methods</a:t>
            </a:r>
          </a:p>
        </p:txBody>
      </p:sp>
      <p:sp>
        <p:nvSpPr>
          <p:cNvPr id="2123" name="Text 7"/>
          <p:cNvSpPr txBox="1"/>
          <p:nvPr/>
        </p:nvSpPr>
        <p:spPr>
          <a:xfrm>
            <a:off x="4374280" y="4551252"/>
            <a:ext cx="2959851" cy="1678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r>
              <a:rPr sz="1667"/>
              <a:t>Focus on descriptions and  non-numerical insights. </a:t>
            </a:r>
          </a:p>
          <a:p>
            <a:pPr>
              <a:lnSpc>
                <a:spcPts val="2167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endParaRPr sz="1667"/>
          </a:p>
          <a:p>
            <a:pPr>
              <a:lnSpc>
                <a:spcPts val="2167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r>
              <a:rPr sz="1667"/>
              <a:t>Good for exploring experiences, opinions, and understanding "why" or "how."</a:t>
            </a:r>
          </a:p>
        </p:txBody>
      </p:sp>
      <p:sp>
        <p:nvSpPr>
          <p:cNvPr id="2124" name="Text 1"/>
          <p:cNvSpPr txBox="1"/>
          <p:nvPr/>
        </p:nvSpPr>
        <p:spPr>
          <a:xfrm>
            <a:off x="602356" y="1675806"/>
            <a:ext cx="6415288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5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The first step in designing your project is selecting the right method to answer your question.</a:t>
            </a:r>
          </a:p>
        </p:txBody>
      </p:sp>
      <p:sp>
        <p:nvSpPr>
          <p:cNvPr id="2125" name="Text 1"/>
          <p:cNvSpPr txBox="1"/>
          <p:nvPr/>
        </p:nvSpPr>
        <p:spPr>
          <a:xfrm>
            <a:off x="602356" y="2854082"/>
            <a:ext cx="6415288" cy="84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Methodology includes…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overall approach / strategy: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1" grpId="0" animBg="1" advAuto="0"/>
      <p:bldP spid="2122" grpId="0" animBg="1" advAuto="0"/>
      <p:bldP spid="2123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15" y="879771"/>
            <a:ext cx="3985486" cy="5978228"/>
          </a:xfrm>
          <a:prstGeom prst="rect">
            <a:avLst/>
          </a:prstGeom>
          <a:ln w="12700">
            <a:miter lim="400000"/>
          </a:ln>
        </p:spPr>
      </p:pic>
      <p:sp>
        <p:nvSpPr>
          <p:cNvPr id="2128" name="Text 0"/>
          <p:cNvSpPr txBox="1"/>
          <p:nvPr/>
        </p:nvSpPr>
        <p:spPr>
          <a:xfrm>
            <a:off x="602356" y="879772"/>
            <a:ext cx="5729132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Choosing a Research Method</a:t>
            </a:r>
          </a:p>
        </p:txBody>
      </p:sp>
      <p:sp>
        <p:nvSpPr>
          <p:cNvPr id="2129" name="Text 1"/>
          <p:cNvSpPr txBox="1"/>
          <p:nvPr/>
        </p:nvSpPr>
        <p:spPr>
          <a:xfrm>
            <a:off x="602356" y="1675806"/>
            <a:ext cx="6415288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5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The first step in designing your project is selecting the right method to answer your question.</a:t>
            </a:r>
          </a:p>
        </p:txBody>
      </p:sp>
      <p:sp>
        <p:nvSpPr>
          <p:cNvPr id="2130" name="Text 1"/>
          <p:cNvSpPr txBox="1"/>
          <p:nvPr/>
        </p:nvSpPr>
        <p:spPr>
          <a:xfrm>
            <a:off x="602356" y="2854082"/>
            <a:ext cx="6415288" cy="3362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Methodology includes…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overall approach / strategy: 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                             </a:t>
            </a:r>
            <a:r>
              <a:rPr sz="2083">
                <a:solidFill>
                  <a:srgbClr val="941751"/>
                </a:solidFill>
              </a:rPr>
              <a:t>Qualitative. Quantitative. Mixed.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>
              <a:solidFill>
                <a:srgbClr val="941751"/>
              </a:solidFill>
            </a:endParaRP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data collection tools / techniques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>
              <a:lnSpc>
                <a:spcPts val="2167"/>
              </a:lnSpc>
              <a:defRPr sz="2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HERE YOU HAVE A COUPLE DIFFERENT  OPTIONS! 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pPr>
            <a:r>
              <a:rPr sz="1417"/>
              <a:t>You can use already collected data: Secondary Research 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pPr>
            <a:endParaRPr sz="1417"/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pPr>
            <a:r>
              <a:rPr sz="1417"/>
              <a:t>You can collect your own data using one or multiple methods.   Ex: You can conduct an experiment and/or make natural observations. (Next)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15" y="879771"/>
            <a:ext cx="3985486" cy="5978228"/>
          </a:xfrm>
          <a:prstGeom prst="rect">
            <a:avLst/>
          </a:prstGeom>
          <a:ln w="12700">
            <a:miter lim="400000"/>
          </a:ln>
        </p:spPr>
      </p:pic>
      <p:sp>
        <p:nvSpPr>
          <p:cNvPr id="2133" name="Text 0"/>
          <p:cNvSpPr txBox="1"/>
          <p:nvPr/>
        </p:nvSpPr>
        <p:spPr>
          <a:xfrm>
            <a:off x="602356" y="879772"/>
            <a:ext cx="5729132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Choosing a Research Method</a:t>
            </a:r>
          </a:p>
        </p:txBody>
      </p:sp>
      <p:sp>
        <p:nvSpPr>
          <p:cNvPr id="2134" name="Text 1"/>
          <p:cNvSpPr txBox="1"/>
          <p:nvPr/>
        </p:nvSpPr>
        <p:spPr>
          <a:xfrm>
            <a:off x="602356" y="1675806"/>
            <a:ext cx="6415288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500">
                <a:solidFill>
                  <a:srgbClr val="91919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The first step in designing your project is selecting the right method to answer your question.</a:t>
            </a:r>
          </a:p>
        </p:txBody>
      </p:sp>
      <p:sp>
        <p:nvSpPr>
          <p:cNvPr id="2135" name="Text 1"/>
          <p:cNvSpPr txBox="1"/>
          <p:nvPr/>
        </p:nvSpPr>
        <p:spPr>
          <a:xfrm>
            <a:off x="602356" y="2854083"/>
            <a:ext cx="6415288" cy="3667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6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Methodology includes…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overall approach / strategy: 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                             </a:t>
            </a:r>
            <a:r>
              <a:rPr sz="2083">
                <a:solidFill>
                  <a:srgbClr val="941751"/>
                </a:solidFill>
              </a:rPr>
              <a:t>Qualitative vs. Quantitative</a:t>
            </a: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>
              <a:solidFill>
                <a:srgbClr val="941751"/>
              </a:solidFill>
            </a:endParaRPr>
          </a:p>
          <a:p>
            <a:pPr marL="208872" indent="-208872">
              <a:lnSpc>
                <a:spcPts val="2167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Your data collection tools / techniques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Experiment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Surveys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Interview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Focus Groups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Observation</a:t>
            </a:r>
          </a:p>
          <a:p>
            <a:pPr marL="1161334" lvl="3" indent="-208872">
              <a:lnSpc>
                <a:spcPts val="2167"/>
              </a:lnSpc>
              <a:buSzPct val="100000"/>
              <a:buChar char="•"/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Case Study </a:t>
            </a:r>
          </a:p>
          <a:p>
            <a:pPr>
              <a:lnSpc>
                <a:spcPts val="2167"/>
              </a:lnSpc>
              <a:defRPr sz="2500">
                <a:latin typeface="Inter"/>
                <a:ea typeface="Inter"/>
                <a:cs typeface="Inter"/>
                <a:sym typeface="Inter"/>
              </a:defRPr>
            </a:pPr>
            <a:endParaRPr sz="2083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Text 0"/>
          <p:cNvSpPr txBox="1"/>
          <p:nvPr/>
        </p:nvSpPr>
        <p:spPr>
          <a:xfrm>
            <a:off x="661491" y="1135658"/>
            <a:ext cx="8366073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Experiments:</a:t>
            </a:r>
            <a:r>
              <a:rPr sz="3667"/>
              <a:t> Testing Cause and Effect</a:t>
            </a:r>
          </a:p>
        </p:txBody>
      </p:sp>
      <p:sp>
        <p:nvSpPr>
          <p:cNvPr id="2138" name="Text 1"/>
          <p:cNvSpPr txBox="1"/>
          <p:nvPr/>
        </p:nvSpPr>
        <p:spPr>
          <a:xfrm>
            <a:off x="661491" y="2198786"/>
            <a:ext cx="1468351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When to Use</a:t>
            </a:r>
          </a:p>
        </p:txBody>
      </p:sp>
      <p:sp>
        <p:nvSpPr>
          <p:cNvPr id="2139" name="Text 2"/>
          <p:cNvSpPr txBox="1"/>
          <p:nvPr/>
        </p:nvSpPr>
        <p:spPr>
          <a:xfrm>
            <a:off x="661491" y="2683073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Best for questions about cause-and-effect relationships.</a:t>
            </a:r>
          </a:p>
        </p:txBody>
      </p:sp>
      <p:sp>
        <p:nvSpPr>
          <p:cNvPr id="2140" name="Text 3"/>
          <p:cNvSpPr txBox="1"/>
          <p:nvPr/>
        </p:nvSpPr>
        <p:spPr>
          <a:xfrm>
            <a:off x="661491" y="3457972"/>
            <a:ext cx="3112647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You can manipulate variables</a:t>
            </a:r>
          </a:p>
        </p:txBody>
      </p:sp>
      <p:sp>
        <p:nvSpPr>
          <p:cNvPr id="2141" name="Text 4"/>
          <p:cNvSpPr txBox="1"/>
          <p:nvPr/>
        </p:nvSpPr>
        <p:spPr>
          <a:xfrm>
            <a:off x="661491" y="3826470"/>
            <a:ext cx="3483069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You need to control other factors</a:t>
            </a:r>
          </a:p>
        </p:txBody>
      </p:sp>
      <p:sp>
        <p:nvSpPr>
          <p:cNvPr id="2142" name="Text 5"/>
          <p:cNvSpPr txBox="1"/>
          <p:nvPr/>
        </p:nvSpPr>
        <p:spPr>
          <a:xfrm>
            <a:off x="661491" y="4194969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Your question starts with "What is the effect of...?"</a:t>
            </a:r>
          </a:p>
        </p:txBody>
      </p:sp>
      <p:sp>
        <p:nvSpPr>
          <p:cNvPr id="2143" name="Text 6"/>
          <p:cNvSpPr txBox="1"/>
          <p:nvPr/>
        </p:nvSpPr>
        <p:spPr>
          <a:xfrm>
            <a:off x="4444106" y="2198786"/>
            <a:ext cx="2013372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Key Components</a:t>
            </a:r>
          </a:p>
        </p:txBody>
      </p:sp>
      <p:sp>
        <p:nvSpPr>
          <p:cNvPr id="2144" name="Text 7"/>
          <p:cNvSpPr txBox="1"/>
          <p:nvPr/>
        </p:nvSpPr>
        <p:spPr>
          <a:xfrm>
            <a:off x="4444106" y="2683073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Independent variable (what you change)</a:t>
            </a:r>
          </a:p>
        </p:txBody>
      </p:sp>
      <p:sp>
        <p:nvSpPr>
          <p:cNvPr id="2145" name="Text 8"/>
          <p:cNvSpPr txBox="1"/>
          <p:nvPr/>
        </p:nvSpPr>
        <p:spPr>
          <a:xfrm>
            <a:off x="4444106" y="3353990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Dependent variable (what you measure)</a:t>
            </a:r>
          </a:p>
        </p:txBody>
      </p:sp>
      <p:sp>
        <p:nvSpPr>
          <p:cNvPr id="2146" name="Text 9"/>
          <p:cNvSpPr txBox="1"/>
          <p:nvPr/>
        </p:nvSpPr>
        <p:spPr>
          <a:xfrm>
            <a:off x="4444106" y="4024907"/>
            <a:ext cx="3300006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Control group (for comparison)</a:t>
            </a:r>
          </a:p>
        </p:txBody>
      </p:sp>
      <p:sp>
        <p:nvSpPr>
          <p:cNvPr id="2147" name="Text 10"/>
          <p:cNvSpPr txBox="1"/>
          <p:nvPr/>
        </p:nvSpPr>
        <p:spPr>
          <a:xfrm>
            <a:off x="4444106" y="4393406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Random assignment (reduces bias)</a:t>
            </a:r>
          </a:p>
        </p:txBody>
      </p:sp>
      <p:pic>
        <p:nvPicPr>
          <p:cNvPr id="214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222401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149" name="Text 11"/>
          <p:cNvSpPr txBox="1"/>
          <p:nvPr/>
        </p:nvSpPr>
        <p:spPr>
          <a:xfrm>
            <a:off x="8226723" y="4645024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Example: Testing if sunlight affects plant growth by placing identical plants in different light conditions.</a:t>
            </a:r>
          </a:p>
        </p:txBody>
      </p:sp>
      <p:sp>
        <p:nvSpPr>
          <p:cNvPr id="2150" name="Text 1"/>
          <p:cNvSpPr txBox="1"/>
          <p:nvPr/>
        </p:nvSpPr>
        <p:spPr>
          <a:xfrm>
            <a:off x="633269" y="5457752"/>
            <a:ext cx="2260234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 i="1">
                <a:solidFill>
                  <a:srgbClr val="0433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Mostly quantitative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195" y="805794"/>
            <a:ext cx="4034805" cy="6052208"/>
          </a:xfrm>
          <a:prstGeom prst="rect">
            <a:avLst/>
          </a:prstGeom>
          <a:ln w="12700">
            <a:miter lim="400000"/>
          </a:ln>
        </p:spPr>
      </p:pic>
      <p:sp>
        <p:nvSpPr>
          <p:cNvPr id="2153" name="Text 0"/>
          <p:cNvSpPr txBox="1"/>
          <p:nvPr/>
        </p:nvSpPr>
        <p:spPr>
          <a:xfrm>
            <a:off x="661492" y="895449"/>
            <a:ext cx="6297018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Quasi-Experiments: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Real-World Testing</a:t>
            </a:r>
          </a:p>
        </p:txBody>
      </p:sp>
      <p:sp>
        <p:nvSpPr>
          <p:cNvPr id="2154" name="Shape 1"/>
          <p:cNvSpPr/>
          <p:nvPr/>
        </p:nvSpPr>
        <p:spPr>
          <a:xfrm>
            <a:off x="661492" y="2360215"/>
            <a:ext cx="3054053" cy="2009082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155" name="Text 2"/>
          <p:cNvSpPr txBox="1"/>
          <p:nvPr/>
        </p:nvSpPr>
        <p:spPr>
          <a:xfrm>
            <a:off x="856852" y="2555578"/>
            <a:ext cx="111088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Definition</a:t>
            </a:r>
          </a:p>
        </p:txBody>
      </p:sp>
      <p:sp>
        <p:nvSpPr>
          <p:cNvPr id="2156" name="Text 3"/>
          <p:cNvSpPr txBox="1"/>
          <p:nvPr/>
        </p:nvSpPr>
        <p:spPr>
          <a:xfrm>
            <a:off x="856853" y="2964259"/>
            <a:ext cx="2663330" cy="1165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100">
                <a:latin typeface="Inter"/>
                <a:ea typeface="Inter"/>
                <a:cs typeface="Inter"/>
                <a:sym typeface="Inter"/>
              </a:defRPr>
            </a:pPr>
            <a:r>
              <a:rPr sz="1750"/>
              <a:t>Similar to experiments </a:t>
            </a:r>
          </a:p>
          <a:p>
            <a:pPr>
              <a:lnSpc>
                <a:spcPts val="2333"/>
              </a:lnSpc>
              <a:defRPr sz="2100">
                <a:latin typeface="Inter"/>
                <a:ea typeface="Inter"/>
                <a:cs typeface="Inter"/>
                <a:sym typeface="Inter"/>
              </a:defRPr>
            </a:pPr>
            <a:r>
              <a:rPr sz="1750"/>
              <a:t>but without random assignment or </a:t>
            </a:r>
          </a:p>
          <a:p>
            <a:pPr>
              <a:lnSpc>
                <a:spcPts val="2333"/>
              </a:lnSpc>
              <a:defRPr sz="2100">
                <a:latin typeface="Inter"/>
                <a:ea typeface="Inter"/>
                <a:cs typeface="Inter"/>
                <a:sym typeface="Inter"/>
              </a:defRPr>
            </a:pPr>
            <a:r>
              <a:rPr sz="1750"/>
              <a:t>full control over all factors.</a:t>
            </a:r>
          </a:p>
        </p:txBody>
      </p:sp>
      <p:sp>
        <p:nvSpPr>
          <p:cNvPr id="2157" name="Shape 4"/>
          <p:cNvSpPr/>
          <p:nvPr/>
        </p:nvSpPr>
        <p:spPr>
          <a:xfrm>
            <a:off x="3904556" y="2360215"/>
            <a:ext cx="3382963" cy="2009082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158" name="Text 5"/>
          <p:cNvSpPr txBox="1"/>
          <p:nvPr/>
        </p:nvSpPr>
        <p:spPr>
          <a:xfrm>
            <a:off x="4099917" y="2555578"/>
            <a:ext cx="134812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When to Use</a:t>
            </a:r>
          </a:p>
        </p:txBody>
      </p:sp>
      <p:sp>
        <p:nvSpPr>
          <p:cNvPr id="2159" name="Text 6"/>
          <p:cNvSpPr txBox="1"/>
          <p:nvPr/>
        </p:nvSpPr>
        <p:spPr>
          <a:xfrm>
            <a:off x="4099917" y="2964259"/>
            <a:ext cx="2992241" cy="1405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When true experiments aren't feasible or ethical, but you still want to test relationships between variables.</a:t>
            </a:r>
          </a:p>
        </p:txBody>
      </p:sp>
      <p:sp>
        <p:nvSpPr>
          <p:cNvPr id="2160" name="Shape 7"/>
          <p:cNvSpPr/>
          <p:nvPr/>
        </p:nvSpPr>
        <p:spPr>
          <a:xfrm>
            <a:off x="661492" y="4558307"/>
            <a:ext cx="6625322" cy="1404244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161" name="Text 8"/>
          <p:cNvSpPr txBox="1"/>
          <p:nvPr/>
        </p:nvSpPr>
        <p:spPr>
          <a:xfrm>
            <a:off x="856853" y="4753669"/>
            <a:ext cx="125354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Limitations</a:t>
            </a:r>
          </a:p>
        </p:txBody>
      </p:sp>
      <p:sp>
        <p:nvSpPr>
          <p:cNvPr id="2162" name="Text 9"/>
          <p:cNvSpPr txBox="1"/>
          <p:nvPr/>
        </p:nvSpPr>
        <p:spPr>
          <a:xfrm>
            <a:off x="856854" y="5162351"/>
            <a:ext cx="5906293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Harder to establish causation because other factors might influence results.</a:t>
            </a:r>
          </a:p>
        </p:txBody>
      </p:sp>
      <p:sp>
        <p:nvSpPr>
          <p:cNvPr id="2163" name="Text 1"/>
          <p:cNvSpPr txBox="1"/>
          <p:nvPr/>
        </p:nvSpPr>
        <p:spPr>
          <a:xfrm>
            <a:off x="657963" y="6148386"/>
            <a:ext cx="2260234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 i="1">
                <a:solidFill>
                  <a:srgbClr val="0433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Mostly quantitative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314"/>
            <a:ext cx="12192000" cy="2362698"/>
          </a:xfrm>
          <a:prstGeom prst="rect">
            <a:avLst/>
          </a:prstGeom>
          <a:ln w="12700">
            <a:miter lim="400000"/>
          </a:ln>
        </p:spPr>
      </p:pic>
      <p:sp>
        <p:nvSpPr>
          <p:cNvPr id="2166" name="Text 0"/>
          <p:cNvSpPr txBox="1"/>
          <p:nvPr/>
        </p:nvSpPr>
        <p:spPr>
          <a:xfrm>
            <a:off x="661492" y="3311524"/>
            <a:ext cx="832439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Surveys</a:t>
            </a:r>
            <a:r>
              <a:rPr sz="3667">
                <a:solidFill>
                  <a:srgbClr val="942193"/>
                </a:solidFill>
              </a:rPr>
              <a:t>:</a:t>
            </a:r>
            <a:r>
              <a:rPr sz="3667"/>
              <a:t> Gathering Opinions and Data</a:t>
            </a:r>
          </a:p>
        </p:txBody>
      </p:sp>
      <p:pic>
        <p:nvPicPr>
          <p:cNvPr id="216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421868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68" name="Text 1"/>
          <p:cNvSpPr txBox="1"/>
          <p:nvPr/>
        </p:nvSpPr>
        <p:spPr>
          <a:xfrm>
            <a:off x="1322982" y="4297859"/>
            <a:ext cx="13801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Broad Reach</a:t>
            </a:r>
          </a:p>
        </p:txBody>
      </p:sp>
      <p:sp>
        <p:nvSpPr>
          <p:cNvPr id="2169" name="Text 2"/>
          <p:cNvSpPr txBox="1"/>
          <p:nvPr/>
        </p:nvSpPr>
        <p:spPr>
          <a:xfrm>
            <a:off x="1322982" y="4706541"/>
            <a:ext cx="1878510" cy="14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Collect information from many people quickly.</a:t>
            </a:r>
          </a:p>
        </p:txBody>
      </p:sp>
      <p:pic>
        <p:nvPicPr>
          <p:cNvPr id="217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732" y="421868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71" name="Text 3"/>
          <p:cNvSpPr txBox="1"/>
          <p:nvPr/>
        </p:nvSpPr>
        <p:spPr>
          <a:xfrm>
            <a:off x="4099223" y="4297859"/>
            <a:ext cx="1878608" cy="659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Versatile Questions</a:t>
            </a:r>
          </a:p>
        </p:txBody>
      </p:sp>
      <p:sp>
        <p:nvSpPr>
          <p:cNvPr id="2172" name="Text 4"/>
          <p:cNvSpPr txBox="1"/>
          <p:nvPr/>
        </p:nvSpPr>
        <p:spPr>
          <a:xfrm>
            <a:off x="4099223" y="5001816"/>
            <a:ext cx="1878608" cy="14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Use multiple-choice, scales, or open-ended questions.</a:t>
            </a:r>
          </a:p>
        </p:txBody>
      </p:sp>
      <p:pic>
        <p:nvPicPr>
          <p:cNvPr id="217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070" y="421868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74" name="Text 5"/>
          <p:cNvSpPr txBox="1"/>
          <p:nvPr/>
        </p:nvSpPr>
        <p:spPr>
          <a:xfrm>
            <a:off x="6875561" y="4297859"/>
            <a:ext cx="1878608" cy="659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Quantifiable Results</a:t>
            </a:r>
          </a:p>
        </p:txBody>
      </p:sp>
      <p:sp>
        <p:nvSpPr>
          <p:cNvPr id="2175" name="Text 6"/>
          <p:cNvSpPr txBox="1"/>
          <p:nvPr/>
        </p:nvSpPr>
        <p:spPr>
          <a:xfrm>
            <a:off x="6875561" y="5001815"/>
            <a:ext cx="1878608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Easily analyze and visualize responses.</a:t>
            </a:r>
          </a:p>
        </p:txBody>
      </p:sp>
      <p:pic>
        <p:nvPicPr>
          <p:cNvPr id="217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410" y="421868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77" name="Text 7"/>
          <p:cNvSpPr txBox="1"/>
          <p:nvPr/>
        </p:nvSpPr>
        <p:spPr>
          <a:xfrm>
            <a:off x="9651900" y="4297859"/>
            <a:ext cx="187860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Multiple Formats</a:t>
            </a:r>
          </a:p>
        </p:txBody>
      </p:sp>
      <p:sp>
        <p:nvSpPr>
          <p:cNvPr id="2178" name="Text 8"/>
          <p:cNvSpPr txBox="1"/>
          <p:nvPr/>
        </p:nvSpPr>
        <p:spPr>
          <a:xfrm>
            <a:off x="9651900" y="5001815"/>
            <a:ext cx="1878608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Distribute on paper, online, or in person.</a:t>
            </a:r>
          </a:p>
        </p:txBody>
      </p:sp>
      <p:sp>
        <p:nvSpPr>
          <p:cNvPr id="2179" name="Text 1"/>
          <p:cNvSpPr txBox="1"/>
          <p:nvPr/>
        </p:nvSpPr>
        <p:spPr>
          <a:xfrm>
            <a:off x="2637047" y="6383423"/>
            <a:ext cx="6009658" cy="3104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 i="1">
                <a:solidFill>
                  <a:srgbClr val="0433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Common to use in both quantitative and qualitative studies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Text 0"/>
          <p:cNvSpPr txBox="1"/>
          <p:nvPr/>
        </p:nvSpPr>
        <p:spPr>
          <a:xfrm>
            <a:off x="661492" y="1110257"/>
            <a:ext cx="10477227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Interviews and Focus Groups</a:t>
            </a:r>
            <a:r>
              <a:rPr sz="3667"/>
              <a:t>: In-Depth Insights</a:t>
            </a:r>
          </a:p>
        </p:txBody>
      </p:sp>
      <p:sp>
        <p:nvSpPr>
          <p:cNvPr id="2182" name="Text 1"/>
          <p:cNvSpPr txBox="1"/>
          <p:nvPr/>
        </p:nvSpPr>
        <p:spPr>
          <a:xfrm>
            <a:off x="661491" y="2173387"/>
            <a:ext cx="1412246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Interviews</a:t>
            </a:r>
          </a:p>
        </p:txBody>
      </p:sp>
      <p:sp>
        <p:nvSpPr>
          <p:cNvPr id="2183" name="Text 2"/>
          <p:cNvSpPr txBox="1"/>
          <p:nvPr/>
        </p:nvSpPr>
        <p:spPr>
          <a:xfrm>
            <a:off x="661491" y="2657674"/>
            <a:ext cx="3315098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One-on-one conversations to explore personal experiences and perspectives.</a:t>
            </a:r>
          </a:p>
        </p:txBody>
      </p:sp>
      <p:sp>
        <p:nvSpPr>
          <p:cNvPr id="2184" name="Text 3"/>
          <p:cNvSpPr txBox="1"/>
          <p:nvPr/>
        </p:nvSpPr>
        <p:spPr>
          <a:xfrm>
            <a:off x="661491" y="3734990"/>
            <a:ext cx="3264099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Detailed individual responses</a:t>
            </a:r>
          </a:p>
        </p:txBody>
      </p:sp>
      <p:sp>
        <p:nvSpPr>
          <p:cNvPr id="2185" name="Text 4"/>
          <p:cNvSpPr txBox="1"/>
          <p:nvPr/>
        </p:nvSpPr>
        <p:spPr>
          <a:xfrm>
            <a:off x="661491" y="4103489"/>
            <a:ext cx="3229089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Follow-up questions possible</a:t>
            </a:r>
          </a:p>
        </p:txBody>
      </p:sp>
      <p:sp>
        <p:nvSpPr>
          <p:cNvPr id="2186" name="Text 5"/>
          <p:cNvSpPr txBox="1"/>
          <p:nvPr/>
        </p:nvSpPr>
        <p:spPr>
          <a:xfrm>
            <a:off x="661491" y="4471987"/>
            <a:ext cx="2808205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Good for sensitive topics</a:t>
            </a:r>
          </a:p>
        </p:txBody>
      </p:sp>
      <p:sp>
        <p:nvSpPr>
          <p:cNvPr id="2187" name="Text 6"/>
          <p:cNvSpPr txBox="1"/>
          <p:nvPr/>
        </p:nvSpPr>
        <p:spPr>
          <a:xfrm>
            <a:off x="4444106" y="2173387"/>
            <a:ext cx="1843453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Focus Groups</a:t>
            </a:r>
          </a:p>
        </p:txBody>
      </p:sp>
      <p:sp>
        <p:nvSpPr>
          <p:cNvPr id="2188" name="Text 7"/>
          <p:cNvSpPr txBox="1"/>
          <p:nvPr/>
        </p:nvSpPr>
        <p:spPr>
          <a:xfrm>
            <a:off x="4444106" y="2657673"/>
            <a:ext cx="3315098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Guided discussions with several participants to gather multiple viewpoints.</a:t>
            </a:r>
          </a:p>
        </p:txBody>
      </p:sp>
      <p:sp>
        <p:nvSpPr>
          <p:cNvPr id="2189" name="Text 8"/>
          <p:cNvSpPr txBox="1"/>
          <p:nvPr/>
        </p:nvSpPr>
        <p:spPr>
          <a:xfrm>
            <a:off x="4444106" y="3734990"/>
            <a:ext cx="3315098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Group interaction generates ideas</a:t>
            </a:r>
          </a:p>
        </p:txBody>
      </p:sp>
      <p:sp>
        <p:nvSpPr>
          <p:cNvPr id="2190" name="Text 9"/>
          <p:cNvSpPr txBox="1"/>
          <p:nvPr/>
        </p:nvSpPr>
        <p:spPr>
          <a:xfrm>
            <a:off x="4444106" y="4405907"/>
            <a:ext cx="3315098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See how opinions form and change</a:t>
            </a:r>
          </a:p>
        </p:txBody>
      </p:sp>
      <p:sp>
        <p:nvSpPr>
          <p:cNvPr id="2191" name="Text 10"/>
          <p:cNvSpPr txBox="1"/>
          <p:nvPr/>
        </p:nvSpPr>
        <p:spPr>
          <a:xfrm>
            <a:off x="4444106" y="5076825"/>
            <a:ext cx="3315098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Efficient for hearing from many people</a:t>
            </a:r>
          </a:p>
        </p:txBody>
      </p:sp>
      <p:pic>
        <p:nvPicPr>
          <p:cNvPr id="219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197001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193" name="Text 11"/>
          <p:cNvSpPr txBox="1"/>
          <p:nvPr/>
        </p:nvSpPr>
        <p:spPr>
          <a:xfrm>
            <a:off x="8226723" y="4591402"/>
            <a:ext cx="3315098" cy="87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lnSpc>
                <a:spcPts val="2333"/>
              </a:lnSpc>
              <a:defRPr sz="2100" i="1">
                <a:latin typeface="Inter"/>
                <a:ea typeface="Inter"/>
                <a:cs typeface="Inter"/>
                <a:sym typeface="Inter"/>
              </a:defRPr>
            </a:pPr>
            <a:r>
              <a:rPr sz="1750"/>
              <a:t>Both methods provide rich </a:t>
            </a:r>
            <a:r>
              <a:rPr sz="1750" b="1">
                <a:solidFill>
                  <a:srgbClr val="0433FF"/>
                </a:solidFill>
              </a:rPr>
              <a:t>qualitative data </a:t>
            </a:r>
            <a:r>
              <a:rPr sz="1750"/>
              <a:t>that numbers alone can't capture.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7" grpId="0" animBg="1" advAuto="0"/>
      <p:bldP spid="2188" grpId="0" animBg="1" advAuto="0"/>
      <p:bldP spid="2189" grpId="0" animBg="1" advAuto="0"/>
      <p:bldP spid="2190" grpId="0" animBg="1" advAuto="0"/>
      <p:bldP spid="2191" grpId="0" animBg="1" advAuto="0"/>
      <p:bldP spid="2193" grpId="0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355954" cy="6533931"/>
          </a:xfrm>
          <a:prstGeom prst="rect">
            <a:avLst/>
          </a:prstGeom>
          <a:ln w="12700">
            <a:miter lim="400000"/>
          </a:ln>
        </p:spPr>
      </p:pic>
      <p:sp>
        <p:nvSpPr>
          <p:cNvPr id="2196" name="Text 0"/>
          <p:cNvSpPr txBox="1"/>
          <p:nvPr/>
        </p:nvSpPr>
        <p:spPr>
          <a:xfrm>
            <a:off x="5187752" y="493515"/>
            <a:ext cx="6388497" cy="106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250"/>
              </a:lnSpc>
              <a:defRPr sz="41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417"/>
              <a:t>Observation: </a:t>
            </a:r>
          </a:p>
          <a:p>
            <a:pPr>
              <a:lnSpc>
                <a:spcPts val="425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417"/>
              <a:t>Watching Real Behavior</a:t>
            </a:r>
          </a:p>
        </p:txBody>
      </p:sp>
      <p:sp>
        <p:nvSpPr>
          <p:cNvPr id="2197" name="Shape 1"/>
          <p:cNvSpPr/>
          <p:nvPr/>
        </p:nvSpPr>
        <p:spPr>
          <a:xfrm>
            <a:off x="5187752" y="1729979"/>
            <a:ext cx="395883" cy="395883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19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731" y="1762968"/>
            <a:ext cx="263923" cy="329903"/>
          </a:xfrm>
          <a:prstGeom prst="rect">
            <a:avLst/>
          </a:prstGeom>
          <a:ln w="12700">
            <a:miter lim="400000"/>
          </a:ln>
        </p:spPr>
      </p:pic>
      <p:sp>
        <p:nvSpPr>
          <p:cNvPr id="2199" name="Text 2"/>
          <p:cNvSpPr txBox="1"/>
          <p:nvPr/>
        </p:nvSpPr>
        <p:spPr>
          <a:xfrm>
            <a:off x="5759548" y="1790403"/>
            <a:ext cx="1594988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Natural Settings</a:t>
            </a:r>
          </a:p>
        </p:txBody>
      </p:sp>
      <p:sp>
        <p:nvSpPr>
          <p:cNvPr id="2200" name="Text 3"/>
          <p:cNvSpPr txBox="1"/>
          <p:nvPr/>
        </p:nvSpPr>
        <p:spPr>
          <a:xfrm>
            <a:off x="5759549" y="2170907"/>
            <a:ext cx="5533887" cy="309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Observe behavior as it naturally occurs without intervention.</a:t>
            </a:r>
          </a:p>
        </p:txBody>
      </p:sp>
      <p:sp>
        <p:nvSpPr>
          <p:cNvPr id="2201" name="Shape 4"/>
          <p:cNvSpPr/>
          <p:nvPr/>
        </p:nvSpPr>
        <p:spPr>
          <a:xfrm>
            <a:off x="5187752" y="2804119"/>
            <a:ext cx="395883" cy="395883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20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731" y="2837110"/>
            <a:ext cx="263923" cy="329903"/>
          </a:xfrm>
          <a:prstGeom prst="rect">
            <a:avLst/>
          </a:prstGeom>
          <a:ln w="12700">
            <a:miter lim="400000"/>
          </a:ln>
        </p:spPr>
      </p:pic>
      <p:sp>
        <p:nvSpPr>
          <p:cNvPr id="2203" name="Text 5"/>
          <p:cNvSpPr txBox="1"/>
          <p:nvPr/>
        </p:nvSpPr>
        <p:spPr>
          <a:xfrm>
            <a:off x="5759548" y="2864544"/>
            <a:ext cx="2723502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Structured or Unstructured</a:t>
            </a:r>
          </a:p>
        </p:txBody>
      </p:sp>
      <p:sp>
        <p:nvSpPr>
          <p:cNvPr id="2204" name="Text 6"/>
          <p:cNvSpPr txBox="1"/>
          <p:nvPr/>
        </p:nvSpPr>
        <p:spPr>
          <a:xfrm>
            <a:off x="5759548" y="3245049"/>
            <a:ext cx="5816700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Use checklists for specific behaviors or take open-ended notes on everything you see.</a:t>
            </a:r>
          </a:p>
        </p:txBody>
      </p:sp>
      <p:sp>
        <p:nvSpPr>
          <p:cNvPr id="2205" name="Shape 7"/>
          <p:cNvSpPr/>
          <p:nvPr/>
        </p:nvSpPr>
        <p:spPr>
          <a:xfrm>
            <a:off x="5187752" y="4011479"/>
            <a:ext cx="395883" cy="395883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206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731" y="4044471"/>
            <a:ext cx="263923" cy="329904"/>
          </a:xfrm>
          <a:prstGeom prst="rect">
            <a:avLst/>
          </a:prstGeom>
          <a:ln w="12700">
            <a:miter lim="400000"/>
          </a:ln>
        </p:spPr>
      </p:pic>
      <p:sp>
        <p:nvSpPr>
          <p:cNvPr id="2207" name="Text 8"/>
          <p:cNvSpPr txBox="1"/>
          <p:nvPr/>
        </p:nvSpPr>
        <p:spPr>
          <a:xfrm>
            <a:off x="5759549" y="4071905"/>
            <a:ext cx="1502014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Time Sampling</a:t>
            </a:r>
          </a:p>
        </p:txBody>
      </p:sp>
      <p:sp>
        <p:nvSpPr>
          <p:cNvPr id="2208" name="Text 9"/>
          <p:cNvSpPr txBox="1"/>
          <p:nvPr/>
        </p:nvSpPr>
        <p:spPr>
          <a:xfrm>
            <a:off x="5759549" y="4452409"/>
            <a:ext cx="6013683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Observe at different times to capture variation in behavior patterns.</a:t>
            </a:r>
          </a:p>
        </p:txBody>
      </p:sp>
      <p:sp>
        <p:nvSpPr>
          <p:cNvPr id="2209" name="Shape 10"/>
          <p:cNvSpPr/>
          <p:nvPr/>
        </p:nvSpPr>
        <p:spPr>
          <a:xfrm>
            <a:off x="5187752" y="5233789"/>
            <a:ext cx="395883" cy="395883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210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731" y="5266779"/>
            <a:ext cx="263923" cy="329903"/>
          </a:xfrm>
          <a:prstGeom prst="rect">
            <a:avLst/>
          </a:prstGeom>
          <a:ln w="12700">
            <a:miter lim="400000"/>
          </a:ln>
        </p:spPr>
      </p:pic>
      <p:sp>
        <p:nvSpPr>
          <p:cNvPr id="2211" name="Text 11"/>
          <p:cNvSpPr txBox="1"/>
          <p:nvPr/>
        </p:nvSpPr>
        <p:spPr>
          <a:xfrm>
            <a:off x="5759549" y="5294213"/>
            <a:ext cx="2526333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Minimize Observer Effect</a:t>
            </a:r>
          </a:p>
        </p:txBody>
      </p:sp>
      <p:sp>
        <p:nvSpPr>
          <p:cNvPr id="2212" name="Text 12"/>
          <p:cNvSpPr txBox="1"/>
          <p:nvPr/>
        </p:nvSpPr>
        <p:spPr>
          <a:xfrm>
            <a:off x="5759548" y="5674718"/>
            <a:ext cx="5816700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Be discreet so your presence doesn't change the behavior you're studying.</a:t>
            </a:r>
          </a:p>
        </p:txBody>
      </p:sp>
      <p:sp>
        <p:nvSpPr>
          <p:cNvPr id="2213" name="Text 1"/>
          <p:cNvSpPr txBox="1"/>
          <p:nvPr/>
        </p:nvSpPr>
        <p:spPr>
          <a:xfrm>
            <a:off x="4390353" y="6425757"/>
            <a:ext cx="5302734" cy="3104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 i="1">
                <a:solidFill>
                  <a:srgbClr val="0433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Can be utilized in quantitative or qualitative studies</a:t>
            </a:r>
          </a:p>
        </p:txBody>
      </p:sp>
      <p:sp>
        <p:nvSpPr>
          <p:cNvPr id="2214" name="Tomorrow we continue with other methods of data collection!"/>
          <p:cNvSpPr txBox="1"/>
          <p:nvPr/>
        </p:nvSpPr>
        <p:spPr>
          <a:xfrm>
            <a:off x="2989143" y="2179177"/>
            <a:ext cx="4231838" cy="2643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4100" b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Tomorrow we continue with other methods of data collection! 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2217" name="Text 0"/>
          <p:cNvSpPr txBox="1"/>
          <p:nvPr/>
        </p:nvSpPr>
        <p:spPr>
          <a:xfrm>
            <a:off x="661492" y="1043087"/>
            <a:ext cx="243656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</a:t>
            </a:r>
          </a:p>
        </p:txBody>
      </p:sp>
      <p:sp>
        <p:nvSpPr>
          <p:cNvPr id="2218" name="Shape 1"/>
          <p:cNvSpPr/>
          <p:nvPr/>
        </p:nvSpPr>
        <p:spPr>
          <a:xfrm>
            <a:off x="661492" y="1917204"/>
            <a:ext cx="5883258" cy="4276298"/>
          </a:xfrm>
          <a:prstGeom prst="roundRect">
            <a:avLst>
              <a:gd name="adj" fmla="val 186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219" name="Text 2"/>
          <p:cNvSpPr txBox="1"/>
          <p:nvPr/>
        </p:nvSpPr>
        <p:spPr>
          <a:xfrm>
            <a:off x="856853" y="2112565"/>
            <a:ext cx="5492536" cy="410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Handout 3 “Literature Review &amp; Research Methodology” - Review what you learned about lit review, refine your research questions and hypothesis, start reflecting on your methodology.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Diving into the literature and keeping track of your resources through “Source Tracker”. Cover 1-2 articles today, and share your notes with one another.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Look into your data-set to make sure that your question and hypothesis can be studied with the information provided there.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Rectangle"/>
          <p:cNvSpPr/>
          <p:nvPr/>
        </p:nvSpPr>
        <p:spPr>
          <a:xfrm>
            <a:off x="10278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2" name="Rectangle"/>
          <p:cNvSpPr/>
          <p:nvPr/>
        </p:nvSpPr>
        <p:spPr>
          <a:xfrm>
            <a:off x="8310266" y="120000"/>
            <a:ext cx="1058334" cy="69848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3" name="Rectangle"/>
          <p:cNvSpPr/>
          <p:nvPr/>
        </p:nvSpPr>
        <p:spPr>
          <a:xfrm>
            <a:off x="6341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4" name="Rectangle"/>
          <p:cNvSpPr/>
          <p:nvPr/>
        </p:nvSpPr>
        <p:spPr>
          <a:xfrm>
            <a:off x="4474788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5" name="Rectangle"/>
          <p:cNvSpPr/>
          <p:nvPr/>
        </p:nvSpPr>
        <p:spPr>
          <a:xfrm>
            <a:off x="2607811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6" name="Rectangle"/>
          <p:cNvSpPr/>
          <p:nvPr/>
        </p:nvSpPr>
        <p:spPr>
          <a:xfrm>
            <a:off x="740833" y="-63446"/>
            <a:ext cx="1058333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7" name="EXTRA SLIDES FOR DAY 3"/>
          <p:cNvSpPr txBox="1"/>
          <p:nvPr/>
        </p:nvSpPr>
        <p:spPr>
          <a:xfrm>
            <a:off x="81618" y="1146599"/>
            <a:ext cx="12028765" cy="1111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EXTRA SLIDES FOR DAY 3</a:t>
            </a:r>
          </a:p>
        </p:txBody>
      </p:sp>
      <p:sp>
        <p:nvSpPr>
          <p:cNvPr id="2228" name="Rectangle"/>
          <p:cNvSpPr/>
          <p:nvPr/>
        </p:nvSpPr>
        <p:spPr>
          <a:xfrm>
            <a:off x="-155850" y="6147566"/>
            <a:ext cx="12503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2229" name="Rectangle"/>
          <p:cNvSpPr/>
          <p:nvPr/>
        </p:nvSpPr>
        <p:spPr>
          <a:xfrm>
            <a:off x="-11851" y="-58595"/>
            <a:ext cx="12215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Image 0" descr="Image 0"/>
          <p:cNvPicPr>
            <a:picLocks noChangeAspect="1"/>
          </p:cNvPicPr>
          <p:nvPr/>
        </p:nvPicPr>
        <p:blipFill>
          <a:blip r:embed="rId2"/>
          <a:srcRect b="10452"/>
          <a:stretch>
            <a:fillRect/>
          </a:stretch>
        </p:blipFill>
        <p:spPr>
          <a:xfrm>
            <a:off x="2657" y="0"/>
            <a:ext cx="4568313" cy="6136185"/>
          </a:xfrm>
          <a:prstGeom prst="rect">
            <a:avLst/>
          </a:prstGeom>
          <a:ln w="12700">
            <a:miter lim="400000"/>
          </a:ln>
        </p:spPr>
      </p:pic>
      <p:sp>
        <p:nvSpPr>
          <p:cNvPr id="2232" name="Text 0"/>
          <p:cNvSpPr txBox="1"/>
          <p:nvPr/>
        </p:nvSpPr>
        <p:spPr>
          <a:xfrm>
            <a:off x="5233491" y="1339354"/>
            <a:ext cx="4562146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Activity: Peer Review</a:t>
            </a:r>
          </a:p>
        </p:txBody>
      </p:sp>
      <p:sp>
        <p:nvSpPr>
          <p:cNvPr id="2233" name="Shape 1"/>
          <p:cNvSpPr/>
          <p:nvPr/>
        </p:nvSpPr>
        <p:spPr>
          <a:xfrm>
            <a:off x="5233491" y="2213471"/>
            <a:ext cx="141685" cy="711101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234" name="Text 2"/>
          <p:cNvSpPr txBox="1"/>
          <p:nvPr/>
        </p:nvSpPr>
        <p:spPr>
          <a:xfrm>
            <a:off x="5658644" y="2213471"/>
            <a:ext cx="121347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Form Pairs</a:t>
            </a:r>
          </a:p>
        </p:txBody>
      </p:sp>
      <p:sp>
        <p:nvSpPr>
          <p:cNvPr id="2235" name="Text 3"/>
          <p:cNvSpPr txBox="1"/>
          <p:nvPr/>
        </p:nvSpPr>
        <p:spPr>
          <a:xfrm>
            <a:off x="5658644" y="2622153"/>
            <a:ext cx="3551998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Partner with another student to exchange work.</a:t>
            </a:r>
          </a:p>
        </p:txBody>
      </p:sp>
      <p:sp>
        <p:nvSpPr>
          <p:cNvPr id="2236" name="Shape 4"/>
          <p:cNvSpPr/>
          <p:nvPr/>
        </p:nvSpPr>
        <p:spPr>
          <a:xfrm>
            <a:off x="5516958" y="3113583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237" name="Text 5"/>
          <p:cNvSpPr txBox="1"/>
          <p:nvPr/>
        </p:nvSpPr>
        <p:spPr>
          <a:xfrm>
            <a:off x="5942111" y="3113583"/>
            <a:ext cx="193001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Review Questions</a:t>
            </a:r>
          </a:p>
        </p:txBody>
      </p:sp>
      <p:sp>
        <p:nvSpPr>
          <p:cNvPr id="2238" name="Text 6"/>
          <p:cNvSpPr txBox="1"/>
          <p:nvPr/>
        </p:nvSpPr>
        <p:spPr>
          <a:xfrm>
            <a:off x="5942111" y="3522266"/>
            <a:ext cx="5588398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Is the question clear, focused, and researchable? Suggest improvements.</a:t>
            </a:r>
          </a:p>
        </p:txBody>
      </p:sp>
      <p:sp>
        <p:nvSpPr>
          <p:cNvPr id="2239" name="Shape 7"/>
          <p:cNvSpPr/>
          <p:nvPr/>
        </p:nvSpPr>
        <p:spPr>
          <a:xfrm>
            <a:off x="5800526" y="4316115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240" name="Text 8"/>
          <p:cNvSpPr txBox="1"/>
          <p:nvPr/>
        </p:nvSpPr>
        <p:spPr>
          <a:xfrm>
            <a:off x="6225679" y="4316115"/>
            <a:ext cx="209512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Review Hypotheses</a:t>
            </a:r>
          </a:p>
        </p:txBody>
      </p:sp>
      <p:sp>
        <p:nvSpPr>
          <p:cNvPr id="2241" name="Text 9"/>
          <p:cNvSpPr txBox="1"/>
          <p:nvPr/>
        </p:nvSpPr>
        <p:spPr>
          <a:xfrm>
            <a:off x="6225680" y="4724796"/>
            <a:ext cx="5304831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Is the hypothesis testable? Does it clearly connect variables? Is reasoning sound?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Text 0"/>
          <p:cNvSpPr txBox="1"/>
          <p:nvPr/>
        </p:nvSpPr>
        <p:spPr>
          <a:xfrm>
            <a:off x="1587869" y="1503460"/>
            <a:ext cx="816730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Your Turn: Refine Based on Feedback</a:t>
            </a:r>
          </a:p>
        </p:txBody>
      </p:sp>
      <p:sp>
        <p:nvSpPr>
          <p:cNvPr id="2244" name="Text 1"/>
          <p:cNvSpPr txBox="1"/>
          <p:nvPr/>
        </p:nvSpPr>
        <p:spPr>
          <a:xfrm>
            <a:off x="661491" y="3009701"/>
            <a:ext cx="2555187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Consider Feedback</a:t>
            </a:r>
          </a:p>
        </p:txBody>
      </p:sp>
      <p:sp>
        <p:nvSpPr>
          <p:cNvPr id="2245" name="Text 2"/>
          <p:cNvSpPr txBox="1"/>
          <p:nvPr/>
        </p:nvSpPr>
        <p:spPr>
          <a:xfrm>
            <a:off x="661491" y="3493988"/>
            <a:ext cx="5299889" cy="34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Review the suggestions from your partner.</a:t>
            </a:r>
          </a:p>
        </p:txBody>
      </p:sp>
      <p:sp>
        <p:nvSpPr>
          <p:cNvPr id="2246" name="Text 3"/>
          <p:cNvSpPr txBox="1"/>
          <p:nvPr/>
        </p:nvSpPr>
        <p:spPr>
          <a:xfrm>
            <a:off x="638332" y="4283075"/>
            <a:ext cx="4334403" cy="704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Decide which feedback to incorporate.</a:t>
            </a:r>
          </a:p>
        </p:txBody>
      </p:sp>
      <p:sp>
        <p:nvSpPr>
          <p:cNvPr id="2247" name="Text 4"/>
          <p:cNvSpPr txBox="1"/>
          <p:nvPr/>
        </p:nvSpPr>
        <p:spPr>
          <a:xfrm>
            <a:off x="6332933" y="3009701"/>
            <a:ext cx="862416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Revise</a:t>
            </a:r>
          </a:p>
        </p:txBody>
      </p:sp>
      <p:sp>
        <p:nvSpPr>
          <p:cNvPr id="2248" name="Text 5"/>
          <p:cNvSpPr txBox="1"/>
          <p:nvPr/>
        </p:nvSpPr>
        <p:spPr>
          <a:xfrm>
            <a:off x="6332933" y="3493988"/>
            <a:ext cx="4913012" cy="34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Rewrite your research question if needed.</a:t>
            </a:r>
          </a:p>
        </p:txBody>
      </p:sp>
      <p:sp>
        <p:nvSpPr>
          <p:cNvPr id="2249" name="Text 6"/>
          <p:cNvSpPr txBox="1"/>
          <p:nvPr/>
        </p:nvSpPr>
        <p:spPr>
          <a:xfrm>
            <a:off x="6332933" y="3966469"/>
            <a:ext cx="4590257" cy="704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Refine your hypothesis to be clearer or more testable.</a:t>
            </a:r>
          </a:p>
        </p:txBody>
      </p:sp>
      <p:sp>
        <p:nvSpPr>
          <p:cNvPr id="2250" name="Text 7"/>
          <p:cNvSpPr txBox="1"/>
          <p:nvPr/>
        </p:nvSpPr>
        <p:spPr>
          <a:xfrm>
            <a:off x="6349049" y="4771427"/>
            <a:ext cx="4870179" cy="34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Make sure variables are clearly identified.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Text 0"/>
          <p:cNvSpPr txBox="1"/>
          <p:nvPr/>
        </p:nvSpPr>
        <p:spPr>
          <a:xfrm>
            <a:off x="661491" y="1644154"/>
            <a:ext cx="6291787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Activity: Literature Mapping!</a:t>
            </a:r>
          </a:p>
        </p:txBody>
      </p:sp>
      <p:sp>
        <p:nvSpPr>
          <p:cNvPr id="2253" name="Text 2"/>
          <p:cNvSpPr txBox="1"/>
          <p:nvPr/>
        </p:nvSpPr>
        <p:spPr>
          <a:xfrm>
            <a:off x="650788" y="2663944"/>
            <a:ext cx="10209149" cy="373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3500">
                <a:latin typeface="Inter"/>
                <a:ea typeface="Inter"/>
                <a:cs typeface="Inter"/>
                <a:sym typeface="Inter"/>
              </a:defRPr>
            </a:pPr>
            <a:r>
              <a:rPr sz="2917"/>
              <a:t>Let’s see what other researchers have found about this issue? </a:t>
            </a:r>
          </a:p>
          <a:p>
            <a:pPr>
              <a:lnSpc>
                <a:spcPct val="120000"/>
              </a:lnSpc>
              <a:defRPr sz="3500">
                <a:latin typeface="Inter"/>
                <a:ea typeface="Inter"/>
                <a:cs typeface="Inter"/>
                <a:sym typeface="Inter"/>
              </a:defRPr>
            </a:pPr>
            <a:endParaRPr sz="2917"/>
          </a:p>
          <a:p>
            <a:pPr marL="208872" indent="-208872">
              <a:lnSpc>
                <a:spcPct val="120000"/>
              </a:lnSpc>
              <a:buSzPct val="100000"/>
              <a:buChar char="-"/>
              <a:defRPr sz="3500">
                <a:latin typeface="Inter"/>
                <a:ea typeface="Inter"/>
                <a:cs typeface="Inter"/>
                <a:sym typeface="Inter"/>
              </a:defRPr>
            </a:pPr>
            <a:r>
              <a:rPr sz="2917"/>
              <a:t>A package of articles</a:t>
            </a:r>
          </a:p>
          <a:p>
            <a:pPr marL="208872" indent="-208872">
              <a:lnSpc>
                <a:spcPct val="120000"/>
              </a:lnSpc>
              <a:buSzPct val="100000"/>
              <a:buChar char="-"/>
              <a:defRPr sz="3500">
                <a:latin typeface="Inter"/>
                <a:ea typeface="Inter"/>
                <a:cs typeface="Inter"/>
                <a:sym typeface="Inter"/>
              </a:defRPr>
            </a:pPr>
            <a:r>
              <a:rPr sz="2917"/>
              <a:t>Handout: Source Tracker</a:t>
            </a:r>
          </a:p>
          <a:p>
            <a:pPr>
              <a:lnSpc>
                <a:spcPct val="120000"/>
              </a:lnSpc>
              <a:defRPr sz="3500">
                <a:latin typeface="Inter"/>
                <a:ea typeface="Inter"/>
                <a:cs typeface="Inter"/>
                <a:sym typeface="Inter"/>
              </a:defRPr>
            </a:pPr>
            <a:endParaRPr sz="2917"/>
          </a:p>
          <a:p>
            <a:pPr>
              <a:lnSpc>
                <a:spcPct val="120000"/>
              </a:lnSpc>
              <a:defRPr sz="3500">
                <a:latin typeface="Inter"/>
                <a:ea typeface="Inter"/>
                <a:cs typeface="Inter"/>
                <a:sym typeface="Inter"/>
              </a:defRPr>
            </a:pPr>
            <a:r>
              <a:rPr sz="2917"/>
              <a:t>Quickly skim the available articles, list 2-3 articles that seem most relevant.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2375</Words>
  <Application>Microsoft Macintosh PowerPoint</Application>
  <PresentationFormat>Widescreen</PresentationFormat>
  <Paragraphs>365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2026-06-10T23:01:24Z</dcterms:created>
  <dcterms:modified xsi:type="dcterms:W3CDTF">2026-06-10T23:01:39Z</dcterms:modified>
</cp:coreProperties>
</file>