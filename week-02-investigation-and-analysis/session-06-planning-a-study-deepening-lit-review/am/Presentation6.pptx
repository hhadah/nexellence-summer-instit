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458" r:id="rId2"/>
    <p:sldId id="459" r:id="rId3"/>
    <p:sldId id="460" r:id="rId4"/>
    <p:sldId id="461" r:id="rId5"/>
    <p:sldId id="462" r:id="rId6"/>
    <p:sldId id="463" r:id="rId7"/>
    <p:sldId id="464" r:id="rId8"/>
    <p:sldId id="465" r:id="rId9"/>
    <p:sldId id="466" r:id="rId10"/>
    <p:sldId id="467" r:id="rId11"/>
    <p:sldId id="468" r:id="rId12"/>
    <p:sldId id="469" r:id="rId13"/>
    <p:sldId id="470" r:id="rId14"/>
    <p:sldId id="471" r:id="rId15"/>
    <p:sldId id="472" r:id="rId16"/>
    <p:sldId id="473" r:id="rId17"/>
    <p:sldId id="474" r:id="rId18"/>
    <p:sldId id="475" r:id="rId19"/>
    <p:sldId id="476" r:id="rId20"/>
    <p:sldId id="477" r:id="rId21"/>
    <p:sldId id="478" r:id="rId22"/>
    <p:sldId id="479" r:id="rId23"/>
    <p:sldId id="480" r:id="rId24"/>
    <p:sldId id="481" r:id="rId25"/>
    <p:sldId id="482" r:id="rId26"/>
    <p:sldId id="483" r:id="rId27"/>
    <p:sldId id="484" r:id="rId28"/>
    <p:sldId id="485" r:id="rId29"/>
    <p:sldId id="657" r:id="rId30"/>
    <p:sldId id="486" r:id="rId31"/>
    <p:sldId id="490" r:id="rId32"/>
    <p:sldId id="493" r:id="rId33"/>
    <p:sldId id="494" r:id="rId34"/>
    <p:sldId id="658" r:id="rId35"/>
    <p:sldId id="495" r:id="rId36"/>
    <p:sldId id="496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29"/>
  </p:normalViewPr>
  <p:slideViewPr>
    <p:cSldViewPr snapToGrid="0">
      <p:cViewPr varScale="1">
        <p:scale>
          <a:sx n="108" d="100"/>
          <a:sy n="108" d="100"/>
        </p:scale>
        <p:origin x="8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6301C-A7AE-E8ED-8002-FBC8C9B264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78ADCC-CC65-D2E9-A077-DB1C73C185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1B9B5-01EE-7351-20C4-CF5321B38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00924-6F9A-6044-86B8-D88B2ADCFFB1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7D144-258D-1984-3AD9-FEA4AADC9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45685-3AEA-8DF3-A5BB-CBC936169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931E-25DC-4F44-9426-CE60C8036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910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EBCF2-2E4D-FED5-91DF-61E2ED4C5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8875A-8065-6575-B469-D7ECF7040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D80B5-B03C-8354-EC88-7AEDADD49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00924-6F9A-6044-86B8-D88B2ADCFFB1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65F1F-06FA-0255-5425-2017F2699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036F7-81F6-828D-5B5E-0E132C4E4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931E-25DC-4F44-9426-CE60C8036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754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15B9E-CAB2-4725-3C09-C090867D9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BC901E-D875-AF72-D39B-A6AF3397C1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6D277-B6E2-1D92-0BE6-3C0F5A932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00924-6F9A-6044-86B8-D88B2ADCFFB1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B1079-10B8-A4FD-8502-389506425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881A0-48A6-ABD7-5D13-A99EFFA5A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931E-25DC-4F44-9426-CE60C8036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923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EB9FA-6911-9DFD-1E6E-02B7EAF3F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50A1B-50EB-801E-8ED3-20C091CCDE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AB9DBB-E5BC-8E62-B459-0EA3A23E06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D104A-5466-BF55-F8B0-8422FAE72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00924-6F9A-6044-86B8-D88B2ADCFFB1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4A01DB-008C-2EA0-1F79-20BC1D8BE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12E4E9-A917-82A5-0E95-5EEA97772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931E-25DC-4F44-9426-CE60C8036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505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75980-DFFA-D867-E394-4A1B151C0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C2FC0A-66AA-8CC8-64E8-0FE412D07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6FDAD3-741D-D8B6-F8F2-0661E84BBE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DA775F-7B82-11A2-D328-83E7576C7B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908CB0-2F51-8AAB-2C73-A53B47496A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CDEF9C-2628-9690-CE3E-1A7C33324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00924-6F9A-6044-86B8-D88B2ADCFFB1}" type="datetimeFigureOut">
              <a:rPr lang="en-US" smtClean="0"/>
              <a:t>6/22/26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551A25-E984-D055-8DD1-FF669EA04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A9E1C-0BC8-4B2C-327D-040B1A3C3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931E-25DC-4F44-9426-CE60C8036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1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CE31A-D264-98AB-E6DE-0C0F58133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6D034C-FE86-F611-CFE2-ADC06FC61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00924-6F9A-6044-86B8-D88B2ADCFFB1}" type="datetimeFigureOut">
              <a:rPr lang="en-US" smtClean="0"/>
              <a:t>6/22/26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5E9F13-88DE-3D1C-4644-CD557B031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7A3010-4863-C852-6FF9-EF43215A0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931E-25DC-4F44-9426-CE60C8036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286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4028F2-D52B-585B-FCD7-9E45967E1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00924-6F9A-6044-86B8-D88B2ADCFFB1}" type="datetimeFigureOut">
              <a:rPr lang="en-US" smtClean="0"/>
              <a:t>6/22/26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78DF7B-8D2C-0AA5-0F6C-9D2794CC3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28A73B-AE48-FF35-5104-979ADDA05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931E-25DC-4F44-9426-CE60C8036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94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31FEF-ECCA-03C4-A50D-9B134DE92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56E63-2190-FDFD-758E-9FD181A72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4D276D-A279-743D-2636-AA03B6E2ED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A02DAB-8C22-F503-0AC9-3A0228048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00924-6F9A-6044-86B8-D88B2ADCFFB1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66C50F-3AA0-CF87-3936-C4D48DEC5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B76473-30A8-A2DF-AEAC-50F82C754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931E-25DC-4F44-9426-CE60C8036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76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95CCF-C035-E49B-1F9B-C0AA8724D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C86599-1906-7D9D-C6D9-2077AB3498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8761BB-AE43-F41E-9279-AE88432F2C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C60289-1912-78C3-EE83-232F5EE58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00924-6F9A-6044-86B8-D88B2ADCFFB1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8791D-0078-2DED-9449-8FCEA8300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D2E356-4C32-5821-9975-930C8BDD0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931E-25DC-4F44-9426-CE60C8036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339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12A2D-1663-DED5-B284-E9EDF45BC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91865C-873B-2359-1965-681CDF0012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3A5E4-3B52-D2A8-BBEA-E75231C5C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00924-6F9A-6044-86B8-D88B2ADCFFB1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39F23-CF16-3CA2-9285-0EEC0715A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2AF9A-836F-C1F3-A959-CF8CC3FAD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931E-25DC-4F44-9426-CE60C8036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308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05A1C9-FD86-206C-F04C-D0FCB01366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931B5B-4252-F8AC-C702-96B2A76CB5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7E114-B937-0C03-7646-CA166F79A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00924-6F9A-6044-86B8-D88B2ADCFFB1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9C61A-1E4A-1747-35BF-A9D758958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B871E-A1C4-7346-5152-31525FBA9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931E-25DC-4F44-9426-CE60C8036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921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7038" y="1277"/>
            <a:ext cx="2564962" cy="586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95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4788" y="6486580"/>
            <a:ext cx="3389313" cy="166688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3787"/>
            <a:ext cx="2844801" cy="36512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137020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00AF46-81DA-FB0F-100E-3E361ED2E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9A0DA-3EE8-E375-AC4A-FF129B88A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367C4-F1C7-39EA-1016-84D1D9545B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D00924-6F9A-6044-86B8-D88B2ADCFFB1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F22E0-8D6E-1182-F6B3-9723D5607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501FF-55B1-6F1B-4063-20299E5E79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50931E-25DC-4F44-9426-CE60C8036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964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1" name="RESEARCH METHODS…"/>
          <p:cNvSpPr txBox="1"/>
          <p:nvPr/>
        </p:nvSpPr>
        <p:spPr>
          <a:xfrm>
            <a:off x="853752" y="1470895"/>
            <a:ext cx="10191636" cy="2564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099" tIns="38100" rIns="38099" bIns="38100" anchor="t">
            <a:spAutoFit/>
          </a:bodyPr>
          <a:lstStyle/>
          <a:p>
            <a:pPr algn="ctr">
              <a:lnSpc>
                <a:spcPct val="90000"/>
              </a:lnSpc>
              <a:defRPr sz="6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5000"/>
              <a:t>RESEARCH METHODS</a:t>
            </a:r>
          </a:p>
          <a:p>
            <a:pPr algn="ctr">
              <a:lnSpc>
                <a:spcPct val="90000"/>
              </a:lnSpc>
              <a:defRPr sz="6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5000"/>
          </a:p>
          <a:p>
            <a:pPr algn="ctr">
              <a:lnSpc>
                <a:spcPct val="90000"/>
              </a:lnSpc>
              <a:defRPr sz="6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5000"/>
              <a:t>DAY </a:t>
            </a:r>
            <a:r>
              <a:rPr lang="en-US" sz="5000"/>
              <a:t>6</a:t>
            </a:r>
            <a:endParaRPr sz="5000"/>
          </a:p>
          <a:p>
            <a:pPr algn="ctr" defTabSz="380985">
              <a:defRPr sz="16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1333"/>
          </a:p>
          <a:p>
            <a:pPr algn="ctr" defTabSz="380985">
              <a:defRPr sz="16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1333"/>
          </a:p>
        </p:txBody>
      </p:sp>
      <p:sp>
        <p:nvSpPr>
          <p:cNvPr id="2732" name="Rectangle"/>
          <p:cNvSpPr/>
          <p:nvPr/>
        </p:nvSpPr>
        <p:spPr>
          <a:xfrm>
            <a:off x="-62743" y="-81"/>
            <a:ext cx="9701771" cy="58674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" name="Text 0"/>
          <p:cNvSpPr txBox="1"/>
          <p:nvPr/>
        </p:nvSpPr>
        <p:spPr>
          <a:xfrm>
            <a:off x="661492" y="1971278"/>
            <a:ext cx="6297018" cy="13405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 dirty="0"/>
              <a:t>Welcome to </a:t>
            </a:r>
            <a:r>
              <a:rPr lang="en-US" sz="3667"/>
              <a:t>Week 2! </a:t>
            </a:r>
          </a:p>
          <a:p>
            <a:r>
              <a:rPr lang="en-US" sz="3667" dirty="0"/>
              <a:t>Welcome to Day</a:t>
            </a:r>
            <a:r>
              <a:rPr sz="3667" dirty="0"/>
              <a:t> </a:t>
            </a:r>
            <a:r>
              <a:rPr lang="en-US" sz="3667"/>
              <a:t>6.</a:t>
            </a:r>
            <a:endParaRPr sz="3667"/>
          </a:p>
        </p:txBody>
      </p:sp>
      <p:sp>
        <p:nvSpPr>
          <p:cNvPr id="2735" name="Text 1"/>
          <p:cNvSpPr txBox="1"/>
          <p:nvPr/>
        </p:nvSpPr>
        <p:spPr>
          <a:xfrm>
            <a:off x="688153" y="3108932"/>
            <a:ext cx="8450722" cy="29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333"/>
              </a:lnSpc>
              <a:defRPr sz="2600">
                <a:latin typeface="Inter"/>
                <a:ea typeface="Inter"/>
                <a:cs typeface="Inter"/>
                <a:sym typeface="Inter"/>
              </a:defRPr>
            </a:pPr>
            <a:endParaRPr sz="2167"/>
          </a:p>
        </p:txBody>
      </p:sp>
      <p:sp>
        <p:nvSpPr>
          <p:cNvPr id="2736" name="Shape 2"/>
          <p:cNvSpPr/>
          <p:nvPr/>
        </p:nvSpPr>
        <p:spPr>
          <a:xfrm>
            <a:off x="661492" y="4570016"/>
            <a:ext cx="302420" cy="302420"/>
          </a:xfrm>
          <a:prstGeom prst="roundRect">
            <a:avLst>
              <a:gd name="adj" fmla="val 50000"/>
            </a:avLst>
          </a:prstGeom>
          <a:ln w="7620">
            <a:solidFill>
              <a:srgbClr val="FFFFFF"/>
            </a:solidFill>
          </a:ln>
        </p:spPr>
        <p:txBody>
          <a:bodyPr lIns="38099" rIns="38099"/>
          <a:lstStyle/>
          <a:p>
            <a:endParaRPr sz="1500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9" name="Text 1"/>
          <p:cNvSpPr txBox="1"/>
          <p:nvPr/>
        </p:nvSpPr>
        <p:spPr>
          <a:xfrm>
            <a:off x="618675" y="3130658"/>
            <a:ext cx="7262357" cy="11798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333"/>
              </a:lnSpc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What are your thoughts? </a:t>
            </a:r>
          </a:p>
          <a:p>
            <a:pPr>
              <a:lnSpc>
                <a:spcPts val="2333"/>
              </a:lnSpc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What are the challenges you are facing? </a:t>
            </a:r>
          </a:p>
          <a:p>
            <a:pPr>
              <a:lnSpc>
                <a:spcPts val="2333"/>
              </a:lnSpc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What can be done next? </a:t>
            </a:r>
          </a:p>
          <a:p>
            <a:pPr>
              <a:lnSpc>
                <a:spcPts val="2333"/>
              </a:lnSpc>
              <a:defRPr sz="2600">
                <a:latin typeface="Inter"/>
                <a:ea typeface="Inter"/>
                <a:cs typeface="Inter"/>
                <a:sym typeface="Inter"/>
              </a:defRPr>
            </a:pPr>
            <a:endParaRPr sz="2167"/>
          </a:p>
        </p:txBody>
      </p:sp>
      <p:sp>
        <p:nvSpPr>
          <p:cNvPr id="2740" name="Shape 2"/>
          <p:cNvSpPr/>
          <p:nvPr/>
        </p:nvSpPr>
        <p:spPr>
          <a:xfrm>
            <a:off x="661492" y="4570016"/>
            <a:ext cx="302420" cy="302420"/>
          </a:xfrm>
          <a:prstGeom prst="roundRect">
            <a:avLst>
              <a:gd name="adj" fmla="val 50000"/>
            </a:avLst>
          </a:prstGeom>
          <a:ln w="7620">
            <a:solidFill>
              <a:srgbClr val="FFFFFF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741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8138" y="972518"/>
            <a:ext cx="3923863" cy="5887666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1EC5A22F-AB46-52CC-70C3-7852D4537AE2}"/>
              </a:ext>
            </a:extLst>
          </p:cNvPr>
          <p:cNvSpPr txBox="1"/>
          <p:nvPr/>
        </p:nvSpPr>
        <p:spPr>
          <a:xfrm>
            <a:off x="782829" y="2092615"/>
            <a:ext cx="6297018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lang="en-US" sz="3667"/>
              <a:t>Mindset Check-In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3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9377" y="959068"/>
            <a:ext cx="3932622" cy="5898933"/>
          </a:xfrm>
          <a:prstGeom prst="rect">
            <a:avLst/>
          </a:prstGeom>
          <a:ln w="12700">
            <a:miter lim="400000"/>
          </a:ln>
        </p:spPr>
      </p:pic>
      <p:sp>
        <p:nvSpPr>
          <p:cNvPr id="2745" name="Text 12"/>
          <p:cNvSpPr txBox="1"/>
          <p:nvPr/>
        </p:nvSpPr>
        <p:spPr>
          <a:xfrm>
            <a:off x="697200" y="2038551"/>
            <a:ext cx="4936916" cy="2373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>
            <a:spAutoFit/>
          </a:bodyPr>
          <a:lstStyle/>
          <a:p>
            <a:pPr>
              <a:lnSpc>
                <a:spcPct val="110000"/>
              </a:lnSpc>
              <a:defRPr sz="3400">
                <a:solidFill>
                  <a:srgbClr val="941751"/>
                </a:solidFill>
                <a:latin typeface="Inter"/>
                <a:ea typeface="Inter"/>
                <a:cs typeface="Inter"/>
                <a:sym typeface="Inter"/>
              </a:defRPr>
            </a:pPr>
            <a:endParaRPr lang="en-US" sz="2833" dirty="0"/>
          </a:p>
          <a:p>
            <a:pPr>
              <a:lnSpc>
                <a:spcPct val="110000"/>
              </a:lnSpc>
              <a:defRPr sz="3400">
                <a:solidFill>
                  <a:srgbClr val="941751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rPr lang="en-US" sz="2833"/>
              <a:t>Research</a:t>
            </a:r>
            <a:r>
              <a:rPr lang="en-US" sz="2833">
                <a:solidFill>
                  <a:srgbClr val="941751"/>
                </a:solidFill>
                <a:latin typeface="Inter"/>
                <a:cs typeface="Arial"/>
              </a:rPr>
              <a:t> is </a:t>
            </a:r>
            <a:r>
              <a:rPr lang="en-US" sz="2833">
                <a:latin typeface="Inter"/>
                <a:cs typeface="Arial"/>
              </a:rPr>
              <a:t>hard. Real researchers get confused, get </a:t>
            </a:r>
            <a:r>
              <a:rPr lang="en-US" sz="2833">
                <a:solidFill>
                  <a:srgbClr val="941751"/>
                </a:solidFill>
                <a:latin typeface="Inter"/>
                <a:cs typeface="Arial"/>
              </a:rPr>
              <a:t>stuck, change </a:t>
            </a:r>
            <a:r>
              <a:rPr lang="en-US" sz="2833">
                <a:latin typeface="Inter"/>
                <a:cs typeface="Arial"/>
              </a:rPr>
              <a:t>direction, </a:t>
            </a:r>
            <a:r>
              <a:rPr lang="en-US" sz="2833">
                <a:solidFill>
                  <a:srgbClr val="941751"/>
                </a:solidFill>
                <a:latin typeface="Inter"/>
                <a:cs typeface="Arial"/>
              </a:rPr>
              <a:t>and </a:t>
            </a:r>
            <a:r>
              <a:rPr lang="en-US" sz="2833">
                <a:latin typeface="Inter"/>
                <a:cs typeface="Arial"/>
              </a:rPr>
              <a:t>make mistakes</a:t>
            </a:r>
            <a:r>
              <a:rPr lang="en-US" sz="2833">
                <a:solidFill>
                  <a:srgbClr val="941751"/>
                </a:solidFill>
                <a:latin typeface="Inter"/>
                <a:cs typeface="Arial"/>
              </a:rPr>
              <a:t>.</a:t>
            </a:r>
            <a:endParaRPr lang="en-US" sz="2833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5E2BCAAA-AA8C-1C2A-2F49-C1A8DF9E05F0}"/>
              </a:ext>
            </a:extLst>
          </p:cNvPr>
          <p:cNvSpPr txBox="1"/>
          <p:nvPr/>
        </p:nvSpPr>
        <p:spPr>
          <a:xfrm>
            <a:off x="695466" y="748194"/>
            <a:ext cx="6297018" cy="13405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lang="en-US" sz="3667"/>
              <a:t>THE STRUGGLE IS THE POINT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31F51E-A77E-4077-A50C-10412BC9692E}"/>
              </a:ext>
            </a:extLst>
          </p:cNvPr>
          <p:cNvSpPr txBox="1"/>
          <p:nvPr/>
        </p:nvSpPr>
        <p:spPr>
          <a:xfrm>
            <a:off x="4607697" y="4412965"/>
            <a:ext cx="4008993" cy="1923410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>
                <a:highlight>
                  <a:srgbClr val="FFFF00"/>
                </a:highlight>
              </a:rPr>
              <a:t>Already edited this slide. </a:t>
            </a:r>
            <a:endParaRPr lang="en-US" sz="2833" b="1" dirty="0">
              <a:highlight>
                <a:srgbClr val="FFFF00"/>
              </a:highlight>
            </a:endParaRPr>
          </a:p>
          <a:p>
            <a:pPr algn="ctr"/>
            <a:r>
              <a:rPr lang="en-US" sz="2833" b="1">
                <a:highlight>
                  <a:srgbClr val="FFFF00"/>
                </a:highlight>
              </a:rPr>
              <a:t>ADD:</a:t>
            </a:r>
            <a:r>
              <a:rPr lang="en-US" sz="3667" b="1" dirty="0">
                <a:highlight>
                  <a:srgbClr val="FFFF00"/>
                </a:highlight>
              </a:rPr>
              <a:t> </a:t>
            </a:r>
            <a:r>
              <a:rPr lang="en-US" sz="1333">
                <a:solidFill>
                  <a:srgbClr val="111111"/>
                </a:solidFill>
                <a:highlight>
                  <a:srgbClr val="FFFF00"/>
                </a:highlight>
                <a:latin typeface="Arial"/>
                <a:cs typeface="Arial"/>
              </a:rPr>
              <a:t>Share one real example of a famous finding that took multiple failed attempts. Normalize productive struggle.</a:t>
            </a:r>
            <a:endParaRPr lang="en-US" sz="1333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7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27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5" grpId="0" build="p" bldLvl="5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7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9377" y="959068"/>
            <a:ext cx="3932622" cy="5898933"/>
          </a:xfrm>
          <a:prstGeom prst="rect">
            <a:avLst/>
          </a:prstGeom>
          <a:ln w="12700">
            <a:miter lim="400000"/>
          </a:ln>
        </p:spPr>
      </p:pic>
      <p:sp>
        <p:nvSpPr>
          <p:cNvPr id="2748" name="Text 0"/>
          <p:cNvSpPr txBox="1"/>
          <p:nvPr/>
        </p:nvSpPr>
        <p:spPr>
          <a:xfrm>
            <a:off x="661492" y="872927"/>
            <a:ext cx="4893968" cy="1138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4583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/>
              <a:t>SMALL PROGRESS IS </a:t>
            </a:r>
          </a:p>
          <a:p>
            <a:pPr>
              <a:lnSpc>
                <a:spcPts val="4583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/>
              <a:t>STILL PROGRESS</a:t>
            </a:r>
          </a:p>
        </p:txBody>
      </p:sp>
      <p:sp>
        <p:nvSpPr>
          <p:cNvPr id="2749" name="Text 12"/>
          <p:cNvSpPr txBox="1"/>
          <p:nvPr/>
        </p:nvSpPr>
        <p:spPr>
          <a:xfrm>
            <a:off x="729820" y="2259651"/>
            <a:ext cx="4936915" cy="2373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0000"/>
              </a:lnSpc>
              <a:defRPr sz="3400">
                <a:solidFill>
                  <a:srgbClr val="941751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rPr sz="2833"/>
              <a:t>You are just beginning this journey.</a:t>
            </a:r>
          </a:p>
          <a:p>
            <a:pPr>
              <a:lnSpc>
                <a:spcPct val="110000"/>
              </a:lnSpc>
              <a:defRPr sz="3400">
                <a:latin typeface="Inter"/>
                <a:ea typeface="Inter"/>
                <a:cs typeface="Inter"/>
                <a:sym typeface="Inter"/>
              </a:defRPr>
            </a:pPr>
            <a:endParaRPr sz="2833"/>
          </a:p>
          <a:p>
            <a:pPr>
              <a:lnSpc>
                <a:spcPct val="110000"/>
              </a:lnSpc>
              <a:defRPr sz="3400">
                <a:latin typeface="Inter"/>
                <a:ea typeface="Inter"/>
                <a:cs typeface="Inter"/>
                <a:sym typeface="Inter"/>
              </a:defRPr>
            </a:pPr>
            <a:r>
              <a:rPr sz="2833"/>
              <a:t>Allow yourself to take smaller steps. And </a:t>
            </a:r>
            <a:r>
              <a:rPr sz="2833" b="1"/>
              <a:t>trust the process.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7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9" grpId="0" build="p" bldLvl="5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1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9377" y="959068"/>
            <a:ext cx="3932622" cy="5898933"/>
          </a:xfrm>
          <a:prstGeom prst="rect">
            <a:avLst/>
          </a:prstGeom>
          <a:ln w="12700">
            <a:miter lim="400000"/>
          </a:ln>
        </p:spPr>
      </p:pic>
      <p:sp>
        <p:nvSpPr>
          <p:cNvPr id="2752" name="Text 0"/>
          <p:cNvSpPr txBox="1"/>
          <p:nvPr/>
        </p:nvSpPr>
        <p:spPr>
          <a:xfrm>
            <a:off x="661492" y="872927"/>
            <a:ext cx="5119991" cy="1138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4583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/>
              <a:t>HOW YOU LOOK AT IT</a:t>
            </a:r>
          </a:p>
          <a:p>
            <a:pPr>
              <a:lnSpc>
                <a:spcPts val="4583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/>
              <a:t>IS A GAME-CHANGER</a:t>
            </a:r>
          </a:p>
        </p:txBody>
      </p:sp>
      <p:sp>
        <p:nvSpPr>
          <p:cNvPr id="2753" name="Text 12"/>
          <p:cNvSpPr txBox="1"/>
          <p:nvPr/>
        </p:nvSpPr>
        <p:spPr>
          <a:xfrm>
            <a:off x="729820" y="2259651"/>
            <a:ext cx="4936915" cy="33329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0000"/>
              </a:lnSpc>
              <a:defRPr sz="3400">
                <a:solidFill>
                  <a:srgbClr val="941751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rPr sz="2833"/>
              <a:t>If you see it like “spending your time reading articles” vs. making an exploration.</a:t>
            </a:r>
          </a:p>
          <a:p>
            <a:pPr>
              <a:lnSpc>
                <a:spcPct val="110000"/>
              </a:lnSpc>
              <a:defRPr sz="3400">
                <a:latin typeface="Inter"/>
                <a:ea typeface="Inter"/>
                <a:cs typeface="Inter"/>
                <a:sym typeface="Inter"/>
              </a:defRPr>
            </a:pPr>
            <a:endParaRPr sz="2833"/>
          </a:p>
          <a:p>
            <a:pPr>
              <a:lnSpc>
                <a:spcPct val="110000"/>
              </a:lnSpc>
              <a:defRPr sz="3400">
                <a:latin typeface="Inter"/>
                <a:ea typeface="Inter"/>
                <a:cs typeface="Inter"/>
                <a:sym typeface="Inter"/>
              </a:defRPr>
            </a:pPr>
            <a:r>
              <a:rPr sz="2833"/>
              <a:t>Take 2-3 key points from a resource and keep on with exploring. </a:t>
            </a:r>
            <a:r>
              <a:rPr sz="2833" b="1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8F390E-D837-8BE9-42F4-7BB9FBF6A998}"/>
              </a:ext>
            </a:extLst>
          </p:cNvPr>
          <p:cNvSpPr txBox="1"/>
          <p:nvPr/>
        </p:nvSpPr>
        <p:spPr>
          <a:xfrm>
            <a:off x="166742" y="185563"/>
            <a:ext cx="2048178" cy="948847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>
                <a:highlight>
                  <a:srgbClr val="FFFF00"/>
                </a:highlight>
              </a:rPr>
              <a:t>OUT​</a:t>
            </a: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75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7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7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7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3" grpId="0" build="p" bldLvl="5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5" name="Text 0"/>
          <p:cNvSpPr txBox="1"/>
          <p:nvPr/>
        </p:nvSpPr>
        <p:spPr>
          <a:xfrm>
            <a:off x="661492" y="1971278"/>
            <a:ext cx="6297018" cy="13405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Now, Let’s Continue with Planning</a:t>
            </a:r>
          </a:p>
        </p:txBody>
      </p:sp>
      <p:sp>
        <p:nvSpPr>
          <p:cNvPr id="2756" name="Text 1"/>
          <p:cNvSpPr txBox="1"/>
          <p:nvPr/>
        </p:nvSpPr>
        <p:spPr>
          <a:xfrm>
            <a:off x="618675" y="3702158"/>
            <a:ext cx="7262357" cy="11798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333"/>
              </a:lnSpc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Reliability &amp; Validity</a:t>
            </a:r>
          </a:p>
          <a:p>
            <a:pPr>
              <a:lnSpc>
                <a:spcPts val="2333"/>
              </a:lnSpc>
              <a:defRPr sz="2600">
                <a:latin typeface="Inter"/>
                <a:ea typeface="Inter"/>
                <a:cs typeface="Inter"/>
                <a:sym typeface="Inter"/>
              </a:defRPr>
            </a:pPr>
            <a:endParaRPr sz="2167"/>
          </a:p>
          <a:p>
            <a:pPr>
              <a:lnSpc>
                <a:spcPts val="2333"/>
              </a:lnSpc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Sampling</a:t>
            </a:r>
          </a:p>
          <a:p>
            <a:pPr>
              <a:lnSpc>
                <a:spcPts val="2333"/>
              </a:lnSpc>
              <a:defRPr sz="2600">
                <a:latin typeface="Inter"/>
                <a:ea typeface="Inter"/>
                <a:cs typeface="Inter"/>
                <a:sym typeface="Inter"/>
              </a:defRPr>
            </a:pPr>
            <a:endParaRPr sz="2167"/>
          </a:p>
        </p:txBody>
      </p:sp>
      <p:sp>
        <p:nvSpPr>
          <p:cNvPr id="2757" name="Shape 2"/>
          <p:cNvSpPr/>
          <p:nvPr/>
        </p:nvSpPr>
        <p:spPr>
          <a:xfrm>
            <a:off x="661492" y="4570016"/>
            <a:ext cx="302420" cy="302420"/>
          </a:xfrm>
          <a:prstGeom prst="roundRect">
            <a:avLst>
              <a:gd name="adj" fmla="val 50000"/>
            </a:avLst>
          </a:prstGeom>
          <a:ln w="7620">
            <a:solidFill>
              <a:srgbClr val="FFFFFF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758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8138" y="972518"/>
            <a:ext cx="3923863" cy="588766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0" name="Image 0" descr="Image 0"/>
          <p:cNvPicPr>
            <a:picLocks noChangeAspect="1"/>
          </p:cNvPicPr>
          <p:nvPr/>
        </p:nvPicPr>
        <p:blipFill>
          <a:blip r:embed="rId2"/>
          <a:srcRect r="51906"/>
          <a:stretch>
            <a:fillRect/>
          </a:stretch>
        </p:blipFill>
        <p:spPr>
          <a:xfrm>
            <a:off x="7102634" y="1277449"/>
            <a:ext cx="2412928" cy="3344706"/>
          </a:xfrm>
          <a:prstGeom prst="rect">
            <a:avLst/>
          </a:prstGeom>
          <a:ln w="12700">
            <a:miter lim="400000"/>
          </a:ln>
        </p:spPr>
      </p:pic>
      <p:sp>
        <p:nvSpPr>
          <p:cNvPr id="2761" name="Text 0"/>
          <p:cNvSpPr txBox="1"/>
          <p:nvPr/>
        </p:nvSpPr>
        <p:spPr>
          <a:xfrm>
            <a:off x="661491" y="1286868"/>
            <a:ext cx="4943661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Reliability and Validity</a:t>
            </a:r>
          </a:p>
        </p:txBody>
      </p:sp>
      <p:sp>
        <p:nvSpPr>
          <p:cNvPr id="2762" name="Text 1"/>
          <p:cNvSpPr txBox="1"/>
          <p:nvPr/>
        </p:nvSpPr>
        <p:spPr>
          <a:xfrm>
            <a:off x="661491" y="2349995"/>
            <a:ext cx="1114088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Reliability</a:t>
            </a:r>
          </a:p>
        </p:txBody>
      </p:sp>
      <p:sp>
        <p:nvSpPr>
          <p:cNvPr id="2763" name="Text 2"/>
          <p:cNvSpPr txBox="1"/>
          <p:nvPr/>
        </p:nvSpPr>
        <p:spPr>
          <a:xfrm>
            <a:off x="661491" y="2834282"/>
            <a:ext cx="7099007" cy="2832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333"/>
              </a:lnSpc>
              <a:defRPr sz="2200">
                <a:latin typeface="Inter"/>
                <a:ea typeface="Inter"/>
                <a:cs typeface="Inter"/>
                <a:sym typeface="Inter"/>
              </a:defRPr>
            </a:pPr>
            <a:r>
              <a:rPr sz="1833">
                <a:solidFill>
                  <a:srgbClr val="941751"/>
                </a:solidFill>
              </a:rPr>
              <a:t>Consistency</a:t>
            </a:r>
            <a:r>
              <a:rPr sz="1833"/>
              <a:t> of results if repeated under the same conditions.</a:t>
            </a:r>
          </a:p>
        </p:txBody>
      </p:sp>
      <p:sp>
        <p:nvSpPr>
          <p:cNvPr id="2764" name="Text 3"/>
          <p:cNvSpPr txBox="1"/>
          <p:nvPr/>
        </p:nvSpPr>
        <p:spPr>
          <a:xfrm>
            <a:off x="693604" y="3327036"/>
            <a:ext cx="5630074" cy="331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899" indent="-342899">
              <a:lnSpc>
                <a:spcPts val="2800"/>
              </a:lnSpc>
              <a:buSzPct val="100000"/>
              <a:buChar char="•"/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Would you get similar results if repeated?</a:t>
            </a:r>
          </a:p>
        </p:txBody>
      </p:sp>
      <p:sp>
        <p:nvSpPr>
          <p:cNvPr id="2765" name="Text 4"/>
          <p:cNvSpPr txBox="1"/>
          <p:nvPr/>
        </p:nvSpPr>
        <p:spPr>
          <a:xfrm>
            <a:off x="682899" y="3730350"/>
            <a:ext cx="3287823" cy="331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899" indent="-342899">
              <a:lnSpc>
                <a:spcPts val="2800"/>
              </a:lnSpc>
              <a:buSzPct val="100000"/>
              <a:buChar char="•"/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Are measurements consistent?</a:t>
            </a:r>
          </a:p>
        </p:txBody>
      </p:sp>
      <p:sp>
        <p:nvSpPr>
          <p:cNvPr id="2766" name="Text 5"/>
          <p:cNvSpPr txBox="1"/>
          <p:nvPr/>
        </p:nvSpPr>
        <p:spPr>
          <a:xfrm>
            <a:off x="682899" y="4098848"/>
            <a:ext cx="3400418" cy="331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899" indent="-342899">
              <a:lnSpc>
                <a:spcPts val="2800"/>
              </a:lnSpc>
              <a:buSzPct val="100000"/>
              <a:buChar char="•"/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Is your procedure standardized?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8" name="Image 0" descr="Image 0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-20739"/>
            <a:ext cx="12192000" cy="2362698"/>
          </a:xfrm>
          <a:prstGeom prst="rect">
            <a:avLst/>
          </a:prstGeom>
          <a:ln w="12700">
            <a:miter lim="400000"/>
          </a:ln>
        </p:spPr>
      </p:pic>
      <p:sp>
        <p:nvSpPr>
          <p:cNvPr id="2769" name="Text 0"/>
          <p:cNvSpPr txBox="1"/>
          <p:nvPr/>
        </p:nvSpPr>
        <p:spPr>
          <a:xfrm>
            <a:off x="661492" y="2779899"/>
            <a:ext cx="4637488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Improving Reliability</a:t>
            </a:r>
          </a:p>
        </p:txBody>
      </p:sp>
      <p:sp>
        <p:nvSpPr>
          <p:cNvPr id="2770" name="Shape 1"/>
          <p:cNvSpPr/>
          <p:nvPr/>
        </p:nvSpPr>
        <p:spPr>
          <a:xfrm>
            <a:off x="661492" y="3779936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771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84" y="3815358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2772" name="Text 2"/>
          <p:cNvSpPr txBox="1"/>
          <p:nvPr/>
        </p:nvSpPr>
        <p:spPr>
          <a:xfrm>
            <a:off x="1275754" y="3844825"/>
            <a:ext cx="2608086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Standardize Procedures</a:t>
            </a:r>
          </a:p>
        </p:txBody>
      </p:sp>
      <p:sp>
        <p:nvSpPr>
          <p:cNvPr id="2773" name="Text 3"/>
          <p:cNvSpPr txBox="1"/>
          <p:nvPr/>
        </p:nvSpPr>
        <p:spPr>
          <a:xfrm>
            <a:off x="1275754" y="4253507"/>
            <a:ext cx="4702177" cy="690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Use the same methods, instructions, and conditions for all participants or trials.</a:t>
            </a:r>
          </a:p>
        </p:txBody>
      </p:sp>
      <p:sp>
        <p:nvSpPr>
          <p:cNvPr id="2774" name="Shape 4"/>
          <p:cNvSpPr/>
          <p:nvPr/>
        </p:nvSpPr>
        <p:spPr>
          <a:xfrm>
            <a:off x="6214169" y="3779936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775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5061" y="3815358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2776" name="Text 5"/>
          <p:cNvSpPr txBox="1"/>
          <p:nvPr/>
        </p:nvSpPr>
        <p:spPr>
          <a:xfrm>
            <a:off x="6828432" y="3844825"/>
            <a:ext cx="1987724" cy="310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750"/>
              <a:t>Check Instruments</a:t>
            </a:r>
          </a:p>
        </p:txBody>
      </p:sp>
      <p:sp>
        <p:nvSpPr>
          <p:cNvPr id="2777" name="Text 6"/>
          <p:cNvSpPr txBox="1"/>
          <p:nvPr/>
        </p:nvSpPr>
        <p:spPr>
          <a:xfrm>
            <a:off x="6828433" y="4253507"/>
            <a:ext cx="4702176" cy="687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Ensure measuring tools are working properly and giving consistent readings.</a:t>
            </a:r>
          </a:p>
        </p:txBody>
      </p:sp>
      <p:sp>
        <p:nvSpPr>
          <p:cNvPr id="2778" name="Shape 7"/>
          <p:cNvSpPr/>
          <p:nvPr/>
        </p:nvSpPr>
        <p:spPr>
          <a:xfrm>
            <a:off x="661492" y="5236369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779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384" y="5271789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2780" name="Text 8"/>
          <p:cNvSpPr txBox="1"/>
          <p:nvPr/>
        </p:nvSpPr>
        <p:spPr>
          <a:xfrm>
            <a:off x="1275754" y="5301257"/>
            <a:ext cx="1623842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Multiple Trials</a:t>
            </a:r>
          </a:p>
        </p:txBody>
      </p:sp>
      <p:sp>
        <p:nvSpPr>
          <p:cNvPr id="2781" name="Text 9"/>
          <p:cNvSpPr txBox="1"/>
          <p:nvPr/>
        </p:nvSpPr>
        <p:spPr>
          <a:xfrm>
            <a:off x="1275754" y="5709940"/>
            <a:ext cx="4702177" cy="690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Repeat measurements or tests to see if results are consistent.</a:t>
            </a:r>
          </a:p>
        </p:txBody>
      </p:sp>
      <p:sp>
        <p:nvSpPr>
          <p:cNvPr id="2782" name="Shape 10"/>
          <p:cNvSpPr/>
          <p:nvPr/>
        </p:nvSpPr>
        <p:spPr>
          <a:xfrm>
            <a:off x="6214169" y="5236369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783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5061" y="5271789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2784" name="Text 11"/>
          <p:cNvSpPr txBox="1"/>
          <p:nvPr/>
        </p:nvSpPr>
        <p:spPr>
          <a:xfrm>
            <a:off x="6828433" y="5301257"/>
            <a:ext cx="1998945" cy="310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750"/>
              <a:t>Larger Sample Size</a:t>
            </a:r>
          </a:p>
        </p:txBody>
      </p:sp>
      <p:sp>
        <p:nvSpPr>
          <p:cNvPr id="2785" name="Text 12"/>
          <p:cNvSpPr txBox="1"/>
          <p:nvPr/>
        </p:nvSpPr>
        <p:spPr>
          <a:xfrm>
            <a:off x="6828433" y="5709941"/>
            <a:ext cx="4702176" cy="687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Include more participants or items to reduce the impact of individual variations.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7" name="Image 0" descr="Image 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102634" y="1277449"/>
            <a:ext cx="5017208" cy="3344706"/>
          </a:xfrm>
          <a:prstGeom prst="rect">
            <a:avLst/>
          </a:prstGeom>
          <a:ln w="12700">
            <a:miter lim="400000"/>
          </a:ln>
        </p:spPr>
      </p:pic>
      <p:sp>
        <p:nvSpPr>
          <p:cNvPr id="2788" name="Text 0"/>
          <p:cNvSpPr txBox="1"/>
          <p:nvPr/>
        </p:nvSpPr>
        <p:spPr>
          <a:xfrm>
            <a:off x="661491" y="1286868"/>
            <a:ext cx="4943661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Reliability and Validity</a:t>
            </a:r>
          </a:p>
        </p:txBody>
      </p:sp>
      <p:sp>
        <p:nvSpPr>
          <p:cNvPr id="2789" name="Text 1"/>
          <p:cNvSpPr txBox="1"/>
          <p:nvPr/>
        </p:nvSpPr>
        <p:spPr>
          <a:xfrm>
            <a:off x="661491" y="2349995"/>
            <a:ext cx="1114088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Reliability</a:t>
            </a:r>
          </a:p>
        </p:txBody>
      </p:sp>
      <p:sp>
        <p:nvSpPr>
          <p:cNvPr id="2790" name="Text 2"/>
          <p:cNvSpPr txBox="1"/>
          <p:nvPr/>
        </p:nvSpPr>
        <p:spPr>
          <a:xfrm>
            <a:off x="661491" y="2834282"/>
            <a:ext cx="7099007" cy="2832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333"/>
              </a:lnSpc>
              <a:defRPr sz="2200">
                <a:latin typeface="Inter"/>
                <a:ea typeface="Inter"/>
                <a:cs typeface="Inter"/>
                <a:sym typeface="Inter"/>
              </a:defRPr>
            </a:pPr>
            <a:r>
              <a:rPr sz="1833">
                <a:solidFill>
                  <a:srgbClr val="941751"/>
                </a:solidFill>
              </a:rPr>
              <a:t>Consistency</a:t>
            </a:r>
            <a:r>
              <a:rPr sz="1833"/>
              <a:t> of results if repeated under the same conditions.</a:t>
            </a:r>
          </a:p>
        </p:txBody>
      </p:sp>
      <p:sp>
        <p:nvSpPr>
          <p:cNvPr id="2791" name="Text 11"/>
          <p:cNvSpPr txBox="1"/>
          <p:nvPr/>
        </p:nvSpPr>
        <p:spPr>
          <a:xfrm>
            <a:off x="7156644" y="4689193"/>
            <a:ext cx="4674187" cy="69890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2800"/>
              </a:lnSpc>
              <a:defRPr sz="2500" i="1">
                <a:solidFill>
                  <a:srgbClr val="941751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Good research needs both reliability and validity to be trustworthy.</a:t>
            </a:r>
          </a:p>
        </p:txBody>
      </p:sp>
      <p:sp>
        <p:nvSpPr>
          <p:cNvPr id="2792" name="Text 6"/>
          <p:cNvSpPr txBox="1"/>
          <p:nvPr/>
        </p:nvSpPr>
        <p:spPr>
          <a:xfrm>
            <a:off x="640521" y="3652340"/>
            <a:ext cx="846386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Validity</a:t>
            </a:r>
          </a:p>
        </p:txBody>
      </p:sp>
      <p:sp>
        <p:nvSpPr>
          <p:cNvPr id="2793" name="Text 7"/>
          <p:cNvSpPr txBox="1"/>
          <p:nvPr/>
        </p:nvSpPr>
        <p:spPr>
          <a:xfrm>
            <a:off x="640521" y="4136627"/>
            <a:ext cx="6114268" cy="2832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333"/>
              </a:lnSpc>
              <a:defRPr sz="2200">
                <a:latin typeface="Inter"/>
                <a:ea typeface="Inter"/>
                <a:cs typeface="Inter"/>
                <a:sym typeface="Inter"/>
              </a:defRPr>
            </a:pPr>
            <a:r>
              <a:rPr sz="1833" dirty="0"/>
              <a:t>Whether you're actually measuring </a:t>
            </a:r>
            <a:r>
              <a:rPr sz="1833" dirty="0">
                <a:solidFill>
                  <a:srgbClr val="941751"/>
                </a:solidFill>
              </a:rPr>
              <a:t>what you intend to</a:t>
            </a:r>
            <a:r>
              <a:rPr sz="1833" dirty="0"/>
              <a:t> measure.</a:t>
            </a:r>
          </a:p>
        </p:txBody>
      </p:sp>
      <p:sp>
        <p:nvSpPr>
          <p:cNvPr id="2794" name="Text 8"/>
          <p:cNvSpPr txBox="1"/>
          <p:nvPr/>
        </p:nvSpPr>
        <p:spPr>
          <a:xfrm>
            <a:off x="822491" y="4822682"/>
            <a:ext cx="5750328" cy="331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899" indent="-342899">
              <a:lnSpc>
                <a:spcPts val="2800"/>
              </a:lnSpc>
              <a:buSzPct val="100000"/>
              <a:buChar char="•"/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Does your method truly address your question?</a:t>
            </a:r>
          </a:p>
        </p:txBody>
      </p:sp>
      <p:sp>
        <p:nvSpPr>
          <p:cNvPr id="2795" name="Text 9"/>
          <p:cNvSpPr txBox="1"/>
          <p:nvPr/>
        </p:nvSpPr>
        <p:spPr>
          <a:xfrm>
            <a:off x="822491" y="5183179"/>
            <a:ext cx="3580980" cy="331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899" indent="-342899">
              <a:lnSpc>
                <a:spcPts val="2800"/>
              </a:lnSpc>
              <a:buSzPct val="100000"/>
              <a:buChar char="•"/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Are your measurements relevant?</a:t>
            </a:r>
          </a:p>
        </p:txBody>
      </p:sp>
      <p:sp>
        <p:nvSpPr>
          <p:cNvPr id="2796" name="Text 10"/>
          <p:cNvSpPr txBox="1"/>
          <p:nvPr/>
        </p:nvSpPr>
        <p:spPr>
          <a:xfrm>
            <a:off x="822491" y="5551677"/>
            <a:ext cx="5390528" cy="331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899" indent="-342899">
              <a:lnSpc>
                <a:spcPts val="2800"/>
              </a:lnSpc>
              <a:buSzPct val="100000"/>
              <a:buChar char="•"/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Can you draw appropriate conclusions?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91" grpId="0" animBg="1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8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1425" y="902138"/>
            <a:ext cx="3970575" cy="5955863"/>
          </a:xfrm>
          <a:prstGeom prst="rect">
            <a:avLst/>
          </a:prstGeom>
          <a:ln w="12700">
            <a:miter lim="400000"/>
          </a:ln>
        </p:spPr>
      </p:pic>
      <p:sp>
        <p:nvSpPr>
          <p:cNvPr id="2799" name="Text 0"/>
          <p:cNvSpPr txBox="1"/>
          <p:nvPr/>
        </p:nvSpPr>
        <p:spPr>
          <a:xfrm>
            <a:off x="605035" y="476151"/>
            <a:ext cx="3730188" cy="587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100"/>
              </a:lnSpc>
              <a:defRPr sz="4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333"/>
              <a:t>Improving Validity</a:t>
            </a:r>
          </a:p>
        </p:txBody>
      </p:sp>
      <p:sp>
        <p:nvSpPr>
          <p:cNvPr id="2800" name="Shape 1"/>
          <p:cNvSpPr/>
          <p:nvPr/>
        </p:nvSpPr>
        <p:spPr>
          <a:xfrm>
            <a:off x="605035" y="1275655"/>
            <a:ext cx="6409930" cy="1285182"/>
          </a:xfrm>
          <a:prstGeom prst="roundRect">
            <a:avLst>
              <a:gd name="adj" fmla="val 5650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100"/>
            </a:pPr>
            <a:endParaRPr sz="1750"/>
          </a:p>
        </p:txBody>
      </p:sp>
      <p:sp>
        <p:nvSpPr>
          <p:cNvPr id="2801" name="Text 2"/>
          <p:cNvSpPr txBox="1"/>
          <p:nvPr/>
        </p:nvSpPr>
        <p:spPr>
          <a:xfrm>
            <a:off x="784225" y="1454844"/>
            <a:ext cx="3124253" cy="291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2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750"/>
              <a:t>Align Methods with Questions</a:t>
            </a:r>
          </a:p>
        </p:txBody>
      </p:sp>
      <p:sp>
        <p:nvSpPr>
          <p:cNvPr id="2802" name="Text 3"/>
          <p:cNvSpPr txBox="1"/>
          <p:nvPr/>
        </p:nvSpPr>
        <p:spPr>
          <a:xfrm>
            <a:off x="784225" y="1807435"/>
            <a:ext cx="6051550" cy="64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Choose research approaches that directly address what you want to know.</a:t>
            </a:r>
          </a:p>
        </p:txBody>
      </p:sp>
      <p:sp>
        <p:nvSpPr>
          <p:cNvPr id="2803" name="Shape 4"/>
          <p:cNvSpPr/>
          <p:nvPr/>
        </p:nvSpPr>
        <p:spPr>
          <a:xfrm>
            <a:off x="605035" y="2733674"/>
            <a:ext cx="6409930" cy="1285182"/>
          </a:xfrm>
          <a:prstGeom prst="roundRect">
            <a:avLst>
              <a:gd name="adj" fmla="val 5650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100"/>
            </a:pPr>
            <a:endParaRPr sz="1750"/>
          </a:p>
        </p:txBody>
      </p:sp>
      <p:sp>
        <p:nvSpPr>
          <p:cNvPr id="2804" name="Text 5"/>
          <p:cNvSpPr txBox="1"/>
          <p:nvPr/>
        </p:nvSpPr>
        <p:spPr>
          <a:xfrm>
            <a:off x="784224" y="2912864"/>
            <a:ext cx="2362826" cy="291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2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750"/>
              <a:t>Use Multiple Measures</a:t>
            </a:r>
          </a:p>
        </p:txBody>
      </p:sp>
      <p:sp>
        <p:nvSpPr>
          <p:cNvPr id="2805" name="Text 6"/>
          <p:cNvSpPr txBox="1"/>
          <p:nvPr/>
        </p:nvSpPr>
        <p:spPr>
          <a:xfrm>
            <a:off x="784225" y="3244287"/>
            <a:ext cx="6051550" cy="64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Collect different types of data to get a more complete picture of what you're studying.</a:t>
            </a:r>
          </a:p>
        </p:txBody>
      </p:sp>
      <p:sp>
        <p:nvSpPr>
          <p:cNvPr id="2806" name="Shape 7"/>
          <p:cNvSpPr/>
          <p:nvPr/>
        </p:nvSpPr>
        <p:spPr>
          <a:xfrm>
            <a:off x="605035" y="4191694"/>
            <a:ext cx="6409930" cy="1008658"/>
          </a:xfrm>
          <a:prstGeom prst="roundRect">
            <a:avLst>
              <a:gd name="adj" fmla="val 7198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100"/>
            </a:pPr>
            <a:endParaRPr sz="1750"/>
          </a:p>
        </p:txBody>
      </p:sp>
      <p:sp>
        <p:nvSpPr>
          <p:cNvPr id="2807" name="Text 8"/>
          <p:cNvSpPr txBox="1"/>
          <p:nvPr/>
        </p:nvSpPr>
        <p:spPr>
          <a:xfrm>
            <a:off x="784224" y="4370883"/>
            <a:ext cx="1835439" cy="291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2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750"/>
              <a:t>Control Variables</a:t>
            </a:r>
          </a:p>
        </p:txBody>
      </p:sp>
      <p:sp>
        <p:nvSpPr>
          <p:cNvPr id="2808" name="Text 9"/>
          <p:cNvSpPr txBox="1"/>
          <p:nvPr/>
        </p:nvSpPr>
        <p:spPr>
          <a:xfrm>
            <a:off x="784225" y="4691724"/>
            <a:ext cx="5574988" cy="309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600"/>
              </a:lnSpc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Identify and minimize factors that could confuse your results.</a:t>
            </a:r>
          </a:p>
        </p:txBody>
      </p:sp>
      <p:sp>
        <p:nvSpPr>
          <p:cNvPr id="2809" name="Shape 10"/>
          <p:cNvSpPr/>
          <p:nvPr/>
        </p:nvSpPr>
        <p:spPr>
          <a:xfrm>
            <a:off x="605035" y="5373192"/>
            <a:ext cx="6409930" cy="1008658"/>
          </a:xfrm>
          <a:prstGeom prst="roundRect">
            <a:avLst>
              <a:gd name="adj" fmla="val 7198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100"/>
            </a:pPr>
            <a:endParaRPr sz="1750"/>
          </a:p>
        </p:txBody>
      </p:sp>
      <p:sp>
        <p:nvSpPr>
          <p:cNvPr id="2810" name="Text 11"/>
          <p:cNvSpPr txBox="1"/>
          <p:nvPr/>
        </p:nvSpPr>
        <p:spPr>
          <a:xfrm>
            <a:off x="784224" y="5499464"/>
            <a:ext cx="939360" cy="288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2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667"/>
              <a:t>Pilot Test</a:t>
            </a:r>
          </a:p>
        </p:txBody>
      </p:sp>
      <p:sp>
        <p:nvSpPr>
          <p:cNvPr id="2811" name="Text 12"/>
          <p:cNvSpPr txBox="1"/>
          <p:nvPr/>
        </p:nvSpPr>
        <p:spPr>
          <a:xfrm>
            <a:off x="784225" y="5809721"/>
            <a:ext cx="5964778" cy="64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Try out your methods on a small scale first to identify and fix problems.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3" name="Text 0"/>
          <p:cNvSpPr txBox="1"/>
          <p:nvPr/>
        </p:nvSpPr>
        <p:spPr>
          <a:xfrm>
            <a:off x="661491" y="1135658"/>
            <a:ext cx="5740354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Aisha's Research Revisited</a:t>
            </a:r>
          </a:p>
        </p:txBody>
      </p:sp>
      <p:sp>
        <p:nvSpPr>
          <p:cNvPr id="2814" name="Text 1"/>
          <p:cNvSpPr txBox="1"/>
          <p:nvPr/>
        </p:nvSpPr>
        <p:spPr>
          <a:xfrm>
            <a:off x="661491" y="2198786"/>
            <a:ext cx="2507097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Initial Approach (Poor)</a:t>
            </a:r>
          </a:p>
        </p:txBody>
      </p:sp>
      <p:sp>
        <p:nvSpPr>
          <p:cNvPr id="2815" name="Text 2"/>
          <p:cNvSpPr txBox="1"/>
          <p:nvPr/>
        </p:nvSpPr>
        <p:spPr>
          <a:xfrm>
            <a:off x="661491" y="2683073"/>
            <a:ext cx="2606676" cy="317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Different music for each friend</a:t>
            </a:r>
          </a:p>
        </p:txBody>
      </p:sp>
      <p:sp>
        <p:nvSpPr>
          <p:cNvPr id="2816" name="Text 3"/>
          <p:cNvSpPr txBox="1"/>
          <p:nvPr/>
        </p:nvSpPr>
        <p:spPr>
          <a:xfrm>
            <a:off x="661491" y="3051572"/>
            <a:ext cx="3315098" cy="676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"Productivity" measured by self-reports of “fine” or “good”</a:t>
            </a:r>
          </a:p>
        </p:txBody>
      </p:sp>
      <p:sp>
        <p:nvSpPr>
          <p:cNvPr id="2817" name="Text 4"/>
          <p:cNvSpPr txBox="1"/>
          <p:nvPr/>
        </p:nvSpPr>
        <p:spPr>
          <a:xfrm>
            <a:off x="661491" y="3722489"/>
            <a:ext cx="2609304" cy="317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Different tasks for each person</a:t>
            </a:r>
          </a:p>
        </p:txBody>
      </p:sp>
      <p:sp>
        <p:nvSpPr>
          <p:cNvPr id="2818" name="Text 5"/>
          <p:cNvSpPr txBox="1"/>
          <p:nvPr/>
        </p:nvSpPr>
        <p:spPr>
          <a:xfrm>
            <a:off x="661491" y="4090987"/>
            <a:ext cx="2671309" cy="317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Inconsistent reporting methods</a:t>
            </a:r>
          </a:p>
        </p:txBody>
      </p:sp>
      <p:sp>
        <p:nvSpPr>
          <p:cNvPr id="2819" name="Text 6"/>
          <p:cNvSpPr txBox="1"/>
          <p:nvPr/>
        </p:nvSpPr>
        <p:spPr>
          <a:xfrm>
            <a:off x="4444106" y="2198786"/>
            <a:ext cx="3056927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Improved Approach (Better)</a:t>
            </a:r>
          </a:p>
        </p:txBody>
      </p:sp>
      <p:sp>
        <p:nvSpPr>
          <p:cNvPr id="2820" name="Text 7"/>
          <p:cNvSpPr txBox="1"/>
          <p:nvPr/>
        </p:nvSpPr>
        <p:spPr>
          <a:xfrm>
            <a:off x="4444106" y="2683073"/>
            <a:ext cx="3304366" cy="331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899" indent="-342899">
              <a:lnSpc>
                <a:spcPts val="2800"/>
              </a:lnSpc>
              <a:buSzPct val="100000"/>
              <a:buChar char="•"/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Same calm music playlist for all</a:t>
            </a:r>
          </a:p>
        </p:txBody>
      </p:sp>
      <p:sp>
        <p:nvSpPr>
          <p:cNvPr id="2821" name="Text 8"/>
          <p:cNvSpPr txBox="1"/>
          <p:nvPr/>
        </p:nvSpPr>
        <p:spPr>
          <a:xfrm>
            <a:off x="4444106" y="3051572"/>
            <a:ext cx="3315098" cy="690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899" indent="-342899">
              <a:lnSpc>
                <a:spcPts val="2800"/>
              </a:lnSpc>
              <a:buSzPct val="100000"/>
              <a:buChar char="•"/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Productivity measured by task completion and quiz scores</a:t>
            </a:r>
          </a:p>
        </p:txBody>
      </p:sp>
      <p:sp>
        <p:nvSpPr>
          <p:cNvPr id="2822" name="Text 9"/>
          <p:cNvSpPr txBox="1"/>
          <p:nvPr/>
        </p:nvSpPr>
        <p:spPr>
          <a:xfrm>
            <a:off x="4444106" y="3955323"/>
            <a:ext cx="3315098" cy="690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899" indent="-342899">
              <a:lnSpc>
                <a:spcPts val="2800"/>
              </a:lnSpc>
              <a:buSzPct val="100000"/>
              <a:buChar char="•"/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Same reading and math tasks for everyone</a:t>
            </a:r>
          </a:p>
        </p:txBody>
      </p:sp>
      <p:sp>
        <p:nvSpPr>
          <p:cNvPr id="2823" name="Text 10"/>
          <p:cNvSpPr txBox="1"/>
          <p:nvPr/>
        </p:nvSpPr>
        <p:spPr>
          <a:xfrm>
            <a:off x="4444106" y="4626240"/>
            <a:ext cx="3226653" cy="331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899" indent="-342899">
              <a:lnSpc>
                <a:spcPts val="2800"/>
              </a:lnSpc>
              <a:buSzPct val="100000"/>
              <a:buChar char="•"/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Consistent 30-minute sessions</a:t>
            </a:r>
          </a:p>
        </p:txBody>
      </p:sp>
      <p:pic>
        <p:nvPicPr>
          <p:cNvPr id="2824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6723" y="2222401"/>
            <a:ext cx="3315098" cy="2209999"/>
          </a:xfrm>
          <a:prstGeom prst="rect">
            <a:avLst/>
          </a:prstGeom>
          <a:ln w="12700">
            <a:miter lim="400000"/>
          </a:ln>
        </p:spPr>
      </p:pic>
      <p:sp>
        <p:nvSpPr>
          <p:cNvPr id="2825" name="Text 11"/>
          <p:cNvSpPr txBox="1"/>
          <p:nvPr/>
        </p:nvSpPr>
        <p:spPr>
          <a:xfrm>
            <a:off x="8226723" y="4645024"/>
            <a:ext cx="3315098" cy="1046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2800"/>
              </a:lnSpc>
              <a:defRPr sz="2100" i="1">
                <a:solidFill>
                  <a:srgbClr val="941751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The improved design has better reliability and validity, leading to more trustworthy results.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AA9C91-8607-BF45-EF21-943E010BD871}"/>
              </a:ext>
            </a:extLst>
          </p:cNvPr>
          <p:cNvSpPr txBox="1"/>
          <p:nvPr/>
        </p:nvSpPr>
        <p:spPr>
          <a:xfrm>
            <a:off x="166742" y="185563"/>
            <a:ext cx="2048178" cy="948847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>
                <a:highlight>
                  <a:srgbClr val="FFFF00"/>
                </a:highlight>
              </a:rPr>
              <a:t>OUT​</a:t>
            </a: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7" name="Text 0"/>
          <p:cNvSpPr txBox="1"/>
          <p:nvPr/>
        </p:nvSpPr>
        <p:spPr>
          <a:xfrm>
            <a:off x="661491" y="1286868"/>
            <a:ext cx="8725145" cy="548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4583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>
                <a:solidFill>
                  <a:srgbClr val="941751"/>
                </a:solidFill>
              </a:rPr>
              <a:t>Sampling</a:t>
            </a:r>
            <a:r>
              <a:rPr sz="3667"/>
              <a:t>: Who or What Will You Study?</a:t>
            </a:r>
          </a:p>
        </p:txBody>
      </p:sp>
      <p:pic>
        <p:nvPicPr>
          <p:cNvPr id="2828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6723" y="2373610"/>
            <a:ext cx="3315098" cy="2209999"/>
          </a:xfrm>
          <a:prstGeom prst="rect">
            <a:avLst/>
          </a:prstGeom>
          <a:ln w="12700">
            <a:miter lim="400000"/>
          </a:ln>
        </p:spPr>
      </p:pic>
      <p:sp>
        <p:nvSpPr>
          <p:cNvPr id="2829" name="Text 9"/>
          <p:cNvSpPr txBox="1"/>
          <p:nvPr/>
        </p:nvSpPr>
        <p:spPr>
          <a:xfrm>
            <a:off x="8226723" y="4796233"/>
            <a:ext cx="3315098" cy="1063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2800"/>
              </a:lnSpc>
              <a:defRPr sz="2700" i="1">
                <a:solidFill>
                  <a:srgbClr val="941751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250"/>
              <a:t>Good sampling makes your results more reliable, generalizable and valid.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Text 0"/>
          <p:cNvSpPr txBox="1"/>
          <p:nvPr/>
        </p:nvSpPr>
        <p:spPr>
          <a:xfrm>
            <a:off x="661491" y="1286868"/>
            <a:ext cx="8725145" cy="548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4583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>
                <a:solidFill>
                  <a:srgbClr val="941751"/>
                </a:solidFill>
              </a:rPr>
              <a:t>Sampling</a:t>
            </a:r>
            <a:r>
              <a:rPr sz="3667"/>
              <a:t>: Who or What Will You Study?</a:t>
            </a:r>
          </a:p>
        </p:txBody>
      </p:sp>
      <p:sp>
        <p:nvSpPr>
          <p:cNvPr id="2832" name="Text 1"/>
          <p:cNvSpPr txBox="1"/>
          <p:nvPr/>
        </p:nvSpPr>
        <p:spPr>
          <a:xfrm>
            <a:off x="661491" y="2349995"/>
            <a:ext cx="1968488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What is a Sample?</a:t>
            </a:r>
          </a:p>
        </p:txBody>
      </p:sp>
      <p:sp>
        <p:nvSpPr>
          <p:cNvPr id="2833" name="Text 2"/>
          <p:cNvSpPr txBox="1"/>
          <p:nvPr/>
        </p:nvSpPr>
        <p:spPr>
          <a:xfrm>
            <a:off x="661491" y="2834282"/>
            <a:ext cx="3315098" cy="687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A smaller subset of the population or items you're interested in.</a:t>
            </a:r>
          </a:p>
        </p:txBody>
      </p:sp>
      <p:sp>
        <p:nvSpPr>
          <p:cNvPr id="2834" name="Text 3"/>
          <p:cNvSpPr txBox="1"/>
          <p:nvPr/>
        </p:nvSpPr>
        <p:spPr>
          <a:xfrm>
            <a:off x="661491" y="3842014"/>
            <a:ext cx="3315098" cy="870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333"/>
              </a:lnSpc>
              <a:defRPr sz="2100">
                <a:latin typeface="Inter"/>
                <a:ea typeface="Inter"/>
                <a:cs typeface="Inter"/>
                <a:sym typeface="Inter"/>
              </a:defRPr>
            </a:pPr>
            <a:r>
              <a:rPr sz="1750"/>
              <a:t>Since studying everyone or everything is usually impossible, researchers select </a:t>
            </a:r>
            <a:r>
              <a:rPr sz="1750" b="1"/>
              <a:t>representatives</a:t>
            </a:r>
            <a:r>
              <a:rPr sz="1750"/>
              <a:t>.</a:t>
            </a:r>
          </a:p>
        </p:txBody>
      </p:sp>
      <p:sp>
        <p:nvSpPr>
          <p:cNvPr id="2835" name="Text 4"/>
          <p:cNvSpPr txBox="1"/>
          <p:nvPr/>
        </p:nvSpPr>
        <p:spPr>
          <a:xfrm>
            <a:off x="4444106" y="2349995"/>
            <a:ext cx="2652970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Key Sampling Questions</a:t>
            </a:r>
          </a:p>
        </p:txBody>
      </p:sp>
      <p:sp>
        <p:nvSpPr>
          <p:cNvPr id="2836" name="Text 5"/>
          <p:cNvSpPr txBox="1"/>
          <p:nvPr/>
        </p:nvSpPr>
        <p:spPr>
          <a:xfrm>
            <a:off x="4444106" y="2834282"/>
            <a:ext cx="3315098" cy="687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899" indent="-342899">
              <a:lnSpc>
                <a:spcPts val="2800"/>
              </a:lnSpc>
              <a:buSzPct val="100000"/>
              <a:buChar char="•"/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How many people/items will you include?</a:t>
            </a:r>
          </a:p>
        </p:txBody>
      </p:sp>
      <p:sp>
        <p:nvSpPr>
          <p:cNvPr id="2837" name="Text 6"/>
          <p:cNvSpPr txBox="1"/>
          <p:nvPr/>
        </p:nvSpPr>
        <p:spPr>
          <a:xfrm>
            <a:off x="4444106" y="3505200"/>
            <a:ext cx="2742417" cy="328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899" indent="-342899">
              <a:lnSpc>
                <a:spcPts val="2800"/>
              </a:lnSpc>
              <a:buSzPct val="100000"/>
              <a:buChar char="•"/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How will you select them?</a:t>
            </a:r>
          </a:p>
        </p:txBody>
      </p:sp>
      <p:sp>
        <p:nvSpPr>
          <p:cNvPr id="2838" name="Text 7"/>
          <p:cNvSpPr txBox="1"/>
          <p:nvPr/>
        </p:nvSpPr>
        <p:spPr>
          <a:xfrm>
            <a:off x="4444106" y="3873698"/>
            <a:ext cx="3315098" cy="687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899" indent="-342899">
              <a:lnSpc>
                <a:spcPts val="2800"/>
              </a:lnSpc>
              <a:buSzPct val="100000"/>
              <a:buChar char="•"/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Will your sample represent the larger group?</a:t>
            </a:r>
          </a:p>
        </p:txBody>
      </p:sp>
      <p:sp>
        <p:nvSpPr>
          <p:cNvPr id="2839" name="Text 8"/>
          <p:cNvSpPr txBox="1"/>
          <p:nvPr/>
        </p:nvSpPr>
        <p:spPr>
          <a:xfrm>
            <a:off x="4444106" y="4544616"/>
            <a:ext cx="3315098" cy="687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899" indent="-342899">
              <a:lnSpc>
                <a:spcPts val="2800"/>
              </a:lnSpc>
              <a:buSzPct val="100000"/>
              <a:buChar char="•"/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What potential biases might affect your selection?</a:t>
            </a:r>
          </a:p>
        </p:txBody>
      </p:sp>
      <p:pic>
        <p:nvPicPr>
          <p:cNvPr id="2840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6723" y="2373610"/>
            <a:ext cx="3315098" cy="2209999"/>
          </a:xfrm>
          <a:prstGeom prst="rect">
            <a:avLst/>
          </a:prstGeom>
          <a:ln w="12700">
            <a:miter lim="400000"/>
          </a:ln>
        </p:spPr>
      </p:pic>
      <p:sp>
        <p:nvSpPr>
          <p:cNvPr id="2841" name="Text 9"/>
          <p:cNvSpPr txBox="1"/>
          <p:nvPr/>
        </p:nvSpPr>
        <p:spPr>
          <a:xfrm>
            <a:off x="8226723" y="4796233"/>
            <a:ext cx="3315098" cy="1063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2800"/>
              </a:lnSpc>
              <a:defRPr sz="2700" i="1">
                <a:solidFill>
                  <a:srgbClr val="941751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250"/>
              <a:t>Good sampling makes your results more reliable, generalizable and valid.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2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2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35" grpId="0" animBg="1" advAuto="0"/>
      <p:bldP spid="2836" grpId="0" animBg="1" advAuto="0"/>
      <p:bldP spid="2837" grpId="0" animBg="1" advAuto="0"/>
      <p:bldP spid="2838" grpId="0" animBg="1" advAuto="0"/>
      <p:bldP spid="2839" grpId="0" animBg="1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3" name="Text 0"/>
          <p:cNvSpPr txBox="1"/>
          <p:nvPr/>
        </p:nvSpPr>
        <p:spPr>
          <a:xfrm>
            <a:off x="637382" y="500756"/>
            <a:ext cx="3919343" cy="613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300"/>
              </a:lnSpc>
              <a:defRPr sz="4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583"/>
              <a:t>Types of Sampling</a:t>
            </a:r>
          </a:p>
        </p:txBody>
      </p:sp>
      <p:pic>
        <p:nvPicPr>
          <p:cNvPr id="2844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0789" y="3207544"/>
            <a:ext cx="6550323" cy="6550323"/>
          </a:xfrm>
          <a:prstGeom prst="rect">
            <a:avLst/>
          </a:prstGeom>
          <a:ln w="12700">
            <a:miter lim="400000"/>
          </a:ln>
        </p:spPr>
      </p:pic>
      <p:pic>
        <p:nvPicPr>
          <p:cNvPr id="2845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2781" y="5350568"/>
            <a:ext cx="307282" cy="384077"/>
          </a:xfrm>
          <a:prstGeom prst="rect">
            <a:avLst/>
          </a:prstGeom>
          <a:ln w="12700">
            <a:miter lim="400000"/>
          </a:ln>
        </p:spPr>
      </p:pic>
      <p:pic>
        <p:nvPicPr>
          <p:cNvPr id="2846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0789" y="3207544"/>
            <a:ext cx="6550323" cy="6550323"/>
          </a:xfrm>
          <a:prstGeom prst="rect">
            <a:avLst/>
          </a:prstGeom>
          <a:ln w="12700">
            <a:miter lim="400000"/>
          </a:ln>
        </p:spPr>
      </p:pic>
      <p:pic>
        <p:nvPicPr>
          <p:cNvPr id="2847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2212" y="4021137"/>
            <a:ext cx="307282" cy="384077"/>
          </a:xfrm>
          <a:prstGeom prst="rect">
            <a:avLst/>
          </a:prstGeom>
          <a:ln w="12700">
            <a:miter lim="400000"/>
          </a:ln>
        </p:spPr>
      </p:pic>
      <p:pic>
        <p:nvPicPr>
          <p:cNvPr id="2848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0789" y="3207544"/>
            <a:ext cx="6550323" cy="6550323"/>
          </a:xfrm>
          <a:prstGeom prst="rect">
            <a:avLst/>
          </a:prstGeom>
          <a:ln w="12700">
            <a:miter lim="400000"/>
          </a:ln>
        </p:spPr>
      </p:pic>
      <p:pic>
        <p:nvPicPr>
          <p:cNvPr id="2849" name="Image 5" descr="Imag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2208" y="4021137"/>
            <a:ext cx="307282" cy="384077"/>
          </a:xfrm>
          <a:prstGeom prst="rect">
            <a:avLst/>
          </a:prstGeom>
          <a:ln w="12700">
            <a:miter lim="400000"/>
          </a:ln>
        </p:spPr>
      </p:pic>
      <p:pic>
        <p:nvPicPr>
          <p:cNvPr id="2850" name="Image 6" descr="Imag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20789" y="3207544"/>
            <a:ext cx="6550323" cy="6550323"/>
          </a:xfrm>
          <a:prstGeom prst="rect">
            <a:avLst/>
          </a:prstGeom>
          <a:ln w="12700">
            <a:miter lim="400000"/>
          </a:ln>
        </p:spPr>
      </p:pic>
      <p:pic>
        <p:nvPicPr>
          <p:cNvPr id="2851" name="Image 7" descr="Imag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11542" y="5350568"/>
            <a:ext cx="307282" cy="384077"/>
          </a:xfrm>
          <a:prstGeom prst="rect">
            <a:avLst/>
          </a:prstGeom>
          <a:ln w="12700">
            <a:miter lim="400000"/>
          </a:ln>
        </p:spPr>
      </p:pic>
      <p:sp>
        <p:nvSpPr>
          <p:cNvPr id="2852" name="Text 1"/>
          <p:cNvSpPr txBox="1"/>
          <p:nvPr/>
        </p:nvSpPr>
        <p:spPr>
          <a:xfrm>
            <a:off x="623483" y="2137386"/>
            <a:ext cx="2184893" cy="308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600"/>
              </a:lnSpc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00"/>
              <a:t>Random Sampling</a:t>
            </a:r>
          </a:p>
        </p:txBody>
      </p:sp>
      <p:sp>
        <p:nvSpPr>
          <p:cNvPr id="2853" name="Text 2"/>
          <p:cNvSpPr txBox="1"/>
          <p:nvPr/>
        </p:nvSpPr>
        <p:spPr>
          <a:xfrm>
            <a:off x="453768" y="2531085"/>
            <a:ext cx="2524423" cy="10057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700"/>
              </a:lnSpc>
              <a:defRPr sz="1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583"/>
              <a:t>Everyone has equal chance of selection (like drawing names from a hat).</a:t>
            </a:r>
          </a:p>
        </p:txBody>
      </p:sp>
      <p:sp>
        <p:nvSpPr>
          <p:cNvPr id="2854" name="Line"/>
          <p:cNvSpPr/>
          <p:nvPr/>
        </p:nvSpPr>
        <p:spPr>
          <a:xfrm flipV="1">
            <a:off x="6096000" y="900378"/>
            <a:ext cx="0" cy="5057245"/>
          </a:xfrm>
          <a:prstGeom prst="line">
            <a:avLst/>
          </a:prstGeom>
          <a:ln w="19050">
            <a:solidFill>
              <a:schemeClr val="accent1"/>
            </a:solidFill>
            <a:miter/>
          </a:ln>
        </p:spPr>
        <p:txBody>
          <a:bodyPr lIns="38099" rIns="38099"/>
          <a:lstStyle/>
          <a:p>
            <a:endParaRPr sz="1500"/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" name="Text 0"/>
          <p:cNvSpPr txBox="1"/>
          <p:nvPr/>
        </p:nvSpPr>
        <p:spPr>
          <a:xfrm>
            <a:off x="637382" y="500756"/>
            <a:ext cx="3919343" cy="613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300"/>
              </a:lnSpc>
              <a:defRPr sz="4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583"/>
              <a:t>Types of Sampling</a:t>
            </a:r>
          </a:p>
        </p:txBody>
      </p:sp>
      <p:pic>
        <p:nvPicPr>
          <p:cNvPr id="2857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0789" y="3207544"/>
            <a:ext cx="6550323" cy="6550323"/>
          </a:xfrm>
          <a:prstGeom prst="rect">
            <a:avLst/>
          </a:prstGeom>
          <a:ln w="12700">
            <a:miter lim="400000"/>
          </a:ln>
        </p:spPr>
      </p:pic>
      <p:pic>
        <p:nvPicPr>
          <p:cNvPr id="2858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2781" y="5350568"/>
            <a:ext cx="307282" cy="384077"/>
          </a:xfrm>
          <a:prstGeom prst="rect">
            <a:avLst/>
          </a:prstGeom>
          <a:ln w="12700">
            <a:miter lim="400000"/>
          </a:ln>
        </p:spPr>
      </p:pic>
      <p:pic>
        <p:nvPicPr>
          <p:cNvPr id="2859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0789" y="3207544"/>
            <a:ext cx="6550323" cy="6550323"/>
          </a:xfrm>
          <a:prstGeom prst="rect">
            <a:avLst/>
          </a:prstGeom>
          <a:ln w="12700">
            <a:miter lim="400000"/>
          </a:ln>
        </p:spPr>
      </p:pic>
      <p:pic>
        <p:nvPicPr>
          <p:cNvPr id="2860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2212" y="4021137"/>
            <a:ext cx="307282" cy="384077"/>
          </a:xfrm>
          <a:prstGeom prst="rect">
            <a:avLst/>
          </a:prstGeom>
          <a:ln w="12700">
            <a:miter lim="400000"/>
          </a:ln>
        </p:spPr>
      </p:pic>
      <p:pic>
        <p:nvPicPr>
          <p:cNvPr id="2861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0789" y="3207544"/>
            <a:ext cx="6550323" cy="6550323"/>
          </a:xfrm>
          <a:prstGeom prst="rect">
            <a:avLst/>
          </a:prstGeom>
          <a:ln w="12700">
            <a:miter lim="400000"/>
          </a:ln>
        </p:spPr>
      </p:pic>
      <p:pic>
        <p:nvPicPr>
          <p:cNvPr id="2862" name="Image 5" descr="Imag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2208" y="4021137"/>
            <a:ext cx="307282" cy="384077"/>
          </a:xfrm>
          <a:prstGeom prst="rect">
            <a:avLst/>
          </a:prstGeom>
          <a:ln w="12700">
            <a:miter lim="400000"/>
          </a:ln>
        </p:spPr>
      </p:pic>
      <p:pic>
        <p:nvPicPr>
          <p:cNvPr id="2863" name="Image 6" descr="Imag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20789" y="3207544"/>
            <a:ext cx="6550323" cy="6550323"/>
          </a:xfrm>
          <a:prstGeom prst="rect">
            <a:avLst/>
          </a:prstGeom>
          <a:ln w="12700">
            <a:miter lim="400000"/>
          </a:ln>
        </p:spPr>
      </p:pic>
      <p:pic>
        <p:nvPicPr>
          <p:cNvPr id="2864" name="Image 7" descr="Imag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11542" y="5350568"/>
            <a:ext cx="307282" cy="384077"/>
          </a:xfrm>
          <a:prstGeom prst="rect">
            <a:avLst/>
          </a:prstGeom>
          <a:ln w="12700">
            <a:miter lim="400000"/>
          </a:ln>
        </p:spPr>
      </p:pic>
      <p:sp>
        <p:nvSpPr>
          <p:cNvPr id="2865" name="Text 1"/>
          <p:cNvSpPr txBox="1"/>
          <p:nvPr/>
        </p:nvSpPr>
        <p:spPr>
          <a:xfrm>
            <a:off x="623483" y="2137386"/>
            <a:ext cx="2184893" cy="308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600"/>
              </a:lnSpc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00"/>
              <a:t>Random Sampling</a:t>
            </a:r>
          </a:p>
        </p:txBody>
      </p:sp>
      <p:sp>
        <p:nvSpPr>
          <p:cNvPr id="2866" name="Text 2"/>
          <p:cNvSpPr txBox="1"/>
          <p:nvPr/>
        </p:nvSpPr>
        <p:spPr>
          <a:xfrm>
            <a:off x="453768" y="2531085"/>
            <a:ext cx="2524423" cy="10057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700"/>
              </a:lnSpc>
              <a:defRPr sz="1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583"/>
              <a:t>Everyone has equal chance of selection (like drawing names from a hat).</a:t>
            </a:r>
          </a:p>
        </p:txBody>
      </p:sp>
      <p:sp>
        <p:nvSpPr>
          <p:cNvPr id="2867" name="Text 3"/>
          <p:cNvSpPr txBox="1"/>
          <p:nvPr/>
        </p:nvSpPr>
        <p:spPr>
          <a:xfrm>
            <a:off x="3546159" y="1434009"/>
            <a:ext cx="2301912" cy="308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600"/>
              </a:lnSpc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00"/>
              <a:t>Stratified Sampling</a:t>
            </a:r>
          </a:p>
        </p:txBody>
      </p:sp>
      <p:sp>
        <p:nvSpPr>
          <p:cNvPr id="2868" name="Text 4"/>
          <p:cNvSpPr txBox="1"/>
          <p:nvPr/>
        </p:nvSpPr>
        <p:spPr>
          <a:xfrm>
            <a:off x="3434954" y="1827709"/>
            <a:ext cx="2524423" cy="13519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700"/>
              </a:lnSpc>
              <a:defRPr sz="1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583"/>
              <a:t>Select from important subgroups to ensure representation (e.g., different grades).</a:t>
            </a:r>
          </a:p>
        </p:txBody>
      </p:sp>
      <p:sp>
        <p:nvSpPr>
          <p:cNvPr id="2869" name="Text 11"/>
          <p:cNvSpPr txBox="1"/>
          <p:nvPr/>
        </p:nvSpPr>
        <p:spPr>
          <a:xfrm>
            <a:off x="319664" y="4460665"/>
            <a:ext cx="1978106" cy="315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Cluster Sampling</a:t>
            </a:r>
          </a:p>
        </p:txBody>
      </p:sp>
      <p:sp>
        <p:nvSpPr>
          <p:cNvPr id="2870" name="Text 12"/>
          <p:cNvSpPr txBox="1"/>
          <p:nvPr/>
        </p:nvSpPr>
        <p:spPr>
          <a:xfrm>
            <a:off x="319664" y="4869347"/>
            <a:ext cx="2240278" cy="1040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583"/>
              <a:t>Randomly select entire groups (randomly choose 3 classrooms)</a:t>
            </a:r>
          </a:p>
        </p:txBody>
      </p:sp>
      <p:sp>
        <p:nvSpPr>
          <p:cNvPr id="2871" name="Line"/>
          <p:cNvSpPr/>
          <p:nvPr/>
        </p:nvSpPr>
        <p:spPr>
          <a:xfrm flipV="1">
            <a:off x="6096000" y="900378"/>
            <a:ext cx="0" cy="5057245"/>
          </a:xfrm>
          <a:prstGeom prst="line">
            <a:avLst/>
          </a:prstGeom>
          <a:ln w="19050">
            <a:solidFill>
              <a:schemeClr val="accent1"/>
            </a:solidFill>
            <a:miter/>
          </a:ln>
        </p:spPr>
        <p:txBody>
          <a:bodyPr lIns="38099" rIns="38099"/>
          <a:lstStyle/>
          <a:p>
            <a:endParaRPr sz="1500"/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3" name="Text 0"/>
          <p:cNvSpPr txBox="1"/>
          <p:nvPr/>
        </p:nvSpPr>
        <p:spPr>
          <a:xfrm>
            <a:off x="637382" y="500756"/>
            <a:ext cx="3919343" cy="613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300"/>
              </a:lnSpc>
              <a:defRPr sz="4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583"/>
              <a:t>Types of Sampling</a:t>
            </a:r>
          </a:p>
        </p:txBody>
      </p:sp>
      <p:pic>
        <p:nvPicPr>
          <p:cNvPr id="2874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0789" y="3207544"/>
            <a:ext cx="6550323" cy="6550323"/>
          </a:xfrm>
          <a:prstGeom prst="rect">
            <a:avLst/>
          </a:prstGeom>
          <a:ln w="12700">
            <a:miter lim="400000"/>
          </a:ln>
        </p:spPr>
      </p:pic>
      <p:pic>
        <p:nvPicPr>
          <p:cNvPr id="2875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2781" y="5350568"/>
            <a:ext cx="307282" cy="384077"/>
          </a:xfrm>
          <a:prstGeom prst="rect">
            <a:avLst/>
          </a:prstGeom>
          <a:ln w="12700">
            <a:miter lim="400000"/>
          </a:ln>
        </p:spPr>
      </p:pic>
      <p:pic>
        <p:nvPicPr>
          <p:cNvPr id="2876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0789" y="3207544"/>
            <a:ext cx="6550323" cy="6550323"/>
          </a:xfrm>
          <a:prstGeom prst="rect">
            <a:avLst/>
          </a:prstGeom>
          <a:ln w="12700">
            <a:miter lim="400000"/>
          </a:ln>
        </p:spPr>
      </p:pic>
      <p:pic>
        <p:nvPicPr>
          <p:cNvPr id="2877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2212" y="4021137"/>
            <a:ext cx="307282" cy="384077"/>
          </a:xfrm>
          <a:prstGeom prst="rect">
            <a:avLst/>
          </a:prstGeom>
          <a:ln w="12700">
            <a:miter lim="400000"/>
          </a:ln>
        </p:spPr>
      </p:pic>
      <p:pic>
        <p:nvPicPr>
          <p:cNvPr id="2878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0789" y="3207544"/>
            <a:ext cx="6550323" cy="6550323"/>
          </a:xfrm>
          <a:prstGeom prst="rect">
            <a:avLst/>
          </a:prstGeom>
          <a:ln w="12700">
            <a:miter lim="400000"/>
          </a:ln>
        </p:spPr>
      </p:pic>
      <p:pic>
        <p:nvPicPr>
          <p:cNvPr id="2879" name="Image 5" descr="Imag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2208" y="4021137"/>
            <a:ext cx="307282" cy="384077"/>
          </a:xfrm>
          <a:prstGeom prst="rect">
            <a:avLst/>
          </a:prstGeom>
          <a:ln w="12700">
            <a:miter lim="400000"/>
          </a:ln>
        </p:spPr>
      </p:pic>
      <p:pic>
        <p:nvPicPr>
          <p:cNvPr id="2880" name="Image 6" descr="Imag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20789" y="3207544"/>
            <a:ext cx="6550323" cy="6550323"/>
          </a:xfrm>
          <a:prstGeom prst="rect">
            <a:avLst/>
          </a:prstGeom>
          <a:ln w="12700">
            <a:miter lim="400000"/>
          </a:ln>
        </p:spPr>
      </p:pic>
      <p:pic>
        <p:nvPicPr>
          <p:cNvPr id="2881" name="Image 7" descr="Imag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11542" y="5350568"/>
            <a:ext cx="307282" cy="384077"/>
          </a:xfrm>
          <a:prstGeom prst="rect">
            <a:avLst/>
          </a:prstGeom>
          <a:ln w="12700">
            <a:miter lim="400000"/>
          </a:ln>
        </p:spPr>
      </p:pic>
      <p:sp>
        <p:nvSpPr>
          <p:cNvPr id="2882" name="Text 1"/>
          <p:cNvSpPr txBox="1"/>
          <p:nvPr/>
        </p:nvSpPr>
        <p:spPr>
          <a:xfrm>
            <a:off x="623483" y="2137386"/>
            <a:ext cx="2184893" cy="308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600"/>
              </a:lnSpc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00"/>
              <a:t>Random Sampling</a:t>
            </a:r>
          </a:p>
        </p:txBody>
      </p:sp>
      <p:sp>
        <p:nvSpPr>
          <p:cNvPr id="2883" name="Text 2"/>
          <p:cNvSpPr txBox="1"/>
          <p:nvPr/>
        </p:nvSpPr>
        <p:spPr>
          <a:xfrm>
            <a:off x="453768" y="2531085"/>
            <a:ext cx="2524423" cy="10057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700"/>
              </a:lnSpc>
              <a:defRPr sz="1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583"/>
              <a:t>Everyone has equal chance of selection (like drawing names from a hat).</a:t>
            </a:r>
          </a:p>
        </p:txBody>
      </p:sp>
      <p:sp>
        <p:nvSpPr>
          <p:cNvPr id="2884" name="Text 3"/>
          <p:cNvSpPr txBox="1"/>
          <p:nvPr/>
        </p:nvSpPr>
        <p:spPr>
          <a:xfrm>
            <a:off x="3546159" y="1434009"/>
            <a:ext cx="2301912" cy="308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600"/>
              </a:lnSpc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00"/>
              <a:t>Stratified Sampling</a:t>
            </a:r>
          </a:p>
        </p:txBody>
      </p:sp>
      <p:sp>
        <p:nvSpPr>
          <p:cNvPr id="2885" name="Text 4"/>
          <p:cNvSpPr txBox="1"/>
          <p:nvPr/>
        </p:nvSpPr>
        <p:spPr>
          <a:xfrm>
            <a:off x="3434954" y="1827709"/>
            <a:ext cx="2524423" cy="13519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700"/>
              </a:lnSpc>
              <a:defRPr sz="1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583"/>
              <a:t>Select from important subgroups to ensure representation (e.g., different grades).</a:t>
            </a:r>
          </a:p>
        </p:txBody>
      </p:sp>
      <p:sp>
        <p:nvSpPr>
          <p:cNvPr id="2886" name="Text 5"/>
          <p:cNvSpPr txBox="1"/>
          <p:nvPr/>
        </p:nvSpPr>
        <p:spPr>
          <a:xfrm>
            <a:off x="6489399" y="2016621"/>
            <a:ext cx="2709075" cy="308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600"/>
              </a:lnSpc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00"/>
              <a:t>Convenience Sampling</a:t>
            </a:r>
          </a:p>
        </p:txBody>
      </p:sp>
      <p:sp>
        <p:nvSpPr>
          <p:cNvPr id="2887" name="Text 6"/>
          <p:cNvSpPr txBox="1"/>
          <p:nvPr/>
        </p:nvSpPr>
        <p:spPr>
          <a:xfrm>
            <a:off x="6581775" y="2410321"/>
            <a:ext cx="2524423" cy="659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700"/>
              </a:lnSpc>
              <a:defRPr sz="1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583"/>
              <a:t>Select whoever is easiest to reach (like your own class).</a:t>
            </a:r>
          </a:p>
        </p:txBody>
      </p:sp>
      <p:sp>
        <p:nvSpPr>
          <p:cNvPr id="2888" name="Text 7"/>
          <p:cNvSpPr txBox="1"/>
          <p:nvPr/>
        </p:nvSpPr>
        <p:spPr>
          <a:xfrm>
            <a:off x="9089821" y="3109965"/>
            <a:ext cx="2383666" cy="308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600"/>
              </a:lnSpc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00"/>
              <a:t>Purposive Sampling</a:t>
            </a:r>
          </a:p>
        </p:txBody>
      </p:sp>
      <p:sp>
        <p:nvSpPr>
          <p:cNvPr id="2889" name="Text 8"/>
          <p:cNvSpPr txBox="1"/>
          <p:nvPr/>
        </p:nvSpPr>
        <p:spPr>
          <a:xfrm>
            <a:off x="9019393" y="3503664"/>
            <a:ext cx="2524523" cy="10057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700"/>
              </a:lnSpc>
              <a:defRPr sz="1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583"/>
              <a:t>Deliberately select specific cases based on research needs.</a:t>
            </a:r>
          </a:p>
        </p:txBody>
      </p:sp>
      <p:sp>
        <p:nvSpPr>
          <p:cNvPr id="2890" name="Text 11"/>
          <p:cNvSpPr txBox="1"/>
          <p:nvPr/>
        </p:nvSpPr>
        <p:spPr>
          <a:xfrm>
            <a:off x="319664" y="4460665"/>
            <a:ext cx="1978106" cy="315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Cluster Sampling</a:t>
            </a:r>
          </a:p>
        </p:txBody>
      </p:sp>
      <p:sp>
        <p:nvSpPr>
          <p:cNvPr id="2891" name="Text 12"/>
          <p:cNvSpPr txBox="1"/>
          <p:nvPr/>
        </p:nvSpPr>
        <p:spPr>
          <a:xfrm>
            <a:off x="319664" y="4869347"/>
            <a:ext cx="2240278" cy="1040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583"/>
              <a:t>Randomly select entire groups (randomly choose 3 classrooms)</a:t>
            </a:r>
          </a:p>
        </p:txBody>
      </p:sp>
      <p:sp>
        <p:nvSpPr>
          <p:cNvPr id="2892" name="Line"/>
          <p:cNvSpPr/>
          <p:nvPr/>
        </p:nvSpPr>
        <p:spPr>
          <a:xfrm flipV="1">
            <a:off x="6096000" y="900378"/>
            <a:ext cx="0" cy="5057245"/>
          </a:xfrm>
          <a:prstGeom prst="line">
            <a:avLst/>
          </a:prstGeom>
          <a:ln w="19050">
            <a:solidFill>
              <a:schemeClr val="accent1"/>
            </a:solidFill>
            <a:miter/>
          </a:ln>
        </p:spPr>
        <p:txBody>
          <a:bodyPr lIns="38099" rIns="38099"/>
          <a:lstStyle/>
          <a:p>
            <a:endParaRPr sz="1500"/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4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78848" cy="6419850"/>
          </a:xfrm>
          <a:prstGeom prst="rect">
            <a:avLst/>
          </a:prstGeom>
          <a:ln w="12700">
            <a:miter lim="400000"/>
          </a:ln>
        </p:spPr>
      </p:pic>
      <p:sp>
        <p:nvSpPr>
          <p:cNvPr id="2895" name="Text 0"/>
          <p:cNvSpPr txBox="1"/>
          <p:nvPr/>
        </p:nvSpPr>
        <p:spPr>
          <a:xfrm>
            <a:off x="5131792" y="439837"/>
            <a:ext cx="3597139" cy="54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700"/>
              </a:lnSpc>
              <a:defRPr sz="37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083"/>
              <a:t>Sampling Examples</a:t>
            </a:r>
          </a:p>
        </p:txBody>
      </p:sp>
      <p:sp>
        <p:nvSpPr>
          <p:cNvPr id="2896" name="Shape 1"/>
          <p:cNvSpPr/>
          <p:nvPr/>
        </p:nvSpPr>
        <p:spPr>
          <a:xfrm>
            <a:off x="5131792" y="1179512"/>
            <a:ext cx="6500417" cy="1190130"/>
          </a:xfrm>
          <a:prstGeom prst="roundRect">
            <a:avLst>
              <a:gd name="adj" fmla="val 5645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000"/>
            </a:pPr>
            <a:endParaRPr sz="1667"/>
          </a:p>
        </p:txBody>
      </p:sp>
      <p:sp>
        <p:nvSpPr>
          <p:cNvPr id="2897" name="Text 2"/>
          <p:cNvSpPr txBox="1"/>
          <p:nvPr/>
        </p:nvSpPr>
        <p:spPr>
          <a:xfrm>
            <a:off x="5298083" y="1345804"/>
            <a:ext cx="681277" cy="269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667"/>
              <a:t>Survey</a:t>
            </a:r>
          </a:p>
        </p:txBody>
      </p:sp>
      <p:sp>
        <p:nvSpPr>
          <p:cNvPr id="2898" name="Text 3"/>
          <p:cNvSpPr txBox="1"/>
          <p:nvPr/>
        </p:nvSpPr>
        <p:spPr>
          <a:xfrm>
            <a:off x="5298083" y="1691581"/>
            <a:ext cx="6167835" cy="595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400"/>
              </a:lnSpc>
              <a:defRPr sz="20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667"/>
              <a:t>Instead of surveying all 1,200 students in a school, randomly select 120 students across all grade levels.</a:t>
            </a:r>
          </a:p>
        </p:txBody>
      </p:sp>
      <p:sp>
        <p:nvSpPr>
          <p:cNvPr id="2899" name="Shape 4"/>
          <p:cNvSpPr/>
          <p:nvPr/>
        </p:nvSpPr>
        <p:spPr>
          <a:xfrm>
            <a:off x="5131792" y="2529582"/>
            <a:ext cx="6500417" cy="1190130"/>
          </a:xfrm>
          <a:prstGeom prst="roundRect">
            <a:avLst>
              <a:gd name="adj" fmla="val 5645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000"/>
            </a:pPr>
            <a:endParaRPr sz="1667"/>
          </a:p>
        </p:txBody>
      </p:sp>
      <p:sp>
        <p:nvSpPr>
          <p:cNvPr id="2900" name="Text 5"/>
          <p:cNvSpPr txBox="1"/>
          <p:nvPr/>
        </p:nvSpPr>
        <p:spPr>
          <a:xfrm>
            <a:off x="5298083" y="2695872"/>
            <a:ext cx="1729641" cy="269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667"/>
              <a:t>Plant Experiment</a:t>
            </a:r>
          </a:p>
        </p:txBody>
      </p:sp>
      <p:sp>
        <p:nvSpPr>
          <p:cNvPr id="2901" name="Text 6"/>
          <p:cNvSpPr txBox="1"/>
          <p:nvPr/>
        </p:nvSpPr>
        <p:spPr>
          <a:xfrm>
            <a:off x="5298083" y="3041649"/>
            <a:ext cx="6167835" cy="595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400"/>
              </a:lnSpc>
              <a:defRPr sz="20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667"/>
              <a:t>Use 30 plants of the same species and size, randomly assigning 15 to experimental and 15 to control groups.</a:t>
            </a:r>
          </a:p>
        </p:txBody>
      </p:sp>
      <p:sp>
        <p:nvSpPr>
          <p:cNvPr id="2902" name="Shape 7"/>
          <p:cNvSpPr/>
          <p:nvPr/>
        </p:nvSpPr>
        <p:spPr>
          <a:xfrm>
            <a:off x="5131792" y="3879652"/>
            <a:ext cx="6500417" cy="1190130"/>
          </a:xfrm>
          <a:prstGeom prst="roundRect">
            <a:avLst>
              <a:gd name="adj" fmla="val 5645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000"/>
            </a:pPr>
            <a:endParaRPr sz="1667"/>
          </a:p>
        </p:txBody>
      </p:sp>
      <p:sp>
        <p:nvSpPr>
          <p:cNvPr id="2903" name="Text 8"/>
          <p:cNvSpPr txBox="1"/>
          <p:nvPr/>
        </p:nvSpPr>
        <p:spPr>
          <a:xfrm>
            <a:off x="5298083" y="4045943"/>
            <a:ext cx="1215076" cy="269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667"/>
              <a:t>Observation</a:t>
            </a:r>
          </a:p>
        </p:txBody>
      </p:sp>
      <p:sp>
        <p:nvSpPr>
          <p:cNvPr id="2904" name="Text 9"/>
          <p:cNvSpPr txBox="1"/>
          <p:nvPr/>
        </p:nvSpPr>
        <p:spPr>
          <a:xfrm>
            <a:off x="5298083" y="4391718"/>
            <a:ext cx="6167835" cy="595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400"/>
              </a:lnSpc>
              <a:defRPr sz="20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667"/>
              <a:t>Instead of observing a park 24/7, sample time periods by observing for 1 hour on mornings and 1 hour on afternoons.</a:t>
            </a:r>
          </a:p>
        </p:txBody>
      </p:sp>
      <p:sp>
        <p:nvSpPr>
          <p:cNvPr id="2905" name="Shape 10"/>
          <p:cNvSpPr/>
          <p:nvPr/>
        </p:nvSpPr>
        <p:spPr>
          <a:xfrm>
            <a:off x="5131792" y="5229721"/>
            <a:ext cx="6500417" cy="1190129"/>
          </a:xfrm>
          <a:prstGeom prst="roundRect">
            <a:avLst>
              <a:gd name="adj" fmla="val 5645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000"/>
            </a:pPr>
            <a:endParaRPr sz="1667"/>
          </a:p>
        </p:txBody>
      </p:sp>
      <p:sp>
        <p:nvSpPr>
          <p:cNvPr id="2906" name="Text 11"/>
          <p:cNvSpPr txBox="1"/>
          <p:nvPr/>
        </p:nvSpPr>
        <p:spPr>
          <a:xfrm>
            <a:off x="5298082" y="5396012"/>
            <a:ext cx="1939634" cy="269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667"/>
              <a:t>Historical Research</a:t>
            </a:r>
          </a:p>
        </p:txBody>
      </p:sp>
      <p:sp>
        <p:nvSpPr>
          <p:cNvPr id="2907" name="Text 12"/>
          <p:cNvSpPr txBox="1"/>
          <p:nvPr/>
        </p:nvSpPr>
        <p:spPr>
          <a:xfrm>
            <a:off x="5298083" y="5741788"/>
            <a:ext cx="6167835" cy="595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400"/>
              </a:lnSpc>
              <a:defRPr sz="20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667"/>
              <a:t>Instead of reading every newspaper from 100 years, sample by examining the first issue of each month from selected years.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9" name="Text 0"/>
          <p:cNvSpPr txBox="1"/>
          <p:nvPr/>
        </p:nvSpPr>
        <p:spPr>
          <a:xfrm>
            <a:off x="661491" y="1135658"/>
            <a:ext cx="3100208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Sampling Bias</a:t>
            </a:r>
          </a:p>
        </p:txBody>
      </p:sp>
      <p:sp>
        <p:nvSpPr>
          <p:cNvPr id="2910" name="Text 1"/>
          <p:cNvSpPr txBox="1"/>
          <p:nvPr/>
        </p:nvSpPr>
        <p:spPr>
          <a:xfrm>
            <a:off x="661491" y="2198786"/>
            <a:ext cx="2428550" cy="310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750"/>
              <a:t>What is Sampling Bias?</a:t>
            </a:r>
          </a:p>
        </p:txBody>
      </p:sp>
      <p:sp>
        <p:nvSpPr>
          <p:cNvPr id="2911" name="Text 2"/>
          <p:cNvSpPr txBox="1"/>
          <p:nvPr/>
        </p:nvSpPr>
        <p:spPr>
          <a:xfrm>
            <a:off x="661491" y="2683073"/>
            <a:ext cx="3315098" cy="1046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 dirty="0"/>
              <a:t>When your sample doesn't fairly represent the population you're studying.</a:t>
            </a:r>
          </a:p>
        </p:txBody>
      </p:sp>
      <p:sp>
        <p:nvSpPr>
          <p:cNvPr id="2912" name="Text 3"/>
          <p:cNvSpPr txBox="1"/>
          <p:nvPr/>
        </p:nvSpPr>
        <p:spPr>
          <a:xfrm>
            <a:off x="661491" y="3760391"/>
            <a:ext cx="3315098" cy="687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This can skew results and lead to incorrect conclusions.</a:t>
            </a:r>
          </a:p>
        </p:txBody>
      </p:sp>
      <p:sp>
        <p:nvSpPr>
          <p:cNvPr id="2913" name="Text 4"/>
          <p:cNvSpPr txBox="1"/>
          <p:nvPr/>
        </p:nvSpPr>
        <p:spPr>
          <a:xfrm>
            <a:off x="4444106" y="2198786"/>
            <a:ext cx="902491" cy="310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750"/>
              <a:t>Example</a:t>
            </a:r>
          </a:p>
        </p:txBody>
      </p:sp>
      <p:sp>
        <p:nvSpPr>
          <p:cNvPr id="2914" name="Text 5"/>
          <p:cNvSpPr txBox="1"/>
          <p:nvPr/>
        </p:nvSpPr>
        <p:spPr>
          <a:xfrm>
            <a:off x="4444106" y="2683073"/>
            <a:ext cx="3315098" cy="1405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Surveying only cooking club members about school lunch preferences would give biased results.</a:t>
            </a:r>
          </a:p>
        </p:txBody>
      </p:sp>
      <p:sp>
        <p:nvSpPr>
          <p:cNvPr id="2915" name="Text 6"/>
          <p:cNvSpPr txBox="1"/>
          <p:nvPr/>
        </p:nvSpPr>
        <p:spPr>
          <a:xfrm>
            <a:off x="4444106" y="4062809"/>
            <a:ext cx="3315098" cy="1046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These students likely have different food interests than the general student body.</a:t>
            </a:r>
          </a:p>
        </p:txBody>
      </p:sp>
      <p:pic>
        <p:nvPicPr>
          <p:cNvPr id="2916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6723" y="2222401"/>
            <a:ext cx="3315098" cy="2209999"/>
          </a:xfrm>
          <a:prstGeom prst="rect">
            <a:avLst/>
          </a:prstGeom>
          <a:ln w="12700">
            <a:miter lim="400000"/>
          </a:ln>
        </p:spPr>
      </p:pic>
      <p:sp>
        <p:nvSpPr>
          <p:cNvPr id="2917" name="Text 7"/>
          <p:cNvSpPr txBox="1"/>
          <p:nvPr/>
        </p:nvSpPr>
        <p:spPr>
          <a:xfrm>
            <a:off x="8226723" y="4645024"/>
            <a:ext cx="3315098" cy="1046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2800"/>
              </a:lnSpc>
              <a:defRPr sz="2100" i="1">
                <a:solidFill>
                  <a:srgbClr val="941751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Even with limited resources, try to broaden your sample to reduce obvious biases.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9" name="Image 0" descr="Image 0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729044"/>
            <a:ext cx="12192000" cy="2362698"/>
          </a:xfrm>
          <a:prstGeom prst="rect">
            <a:avLst/>
          </a:prstGeom>
          <a:ln w="12700">
            <a:miter lim="400000"/>
          </a:ln>
        </p:spPr>
      </p:pic>
      <p:sp>
        <p:nvSpPr>
          <p:cNvPr id="2920" name="Text 0"/>
          <p:cNvSpPr txBox="1"/>
          <p:nvPr/>
        </p:nvSpPr>
        <p:spPr>
          <a:xfrm>
            <a:off x="670101" y="3091741"/>
            <a:ext cx="5180905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Practical Sampling Tips</a:t>
            </a:r>
          </a:p>
        </p:txBody>
      </p:sp>
      <p:sp>
        <p:nvSpPr>
          <p:cNvPr id="2921" name="Shape 1"/>
          <p:cNvSpPr/>
          <p:nvPr/>
        </p:nvSpPr>
        <p:spPr>
          <a:xfrm>
            <a:off x="661492" y="3779936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922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84" y="3815358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2923" name="Text 2"/>
          <p:cNvSpPr txBox="1"/>
          <p:nvPr/>
        </p:nvSpPr>
        <p:spPr>
          <a:xfrm>
            <a:off x="1275754" y="3844825"/>
            <a:ext cx="2228174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Broaden Your Reach</a:t>
            </a:r>
          </a:p>
        </p:txBody>
      </p:sp>
      <p:sp>
        <p:nvSpPr>
          <p:cNvPr id="2924" name="Text 3"/>
          <p:cNvSpPr txBox="1"/>
          <p:nvPr/>
        </p:nvSpPr>
        <p:spPr>
          <a:xfrm>
            <a:off x="1275754" y="4253507"/>
            <a:ext cx="4702177" cy="6819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583"/>
              <a:t>Instead of just surveying friends, include students from different classes or groups.</a:t>
            </a:r>
          </a:p>
        </p:txBody>
      </p:sp>
      <p:sp>
        <p:nvSpPr>
          <p:cNvPr id="2925" name="Shape 4"/>
          <p:cNvSpPr/>
          <p:nvPr/>
        </p:nvSpPr>
        <p:spPr>
          <a:xfrm>
            <a:off x="6214169" y="3779936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926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5061" y="3815358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2927" name="Text 5"/>
          <p:cNvSpPr txBox="1"/>
          <p:nvPr/>
        </p:nvSpPr>
        <p:spPr>
          <a:xfrm>
            <a:off x="6828433" y="3844825"/>
            <a:ext cx="2414122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Use Random Selection</a:t>
            </a:r>
          </a:p>
        </p:txBody>
      </p:sp>
      <p:sp>
        <p:nvSpPr>
          <p:cNvPr id="2928" name="Text 6"/>
          <p:cNvSpPr txBox="1"/>
          <p:nvPr/>
        </p:nvSpPr>
        <p:spPr>
          <a:xfrm>
            <a:off x="6828433" y="4253507"/>
            <a:ext cx="4702176" cy="6819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583"/>
              <a:t>When possible, use methods like drawing names or random number generators to select participants.</a:t>
            </a:r>
          </a:p>
        </p:txBody>
      </p:sp>
      <p:sp>
        <p:nvSpPr>
          <p:cNvPr id="2929" name="Shape 7"/>
          <p:cNvSpPr/>
          <p:nvPr/>
        </p:nvSpPr>
        <p:spPr>
          <a:xfrm>
            <a:off x="661492" y="5236369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930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384" y="5271789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2931" name="Text 8"/>
          <p:cNvSpPr txBox="1"/>
          <p:nvPr/>
        </p:nvSpPr>
        <p:spPr>
          <a:xfrm>
            <a:off x="1275754" y="5301257"/>
            <a:ext cx="1904367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Consider Balance</a:t>
            </a:r>
          </a:p>
        </p:txBody>
      </p:sp>
      <p:sp>
        <p:nvSpPr>
          <p:cNvPr id="2932" name="Text 9"/>
          <p:cNvSpPr txBox="1"/>
          <p:nvPr/>
        </p:nvSpPr>
        <p:spPr>
          <a:xfrm>
            <a:off x="1275754" y="5709940"/>
            <a:ext cx="4702177" cy="6819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583"/>
              <a:t>Try to include representation from important subgroups (different grades, genders, etc.).</a:t>
            </a:r>
          </a:p>
        </p:txBody>
      </p:sp>
      <p:sp>
        <p:nvSpPr>
          <p:cNvPr id="2933" name="Shape 10"/>
          <p:cNvSpPr/>
          <p:nvPr/>
        </p:nvSpPr>
        <p:spPr>
          <a:xfrm>
            <a:off x="6214169" y="5236369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934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5061" y="5271789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2935" name="Text 11"/>
          <p:cNvSpPr txBox="1"/>
          <p:nvPr/>
        </p:nvSpPr>
        <p:spPr>
          <a:xfrm>
            <a:off x="6828433" y="5301257"/>
            <a:ext cx="2763577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Acknowledge Limitations</a:t>
            </a:r>
          </a:p>
        </p:txBody>
      </p:sp>
      <p:sp>
        <p:nvSpPr>
          <p:cNvPr id="2936" name="Text 12"/>
          <p:cNvSpPr txBox="1"/>
          <p:nvPr/>
        </p:nvSpPr>
        <p:spPr>
          <a:xfrm>
            <a:off x="6828433" y="5709940"/>
            <a:ext cx="4702176" cy="6819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583"/>
              <a:t>Be transparent about who your sample represents and any potential biases.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8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0879" y="886320"/>
            <a:ext cx="3981120" cy="5971680"/>
          </a:xfrm>
          <a:prstGeom prst="rect">
            <a:avLst/>
          </a:prstGeom>
          <a:ln w="12700">
            <a:miter lim="400000"/>
          </a:ln>
        </p:spPr>
      </p:pic>
      <p:sp>
        <p:nvSpPr>
          <p:cNvPr id="2939" name="Text 0"/>
          <p:cNvSpPr txBox="1"/>
          <p:nvPr/>
        </p:nvSpPr>
        <p:spPr>
          <a:xfrm>
            <a:off x="599381" y="886320"/>
            <a:ext cx="4841069" cy="577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000"/>
              </a:lnSpc>
              <a:defRPr sz="4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333"/>
              <a:t>Materials and Resources</a:t>
            </a:r>
          </a:p>
        </p:txBody>
      </p:sp>
      <p:pic>
        <p:nvPicPr>
          <p:cNvPr id="2940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381" y="2497658"/>
            <a:ext cx="428129" cy="428130"/>
          </a:xfrm>
          <a:prstGeom prst="rect">
            <a:avLst/>
          </a:prstGeom>
          <a:ln w="12700">
            <a:miter lim="400000"/>
          </a:ln>
        </p:spPr>
      </p:pic>
      <p:sp>
        <p:nvSpPr>
          <p:cNvPr id="2941" name="Text 1"/>
          <p:cNvSpPr txBox="1"/>
          <p:nvPr/>
        </p:nvSpPr>
        <p:spPr>
          <a:xfrm>
            <a:off x="1325760" y="2573031"/>
            <a:ext cx="1476366" cy="32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27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250"/>
              <a:t>Equipment</a:t>
            </a:r>
          </a:p>
        </p:txBody>
      </p:sp>
      <p:sp>
        <p:nvSpPr>
          <p:cNvPr id="2942" name="Text 4"/>
          <p:cNvSpPr txBox="1"/>
          <p:nvPr/>
        </p:nvSpPr>
        <p:spPr>
          <a:xfrm>
            <a:off x="5743701" y="4332896"/>
            <a:ext cx="934551" cy="32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28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333"/>
              <a:t>People</a:t>
            </a:r>
          </a:p>
        </p:txBody>
      </p:sp>
      <p:pic>
        <p:nvPicPr>
          <p:cNvPr id="2943" name="Image 3" descr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9933" y="2497658"/>
            <a:ext cx="428130" cy="428130"/>
          </a:xfrm>
          <a:prstGeom prst="rect">
            <a:avLst/>
          </a:prstGeom>
          <a:ln w="12700">
            <a:miter lim="400000"/>
          </a:ln>
        </p:spPr>
      </p:pic>
      <p:sp>
        <p:nvSpPr>
          <p:cNvPr id="2944" name="Text 6"/>
          <p:cNvSpPr txBox="1"/>
          <p:nvPr/>
        </p:nvSpPr>
        <p:spPr>
          <a:xfrm>
            <a:off x="5685731" y="2430141"/>
            <a:ext cx="2417398" cy="64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28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333"/>
              <a:t>Access &amp; Permissions</a:t>
            </a:r>
          </a:p>
        </p:txBody>
      </p:sp>
      <p:pic>
        <p:nvPicPr>
          <p:cNvPr id="2945" name="Image 4" descr="Imag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381" y="4159943"/>
            <a:ext cx="428129" cy="428130"/>
          </a:xfrm>
          <a:prstGeom prst="rect">
            <a:avLst/>
          </a:prstGeom>
          <a:ln w="12700">
            <a:miter lim="400000"/>
          </a:ln>
        </p:spPr>
      </p:pic>
      <p:sp>
        <p:nvSpPr>
          <p:cNvPr id="2946" name="Text 8"/>
          <p:cNvSpPr txBox="1"/>
          <p:nvPr/>
        </p:nvSpPr>
        <p:spPr>
          <a:xfrm>
            <a:off x="1431593" y="4235317"/>
            <a:ext cx="948978" cy="32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27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250"/>
              <a:t>Budget</a:t>
            </a:r>
          </a:p>
        </p:txBody>
      </p:sp>
      <p:pic>
        <p:nvPicPr>
          <p:cNvPr id="2947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683" y="4258740"/>
            <a:ext cx="428130" cy="42813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3BBEA49-30EA-8D4C-AA29-9154D8F7B1D9}"/>
              </a:ext>
            </a:extLst>
          </p:cNvPr>
          <p:cNvSpPr txBox="1"/>
          <p:nvPr/>
        </p:nvSpPr>
        <p:spPr>
          <a:xfrm>
            <a:off x="166742" y="185564"/>
            <a:ext cx="2048178" cy="3128611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>
                <a:highlight>
                  <a:srgbClr val="FFFF00"/>
                </a:highlight>
              </a:rPr>
              <a:t>OUT​ </a:t>
            </a:r>
          </a:p>
          <a:p>
            <a:pPr algn="ctr"/>
            <a:endParaRPr lang="en-US" sz="2833" b="1" dirty="0">
              <a:highlight>
                <a:srgbClr val="FFFF00"/>
              </a:highlight>
            </a:endParaRPr>
          </a:p>
          <a:p>
            <a:pPr algn="ctr"/>
            <a:r>
              <a:rPr lang="en-US" sz="2833" b="1" dirty="0">
                <a:highlight>
                  <a:srgbClr val="FFFF00"/>
                </a:highlight>
              </a:rPr>
              <a:t>(or keep and mention </a:t>
            </a:r>
            <a:r>
              <a:rPr lang="en-US" sz="2833" b="1">
                <a:highlight>
                  <a:srgbClr val="FFFF00"/>
                </a:highlight>
              </a:rPr>
              <a:t>briefly)</a:t>
            </a:r>
            <a:endParaRPr lang="en-US" sz="2833" b="1" dirty="0">
              <a:highlight>
                <a:srgbClr val="FFFF00"/>
              </a:highlight>
            </a:endParaRP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9" name="Image 0" descr="Image 0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715367"/>
            <a:ext cx="12192000" cy="2362697"/>
          </a:xfrm>
          <a:prstGeom prst="rect">
            <a:avLst/>
          </a:prstGeom>
          <a:ln w="12700">
            <a:miter lim="400000"/>
          </a:ln>
        </p:spPr>
      </p:pic>
      <p:sp>
        <p:nvSpPr>
          <p:cNvPr id="2950" name="Text 0"/>
          <p:cNvSpPr txBox="1"/>
          <p:nvPr/>
        </p:nvSpPr>
        <p:spPr>
          <a:xfrm>
            <a:off x="661492" y="3056772"/>
            <a:ext cx="4477188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Equipment Planning</a:t>
            </a:r>
          </a:p>
        </p:txBody>
      </p:sp>
      <p:sp>
        <p:nvSpPr>
          <p:cNvPr id="2951" name="Shape 1"/>
          <p:cNvSpPr/>
          <p:nvPr/>
        </p:nvSpPr>
        <p:spPr>
          <a:xfrm>
            <a:off x="661492" y="3779936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952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84" y="3815358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2953" name="Text 2"/>
          <p:cNvSpPr txBox="1"/>
          <p:nvPr/>
        </p:nvSpPr>
        <p:spPr>
          <a:xfrm>
            <a:off x="1275754" y="3844825"/>
            <a:ext cx="1271182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Technology</a:t>
            </a:r>
          </a:p>
        </p:txBody>
      </p:sp>
      <p:sp>
        <p:nvSpPr>
          <p:cNvPr id="2954" name="Text 3"/>
          <p:cNvSpPr txBox="1"/>
          <p:nvPr/>
        </p:nvSpPr>
        <p:spPr>
          <a:xfrm>
            <a:off x="1275754" y="4253507"/>
            <a:ext cx="4702177" cy="676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Computers, tablets, cameras, recording devices, or specialized equipment.</a:t>
            </a:r>
          </a:p>
        </p:txBody>
      </p:sp>
      <p:sp>
        <p:nvSpPr>
          <p:cNvPr id="2955" name="Shape 4"/>
          <p:cNvSpPr/>
          <p:nvPr/>
        </p:nvSpPr>
        <p:spPr>
          <a:xfrm>
            <a:off x="6214169" y="3779936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956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5061" y="3815358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2957" name="Text 5"/>
          <p:cNvSpPr txBox="1"/>
          <p:nvPr/>
        </p:nvSpPr>
        <p:spPr>
          <a:xfrm>
            <a:off x="6828433" y="3844825"/>
            <a:ext cx="1396216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Lab Supplies</a:t>
            </a:r>
          </a:p>
        </p:txBody>
      </p:sp>
      <p:sp>
        <p:nvSpPr>
          <p:cNvPr id="2958" name="Text 6"/>
          <p:cNvSpPr txBox="1"/>
          <p:nvPr/>
        </p:nvSpPr>
        <p:spPr>
          <a:xfrm>
            <a:off x="6828433" y="4253507"/>
            <a:ext cx="4702176" cy="676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Chemicals, test tubes, measuring tools, or experiment-specific materials.</a:t>
            </a:r>
          </a:p>
        </p:txBody>
      </p:sp>
      <p:sp>
        <p:nvSpPr>
          <p:cNvPr id="2959" name="Shape 7"/>
          <p:cNvSpPr/>
          <p:nvPr/>
        </p:nvSpPr>
        <p:spPr>
          <a:xfrm>
            <a:off x="661492" y="5236369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960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384" y="5271789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2961" name="Text 8"/>
          <p:cNvSpPr txBox="1"/>
          <p:nvPr/>
        </p:nvSpPr>
        <p:spPr>
          <a:xfrm>
            <a:off x="1275754" y="5301257"/>
            <a:ext cx="2351606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Documentation Tools</a:t>
            </a:r>
          </a:p>
        </p:txBody>
      </p:sp>
      <p:sp>
        <p:nvSpPr>
          <p:cNvPr id="2962" name="Text 9"/>
          <p:cNvSpPr txBox="1"/>
          <p:nvPr/>
        </p:nvSpPr>
        <p:spPr>
          <a:xfrm>
            <a:off x="1275754" y="5709940"/>
            <a:ext cx="4702177" cy="676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Survey forms, observation checklists, interview guides, or data collection sheets.</a:t>
            </a:r>
          </a:p>
        </p:txBody>
      </p:sp>
      <p:sp>
        <p:nvSpPr>
          <p:cNvPr id="2963" name="Shape 10"/>
          <p:cNvSpPr/>
          <p:nvPr/>
        </p:nvSpPr>
        <p:spPr>
          <a:xfrm>
            <a:off x="6214169" y="5236369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964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5061" y="5271789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2965" name="Text 11"/>
          <p:cNvSpPr txBox="1"/>
          <p:nvPr/>
        </p:nvSpPr>
        <p:spPr>
          <a:xfrm>
            <a:off x="6828433" y="5301257"/>
            <a:ext cx="2896627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Measurement Instruments</a:t>
            </a:r>
          </a:p>
        </p:txBody>
      </p:sp>
      <p:sp>
        <p:nvSpPr>
          <p:cNvPr id="2966" name="Text 12"/>
          <p:cNvSpPr txBox="1"/>
          <p:nvPr/>
        </p:nvSpPr>
        <p:spPr>
          <a:xfrm>
            <a:off x="6828433" y="5709940"/>
            <a:ext cx="4702176" cy="676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Stopwatches, rulers, scales, thermometers, or other measuring devices.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49192B-B46E-DF1B-5CA9-7EC23F136BF2}"/>
              </a:ext>
            </a:extLst>
          </p:cNvPr>
          <p:cNvSpPr txBox="1"/>
          <p:nvPr/>
        </p:nvSpPr>
        <p:spPr>
          <a:xfrm>
            <a:off x="166742" y="185563"/>
            <a:ext cx="2048178" cy="948847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>
                <a:highlight>
                  <a:srgbClr val="FFFF00"/>
                </a:highlight>
              </a:rPr>
              <a:t>OUT​</a:t>
            </a: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2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2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2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3" grpId="0" animBg="1" advAuto="0"/>
      <p:bldP spid="2954" grpId="0" animBg="1" advAuto="0"/>
      <p:bldP spid="2957" grpId="0" animBg="1" advAuto="0"/>
      <p:bldP spid="2958" grpId="0" animBg="1" advAuto="0"/>
      <p:bldP spid="2961" grpId="0" animBg="1" advAuto="0"/>
      <p:bldP spid="2962" grpId="0" animBg="1" advAuto="0"/>
      <p:bldP spid="2965" grpId="0" animBg="1" advAuto="0"/>
      <p:bldP spid="2966" grpId="0" animBg="1" advAuto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8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13583" cy="6472622"/>
          </a:xfrm>
          <a:prstGeom prst="rect">
            <a:avLst/>
          </a:prstGeom>
          <a:ln w="12700">
            <a:miter lim="400000"/>
          </a:ln>
        </p:spPr>
      </p:pic>
      <p:sp>
        <p:nvSpPr>
          <p:cNvPr id="2969" name="Text 0"/>
          <p:cNvSpPr txBox="1"/>
          <p:nvPr/>
        </p:nvSpPr>
        <p:spPr>
          <a:xfrm>
            <a:off x="5153718" y="457001"/>
            <a:ext cx="4409862" cy="565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900"/>
              </a:lnSpc>
              <a:defRPr sz="39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250"/>
              <a:t>Budget Considerations</a:t>
            </a:r>
          </a:p>
        </p:txBody>
      </p:sp>
      <p:sp>
        <p:nvSpPr>
          <p:cNvPr id="2970" name="Shape 1"/>
          <p:cNvSpPr/>
          <p:nvPr/>
        </p:nvSpPr>
        <p:spPr>
          <a:xfrm>
            <a:off x="5153718" y="1225649"/>
            <a:ext cx="6456562" cy="1236267"/>
          </a:xfrm>
          <a:prstGeom prst="roundRect">
            <a:avLst>
              <a:gd name="adj" fmla="val 5647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000"/>
            </a:pPr>
            <a:endParaRPr sz="1667"/>
          </a:p>
        </p:txBody>
      </p:sp>
      <p:sp>
        <p:nvSpPr>
          <p:cNvPr id="2971" name="Text 2"/>
          <p:cNvSpPr txBox="1"/>
          <p:nvPr/>
        </p:nvSpPr>
        <p:spPr>
          <a:xfrm>
            <a:off x="5326260" y="1398190"/>
            <a:ext cx="2103140" cy="276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sz="19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583"/>
              <a:t>Low-Cost Alternatives</a:t>
            </a:r>
          </a:p>
        </p:txBody>
      </p:sp>
      <p:sp>
        <p:nvSpPr>
          <p:cNvPr id="2972" name="Text 3"/>
          <p:cNvSpPr txBox="1"/>
          <p:nvPr/>
        </p:nvSpPr>
        <p:spPr>
          <a:xfrm>
            <a:off x="5326260" y="1757561"/>
            <a:ext cx="6111480" cy="617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20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667"/>
              <a:t>Look for free or inexpensive substitutes for costly materials. Borrow equipment when possible.</a:t>
            </a:r>
          </a:p>
        </p:txBody>
      </p:sp>
      <p:sp>
        <p:nvSpPr>
          <p:cNvPr id="2973" name="Shape 4"/>
          <p:cNvSpPr/>
          <p:nvPr/>
        </p:nvSpPr>
        <p:spPr>
          <a:xfrm>
            <a:off x="5153718" y="2628107"/>
            <a:ext cx="6456562" cy="970360"/>
          </a:xfrm>
          <a:prstGeom prst="roundRect">
            <a:avLst>
              <a:gd name="adj" fmla="val 7194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000"/>
            </a:pPr>
            <a:endParaRPr sz="1667"/>
          </a:p>
        </p:txBody>
      </p:sp>
      <p:sp>
        <p:nvSpPr>
          <p:cNvPr id="2974" name="Text 5"/>
          <p:cNvSpPr txBox="1"/>
          <p:nvPr/>
        </p:nvSpPr>
        <p:spPr>
          <a:xfrm>
            <a:off x="5287142" y="2720771"/>
            <a:ext cx="1732847" cy="279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sz="2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667"/>
              <a:t>School Resources</a:t>
            </a:r>
          </a:p>
        </p:txBody>
      </p:sp>
      <p:sp>
        <p:nvSpPr>
          <p:cNvPr id="2975" name="Text 6"/>
          <p:cNvSpPr txBox="1"/>
          <p:nvPr/>
        </p:nvSpPr>
        <p:spPr>
          <a:xfrm>
            <a:off x="5298039" y="3027064"/>
            <a:ext cx="5823163" cy="617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20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667"/>
              <a:t>Check what supplies your school already has available for student projects.</a:t>
            </a:r>
          </a:p>
        </p:txBody>
      </p:sp>
      <p:sp>
        <p:nvSpPr>
          <p:cNvPr id="2976" name="Shape 7"/>
          <p:cNvSpPr/>
          <p:nvPr/>
        </p:nvSpPr>
        <p:spPr>
          <a:xfrm>
            <a:off x="5153718" y="3764656"/>
            <a:ext cx="6456562" cy="1236267"/>
          </a:xfrm>
          <a:prstGeom prst="roundRect">
            <a:avLst>
              <a:gd name="adj" fmla="val 5647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000"/>
            </a:pPr>
            <a:endParaRPr sz="1667"/>
          </a:p>
        </p:txBody>
      </p:sp>
      <p:sp>
        <p:nvSpPr>
          <p:cNvPr id="2977" name="Text 8"/>
          <p:cNvSpPr txBox="1"/>
          <p:nvPr/>
        </p:nvSpPr>
        <p:spPr>
          <a:xfrm>
            <a:off x="5326261" y="3937198"/>
            <a:ext cx="1675139" cy="279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sz="2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667"/>
              <a:t>Funding Options</a:t>
            </a:r>
          </a:p>
        </p:txBody>
      </p:sp>
      <p:sp>
        <p:nvSpPr>
          <p:cNvPr id="2978" name="Text 9"/>
          <p:cNvSpPr txBox="1"/>
          <p:nvPr/>
        </p:nvSpPr>
        <p:spPr>
          <a:xfrm>
            <a:off x="5326260" y="4296569"/>
            <a:ext cx="6111480" cy="617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20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667"/>
              <a:t>Consider mini-grants from school clubs, PTAs, or community organizations for special projects.</a:t>
            </a:r>
          </a:p>
        </p:txBody>
      </p:sp>
      <p:sp>
        <p:nvSpPr>
          <p:cNvPr id="2979" name="Shape 10"/>
          <p:cNvSpPr/>
          <p:nvPr/>
        </p:nvSpPr>
        <p:spPr>
          <a:xfrm>
            <a:off x="5153718" y="5167114"/>
            <a:ext cx="6456562" cy="1236267"/>
          </a:xfrm>
          <a:prstGeom prst="roundRect">
            <a:avLst>
              <a:gd name="adj" fmla="val 5647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000"/>
            </a:pPr>
            <a:endParaRPr sz="1667"/>
          </a:p>
        </p:txBody>
      </p:sp>
      <p:sp>
        <p:nvSpPr>
          <p:cNvPr id="2980" name="Text 11"/>
          <p:cNvSpPr txBox="1"/>
          <p:nvPr/>
        </p:nvSpPr>
        <p:spPr>
          <a:xfrm>
            <a:off x="5326260" y="5339656"/>
            <a:ext cx="1947649" cy="279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sz="2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667"/>
              <a:t>Scale Appropriately</a:t>
            </a:r>
          </a:p>
        </p:txBody>
      </p:sp>
      <p:sp>
        <p:nvSpPr>
          <p:cNvPr id="2981" name="Text 12"/>
          <p:cNvSpPr txBox="1"/>
          <p:nvPr/>
        </p:nvSpPr>
        <p:spPr>
          <a:xfrm>
            <a:off x="5326260" y="5699025"/>
            <a:ext cx="6111480" cy="617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20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667"/>
              <a:t>Adjust your project scope to match available resources rather than overextending.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7ACA19-21EB-AF7C-5A0E-D6C1D7E649DC}"/>
              </a:ext>
            </a:extLst>
          </p:cNvPr>
          <p:cNvSpPr txBox="1"/>
          <p:nvPr/>
        </p:nvSpPr>
        <p:spPr>
          <a:xfrm>
            <a:off x="166742" y="185563"/>
            <a:ext cx="2048178" cy="948847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>
                <a:highlight>
                  <a:srgbClr val="FFFF00"/>
                </a:highlight>
              </a:rPr>
              <a:t>OUT​</a:t>
            </a: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3" name="Image 0" descr="Image 0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12192000" cy="2362697"/>
          </a:xfrm>
          <a:prstGeom prst="rect">
            <a:avLst/>
          </a:prstGeom>
          <a:ln w="12700">
            <a:miter lim="400000"/>
          </a:ln>
        </p:spPr>
      </p:pic>
      <p:sp>
        <p:nvSpPr>
          <p:cNvPr id="2984" name="Text 0"/>
          <p:cNvSpPr txBox="1"/>
          <p:nvPr/>
        </p:nvSpPr>
        <p:spPr>
          <a:xfrm>
            <a:off x="661492" y="2905819"/>
            <a:ext cx="5172891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Access and Permissions</a:t>
            </a:r>
          </a:p>
        </p:txBody>
      </p:sp>
      <p:sp>
        <p:nvSpPr>
          <p:cNvPr id="2985" name="Shape 1"/>
          <p:cNvSpPr/>
          <p:nvPr/>
        </p:nvSpPr>
        <p:spPr>
          <a:xfrm>
            <a:off x="661492" y="3779936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986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84" y="3815358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2987" name="Text 2"/>
          <p:cNvSpPr txBox="1"/>
          <p:nvPr/>
        </p:nvSpPr>
        <p:spPr>
          <a:xfrm>
            <a:off x="1275754" y="3844825"/>
            <a:ext cx="1710405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Physical Spaces</a:t>
            </a:r>
          </a:p>
        </p:txBody>
      </p:sp>
      <p:sp>
        <p:nvSpPr>
          <p:cNvPr id="2988" name="Text 3"/>
          <p:cNvSpPr txBox="1"/>
          <p:nvPr/>
        </p:nvSpPr>
        <p:spPr>
          <a:xfrm>
            <a:off x="1275754" y="4253507"/>
            <a:ext cx="4702177" cy="690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Permission to use classrooms, labs, libraries, or community spaces for your research.</a:t>
            </a:r>
          </a:p>
        </p:txBody>
      </p:sp>
      <p:sp>
        <p:nvSpPr>
          <p:cNvPr id="2989" name="Shape 4"/>
          <p:cNvSpPr/>
          <p:nvPr/>
        </p:nvSpPr>
        <p:spPr>
          <a:xfrm>
            <a:off x="6214169" y="3779936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990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5061" y="3815358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2991" name="Text 5"/>
          <p:cNvSpPr txBox="1"/>
          <p:nvPr/>
        </p:nvSpPr>
        <p:spPr>
          <a:xfrm>
            <a:off x="6828433" y="3844825"/>
            <a:ext cx="2109552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Information Access</a:t>
            </a:r>
          </a:p>
        </p:txBody>
      </p:sp>
      <p:sp>
        <p:nvSpPr>
          <p:cNvPr id="2992" name="Text 6"/>
          <p:cNvSpPr txBox="1"/>
          <p:nvPr/>
        </p:nvSpPr>
        <p:spPr>
          <a:xfrm>
            <a:off x="6828433" y="4253507"/>
            <a:ext cx="4702176" cy="690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Approval to use school records, databases, or other information sources.</a:t>
            </a:r>
          </a:p>
        </p:txBody>
      </p:sp>
      <p:sp>
        <p:nvSpPr>
          <p:cNvPr id="2993" name="Shape 7"/>
          <p:cNvSpPr/>
          <p:nvPr/>
        </p:nvSpPr>
        <p:spPr>
          <a:xfrm>
            <a:off x="661492" y="5236369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994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384" y="5271789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2995" name="Text 8"/>
          <p:cNvSpPr txBox="1"/>
          <p:nvPr/>
        </p:nvSpPr>
        <p:spPr>
          <a:xfrm>
            <a:off x="1275754" y="5301257"/>
            <a:ext cx="2172069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Participant Consent</a:t>
            </a:r>
          </a:p>
        </p:txBody>
      </p:sp>
      <p:sp>
        <p:nvSpPr>
          <p:cNvPr id="2996" name="Text 9"/>
          <p:cNvSpPr txBox="1"/>
          <p:nvPr/>
        </p:nvSpPr>
        <p:spPr>
          <a:xfrm>
            <a:off x="1275754" y="5709940"/>
            <a:ext cx="4702177" cy="690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Permission from people (and parents for minors) to participate in your study.</a:t>
            </a:r>
          </a:p>
        </p:txBody>
      </p:sp>
      <p:sp>
        <p:nvSpPr>
          <p:cNvPr id="2997" name="Shape 10"/>
          <p:cNvSpPr/>
          <p:nvPr/>
        </p:nvSpPr>
        <p:spPr>
          <a:xfrm>
            <a:off x="6214169" y="5236369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998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5061" y="5271789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2999" name="Text 11"/>
          <p:cNvSpPr txBox="1"/>
          <p:nvPr/>
        </p:nvSpPr>
        <p:spPr>
          <a:xfrm>
            <a:off x="6828433" y="5301257"/>
            <a:ext cx="2404504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Institutional Approval</a:t>
            </a:r>
          </a:p>
        </p:txBody>
      </p:sp>
      <p:sp>
        <p:nvSpPr>
          <p:cNvPr id="3000" name="Text 12"/>
          <p:cNvSpPr txBox="1"/>
          <p:nvPr/>
        </p:nvSpPr>
        <p:spPr>
          <a:xfrm>
            <a:off x="6828433" y="5709940"/>
            <a:ext cx="4702176" cy="690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Permission from school administration for activities that affect school operations.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F9B4B6-BD8F-6B0F-4122-AB1F30BF618A}"/>
              </a:ext>
            </a:extLst>
          </p:cNvPr>
          <p:cNvSpPr txBox="1"/>
          <p:nvPr/>
        </p:nvSpPr>
        <p:spPr>
          <a:xfrm>
            <a:off x="166742" y="185563"/>
            <a:ext cx="2048178" cy="948847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>
                <a:highlight>
                  <a:srgbClr val="FFFF00"/>
                </a:highlight>
              </a:rPr>
              <a:t>OUT​</a:t>
            </a: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2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2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2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87" grpId="0" animBg="1" advAuto="0"/>
      <p:bldP spid="2988" grpId="0" animBg="1" advAuto="0"/>
      <p:bldP spid="2991" grpId="0" animBg="1" advAuto="0"/>
      <p:bldP spid="2992" grpId="0" animBg="1" advAuto="0"/>
      <p:bldP spid="2995" grpId="0" animBg="1" advAuto="0"/>
      <p:bldP spid="2996" grpId="0" animBg="1" advAuto="0"/>
      <p:bldP spid="2999" grpId="0" animBg="1" advAuto="0"/>
      <p:bldP spid="3000" grpId="0" animBg="1" advAuto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2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2689" y="859259"/>
            <a:ext cx="3999310" cy="6000527"/>
          </a:xfrm>
          <a:prstGeom prst="rect">
            <a:avLst/>
          </a:prstGeom>
          <a:ln w="12700">
            <a:miter lim="400000"/>
          </a:ln>
        </p:spPr>
      </p:pic>
      <p:sp>
        <p:nvSpPr>
          <p:cNvPr id="3003" name="Text 0"/>
          <p:cNvSpPr txBox="1"/>
          <p:nvPr/>
        </p:nvSpPr>
        <p:spPr>
          <a:xfrm>
            <a:off x="559891" y="439837"/>
            <a:ext cx="3204403" cy="54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700"/>
              </a:lnSpc>
              <a:defRPr sz="37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083"/>
              <a:t>People Resources</a:t>
            </a:r>
          </a:p>
        </p:txBody>
      </p:sp>
      <p:sp>
        <p:nvSpPr>
          <p:cNvPr id="3004" name="Shape 1"/>
          <p:cNvSpPr/>
          <p:nvPr/>
        </p:nvSpPr>
        <p:spPr>
          <a:xfrm>
            <a:off x="559891" y="1179612"/>
            <a:ext cx="6500219" cy="1190130"/>
          </a:xfrm>
          <a:prstGeom prst="roundRect">
            <a:avLst>
              <a:gd name="adj" fmla="val 5646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100"/>
            </a:pPr>
            <a:endParaRPr sz="1750"/>
          </a:p>
        </p:txBody>
      </p:sp>
      <p:sp>
        <p:nvSpPr>
          <p:cNvPr id="3005" name="Text 2"/>
          <p:cNvSpPr txBox="1"/>
          <p:nvPr/>
        </p:nvSpPr>
        <p:spPr>
          <a:xfrm>
            <a:off x="726182" y="1345902"/>
            <a:ext cx="1593385" cy="271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750"/>
              <a:t>Research Team</a:t>
            </a:r>
          </a:p>
        </p:txBody>
      </p:sp>
      <p:sp>
        <p:nvSpPr>
          <p:cNvPr id="3006" name="Text 3"/>
          <p:cNvSpPr txBox="1"/>
          <p:nvPr/>
        </p:nvSpPr>
        <p:spPr>
          <a:xfrm>
            <a:off x="726182" y="1691680"/>
            <a:ext cx="6167637" cy="5978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400"/>
              </a:lnSpc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Friends or classmates who will help conduct the research. List specific roles and responsibilities.</a:t>
            </a:r>
          </a:p>
        </p:txBody>
      </p:sp>
      <p:sp>
        <p:nvSpPr>
          <p:cNvPr id="3007" name="Shape 4"/>
          <p:cNvSpPr/>
          <p:nvPr/>
        </p:nvSpPr>
        <p:spPr>
          <a:xfrm>
            <a:off x="559891" y="2529682"/>
            <a:ext cx="6500219" cy="1190129"/>
          </a:xfrm>
          <a:prstGeom prst="roundRect">
            <a:avLst>
              <a:gd name="adj" fmla="val 5646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100"/>
            </a:pPr>
            <a:endParaRPr sz="1750"/>
          </a:p>
        </p:txBody>
      </p:sp>
      <p:sp>
        <p:nvSpPr>
          <p:cNvPr id="3008" name="Text 5"/>
          <p:cNvSpPr txBox="1"/>
          <p:nvPr/>
        </p:nvSpPr>
        <p:spPr>
          <a:xfrm>
            <a:off x="726181" y="2695972"/>
            <a:ext cx="1267976" cy="271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750"/>
              <a:t>Participants</a:t>
            </a:r>
          </a:p>
        </p:txBody>
      </p:sp>
      <p:sp>
        <p:nvSpPr>
          <p:cNvPr id="3009" name="Text 6"/>
          <p:cNvSpPr txBox="1"/>
          <p:nvPr/>
        </p:nvSpPr>
        <p:spPr>
          <a:xfrm>
            <a:off x="726182" y="3041749"/>
            <a:ext cx="6167637" cy="5978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400"/>
              </a:lnSpc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How many people will be in your study? How will you recruit them? What will they need to do?</a:t>
            </a:r>
          </a:p>
        </p:txBody>
      </p:sp>
      <p:sp>
        <p:nvSpPr>
          <p:cNvPr id="3010" name="Shape 7"/>
          <p:cNvSpPr/>
          <p:nvPr/>
        </p:nvSpPr>
        <p:spPr>
          <a:xfrm>
            <a:off x="559891" y="3879751"/>
            <a:ext cx="6500219" cy="1190130"/>
          </a:xfrm>
          <a:prstGeom prst="roundRect">
            <a:avLst>
              <a:gd name="adj" fmla="val 5646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100"/>
            </a:pPr>
            <a:endParaRPr sz="1750"/>
          </a:p>
        </p:txBody>
      </p:sp>
      <p:sp>
        <p:nvSpPr>
          <p:cNvPr id="3011" name="Text 8"/>
          <p:cNvSpPr txBox="1"/>
          <p:nvPr/>
        </p:nvSpPr>
        <p:spPr>
          <a:xfrm>
            <a:off x="726182" y="4046042"/>
            <a:ext cx="1243930" cy="271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750"/>
              <a:t>Supervisors</a:t>
            </a:r>
          </a:p>
        </p:txBody>
      </p:sp>
      <p:sp>
        <p:nvSpPr>
          <p:cNvPr id="3012" name="Text 9"/>
          <p:cNvSpPr txBox="1"/>
          <p:nvPr/>
        </p:nvSpPr>
        <p:spPr>
          <a:xfrm>
            <a:off x="726182" y="4391819"/>
            <a:ext cx="6167637" cy="5978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400"/>
              </a:lnSpc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Teachers, parents, or other adults who need to oversee activities, especially for safety or access reasons.</a:t>
            </a:r>
          </a:p>
        </p:txBody>
      </p:sp>
      <p:sp>
        <p:nvSpPr>
          <p:cNvPr id="3013" name="Shape 10"/>
          <p:cNvSpPr/>
          <p:nvPr/>
        </p:nvSpPr>
        <p:spPr>
          <a:xfrm>
            <a:off x="559891" y="5229819"/>
            <a:ext cx="6500219" cy="1190130"/>
          </a:xfrm>
          <a:prstGeom prst="roundRect">
            <a:avLst>
              <a:gd name="adj" fmla="val 5646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100"/>
            </a:pPr>
            <a:endParaRPr sz="1750"/>
          </a:p>
        </p:txBody>
      </p:sp>
      <p:sp>
        <p:nvSpPr>
          <p:cNvPr id="3014" name="Text 11"/>
          <p:cNvSpPr txBox="1"/>
          <p:nvPr/>
        </p:nvSpPr>
        <p:spPr>
          <a:xfrm>
            <a:off x="726182" y="5396111"/>
            <a:ext cx="798295" cy="271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750"/>
              <a:t>Experts</a:t>
            </a:r>
          </a:p>
        </p:txBody>
      </p:sp>
      <p:sp>
        <p:nvSpPr>
          <p:cNvPr id="3015" name="Text 12"/>
          <p:cNvSpPr txBox="1"/>
          <p:nvPr/>
        </p:nvSpPr>
        <p:spPr>
          <a:xfrm>
            <a:off x="726182" y="5741889"/>
            <a:ext cx="6167637" cy="5978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400"/>
              </a:lnSpc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People with specialized knowledge who might advise on your project or help interpret results.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DEB706-32E3-EE1E-4F4D-B906E7461548}"/>
              </a:ext>
            </a:extLst>
          </p:cNvPr>
          <p:cNvSpPr txBox="1"/>
          <p:nvPr/>
        </p:nvSpPr>
        <p:spPr>
          <a:xfrm>
            <a:off x="166742" y="185563"/>
            <a:ext cx="2048178" cy="948847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>
                <a:highlight>
                  <a:srgbClr val="FFFF00"/>
                </a:highlight>
              </a:rPr>
              <a:t>OUT​</a:t>
            </a: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7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5441" y="863325"/>
            <a:ext cx="3996559" cy="5995966"/>
          </a:xfrm>
          <a:prstGeom prst="rect">
            <a:avLst/>
          </a:prstGeom>
          <a:ln w="12700">
            <a:miter lim="400000"/>
          </a:ln>
        </p:spPr>
      </p:pic>
      <p:sp>
        <p:nvSpPr>
          <p:cNvPr id="3018" name="Text 0"/>
          <p:cNvSpPr txBox="1"/>
          <p:nvPr/>
        </p:nvSpPr>
        <p:spPr>
          <a:xfrm>
            <a:off x="616446" y="484286"/>
            <a:ext cx="4584588" cy="599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200"/>
              </a:lnSpc>
              <a:defRPr sz="4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417"/>
              <a:t>Timeline and Logistics</a:t>
            </a:r>
          </a:p>
        </p:txBody>
      </p:sp>
      <p:sp>
        <p:nvSpPr>
          <p:cNvPr id="3019" name="Shape 1"/>
          <p:cNvSpPr/>
          <p:nvPr/>
        </p:nvSpPr>
        <p:spPr>
          <a:xfrm>
            <a:off x="814586" y="1298773"/>
            <a:ext cx="19051" cy="5076230"/>
          </a:xfrm>
          <a:prstGeom prst="roundRect">
            <a:avLst>
              <a:gd name="adj" fmla="val 50000"/>
            </a:avLst>
          </a:prstGeom>
          <a:solidFill>
            <a:srgbClr val="B2D3E5"/>
          </a:solidFill>
          <a:ln w="12700">
            <a:miter lim="400000"/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3020" name="Shape 2"/>
          <p:cNvSpPr/>
          <p:nvPr/>
        </p:nvSpPr>
        <p:spPr>
          <a:xfrm>
            <a:off x="993676" y="1487389"/>
            <a:ext cx="528341" cy="19051"/>
          </a:xfrm>
          <a:prstGeom prst="roundRect">
            <a:avLst>
              <a:gd name="adj" fmla="val 50000"/>
            </a:avLst>
          </a:prstGeom>
          <a:solidFill>
            <a:srgbClr val="B2D3E5"/>
          </a:solidFill>
          <a:ln w="12700">
            <a:miter lim="400000"/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3021" name="Shape 3"/>
          <p:cNvSpPr/>
          <p:nvPr/>
        </p:nvSpPr>
        <p:spPr>
          <a:xfrm>
            <a:off x="616445" y="1298774"/>
            <a:ext cx="396281" cy="396281"/>
          </a:xfrm>
          <a:prstGeom prst="roundRect">
            <a:avLst>
              <a:gd name="adj" fmla="val 18668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3022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26" y="1331812"/>
            <a:ext cx="264121" cy="330202"/>
          </a:xfrm>
          <a:prstGeom prst="rect">
            <a:avLst/>
          </a:prstGeom>
          <a:ln w="12700">
            <a:miter lim="400000"/>
          </a:ln>
        </p:spPr>
      </p:pic>
      <p:sp>
        <p:nvSpPr>
          <p:cNvPr id="3023" name="Text 4"/>
          <p:cNvSpPr txBox="1"/>
          <p:nvPr/>
        </p:nvSpPr>
        <p:spPr>
          <a:xfrm>
            <a:off x="1695251" y="1359297"/>
            <a:ext cx="1753685" cy="305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6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Planning Phase</a:t>
            </a:r>
          </a:p>
        </p:txBody>
      </p:sp>
      <p:sp>
        <p:nvSpPr>
          <p:cNvPr id="3024" name="Text 5"/>
          <p:cNvSpPr txBox="1"/>
          <p:nvPr/>
        </p:nvSpPr>
        <p:spPr>
          <a:xfrm>
            <a:off x="1695251" y="1740098"/>
            <a:ext cx="5308304" cy="648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Design research, create materials, get permissions, and prepare resources.</a:t>
            </a:r>
          </a:p>
        </p:txBody>
      </p:sp>
      <p:sp>
        <p:nvSpPr>
          <p:cNvPr id="3025" name="Shape 6"/>
          <p:cNvSpPr/>
          <p:nvPr/>
        </p:nvSpPr>
        <p:spPr>
          <a:xfrm>
            <a:off x="993676" y="2844502"/>
            <a:ext cx="528341" cy="19051"/>
          </a:xfrm>
          <a:prstGeom prst="roundRect">
            <a:avLst>
              <a:gd name="adj" fmla="val 50000"/>
            </a:avLst>
          </a:prstGeom>
          <a:solidFill>
            <a:srgbClr val="B2D3E5"/>
          </a:solidFill>
          <a:ln w="12700">
            <a:miter lim="400000"/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3026" name="Shape 7"/>
          <p:cNvSpPr/>
          <p:nvPr/>
        </p:nvSpPr>
        <p:spPr>
          <a:xfrm>
            <a:off x="616445" y="2655887"/>
            <a:ext cx="396281" cy="396281"/>
          </a:xfrm>
          <a:prstGeom prst="roundRect">
            <a:avLst>
              <a:gd name="adj" fmla="val 18668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3027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526" y="2688927"/>
            <a:ext cx="264121" cy="330201"/>
          </a:xfrm>
          <a:prstGeom prst="rect">
            <a:avLst/>
          </a:prstGeom>
          <a:ln w="12700">
            <a:miter lim="400000"/>
          </a:ln>
        </p:spPr>
      </p:pic>
      <p:sp>
        <p:nvSpPr>
          <p:cNvPr id="3028" name="Text 8"/>
          <p:cNvSpPr txBox="1"/>
          <p:nvPr/>
        </p:nvSpPr>
        <p:spPr>
          <a:xfrm>
            <a:off x="1695251" y="2716410"/>
            <a:ext cx="1753685" cy="305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6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Data Collection</a:t>
            </a:r>
          </a:p>
        </p:txBody>
      </p:sp>
      <p:sp>
        <p:nvSpPr>
          <p:cNvPr id="3029" name="Text 9"/>
          <p:cNvSpPr txBox="1"/>
          <p:nvPr/>
        </p:nvSpPr>
        <p:spPr>
          <a:xfrm>
            <a:off x="1695251" y="3097212"/>
            <a:ext cx="5308304" cy="648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Conduct experiments, distribute surveys, perform interviews or observations.</a:t>
            </a:r>
          </a:p>
        </p:txBody>
      </p:sp>
      <p:sp>
        <p:nvSpPr>
          <p:cNvPr id="3030" name="Shape 10"/>
          <p:cNvSpPr/>
          <p:nvPr/>
        </p:nvSpPr>
        <p:spPr>
          <a:xfrm>
            <a:off x="993676" y="4201616"/>
            <a:ext cx="528341" cy="19051"/>
          </a:xfrm>
          <a:prstGeom prst="roundRect">
            <a:avLst>
              <a:gd name="adj" fmla="val 50000"/>
            </a:avLst>
          </a:prstGeom>
          <a:solidFill>
            <a:srgbClr val="B2D3E5"/>
          </a:solidFill>
          <a:ln w="12700">
            <a:miter lim="400000"/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3031" name="Shape 11"/>
          <p:cNvSpPr/>
          <p:nvPr/>
        </p:nvSpPr>
        <p:spPr>
          <a:xfrm>
            <a:off x="616445" y="4013002"/>
            <a:ext cx="396281" cy="396281"/>
          </a:xfrm>
          <a:prstGeom prst="roundRect">
            <a:avLst>
              <a:gd name="adj" fmla="val 18668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3032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526" y="4046042"/>
            <a:ext cx="264121" cy="330201"/>
          </a:xfrm>
          <a:prstGeom prst="rect">
            <a:avLst/>
          </a:prstGeom>
          <a:ln w="12700">
            <a:miter lim="400000"/>
          </a:ln>
        </p:spPr>
      </p:pic>
      <p:sp>
        <p:nvSpPr>
          <p:cNvPr id="3033" name="Text 12"/>
          <p:cNvSpPr txBox="1"/>
          <p:nvPr/>
        </p:nvSpPr>
        <p:spPr>
          <a:xfrm>
            <a:off x="1695251" y="4073524"/>
            <a:ext cx="950581" cy="305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6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Analysis</a:t>
            </a:r>
          </a:p>
        </p:txBody>
      </p:sp>
      <p:sp>
        <p:nvSpPr>
          <p:cNvPr id="3034" name="Text 13"/>
          <p:cNvSpPr txBox="1"/>
          <p:nvPr/>
        </p:nvSpPr>
        <p:spPr>
          <a:xfrm>
            <a:off x="1695251" y="4454326"/>
            <a:ext cx="5308304" cy="648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Organize data, perform calculations, identify patterns, and interpret findings.</a:t>
            </a:r>
          </a:p>
        </p:txBody>
      </p:sp>
      <p:sp>
        <p:nvSpPr>
          <p:cNvPr id="3035" name="Shape 14"/>
          <p:cNvSpPr/>
          <p:nvPr/>
        </p:nvSpPr>
        <p:spPr>
          <a:xfrm>
            <a:off x="993676" y="5558731"/>
            <a:ext cx="528341" cy="19051"/>
          </a:xfrm>
          <a:prstGeom prst="roundRect">
            <a:avLst>
              <a:gd name="adj" fmla="val 50000"/>
            </a:avLst>
          </a:prstGeom>
          <a:solidFill>
            <a:srgbClr val="B2D3E5"/>
          </a:solidFill>
          <a:ln w="12700">
            <a:miter lim="400000"/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3036" name="Shape 15"/>
          <p:cNvSpPr/>
          <p:nvPr/>
        </p:nvSpPr>
        <p:spPr>
          <a:xfrm>
            <a:off x="616445" y="5370115"/>
            <a:ext cx="396281" cy="396281"/>
          </a:xfrm>
          <a:prstGeom prst="roundRect">
            <a:avLst>
              <a:gd name="adj" fmla="val 18668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3037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526" y="5403156"/>
            <a:ext cx="264121" cy="330201"/>
          </a:xfrm>
          <a:prstGeom prst="rect">
            <a:avLst/>
          </a:prstGeom>
          <a:ln w="12700">
            <a:miter lim="400000"/>
          </a:ln>
        </p:spPr>
      </p:pic>
      <p:sp>
        <p:nvSpPr>
          <p:cNvPr id="3038" name="Text 16"/>
          <p:cNvSpPr txBox="1"/>
          <p:nvPr/>
        </p:nvSpPr>
        <p:spPr>
          <a:xfrm>
            <a:off x="1695251" y="5430639"/>
            <a:ext cx="1146148" cy="305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6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Reporting</a:t>
            </a:r>
          </a:p>
        </p:txBody>
      </p:sp>
      <p:sp>
        <p:nvSpPr>
          <p:cNvPr id="3039" name="Text 17"/>
          <p:cNvSpPr txBox="1"/>
          <p:nvPr/>
        </p:nvSpPr>
        <p:spPr>
          <a:xfrm>
            <a:off x="1695251" y="5811441"/>
            <a:ext cx="5308304" cy="648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Write up results, create visuals, prepare presentation, and share conclusions.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D86124-8858-F25A-14A9-FE4CAE696120}"/>
              </a:ext>
            </a:extLst>
          </p:cNvPr>
          <p:cNvSpPr txBox="1"/>
          <p:nvPr/>
        </p:nvSpPr>
        <p:spPr>
          <a:xfrm>
            <a:off x="166742" y="185563"/>
            <a:ext cx="2048178" cy="948847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>
                <a:highlight>
                  <a:srgbClr val="FFFF00"/>
                </a:highlight>
              </a:rPr>
              <a:t>OUT​</a:t>
            </a: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1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0552" y="840826"/>
            <a:ext cx="4011448" cy="6017174"/>
          </a:xfrm>
          <a:prstGeom prst="rect">
            <a:avLst/>
          </a:prstGeom>
          <a:ln w="12700">
            <a:miter lim="400000"/>
          </a:ln>
        </p:spPr>
      </p:pic>
      <p:sp>
        <p:nvSpPr>
          <p:cNvPr id="3042" name="Text 0"/>
          <p:cNvSpPr txBox="1"/>
          <p:nvPr/>
        </p:nvSpPr>
        <p:spPr>
          <a:xfrm>
            <a:off x="616445" y="624482"/>
            <a:ext cx="5814092" cy="599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200"/>
              </a:lnSpc>
              <a:defRPr sz="4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417"/>
              <a:t>Creating a Detailed Timeline</a:t>
            </a:r>
          </a:p>
        </p:txBody>
      </p:sp>
      <p:sp>
        <p:nvSpPr>
          <p:cNvPr id="3043" name="Shape 1"/>
          <p:cNvSpPr/>
          <p:nvPr/>
        </p:nvSpPr>
        <p:spPr>
          <a:xfrm>
            <a:off x="616445" y="1438970"/>
            <a:ext cx="396281" cy="396281"/>
          </a:xfrm>
          <a:prstGeom prst="roundRect">
            <a:avLst>
              <a:gd name="adj" fmla="val 18668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3044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26" y="1472009"/>
            <a:ext cx="264121" cy="330201"/>
          </a:xfrm>
          <a:prstGeom prst="rect">
            <a:avLst/>
          </a:prstGeom>
          <a:ln w="12700">
            <a:miter lim="400000"/>
          </a:ln>
        </p:spPr>
      </p:pic>
      <p:sp>
        <p:nvSpPr>
          <p:cNvPr id="3045" name="Text 2"/>
          <p:cNvSpPr txBox="1"/>
          <p:nvPr/>
        </p:nvSpPr>
        <p:spPr>
          <a:xfrm>
            <a:off x="1188839" y="1499493"/>
            <a:ext cx="2967159" cy="308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600"/>
              </a:lnSpc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00"/>
              <a:t>Schedule Data Collection</a:t>
            </a:r>
          </a:p>
        </p:txBody>
      </p:sp>
      <p:sp>
        <p:nvSpPr>
          <p:cNvPr id="3046" name="Text 3"/>
          <p:cNvSpPr txBox="1"/>
          <p:nvPr/>
        </p:nvSpPr>
        <p:spPr>
          <a:xfrm>
            <a:off x="1188840" y="1880294"/>
            <a:ext cx="6249156" cy="65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sz="24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00"/>
              <a:t>Plan exactly when you'll collect data, with specific dates and times.</a:t>
            </a:r>
          </a:p>
        </p:txBody>
      </p:sp>
      <p:sp>
        <p:nvSpPr>
          <p:cNvPr id="3047" name="Shape 4"/>
          <p:cNvSpPr/>
          <p:nvPr/>
        </p:nvSpPr>
        <p:spPr>
          <a:xfrm>
            <a:off x="616445" y="2609552"/>
            <a:ext cx="396281" cy="396281"/>
          </a:xfrm>
          <a:prstGeom prst="roundRect">
            <a:avLst>
              <a:gd name="adj" fmla="val 18668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3048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526" y="2642593"/>
            <a:ext cx="264121" cy="330201"/>
          </a:xfrm>
          <a:prstGeom prst="rect">
            <a:avLst/>
          </a:prstGeom>
          <a:ln w="12700">
            <a:miter lim="400000"/>
          </a:ln>
        </p:spPr>
      </p:pic>
      <p:sp>
        <p:nvSpPr>
          <p:cNvPr id="3049" name="Text 5"/>
          <p:cNvSpPr txBox="1"/>
          <p:nvPr/>
        </p:nvSpPr>
        <p:spPr>
          <a:xfrm>
            <a:off x="1188839" y="2670076"/>
            <a:ext cx="2173672" cy="308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600"/>
              </a:lnSpc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00"/>
              <a:t>Estimate Duration</a:t>
            </a:r>
          </a:p>
        </p:txBody>
      </p:sp>
      <p:sp>
        <p:nvSpPr>
          <p:cNvPr id="3050" name="Text 6"/>
          <p:cNvSpPr txBox="1"/>
          <p:nvPr/>
        </p:nvSpPr>
        <p:spPr>
          <a:xfrm>
            <a:off x="1188839" y="3050877"/>
            <a:ext cx="5814715" cy="65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sz="24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00"/>
              <a:t>Calculate how long each session or step will take to ensure it's feasible.</a:t>
            </a:r>
          </a:p>
        </p:txBody>
      </p:sp>
      <p:sp>
        <p:nvSpPr>
          <p:cNvPr id="3051" name="Shape 7"/>
          <p:cNvSpPr/>
          <p:nvPr/>
        </p:nvSpPr>
        <p:spPr>
          <a:xfrm>
            <a:off x="616445" y="3871417"/>
            <a:ext cx="396281" cy="396281"/>
          </a:xfrm>
          <a:prstGeom prst="roundRect">
            <a:avLst>
              <a:gd name="adj" fmla="val 18668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3052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526" y="3904457"/>
            <a:ext cx="264121" cy="330201"/>
          </a:xfrm>
          <a:prstGeom prst="rect">
            <a:avLst/>
          </a:prstGeom>
          <a:ln w="12700">
            <a:miter lim="400000"/>
          </a:ln>
        </p:spPr>
      </p:pic>
      <p:sp>
        <p:nvSpPr>
          <p:cNvPr id="3053" name="Text 8"/>
          <p:cNvSpPr txBox="1"/>
          <p:nvPr/>
        </p:nvSpPr>
        <p:spPr>
          <a:xfrm>
            <a:off x="1188840" y="3931940"/>
            <a:ext cx="2859757" cy="308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600"/>
              </a:lnSpc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00"/>
              <a:t>Include Waiting Periods</a:t>
            </a:r>
          </a:p>
        </p:txBody>
      </p:sp>
      <p:sp>
        <p:nvSpPr>
          <p:cNvPr id="3054" name="Text 9"/>
          <p:cNvSpPr txBox="1"/>
          <p:nvPr/>
        </p:nvSpPr>
        <p:spPr>
          <a:xfrm>
            <a:off x="1188839" y="4312741"/>
            <a:ext cx="5814715" cy="65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sz="24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00"/>
              <a:t>Account for necessary delays between steps, like plant growth or survey response time.</a:t>
            </a:r>
          </a:p>
        </p:txBody>
      </p:sp>
      <p:sp>
        <p:nvSpPr>
          <p:cNvPr id="3055" name="Shape 10"/>
          <p:cNvSpPr/>
          <p:nvPr/>
        </p:nvSpPr>
        <p:spPr>
          <a:xfrm>
            <a:off x="616445" y="5228531"/>
            <a:ext cx="396281" cy="396281"/>
          </a:xfrm>
          <a:prstGeom prst="roundRect">
            <a:avLst>
              <a:gd name="adj" fmla="val 18668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3056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526" y="5261570"/>
            <a:ext cx="264121" cy="330201"/>
          </a:xfrm>
          <a:prstGeom prst="rect">
            <a:avLst/>
          </a:prstGeom>
          <a:ln w="12700">
            <a:miter lim="400000"/>
          </a:ln>
        </p:spPr>
      </p:pic>
      <p:sp>
        <p:nvSpPr>
          <p:cNvPr id="3057" name="Text 11"/>
          <p:cNvSpPr txBox="1"/>
          <p:nvPr/>
        </p:nvSpPr>
        <p:spPr>
          <a:xfrm>
            <a:off x="1188839" y="5289054"/>
            <a:ext cx="2632131" cy="308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600"/>
              </a:lnSpc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00"/>
              <a:t>Set Internal Deadlines</a:t>
            </a:r>
          </a:p>
        </p:txBody>
      </p:sp>
      <p:sp>
        <p:nvSpPr>
          <p:cNvPr id="3058" name="Text 12"/>
          <p:cNvSpPr txBox="1"/>
          <p:nvPr/>
        </p:nvSpPr>
        <p:spPr>
          <a:xfrm>
            <a:off x="1188839" y="5669856"/>
            <a:ext cx="5814715" cy="65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sz="24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00"/>
              <a:t>Create target dates for completing each phase to stay on track throughout the project.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97DD52-C436-698D-CC50-B3D2DB387BBA}"/>
              </a:ext>
            </a:extLst>
          </p:cNvPr>
          <p:cNvSpPr txBox="1"/>
          <p:nvPr/>
        </p:nvSpPr>
        <p:spPr>
          <a:xfrm>
            <a:off x="166742" y="185563"/>
            <a:ext cx="2048178" cy="948847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>
                <a:highlight>
                  <a:srgbClr val="FFFF00"/>
                </a:highlight>
              </a:rPr>
              <a:t>OUT​</a:t>
            </a: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0" name="Text 0"/>
          <p:cNvSpPr txBox="1"/>
          <p:nvPr/>
        </p:nvSpPr>
        <p:spPr>
          <a:xfrm>
            <a:off x="661492" y="1042591"/>
            <a:ext cx="6857647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Flexibility and Troubleshooting</a:t>
            </a:r>
          </a:p>
        </p:txBody>
      </p:sp>
      <p:sp>
        <p:nvSpPr>
          <p:cNvPr id="3061" name="Text 1"/>
          <p:cNvSpPr txBox="1"/>
          <p:nvPr/>
        </p:nvSpPr>
        <p:spPr>
          <a:xfrm>
            <a:off x="1544377" y="2309019"/>
            <a:ext cx="2366032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Anticipate Challenges</a:t>
            </a:r>
          </a:p>
        </p:txBody>
      </p:sp>
      <p:sp>
        <p:nvSpPr>
          <p:cNvPr id="3062" name="Text 2"/>
          <p:cNvSpPr txBox="1"/>
          <p:nvPr/>
        </p:nvSpPr>
        <p:spPr>
          <a:xfrm>
            <a:off x="661492" y="2717700"/>
            <a:ext cx="3248919" cy="676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2800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Think ahead about what might go wrong and how you'll handle it.</a:t>
            </a:r>
          </a:p>
        </p:txBody>
      </p:sp>
      <p:pic>
        <p:nvPicPr>
          <p:cNvPr id="3063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3877" y="2011264"/>
            <a:ext cx="3804147" cy="38041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064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8943" y="2647157"/>
            <a:ext cx="282774" cy="353518"/>
          </a:xfrm>
          <a:prstGeom prst="rect">
            <a:avLst/>
          </a:prstGeom>
          <a:ln w="12700">
            <a:miter lim="400000"/>
          </a:ln>
        </p:spPr>
      </p:pic>
      <p:sp>
        <p:nvSpPr>
          <p:cNvPr id="3065" name="Text 3"/>
          <p:cNvSpPr txBox="1"/>
          <p:nvPr/>
        </p:nvSpPr>
        <p:spPr>
          <a:xfrm>
            <a:off x="8281492" y="2309019"/>
            <a:ext cx="1966885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Be Ready to Adapt</a:t>
            </a:r>
          </a:p>
        </p:txBody>
      </p:sp>
      <p:sp>
        <p:nvSpPr>
          <p:cNvPr id="3066" name="Text 4"/>
          <p:cNvSpPr txBox="1"/>
          <p:nvPr/>
        </p:nvSpPr>
        <p:spPr>
          <a:xfrm>
            <a:off x="8281492" y="2717700"/>
            <a:ext cx="3249018" cy="676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Prepare to adjust your methods if you discover better approaches.</a:t>
            </a:r>
          </a:p>
        </p:txBody>
      </p:sp>
      <p:pic>
        <p:nvPicPr>
          <p:cNvPr id="3067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3877" y="2011264"/>
            <a:ext cx="3804147" cy="38041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068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3837" y="2970906"/>
            <a:ext cx="282774" cy="353518"/>
          </a:xfrm>
          <a:prstGeom prst="rect">
            <a:avLst/>
          </a:prstGeom>
          <a:ln w="12700">
            <a:miter lim="400000"/>
          </a:ln>
        </p:spPr>
      </p:pic>
      <p:sp>
        <p:nvSpPr>
          <p:cNvPr id="3069" name="Text 5"/>
          <p:cNvSpPr txBox="1"/>
          <p:nvPr/>
        </p:nvSpPr>
        <p:spPr>
          <a:xfrm>
            <a:off x="8281492" y="4201616"/>
            <a:ext cx="2120773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Document Changes</a:t>
            </a:r>
          </a:p>
        </p:txBody>
      </p:sp>
      <p:sp>
        <p:nvSpPr>
          <p:cNvPr id="3070" name="Text 6"/>
          <p:cNvSpPr txBox="1"/>
          <p:nvPr/>
        </p:nvSpPr>
        <p:spPr>
          <a:xfrm>
            <a:off x="8281492" y="4610299"/>
            <a:ext cx="3249018" cy="676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Record any modifications to your original plan and why you made them.</a:t>
            </a:r>
          </a:p>
        </p:txBody>
      </p:sp>
      <p:pic>
        <p:nvPicPr>
          <p:cNvPr id="3071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3877" y="2011264"/>
            <a:ext cx="3804147" cy="38041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072" name="Image 5" descr="Imag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086" y="4825802"/>
            <a:ext cx="282774" cy="353518"/>
          </a:xfrm>
          <a:prstGeom prst="rect">
            <a:avLst/>
          </a:prstGeom>
          <a:ln w="12700">
            <a:miter lim="400000"/>
          </a:ln>
        </p:spPr>
      </p:pic>
      <p:sp>
        <p:nvSpPr>
          <p:cNvPr id="3073" name="Text 7"/>
          <p:cNvSpPr txBox="1"/>
          <p:nvPr/>
        </p:nvSpPr>
        <p:spPr>
          <a:xfrm>
            <a:off x="1836124" y="4352825"/>
            <a:ext cx="2074286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Have Backup Plans</a:t>
            </a:r>
          </a:p>
        </p:txBody>
      </p:sp>
      <p:sp>
        <p:nvSpPr>
          <p:cNvPr id="3074" name="Text 8"/>
          <p:cNvSpPr txBox="1"/>
          <p:nvPr/>
        </p:nvSpPr>
        <p:spPr>
          <a:xfrm>
            <a:off x="661492" y="4761507"/>
            <a:ext cx="3248919" cy="676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2800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Create alternative approaches for critical parts of your research.</a:t>
            </a:r>
          </a:p>
        </p:txBody>
      </p:sp>
      <p:pic>
        <p:nvPicPr>
          <p:cNvPr id="3075" name="Image 6" descr="Imag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3877" y="2011264"/>
            <a:ext cx="3804147" cy="38041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076" name="Image 7" descr="Imag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5192" y="4502050"/>
            <a:ext cx="282774" cy="353518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56635BD-EA00-FA97-2FCE-8679C001EFA9}"/>
              </a:ext>
            </a:extLst>
          </p:cNvPr>
          <p:cNvSpPr txBox="1"/>
          <p:nvPr/>
        </p:nvSpPr>
        <p:spPr>
          <a:xfrm>
            <a:off x="166742" y="185563"/>
            <a:ext cx="2048178" cy="948847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>
                <a:highlight>
                  <a:srgbClr val="FFFF00"/>
                </a:highlight>
              </a:rPr>
              <a:t>OUT​</a:t>
            </a: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98197-A7CC-DF09-E565-7D4768735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1C3EB5-DC51-296D-8E61-832C39712052}"/>
              </a:ext>
            </a:extLst>
          </p:cNvPr>
          <p:cNvSpPr txBox="1"/>
          <p:nvPr/>
        </p:nvSpPr>
        <p:spPr>
          <a:xfrm>
            <a:off x="302640" y="185564"/>
            <a:ext cx="7265693" cy="6053258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 dirty="0">
                <a:highlight>
                  <a:srgbClr val="FFFF00"/>
                </a:highlight>
              </a:rPr>
              <a:t>NEW SLIDE </a:t>
            </a:r>
            <a:r>
              <a:rPr lang="en-US" sz="2833" b="1">
                <a:highlight>
                  <a:srgbClr val="FFFF00"/>
                </a:highlight>
              </a:rPr>
              <a:t>NEEDED </a:t>
            </a:r>
          </a:p>
          <a:p>
            <a:pPr algn="ctr"/>
            <a:endParaRPr lang="en-US" sz="2833" b="1" dirty="0">
              <a:highlight>
                <a:srgbClr val="FFFF00"/>
              </a:highlight>
            </a:endParaRPr>
          </a:p>
          <a:p>
            <a:pPr algn="ctr"/>
            <a:r>
              <a:rPr lang="en-US" sz="7333" b="1" dirty="0">
                <a:highlight>
                  <a:srgbClr val="FFFF00"/>
                </a:highlight>
                <a:ea typeface="+mn-lt"/>
                <a:cs typeface="+mn-lt"/>
              </a:rPr>
              <a:t> </a:t>
            </a:r>
            <a:r>
              <a:rPr lang="en-US" sz="2667" b="1">
                <a:solidFill>
                  <a:srgbClr val="344E6B"/>
                </a:solidFill>
                <a:highlight>
                  <a:srgbClr val="FFFF00"/>
                </a:highlight>
                <a:latin typeface="Arial"/>
                <a:ea typeface="+mn-lt"/>
                <a:cs typeface="Arial"/>
              </a:rPr>
              <a:t>Activity: </a:t>
            </a:r>
            <a:r>
              <a:rPr lang="en-US" sz="2667" dirty="0">
                <a:solidFill>
                  <a:srgbClr val="111111"/>
                </a:solidFill>
                <a:highlight>
                  <a:srgbClr val="FFFF00"/>
                </a:highlight>
                <a:latin typeface="Arial"/>
                <a:ea typeface="+mn-lt"/>
                <a:cs typeface="Arial"/>
              </a:rPr>
              <a:t> </a:t>
            </a:r>
            <a:r>
              <a:rPr lang="en-US" sz="2667" b="1">
                <a:solidFill>
                  <a:srgbClr val="111111"/>
                </a:solidFill>
                <a:highlight>
                  <a:srgbClr val="FFFF00"/>
                </a:highlight>
                <a:latin typeface="Arial"/>
                <a:ea typeface="+mn-lt"/>
                <a:cs typeface="Arial"/>
              </a:rPr>
              <a:t>'Stress Test Your Study'  (30 min)</a:t>
            </a:r>
            <a:endParaRPr lang="en-US" sz="1500" b="1"/>
          </a:p>
          <a:p>
            <a:pPr algn="ctr"/>
            <a:r>
              <a:rPr lang="en-US" sz="2667">
                <a:solidFill>
                  <a:srgbClr val="111111"/>
                </a:solidFill>
                <a:highlight>
                  <a:srgbClr val="FFFF00"/>
                </a:highlight>
                <a:latin typeface="Arial"/>
                <a:ea typeface="+mn-lt"/>
                <a:cs typeface="Arial"/>
              </a:rPr>
              <a:t>Each team presents their research design (from Session 5) to a neighboring team. </a:t>
            </a:r>
            <a:endParaRPr lang="en-US" sz="1500">
              <a:latin typeface="Aptos"/>
              <a:ea typeface="+mn-lt"/>
              <a:cs typeface="Arial"/>
            </a:endParaRPr>
          </a:p>
          <a:p>
            <a:pPr algn="ctr"/>
            <a:r>
              <a:rPr lang="en-US" sz="2667">
                <a:solidFill>
                  <a:srgbClr val="111111"/>
                </a:solidFill>
                <a:highlight>
                  <a:srgbClr val="FFFF00"/>
                </a:highlight>
                <a:latin typeface="Arial"/>
                <a:ea typeface="+mn-lt"/>
                <a:cs typeface="Arial"/>
              </a:rPr>
              <a:t>Receiving team must find: (1) one validity threat, (2) one sampling concern, (3) one potential confound. </a:t>
            </a:r>
            <a:endParaRPr lang="en-US" sz="1500">
              <a:latin typeface="Aptos"/>
              <a:ea typeface="+mn-lt"/>
              <a:cs typeface="Arial"/>
            </a:endParaRPr>
          </a:p>
          <a:p>
            <a:pPr algn="ctr"/>
            <a:endParaRPr lang="en-US" sz="2667" dirty="0">
              <a:solidFill>
                <a:srgbClr val="111111"/>
              </a:solidFill>
              <a:highlight>
                <a:srgbClr val="FFFF00"/>
              </a:highlight>
              <a:latin typeface="Arial"/>
              <a:ea typeface="+mn-lt"/>
              <a:cs typeface="Arial"/>
            </a:endParaRPr>
          </a:p>
          <a:p>
            <a:pPr algn="ctr"/>
            <a:r>
              <a:rPr lang="en-US" sz="2667">
                <a:solidFill>
                  <a:srgbClr val="111111"/>
                </a:solidFill>
                <a:highlight>
                  <a:srgbClr val="FFFF00"/>
                </a:highlight>
                <a:latin typeface="Arial"/>
                <a:ea typeface="+mn-lt"/>
                <a:cs typeface="Arial"/>
              </a:rPr>
              <a:t>Constructive criticism — the researcher's job is to anticipate these problems first.</a:t>
            </a:r>
            <a:endParaRPr lang="en-US" sz="1500"/>
          </a:p>
          <a:p>
            <a:pPr algn="ctr"/>
            <a:br>
              <a:rPr lang="en-US" sz="1500" dirty="0"/>
            </a:br>
            <a:endParaRPr lang="en-US" sz="1500" dirty="0"/>
          </a:p>
          <a:p>
            <a:pPr algn="ctr"/>
            <a:endParaRPr lang="en-US" sz="15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563383802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Text 0"/>
          <p:cNvSpPr txBox="1"/>
          <p:nvPr/>
        </p:nvSpPr>
        <p:spPr>
          <a:xfrm>
            <a:off x="4102577" y="1579072"/>
            <a:ext cx="6838410" cy="9746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anchor="t">
            <a:spAutoFit/>
          </a:bodyPr>
          <a:lstStyle>
            <a:lvl1pPr>
              <a:lnSpc>
                <a:spcPts val="38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lang="en-US" sz="3667" dirty="0"/>
              <a:t>Let's </a:t>
            </a:r>
            <a:r>
              <a:rPr lang="en-US" sz="3667"/>
              <a:t>shift our attention back to </a:t>
            </a:r>
            <a:endParaRPr lang="en-US" sz="3667" dirty="0"/>
          </a:p>
          <a:p>
            <a:r>
              <a:rPr lang="en-US" sz="3667"/>
              <a:t>the Literature</a:t>
            </a:r>
            <a:r>
              <a:rPr sz="3667" dirty="0"/>
              <a:t> Review</a:t>
            </a:r>
            <a:endParaRPr lang="en-US" sz="3667" dirty="0"/>
          </a:p>
        </p:txBody>
      </p:sp>
      <p:pic>
        <p:nvPicPr>
          <p:cNvPr id="3079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6336"/>
            <a:ext cx="3681109" cy="552166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3" name="Text 0"/>
          <p:cNvSpPr txBox="1"/>
          <p:nvPr/>
        </p:nvSpPr>
        <p:spPr>
          <a:xfrm>
            <a:off x="470319" y="556033"/>
            <a:ext cx="6032101" cy="824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3167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/>
              <a:t>Literature Review Template</a:t>
            </a:r>
          </a:p>
          <a:p>
            <a:pPr>
              <a:lnSpc>
                <a:spcPts val="3167"/>
              </a:lnSpc>
              <a:defRPr sz="4400" i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/>
              <a:t>Short Version</a:t>
            </a:r>
          </a:p>
        </p:txBody>
      </p:sp>
      <p:sp>
        <p:nvSpPr>
          <p:cNvPr id="3094" name="Begin with a short introduction:…"/>
          <p:cNvSpPr txBox="1"/>
          <p:nvPr/>
        </p:nvSpPr>
        <p:spPr>
          <a:xfrm>
            <a:off x="4149249" y="1791161"/>
            <a:ext cx="7313946" cy="30418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099" rIns="38099">
            <a:spAutoFit/>
          </a:bodyPr>
          <a:lstStyle/>
          <a:p>
            <a:pPr marL="217228" indent="-217228">
              <a:lnSpc>
                <a:spcPts val="2333"/>
              </a:lnSpc>
              <a:buSzPct val="100000"/>
              <a:buChar char="•"/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 b="1"/>
              <a:t>Begin with a short introduction: </a:t>
            </a:r>
          </a:p>
          <a:p>
            <a:pPr marL="534715" lvl="1" indent="-217228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What is your topic? </a:t>
            </a:r>
          </a:p>
          <a:p>
            <a:pPr marL="534715" lvl="1" indent="-217228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Why is it important?</a:t>
            </a:r>
          </a:p>
          <a:p>
            <a:pPr>
              <a:lnSpc>
                <a:spcPts val="2333"/>
              </a:lnSpc>
              <a:defRPr sz="2600">
                <a:latin typeface="Inter"/>
                <a:ea typeface="Inter"/>
                <a:cs typeface="Inter"/>
                <a:sym typeface="Inter"/>
              </a:defRPr>
            </a:pPr>
            <a:endParaRPr sz="2167" b="1"/>
          </a:p>
          <a:p>
            <a:pPr marL="217228" indent="-217228">
              <a:lnSpc>
                <a:spcPts val="2333"/>
              </a:lnSpc>
              <a:buSzPct val="100000"/>
              <a:buChar char="•"/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 b="1"/>
              <a:t>Body: </a:t>
            </a:r>
          </a:p>
          <a:p>
            <a:pPr marL="534715" lvl="1" indent="-217228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Share what other studies have found. </a:t>
            </a:r>
          </a:p>
          <a:p>
            <a:pPr marL="534715" lvl="1" indent="-217228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Organize the body by themes, not by author.</a:t>
            </a:r>
            <a:endParaRPr sz="1917" b="1"/>
          </a:p>
          <a:p>
            <a:pPr marL="217228" indent="-217228">
              <a:lnSpc>
                <a:spcPts val="2333"/>
              </a:lnSpc>
              <a:buSzPct val="100000"/>
              <a:buChar char="•"/>
              <a:defRPr sz="2600">
                <a:latin typeface="Inter"/>
                <a:ea typeface="Inter"/>
                <a:cs typeface="Inter"/>
                <a:sym typeface="Inter"/>
              </a:defRPr>
            </a:pPr>
            <a:endParaRPr sz="2167" b="1"/>
          </a:p>
          <a:p>
            <a:pPr marL="217228" indent="-217228">
              <a:lnSpc>
                <a:spcPts val="2333"/>
              </a:lnSpc>
              <a:buSzPct val="100000"/>
              <a:buChar char="•"/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 b="1"/>
              <a:t>End with a summary: </a:t>
            </a:r>
          </a:p>
          <a:p>
            <a:pPr marL="534715" lvl="1" indent="-217228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Clarify how your project connects to past research.</a:t>
            </a:r>
          </a:p>
        </p:txBody>
      </p:sp>
      <p:pic>
        <p:nvPicPr>
          <p:cNvPr id="3095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23610"/>
            <a:ext cx="3287976" cy="4934391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90E56F-9020-0B70-E962-77A53B71F366}"/>
              </a:ext>
            </a:extLst>
          </p:cNvPr>
          <p:cNvSpPr txBox="1"/>
          <p:nvPr/>
        </p:nvSpPr>
        <p:spPr>
          <a:xfrm>
            <a:off x="166742" y="185563"/>
            <a:ext cx="2048178" cy="2256706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>
                <a:highlight>
                  <a:srgbClr val="FFFF00"/>
                </a:highlight>
              </a:rPr>
              <a:t>Maybe show here for the first time or as a reminder.</a:t>
            </a:r>
            <a:endParaRPr lang="en-US" sz="1500"/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3" name="Text 0"/>
          <p:cNvSpPr txBox="1"/>
          <p:nvPr/>
        </p:nvSpPr>
        <p:spPr>
          <a:xfrm>
            <a:off x="4102577" y="1579072"/>
            <a:ext cx="5212966" cy="487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anchor="t">
            <a:spAutoFit/>
          </a:bodyPr>
          <a:lstStyle>
            <a:lvl1pPr>
              <a:lnSpc>
                <a:spcPts val="38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Hands-on Writing Time</a:t>
            </a:r>
          </a:p>
        </p:txBody>
      </p:sp>
      <p:pic>
        <p:nvPicPr>
          <p:cNvPr id="3104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6336"/>
            <a:ext cx="3681109" cy="5521664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0427AB7-B90F-F9A8-2835-8BC8644D5731}"/>
              </a:ext>
            </a:extLst>
          </p:cNvPr>
          <p:cNvSpPr txBox="1"/>
          <p:nvPr/>
        </p:nvSpPr>
        <p:spPr>
          <a:xfrm>
            <a:off x="4101210" y="2477713"/>
            <a:ext cx="6096000" cy="269304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111111"/>
                </a:solidFill>
                <a:latin typeface="Arial"/>
                <a:ea typeface="Arial"/>
                <a:cs typeface="Arial"/>
              </a:rPr>
              <a:t>Finalize Handout: </a:t>
            </a:r>
            <a:r>
              <a:rPr lang="en-US" sz="2000" b="1" i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Literature Review Template</a:t>
            </a:r>
            <a:r>
              <a:rPr lang="en-US" sz="2000">
                <a:solidFill>
                  <a:srgbClr val="111111"/>
                </a:solidFill>
                <a:latin typeface="Arial"/>
                <a:ea typeface="Arial"/>
                <a:cs typeface="Arial"/>
              </a:rPr>
              <a:t>. </a:t>
            </a:r>
            <a:endParaRPr lang="en-US" sz="2000"/>
          </a:p>
          <a:p>
            <a:endParaRPr lang="en-US" sz="200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r>
              <a:rPr lang="en-US" sz="200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Then present your 3-part mini literature review:</a:t>
            </a:r>
            <a:endParaRPr lang="en-US" sz="2000">
              <a:latin typeface="Aptos"/>
              <a:ea typeface="Arial"/>
              <a:cs typeface="Arial"/>
            </a:endParaRPr>
          </a:p>
          <a:p>
            <a:endParaRPr lang="en-US" sz="200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r>
              <a:rPr lang="en-US" sz="200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Introduction (define variables + importance), </a:t>
            </a:r>
            <a:endParaRPr lang="en-US" sz="2000">
              <a:latin typeface="Aptos"/>
              <a:ea typeface="Arial"/>
              <a:cs typeface="Arial"/>
            </a:endParaRPr>
          </a:p>
          <a:p>
            <a:r>
              <a:rPr lang="en-US" sz="2000">
                <a:solidFill>
                  <a:srgbClr val="111111"/>
                </a:solidFill>
                <a:latin typeface="Arial"/>
                <a:ea typeface="Arial"/>
                <a:cs typeface="Arial"/>
              </a:rPr>
              <a:t>Middle </a:t>
            </a:r>
            <a:r>
              <a:rPr lang="en-US" sz="20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(2–3 studies + what they found), </a:t>
            </a:r>
            <a:endParaRPr lang="en-US" sz="2000">
              <a:latin typeface="Aptos"/>
              <a:ea typeface="Arial"/>
              <a:cs typeface="Arial"/>
            </a:endParaRPr>
          </a:p>
          <a:p>
            <a:r>
              <a:rPr lang="en-US" sz="2000">
                <a:solidFill>
                  <a:srgbClr val="111111"/>
                </a:solidFill>
                <a:latin typeface="Arial"/>
                <a:ea typeface="Arial"/>
                <a:cs typeface="Arial"/>
              </a:rPr>
              <a:t>Ending (gap </a:t>
            </a:r>
            <a:r>
              <a:rPr lang="en-US" sz="20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that your study addresses).</a:t>
            </a:r>
            <a:endParaRPr lang="en-US" sz="2000"/>
          </a:p>
          <a:p>
            <a:endParaRPr lang="en-US" sz="1500"/>
          </a:p>
          <a:p>
            <a:pPr defTabSz="761970" hangingPunct="0"/>
            <a:endParaRPr lang="en-US" sz="1500">
              <a:solidFill>
                <a:srgbClr val="000000"/>
              </a:solidFill>
              <a:sym typeface="Aptos"/>
            </a:endParaRPr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6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5380" y="700690"/>
            <a:ext cx="3935541" cy="5903311"/>
          </a:xfrm>
          <a:prstGeom prst="rect">
            <a:avLst/>
          </a:prstGeom>
          <a:ln w="12700">
            <a:miter lim="400000"/>
          </a:ln>
        </p:spPr>
      </p:pic>
      <p:sp>
        <p:nvSpPr>
          <p:cNvPr id="3107" name="Text 0"/>
          <p:cNvSpPr txBox="1"/>
          <p:nvPr/>
        </p:nvSpPr>
        <p:spPr>
          <a:xfrm>
            <a:off x="661492" y="1043087"/>
            <a:ext cx="5232202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Homework - Teamwork</a:t>
            </a:r>
          </a:p>
        </p:txBody>
      </p:sp>
      <p:sp>
        <p:nvSpPr>
          <p:cNvPr id="3108" name="Shape 1"/>
          <p:cNvSpPr/>
          <p:nvPr/>
        </p:nvSpPr>
        <p:spPr>
          <a:xfrm>
            <a:off x="661492" y="1917204"/>
            <a:ext cx="6843855" cy="3419048"/>
          </a:xfrm>
          <a:prstGeom prst="roundRect">
            <a:avLst>
              <a:gd name="adj" fmla="val 232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3109" name="Text 2"/>
          <p:cNvSpPr txBox="1"/>
          <p:nvPr/>
        </p:nvSpPr>
        <p:spPr>
          <a:xfrm>
            <a:off x="856853" y="2112565"/>
            <a:ext cx="5148571" cy="3223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83808" indent="-183808">
              <a:lnSpc>
                <a:spcPts val="2250"/>
              </a:lnSpc>
              <a:buSzPct val="100000"/>
              <a:buChar char="•"/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1833"/>
          </a:p>
          <a:p>
            <a:pPr marL="183808" indent="-183808">
              <a:lnSpc>
                <a:spcPts val="2250"/>
              </a:lnSpc>
              <a:buSzPct val="100000"/>
              <a:buChar char="•"/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1833"/>
              <a:t>Finish Handout 4: Research Design Blueprint.  </a:t>
            </a:r>
          </a:p>
          <a:p>
            <a:pPr>
              <a:lnSpc>
                <a:spcPts val="225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1833"/>
          </a:p>
          <a:p>
            <a:pPr marL="183808" indent="-183808">
              <a:lnSpc>
                <a:spcPts val="2250"/>
              </a:lnSpc>
              <a:buSzPct val="100000"/>
              <a:buChar char="•"/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1833"/>
              <a:t>Continue with your lit review. Make sure you have resources that speak to why your topic is important. </a:t>
            </a:r>
            <a:r>
              <a:rPr sz="1833">
                <a:solidFill>
                  <a:srgbClr val="941751"/>
                </a:solidFill>
              </a:rPr>
              <a:t>You would need this information for your upcoming presentation!</a:t>
            </a:r>
            <a:r>
              <a:rPr sz="1833"/>
              <a:t> As always, keep track of your resources through “Source Tracker”. Share your notes with your team members.</a:t>
            </a:r>
          </a:p>
          <a:p>
            <a:pPr>
              <a:lnSpc>
                <a:spcPts val="225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1833"/>
          </a:p>
        </p:txBody>
      </p:sp>
      <p:pic>
        <p:nvPicPr>
          <p:cNvPr id="3110" name="pasted-movie.png" descr="pasted-movie.png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rot="360000">
            <a:off x="6246565" y="2838592"/>
            <a:ext cx="2996112" cy="3781180"/>
          </a:xfrm>
          <a:prstGeom prst="rect">
            <a:avLst/>
          </a:prstGeom>
          <a:effectLst>
            <a:outerShdw blurRad="381000" dist="114300" rotWithShape="0">
              <a:srgbClr val="000000">
                <a:alpha val="75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BC90A6E-7BF1-780D-BB5E-10D75529D452}"/>
              </a:ext>
            </a:extLst>
          </p:cNvPr>
          <p:cNvSpPr txBox="1"/>
          <p:nvPr/>
        </p:nvSpPr>
        <p:spPr>
          <a:xfrm>
            <a:off x="414271" y="229245"/>
            <a:ext cx="4683629" cy="6232282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>
                <a:highlight>
                  <a:srgbClr val="FFFF00"/>
                </a:highlight>
              </a:rPr>
              <a:t>NEEDS TO BE UPDATED</a:t>
            </a:r>
            <a:endParaRPr lang="en-US" sz="1500"/>
          </a:p>
          <a:p>
            <a:pPr algn="ctr"/>
            <a:endParaRPr lang="en-US" sz="2833" b="1" dirty="0">
              <a:highlight>
                <a:srgbClr val="FFFF00"/>
              </a:highlight>
            </a:endParaRPr>
          </a:p>
          <a:p>
            <a:pPr algn="ctr"/>
            <a:r>
              <a:rPr lang="en-US" sz="1500" b="1">
                <a:highlight>
                  <a:srgbClr val="FFFF00"/>
                </a:highlight>
              </a:rPr>
              <a:t>After-Class Team Session  (3:15 – 5:15 PM)</a:t>
            </a:r>
            <a:endParaRPr lang="en-US" sz="1500"/>
          </a:p>
          <a:p>
            <a:pPr algn="ctr"/>
            <a:r>
              <a:rPr lang="en-US" sz="1500">
                <a:highlight>
                  <a:srgbClr val="FFFF00"/>
                </a:highlight>
              </a:rPr>
              <a:t>Teams work with TA / peer mentor available. Produce a tangible output before dinner. Not free time.</a:t>
            </a:r>
            <a:endParaRPr lang="en-US" sz="1500"/>
          </a:p>
          <a:p>
            <a:pPr algn="ctr"/>
            <a:r>
              <a:rPr lang="en-US" sz="1500">
                <a:highlight>
                  <a:srgbClr val="FFFF00"/>
                </a:highlight>
              </a:rPr>
              <a:t>Session 6 Mission Sheet: Begin drafting the literature review as a team — Beginning, Middle, Ending structure</a:t>
            </a:r>
            <a:endParaRPr lang="en-US" sz="1500"/>
          </a:p>
          <a:p>
            <a:pPr algn="ctr"/>
            <a:r>
              <a:rPr lang="en-US" sz="1500" dirty="0">
                <a:highlight>
                  <a:srgbClr val="FFFF00"/>
                </a:highlight>
              </a:rPr>
              <a:t>Divide writing: one member drafts Beginning, one drafts Middle, one drafts Ending. Combine and revise together </a:t>
            </a:r>
            <a:r>
              <a:rPr lang="en-US" sz="1500">
                <a:highlight>
                  <a:srgbClr val="FFFF00"/>
                </a:highlight>
              </a:rPr>
              <a:t>before dinner.</a:t>
            </a:r>
            <a:endParaRPr lang="en-US" sz="1500"/>
          </a:p>
          <a:p>
            <a:pPr algn="ctr"/>
            <a:endParaRPr lang="en-US" sz="1500" dirty="0">
              <a:highlight>
                <a:srgbClr val="FFFF00"/>
              </a:highlight>
            </a:endParaRPr>
          </a:p>
          <a:p>
            <a:pPr algn="ctr"/>
            <a:r>
              <a:rPr lang="en-US" sz="1500" b="1">
                <a:solidFill>
                  <a:srgbClr val="5B3E8C"/>
                </a:solidFill>
                <a:highlight>
                  <a:srgbClr val="FFFF00"/>
                </a:highlight>
                <a:latin typeface="Arial"/>
                <a:cs typeface="Arial"/>
              </a:rPr>
              <a:t> Evening Work Period  (7:00 – 9:00 PM)</a:t>
            </a:r>
            <a:endParaRPr lang="en-US" sz="1500"/>
          </a:p>
          <a:p>
            <a:pPr algn="ctr"/>
            <a:r>
              <a:rPr lang="en-US" sz="1500" i="1">
                <a:solidFill>
                  <a:srgbClr val="555555"/>
                </a:solidFill>
                <a:highlight>
                  <a:srgbClr val="FFFF00"/>
                </a:highlight>
                <a:latin typeface="Arial"/>
                <a:cs typeface="Arial"/>
              </a:rPr>
              <a:t>Individual + partner work during CTD RTA study hours. TA available for drop-in questions.</a:t>
            </a:r>
            <a:endParaRPr lang="en-US" sz="1500"/>
          </a:p>
          <a:p>
            <a:pPr marL="238115" indent="-238115" algn="ctr">
              <a:buFont typeface="Arial"/>
              <a:buChar char="•"/>
            </a:pPr>
            <a:r>
              <a:rPr lang="en-US" sz="1500">
                <a:solidFill>
                  <a:srgbClr val="111111"/>
                </a:solidFill>
                <a:highlight>
                  <a:srgbClr val="FFFF00"/>
                </a:highlight>
                <a:latin typeface="Arial"/>
                <a:cs typeface="Arial"/>
              </a:rPr>
              <a:t>Individual: Revise your assigned lit review section — clarity, proper citations, logical flow. Cross-check every in-text citation against reference list</a:t>
            </a:r>
            <a:endParaRPr lang="en-US" sz="1500"/>
          </a:p>
          <a:p>
            <a:pPr marL="238115" indent="-238115" algn="ctr">
              <a:buFont typeface="Arial"/>
              <a:buChar char="•"/>
            </a:pPr>
            <a:r>
              <a:rPr lang="en-US" sz="1500" dirty="0">
                <a:solidFill>
                  <a:srgbClr val="111111"/>
                </a:solidFill>
                <a:highlight>
                  <a:srgbClr val="FFFF00"/>
                </a:highlight>
                <a:latin typeface="Arial"/>
                <a:cs typeface="Arial"/>
              </a:rPr>
              <a:t>(</a:t>
            </a:r>
            <a:r>
              <a:rPr lang="en-US" sz="1500" dirty="0" err="1">
                <a:solidFill>
                  <a:srgbClr val="111111"/>
                </a:solidFill>
                <a:highlight>
                  <a:srgbClr val="FFFF00"/>
                </a:highlight>
                <a:latin typeface="Arial"/>
                <a:cs typeface="Arial"/>
              </a:rPr>
              <a:t>RcS</a:t>
            </a:r>
            <a:r>
              <a:rPr lang="en-US" sz="1500" dirty="0">
                <a:solidFill>
                  <a:srgbClr val="111111"/>
                </a:solidFill>
                <a:highlight>
                  <a:srgbClr val="FFFF00"/>
                </a:highlight>
                <a:latin typeface="Arial"/>
                <a:cs typeface="Arial"/>
              </a:rPr>
              <a:t>): Add 1–2 additional sources to strengthen the Middle section. Each source: 2–3 sentences connecting it to your variables</a:t>
            </a:r>
            <a:endParaRPr lang="en-US" sz="1500"/>
          </a:p>
          <a:p>
            <a:pPr marL="238115" indent="-238115" algn="ctr">
              <a:buFont typeface="Arial"/>
              <a:buChar char="•"/>
            </a:pPr>
            <a:r>
              <a:rPr lang="en-US" sz="1500">
                <a:solidFill>
                  <a:srgbClr val="111111"/>
                </a:solidFill>
                <a:highlight>
                  <a:srgbClr val="FFFF00"/>
                </a:highlight>
                <a:latin typeface="Arial"/>
                <a:cs typeface="Arial"/>
              </a:rPr>
              <a:t>Complete 'Evidence of Importance' handout — 2 sources showing why your study matters, with paraphrased summaries and citations</a:t>
            </a:r>
            <a:endParaRPr lang="en-US" sz="1500"/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6C70A-4410-331B-FE5E-D068BA97E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E2FF881-94DE-43C3-2745-6C54E6089A25}"/>
              </a:ext>
            </a:extLst>
          </p:cNvPr>
          <p:cNvSpPr txBox="1"/>
          <p:nvPr/>
        </p:nvSpPr>
        <p:spPr>
          <a:xfrm>
            <a:off x="166742" y="185563"/>
            <a:ext cx="4523464" cy="5155064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 dirty="0">
                <a:highlight>
                  <a:srgbClr val="FFFF00"/>
                </a:highlight>
              </a:rPr>
              <a:t>NEW SLIDE </a:t>
            </a:r>
            <a:r>
              <a:rPr lang="en-US" sz="2833" b="1">
                <a:highlight>
                  <a:srgbClr val="FFFF00"/>
                </a:highlight>
              </a:rPr>
              <a:t>NEEDED </a:t>
            </a:r>
          </a:p>
          <a:p>
            <a:pPr algn="ctr"/>
            <a:endParaRPr lang="en-US" sz="2833" b="1" dirty="0">
              <a:highlight>
                <a:srgbClr val="FFFF00"/>
              </a:highlight>
            </a:endParaRPr>
          </a:p>
          <a:p>
            <a:pPr algn="ctr"/>
            <a:r>
              <a:rPr lang="en-US" sz="3333" b="1" dirty="0">
                <a:highlight>
                  <a:srgbClr val="FFFF00"/>
                </a:highlight>
                <a:ea typeface="+mn-lt"/>
                <a:cs typeface="+mn-lt"/>
              </a:rPr>
              <a:t> </a:t>
            </a:r>
            <a:r>
              <a:rPr lang="en-US" sz="2000" b="1">
                <a:solidFill>
                  <a:srgbClr val="344E6B"/>
                </a:solidFill>
                <a:highlight>
                  <a:srgbClr val="FFFF00"/>
                </a:highlight>
                <a:latin typeface="Arial"/>
                <a:ea typeface="+mn-lt"/>
                <a:cs typeface="Arial"/>
              </a:rPr>
              <a:t>Scientific Storytelling: Literature Review Slide Practice (10 min)</a:t>
            </a:r>
            <a:endParaRPr lang="en-US" sz="2000">
              <a:ea typeface="+mn-lt"/>
              <a:cs typeface="+mn-lt"/>
            </a:endParaRPr>
          </a:p>
          <a:p>
            <a:pPr algn="ctr"/>
            <a:endParaRPr lang="en-US" sz="2000" b="1" dirty="0">
              <a:solidFill>
                <a:srgbClr val="344E6B"/>
              </a:solidFill>
              <a:highlight>
                <a:srgbClr val="FFFF00"/>
              </a:highlight>
              <a:latin typeface="Arial"/>
              <a:ea typeface="+mn-lt"/>
              <a:cs typeface="Arial"/>
            </a:endParaRPr>
          </a:p>
          <a:p>
            <a:pPr algn="ctr"/>
            <a:r>
              <a:rPr lang="en-US" sz="2000">
                <a:solidFill>
                  <a:srgbClr val="344E6B"/>
                </a:solidFill>
                <a:highlight>
                  <a:srgbClr val="FFFF00"/>
                </a:highlight>
                <a:latin typeface="Arial"/>
                <a:ea typeface="+mn-lt"/>
                <a:cs typeface="Arial"/>
              </a:rPr>
              <a:t>Convert the literature review into 2 slides: Background slide (key definitions + 2–3 cited findings) and Gap + Research Question slide.</a:t>
            </a:r>
            <a:endParaRPr lang="en-US" sz="1500">
              <a:solidFill>
                <a:srgbClr val="344E6B"/>
              </a:solidFill>
              <a:latin typeface="Aptos"/>
              <a:ea typeface="+mn-lt"/>
              <a:cs typeface="Arial"/>
            </a:endParaRPr>
          </a:p>
          <a:p>
            <a:pPr algn="ctr"/>
            <a:endParaRPr lang="en-US" sz="2000" dirty="0">
              <a:solidFill>
                <a:srgbClr val="344E6B"/>
              </a:solidFill>
              <a:highlight>
                <a:srgbClr val="FFFF00"/>
              </a:highlight>
              <a:latin typeface="Arial"/>
              <a:ea typeface="+mn-lt"/>
              <a:cs typeface="Arial"/>
            </a:endParaRPr>
          </a:p>
          <a:p>
            <a:pPr algn="ctr"/>
            <a:r>
              <a:rPr lang="en-US" sz="2000" dirty="0">
                <a:solidFill>
                  <a:srgbClr val="344E6B"/>
                </a:solidFill>
                <a:highlight>
                  <a:srgbClr val="FFFF00"/>
                </a:highlight>
                <a:latin typeface="Arial"/>
                <a:ea typeface="+mn-lt"/>
                <a:cs typeface="Arial"/>
              </a:rPr>
              <a:t> </a:t>
            </a:r>
            <a:r>
              <a:rPr lang="en-US" sz="2000">
                <a:solidFill>
                  <a:srgbClr val="344E6B"/>
                </a:solidFill>
                <a:highlight>
                  <a:srgbClr val="FFFF00"/>
                </a:highlight>
                <a:latin typeface="Arial"/>
                <a:ea typeface="+mn-lt"/>
                <a:cs typeface="Arial"/>
              </a:rPr>
              <a:t>Practice presenting these two slides with a partner.</a:t>
            </a:r>
            <a:endParaRPr lang="en-US" sz="1500">
              <a:solidFill>
                <a:srgbClr val="344E6B"/>
              </a:solidFill>
            </a:endParaRPr>
          </a:p>
          <a:p>
            <a:pPr algn="ctr"/>
            <a:endParaRPr lang="en-US" sz="1500" dirty="0"/>
          </a:p>
          <a:p>
            <a:pPr algn="ctr"/>
            <a:br>
              <a:rPr lang="en-US" sz="1500" dirty="0"/>
            </a:br>
            <a:endParaRPr lang="en-US" sz="1500" dirty="0"/>
          </a:p>
          <a:p>
            <a:pPr algn="ctr"/>
            <a:endParaRPr lang="en-US" sz="15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15555760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" name="Rectangle"/>
          <p:cNvSpPr/>
          <p:nvPr/>
        </p:nvSpPr>
        <p:spPr>
          <a:xfrm>
            <a:off x="10278766" y="-63446"/>
            <a:ext cx="1058334" cy="698489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  <p:sp>
        <p:nvSpPr>
          <p:cNvPr id="3113" name="Rectangle"/>
          <p:cNvSpPr/>
          <p:nvPr/>
        </p:nvSpPr>
        <p:spPr>
          <a:xfrm>
            <a:off x="8310266" y="120000"/>
            <a:ext cx="1058334" cy="698489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  <p:sp>
        <p:nvSpPr>
          <p:cNvPr id="3114" name="Rectangle"/>
          <p:cNvSpPr/>
          <p:nvPr/>
        </p:nvSpPr>
        <p:spPr>
          <a:xfrm>
            <a:off x="6341766" y="-63446"/>
            <a:ext cx="1058334" cy="698489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  <p:sp>
        <p:nvSpPr>
          <p:cNvPr id="3115" name="Rectangle"/>
          <p:cNvSpPr/>
          <p:nvPr/>
        </p:nvSpPr>
        <p:spPr>
          <a:xfrm>
            <a:off x="4474788" y="-63446"/>
            <a:ext cx="1058334" cy="698489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  <p:sp>
        <p:nvSpPr>
          <p:cNvPr id="3116" name="Rectangle"/>
          <p:cNvSpPr/>
          <p:nvPr/>
        </p:nvSpPr>
        <p:spPr>
          <a:xfrm>
            <a:off x="2607811" y="-63446"/>
            <a:ext cx="1058334" cy="698489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  <p:sp>
        <p:nvSpPr>
          <p:cNvPr id="3117" name="Rectangle"/>
          <p:cNvSpPr/>
          <p:nvPr/>
        </p:nvSpPr>
        <p:spPr>
          <a:xfrm>
            <a:off x="740833" y="-63446"/>
            <a:ext cx="1058333" cy="698489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  <p:sp>
        <p:nvSpPr>
          <p:cNvPr id="3118" name="EXTRA SLIDES FOR DAY 5"/>
          <p:cNvSpPr txBox="1"/>
          <p:nvPr/>
        </p:nvSpPr>
        <p:spPr>
          <a:xfrm>
            <a:off x="81618" y="1146599"/>
            <a:ext cx="12028765" cy="1096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099" tIns="38100" rIns="38099" bIns="38100" anchor="t">
            <a:spAutoFit/>
          </a:bodyPr>
          <a:lstStyle/>
          <a:p>
            <a:pPr algn="ctr">
              <a:lnSpc>
                <a:spcPct val="90000"/>
              </a:lnSpc>
              <a:defRPr sz="4400">
                <a:latin typeface="Aptos Display"/>
                <a:ea typeface="Aptos Display"/>
                <a:cs typeface="Aptos Display"/>
                <a:sym typeface="Aptos Display"/>
              </a:defRPr>
            </a:pPr>
            <a:endParaRPr sz="3667"/>
          </a:p>
          <a:p>
            <a:pPr algn="ctr">
              <a:lnSpc>
                <a:spcPct val="90000"/>
              </a:lnSpc>
              <a:defRPr sz="4400">
                <a:latin typeface="Aptos Display"/>
                <a:ea typeface="Aptos Display"/>
                <a:cs typeface="Aptos Display"/>
                <a:sym typeface="Aptos Display"/>
              </a:defRPr>
            </a:pPr>
            <a:r>
              <a:rPr sz="3667" b="1"/>
              <a:t>EXTRA SLIDES</a:t>
            </a:r>
          </a:p>
        </p:txBody>
      </p:sp>
      <p:sp>
        <p:nvSpPr>
          <p:cNvPr id="3119" name="Rectangle"/>
          <p:cNvSpPr/>
          <p:nvPr/>
        </p:nvSpPr>
        <p:spPr>
          <a:xfrm>
            <a:off x="-155850" y="6147566"/>
            <a:ext cx="12503701" cy="7488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  <p:sp>
        <p:nvSpPr>
          <p:cNvPr id="3120" name="Rectangle"/>
          <p:cNvSpPr/>
          <p:nvPr/>
        </p:nvSpPr>
        <p:spPr>
          <a:xfrm>
            <a:off x="-11851" y="-58595"/>
            <a:ext cx="12215701" cy="7488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571A86-0462-19F7-F1A9-B47E99ECC03F}"/>
              </a:ext>
            </a:extLst>
          </p:cNvPr>
          <p:cNvSpPr txBox="1"/>
          <p:nvPr/>
        </p:nvSpPr>
        <p:spPr>
          <a:xfrm>
            <a:off x="166742" y="185563"/>
            <a:ext cx="2048178" cy="948847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>
                <a:highlight>
                  <a:srgbClr val="FFFF00"/>
                </a:highlight>
              </a:rPr>
              <a:t>OUT​</a:t>
            </a: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2" name="Text 0"/>
          <p:cNvSpPr txBox="1"/>
          <p:nvPr/>
        </p:nvSpPr>
        <p:spPr>
          <a:xfrm>
            <a:off x="661491" y="1360686"/>
            <a:ext cx="6613990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Common Research Challenges</a:t>
            </a:r>
          </a:p>
        </p:txBody>
      </p:sp>
      <p:sp>
        <p:nvSpPr>
          <p:cNvPr id="3123" name="Text 1"/>
          <p:cNvSpPr txBox="1"/>
          <p:nvPr/>
        </p:nvSpPr>
        <p:spPr>
          <a:xfrm>
            <a:off x="661491" y="2423815"/>
            <a:ext cx="2157642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Participation Issues</a:t>
            </a:r>
          </a:p>
        </p:txBody>
      </p:sp>
      <p:sp>
        <p:nvSpPr>
          <p:cNvPr id="3124" name="Text 2"/>
          <p:cNvSpPr txBox="1"/>
          <p:nvPr/>
        </p:nvSpPr>
        <p:spPr>
          <a:xfrm>
            <a:off x="661491" y="2908101"/>
            <a:ext cx="2291846" cy="317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Low survey response rates</a:t>
            </a:r>
          </a:p>
        </p:txBody>
      </p:sp>
      <p:sp>
        <p:nvSpPr>
          <p:cNvPr id="3125" name="Text 3"/>
          <p:cNvSpPr txBox="1"/>
          <p:nvPr/>
        </p:nvSpPr>
        <p:spPr>
          <a:xfrm>
            <a:off x="661491" y="3276600"/>
            <a:ext cx="2222853" cy="317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Participants dropping out</a:t>
            </a:r>
          </a:p>
        </p:txBody>
      </p:sp>
      <p:sp>
        <p:nvSpPr>
          <p:cNvPr id="3126" name="Text 4"/>
          <p:cNvSpPr txBox="1"/>
          <p:nvPr/>
        </p:nvSpPr>
        <p:spPr>
          <a:xfrm>
            <a:off x="661491" y="3645098"/>
            <a:ext cx="1805559" cy="317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Scheduling conflicts</a:t>
            </a:r>
          </a:p>
        </p:txBody>
      </p:sp>
      <p:sp>
        <p:nvSpPr>
          <p:cNvPr id="3127" name="Text 5"/>
          <p:cNvSpPr txBox="1"/>
          <p:nvPr/>
        </p:nvSpPr>
        <p:spPr>
          <a:xfrm>
            <a:off x="661491" y="4117579"/>
            <a:ext cx="3315098" cy="1035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Solution: Recruit more than needed, send reminders, offer incentives, be flexible with scheduling.</a:t>
            </a:r>
          </a:p>
        </p:txBody>
      </p:sp>
      <p:sp>
        <p:nvSpPr>
          <p:cNvPr id="3128" name="Text 6"/>
          <p:cNvSpPr txBox="1"/>
          <p:nvPr/>
        </p:nvSpPr>
        <p:spPr>
          <a:xfrm>
            <a:off x="4444106" y="2423815"/>
            <a:ext cx="2596865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Measurement Problems</a:t>
            </a:r>
          </a:p>
        </p:txBody>
      </p:sp>
      <p:sp>
        <p:nvSpPr>
          <p:cNvPr id="3129" name="Text 7"/>
          <p:cNvSpPr txBox="1"/>
          <p:nvPr/>
        </p:nvSpPr>
        <p:spPr>
          <a:xfrm>
            <a:off x="4444106" y="2908101"/>
            <a:ext cx="1451551" cy="317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Unclear results</a:t>
            </a:r>
          </a:p>
        </p:txBody>
      </p:sp>
      <p:sp>
        <p:nvSpPr>
          <p:cNvPr id="3130" name="Text 8"/>
          <p:cNvSpPr txBox="1"/>
          <p:nvPr/>
        </p:nvSpPr>
        <p:spPr>
          <a:xfrm>
            <a:off x="4444106" y="3276600"/>
            <a:ext cx="1735411" cy="317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Equipment failures</a:t>
            </a:r>
          </a:p>
        </p:txBody>
      </p:sp>
      <p:sp>
        <p:nvSpPr>
          <p:cNvPr id="3131" name="Text 9"/>
          <p:cNvSpPr txBox="1"/>
          <p:nvPr/>
        </p:nvSpPr>
        <p:spPr>
          <a:xfrm>
            <a:off x="4444106" y="3645098"/>
            <a:ext cx="1609543" cy="317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Inconsistent data</a:t>
            </a:r>
          </a:p>
        </p:txBody>
      </p:sp>
      <p:sp>
        <p:nvSpPr>
          <p:cNvPr id="3132" name="Text 10"/>
          <p:cNvSpPr txBox="1"/>
          <p:nvPr/>
        </p:nvSpPr>
        <p:spPr>
          <a:xfrm>
            <a:off x="4444106" y="4117579"/>
            <a:ext cx="3315098" cy="1035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Solution: Test instruments beforehand, use multiple measures, document anomalies, increase sample size.</a:t>
            </a:r>
          </a:p>
        </p:txBody>
      </p:sp>
      <p:sp>
        <p:nvSpPr>
          <p:cNvPr id="3133" name="Text 11"/>
          <p:cNvSpPr txBox="1"/>
          <p:nvPr/>
        </p:nvSpPr>
        <p:spPr>
          <a:xfrm>
            <a:off x="8226723" y="2423815"/>
            <a:ext cx="2317942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Resource Limitations</a:t>
            </a:r>
          </a:p>
        </p:txBody>
      </p:sp>
      <p:sp>
        <p:nvSpPr>
          <p:cNvPr id="3134" name="Text 12"/>
          <p:cNvSpPr txBox="1"/>
          <p:nvPr/>
        </p:nvSpPr>
        <p:spPr>
          <a:xfrm>
            <a:off x="8226723" y="2908101"/>
            <a:ext cx="1724575" cy="317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Budget constraints</a:t>
            </a:r>
          </a:p>
        </p:txBody>
      </p:sp>
      <p:sp>
        <p:nvSpPr>
          <p:cNvPr id="3135" name="Text 13"/>
          <p:cNvSpPr txBox="1"/>
          <p:nvPr/>
        </p:nvSpPr>
        <p:spPr>
          <a:xfrm>
            <a:off x="8226723" y="3276600"/>
            <a:ext cx="1410322" cy="317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Limited access</a:t>
            </a:r>
          </a:p>
        </p:txBody>
      </p:sp>
      <p:sp>
        <p:nvSpPr>
          <p:cNvPr id="3136" name="Text 14"/>
          <p:cNvSpPr txBox="1"/>
          <p:nvPr/>
        </p:nvSpPr>
        <p:spPr>
          <a:xfrm>
            <a:off x="8226723" y="3645098"/>
            <a:ext cx="1469377" cy="317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Time shortages</a:t>
            </a:r>
          </a:p>
        </p:txBody>
      </p:sp>
      <p:sp>
        <p:nvSpPr>
          <p:cNvPr id="3137" name="Text 15"/>
          <p:cNvSpPr txBox="1"/>
          <p:nvPr/>
        </p:nvSpPr>
        <p:spPr>
          <a:xfrm>
            <a:off x="8226723" y="4117579"/>
            <a:ext cx="3315098" cy="676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Solution: Scale project appropriately, find alternatives, prioritize essential elements.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002525-F7DB-7CB8-06B9-C858455FADB9}"/>
              </a:ext>
            </a:extLst>
          </p:cNvPr>
          <p:cNvSpPr txBox="1"/>
          <p:nvPr/>
        </p:nvSpPr>
        <p:spPr>
          <a:xfrm>
            <a:off x="166742" y="185564"/>
            <a:ext cx="2048178" cy="4436469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 dirty="0">
                <a:highlight>
                  <a:srgbClr val="FFFF00"/>
                </a:highlight>
              </a:rPr>
              <a:t>Good slide. Maybe keep as an extra to show? Maybe something </a:t>
            </a:r>
            <a:r>
              <a:rPr lang="en-US" sz="2833" b="1">
                <a:highlight>
                  <a:srgbClr val="FFFF00"/>
                </a:highlight>
              </a:rPr>
              <a:t>to show later as a reminder?</a:t>
            </a:r>
            <a:endParaRPr lang="en-US" sz="2833" b="1" dirty="0">
              <a:highlight>
                <a:srgbClr val="FFFF00"/>
              </a:highlight>
            </a:endParaRP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1990</Words>
  <Application>Microsoft Macintosh PowerPoint</Application>
  <PresentationFormat>Widescreen</PresentationFormat>
  <Paragraphs>289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Aptos</vt:lpstr>
      <vt:lpstr>Aptos Display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Hussain Hadah</dc:creator>
  <cp:lastModifiedBy>Hussain Hadah</cp:lastModifiedBy>
  <cp:revision>1</cp:revision>
  <dcterms:created xsi:type="dcterms:W3CDTF">2026-06-22T16:57:16Z</dcterms:created>
  <dcterms:modified xsi:type="dcterms:W3CDTF">2026-06-22T16:57:40Z</dcterms:modified>
</cp:coreProperties>
</file>