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12_716E1338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92" r:id="rId2"/>
    <p:sldId id="258" r:id="rId3"/>
    <p:sldId id="261" r:id="rId4"/>
    <p:sldId id="260" r:id="rId5"/>
    <p:sldId id="263" r:id="rId6"/>
    <p:sldId id="301" r:id="rId7"/>
    <p:sldId id="302" r:id="rId8"/>
    <p:sldId id="269" r:id="rId9"/>
    <p:sldId id="274" r:id="rId10"/>
    <p:sldId id="273" r:id="rId11"/>
    <p:sldId id="275" r:id="rId12"/>
    <p:sldId id="262" r:id="rId13"/>
    <p:sldId id="277" r:id="rId14"/>
    <p:sldId id="295" r:id="rId15"/>
    <p:sldId id="264" r:id="rId16"/>
    <p:sldId id="265" r:id="rId17"/>
    <p:sldId id="298" r:id="rId18"/>
    <p:sldId id="279" r:id="rId19"/>
    <p:sldId id="303" r:id="rId20"/>
    <p:sldId id="304" r:id="rId21"/>
    <p:sldId id="305" r:id="rId22"/>
    <p:sldId id="278" r:id="rId23"/>
    <p:sldId id="307" r:id="rId24"/>
    <p:sldId id="296" r:id="rId25"/>
    <p:sldId id="266" r:id="rId26"/>
    <p:sldId id="281" r:id="rId27"/>
    <p:sldId id="311" r:id="rId28"/>
    <p:sldId id="297" r:id="rId29"/>
    <p:sldId id="282" r:id="rId30"/>
    <p:sldId id="284" r:id="rId31"/>
    <p:sldId id="283" r:id="rId32"/>
    <p:sldId id="285" r:id="rId33"/>
    <p:sldId id="286" r:id="rId34"/>
    <p:sldId id="309" r:id="rId35"/>
    <p:sldId id="287" r:id="rId36"/>
    <p:sldId id="288" r:id="rId37"/>
    <p:sldId id="299" r:id="rId38"/>
    <p:sldId id="308" r:id="rId39"/>
    <p:sldId id="300" r:id="rId40"/>
    <p:sldId id="310" r:id="rId41"/>
    <p:sldId id="259" r:id="rId42"/>
    <p:sldId id="312" r:id="rId43"/>
    <p:sldId id="313" r:id="rId44"/>
    <p:sldId id="314" r:id="rId45"/>
    <p:sldId id="315" r:id="rId46"/>
    <p:sldId id="316" r:id="rId47"/>
    <p:sldId id="317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B49FBD-88F2-5980-1920-C571BD4A3E4B}" name="SINAN YAVUZ" initials="" userId="S::syavuz@wisc.edu::260b8abe-d53e-45ba-aa4c-6269f05a2b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2" autoAdjust="0"/>
    <p:restoredTop sz="84291" autoAdjust="0"/>
  </p:normalViewPr>
  <p:slideViewPr>
    <p:cSldViewPr snapToGrid="0">
      <p:cViewPr varScale="1">
        <p:scale>
          <a:sx n="86" d="100"/>
          <a:sy n="86" d="100"/>
        </p:scale>
        <p:origin x="18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omments/modernComment_112_716E133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E0768D-E503-354E-9C82-07A7F1C6D498}" authorId="{85B49FBD-88F2-5980-1920-C571BD4A3E4B}" created="2025-05-08T01:45:59.42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03039288" sldId="274"/>
      <ac:spMk id="2" creationId="{36218FDF-21EF-EB74-9477-C4543CC83420}"/>
    </ac:deMkLst>
    <p188:txBody>
      <a:bodyPr/>
      <a:lstStyle/>
      <a:p>
        <a:r>
          <a:rPr lang="en-US"/>
          <a:t>Feel free to erase this slide if it is too much or feel political, I try stay out of it. FOX is number one when it comes to misleading. I added some other examples, too.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0EF3A2-91B8-444B-8005-83B0C63DCBBA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E9F7D1-9115-CE40-BCA2-ED6DDC587C9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Critical Thinking</a:t>
          </a:r>
          <a:endParaRPr lang="en-US" dirty="0"/>
        </a:p>
      </dgm:t>
    </dgm:pt>
    <dgm:pt modelId="{F1B073DF-473D-A047-833F-EAC1489D8423}" type="parTrans" cxnId="{67FB870F-80B6-4B46-902F-FD64F1D2A6B5}">
      <dgm:prSet/>
      <dgm:spPr/>
      <dgm:t>
        <a:bodyPr/>
        <a:lstStyle/>
        <a:p>
          <a:endParaRPr lang="en-US"/>
        </a:p>
      </dgm:t>
    </dgm:pt>
    <dgm:pt modelId="{4BCA4495-32C9-B040-A106-BA8B5287A176}" type="sibTrans" cxnId="{67FB870F-80B6-4B46-902F-FD64F1D2A6B5}">
      <dgm:prSet/>
      <dgm:spPr/>
      <dgm:t>
        <a:bodyPr/>
        <a:lstStyle/>
        <a:p>
          <a:endParaRPr lang="en-US"/>
        </a:p>
      </dgm:t>
    </dgm:pt>
    <dgm:pt modelId="{1B92F3C8-1724-8D45-9588-8E090359C3D1}">
      <dgm:prSet/>
      <dgm:spPr/>
      <dgm:t>
        <a:bodyPr/>
        <a:lstStyle/>
        <a:p>
          <a:r>
            <a:rPr lang="en-US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Examining information from all angles</a:t>
          </a:r>
          <a:endParaRPr lang="en-US" dirty="0">
            <a:latin typeface="Aptos" panose="020B0004020202020204" pitchFamily="34" charset="0"/>
            <a:ea typeface="Heebo" pitchFamily="34" charset="-122"/>
            <a:cs typeface="Heebo" pitchFamily="34" charset="-120"/>
          </a:endParaRPr>
        </a:p>
      </dgm:t>
    </dgm:pt>
    <dgm:pt modelId="{B3364CA5-5D53-C345-A767-54046C1C247A}" type="parTrans" cxnId="{2BC53334-E967-CD44-AE10-55313E293C2A}">
      <dgm:prSet/>
      <dgm:spPr/>
      <dgm:t>
        <a:bodyPr/>
        <a:lstStyle/>
        <a:p>
          <a:endParaRPr lang="en-US"/>
        </a:p>
      </dgm:t>
    </dgm:pt>
    <dgm:pt modelId="{2178BA18-6EAB-C047-811A-689B57763C32}" type="sibTrans" cxnId="{2BC53334-E967-CD44-AE10-55313E293C2A}">
      <dgm:prSet/>
      <dgm:spPr/>
      <dgm:t>
        <a:bodyPr/>
        <a:lstStyle/>
        <a:p>
          <a:endParaRPr lang="en-US"/>
        </a:p>
      </dgm:t>
    </dgm:pt>
    <dgm:pt modelId="{6684B08B-6707-C149-8661-013C2AA14224}">
      <dgm:prSet/>
      <dgm:spPr/>
      <dgm:t>
        <a:bodyPr/>
        <a:lstStyle/>
        <a:p>
          <a:r>
            <a:rPr lang="en-US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Skepticism</a:t>
          </a:r>
          <a:endParaRPr lang="en-US" dirty="0">
            <a:latin typeface="Aptos" panose="020B0004020202020204" pitchFamily="34" charset="0"/>
            <a:ea typeface="Crimson Pro Semi Bold" pitchFamily="34" charset="-122"/>
            <a:cs typeface="Crimson Pro Semi Bold" pitchFamily="34" charset="-120"/>
          </a:endParaRPr>
        </a:p>
      </dgm:t>
    </dgm:pt>
    <dgm:pt modelId="{3F9F1AF2-AB02-B643-90FE-E336EE57B5FC}" type="parTrans" cxnId="{CAF1EC0E-035A-8E4A-8B57-F1B616530EEF}">
      <dgm:prSet/>
      <dgm:spPr/>
      <dgm:t>
        <a:bodyPr/>
        <a:lstStyle/>
        <a:p>
          <a:endParaRPr lang="en-US"/>
        </a:p>
      </dgm:t>
    </dgm:pt>
    <dgm:pt modelId="{395CC06A-B8BB-AA4D-99D4-9B0354DDA9F3}" type="sibTrans" cxnId="{CAF1EC0E-035A-8E4A-8B57-F1B616530EEF}">
      <dgm:prSet/>
      <dgm:spPr/>
      <dgm:t>
        <a:bodyPr/>
        <a:lstStyle/>
        <a:p>
          <a:endParaRPr lang="en-US"/>
        </a:p>
      </dgm:t>
    </dgm:pt>
    <dgm:pt modelId="{04326733-69DA-0346-8918-5087D730EBAE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Not accepting claims without verification</a:t>
          </a:r>
        </a:p>
      </dgm:t>
    </dgm:pt>
    <dgm:pt modelId="{47A3A782-570B-BD46-B2D7-4D3D9116B13F}" type="parTrans" cxnId="{5FBF9476-4684-0342-96C9-3368C961C8A3}">
      <dgm:prSet/>
      <dgm:spPr/>
      <dgm:t>
        <a:bodyPr/>
        <a:lstStyle/>
        <a:p>
          <a:endParaRPr lang="en-US"/>
        </a:p>
      </dgm:t>
    </dgm:pt>
    <dgm:pt modelId="{9D27D751-5AFD-C140-ABD7-DA7DC330A53D}" type="sibTrans" cxnId="{5FBF9476-4684-0342-96C9-3368C961C8A3}">
      <dgm:prSet/>
      <dgm:spPr/>
      <dgm:t>
        <a:bodyPr/>
        <a:lstStyle/>
        <a:p>
          <a:endParaRPr lang="en-US"/>
        </a:p>
      </dgm:t>
    </dgm:pt>
    <dgm:pt modelId="{CB841F82-EE63-F141-992E-2EB21F3C9A3F}">
      <dgm:prSet/>
      <dgm:spPr/>
      <dgm:t>
        <a:bodyPr/>
        <a:lstStyle/>
        <a:p>
          <a:r>
            <a:rPr lang="en-US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Curiosity</a:t>
          </a:r>
          <a:endParaRPr lang="en-US" dirty="0">
            <a:latin typeface="Aptos" panose="020B0004020202020204" pitchFamily="34" charset="0"/>
            <a:ea typeface="Crimson Pro Semi Bold" pitchFamily="34" charset="-122"/>
            <a:cs typeface="Crimson Pro Semi Bold" pitchFamily="34" charset="-120"/>
          </a:endParaRPr>
        </a:p>
      </dgm:t>
    </dgm:pt>
    <dgm:pt modelId="{5F7E7758-8B5D-3C47-855F-03F3BEBEE309}" type="parTrans" cxnId="{209DD933-75E9-FB41-BC92-FC1513D30AB3}">
      <dgm:prSet/>
      <dgm:spPr/>
      <dgm:t>
        <a:bodyPr/>
        <a:lstStyle/>
        <a:p>
          <a:endParaRPr lang="en-US"/>
        </a:p>
      </dgm:t>
    </dgm:pt>
    <dgm:pt modelId="{A530A9FD-9EFE-0B4D-A74D-EE4FE5A1694D}" type="sibTrans" cxnId="{209DD933-75E9-FB41-BC92-FC1513D30AB3}">
      <dgm:prSet/>
      <dgm:spPr/>
      <dgm:t>
        <a:bodyPr/>
        <a:lstStyle/>
        <a:p>
          <a:endParaRPr lang="en-US"/>
        </a:p>
      </dgm:t>
    </dgm:pt>
    <dgm:pt modelId="{D1F3ADC1-172D-7D4E-9958-31489D406244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Asking questions and digging deeper</a:t>
          </a:r>
          <a:endParaRPr lang="en-US" dirty="0">
            <a:latin typeface="Aptos" panose="020B0004020202020204" pitchFamily="34" charset="0"/>
          </a:endParaRPr>
        </a:p>
      </dgm:t>
    </dgm:pt>
    <dgm:pt modelId="{DCD182C1-1EEB-8847-B1F6-DA34F0360F04}" type="parTrans" cxnId="{ADC9DAF3-6287-6642-A5A3-A8B1EC347A84}">
      <dgm:prSet/>
      <dgm:spPr/>
      <dgm:t>
        <a:bodyPr/>
        <a:lstStyle/>
        <a:p>
          <a:endParaRPr lang="en-US"/>
        </a:p>
      </dgm:t>
    </dgm:pt>
    <dgm:pt modelId="{EEDCA8BE-BC70-D24F-879D-BEFB79CF6AEB}" type="sibTrans" cxnId="{ADC9DAF3-6287-6642-A5A3-A8B1EC347A84}">
      <dgm:prSet/>
      <dgm:spPr/>
      <dgm:t>
        <a:bodyPr/>
        <a:lstStyle/>
        <a:p>
          <a:endParaRPr lang="en-US"/>
        </a:p>
      </dgm:t>
    </dgm:pt>
    <dgm:pt modelId="{0F5B7301-2968-3D4D-8FC5-53D5212C9DF2}" type="pres">
      <dgm:prSet presAssocID="{7F0EF3A2-91B8-444B-8005-83B0C63DCBBA}" presName="Name0" presStyleCnt="0">
        <dgm:presLayoutVars>
          <dgm:chMax val="7"/>
          <dgm:chPref val="7"/>
          <dgm:dir/>
        </dgm:presLayoutVars>
      </dgm:prSet>
      <dgm:spPr/>
    </dgm:pt>
    <dgm:pt modelId="{29E4A512-4480-854F-AEB9-E045100F1F10}" type="pres">
      <dgm:prSet presAssocID="{7F0EF3A2-91B8-444B-8005-83B0C63DCBBA}" presName="Name1" presStyleCnt="0"/>
      <dgm:spPr/>
    </dgm:pt>
    <dgm:pt modelId="{DCAD37FA-962E-D94F-AB46-3031D7BDB360}" type="pres">
      <dgm:prSet presAssocID="{7F0EF3A2-91B8-444B-8005-83B0C63DCBBA}" presName="cycle" presStyleCnt="0"/>
      <dgm:spPr/>
    </dgm:pt>
    <dgm:pt modelId="{A2CA19E6-0A73-7A44-B6AE-7887A62D9F93}" type="pres">
      <dgm:prSet presAssocID="{7F0EF3A2-91B8-444B-8005-83B0C63DCBBA}" presName="srcNode" presStyleLbl="node1" presStyleIdx="0" presStyleCnt="3"/>
      <dgm:spPr/>
    </dgm:pt>
    <dgm:pt modelId="{69DA246D-66E9-7649-8ADA-549B8A78AFF1}" type="pres">
      <dgm:prSet presAssocID="{7F0EF3A2-91B8-444B-8005-83B0C63DCBBA}" presName="conn" presStyleLbl="parChTrans1D2" presStyleIdx="0" presStyleCnt="1"/>
      <dgm:spPr/>
    </dgm:pt>
    <dgm:pt modelId="{A7AF27E0-DDD1-A841-9387-3A5F9C08651F}" type="pres">
      <dgm:prSet presAssocID="{7F0EF3A2-91B8-444B-8005-83B0C63DCBBA}" presName="extraNode" presStyleLbl="node1" presStyleIdx="0" presStyleCnt="3"/>
      <dgm:spPr/>
    </dgm:pt>
    <dgm:pt modelId="{71F4947D-F166-B74E-A6F1-79D762451A7A}" type="pres">
      <dgm:prSet presAssocID="{7F0EF3A2-91B8-444B-8005-83B0C63DCBBA}" presName="dstNode" presStyleLbl="node1" presStyleIdx="0" presStyleCnt="3"/>
      <dgm:spPr/>
    </dgm:pt>
    <dgm:pt modelId="{075D076B-CEE5-4240-89D9-F54C0FA5EFCC}" type="pres">
      <dgm:prSet presAssocID="{6FE9F7D1-9115-CE40-BCA2-ED6DDC587C9E}" presName="text_1" presStyleLbl="node1" presStyleIdx="0" presStyleCnt="3">
        <dgm:presLayoutVars>
          <dgm:bulletEnabled val="1"/>
        </dgm:presLayoutVars>
      </dgm:prSet>
      <dgm:spPr/>
    </dgm:pt>
    <dgm:pt modelId="{9BAAA9D1-F6C5-2A48-8475-6C92571D785C}" type="pres">
      <dgm:prSet presAssocID="{6FE9F7D1-9115-CE40-BCA2-ED6DDC587C9E}" presName="accent_1" presStyleCnt="0"/>
      <dgm:spPr/>
    </dgm:pt>
    <dgm:pt modelId="{74F6B0D3-B616-BC4E-A21A-03C59AED1A2E}" type="pres">
      <dgm:prSet presAssocID="{6FE9F7D1-9115-CE40-BCA2-ED6DDC587C9E}" presName="accentRepeatNode" presStyleLbl="solidFgAcc1" presStyleIdx="0" presStyleCnt="3"/>
      <dgm:spPr/>
    </dgm:pt>
    <dgm:pt modelId="{4E9AA5D9-55F0-6740-BC40-A0CF89EBB404}" type="pres">
      <dgm:prSet presAssocID="{6684B08B-6707-C149-8661-013C2AA14224}" presName="text_2" presStyleLbl="node1" presStyleIdx="1" presStyleCnt="3">
        <dgm:presLayoutVars>
          <dgm:bulletEnabled val="1"/>
        </dgm:presLayoutVars>
      </dgm:prSet>
      <dgm:spPr/>
    </dgm:pt>
    <dgm:pt modelId="{4A0BF5EE-F667-EF4D-BF06-9B1935F60BAF}" type="pres">
      <dgm:prSet presAssocID="{6684B08B-6707-C149-8661-013C2AA14224}" presName="accent_2" presStyleCnt="0"/>
      <dgm:spPr/>
    </dgm:pt>
    <dgm:pt modelId="{8307B084-1A68-7E42-8E34-167182674C31}" type="pres">
      <dgm:prSet presAssocID="{6684B08B-6707-C149-8661-013C2AA14224}" presName="accentRepeatNode" presStyleLbl="solidFgAcc1" presStyleIdx="1" presStyleCnt="3"/>
      <dgm:spPr/>
    </dgm:pt>
    <dgm:pt modelId="{F5BCF7CE-CD9C-1546-B3B4-1E63FD05CB02}" type="pres">
      <dgm:prSet presAssocID="{CB841F82-EE63-F141-992E-2EB21F3C9A3F}" presName="text_3" presStyleLbl="node1" presStyleIdx="2" presStyleCnt="3">
        <dgm:presLayoutVars>
          <dgm:bulletEnabled val="1"/>
        </dgm:presLayoutVars>
      </dgm:prSet>
      <dgm:spPr/>
    </dgm:pt>
    <dgm:pt modelId="{96A20D99-E915-5C4C-9995-2130D7AC909F}" type="pres">
      <dgm:prSet presAssocID="{CB841F82-EE63-F141-992E-2EB21F3C9A3F}" presName="accent_3" presStyleCnt="0"/>
      <dgm:spPr/>
    </dgm:pt>
    <dgm:pt modelId="{BBAB2F7F-9F38-1544-B5F3-793DC9E69977}" type="pres">
      <dgm:prSet presAssocID="{CB841F82-EE63-F141-992E-2EB21F3C9A3F}" presName="accentRepeatNode" presStyleLbl="solidFgAcc1" presStyleIdx="2" presStyleCnt="3"/>
      <dgm:spPr/>
    </dgm:pt>
  </dgm:ptLst>
  <dgm:cxnLst>
    <dgm:cxn modelId="{D3505C02-F130-1B44-ADF1-FAF4D7DB0E93}" type="presOf" srcId="{2178BA18-6EAB-C047-811A-689B57763C32}" destId="{69DA246D-66E9-7649-8ADA-549B8A78AFF1}" srcOrd="0" destOrd="0" presId="urn:microsoft.com/office/officeart/2008/layout/VerticalCurvedList"/>
    <dgm:cxn modelId="{D274E40B-474E-BD47-BC64-12B22BB224AE}" type="presOf" srcId="{7F0EF3A2-91B8-444B-8005-83B0C63DCBBA}" destId="{0F5B7301-2968-3D4D-8FC5-53D5212C9DF2}" srcOrd="0" destOrd="0" presId="urn:microsoft.com/office/officeart/2008/layout/VerticalCurvedList"/>
    <dgm:cxn modelId="{CAF1EC0E-035A-8E4A-8B57-F1B616530EEF}" srcId="{7F0EF3A2-91B8-444B-8005-83B0C63DCBBA}" destId="{6684B08B-6707-C149-8661-013C2AA14224}" srcOrd="1" destOrd="0" parTransId="{3F9F1AF2-AB02-B643-90FE-E336EE57B5FC}" sibTransId="{395CC06A-B8BB-AA4D-99D4-9B0354DDA9F3}"/>
    <dgm:cxn modelId="{67FB870F-80B6-4B46-902F-FD64F1D2A6B5}" srcId="{7F0EF3A2-91B8-444B-8005-83B0C63DCBBA}" destId="{6FE9F7D1-9115-CE40-BCA2-ED6DDC587C9E}" srcOrd="0" destOrd="0" parTransId="{F1B073DF-473D-A047-833F-EAC1489D8423}" sibTransId="{4BCA4495-32C9-B040-A106-BA8B5287A176}"/>
    <dgm:cxn modelId="{979EB00F-4A4F-6148-A672-923672F8A6B7}" type="presOf" srcId="{6FE9F7D1-9115-CE40-BCA2-ED6DDC587C9E}" destId="{075D076B-CEE5-4240-89D9-F54C0FA5EFCC}" srcOrd="0" destOrd="0" presId="urn:microsoft.com/office/officeart/2008/layout/VerticalCurvedList"/>
    <dgm:cxn modelId="{43E94528-F82D-BC4A-B242-C18C7DAE16D9}" type="presOf" srcId="{1B92F3C8-1724-8D45-9588-8E090359C3D1}" destId="{075D076B-CEE5-4240-89D9-F54C0FA5EFCC}" srcOrd="0" destOrd="1" presId="urn:microsoft.com/office/officeart/2008/layout/VerticalCurvedList"/>
    <dgm:cxn modelId="{6E370F2A-DE67-5B4C-B929-C8C05946ACF0}" type="presOf" srcId="{CB841F82-EE63-F141-992E-2EB21F3C9A3F}" destId="{F5BCF7CE-CD9C-1546-B3B4-1E63FD05CB02}" srcOrd="0" destOrd="0" presId="urn:microsoft.com/office/officeart/2008/layout/VerticalCurvedList"/>
    <dgm:cxn modelId="{BD8EF12C-EB32-7D44-A4D5-42F829D2602D}" type="presOf" srcId="{6684B08B-6707-C149-8661-013C2AA14224}" destId="{4E9AA5D9-55F0-6740-BC40-A0CF89EBB404}" srcOrd="0" destOrd="0" presId="urn:microsoft.com/office/officeart/2008/layout/VerticalCurvedList"/>
    <dgm:cxn modelId="{209DD933-75E9-FB41-BC92-FC1513D30AB3}" srcId="{7F0EF3A2-91B8-444B-8005-83B0C63DCBBA}" destId="{CB841F82-EE63-F141-992E-2EB21F3C9A3F}" srcOrd="2" destOrd="0" parTransId="{5F7E7758-8B5D-3C47-855F-03F3BEBEE309}" sibTransId="{A530A9FD-9EFE-0B4D-A74D-EE4FE5A1694D}"/>
    <dgm:cxn modelId="{2BC53334-E967-CD44-AE10-55313E293C2A}" srcId="{6FE9F7D1-9115-CE40-BCA2-ED6DDC587C9E}" destId="{1B92F3C8-1724-8D45-9588-8E090359C3D1}" srcOrd="0" destOrd="0" parTransId="{B3364CA5-5D53-C345-A767-54046C1C247A}" sibTransId="{2178BA18-6EAB-C047-811A-689B57763C32}"/>
    <dgm:cxn modelId="{5FBF9476-4684-0342-96C9-3368C961C8A3}" srcId="{6684B08B-6707-C149-8661-013C2AA14224}" destId="{04326733-69DA-0346-8918-5087D730EBAE}" srcOrd="0" destOrd="0" parTransId="{47A3A782-570B-BD46-B2D7-4D3D9116B13F}" sibTransId="{9D27D751-5AFD-C140-ABD7-DA7DC330A53D}"/>
    <dgm:cxn modelId="{47C08CCC-9CAA-804E-9EAD-97EEEA4ADCDD}" type="presOf" srcId="{04326733-69DA-0346-8918-5087D730EBAE}" destId="{4E9AA5D9-55F0-6740-BC40-A0CF89EBB404}" srcOrd="0" destOrd="1" presId="urn:microsoft.com/office/officeart/2008/layout/VerticalCurvedList"/>
    <dgm:cxn modelId="{68FB70D8-A748-1448-B8FB-494DB02ED960}" type="presOf" srcId="{D1F3ADC1-172D-7D4E-9958-31489D406244}" destId="{F5BCF7CE-CD9C-1546-B3B4-1E63FD05CB02}" srcOrd="0" destOrd="1" presId="urn:microsoft.com/office/officeart/2008/layout/VerticalCurvedList"/>
    <dgm:cxn modelId="{ADC9DAF3-6287-6642-A5A3-A8B1EC347A84}" srcId="{CB841F82-EE63-F141-992E-2EB21F3C9A3F}" destId="{D1F3ADC1-172D-7D4E-9958-31489D406244}" srcOrd="0" destOrd="0" parTransId="{DCD182C1-1EEB-8847-B1F6-DA34F0360F04}" sibTransId="{EEDCA8BE-BC70-D24F-879D-BEFB79CF6AEB}"/>
    <dgm:cxn modelId="{E5B46248-20A5-7140-8380-38CACCD2C57D}" type="presParOf" srcId="{0F5B7301-2968-3D4D-8FC5-53D5212C9DF2}" destId="{29E4A512-4480-854F-AEB9-E045100F1F10}" srcOrd="0" destOrd="0" presId="urn:microsoft.com/office/officeart/2008/layout/VerticalCurvedList"/>
    <dgm:cxn modelId="{E348D6E0-54C0-5144-B3D2-5F6013D53613}" type="presParOf" srcId="{29E4A512-4480-854F-AEB9-E045100F1F10}" destId="{DCAD37FA-962E-D94F-AB46-3031D7BDB360}" srcOrd="0" destOrd="0" presId="urn:microsoft.com/office/officeart/2008/layout/VerticalCurvedList"/>
    <dgm:cxn modelId="{CAD51AAD-B124-2041-B3C1-706533FC022A}" type="presParOf" srcId="{DCAD37FA-962E-D94F-AB46-3031D7BDB360}" destId="{A2CA19E6-0A73-7A44-B6AE-7887A62D9F93}" srcOrd="0" destOrd="0" presId="urn:microsoft.com/office/officeart/2008/layout/VerticalCurvedList"/>
    <dgm:cxn modelId="{AE9B0CA6-3366-3349-8B35-922BA2E25755}" type="presParOf" srcId="{DCAD37FA-962E-D94F-AB46-3031D7BDB360}" destId="{69DA246D-66E9-7649-8ADA-549B8A78AFF1}" srcOrd="1" destOrd="0" presId="urn:microsoft.com/office/officeart/2008/layout/VerticalCurvedList"/>
    <dgm:cxn modelId="{31BD8A5A-6913-9349-A932-D00C36FF9E28}" type="presParOf" srcId="{DCAD37FA-962E-D94F-AB46-3031D7BDB360}" destId="{A7AF27E0-DDD1-A841-9387-3A5F9C08651F}" srcOrd="2" destOrd="0" presId="urn:microsoft.com/office/officeart/2008/layout/VerticalCurvedList"/>
    <dgm:cxn modelId="{4006636F-A9B1-F745-88A3-2021991B0806}" type="presParOf" srcId="{DCAD37FA-962E-D94F-AB46-3031D7BDB360}" destId="{71F4947D-F166-B74E-A6F1-79D762451A7A}" srcOrd="3" destOrd="0" presId="urn:microsoft.com/office/officeart/2008/layout/VerticalCurvedList"/>
    <dgm:cxn modelId="{8F8504C6-65DB-2C46-B45A-3082B9AF0654}" type="presParOf" srcId="{29E4A512-4480-854F-AEB9-E045100F1F10}" destId="{075D076B-CEE5-4240-89D9-F54C0FA5EFCC}" srcOrd="1" destOrd="0" presId="urn:microsoft.com/office/officeart/2008/layout/VerticalCurvedList"/>
    <dgm:cxn modelId="{CFB612DF-BDC2-0C4B-870B-8AB0B73A29AD}" type="presParOf" srcId="{29E4A512-4480-854F-AEB9-E045100F1F10}" destId="{9BAAA9D1-F6C5-2A48-8475-6C92571D785C}" srcOrd="2" destOrd="0" presId="urn:microsoft.com/office/officeart/2008/layout/VerticalCurvedList"/>
    <dgm:cxn modelId="{5CD9658B-CACA-654B-89A8-A4BD2E83D9EF}" type="presParOf" srcId="{9BAAA9D1-F6C5-2A48-8475-6C92571D785C}" destId="{74F6B0D3-B616-BC4E-A21A-03C59AED1A2E}" srcOrd="0" destOrd="0" presId="urn:microsoft.com/office/officeart/2008/layout/VerticalCurvedList"/>
    <dgm:cxn modelId="{6607FF80-5893-8144-B77B-7FA84218B6F3}" type="presParOf" srcId="{29E4A512-4480-854F-AEB9-E045100F1F10}" destId="{4E9AA5D9-55F0-6740-BC40-A0CF89EBB404}" srcOrd="3" destOrd="0" presId="urn:microsoft.com/office/officeart/2008/layout/VerticalCurvedList"/>
    <dgm:cxn modelId="{79378A1C-6D71-0F47-9615-92CAFB28AF42}" type="presParOf" srcId="{29E4A512-4480-854F-AEB9-E045100F1F10}" destId="{4A0BF5EE-F667-EF4D-BF06-9B1935F60BAF}" srcOrd="4" destOrd="0" presId="urn:microsoft.com/office/officeart/2008/layout/VerticalCurvedList"/>
    <dgm:cxn modelId="{DBBA65F4-7924-E241-8D82-34D2D557190D}" type="presParOf" srcId="{4A0BF5EE-F667-EF4D-BF06-9B1935F60BAF}" destId="{8307B084-1A68-7E42-8E34-167182674C31}" srcOrd="0" destOrd="0" presId="urn:microsoft.com/office/officeart/2008/layout/VerticalCurvedList"/>
    <dgm:cxn modelId="{F59DA790-11D1-BC4E-AAC2-47B460B5B58C}" type="presParOf" srcId="{29E4A512-4480-854F-AEB9-E045100F1F10}" destId="{F5BCF7CE-CD9C-1546-B3B4-1E63FD05CB02}" srcOrd="5" destOrd="0" presId="urn:microsoft.com/office/officeart/2008/layout/VerticalCurvedList"/>
    <dgm:cxn modelId="{29AF8570-230C-CB40-A3A2-302737416A2A}" type="presParOf" srcId="{29E4A512-4480-854F-AEB9-E045100F1F10}" destId="{96A20D99-E915-5C4C-9995-2130D7AC909F}" srcOrd="6" destOrd="0" presId="urn:microsoft.com/office/officeart/2008/layout/VerticalCurvedList"/>
    <dgm:cxn modelId="{0050FC93-27C5-C244-862A-5CC3CE7FF70D}" type="presParOf" srcId="{96A20D99-E915-5C4C-9995-2130D7AC909F}" destId="{BBAB2F7F-9F38-1544-B5F3-793DC9E6997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E3A560-0F9D-4048-AFBC-6FAC46E2FAD4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467D9A-A67C-B549-A8B3-D910EF943870}">
      <dgm:prSet phldrT="[Text]"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Ask "Why?"</a:t>
          </a:r>
          <a:endParaRPr lang="en-US" dirty="0"/>
        </a:p>
      </dgm:t>
    </dgm:pt>
    <dgm:pt modelId="{16E3CB45-80A4-2B43-AFED-4E5FD79C42D7}" type="parTrans" cxnId="{03833EE7-5F76-1547-A79F-B9A7C297EFE9}">
      <dgm:prSet/>
      <dgm:spPr/>
      <dgm:t>
        <a:bodyPr/>
        <a:lstStyle/>
        <a:p>
          <a:endParaRPr lang="en-US"/>
        </a:p>
      </dgm:t>
    </dgm:pt>
    <dgm:pt modelId="{A7A64296-752C-BB4B-ADDC-5D8CAE94AEDD}" type="sibTrans" cxnId="{03833EE7-5F76-1547-A79F-B9A7C297EFE9}">
      <dgm:prSet/>
      <dgm:spPr/>
      <dgm:t>
        <a:bodyPr/>
        <a:lstStyle/>
        <a:p>
          <a:endParaRPr lang="en-US"/>
        </a:p>
      </dgm:t>
    </dgm:pt>
    <dgm:pt modelId="{1E82BEBC-F47B-E04F-AC16-D4EB2F2C2BF2}">
      <dgm:prSet phldrT="[Text]"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Wonder about the reasons behind patterns you observe in data.</a:t>
          </a:r>
          <a:endParaRPr lang="en-US" dirty="0"/>
        </a:p>
      </dgm:t>
    </dgm:pt>
    <dgm:pt modelId="{FDF699F4-EFC4-F241-B946-06110F229511}" type="parTrans" cxnId="{6BA67924-795E-7147-9A46-6A1CC342A53A}">
      <dgm:prSet/>
      <dgm:spPr/>
      <dgm:t>
        <a:bodyPr/>
        <a:lstStyle/>
        <a:p>
          <a:endParaRPr lang="en-US"/>
        </a:p>
      </dgm:t>
    </dgm:pt>
    <dgm:pt modelId="{1F351360-FAF3-CC4D-9C7A-839775F48D3E}" type="sibTrans" cxnId="{6BA67924-795E-7147-9A46-6A1CC342A53A}">
      <dgm:prSet/>
      <dgm:spPr/>
      <dgm:t>
        <a:bodyPr/>
        <a:lstStyle/>
        <a:p>
          <a:endParaRPr lang="en-US"/>
        </a:p>
      </dgm:t>
    </dgm:pt>
    <dgm:pt modelId="{09969D27-4504-A44F-AED9-2E412A4ECFE1}">
      <dgm:prSet phldrT="[Text]"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Ask "How?"</a:t>
          </a:r>
          <a:endParaRPr lang="en-US" dirty="0"/>
        </a:p>
      </dgm:t>
    </dgm:pt>
    <dgm:pt modelId="{D65CE0FA-8B71-9142-8B0C-67B2ED03607E}" type="parTrans" cxnId="{E79A47F8-C68F-D849-BCC1-36390EDE6125}">
      <dgm:prSet/>
      <dgm:spPr/>
      <dgm:t>
        <a:bodyPr/>
        <a:lstStyle/>
        <a:p>
          <a:endParaRPr lang="en-US"/>
        </a:p>
      </dgm:t>
    </dgm:pt>
    <dgm:pt modelId="{26905D2F-679F-5644-B9CA-467179786C9E}" type="sibTrans" cxnId="{E79A47F8-C68F-D849-BCC1-36390EDE6125}">
      <dgm:prSet/>
      <dgm:spPr/>
      <dgm:t>
        <a:bodyPr/>
        <a:lstStyle/>
        <a:p>
          <a:endParaRPr lang="en-US"/>
        </a:p>
      </dgm:t>
    </dgm:pt>
    <dgm:pt modelId="{F728D119-0D0A-E348-8049-F7FDEC22769A}">
      <dgm:prSet phldrT="[Text]"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Investigate the methods used to collect and analyze the data.</a:t>
          </a:r>
          <a:endParaRPr lang="en-US" dirty="0"/>
        </a:p>
      </dgm:t>
    </dgm:pt>
    <dgm:pt modelId="{85A7532E-9748-7945-9050-4CCD18A7BD69}" type="parTrans" cxnId="{C1CE5799-E84D-3845-9352-FE89B19EFFCE}">
      <dgm:prSet/>
      <dgm:spPr/>
      <dgm:t>
        <a:bodyPr/>
        <a:lstStyle/>
        <a:p>
          <a:endParaRPr lang="en-US"/>
        </a:p>
      </dgm:t>
    </dgm:pt>
    <dgm:pt modelId="{A8801291-EF2D-154E-811A-A9619FFDF574}" type="sibTrans" cxnId="{C1CE5799-E84D-3845-9352-FE89B19EFFCE}">
      <dgm:prSet/>
      <dgm:spPr/>
      <dgm:t>
        <a:bodyPr/>
        <a:lstStyle/>
        <a:p>
          <a:endParaRPr lang="en-US"/>
        </a:p>
      </dgm:t>
    </dgm:pt>
    <dgm:pt modelId="{C594EB19-084F-1140-B060-3DEB6339DBC6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Ask "What if?”</a:t>
          </a:r>
        </a:p>
      </dgm:t>
    </dgm:pt>
    <dgm:pt modelId="{4C8500BB-A0DB-C042-A216-A284BCA787B9}" type="parTrans" cxnId="{F661A836-EB2C-B64E-A916-0CD664F589DF}">
      <dgm:prSet/>
      <dgm:spPr/>
      <dgm:t>
        <a:bodyPr/>
        <a:lstStyle/>
        <a:p>
          <a:endParaRPr lang="en-US"/>
        </a:p>
      </dgm:t>
    </dgm:pt>
    <dgm:pt modelId="{10D06422-995E-5F4B-B105-7291E09225B4}" type="sibTrans" cxnId="{F661A836-EB2C-B64E-A916-0CD664F589DF}">
      <dgm:prSet/>
      <dgm:spPr/>
      <dgm:t>
        <a:bodyPr/>
        <a:lstStyle/>
        <a:p>
          <a:endParaRPr lang="en-US"/>
        </a:p>
      </dgm:t>
    </dgm:pt>
    <dgm:pt modelId="{65F7854A-092A-D649-817E-EDF03037D9B6}">
      <dgm:prSet/>
      <dgm:spPr/>
      <dgm:t>
        <a:bodyPr/>
        <a:lstStyle/>
        <a:p>
          <a:r>
            <a:rPr lang="en-US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Consider alternative explanations or approaches to the data.</a:t>
          </a:r>
          <a:endParaRPr lang="en-US" dirty="0">
            <a:latin typeface="Aptos" panose="020B0004020202020204" pitchFamily="34" charset="0"/>
            <a:ea typeface="Crimson Pro Semi Bold" pitchFamily="34" charset="-122"/>
            <a:cs typeface="Crimson Pro Semi Bold" pitchFamily="34" charset="-120"/>
          </a:endParaRPr>
        </a:p>
      </dgm:t>
    </dgm:pt>
    <dgm:pt modelId="{E78181F9-1135-0D4D-BF6C-063FCD23360E}" type="parTrans" cxnId="{B53718BB-6E42-2243-BDFC-6BF1CCE33C83}">
      <dgm:prSet/>
      <dgm:spPr/>
      <dgm:t>
        <a:bodyPr/>
        <a:lstStyle/>
        <a:p>
          <a:endParaRPr lang="en-US"/>
        </a:p>
      </dgm:t>
    </dgm:pt>
    <dgm:pt modelId="{B1AD0F4A-6E3E-8246-ACC4-7617C2AF756D}" type="sibTrans" cxnId="{B53718BB-6E42-2243-BDFC-6BF1CCE33C83}">
      <dgm:prSet/>
      <dgm:spPr/>
      <dgm:t>
        <a:bodyPr/>
        <a:lstStyle/>
        <a:p>
          <a:endParaRPr lang="en-US"/>
        </a:p>
      </dgm:t>
    </dgm:pt>
    <dgm:pt modelId="{A97C720A-DB4A-1142-A0E8-5C79C6B42BB4}" type="pres">
      <dgm:prSet presAssocID="{A5E3A560-0F9D-4048-AFBC-6FAC46E2FAD4}" presName="linear" presStyleCnt="0">
        <dgm:presLayoutVars>
          <dgm:animLvl val="lvl"/>
          <dgm:resizeHandles val="exact"/>
        </dgm:presLayoutVars>
      </dgm:prSet>
      <dgm:spPr/>
    </dgm:pt>
    <dgm:pt modelId="{F3F2B841-4E24-AD41-AB01-585351553742}" type="pres">
      <dgm:prSet presAssocID="{E4467D9A-A67C-B549-A8B3-D910EF94387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5760021-6F48-8342-8144-4D2F6DF9CDC9}" type="pres">
      <dgm:prSet presAssocID="{E4467D9A-A67C-B549-A8B3-D910EF943870}" presName="childText" presStyleLbl="revTx" presStyleIdx="0" presStyleCnt="3">
        <dgm:presLayoutVars>
          <dgm:bulletEnabled val="1"/>
        </dgm:presLayoutVars>
      </dgm:prSet>
      <dgm:spPr/>
    </dgm:pt>
    <dgm:pt modelId="{2CAD5D1A-4B86-FE49-A0E1-F597F35295C8}" type="pres">
      <dgm:prSet presAssocID="{09969D27-4504-A44F-AED9-2E412A4ECFE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B4571DD-E6AF-B944-B169-3D232B50CA65}" type="pres">
      <dgm:prSet presAssocID="{09969D27-4504-A44F-AED9-2E412A4ECFE1}" presName="childText" presStyleLbl="revTx" presStyleIdx="1" presStyleCnt="3">
        <dgm:presLayoutVars>
          <dgm:bulletEnabled val="1"/>
        </dgm:presLayoutVars>
      </dgm:prSet>
      <dgm:spPr/>
    </dgm:pt>
    <dgm:pt modelId="{A5974199-161F-6144-BF07-3F23A7B13DB5}" type="pres">
      <dgm:prSet presAssocID="{C594EB19-084F-1140-B060-3DEB6339DBC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0F11ACD-7D5E-3649-9434-61C35C6946D2}" type="pres">
      <dgm:prSet presAssocID="{C594EB19-084F-1140-B060-3DEB6339DBC6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FE05C800-1BB6-8946-AAD9-9DD0E3BCC973}" type="presOf" srcId="{E4467D9A-A67C-B549-A8B3-D910EF943870}" destId="{F3F2B841-4E24-AD41-AB01-585351553742}" srcOrd="0" destOrd="0" presId="urn:microsoft.com/office/officeart/2005/8/layout/vList2"/>
    <dgm:cxn modelId="{FCE02F08-46AF-B944-8798-8F6CCE85BC28}" type="presOf" srcId="{09969D27-4504-A44F-AED9-2E412A4ECFE1}" destId="{2CAD5D1A-4B86-FE49-A0E1-F597F35295C8}" srcOrd="0" destOrd="0" presId="urn:microsoft.com/office/officeart/2005/8/layout/vList2"/>
    <dgm:cxn modelId="{1B0F1F0B-31F6-314B-9039-C21887314502}" type="presOf" srcId="{1E82BEBC-F47B-E04F-AC16-D4EB2F2C2BF2}" destId="{75760021-6F48-8342-8144-4D2F6DF9CDC9}" srcOrd="0" destOrd="0" presId="urn:microsoft.com/office/officeart/2005/8/layout/vList2"/>
    <dgm:cxn modelId="{6BA67924-795E-7147-9A46-6A1CC342A53A}" srcId="{E4467D9A-A67C-B549-A8B3-D910EF943870}" destId="{1E82BEBC-F47B-E04F-AC16-D4EB2F2C2BF2}" srcOrd="0" destOrd="0" parTransId="{FDF699F4-EFC4-F241-B946-06110F229511}" sibTransId="{1F351360-FAF3-CC4D-9C7A-839775F48D3E}"/>
    <dgm:cxn modelId="{F661A836-EB2C-B64E-A916-0CD664F589DF}" srcId="{A5E3A560-0F9D-4048-AFBC-6FAC46E2FAD4}" destId="{C594EB19-084F-1140-B060-3DEB6339DBC6}" srcOrd="2" destOrd="0" parTransId="{4C8500BB-A0DB-C042-A216-A284BCA787B9}" sibTransId="{10D06422-995E-5F4B-B105-7291E09225B4}"/>
    <dgm:cxn modelId="{3D833B6E-4BB1-C442-85CD-DBE82BBFA99F}" type="presOf" srcId="{F728D119-0D0A-E348-8049-F7FDEC22769A}" destId="{2B4571DD-E6AF-B944-B169-3D232B50CA65}" srcOrd="0" destOrd="0" presId="urn:microsoft.com/office/officeart/2005/8/layout/vList2"/>
    <dgm:cxn modelId="{94E7DA7B-C747-B74F-9026-73119973B83B}" type="presOf" srcId="{65F7854A-092A-D649-817E-EDF03037D9B6}" destId="{30F11ACD-7D5E-3649-9434-61C35C6946D2}" srcOrd="0" destOrd="0" presId="urn:microsoft.com/office/officeart/2005/8/layout/vList2"/>
    <dgm:cxn modelId="{C1CE5799-E84D-3845-9352-FE89B19EFFCE}" srcId="{09969D27-4504-A44F-AED9-2E412A4ECFE1}" destId="{F728D119-0D0A-E348-8049-F7FDEC22769A}" srcOrd="0" destOrd="0" parTransId="{85A7532E-9748-7945-9050-4CCD18A7BD69}" sibTransId="{A8801291-EF2D-154E-811A-A9619FFDF574}"/>
    <dgm:cxn modelId="{A719B79B-6CF3-754D-BC15-86F119C4C15D}" type="presOf" srcId="{A5E3A560-0F9D-4048-AFBC-6FAC46E2FAD4}" destId="{A97C720A-DB4A-1142-A0E8-5C79C6B42BB4}" srcOrd="0" destOrd="0" presId="urn:microsoft.com/office/officeart/2005/8/layout/vList2"/>
    <dgm:cxn modelId="{D16B739F-538E-D04C-9C32-E195F5A6E69D}" type="presOf" srcId="{C594EB19-084F-1140-B060-3DEB6339DBC6}" destId="{A5974199-161F-6144-BF07-3F23A7B13DB5}" srcOrd="0" destOrd="0" presId="urn:microsoft.com/office/officeart/2005/8/layout/vList2"/>
    <dgm:cxn modelId="{B53718BB-6E42-2243-BDFC-6BF1CCE33C83}" srcId="{C594EB19-084F-1140-B060-3DEB6339DBC6}" destId="{65F7854A-092A-D649-817E-EDF03037D9B6}" srcOrd="0" destOrd="0" parTransId="{E78181F9-1135-0D4D-BF6C-063FCD23360E}" sibTransId="{B1AD0F4A-6E3E-8246-ACC4-7617C2AF756D}"/>
    <dgm:cxn modelId="{03833EE7-5F76-1547-A79F-B9A7C297EFE9}" srcId="{A5E3A560-0F9D-4048-AFBC-6FAC46E2FAD4}" destId="{E4467D9A-A67C-B549-A8B3-D910EF943870}" srcOrd="0" destOrd="0" parTransId="{16E3CB45-80A4-2B43-AFED-4E5FD79C42D7}" sibTransId="{A7A64296-752C-BB4B-ADDC-5D8CAE94AEDD}"/>
    <dgm:cxn modelId="{E79A47F8-C68F-D849-BCC1-36390EDE6125}" srcId="{A5E3A560-0F9D-4048-AFBC-6FAC46E2FAD4}" destId="{09969D27-4504-A44F-AED9-2E412A4ECFE1}" srcOrd="1" destOrd="0" parTransId="{D65CE0FA-8B71-9142-8B0C-67B2ED03607E}" sibTransId="{26905D2F-679F-5644-B9CA-467179786C9E}"/>
    <dgm:cxn modelId="{A866377A-F1CD-FA44-A6F8-A8AAE404D5A5}" type="presParOf" srcId="{A97C720A-DB4A-1142-A0E8-5C79C6B42BB4}" destId="{F3F2B841-4E24-AD41-AB01-585351553742}" srcOrd="0" destOrd="0" presId="urn:microsoft.com/office/officeart/2005/8/layout/vList2"/>
    <dgm:cxn modelId="{1F725DEB-5413-1B4D-93E0-E65DD052EB07}" type="presParOf" srcId="{A97C720A-DB4A-1142-A0E8-5C79C6B42BB4}" destId="{75760021-6F48-8342-8144-4D2F6DF9CDC9}" srcOrd="1" destOrd="0" presId="urn:microsoft.com/office/officeart/2005/8/layout/vList2"/>
    <dgm:cxn modelId="{45293629-353A-F742-81C8-56820289C4C2}" type="presParOf" srcId="{A97C720A-DB4A-1142-A0E8-5C79C6B42BB4}" destId="{2CAD5D1A-4B86-FE49-A0E1-F597F35295C8}" srcOrd="2" destOrd="0" presId="urn:microsoft.com/office/officeart/2005/8/layout/vList2"/>
    <dgm:cxn modelId="{7E9CE96E-DB0B-B84B-AB7F-F90FE597478C}" type="presParOf" srcId="{A97C720A-DB4A-1142-A0E8-5C79C6B42BB4}" destId="{2B4571DD-E6AF-B944-B169-3D232B50CA65}" srcOrd="3" destOrd="0" presId="urn:microsoft.com/office/officeart/2005/8/layout/vList2"/>
    <dgm:cxn modelId="{1959F7A1-CE52-7941-A18F-73E75ECF6E20}" type="presParOf" srcId="{A97C720A-DB4A-1142-A0E8-5C79C6B42BB4}" destId="{A5974199-161F-6144-BF07-3F23A7B13DB5}" srcOrd="4" destOrd="0" presId="urn:microsoft.com/office/officeart/2005/8/layout/vList2"/>
    <dgm:cxn modelId="{DA77D15A-CF05-894C-9EEB-C7101E8E6425}" type="presParOf" srcId="{A97C720A-DB4A-1142-A0E8-5C79C6B42BB4}" destId="{30F11ACD-7D5E-3649-9434-61C35C6946D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0F7640-ADC8-3349-A2AD-1A1FB4B937B0}" type="doc">
      <dgm:prSet loTypeId="urn:microsoft.com/office/officeart/2005/8/layout/default" loCatId="" qsTypeId="urn:microsoft.com/office/officeart/2005/8/quickstyle/simple5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B3A62186-0BDC-AE4A-AD9D-A562E8DD9348}">
      <dgm:prSet phldrT="[Text]"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Verify Sources</a:t>
          </a:r>
          <a:endParaRPr lang="en-US" dirty="0"/>
        </a:p>
      </dgm:t>
    </dgm:pt>
    <dgm:pt modelId="{DF365AA2-23D2-4D47-95F5-15AE3E2D6BC7}" type="parTrans" cxnId="{66CB90C6-BA21-6B48-B163-4BECE15C5295}">
      <dgm:prSet/>
      <dgm:spPr/>
      <dgm:t>
        <a:bodyPr/>
        <a:lstStyle/>
        <a:p>
          <a:endParaRPr lang="en-US"/>
        </a:p>
      </dgm:t>
    </dgm:pt>
    <dgm:pt modelId="{E52CF8DA-C8F8-8F42-BC2C-8936A6BC5E3B}" type="sibTrans" cxnId="{66CB90C6-BA21-6B48-B163-4BECE15C5295}">
      <dgm:prSet/>
      <dgm:spPr/>
      <dgm:t>
        <a:bodyPr/>
        <a:lstStyle/>
        <a:p>
          <a:endParaRPr lang="en-US"/>
        </a:p>
      </dgm:t>
    </dgm:pt>
    <dgm:pt modelId="{55B32CCF-8246-E347-81EB-C356C229756B}">
      <dgm:prSet phldrT="[Text]"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Check where data comes from and who collected it before trusting it.</a:t>
          </a:r>
          <a:endParaRPr lang="en-US" dirty="0"/>
        </a:p>
      </dgm:t>
    </dgm:pt>
    <dgm:pt modelId="{7B97B7B1-3C6E-BA47-8477-6BD564988B8F}" type="parTrans" cxnId="{3D629AAE-CB06-6342-BB80-71243046E58C}">
      <dgm:prSet/>
      <dgm:spPr/>
      <dgm:t>
        <a:bodyPr/>
        <a:lstStyle/>
        <a:p>
          <a:endParaRPr lang="en-US"/>
        </a:p>
      </dgm:t>
    </dgm:pt>
    <dgm:pt modelId="{F191F8DD-8B1C-A449-8A65-C29CB629D000}" type="sibTrans" cxnId="{3D629AAE-CB06-6342-BB80-71243046E58C}">
      <dgm:prSet/>
      <dgm:spPr/>
      <dgm:t>
        <a:bodyPr/>
        <a:lstStyle/>
        <a:p>
          <a:endParaRPr lang="en-US"/>
        </a:p>
      </dgm:t>
    </dgm:pt>
    <dgm:pt modelId="{15AE6E46-206B-654C-98AB-49F12F475EAD}">
      <dgm:prSet phldrT="[Text]"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Consider Biases</a:t>
          </a:r>
          <a:endParaRPr lang="en-US" dirty="0"/>
        </a:p>
      </dgm:t>
    </dgm:pt>
    <dgm:pt modelId="{33D918E1-9E51-354D-92CB-CBA8D34EFEB0}" type="parTrans" cxnId="{E8859E02-EF0A-4F46-8CC6-CDE54784C050}">
      <dgm:prSet/>
      <dgm:spPr/>
      <dgm:t>
        <a:bodyPr/>
        <a:lstStyle/>
        <a:p>
          <a:endParaRPr lang="en-US"/>
        </a:p>
      </dgm:t>
    </dgm:pt>
    <dgm:pt modelId="{949EE02B-D1ED-2E4A-9B41-F16A53697F42}" type="sibTrans" cxnId="{E8859E02-EF0A-4F46-8CC6-CDE54784C050}">
      <dgm:prSet/>
      <dgm:spPr/>
      <dgm:t>
        <a:bodyPr/>
        <a:lstStyle/>
        <a:p>
          <a:endParaRPr lang="en-US"/>
        </a:p>
      </dgm:t>
    </dgm:pt>
    <dgm:pt modelId="{3493F17F-1E9D-E845-90DA-F8499983A4C1}">
      <dgm:prSet phldrT="[Text]"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Think about who might benefit from presenting data in a certain way.</a:t>
          </a:r>
          <a:endParaRPr lang="en-US" dirty="0"/>
        </a:p>
      </dgm:t>
    </dgm:pt>
    <dgm:pt modelId="{F0CC6EE8-9146-7D41-9EE2-B584678E07B2}" type="parTrans" cxnId="{41C53AE9-131B-064B-B34A-BF103DF03138}">
      <dgm:prSet/>
      <dgm:spPr/>
      <dgm:t>
        <a:bodyPr/>
        <a:lstStyle/>
        <a:p>
          <a:endParaRPr lang="en-US"/>
        </a:p>
      </dgm:t>
    </dgm:pt>
    <dgm:pt modelId="{0D3E5FC4-ADAF-1349-A6F9-B151C429E1D4}" type="sibTrans" cxnId="{41C53AE9-131B-064B-B34A-BF103DF03138}">
      <dgm:prSet/>
      <dgm:spPr/>
      <dgm:t>
        <a:bodyPr/>
        <a:lstStyle/>
        <a:p>
          <a:endParaRPr lang="en-US"/>
        </a:p>
      </dgm:t>
    </dgm:pt>
    <dgm:pt modelId="{547FF723-27C7-1449-B322-B0AF56444639}">
      <dgm:prSet phldrT="[Text]"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Question Methods</a:t>
          </a:r>
          <a:endParaRPr lang="en-US" dirty="0"/>
        </a:p>
      </dgm:t>
    </dgm:pt>
    <dgm:pt modelId="{0A83E2A5-1393-1C40-BAB0-E34BD2D244BD}" type="parTrans" cxnId="{E7F69399-17B6-3646-B812-51E81173CCD3}">
      <dgm:prSet/>
      <dgm:spPr/>
      <dgm:t>
        <a:bodyPr/>
        <a:lstStyle/>
        <a:p>
          <a:endParaRPr lang="en-US"/>
        </a:p>
      </dgm:t>
    </dgm:pt>
    <dgm:pt modelId="{E379A376-3541-3548-8742-2F45D6A64C71}" type="sibTrans" cxnId="{E7F69399-17B6-3646-B812-51E81173CCD3}">
      <dgm:prSet/>
      <dgm:spPr/>
      <dgm:t>
        <a:bodyPr/>
        <a:lstStyle/>
        <a:p>
          <a:endParaRPr lang="en-US"/>
        </a:p>
      </dgm:t>
    </dgm:pt>
    <dgm:pt modelId="{86D1BACE-2897-0345-A524-BC1983836DF0}">
      <dgm:prSet phldrT="[Text]"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Ask how data was collected and whether the approach was sound.</a:t>
          </a:r>
          <a:endParaRPr lang="en-US" dirty="0"/>
        </a:p>
      </dgm:t>
    </dgm:pt>
    <dgm:pt modelId="{92ED1066-F556-7145-8BB7-BB720F42738B}" type="parTrans" cxnId="{CF82DE39-9D6D-9748-8332-DE73E415718D}">
      <dgm:prSet/>
      <dgm:spPr/>
      <dgm:t>
        <a:bodyPr/>
        <a:lstStyle/>
        <a:p>
          <a:endParaRPr lang="en-US"/>
        </a:p>
      </dgm:t>
    </dgm:pt>
    <dgm:pt modelId="{869C0294-6287-A841-96A5-680385F23C8B}" type="sibTrans" cxnId="{CF82DE39-9D6D-9748-8332-DE73E415718D}">
      <dgm:prSet/>
      <dgm:spPr/>
      <dgm:t>
        <a:bodyPr/>
        <a:lstStyle/>
        <a:p>
          <a:endParaRPr lang="en-US"/>
        </a:p>
      </dgm:t>
    </dgm:pt>
    <dgm:pt modelId="{3B8AA48C-0766-A245-8AFD-5B4286693D75}">
      <dgm:prSet phldrT="[Text]"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Consider Biases</a:t>
          </a:r>
          <a:endParaRPr lang="en-US" dirty="0"/>
        </a:p>
      </dgm:t>
    </dgm:pt>
    <dgm:pt modelId="{B7321828-538F-D048-A313-2F4A65973084}" type="parTrans" cxnId="{C2A41B48-796B-EC4F-BBCA-A82B2F6E37D2}">
      <dgm:prSet/>
      <dgm:spPr/>
      <dgm:t>
        <a:bodyPr/>
        <a:lstStyle/>
        <a:p>
          <a:endParaRPr lang="en-US"/>
        </a:p>
      </dgm:t>
    </dgm:pt>
    <dgm:pt modelId="{12538870-7BD2-3F49-B3AE-287A84C5898A}" type="sibTrans" cxnId="{C2A41B48-796B-EC4F-BBCA-A82B2F6E37D2}">
      <dgm:prSet/>
      <dgm:spPr/>
      <dgm:t>
        <a:bodyPr/>
        <a:lstStyle/>
        <a:p>
          <a:endParaRPr lang="en-US"/>
        </a:p>
      </dgm:t>
    </dgm:pt>
    <dgm:pt modelId="{4734C423-C5C4-DA4A-9B4D-CD164766CE28}">
      <dgm:prSet phldrT="[Text]"/>
      <dgm:spPr/>
      <dgm:t>
        <a:bodyPr/>
        <a:lstStyle/>
        <a:p>
          <a:r>
            <a:rPr lang="en-US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Compare data from different sources to get a more complete picture.</a:t>
          </a:r>
          <a:endParaRPr lang="en-US" dirty="0"/>
        </a:p>
      </dgm:t>
    </dgm:pt>
    <dgm:pt modelId="{3F2A7648-D438-E24E-956C-D7462E07FE81}" type="parTrans" cxnId="{E7BF2422-F57A-AE4B-BFB5-7173B1CA82E1}">
      <dgm:prSet/>
      <dgm:spPr/>
      <dgm:t>
        <a:bodyPr/>
        <a:lstStyle/>
        <a:p>
          <a:endParaRPr lang="en-US"/>
        </a:p>
      </dgm:t>
    </dgm:pt>
    <dgm:pt modelId="{57A45C06-6C47-8742-9566-592758E45CCC}" type="sibTrans" cxnId="{E7BF2422-F57A-AE4B-BFB5-7173B1CA82E1}">
      <dgm:prSet/>
      <dgm:spPr/>
      <dgm:t>
        <a:bodyPr/>
        <a:lstStyle/>
        <a:p>
          <a:endParaRPr lang="en-US"/>
        </a:p>
      </dgm:t>
    </dgm:pt>
    <dgm:pt modelId="{EA6F2719-F841-0B41-A4AF-77F9C5998DD3}" type="pres">
      <dgm:prSet presAssocID="{640F7640-ADC8-3349-A2AD-1A1FB4B937B0}" presName="diagram" presStyleCnt="0">
        <dgm:presLayoutVars>
          <dgm:dir/>
          <dgm:resizeHandles val="exact"/>
        </dgm:presLayoutVars>
      </dgm:prSet>
      <dgm:spPr/>
    </dgm:pt>
    <dgm:pt modelId="{1AD21D37-EBCF-DD4C-9197-DA7C93AFFE21}" type="pres">
      <dgm:prSet presAssocID="{B3A62186-0BDC-AE4A-AD9D-A562E8DD9348}" presName="node" presStyleLbl="node1" presStyleIdx="0" presStyleCnt="4">
        <dgm:presLayoutVars>
          <dgm:bulletEnabled val="1"/>
        </dgm:presLayoutVars>
      </dgm:prSet>
      <dgm:spPr/>
    </dgm:pt>
    <dgm:pt modelId="{B28AB6F5-0821-9F4C-AC2C-B93A30BA0AF1}" type="pres">
      <dgm:prSet presAssocID="{E52CF8DA-C8F8-8F42-BC2C-8936A6BC5E3B}" presName="sibTrans" presStyleCnt="0"/>
      <dgm:spPr/>
    </dgm:pt>
    <dgm:pt modelId="{63A22A55-8E01-4448-B9FB-FBFC2752AEB1}" type="pres">
      <dgm:prSet presAssocID="{15AE6E46-206B-654C-98AB-49F12F475EAD}" presName="node" presStyleLbl="node1" presStyleIdx="1" presStyleCnt="4">
        <dgm:presLayoutVars>
          <dgm:bulletEnabled val="1"/>
        </dgm:presLayoutVars>
      </dgm:prSet>
      <dgm:spPr/>
    </dgm:pt>
    <dgm:pt modelId="{C292C2BD-9417-A24D-A98B-656399E5672D}" type="pres">
      <dgm:prSet presAssocID="{949EE02B-D1ED-2E4A-9B41-F16A53697F42}" presName="sibTrans" presStyleCnt="0"/>
      <dgm:spPr/>
    </dgm:pt>
    <dgm:pt modelId="{B80314D2-DDE6-F942-A30B-11077F0AD6FA}" type="pres">
      <dgm:prSet presAssocID="{547FF723-27C7-1449-B322-B0AF56444639}" presName="node" presStyleLbl="node1" presStyleIdx="2" presStyleCnt="4">
        <dgm:presLayoutVars>
          <dgm:bulletEnabled val="1"/>
        </dgm:presLayoutVars>
      </dgm:prSet>
      <dgm:spPr/>
    </dgm:pt>
    <dgm:pt modelId="{AF91C378-0371-4C4A-8A95-BA3C83786C5C}" type="pres">
      <dgm:prSet presAssocID="{E379A376-3541-3548-8742-2F45D6A64C71}" presName="sibTrans" presStyleCnt="0"/>
      <dgm:spPr/>
    </dgm:pt>
    <dgm:pt modelId="{D5F45032-6F31-5A45-AC6A-6E55106E4B53}" type="pres">
      <dgm:prSet presAssocID="{3B8AA48C-0766-A245-8AFD-5B4286693D75}" presName="node" presStyleLbl="node1" presStyleIdx="3" presStyleCnt="4">
        <dgm:presLayoutVars>
          <dgm:bulletEnabled val="1"/>
        </dgm:presLayoutVars>
      </dgm:prSet>
      <dgm:spPr/>
    </dgm:pt>
  </dgm:ptLst>
  <dgm:cxnLst>
    <dgm:cxn modelId="{E8859E02-EF0A-4F46-8CC6-CDE54784C050}" srcId="{640F7640-ADC8-3349-A2AD-1A1FB4B937B0}" destId="{15AE6E46-206B-654C-98AB-49F12F475EAD}" srcOrd="1" destOrd="0" parTransId="{33D918E1-9E51-354D-92CB-CBA8D34EFEB0}" sibTransId="{949EE02B-D1ED-2E4A-9B41-F16A53697F42}"/>
    <dgm:cxn modelId="{E7BF2422-F57A-AE4B-BFB5-7173B1CA82E1}" srcId="{3B8AA48C-0766-A245-8AFD-5B4286693D75}" destId="{4734C423-C5C4-DA4A-9B4D-CD164766CE28}" srcOrd="0" destOrd="0" parTransId="{3F2A7648-D438-E24E-956C-D7462E07FE81}" sibTransId="{57A45C06-6C47-8742-9566-592758E45CCC}"/>
    <dgm:cxn modelId="{5FE9892D-D2D6-E147-A8FF-77DFC3561973}" type="presOf" srcId="{3493F17F-1E9D-E845-90DA-F8499983A4C1}" destId="{63A22A55-8E01-4448-B9FB-FBFC2752AEB1}" srcOrd="0" destOrd="1" presId="urn:microsoft.com/office/officeart/2005/8/layout/default"/>
    <dgm:cxn modelId="{CF82DE39-9D6D-9748-8332-DE73E415718D}" srcId="{547FF723-27C7-1449-B322-B0AF56444639}" destId="{86D1BACE-2897-0345-A524-BC1983836DF0}" srcOrd="0" destOrd="0" parTransId="{92ED1066-F556-7145-8BB7-BB720F42738B}" sibTransId="{869C0294-6287-A841-96A5-680385F23C8B}"/>
    <dgm:cxn modelId="{C2A41B48-796B-EC4F-BBCA-A82B2F6E37D2}" srcId="{640F7640-ADC8-3349-A2AD-1A1FB4B937B0}" destId="{3B8AA48C-0766-A245-8AFD-5B4286693D75}" srcOrd="3" destOrd="0" parTransId="{B7321828-538F-D048-A313-2F4A65973084}" sibTransId="{12538870-7BD2-3F49-B3AE-287A84C5898A}"/>
    <dgm:cxn modelId="{061A826D-A8A4-294B-A765-30F697C020F0}" type="presOf" srcId="{3B8AA48C-0766-A245-8AFD-5B4286693D75}" destId="{D5F45032-6F31-5A45-AC6A-6E55106E4B53}" srcOrd="0" destOrd="0" presId="urn:microsoft.com/office/officeart/2005/8/layout/default"/>
    <dgm:cxn modelId="{F2FA767E-73DB-0E42-93B9-655CBF0EB027}" type="presOf" srcId="{547FF723-27C7-1449-B322-B0AF56444639}" destId="{B80314D2-DDE6-F942-A30B-11077F0AD6FA}" srcOrd="0" destOrd="0" presId="urn:microsoft.com/office/officeart/2005/8/layout/default"/>
    <dgm:cxn modelId="{572BF885-D429-B541-8CB4-CF6C488F7943}" type="presOf" srcId="{55B32CCF-8246-E347-81EB-C356C229756B}" destId="{1AD21D37-EBCF-DD4C-9197-DA7C93AFFE21}" srcOrd="0" destOrd="1" presId="urn:microsoft.com/office/officeart/2005/8/layout/default"/>
    <dgm:cxn modelId="{CE15C990-CA53-5047-811C-140D6E60D465}" type="presOf" srcId="{4734C423-C5C4-DA4A-9B4D-CD164766CE28}" destId="{D5F45032-6F31-5A45-AC6A-6E55106E4B53}" srcOrd="0" destOrd="1" presId="urn:microsoft.com/office/officeart/2005/8/layout/default"/>
    <dgm:cxn modelId="{C8BB2894-A938-7E4B-AE13-129C13B7B3AC}" type="presOf" srcId="{B3A62186-0BDC-AE4A-AD9D-A562E8DD9348}" destId="{1AD21D37-EBCF-DD4C-9197-DA7C93AFFE21}" srcOrd="0" destOrd="0" presId="urn:microsoft.com/office/officeart/2005/8/layout/default"/>
    <dgm:cxn modelId="{E7F69399-17B6-3646-B812-51E81173CCD3}" srcId="{640F7640-ADC8-3349-A2AD-1A1FB4B937B0}" destId="{547FF723-27C7-1449-B322-B0AF56444639}" srcOrd="2" destOrd="0" parTransId="{0A83E2A5-1393-1C40-BAB0-E34BD2D244BD}" sibTransId="{E379A376-3541-3548-8742-2F45D6A64C71}"/>
    <dgm:cxn modelId="{2F241C9C-FAEC-E648-8571-3B33097BF52D}" type="presOf" srcId="{15AE6E46-206B-654C-98AB-49F12F475EAD}" destId="{63A22A55-8E01-4448-B9FB-FBFC2752AEB1}" srcOrd="0" destOrd="0" presId="urn:microsoft.com/office/officeart/2005/8/layout/default"/>
    <dgm:cxn modelId="{37DDE8A6-7A3E-9E4D-99C6-D7E3A8E72156}" type="presOf" srcId="{86D1BACE-2897-0345-A524-BC1983836DF0}" destId="{B80314D2-DDE6-F942-A30B-11077F0AD6FA}" srcOrd="0" destOrd="1" presId="urn:microsoft.com/office/officeart/2005/8/layout/default"/>
    <dgm:cxn modelId="{90E58FA8-BB12-0B42-83D6-184C961B1F4A}" type="presOf" srcId="{640F7640-ADC8-3349-A2AD-1A1FB4B937B0}" destId="{EA6F2719-F841-0B41-A4AF-77F9C5998DD3}" srcOrd="0" destOrd="0" presId="urn:microsoft.com/office/officeart/2005/8/layout/default"/>
    <dgm:cxn modelId="{3D629AAE-CB06-6342-BB80-71243046E58C}" srcId="{B3A62186-0BDC-AE4A-AD9D-A562E8DD9348}" destId="{55B32CCF-8246-E347-81EB-C356C229756B}" srcOrd="0" destOrd="0" parTransId="{7B97B7B1-3C6E-BA47-8477-6BD564988B8F}" sibTransId="{F191F8DD-8B1C-A449-8A65-C29CB629D000}"/>
    <dgm:cxn modelId="{66CB90C6-BA21-6B48-B163-4BECE15C5295}" srcId="{640F7640-ADC8-3349-A2AD-1A1FB4B937B0}" destId="{B3A62186-0BDC-AE4A-AD9D-A562E8DD9348}" srcOrd="0" destOrd="0" parTransId="{DF365AA2-23D2-4D47-95F5-15AE3E2D6BC7}" sibTransId="{E52CF8DA-C8F8-8F42-BC2C-8936A6BC5E3B}"/>
    <dgm:cxn modelId="{41C53AE9-131B-064B-B34A-BF103DF03138}" srcId="{15AE6E46-206B-654C-98AB-49F12F475EAD}" destId="{3493F17F-1E9D-E845-90DA-F8499983A4C1}" srcOrd="0" destOrd="0" parTransId="{F0CC6EE8-9146-7D41-9EE2-B584678E07B2}" sibTransId="{0D3E5FC4-ADAF-1349-A6F9-B151C429E1D4}"/>
    <dgm:cxn modelId="{F0394E8E-710D-514A-B1FC-B86ACB7D10EA}" type="presParOf" srcId="{EA6F2719-F841-0B41-A4AF-77F9C5998DD3}" destId="{1AD21D37-EBCF-DD4C-9197-DA7C93AFFE21}" srcOrd="0" destOrd="0" presId="urn:microsoft.com/office/officeart/2005/8/layout/default"/>
    <dgm:cxn modelId="{CBC9D373-7776-1E49-BE39-2B0EA16B4AA6}" type="presParOf" srcId="{EA6F2719-F841-0B41-A4AF-77F9C5998DD3}" destId="{B28AB6F5-0821-9F4C-AC2C-B93A30BA0AF1}" srcOrd="1" destOrd="0" presId="urn:microsoft.com/office/officeart/2005/8/layout/default"/>
    <dgm:cxn modelId="{F7098578-5BE1-8043-B85A-CB035C953D71}" type="presParOf" srcId="{EA6F2719-F841-0B41-A4AF-77F9C5998DD3}" destId="{63A22A55-8E01-4448-B9FB-FBFC2752AEB1}" srcOrd="2" destOrd="0" presId="urn:microsoft.com/office/officeart/2005/8/layout/default"/>
    <dgm:cxn modelId="{FF7FBED7-67D2-D04D-ADF6-1E554CABC23C}" type="presParOf" srcId="{EA6F2719-F841-0B41-A4AF-77F9C5998DD3}" destId="{C292C2BD-9417-A24D-A98B-656399E5672D}" srcOrd="3" destOrd="0" presId="urn:microsoft.com/office/officeart/2005/8/layout/default"/>
    <dgm:cxn modelId="{2628EFCE-6843-2E49-BD3B-C990F8D03C5D}" type="presParOf" srcId="{EA6F2719-F841-0B41-A4AF-77F9C5998DD3}" destId="{B80314D2-DDE6-F942-A30B-11077F0AD6FA}" srcOrd="4" destOrd="0" presId="urn:microsoft.com/office/officeart/2005/8/layout/default"/>
    <dgm:cxn modelId="{A79DF7F5-1CFF-4442-82EC-A4117ECA4090}" type="presParOf" srcId="{EA6F2719-F841-0B41-A4AF-77F9C5998DD3}" destId="{AF91C378-0371-4C4A-8A95-BA3C83786C5C}" srcOrd="5" destOrd="0" presId="urn:microsoft.com/office/officeart/2005/8/layout/default"/>
    <dgm:cxn modelId="{350300A9-3A6B-3E4F-8BAD-515D13EB5356}" type="presParOf" srcId="{EA6F2719-F841-0B41-A4AF-77F9C5998DD3}" destId="{D5F45032-6F31-5A45-AC6A-6E55106E4B5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E474F9-3AFE-DA48-9BE4-D401B93978DF}" type="doc">
      <dgm:prSet loTypeId="urn:microsoft.com/office/officeart/2005/8/layout/hProcess11" loCatId="" qsTypeId="urn:microsoft.com/office/officeart/2005/8/quickstyle/simple5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47E6F922-0F44-D04E-8659-CC9B0D62F407}">
      <dgm:prSet phldrT="[Text]"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Question how data were obtained.</a:t>
          </a:r>
        </a:p>
      </dgm:t>
    </dgm:pt>
    <dgm:pt modelId="{23012373-50F2-FD41-B685-33CE9360ACC8}" type="parTrans" cxnId="{071D8BAD-5895-1F42-855F-A63D8026602C}">
      <dgm:prSet/>
      <dgm:spPr/>
      <dgm:t>
        <a:bodyPr/>
        <a:lstStyle/>
        <a:p>
          <a:endParaRPr lang="en-US"/>
        </a:p>
      </dgm:t>
    </dgm:pt>
    <dgm:pt modelId="{E9A5443F-925D-3046-B9B5-8B29D99377F8}" type="sibTrans" cxnId="{071D8BAD-5895-1F42-855F-A63D8026602C}">
      <dgm:prSet/>
      <dgm:spPr/>
      <dgm:t>
        <a:bodyPr/>
        <a:lstStyle/>
        <a:p>
          <a:endParaRPr lang="en-US"/>
        </a:p>
      </dgm:t>
    </dgm:pt>
    <dgm:pt modelId="{0AAEC0F0-B3E9-B94C-9C28-1833E65C8A59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Check if the data make sense (are there any obvious errors or outliers?).</a:t>
          </a:r>
        </a:p>
      </dgm:t>
    </dgm:pt>
    <dgm:pt modelId="{583DA725-651B-4A43-B728-2D3623C560C1}" type="parTrans" cxnId="{80EC65A6-A043-7747-A4E7-AAF036EAD594}">
      <dgm:prSet/>
      <dgm:spPr/>
      <dgm:t>
        <a:bodyPr/>
        <a:lstStyle/>
        <a:p>
          <a:endParaRPr lang="en-US"/>
        </a:p>
      </dgm:t>
    </dgm:pt>
    <dgm:pt modelId="{ABCB54EA-8DAD-2948-A22A-2BB709029215}" type="sibTrans" cxnId="{80EC65A6-A043-7747-A4E7-AAF036EAD594}">
      <dgm:prSet/>
      <dgm:spPr/>
      <dgm:t>
        <a:bodyPr/>
        <a:lstStyle/>
        <a:p>
          <a:endParaRPr lang="en-US"/>
        </a:p>
      </dgm:t>
    </dgm:pt>
    <dgm:pt modelId="{F06465A4-D07C-814E-9BF3-ADB81DD7CDC7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Consider alternative explanations for what the data show.</a:t>
          </a:r>
        </a:p>
      </dgm:t>
    </dgm:pt>
    <dgm:pt modelId="{E93CEAF6-5B95-B242-95AC-56BA929A1664}" type="parTrans" cxnId="{2ADCA15A-C974-0049-AE70-92A8E55BC379}">
      <dgm:prSet/>
      <dgm:spPr/>
      <dgm:t>
        <a:bodyPr/>
        <a:lstStyle/>
        <a:p>
          <a:endParaRPr lang="en-US"/>
        </a:p>
      </dgm:t>
    </dgm:pt>
    <dgm:pt modelId="{67AB06EF-2FE9-8A40-9D9D-4586EA2C7BE3}" type="sibTrans" cxnId="{2ADCA15A-C974-0049-AE70-92A8E55BC379}">
      <dgm:prSet/>
      <dgm:spPr/>
      <dgm:t>
        <a:bodyPr/>
        <a:lstStyle/>
        <a:p>
          <a:endParaRPr lang="en-US"/>
        </a:p>
      </dgm:t>
    </dgm:pt>
    <dgm:pt modelId="{2CEDC011-9C7C-7148-A96A-9E68E907CE4D}">
      <dgm:prSet/>
      <dgm:spPr/>
      <dgm:t>
        <a:bodyPr/>
        <a:lstStyle/>
        <a:p>
          <a:pPr>
            <a:buSzPts val="1000"/>
            <a:buFont typeface="Symbol" pitchFamily="2" charset="2"/>
            <a:buChar char=""/>
          </a:pPr>
          <a:r>
            <a:rPr lang="en-US" dirty="0"/>
            <a:t>Use logic and reasoning to connect data to conclusions.</a:t>
          </a:r>
        </a:p>
      </dgm:t>
    </dgm:pt>
    <dgm:pt modelId="{81BDAF55-22F8-B04C-867A-945796EDA07E}" type="parTrans" cxnId="{76DE74AE-2274-D046-A590-4D62F04EF5D6}">
      <dgm:prSet/>
      <dgm:spPr/>
      <dgm:t>
        <a:bodyPr/>
        <a:lstStyle/>
        <a:p>
          <a:endParaRPr lang="en-US"/>
        </a:p>
      </dgm:t>
    </dgm:pt>
    <dgm:pt modelId="{F0283967-9573-1541-969C-7161B0754EFC}" type="sibTrans" cxnId="{76DE74AE-2274-D046-A590-4D62F04EF5D6}">
      <dgm:prSet/>
      <dgm:spPr/>
      <dgm:t>
        <a:bodyPr/>
        <a:lstStyle/>
        <a:p>
          <a:endParaRPr lang="en-US"/>
        </a:p>
      </dgm:t>
    </dgm:pt>
    <dgm:pt modelId="{8C7D2F3F-37E6-2646-B346-116477B63D6F}" type="pres">
      <dgm:prSet presAssocID="{D1E474F9-3AFE-DA48-9BE4-D401B93978DF}" presName="Name0" presStyleCnt="0">
        <dgm:presLayoutVars>
          <dgm:dir/>
          <dgm:resizeHandles val="exact"/>
        </dgm:presLayoutVars>
      </dgm:prSet>
      <dgm:spPr/>
    </dgm:pt>
    <dgm:pt modelId="{F09EC89F-B63F-3749-A147-ACCC767DEACA}" type="pres">
      <dgm:prSet presAssocID="{D1E474F9-3AFE-DA48-9BE4-D401B93978DF}" presName="arrow" presStyleLbl="bgShp" presStyleIdx="0" presStyleCnt="1"/>
      <dgm:spPr/>
    </dgm:pt>
    <dgm:pt modelId="{CD74107E-76FA-8146-9704-BDA2C88178D1}" type="pres">
      <dgm:prSet presAssocID="{D1E474F9-3AFE-DA48-9BE4-D401B93978DF}" presName="points" presStyleCnt="0"/>
      <dgm:spPr/>
    </dgm:pt>
    <dgm:pt modelId="{EAFD2930-0880-3A40-BA20-3AAEA8B38E54}" type="pres">
      <dgm:prSet presAssocID="{47E6F922-0F44-D04E-8659-CC9B0D62F407}" presName="compositeA" presStyleCnt="0"/>
      <dgm:spPr/>
    </dgm:pt>
    <dgm:pt modelId="{5654756B-D95F-354C-9029-0B623FEBF849}" type="pres">
      <dgm:prSet presAssocID="{47E6F922-0F44-D04E-8659-CC9B0D62F407}" presName="textA" presStyleLbl="revTx" presStyleIdx="0" presStyleCnt="4">
        <dgm:presLayoutVars>
          <dgm:bulletEnabled val="1"/>
        </dgm:presLayoutVars>
      </dgm:prSet>
      <dgm:spPr/>
    </dgm:pt>
    <dgm:pt modelId="{008E5EA1-7044-184D-8E74-376EC58B4C1D}" type="pres">
      <dgm:prSet presAssocID="{47E6F922-0F44-D04E-8659-CC9B0D62F407}" presName="circleA" presStyleLbl="node1" presStyleIdx="0" presStyleCnt="4"/>
      <dgm:spPr/>
    </dgm:pt>
    <dgm:pt modelId="{8594F32F-4704-7C4A-99A8-B6AF6DC0779F}" type="pres">
      <dgm:prSet presAssocID="{47E6F922-0F44-D04E-8659-CC9B0D62F407}" presName="spaceA" presStyleCnt="0"/>
      <dgm:spPr/>
    </dgm:pt>
    <dgm:pt modelId="{5842660E-8ED5-E14C-A1F6-BA676E921E5D}" type="pres">
      <dgm:prSet presAssocID="{E9A5443F-925D-3046-B9B5-8B29D99377F8}" presName="space" presStyleCnt="0"/>
      <dgm:spPr/>
    </dgm:pt>
    <dgm:pt modelId="{A5ED640F-BEE3-544B-ACBA-2B203D80A718}" type="pres">
      <dgm:prSet presAssocID="{0AAEC0F0-B3E9-B94C-9C28-1833E65C8A59}" presName="compositeB" presStyleCnt="0"/>
      <dgm:spPr/>
    </dgm:pt>
    <dgm:pt modelId="{333C951F-9FCB-D840-9CC6-BA22E8894CF4}" type="pres">
      <dgm:prSet presAssocID="{0AAEC0F0-B3E9-B94C-9C28-1833E65C8A59}" presName="textB" presStyleLbl="revTx" presStyleIdx="1" presStyleCnt="4">
        <dgm:presLayoutVars>
          <dgm:bulletEnabled val="1"/>
        </dgm:presLayoutVars>
      </dgm:prSet>
      <dgm:spPr/>
    </dgm:pt>
    <dgm:pt modelId="{B8C737C3-0C23-5645-8285-F012E4CECA4A}" type="pres">
      <dgm:prSet presAssocID="{0AAEC0F0-B3E9-B94C-9C28-1833E65C8A59}" presName="circleB" presStyleLbl="node1" presStyleIdx="1" presStyleCnt="4"/>
      <dgm:spPr/>
    </dgm:pt>
    <dgm:pt modelId="{A968468B-CF12-1547-A4CF-AFEA0A739DF1}" type="pres">
      <dgm:prSet presAssocID="{0AAEC0F0-B3E9-B94C-9C28-1833E65C8A59}" presName="spaceB" presStyleCnt="0"/>
      <dgm:spPr/>
    </dgm:pt>
    <dgm:pt modelId="{6A7D68AD-7D17-9E49-BC5B-2F4EEBBFB6CF}" type="pres">
      <dgm:prSet presAssocID="{ABCB54EA-8DAD-2948-A22A-2BB709029215}" presName="space" presStyleCnt="0"/>
      <dgm:spPr/>
    </dgm:pt>
    <dgm:pt modelId="{860210F0-2EDE-4242-8E32-A4D0A44EA32B}" type="pres">
      <dgm:prSet presAssocID="{F06465A4-D07C-814E-9BF3-ADB81DD7CDC7}" presName="compositeA" presStyleCnt="0"/>
      <dgm:spPr/>
    </dgm:pt>
    <dgm:pt modelId="{1C69B27B-271F-0E42-BCF8-98336ABE3A52}" type="pres">
      <dgm:prSet presAssocID="{F06465A4-D07C-814E-9BF3-ADB81DD7CDC7}" presName="textA" presStyleLbl="revTx" presStyleIdx="2" presStyleCnt="4">
        <dgm:presLayoutVars>
          <dgm:bulletEnabled val="1"/>
        </dgm:presLayoutVars>
      </dgm:prSet>
      <dgm:spPr/>
    </dgm:pt>
    <dgm:pt modelId="{B0FD65BC-8659-D342-B25C-82A2448375E8}" type="pres">
      <dgm:prSet presAssocID="{F06465A4-D07C-814E-9BF3-ADB81DD7CDC7}" presName="circleA" presStyleLbl="node1" presStyleIdx="2" presStyleCnt="4"/>
      <dgm:spPr/>
    </dgm:pt>
    <dgm:pt modelId="{109509A1-46D3-1D45-905E-78157A9419D0}" type="pres">
      <dgm:prSet presAssocID="{F06465A4-D07C-814E-9BF3-ADB81DD7CDC7}" presName="spaceA" presStyleCnt="0"/>
      <dgm:spPr/>
    </dgm:pt>
    <dgm:pt modelId="{7A990C43-289A-224E-AD1D-981A5C34AAA3}" type="pres">
      <dgm:prSet presAssocID="{67AB06EF-2FE9-8A40-9D9D-4586EA2C7BE3}" presName="space" presStyleCnt="0"/>
      <dgm:spPr/>
    </dgm:pt>
    <dgm:pt modelId="{0EEA4D52-C7E5-ED47-A55B-B56C2E04F391}" type="pres">
      <dgm:prSet presAssocID="{2CEDC011-9C7C-7148-A96A-9E68E907CE4D}" presName="compositeB" presStyleCnt="0"/>
      <dgm:spPr/>
    </dgm:pt>
    <dgm:pt modelId="{D47034CB-1556-7A4A-8F9D-F6702A964CD5}" type="pres">
      <dgm:prSet presAssocID="{2CEDC011-9C7C-7148-A96A-9E68E907CE4D}" presName="textB" presStyleLbl="revTx" presStyleIdx="3" presStyleCnt="4">
        <dgm:presLayoutVars>
          <dgm:bulletEnabled val="1"/>
        </dgm:presLayoutVars>
      </dgm:prSet>
      <dgm:spPr/>
    </dgm:pt>
    <dgm:pt modelId="{50C2BB24-CBF3-504B-8713-1B17A5BF1540}" type="pres">
      <dgm:prSet presAssocID="{2CEDC011-9C7C-7148-A96A-9E68E907CE4D}" presName="circleB" presStyleLbl="node1" presStyleIdx="3" presStyleCnt="4"/>
      <dgm:spPr/>
    </dgm:pt>
    <dgm:pt modelId="{89A97525-6E1B-3C43-AF6F-1AD0970E9EC1}" type="pres">
      <dgm:prSet presAssocID="{2CEDC011-9C7C-7148-A96A-9E68E907CE4D}" presName="spaceB" presStyleCnt="0"/>
      <dgm:spPr/>
    </dgm:pt>
  </dgm:ptLst>
  <dgm:cxnLst>
    <dgm:cxn modelId="{E9F98011-CC52-0C48-99DA-37E7977E213C}" type="presOf" srcId="{0AAEC0F0-B3E9-B94C-9C28-1833E65C8A59}" destId="{333C951F-9FCB-D840-9CC6-BA22E8894CF4}" srcOrd="0" destOrd="0" presId="urn:microsoft.com/office/officeart/2005/8/layout/hProcess11"/>
    <dgm:cxn modelId="{2ADCA15A-C974-0049-AE70-92A8E55BC379}" srcId="{D1E474F9-3AFE-DA48-9BE4-D401B93978DF}" destId="{F06465A4-D07C-814E-9BF3-ADB81DD7CDC7}" srcOrd="2" destOrd="0" parTransId="{E93CEAF6-5B95-B242-95AC-56BA929A1664}" sibTransId="{67AB06EF-2FE9-8A40-9D9D-4586EA2C7BE3}"/>
    <dgm:cxn modelId="{91A84485-C16B-2D47-A35B-03CB98A1066C}" type="presOf" srcId="{47E6F922-0F44-D04E-8659-CC9B0D62F407}" destId="{5654756B-D95F-354C-9029-0B623FEBF849}" srcOrd="0" destOrd="0" presId="urn:microsoft.com/office/officeart/2005/8/layout/hProcess11"/>
    <dgm:cxn modelId="{B5DA1D92-4536-F54C-A9D4-93EF44621622}" type="presOf" srcId="{D1E474F9-3AFE-DA48-9BE4-D401B93978DF}" destId="{8C7D2F3F-37E6-2646-B346-116477B63D6F}" srcOrd="0" destOrd="0" presId="urn:microsoft.com/office/officeart/2005/8/layout/hProcess11"/>
    <dgm:cxn modelId="{19D00295-347C-844F-A3C0-E8094EA647F9}" type="presOf" srcId="{F06465A4-D07C-814E-9BF3-ADB81DD7CDC7}" destId="{1C69B27B-271F-0E42-BCF8-98336ABE3A52}" srcOrd="0" destOrd="0" presId="urn:microsoft.com/office/officeart/2005/8/layout/hProcess11"/>
    <dgm:cxn modelId="{C4242D9F-B178-A145-9A1F-7E1A2F546CA9}" type="presOf" srcId="{2CEDC011-9C7C-7148-A96A-9E68E907CE4D}" destId="{D47034CB-1556-7A4A-8F9D-F6702A964CD5}" srcOrd="0" destOrd="0" presId="urn:microsoft.com/office/officeart/2005/8/layout/hProcess11"/>
    <dgm:cxn modelId="{80EC65A6-A043-7747-A4E7-AAF036EAD594}" srcId="{D1E474F9-3AFE-DA48-9BE4-D401B93978DF}" destId="{0AAEC0F0-B3E9-B94C-9C28-1833E65C8A59}" srcOrd="1" destOrd="0" parTransId="{583DA725-651B-4A43-B728-2D3623C560C1}" sibTransId="{ABCB54EA-8DAD-2948-A22A-2BB709029215}"/>
    <dgm:cxn modelId="{071D8BAD-5895-1F42-855F-A63D8026602C}" srcId="{D1E474F9-3AFE-DA48-9BE4-D401B93978DF}" destId="{47E6F922-0F44-D04E-8659-CC9B0D62F407}" srcOrd="0" destOrd="0" parTransId="{23012373-50F2-FD41-B685-33CE9360ACC8}" sibTransId="{E9A5443F-925D-3046-B9B5-8B29D99377F8}"/>
    <dgm:cxn modelId="{76DE74AE-2274-D046-A590-4D62F04EF5D6}" srcId="{D1E474F9-3AFE-DA48-9BE4-D401B93978DF}" destId="{2CEDC011-9C7C-7148-A96A-9E68E907CE4D}" srcOrd="3" destOrd="0" parTransId="{81BDAF55-22F8-B04C-867A-945796EDA07E}" sibTransId="{F0283967-9573-1541-969C-7161B0754EFC}"/>
    <dgm:cxn modelId="{E46F444A-CFFD-524C-86F5-19D14A48E9E6}" type="presParOf" srcId="{8C7D2F3F-37E6-2646-B346-116477B63D6F}" destId="{F09EC89F-B63F-3749-A147-ACCC767DEACA}" srcOrd="0" destOrd="0" presId="urn:microsoft.com/office/officeart/2005/8/layout/hProcess11"/>
    <dgm:cxn modelId="{E9E32A2D-B7EA-D64D-B78A-FD830CC1C052}" type="presParOf" srcId="{8C7D2F3F-37E6-2646-B346-116477B63D6F}" destId="{CD74107E-76FA-8146-9704-BDA2C88178D1}" srcOrd="1" destOrd="0" presId="urn:microsoft.com/office/officeart/2005/8/layout/hProcess11"/>
    <dgm:cxn modelId="{D4980B29-12ED-2E44-B0D5-B1B68E36CD95}" type="presParOf" srcId="{CD74107E-76FA-8146-9704-BDA2C88178D1}" destId="{EAFD2930-0880-3A40-BA20-3AAEA8B38E54}" srcOrd="0" destOrd="0" presId="urn:microsoft.com/office/officeart/2005/8/layout/hProcess11"/>
    <dgm:cxn modelId="{C07A5FE5-6200-D044-A62F-9A1E0BB26D5F}" type="presParOf" srcId="{EAFD2930-0880-3A40-BA20-3AAEA8B38E54}" destId="{5654756B-D95F-354C-9029-0B623FEBF849}" srcOrd="0" destOrd="0" presId="urn:microsoft.com/office/officeart/2005/8/layout/hProcess11"/>
    <dgm:cxn modelId="{69B9B0A8-0A95-8746-A11B-4F9C0498D5FC}" type="presParOf" srcId="{EAFD2930-0880-3A40-BA20-3AAEA8B38E54}" destId="{008E5EA1-7044-184D-8E74-376EC58B4C1D}" srcOrd="1" destOrd="0" presId="urn:microsoft.com/office/officeart/2005/8/layout/hProcess11"/>
    <dgm:cxn modelId="{3F9DD4BE-42E9-1C47-9E5D-1BF725F9002F}" type="presParOf" srcId="{EAFD2930-0880-3A40-BA20-3AAEA8B38E54}" destId="{8594F32F-4704-7C4A-99A8-B6AF6DC0779F}" srcOrd="2" destOrd="0" presId="urn:microsoft.com/office/officeart/2005/8/layout/hProcess11"/>
    <dgm:cxn modelId="{B5605690-489E-3D46-807B-052FC76B46A9}" type="presParOf" srcId="{CD74107E-76FA-8146-9704-BDA2C88178D1}" destId="{5842660E-8ED5-E14C-A1F6-BA676E921E5D}" srcOrd="1" destOrd="0" presId="urn:microsoft.com/office/officeart/2005/8/layout/hProcess11"/>
    <dgm:cxn modelId="{63E5F3C4-6280-A847-9875-0FF23080D463}" type="presParOf" srcId="{CD74107E-76FA-8146-9704-BDA2C88178D1}" destId="{A5ED640F-BEE3-544B-ACBA-2B203D80A718}" srcOrd="2" destOrd="0" presId="urn:microsoft.com/office/officeart/2005/8/layout/hProcess11"/>
    <dgm:cxn modelId="{7D8B5DA9-D756-AE4E-B930-F3B7F4FEA7F8}" type="presParOf" srcId="{A5ED640F-BEE3-544B-ACBA-2B203D80A718}" destId="{333C951F-9FCB-D840-9CC6-BA22E8894CF4}" srcOrd="0" destOrd="0" presId="urn:microsoft.com/office/officeart/2005/8/layout/hProcess11"/>
    <dgm:cxn modelId="{91A370B0-22AD-7D4A-B576-E3D9BCAA29B0}" type="presParOf" srcId="{A5ED640F-BEE3-544B-ACBA-2B203D80A718}" destId="{B8C737C3-0C23-5645-8285-F012E4CECA4A}" srcOrd="1" destOrd="0" presId="urn:microsoft.com/office/officeart/2005/8/layout/hProcess11"/>
    <dgm:cxn modelId="{8D8325F2-3D76-1A43-8F73-25CC0D30A831}" type="presParOf" srcId="{A5ED640F-BEE3-544B-ACBA-2B203D80A718}" destId="{A968468B-CF12-1547-A4CF-AFEA0A739DF1}" srcOrd="2" destOrd="0" presId="urn:microsoft.com/office/officeart/2005/8/layout/hProcess11"/>
    <dgm:cxn modelId="{4A323A9B-AF4F-B64C-BF25-DD42A44123B1}" type="presParOf" srcId="{CD74107E-76FA-8146-9704-BDA2C88178D1}" destId="{6A7D68AD-7D17-9E49-BC5B-2F4EEBBFB6CF}" srcOrd="3" destOrd="0" presId="urn:microsoft.com/office/officeart/2005/8/layout/hProcess11"/>
    <dgm:cxn modelId="{63C9E2C1-2225-E347-BFD5-071A537D3ED9}" type="presParOf" srcId="{CD74107E-76FA-8146-9704-BDA2C88178D1}" destId="{860210F0-2EDE-4242-8E32-A4D0A44EA32B}" srcOrd="4" destOrd="0" presId="urn:microsoft.com/office/officeart/2005/8/layout/hProcess11"/>
    <dgm:cxn modelId="{620EFD12-9FC8-BF4A-BE5B-F828085DF3AB}" type="presParOf" srcId="{860210F0-2EDE-4242-8E32-A4D0A44EA32B}" destId="{1C69B27B-271F-0E42-BCF8-98336ABE3A52}" srcOrd="0" destOrd="0" presId="urn:microsoft.com/office/officeart/2005/8/layout/hProcess11"/>
    <dgm:cxn modelId="{A6CEDCC3-2B16-C64C-928B-086E94529471}" type="presParOf" srcId="{860210F0-2EDE-4242-8E32-A4D0A44EA32B}" destId="{B0FD65BC-8659-D342-B25C-82A2448375E8}" srcOrd="1" destOrd="0" presId="urn:microsoft.com/office/officeart/2005/8/layout/hProcess11"/>
    <dgm:cxn modelId="{DFC6914E-7754-CE44-AA35-8279D7E9A29B}" type="presParOf" srcId="{860210F0-2EDE-4242-8E32-A4D0A44EA32B}" destId="{109509A1-46D3-1D45-905E-78157A9419D0}" srcOrd="2" destOrd="0" presId="urn:microsoft.com/office/officeart/2005/8/layout/hProcess11"/>
    <dgm:cxn modelId="{87C9FCEF-89A8-9840-BA86-32D691A34195}" type="presParOf" srcId="{CD74107E-76FA-8146-9704-BDA2C88178D1}" destId="{7A990C43-289A-224E-AD1D-981A5C34AAA3}" srcOrd="5" destOrd="0" presId="urn:microsoft.com/office/officeart/2005/8/layout/hProcess11"/>
    <dgm:cxn modelId="{D1CFBFA3-3997-C548-8419-7EDD5FDA4F8F}" type="presParOf" srcId="{CD74107E-76FA-8146-9704-BDA2C88178D1}" destId="{0EEA4D52-C7E5-ED47-A55B-B56C2E04F391}" srcOrd="6" destOrd="0" presId="urn:microsoft.com/office/officeart/2005/8/layout/hProcess11"/>
    <dgm:cxn modelId="{1078481E-0ECC-8842-BECD-DC177EE72C98}" type="presParOf" srcId="{0EEA4D52-C7E5-ED47-A55B-B56C2E04F391}" destId="{D47034CB-1556-7A4A-8F9D-F6702A964CD5}" srcOrd="0" destOrd="0" presId="urn:microsoft.com/office/officeart/2005/8/layout/hProcess11"/>
    <dgm:cxn modelId="{2050B0BF-64AE-2F44-8FC8-5E2F3E4311D7}" type="presParOf" srcId="{0EEA4D52-C7E5-ED47-A55B-B56C2E04F391}" destId="{50C2BB24-CBF3-504B-8713-1B17A5BF1540}" srcOrd="1" destOrd="0" presId="urn:microsoft.com/office/officeart/2005/8/layout/hProcess11"/>
    <dgm:cxn modelId="{56FAB3A4-A87D-3249-9DDF-C99F8DB138D0}" type="presParOf" srcId="{0EEA4D52-C7E5-ED47-A55B-B56C2E04F391}" destId="{89A97525-6E1B-3C43-AF6F-1AD0970E9EC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898822A-8584-1B4B-9B5B-B96C63375E59}" type="doc">
      <dgm:prSet loTypeId="urn:microsoft.com/office/officeart/2008/layout/IncreasingCircleProcess" loCatId="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93023B-AB82-D246-9B44-ECBD465C999E}">
      <dgm:prSet phldrT="[Text]"/>
      <dgm:spPr/>
      <dgm:t>
        <a:bodyPr/>
        <a:lstStyle/>
        <a:p>
          <a:r>
            <a:rPr lang="en-US" b="1" dirty="0"/>
            <a:t>Who?</a:t>
          </a:r>
        </a:p>
      </dgm:t>
    </dgm:pt>
    <dgm:pt modelId="{4D3416B3-C110-B943-86F1-2136798ADDEA}" type="parTrans" cxnId="{7E360E34-AFC4-D246-8762-9449C145C011}">
      <dgm:prSet/>
      <dgm:spPr/>
      <dgm:t>
        <a:bodyPr/>
        <a:lstStyle/>
        <a:p>
          <a:endParaRPr lang="en-US"/>
        </a:p>
      </dgm:t>
    </dgm:pt>
    <dgm:pt modelId="{7CB42AF8-56E9-F14B-A30E-1E820614C5A5}" type="sibTrans" cxnId="{7E360E34-AFC4-D246-8762-9449C145C011}">
      <dgm:prSet/>
      <dgm:spPr/>
      <dgm:t>
        <a:bodyPr/>
        <a:lstStyle/>
        <a:p>
          <a:endParaRPr lang="en-US"/>
        </a:p>
      </dgm:t>
    </dgm:pt>
    <dgm:pt modelId="{5AF370A3-D0A9-4147-9D6A-AC825759EE4F}">
      <dgm:prSet/>
      <dgm:spPr/>
      <dgm:t>
        <a:bodyPr/>
        <a:lstStyle/>
        <a:p>
          <a:r>
            <a:rPr lang="en-US" dirty="0"/>
            <a:t>Who collected the data and who is represented in it? Does it include all relevant people or just a subset? </a:t>
          </a:r>
        </a:p>
      </dgm:t>
    </dgm:pt>
    <dgm:pt modelId="{7493668B-91D2-494A-A0B8-C008046ACE83}" type="parTrans" cxnId="{1A1177C1-DAC7-B442-868F-BAE8AC19D962}">
      <dgm:prSet/>
      <dgm:spPr/>
      <dgm:t>
        <a:bodyPr/>
        <a:lstStyle/>
        <a:p>
          <a:endParaRPr lang="en-US"/>
        </a:p>
      </dgm:t>
    </dgm:pt>
    <dgm:pt modelId="{8BA37E07-9C5A-A84B-B795-04983353ADAF}" type="sibTrans" cxnId="{1A1177C1-DAC7-B442-868F-BAE8AC19D962}">
      <dgm:prSet/>
      <dgm:spPr/>
      <dgm:t>
        <a:bodyPr/>
        <a:lstStyle/>
        <a:p>
          <a:endParaRPr lang="en-US"/>
        </a:p>
      </dgm:t>
    </dgm:pt>
    <dgm:pt modelId="{5AD4302A-8F8D-384D-AC06-19A72AE50401}">
      <dgm:prSet/>
      <dgm:spPr/>
      <dgm:t>
        <a:bodyPr/>
        <a:lstStyle/>
        <a:p>
          <a:r>
            <a:rPr lang="en-US" b="1" dirty="0"/>
            <a:t>What?</a:t>
          </a:r>
        </a:p>
      </dgm:t>
    </dgm:pt>
    <dgm:pt modelId="{D897AEEC-5864-A145-B3B6-04B2F7A7D260}" type="parTrans" cxnId="{76C412EE-96C9-FC40-9DFA-52EB16409DF0}">
      <dgm:prSet/>
      <dgm:spPr/>
      <dgm:t>
        <a:bodyPr/>
        <a:lstStyle/>
        <a:p>
          <a:endParaRPr lang="en-US"/>
        </a:p>
      </dgm:t>
    </dgm:pt>
    <dgm:pt modelId="{96CF9996-9A21-DF48-BF81-3DF11C579F72}" type="sibTrans" cxnId="{76C412EE-96C9-FC40-9DFA-52EB16409DF0}">
      <dgm:prSet/>
      <dgm:spPr/>
      <dgm:t>
        <a:bodyPr/>
        <a:lstStyle/>
        <a:p>
          <a:endParaRPr lang="en-US"/>
        </a:p>
      </dgm:t>
    </dgm:pt>
    <dgm:pt modelId="{56CA1281-A7C9-B446-92F7-CA66C8B984E5}">
      <dgm:prSet/>
      <dgm:spPr/>
      <dgm:t>
        <a:bodyPr/>
        <a:lstStyle/>
        <a:p>
          <a:r>
            <a:rPr lang="en-US" dirty="0"/>
            <a:t>What exactly is being measured and what isn’t? </a:t>
          </a:r>
        </a:p>
      </dgm:t>
    </dgm:pt>
    <dgm:pt modelId="{20892981-C8C8-1A4F-A789-9832CBF4B2B4}" type="parTrans" cxnId="{868029EA-D39B-0643-904A-87C887664531}">
      <dgm:prSet/>
      <dgm:spPr/>
      <dgm:t>
        <a:bodyPr/>
        <a:lstStyle/>
        <a:p>
          <a:endParaRPr lang="en-US"/>
        </a:p>
      </dgm:t>
    </dgm:pt>
    <dgm:pt modelId="{BE8393F7-F8B4-D044-8DFE-4F0825351D53}" type="sibTrans" cxnId="{868029EA-D39B-0643-904A-87C887664531}">
      <dgm:prSet/>
      <dgm:spPr/>
      <dgm:t>
        <a:bodyPr/>
        <a:lstStyle/>
        <a:p>
          <a:endParaRPr lang="en-US"/>
        </a:p>
      </dgm:t>
    </dgm:pt>
    <dgm:pt modelId="{B10F5E5B-BF6B-9C49-BBE2-AECDD77F4EE1}">
      <dgm:prSet/>
      <dgm:spPr/>
      <dgm:t>
        <a:bodyPr/>
        <a:lstStyle/>
        <a:p>
          <a:r>
            <a:rPr lang="en-US" b="1" dirty="0"/>
            <a:t>When &amp; Where?</a:t>
          </a:r>
        </a:p>
      </dgm:t>
    </dgm:pt>
    <dgm:pt modelId="{EE3A8370-27C2-4A45-93DC-9881EA7BC12C}" type="parTrans" cxnId="{37AC47B1-611D-B94E-9A4C-4942903EAA20}">
      <dgm:prSet/>
      <dgm:spPr/>
      <dgm:t>
        <a:bodyPr/>
        <a:lstStyle/>
        <a:p>
          <a:endParaRPr lang="en-US"/>
        </a:p>
      </dgm:t>
    </dgm:pt>
    <dgm:pt modelId="{EF53A645-0422-404F-BAFF-131D701C4C6F}" type="sibTrans" cxnId="{37AC47B1-611D-B94E-9A4C-4942903EAA20}">
      <dgm:prSet/>
      <dgm:spPr/>
      <dgm:t>
        <a:bodyPr/>
        <a:lstStyle/>
        <a:p>
          <a:endParaRPr lang="en-US"/>
        </a:p>
      </dgm:t>
    </dgm:pt>
    <dgm:pt modelId="{5F912896-BEA7-7A4E-8077-59D5A9DD9E8F}">
      <dgm:prSet/>
      <dgm:spPr/>
      <dgm:t>
        <a:bodyPr/>
        <a:lstStyle/>
        <a:p>
          <a:r>
            <a:rPr lang="en-US" dirty="0"/>
            <a:t>When and where was the data collected? Could things have changed since then or be different elsewhere? </a:t>
          </a:r>
        </a:p>
      </dgm:t>
    </dgm:pt>
    <dgm:pt modelId="{7A3F7C67-3EF4-A945-A33D-544DB2733788}" type="parTrans" cxnId="{664FE4B8-A1C4-A647-8A50-3699A2CD47DE}">
      <dgm:prSet/>
      <dgm:spPr/>
      <dgm:t>
        <a:bodyPr/>
        <a:lstStyle/>
        <a:p>
          <a:endParaRPr lang="en-US"/>
        </a:p>
      </dgm:t>
    </dgm:pt>
    <dgm:pt modelId="{A0B78A24-6789-5E4D-98D6-23DFAD54194A}" type="sibTrans" cxnId="{664FE4B8-A1C4-A647-8A50-3699A2CD47DE}">
      <dgm:prSet/>
      <dgm:spPr/>
      <dgm:t>
        <a:bodyPr/>
        <a:lstStyle/>
        <a:p>
          <a:endParaRPr lang="en-US"/>
        </a:p>
      </dgm:t>
    </dgm:pt>
    <dgm:pt modelId="{4E826062-2E6E-4B46-B643-817F303F527D}">
      <dgm:prSet/>
      <dgm:spPr/>
      <dgm:t>
        <a:bodyPr/>
        <a:lstStyle/>
        <a:p>
          <a:r>
            <a:rPr lang="en-US" b="1" dirty="0"/>
            <a:t>Why &amp; How?</a:t>
          </a:r>
        </a:p>
      </dgm:t>
    </dgm:pt>
    <dgm:pt modelId="{62E9CAC7-0810-CC45-8982-ABC0D29D49D3}" type="parTrans" cxnId="{16DC2F74-C8D5-6243-A531-84A127121DA4}">
      <dgm:prSet/>
      <dgm:spPr/>
      <dgm:t>
        <a:bodyPr/>
        <a:lstStyle/>
        <a:p>
          <a:endParaRPr lang="en-US"/>
        </a:p>
      </dgm:t>
    </dgm:pt>
    <dgm:pt modelId="{43587095-CBAA-7447-934A-DC95AE23A058}" type="sibTrans" cxnId="{16DC2F74-C8D5-6243-A531-84A127121DA4}">
      <dgm:prSet/>
      <dgm:spPr/>
      <dgm:t>
        <a:bodyPr/>
        <a:lstStyle/>
        <a:p>
          <a:endParaRPr lang="en-US"/>
        </a:p>
      </dgm:t>
    </dgm:pt>
    <dgm:pt modelId="{47DF1B8C-B257-B84D-A1D1-4ED40BA82268}">
      <dgm:prSet/>
      <dgm:spPr/>
      <dgm:t>
        <a:bodyPr/>
        <a:lstStyle/>
        <a:p>
          <a:r>
            <a:rPr lang="en-US" dirty="0"/>
            <a:t>Why was the data collected (purpose) and how (methodology)? </a:t>
          </a:r>
        </a:p>
      </dgm:t>
    </dgm:pt>
    <dgm:pt modelId="{89B1237C-5CFC-0E4A-B062-B908A2851BED}" type="parTrans" cxnId="{143E8997-2AB5-5448-BC95-8A26FEFFE981}">
      <dgm:prSet/>
      <dgm:spPr/>
      <dgm:t>
        <a:bodyPr/>
        <a:lstStyle/>
        <a:p>
          <a:endParaRPr lang="en-US"/>
        </a:p>
      </dgm:t>
    </dgm:pt>
    <dgm:pt modelId="{597875DC-4EE5-3542-BAD5-8DCCCE47A728}" type="sibTrans" cxnId="{143E8997-2AB5-5448-BC95-8A26FEFFE981}">
      <dgm:prSet/>
      <dgm:spPr/>
      <dgm:t>
        <a:bodyPr/>
        <a:lstStyle/>
        <a:p>
          <a:endParaRPr lang="en-US"/>
        </a:p>
      </dgm:t>
    </dgm:pt>
    <dgm:pt modelId="{93F78D05-943E-D249-A7EF-28A5C73227D4}" type="pres">
      <dgm:prSet presAssocID="{B898822A-8584-1B4B-9B5B-B96C63375E59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7DD4869E-63BE-0F46-92CB-A2CB76D94171}" type="pres">
      <dgm:prSet presAssocID="{7093023B-AB82-D246-9B44-ECBD465C999E}" presName="composite" presStyleCnt="0"/>
      <dgm:spPr/>
    </dgm:pt>
    <dgm:pt modelId="{146C2C20-B478-F744-AED1-CA9DB4972DB5}" type="pres">
      <dgm:prSet presAssocID="{7093023B-AB82-D246-9B44-ECBD465C999E}" presName="BackAccent" presStyleLbl="bgShp" presStyleIdx="0" presStyleCnt="4"/>
      <dgm:spPr/>
    </dgm:pt>
    <dgm:pt modelId="{1FE616AB-426D-EE46-88D2-E6BE787517E8}" type="pres">
      <dgm:prSet presAssocID="{7093023B-AB82-D246-9B44-ECBD465C999E}" presName="Accent" presStyleLbl="alignNode1" presStyleIdx="0" presStyleCnt="4"/>
      <dgm:spPr/>
    </dgm:pt>
    <dgm:pt modelId="{32BFA984-3DE0-2242-8060-5F1B390EB43E}" type="pres">
      <dgm:prSet presAssocID="{7093023B-AB82-D246-9B44-ECBD465C999E}" presName="Child" presStyleLbl="revTx" presStyleIdx="0" presStyleCnt="8">
        <dgm:presLayoutVars>
          <dgm:chMax val="0"/>
          <dgm:chPref val="0"/>
          <dgm:bulletEnabled val="1"/>
        </dgm:presLayoutVars>
      </dgm:prSet>
      <dgm:spPr/>
    </dgm:pt>
    <dgm:pt modelId="{ABC8B26C-CC5E-D247-AAB1-CC1CD719407D}" type="pres">
      <dgm:prSet presAssocID="{7093023B-AB82-D246-9B44-ECBD465C999E}" presName="Parent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1B42D38C-FCA1-9646-8B17-5A58C7DEF22F}" type="pres">
      <dgm:prSet presAssocID="{7CB42AF8-56E9-F14B-A30E-1E820614C5A5}" presName="sibTrans" presStyleCnt="0"/>
      <dgm:spPr/>
    </dgm:pt>
    <dgm:pt modelId="{5D07CE2F-FD4D-3540-896E-354B3F9847A7}" type="pres">
      <dgm:prSet presAssocID="{5AD4302A-8F8D-384D-AC06-19A72AE50401}" presName="composite" presStyleCnt="0"/>
      <dgm:spPr/>
    </dgm:pt>
    <dgm:pt modelId="{32F47F6A-59AB-B94F-ADAA-66C7E43F70A3}" type="pres">
      <dgm:prSet presAssocID="{5AD4302A-8F8D-384D-AC06-19A72AE50401}" presName="BackAccent" presStyleLbl="bgShp" presStyleIdx="1" presStyleCnt="4"/>
      <dgm:spPr/>
    </dgm:pt>
    <dgm:pt modelId="{0B647B20-A750-8941-863A-2AA4CF5069A8}" type="pres">
      <dgm:prSet presAssocID="{5AD4302A-8F8D-384D-AC06-19A72AE50401}" presName="Accent" presStyleLbl="alignNode1" presStyleIdx="1" presStyleCnt="4"/>
      <dgm:spPr/>
    </dgm:pt>
    <dgm:pt modelId="{622D7A86-A74C-9243-B74A-6A5CFF814004}" type="pres">
      <dgm:prSet presAssocID="{5AD4302A-8F8D-384D-AC06-19A72AE50401}" presName="Child" presStyleLbl="revTx" presStyleIdx="2" presStyleCnt="8">
        <dgm:presLayoutVars>
          <dgm:chMax val="0"/>
          <dgm:chPref val="0"/>
          <dgm:bulletEnabled val="1"/>
        </dgm:presLayoutVars>
      </dgm:prSet>
      <dgm:spPr/>
    </dgm:pt>
    <dgm:pt modelId="{80FEDA9B-DCFE-8F45-B125-DA2F681423B1}" type="pres">
      <dgm:prSet presAssocID="{5AD4302A-8F8D-384D-AC06-19A72AE50401}" presName="Parent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C89B995B-ABF1-494A-A34B-9CBF0DB0C272}" type="pres">
      <dgm:prSet presAssocID="{96CF9996-9A21-DF48-BF81-3DF11C579F72}" presName="sibTrans" presStyleCnt="0"/>
      <dgm:spPr/>
    </dgm:pt>
    <dgm:pt modelId="{E9A1F4BD-99FA-5741-A22C-D964E31D7097}" type="pres">
      <dgm:prSet presAssocID="{B10F5E5B-BF6B-9C49-BBE2-AECDD77F4EE1}" presName="composite" presStyleCnt="0"/>
      <dgm:spPr/>
    </dgm:pt>
    <dgm:pt modelId="{D144F697-572E-3B4D-A79D-3AFB2A7245DC}" type="pres">
      <dgm:prSet presAssocID="{B10F5E5B-BF6B-9C49-BBE2-AECDD77F4EE1}" presName="BackAccent" presStyleLbl="bgShp" presStyleIdx="2" presStyleCnt="4"/>
      <dgm:spPr/>
    </dgm:pt>
    <dgm:pt modelId="{AAAA0BCE-1D16-074D-9AE2-D39CC503E73E}" type="pres">
      <dgm:prSet presAssocID="{B10F5E5B-BF6B-9C49-BBE2-AECDD77F4EE1}" presName="Accent" presStyleLbl="alignNode1" presStyleIdx="2" presStyleCnt="4"/>
      <dgm:spPr/>
    </dgm:pt>
    <dgm:pt modelId="{B444E189-1265-8E42-AFA0-5B6E1841EFD2}" type="pres">
      <dgm:prSet presAssocID="{B10F5E5B-BF6B-9C49-BBE2-AECDD77F4EE1}" presName="Child" presStyleLbl="revTx" presStyleIdx="4" presStyleCnt="8">
        <dgm:presLayoutVars>
          <dgm:chMax val="0"/>
          <dgm:chPref val="0"/>
          <dgm:bulletEnabled val="1"/>
        </dgm:presLayoutVars>
      </dgm:prSet>
      <dgm:spPr/>
    </dgm:pt>
    <dgm:pt modelId="{D860FCAC-6096-864F-BD3A-FC4ED204DE84}" type="pres">
      <dgm:prSet presAssocID="{B10F5E5B-BF6B-9C49-BBE2-AECDD77F4EE1}" presName="Parent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836E114C-FA55-3548-9351-2623BBBFDD05}" type="pres">
      <dgm:prSet presAssocID="{EF53A645-0422-404F-BAFF-131D701C4C6F}" presName="sibTrans" presStyleCnt="0"/>
      <dgm:spPr/>
    </dgm:pt>
    <dgm:pt modelId="{E1E5467C-65F2-DE47-96B9-68CDD151DDB9}" type="pres">
      <dgm:prSet presAssocID="{4E826062-2E6E-4B46-B643-817F303F527D}" presName="composite" presStyleCnt="0"/>
      <dgm:spPr/>
    </dgm:pt>
    <dgm:pt modelId="{0269B2EA-D9D0-FA43-B7F5-24A428C1D97E}" type="pres">
      <dgm:prSet presAssocID="{4E826062-2E6E-4B46-B643-817F303F527D}" presName="BackAccent" presStyleLbl="bgShp" presStyleIdx="3" presStyleCnt="4"/>
      <dgm:spPr/>
    </dgm:pt>
    <dgm:pt modelId="{C17F6E61-CD4E-4345-AC1A-83EE79DDD920}" type="pres">
      <dgm:prSet presAssocID="{4E826062-2E6E-4B46-B643-817F303F527D}" presName="Accent" presStyleLbl="alignNode1" presStyleIdx="3" presStyleCnt="4"/>
      <dgm:spPr/>
    </dgm:pt>
    <dgm:pt modelId="{7478E8DE-A379-084A-9A3D-BF0F107B0C7D}" type="pres">
      <dgm:prSet presAssocID="{4E826062-2E6E-4B46-B643-817F303F527D}" presName="Child" presStyleLbl="revTx" presStyleIdx="6" presStyleCnt="8">
        <dgm:presLayoutVars>
          <dgm:chMax val="0"/>
          <dgm:chPref val="0"/>
          <dgm:bulletEnabled val="1"/>
        </dgm:presLayoutVars>
      </dgm:prSet>
      <dgm:spPr/>
    </dgm:pt>
    <dgm:pt modelId="{C6F10C79-9421-2343-8D65-F7CA973D7CF3}" type="pres">
      <dgm:prSet presAssocID="{4E826062-2E6E-4B46-B643-817F303F527D}" presName="Parent" presStyleLbl="revTx" presStyleIdx="7" presStyleCnt="8">
        <dgm:presLayoutVars>
          <dgm:chMax val="1"/>
          <dgm:chPref val="1"/>
          <dgm:bulletEnabled val="1"/>
        </dgm:presLayoutVars>
      </dgm:prSet>
      <dgm:spPr/>
    </dgm:pt>
  </dgm:ptLst>
  <dgm:cxnLst>
    <dgm:cxn modelId="{B5A7AE00-98E0-6F4F-AE7C-1857FA96A965}" type="presOf" srcId="{47DF1B8C-B257-B84D-A1D1-4ED40BA82268}" destId="{7478E8DE-A379-084A-9A3D-BF0F107B0C7D}" srcOrd="0" destOrd="0" presId="urn:microsoft.com/office/officeart/2008/layout/IncreasingCircleProcess"/>
    <dgm:cxn modelId="{723B0110-0EB5-0949-B24D-D738401F59A1}" type="presOf" srcId="{5AF370A3-D0A9-4147-9D6A-AC825759EE4F}" destId="{32BFA984-3DE0-2242-8060-5F1B390EB43E}" srcOrd="0" destOrd="0" presId="urn:microsoft.com/office/officeart/2008/layout/IncreasingCircleProcess"/>
    <dgm:cxn modelId="{7E360E34-AFC4-D246-8762-9449C145C011}" srcId="{B898822A-8584-1B4B-9B5B-B96C63375E59}" destId="{7093023B-AB82-D246-9B44-ECBD465C999E}" srcOrd="0" destOrd="0" parTransId="{4D3416B3-C110-B943-86F1-2136798ADDEA}" sibTransId="{7CB42AF8-56E9-F14B-A30E-1E820614C5A5}"/>
    <dgm:cxn modelId="{A8070A73-8E7B-D943-BA79-FB0BAAC2AD47}" type="presOf" srcId="{4E826062-2E6E-4B46-B643-817F303F527D}" destId="{C6F10C79-9421-2343-8D65-F7CA973D7CF3}" srcOrd="0" destOrd="0" presId="urn:microsoft.com/office/officeart/2008/layout/IncreasingCircleProcess"/>
    <dgm:cxn modelId="{16DC2F74-C8D5-6243-A531-84A127121DA4}" srcId="{B898822A-8584-1B4B-9B5B-B96C63375E59}" destId="{4E826062-2E6E-4B46-B643-817F303F527D}" srcOrd="3" destOrd="0" parTransId="{62E9CAC7-0810-CC45-8982-ABC0D29D49D3}" sibTransId="{43587095-CBAA-7447-934A-DC95AE23A058}"/>
    <dgm:cxn modelId="{EFE6C992-38E7-EC4E-BDEA-1BC20BF42248}" type="presOf" srcId="{56CA1281-A7C9-B446-92F7-CA66C8B984E5}" destId="{622D7A86-A74C-9243-B74A-6A5CFF814004}" srcOrd="0" destOrd="0" presId="urn:microsoft.com/office/officeart/2008/layout/IncreasingCircleProcess"/>
    <dgm:cxn modelId="{143E8997-2AB5-5448-BC95-8A26FEFFE981}" srcId="{4E826062-2E6E-4B46-B643-817F303F527D}" destId="{47DF1B8C-B257-B84D-A1D1-4ED40BA82268}" srcOrd="0" destOrd="0" parTransId="{89B1237C-5CFC-0E4A-B062-B908A2851BED}" sibTransId="{597875DC-4EE5-3542-BAD5-8DCCCE47A728}"/>
    <dgm:cxn modelId="{37AC47B1-611D-B94E-9A4C-4942903EAA20}" srcId="{B898822A-8584-1B4B-9B5B-B96C63375E59}" destId="{B10F5E5B-BF6B-9C49-BBE2-AECDD77F4EE1}" srcOrd="2" destOrd="0" parTransId="{EE3A8370-27C2-4A45-93DC-9881EA7BC12C}" sibTransId="{EF53A645-0422-404F-BAFF-131D701C4C6F}"/>
    <dgm:cxn modelId="{19C3CCB5-F6B2-BF41-A792-52FB09B05C2D}" type="presOf" srcId="{5AD4302A-8F8D-384D-AC06-19A72AE50401}" destId="{80FEDA9B-DCFE-8F45-B125-DA2F681423B1}" srcOrd="0" destOrd="0" presId="urn:microsoft.com/office/officeart/2008/layout/IncreasingCircleProcess"/>
    <dgm:cxn modelId="{664FE4B8-A1C4-A647-8A50-3699A2CD47DE}" srcId="{B10F5E5B-BF6B-9C49-BBE2-AECDD77F4EE1}" destId="{5F912896-BEA7-7A4E-8077-59D5A9DD9E8F}" srcOrd="0" destOrd="0" parTransId="{7A3F7C67-3EF4-A945-A33D-544DB2733788}" sibTransId="{A0B78A24-6789-5E4D-98D6-23DFAD54194A}"/>
    <dgm:cxn modelId="{925DD9B9-DA41-AD4A-A45D-C5A4FB3D6C2E}" type="presOf" srcId="{B898822A-8584-1B4B-9B5B-B96C63375E59}" destId="{93F78D05-943E-D249-A7EF-28A5C73227D4}" srcOrd="0" destOrd="0" presId="urn:microsoft.com/office/officeart/2008/layout/IncreasingCircleProcess"/>
    <dgm:cxn modelId="{AD5BE3C0-4745-3447-A51F-9A74FCCAF652}" type="presOf" srcId="{B10F5E5B-BF6B-9C49-BBE2-AECDD77F4EE1}" destId="{D860FCAC-6096-864F-BD3A-FC4ED204DE84}" srcOrd="0" destOrd="0" presId="urn:microsoft.com/office/officeart/2008/layout/IncreasingCircleProcess"/>
    <dgm:cxn modelId="{1A1177C1-DAC7-B442-868F-BAE8AC19D962}" srcId="{7093023B-AB82-D246-9B44-ECBD465C999E}" destId="{5AF370A3-D0A9-4147-9D6A-AC825759EE4F}" srcOrd="0" destOrd="0" parTransId="{7493668B-91D2-494A-A0B8-C008046ACE83}" sibTransId="{8BA37E07-9C5A-A84B-B795-04983353ADAF}"/>
    <dgm:cxn modelId="{EA3DF0C8-982F-5D48-8124-C9870A6C67AE}" type="presOf" srcId="{7093023B-AB82-D246-9B44-ECBD465C999E}" destId="{ABC8B26C-CC5E-D247-AAB1-CC1CD719407D}" srcOrd="0" destOrd="0" presId="urn:microsoft.com/office/officeart/2008/layout/IncreasingCircleProcess"/>
    <dgm:cxn modelId="{868029EA-D39B-0643-904A-87C887664531}" srcId="{5AD4302A-8F8D-384D-AC06-19A72AE50401}" destId="{56CA1281-A7C9-B446-92F7-CA66C8B984E5}" srcOrd="0" destOrd="0" parTransId="{20892981-C8C8-1A4F-A789-9832CBF4B2B4}" sibTransId="{BE8393F7-F8B4-D044-8DFE-4F0825351D53}"/>
    <dgm:cxn modelId="{76C412EE-96C9-FC40-9DFA-52EB16409DF0}" srcId="{B898822A-8584-1B4B-9B5B-B96C63375E59}" destId="{5AD4302A-8F8D-384D-AC06-19A72AE50401}" srcOrd="1" destOrd="0" parTransId="{D897AEEC-5864-A145-B3B6-04B2F7A7D260}" sibTransId="{96CF9996-9A21-DF48-BF81-3DF11C579F72}"/>
    <dgm:cxn modelId="{57202DEE-7D6E-9249-BB4F-5895AF69AD41}" type="presOf" srcId="{5F912896-BEA7-7A4E-8077-59D5A9DD9E8F}" destId="{B444E189-1265-8E42-AFA0-5B6E1841EFD2}" srcOrd="0" destOrd="0" presId="urn:microsoft.com/office/officeart/2008/layout/IncreasingCircleProcess"/>
    <dgm:cxn modelId="{54F27FD3-82E6-5849-BB24-7C37B183AB12}" type="presParOf" srcId="{93F78D05-943E-D249-A7EF-28A5C73227D4}" destId="{7DD4869E-63BE-0F46-92CB-A2CB76D94171}" srcOrd="0" destOrd="0" presId="urn:microsoft.com/office/officeart/2008/layout/IncreasingCircleProcess"/>
    <dgm:cxn modelId="{839350C6-0EAB-5445-B21E-4CF3AA187299}" type="presParOf" srcId="{7DD4869E-63BE-0F46-92CB-A2CB76D94171}" destId="{146C2C20-B478-F744-AED1-CA9DB4972DB5}" srcOrd="0" destOrd="0" presId="urn:microsoft.com/office/officeart/2008/layout/IncreasingCircleProcess"/>
    <dgm:cxn modelId="{B096365D-F82B-7048-B9A7-5031896D13E8}" type="presParOf" srcId="{7DD4869E-63BE-0F46-92CB-A2CB76D94171}" destId="{1FE616AB-426D-EE46-88D2-E6BE787517E8}" srcOrd="1" destOrd="0" presId="urn:microsoft.com/office/officeart/2008/layout/IncreasingCircleProcess"/>
    <dgm:cxn modelId="{BD3C9928-70DC-E64B-AE93-14C1583C9B0B}" type="presParOf" srcId="{7DD4869E-63BE-0F46-92CB-A2CB76D94171}" destId="{32BFA984-3DE0-2242-8060-5F1B390EB43E}" srcOrd="2" destOrd="0" presId="urn:microsoft.com/office/officeart/2008/layout/IncreasingCircleProcess"/>
    <dgm:cxn modelId="{25243F93-202A-CE48-96A4-31701F872088}" type="presParOf" srcId="{7DD4869E-63BE-0F46-92CB-A2CB76D94171}" destId="{ABC8B26C-CC5E-D247-AAB1-CC1CD719407D}" srcOrd="3" destOrd="0" presId="urn:microsoft.com/office/officeart/2008/layout/IncreasingCircleProcess"/>
    <dgm:cxn modelId="{0587C115-B1DF-FC41-A1FD-00301C85FCC5}" type="presParOf" srcId="{93F78D05-943E-D249-A7EF-28A5C73227D4}" destId="{1B42D38C-FCA1-9646-8B17-5A58C7DEF22F}" srcOrd="1" destOrd="0" presId="urn:microsoft.com/office/officeart/2008/layout/IncreasingCircleProcess"/>
    <dgm:cxn modelId="{6C239360-60D7-5944-9D34-E4B7265F02CA}" type="presParOf" srcId="{93F78D05-943E-D249-A7EF-28A5C73227D4}" destId="{5D07CE2F-FD4D-3540-896E-354B3F9847A7}" srcOrd="2" destOrd="0" presId="urn:microsoft.com/office/officeart/2008/layout/IncreasingCircleProcess"/>
    <dgm:cxn modelId="{EA3A98EE-2ED5-484D-9C32-B925BF70E779}" type="presParOf" srcId="{5D07CE2F-FD4D-3540-896E-354B3F9847A7}" destId="{32F47F6A-59AB-B94F-ADAA-66C7E43F70A3}" srcOrd="0" destOrd="0" presId="urn:microsoft.com/office/officeart/2008/layout/IncreasingCircleProcess"/>
    <dgm:cxn modelId="{B31F9E8B-7AF4-4947-9926-FF2DF3B5504D}" type="presParOf" srcId="{5D07CE2F-FD4D-3540-896E-354B3F9847A7}" destId="{0B647B20-A750-8941-863A-2AA4CF5069A8}" srcOrd="1" destOrd="0" presId="urn:microsoft.com/office/officeart/2008/layout/IncreasingCircleProcess"/>
    <dgm:cxn modelId="{61891C8A-C04C-C74D-A963-6090940F828A}" type="presParOf" srcId="{5D07CE2F-FD4D-3540-896E-354B3F9847A7}" destId="{622D7A86-A74C-9243-B74A-6A5CFF814004}" srcOrd="2" destOrd="0" presId="urn:microsoft.com/office/officeart/2008/layout/IncreasingCircleProcess"/>
    <dgm:cxn modelId="{D5BA595D-EDCF-BC4D-8D45-55577C8407E8}" type="presParOf" srcId="{5D07CE2F-FD4D-3540-896E-354B3F9847A7}" destId="{80FEDA9B-DCFE-8F45-B125-DA2F681423B1}" srcOrd="3" destOrd="0" presId="urn:microsoft.com/office/officeart/2008/layout/IncreasingCircleProcess"/>
    <dgm:cxn modelId="{9D7531BB-EA7D-E749-9221-7F698670EFD7}" type="presParOf" srcId="{93F78D05-943E-D249-A7EF-28A5C73227D4}" destId="{C89B995B-ABF1-494A-A34B-9CBF0DB0C272}" srcOrd="3" destOrd="0" presId="urn:microsoft.com/office/officeart/2008/layout/IncreasingCircleProcess"/>
    <dgm:cxn modelId="{CB7AB6FB-47DB-A04E-8156-B669E877848C}" type="presParOf" srcId="{93F78D05-943E-D249-A7EF-28A5C73227D4}" destId="{E9A1F4BD-99FA-5741-A22C-D964E31D7097}" srcOrd="4" destOrd="0" presId="urn:microsoft.com/office/officeart/2008/layout/IncreasingCircleProcess"/>
    <dgm:cxn modelId="{D79BE0DA-4287-9540-ACCE-FD955E3250A2}" type="presParOf" srcId="{E9A1F4BD-99FA-5741-A22C-D964E31D7097}" destId="{D144F697-572E-3B4D-A79D-3AFB2A7245DC}" srcOrd="0" destOrd="0" presId="urn:microsoft.com/office/officeart/2008/layout/IncreasingCircleProcess"/>
    <dgm:cxn modelId="{BCDE5446-1689-A94C-BCCB-31C98B5641A2}" type="presParOf" srcId="{E9A1F4BD-99FA-5741-A22C-D964E31D7097}" destId="{AAAA0BCE-1D16-074D-9AE2-D39CC503E73E}" srcOrd="1" destOrd="0" presId="urn:microsoft.com/office/officeart/2008/layout/IncreasingCircleProcess"/>
    <dgm:cxn modelId="{09D37F81-E31C-3444-8509-14EB868617F9}" type="presParOf" srcId="{E9A1F4BD-99FA-5741-A22C-D964E31D7097}" destId="{B444E189-1265-8E42-AFA0-5B6E1841EFD2}" srcOrd="2" destOrd="0" presId="urn:microsoft.com/office/officeart/2008/layout/IncreasingCircleProcess"/>
    <dgm:cxn modelId="{419A4607-B561-8340-B8B5-7C063AAEC934}" type="presParOf" srcId="{E9A1F4BD-99FA-5741-A22C-D964E31D7097}" destId="{D860FCAC-6096-864F-BD3A-FC4ED204DE84}" srcOrd="3" destOrd="0" presId="urn:microsoft.com/office/officeart/2008/layout/IncreasingCircleProcess"/>
    <dgm:cxn modelId="{13FCECFC-135C-B345-A3A2-8135A64EFBF2}" type="presParOf" srcId="{93F78D05-943E-D249-A7EF-28A5C73227D4}" destId="{836E114C-FA55-3548-9351-2623BBBFDD05}" srcOrd="5" destOrd="0" presId="urn:microsoft.com/office/officeart/2008/layout/IncreasingCircleProcess"/>
    <dgm:cxn modelId="{22A8DF53-0D1A-4A45-A5D4-084FF22ABAC1}" type="presParOf" srcId="{93F78D05-943E-D249-A7EF-28A5C73227D4}" destId="{E1E5467C-65F2-DE47-96B9-68CDD151DDB9}" srcOrd="6" destOrd="0" presId="urn:microsoft.com/office/officeart/2008/layout/IncreasingCircleProcess"/>
    <dgm:cxn modelId="{3E50E6A5-6BEA-2444-8CDA-717BBCDF021D}" type="presParOf" srcId="{E1E5467C-65F2-DE47-96B9-68CDD151DDB9}" destId="{0269B2EA-D9D0-FA43-B7F5-24A428C1D97E}" srcOrd="0" destOrd="0" presId="urn:microsoft.com/office/officeart/2008/layout/IncreasingCircleProcess"/>
    <dgm:cxn modelId="{898036DB-F402-BB47-8DBA-1FCC7260F9DF}" type="presParOf" srcId="{E1E5467C-65F2-DE47-96B9-68CDD151DDB9}" destId="{C17F6E61-CD4E-4345-AC1A-83EE79DDD920}" srcOrd="1" destOrd="0" presId="urn:microsoft.com/office/officeart/2008/layout/IncreasingCircleProcess"/>
    <dgm:cxn modelId="{C69A6D61-59DF-274F-9603-3D124825D36A}" type="presParOf" srcId="{E1E5467C-65F2-DE47-96B9-68CDD151DDB9}" destId="{7478E8DE-A379-084A-9A3D-BF0F107B0C7D}" srcOrd="2" destOrd="0" presId="urn:microsoft.com/office/officeart/2008/layout/IncreasingCircleProcess"/>
    <dgm:cxn modelId="{DEE1D10E-6B10-9E43-AEDF-9BEDDF3BCA1D}" type="presParOf" srcId="{E1E5467C-65F2-DE47-96B9-68CDD151DDB9}" destId="{C6F10C79-9421-2343-8D65-F7CA973D7CF3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A246D-66E9-7649-8ADA-549B8A78AFF1}">
      <dsp:nvSpPr>
        <dsp:cNvPr id="0" name=""/>
        <dsp:cNvSpPr/>
      </dsp:nvSpPr>
      <dsp:spPr>
        <a:xfrm>
          <a:off x="-4039351" y="-620035"/>
          <a:ext cx="4813534" cy="4813534"/>
        </a:xfrm>
        <a:prstGeom prst="blockArc">
          <a:avLst>
            <a:gd name="adj1" fmla="val 18900000"/>
            <a:gd name="adj2" fmla="val 2700000"/>
            <a:gd name="adj3" fmla="val 449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5D076B-CEE5-4240-89D9-F54C0FA5EFCC}">
      <dsp:nvSpPr>
        <dsp:cNvPr id="0" name=""/>
        <dsp:cNvSpPr/>
      </dsp:nvSpPr>
      <dsp:spPr>
        <a:xfrm>
          <a:off x="497871" y="357346"/>
          <a:ext cx="5797874" cy="7146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7287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Critical Thinking</a:t>
          </a:r>
          <a:endParaRPr lang="en-US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Examining information from all angles</a:t>
          </a:r>
          <a:endParaRPr lang="en-US" sz="1600" kern="1200" dirty="0">
            <a:latin typeface="Aptos" panose="020B0004020202020204" pitchFamily="34" charset="0"/>
            <a:ea typeface="Heebo" pitchFamily="34" charset="-122"/>
            <a:cs typeface="Heebo" pitchFamily="34" charset="-120"/>
          </a:endParaRPr>
        </a:p>
      </dsp:txBody>
      <dsp:txXfrm>
        <a:off x="497871" y="357346"/>
        <a:ext cx="5797874" cy="714692"/>
      </dsp:txXfrm>
    </dsp:sp>
    <dsp:sp modelId="{74F6B0D3-B616-BC4E-A21A-03C59AED1A2E}">
      <dsp:nvSpPr>
        <dsp:cNvPr id="0" name=""/>
        <dsp:cNvSpPr/>
      </dsp:nvSpPr>
      <dsp:spPr>
        <a:xfrm>
          <a:off x="51188" y="268009"/>
          <a:ext cx="893365" cy="8933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AA5D9-55F0-6740-BC40-A0CF89EBB404}">
      <dsp:nvSpPr>
        <dsp:cNvPr id="0" name=""/>
        <dsp:cNvSpPr/>
      </dsp:nvSpPr>
      <dsp:spPr>
        <a:xfrm>
          <a:off x="757662" y="1429385"/>
          <a:ext cx="5538083" cy="7146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7287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Skepticism</a:t>
          </a:r>
          <a:endParaRPr lang="en-US" sz="2000" kern="1200" dirty="0">
            <a:latin typeface="Aptos" panose="020B0004020202020204" pitchFamily="34" charset="0"/>
            <a:ea typeface="Crimson Pro Semi Bold" pitchFamily="34" charset="-122"/>
            <a:cs typeface="Crimson Pro Semi Bold" pitchFamily="34" charset="-12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Not accepting claims without verification</a:t>
          </a:r>
        </a:p>
      </dsp:txBody>
      <dsp:txXfrm>
        <a:off x="757662" y="1429385"/>
        <a:ext cx="5538083" cy="714692"/>
      </dsp:txXfrm>
    </dsp:sp>
    <dsp:sp modelId="{8307B084-1A68-7E42-8E34-167182674C31}">
      <dsp:nvSpPr>
        <dsp:cNvPr id="0" name=""/>
        <dsp:cNvSpPr/>
      </dsp:nvSpPr>
      <dsp:spPr>
        <a:xfrm>
          <a:off x="310979" y="1340048"/>
          <a:ext cx="893365" cy="8933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BCF7CE-CD9C-1546-B3B4-1E63FD05CB02}">
      <dsp:nvSpPr>
        <dsp:cNvPr id="0" name=""/>
        <dsp:cNvSpPr/>
      </dsp:nvSpPr>
      <dsp:spPr>
        <a:xfrm>
          <a:off x="497871" y="2501424"/>
          <a:ext cx="5797874" cy="7146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7287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Curiosity</a:t>
          </a:r>
          <a:endParaRPr lang="en-US" sz="2000" kern="1200" dirty="0">
            <a:latin typeface="Aptos" panose="020B0004020202020204" pitchFamily="34" charset="0"/>
            <a:ea typeface="Crimson Pro Semi Bold" pitchFamily="34" charset="-122"/>
            <a:cs typeface="Crimson Pro Semi Bold" pitchFamily="34" charset="-12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Asking questions and digging deeper</a:t>
          </a:r>
          <a:endParaRPr lang="en-US" sz="1600" kern="1200" dirty="0">
            <a:latin typeface="Aptos" panose="020B0004020202020204" pitchFamily="34" charset="0"/>
          </a:endParaRPr>
        </a:p>
      </dsp:txBody>
      <dsp:txXfrm>
        <a:off x="497871" y="2501424"/>
        <a:ext cx="5797874" cy="714692"/>
      </dsp:txXfrm>
    </dsp:sp>
    <dsp:sp modelId="{BBAB2F7F-9F38-1544-B5F3-793DC9E69977}">
      <dsp:nvSpPr>
        <dsp:cNvPr id="0" name=""/>
        <dsp:cNvSpPr/>
      </dsp:nvSpPr>
      <dsp:spPr>
        <a:xfrm>
          <a:off x="51188" y="2412087"/>
          <a:ext cx="893365" cy="8933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2B841-4E24-AD41-AB01-585351553742}">
      <dsp:nvSpPr>
        <dsp:cNvPr id="0" name=""/>
        <dsp:cNvSpPr/>
      </dsp:nvSpPr>
      <dsp:spPr>
        <a:xfrm>
          <a:off x="0" y="81748"/>
          <a:ext cx="7357946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Ask "Why?"</a:t>
          </a:r>
          <a:endParaRPr lang="en-US" sz="2600" kern="1200" dirty="0"/>
        </a:p>
      </dsp:txBody>
      <dsp:txXfrm>
        <a:off x="31185" y="112933"/>
        <a:ext cx="7295576" cy="576450"/>
      </dsp:txXfrm>
    </dsp:sp>
    <dsp:sp modelId="{75760021-6F48-8342-8144-4D2F6DF9CDC9}">
      <dsp:nvSpPr>
        <dsp:cNvPr id="0" name=""/>
        <dsp:cNvSpPr/>
      </dsp:nvSpPr>
      <dsp:spPr>
        <a:xfrm>
          <a:off x="0" y="720568"/>
          <a:ext cx="7357946" cy="63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361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Wonder about the reasons behind patterns you observe in data.</a:t>
          </a:r>
          <a:endParaRPr lang="en-US" sz="2000" kern="1200" dirty="0"/>
        </a:p>
      </dsp:txBody>
      <dsp:txXfrm>
        <a:off x="0" y="720568"/>
        <a:ext cx="7357946" cy="632385"/>
      </dsp:txXfrm>
    </dsp:sp>
    <dsp:sp modelId="{2CAD5D1A-4B86-FE49-A0E1-F597F35295C8}">
      <dsp:nvSpPr>
        <dsp:cNvPr id="0" name=""/>
        <dsp:cNvSpPr/>
      </dsp:nvSpPr>
      <dsp:spPr>
        <a:xfrm>
          <a:off x="0" y="1352953"/>
          <a:ext cx="7357946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Ask "How?"</a:t>
          </a:r>
          <a:endParaRPr lang="en-US" sz="2600" kern="1200" dirty="0"/>
        </a:p>
      </dsp:txBody>
      <dsp:txXfrm>
        <a:off x="31185" y="1384138"/>
        <a:ext cx="7295576" cy="576450"/>
      </dsp:txXfrm>
    </dsp:sp>
    <dsp:sp modelId="{2B4571DD-E6AF-B944-B169-3D232B50CA65}">
      <dsp:nvSpPr>
        <dsp:cNvPr id="0" name=""/>
        <dsp:cNvSpPr/>
      </dsp:nvSpPr>
      <dsp:spPr>
        <a:xfrm>
          <a:off x="0" y="1991773"/>
          <a:ext cx="7357946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361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Investigate the methods used to collect and analyze the data.</a:t>
          </a:r>
          <a:endParaRPr lang="en-US" sz="2000" kern="1200" dirty="0"/>
        </a:p>
      </dsp:txBody>
      <dsp:txXfrm>
        <a:off x="0" y="1991773"/>
        <a:ext cx="7357946" cy="430560"/>
      </dsp:txXfrm>
    </dsp:sp>
    <dsp:sp modelId="{A5974199-161F-6144-BF07-3F23A7B13DB5}">
      <dsp:nvSpPr>
        <dsp:cNvPr id="0" name=""/>
        <dsp:cNvSpPr/>
      </dsp:nvSpPr>
      <dsp:spPr>
        <a:xfrm>
          <a:off x="0" y="2422334"/>
          <a:ext cx="7357946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Ask "What if?”</a:t>
          </a:r>
        </a:p>
      </dsp:txBody>
      <dsp:txXfrm>
        <a:off x="31185" y="2453519"/>
        <a:ext cx="7295576" cy="576450"/>
      </dsp:txXfrm>
    </dsp:sp>
    <dsp:sp modelId="{30F11ACD-7D5E-3649-9434-61C35C6946D2}">
      <dsp:nvSpPr>
        <dsp:cNvPr id="0" name=""/>
        <dsp:cNvSpPr/>
      </dsp:nvSpPr>
      <dsp:spPr>
        <a:xfrm>
          <a:off x="0" y="3061154"/>
          <a:ext cx="7357946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361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Consider alternative explanations or approaches to the data.</a:t>
          </a:r>
          <a:endParaRPr lang="en-US" sz="2000" kern="1200" dirty="0">
            <a:latin typeface="Aptos" panose="020B0004020202020204" pitchFamily="34" charset="0"/>
            <a:ea typeface="Crimson Pro Semi Bold" pitchFamily="34" charset="-122"/>
            <a:cs typeface="Crimson Pro Semi Bold" pitchFamily="34" charset="-120"/>
          </a:endParaRPr>
        </a:p>
      </dsp:txBody>
      <dsp:txXfrm>
        <a:off x="0" y="3061154"/>
        <a:ext cx="7357946" cy="430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D21D37-EBCF-DD4C-9197-DA7C93AFFE21}">
      <dsp:nvSpPr>
        <dsp:cNvPr id="0" name=""/>
        <dsp:cNvSpPr/>
      </dsp:nvSpPr>
      <dsp:spPr>
        <a:xfrm>
          <a:off x="928581" y="1636"/>
          <a:ext cx="3013991" cy="1808394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Verify Sources</a:t>
          </a:r>
          <a:endParaRPr lang="en-US" sz="25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Check where data comes from and who collected it before trusting it.</a:t>
          </a:r>
          <a:endParaRPr lang="en-US" sz="2000" kern="1200" dirty="0"/>
        </a:p>
      </dsp:txBody>
      <dsp:txXfrm>
        <a:off x="928581" y="1636"/>
        <a:ext cx="3013991" cy="1808394"/>
      </dsp:txXfrm>
    </dsp:sp>
    <dsp:sp modelId="{63A22A55-8E01-4448-B9FB-FBFC2752AEB1}">
      <dsp:nvSpPr>
        <dsp:cNvPr id="0" name=""/>
        <dsp:cNvSpPr/>
      </dsp:nvSpPr>
      <dsp:spPr>
        <a:xfrm>
          <a:off x="4243972" y="1636"/>
          <a:ext cx="3013991" cy="1808394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181866"/>
                <a:satOff val="-18964"/>
                <a:lumOff val="127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81866"/>
                <a:satOff val="-18964"/>
                <a:lumOff val="127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81866"/>
                <a:satOff val="-18964"/>
                <a:lumOff val="127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Consider Biases</a:t>
          </a:r>
          <a:endParaRPr lang="en-US" sz="25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Think about who might benefit from presenting data in a certain way.</a:t>
          </a:r>
          <a:endParaRPr lang="en-US" sz="2000" kern="1200" dirty="0"/>
        </a:p>
      </dsp:txBody>
      <dsp:txXfrm>
        <a:off x="4243972" y="1636"/>
        <a:ext cx="3013991" cy="1808394"/>
      </dsp:txXfrm>
    </dsp:sp>
    <dsp:sp modelId="{B80314D2-DDE6-F942-A30B-11077F0AD6FA}">
      <dsp:nvSpPr>
        <dsp:cNvPr id="0" name=""/>
        <dsp:cNvSpPr/>
      </dsp:nvSpPr>
      <dsp:spPr>
        <a:xfrm>
          <a:off x="928581" y="2111430"/>
          <a:ext cx="3013991" cy="1808394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363732"/>
                <a:satOff val="-37928"/>
                <a:lumOff val="254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363732"/>
                <a:satOff val="-37928"/>
                <a:lumOff val="254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363732"/>
                <a:satOff val="-37928"/>
                <a:lumOff val="254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Question Methods</a:t>
          </a:r>
          <a:endParaRPr lang="en-US" sz="25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Ask how data was collected and whether the approach was sound.</a:t>
          </a:r>
          <a:endParaRPr lang="en-US" sz="2000" kern="1200" dirty="0"/>
        </a:p>
      </dsp:txBody>
      <dsp:txXfrm>
        <a:off x="928581" y="2111430"/>
        <a:ext cx="3013991" cy="1808394"/>
      </dsp:txXfrm>
    </dsp:sp>
    <dsp:sp modelId="{D5F45032-6F31-5A45-AC6A-6E55106E4B53}">
      <dsp:nvSpPr>
        <dsp:cNvPr id="0" name=""/>
        <dsp:cNvSpPr/>
      </dsp:nvSpPr>
      <dsp:spPr>
        <a:xfrm>
          <a:off x="4243972" y="2111430"/>
          <a:ext cx="3013991" cy="1808394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545598"/>
                <a:satOff val="-56892"/>
                <a:lumOff val="382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545598"/>
                <a:satOff val="-56892"/>
                <a:lumOff val="382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545598"/>
                <a:satOff val="-56892"/>
                <a:lumOff val="382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ptos" panose="020B0004020202020204" pitchFamily="34" charset="0"/>
              <a:ea typeface="Crimson Pro Semi Bold" pitchFamily="34" charset="-122"/>
              <a:cs typeface="Crimson Pro Semi Bold" pitchFamily="34" charset="-120"/>
            </a:rPr>
            <a:t>Consider Biases</a:t>
          </a:r>
          <a:endParaRPr lang="en-US" sz="25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Aptos" panose="020B0004020202020204" pitchFamily="34" charset="0"/>
              <a:ea typeface="Heebo" pitchFamily="34" charset="-122"/>
              <a:cs typeface="Heebo" pitchFamily="34" charset="-120"/>
            </a:rPr>
            <a:t>Compare data from different sources to get a more complete picture.</a:t>
          </a:r>
          <a:endParaRPr lang="en-US" sz="2000" kern="1200" dirty="0"/>
        </a:p>
      </dsp:txBody>
      <dsp:txXfrm>
        <a:off x="4243972" y="2111430"/>
        <a:ext cx="3013991" cy="18083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EC89F-B63F-3749-A147-ACCC767DEACA}">
      <dsp:nvSpPr>
        <dsp:cNvPr id="0" name=""/>
        <dsp:cNvSpPr/>
      </dsp:nvSpPr>
      <dsp:spPr>
        <a:xfrm>
          <a:off x="0" y="1072038"/>
          <a:ext cx="10515600" cy="1429385"/>
        </a:xfrm>
        <a:prstGeom prst="notchedRightArrow">
          <a:avLst/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654756B-D95F-354C-9029-0B623FEBF849}">
      <dsp:nvSpPr>
        <dsp:cNvPr id="0" name=""/>
        <dsp:cNvSpPr/>
      </dsp:nvSpPr>
      <dsp:spPr>
        <a:xfrm>
          <a:off x="4736" y="0"/>
          <a:ext cx="2278208" cy="1429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1800" kern="1200" dirty="0"/>
            <a:t>Question how data were obtained.</a:t>
          </a:r>
        </a:p>
      </dsp:txBody>
      <dsp:txXfrm>
        <a:off x="4736" y="0"/>
        <a:ext cx="2278208" cy="1429385"/>
      </dsp:txXfrm>
    </dsp:sp>
    <dsp:sp modelId="{008E5EA1-7044-184D-8E74-376EC58B4C1D}">
      <dsp:nvSpPr>
        <dsp:cNvPr id="0" name=""/>
        <dsp:cNvSpPr/>
      </dsp:nvSpPr>
      <dsp:spPr>
        <a:xfrm>
          <a:off x="965167" y="1608058"/>
          <a:ext cx="357346" cy="357346"/>
        </a:xfrm>
        <a:prstGeom prst="ellipse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33C951F-9FCB-D840-9CC6-BA22E8894CF4}">
      <dsp:nvSpPr>
        <dsp:cNvPr id="0" name=""/>
        <dsp:cNvSpPr/>
      </dsp:nvSpPr>
      <dsp:spPr>
        <a:xfrm>
          <a:off x="2396855" y="2144077"/>
          <a:ext cx="2278208" cy="1429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1800" kern="1200" dirty="0"/>
            <a:t>Check if the data make sense (are there any obvious errors or outliers?).</a:t>
          </a:r>
        </a:p>
      </dsp:txBody>
      <dsp:txXfrm>
        <a:off x="2396855" y="2144077"/>
        <a:ext cx="2278208" cy="1429385"/>
      </dsp:txXfrm>
    </dsp:sp>
    <dsp:sp modelId="{B8C737C3-0C23-5645-8285-F012E4CECA4A}">
      <dsp:nvSpPr>
        <dsp:cNvPr id="0" name=""/>
        <dsp:cNvSpPr/>
      </dsp:nvSpPr>
      <dsp:spPr>
        <a:xfrm>
          <a:off x="3357287" y="1608058"/>
          <a:ext cx="357346" cy="357346"/>
        </a:xfrm>
        <a:prstGeom prst="ellipse">
          <a:avLst/>
        </a:prstGeom>
        <a:gradFill rotWithShape="0">
          <a:gsLst>
            <a:gs pos="0">
              <a:schemeClr val="accent1">
                <a:shade val="50000"/>
                <a:hueOff val="294825"/>
                <a:satOff val="-30989"/>
                <a:lumOff val="267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94825"/>
                <a:satOff val="-30989"/>
                <a:lumOff val="267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94825"/>
                <a:satOff val="-30989"/>
                <a:lumOff val="267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C69B27B-271F-0E42-BCF8-98336ABE3A52}">
      <dsp:nvSpPr>
        <dsp:cNvPr id="0" name=""/>
        <dsp:cNvSpPr/>
      </dsp:nvSpPr>
      <dsp:spPr>
        <a:xfrm>
          <a:off x="4788975" y="0"/>
          <a:ext cx="2278208" cy="1429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1800" kern="1200" dirty="0"/>
            <a:t>Consider alternative explanations for what the data show.</a:t>
          </a:r>
        </a:p>
      </dsp:txBody>
      <dsp:txXfrm>
        <a:off x="4788975" y="0"/>
        <a:ext cx="2278208" cy="1429385"/>
      </dsp:txXfrm>
    </dsp:sp>
    <dsp:sp modelId="{B0FD65BC-8659-D342-B25C-82A2448375E8}">
      <dsp:nvSpPr>
        <dsp:cNvPr id="0" name=""/>
        <dsp:cNvSpPr/>
      </dsp:nvSpPr>
      <dsp:spPr>
        <a:xfrm>
          <a:off x="5749406" y="1608058"/>
          <a:ext cx="357346" cy="357346"/>
        </a:xfrm>
        <a:prstGeom prst="ellipse">
          <a:avLst/>
        </a:prstGeom>
        <a:gradFill rotWithShape="0">
          <a:gsLst>
            <a:gs pos="0">
              <a:schemeClr val="accent1">
                <a:shade val="50000"/>
                <a:hueOff val="589649"/>
                <a:satOff val="-61978"/>
                <a:lumOff val="534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589649"/>
                <a:satOff val="-61978"/>
                <a:lumOff val="534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589649"/>
                <a:satOff val="-61978"/>
                <a:lumOff val="534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47034CB-1556-7A4A-8F9D-F6702A964CD5}">
      <dsp:nvSpPr>
        <dsp:cNvPr id="0" name=""/>
        <dsp:cNvSpPr/>
      </dsp:nvSpPr>
      <dsp:spPr>
        <a:xfrm>
          <a:off x="7181094" y="2144077"/>
          <a:ext cx="2278208" cy="1429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itchFamily="2" charset="2"/>
            <a:buNone/>
          </a:pPr>
          <a:r>
            <a:rPr lang="en-US" sz="1800" kern="1200" dirty="0"/>
            <a:t>Use logic and reasoning to connect data to conclusions.</a:t>
          </a:r>
        </a:p>
      </dsp:txBody>
      <dsp:txXfrm>
        <a:off x="7181094" y="2144077"/>
        <a:ext cx="2278208" cy="1429385"/>
      </dsp:txXfrm>
    </dsp:sp>
    <dsp:sp modelId="{50C2BB24-CBF3-504B-8713-1B17A5BF1540}">
      <dsp:nvSpPr>
        <dsp:cNvPr id="0" name=""/>
        <dsp:cNvSpPr/>
      </dsp:nvSpPr>
      <dsp:spPr>
        <a:xfrm>
          <a:off x="8141525" y="1608058"/>
          <a:ext cx="357346" cy="357346"/>
        </a:xfrm>
        <a:prstGeom prst="ellipse">
          <a:avLst/>
        </a:prstGeom>
        <a:gradFill rotWithShape="0">
          <a:gsLst>
            <a:gs pos="0">
              <a:schemeClr val="accent1">
                <a:shade val="50000"/>
                <a:hueOff val="294825"/>
                <a:satOff val="-30989"/>
                <a:lumOff val="267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294825"/>
                <a:satOff val="-30989"/>
                <a:lumOff val="267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294825"/>
                <a:satOff val="-30989"/>
                <a:lumOff val="267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C2C20-B478-F744-AED1-CA9DB4972DB5}">
      <dsp:nvSpPr>
        <dsp:cNvPr id="0" name=""/>
        <dsp:cNvSpPr/>
      </dsp:nvSpPr>
      <dsp:spPr>
        <a:xfrm>
          <a:off x="3622" y="0"/>
          <a:ext cx="607712" cy="6077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E616AB-426D-EE46-88D2-E6BE787517E8}">
      <dsp:nvSpPr>
        <dsp:cNvPr id="0" name=""/>
        <dsp:cNvSpPr/>
      </dsp:nvSpPr>
      <dsp:spPr>
        <a:xfrm>
          <a:off x="64394" y="60771"/>
          <a:ext cx="486169" cy="486169"/>
        </a:xfrm>
        <a:prstGeom prst="chord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2BFA984-3DE0-2242-8060-5F1B390EB43E}">
      <dsp:nvSpPr>
        <dsp:cNvPr id="0" name=""/>
        <dsp:cNvSpPr/>
      </dsp:nvSpPr>
      <dsp:spPr>
        <a:xfrm>
          <a:off x="737941" y="607712"/>
          <a:ext cx="1797814" cy="255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Who collected the data and who is represented in it? Does it include all relevant people or just a subset? </a:t>
          </a:r>
        </a:p>
      </dsp:txBody>
      <dsp:txXfrm>
        <a:off x="737941" y="607712"/>
        <a:ext cx="1797814" cy="2557454"/>
      </dsp:txXfrm>
    </dsp:sp>
    <dsp:sp modelId="{ABC8B26C-CC5E-D247-AAB1-CC1CD719407D}">
      <dsp:nvSpPr>
        <dsp:cNvPr id="0" name=""/>
        <dsp:cNvSpPr/>
      </dsp:nvSpPr>
      <dsp:spPr>
        <a:xfrm>
          <a:off x="737941" y="0"/>
          <a:ext cx="1797814" cy="607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Who?</a:t>
          </a:r>
        </a:p>
      </dsp:txBody>
      <dsp:txXfrm>
        <a:off x="737941" y="0"/>
        <a:ext cx="1797814" cy="607712"/>
      </dsp:txXfrm>
    </dsp:sp>
    <dsp:sp modelId="{32F47F6A-59AB-B94F-ADAA-66C7E43F70A3}">
      <dsp:nvSpPr>
        <dsp:cNvPr id="0" name=""/>
        <dsp:cNvSpPr/>
      </dsp:nvSpPr>
      <dsp:spPr>
        <a:xfrm>
          <a:off x="2662363" y="0"/>
          <a:ext cx="607712" cy="6077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647B20-A750-8941-863A-2AA4CF5069A8}">
      <dsp:nvSpPr>
        <dsp:cNvPr id="0" name=""/>
        <dsp:cNvSpPr/>
      </dsp:nvSpPr>
      <dsp:spPr>
        <a:xfrm>
          <a:off x="2723134" y="60771"/>
          <a:ext cx="486169" cy="486169"/>
        </a:xfrm>
        <a:prstGeom prst="chord">
          <a:avLst>
            <a:gd name="adj1" fmla="val 0"/>
            <a:gd name="adj2" fmla="val 10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22D7A86-A74C-9243-B74A-6A5CFF814004}">
      <dsp:nvSpPr>
        <dsp:cNvPr id="0" name=""/>
        <dsp:cNvSpPr/>
      </dsp:nvSpPr>
      <dsp:spPr>
        <a:xfrm>
          <a:off x="3396681" y="607712"/>
          <a:ext cx="1797814" cy="255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What exactly is being measured and what isn’t? </a:t>
          </a:r>
        </a:p>
      </dsp:txBody>
      <dsp:txXfrm>
        <a:off x="3396681" y="607712"/>
        <a:ext cx="1797814" cy="2557454"/>
      </dsp:txXfrm>
    </dsp:sp>
    <dsp:sp modelId="{80FEDA9B-DCFE-8F45-B125-DA2F681423B1}">
      <dsp:nvSpPr>
        <dsp:cNvPr id="0" name=""/>
        <dsp:cNvSpPr/>
      </dsp:nvSpPr>
      <dsp:spPr>
        <a:xfrm>
          <a:off x="3396681" y="0"/>
          <a:ext cx="1797814" cy="607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What?</a:t>
          </a:r>
        </a:p>
      </dsp:txBody>
      <dsp:txXfrm>
        <a:off x="3396681" y="0"/>
        <a:ext cx="1797814" cy="607712"/>
      </dsp:txXfrm>
    </dsp:sp>
    <dsp:sp modelId="{D144F697-572E-3B4D-A79D-3AFB2A7245DC}">
      <dsp:nvSpPr>
        <dsp:cNvPr id="0" name=""/>
        <dsp:cNvSpPr/>
      </dsp:nvSpPr>
      <dsp:spPr>
        <a:xfrm>
          <a:off x="5321103" y="0"/>
          <a:ext cx="607712" cy="6077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AA0BCE-1D16-074D-9AE2-D39CC503E73E}">
      <dsp:nvSpPr>
        <dsp:cNvPr id="0" name=""/>
        <dsp:cNvSpPr/>
      </dsp:nvSpPr>
      <dsp:spPr>
        <a:xfrm>
          <a:off x="5381874" y="60771"/>
          <a:ext cx="486169" cy="486169"/>
        </a:xfrm>
        <a:prstGeom prst="chord">
          <a:avLst>
            <a:gd name="adj1" fmla="val 19800000"/>
            <a:gd name="adj2" fmla="val 126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444E189-1265-8E42-AFA0-5B6E1841EFD2}">
      <dsp:nvSpPr>
        <dsp:cNvPr id="0" name=""/>
        <dsp:cNvSpPr/>
      </dsp:nvSpPr>
      <dsp:spPr>
        <a:xfrm>
          <a:off x="6055422" y="607712"/>
          <a:ext cx="1797814" cy="255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When and where was the data collected? Could things have changed since then or be different elsewhere? </a:t>
          </a:r>
        </a:p>
      </dsp:txBody>
      <dsp:txXfrm>
        <a:off x="6055422" y="607712"/>
        <a:ext cx="1797814" cy="2557454"/>
      </dsp:txXfrm>
    </dsp:sp>
    <dsp:sp modelId="{D860FCAC-6096-864F-BD3A-FC4ED204DE84}">
      <dsp:nvSpPr>
        <dsp:cNvPr id="0" name=""/>
        <dsp:cNvSpPr/>
      </dsp:nvSpPr>
      <dsp:spPr>
        <a:xfrm>
          <a:off x="6055422" y="0"/>
          <a:ext cx="1797814" cy="607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When &amp; Where?</a:t>
          </a:r>
        </a:p>
      </dsp:txBody>
      <dsp:txXfrm>
        <a:off x="6055422" y="0"/>
        <a:ext cx="1797814" cy="607712"/>
      </dsp:txXfrm>
    </dsp:sp>
    <dsp:sp modelId="{0269B2EA-D9D0-FA43-B7F5-24A428C1D97E}">
      <dsp:nvSpPr>
        <dsp:cNvPr id="0" name=""/>
        <dsp:cNvSpPr/>
      </dsp:nvSpPr>
      <dsp:spPr>
        <a:xfrm>
          <a:off x="7979843" y="0"/>
          <a:ext cx="607712" cy="6077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F6E61-CD4E-4345-AC1A-83EE79DDD920}">
      <dsp:nvSpPr>
        <dsp:cNvPr id="0" name=""/>
        <dsp:cNvSpPr/>
      </dsp:nvSpPr>
      <dsp:spPr>
        <a:xfrm>
          <a:off x="8040614" y="60771"/>
          <a:ext cx="486169" cy="486169"/>
        </a:xfrm>
        <a:prstGeom prst="chord">
          <a:avLst>
            <a:gd name="adj1" fmla="val 162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78E8DE-A379-084A-9A3D-BF0F107B0C7D}">
      <dsp:nvSpPr>
        <dsp:cNvPr id="0" name=""/>
        <dsp:cNvSpPr/>
      </dsp:nvSpPr>
      <dsp:spPr>
        <a:xfrm>
          <a:off x="8714162" y="607712"/>
          <a:ext cx="1797814" cy="255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Why was the data collected (purpose) and how (methodology)? </a:t>
          </a:r>
        </a:p>
      </dsp:txBody>
      <dsp:txXfrm>
        <a:off x="8714162" y="607712"/>
        <a:ext cx="1797814" cy="2557454"/>
      </dsp:txXfrm>
    </dsp:sp>
    <dsp:sp modelId="{C6F10C79-9421-2343-8D65-F7CA973D7CF3}">
      <dsp:nvSpPr>
        <dsp:cNvPr id="0" name=""/>
        <dsp:cNvSpPr/>
      </dsp:nvSpPr>
      <dsp:spPr>
        <a:xfrm>
          <a:off x="8714162" y="0"/>
          <a:ext cx="1797814" cy="607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Why &amp; How?</a:t>
          </a:r>
        </a:p>
      </dsp:txBody>
      <dsp:txXfrm>
        <a:off x="8714162" y="0"/>
        <a:ext cx="1797814" cy="607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3146E-F6A3-455D-A8F7-7C094566E42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67100-4AF5-4440-9AA8-F24E6DD39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2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a typeface="Heebo" pitchFamily="34" charset="-122"/>
                <a:cs typeface="Heebo" pitchFamily="34" charset="-120"/>
              </a:rPr>
              <a:t>Welcome to the world of data detection! In this presentation, we'll explore how to think critically about the numbers and statistics we encounter every day.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16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3 ways you used or saw data today (examples: sports scores, weather forecast, social media likes).</a:t>
            </a:r>
          </a:p>
          <a:p>
            <a:r>
              <a:rPr lang="en-US" b="1" dirty="0"/>
              <a:t>Younger students (Grades 5–8):</a:t>
            </a:r>
            <a:r>
              <a:rPr lang="en-US" dirty="0"/>
              <a:t> Write or draw your examples.</a:t>
            </a:r>
          </a:p>
          <a:p>
            <a:r>
              <a:rPr lang="en-US" b="1" dirty="0"/>
              <a:t>Advanced students (Grades 9–11):</a:t>
            </a:r>
            <a:r>
              <a:rPr lang="en-US" dirty="0"/>
              <a:t> What decisions might people make based on this data?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Activity:</a:t>
            </a:r>
            <a:r>
              <a:rPr lang="en-US" dirty="0"/>
              <a:t> Students list examples of data they encountered today (e.g., weather app, steps on smartwatch, social media stats).</a:t>
            </a:r>
          </a:p>
          <a:p>
            <a:r>
              <a:rPr lang="en-US" b="1" dirty="0"/>
              <a:t>Discussion:</a:t>
            </a:r>
            <a:r>
              <a:rPr lang="en-US" dirty="0"/>
              <a:t> “Which data do you trust most? Why?”</a:t>
            </a:r>
          </a:p>
          <a:p>
            <a:r>
              <a:rPr lang="en-US" b="1" dirty="0"/>
              <a:t>Goal:</a:t>
            </a:r>
            <a:r>
              <a:rPr lang="en-US" dirty="0"/>
              <a:t> Build awareness of data in daily life.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27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Claim:</a:t>
            </a:r>
            <a:r>
              <a:rPr lang="en-US" dirty="0"/>
              <a:t> </a:t>
            </a:r>
            <a:r>
              <a:rPr lang="en-US" i="1" dirty="0"/>
              <a:t>90% of students prefer online homework.</a:t>
            </a:r>
            <a:br>
              <a:rPr lang="en-US" dirty="0"/>
            </a:br>
            <a:r>
              <a:rPr lang="en-US" b="1" dirty="0"/>
              <a:t>Your job:</a:t>
            </a:r>
            <a:r>
              <a:rPr lang="en-US" dirty="0"/>
              <a:t> Be a data detective!</a:t>
            </a:r>
          </a:p>
          <a:p>
            <a:r>
              <a:rPr lang="en-US" b="1" dirty="0"/>
              <a:t>Everyone:</a:t>
            </a:r>
            <a:r>
              <a:rPr lang="en-US" dirty="0"/>
              <a:t> Write 3 questions you would ask before believing this claim.</a:t>
            </a:r>
          </a:p>
          <a:p>
            <a:r>
              <a:rPr lang="en-US" b="1" dirty="0"/>
              <a:t>Advanced:</a:t>
            </a:r>
            <a:endParaRPr lang="en-US" dirty="0"/>
          </a:p>
          <a:p>
            <a:pPr lvl="1"/>
            <a:r>
              <a:rPr lang="en-US" dirty="0"/>
              <a:t>Design 2 different survey questions.</a:t>
            </a:r>
          </a:p>
          <a:p>
            <a:pPr lvl="1"/>
            <a:r>
              <a:rPr lang="en-US" dirty="0"/>
              <a:t>Which one is less biased? Why?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58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9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0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Claim:</a:t>
            </a:r>
            <a:r>
              <a:rPr lang="en-US" dirty="0"/>
              <a:t> </a:t>
            </a:r>
            <a:r>
              <a:rPr lang="en-US" i="1" dirty="0"/>
              <a:t>Eating chocolate improves memory by 50%.</a:t>
            </a:r>
            <a:endParaRPr lang="en-US" dirty="0"/>
          </a:p>
          <a:p>
            <a:r>
              <a:rPr lang="en-US" b="1" dirty="0"/>
              <a:t>Younger students:</a:t>
            </a:r>
            <a:r>
              <a:rPr lang="en-US" dirty="0"/>
              <a:t> What simple test could you design to check this? (Draw or describe.)</a:t>
            </a:r>
          </a:p>
          <a:p>
            <a:r>
              <a:rPr lang="en-US" b="1" dirty="0"/>
              <a:t>Advanced students:</a:t>
            </a:r>
            <a:r>
              <a:rPr lang="en-US" dirty="0"/>
              <a:t> What are possible confounding factors? (e.g., test difficulty, sample size).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84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Advanced students:</a:t>
            </a:r>
            <a:r>
              <a:rPr lang="en-US" dirty="0"/>
              <a:t> Explain </a:t>
            </a:r>
            <a:r>
              <a:rPr lang="en-US" b="1" dirty="0"/>
              <a:t>why</a:t>
            </a:r>
            <a:r>
              <a:rPr lang="en-US" dirty="0"/>
              <a:t> you ranked them this way (sample size, controls, bias).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43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Questions: 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dirty="0"/>
              <a:t>Most screen time, least screen time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dirty="0"/>
              <a:t>Most sleep, least sleep</a:t>
            </a:r>
            <a:endParaRPr dirty="0"/>
          </a:p>
          <a:p>
            <a:pPr marL="457200" lvl="0" indent="-317500" algn="l" rtl="0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-US" i="1" dirty="0">
                <a:highlight>
                  <a:srgbClr val="F4CCCC"/>
                </a:highlight>
                <a:latin typeface="Calibri"/>
                <a:ea typeface="Calibri"/>
                <a:cs typeface="Calibri"/>
                <a:sym typeface="Calibri"/>
              </a:rPr>
              <a:t>Do you notice any pattern or relationship between screen time and sleep in this sample? Look carefully at the numbers."</a:t>
            </a:r>
            <a:endParaRPr i="1" dirty="0">
              <a:highlight>
                <a:srgbClr val="F4CC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833"/>
              </a:lnSpc>
              <a:spcBef>
                <a:spcPts val="1200"/>
              </a:spcBef>
              <a:spcAft>
                <a:spcPts val="1200"/>
              </a:spcAft>
              <a:buSzPts val="1400"/>
              <a:buFont typeface="Calibri"/>
              <a:buAutoNum type="arabicPeriod"/>
            </a:pPr>
            <a:r>
              <a:rPr lang="en-US" i="1" dirty="0">
                <a:highlight>
                  <a:srgbClr val="F4CCCC"/>
                </a:highlight>
                <a:latin typeface="Calibri"/>
                <a:ea typeface="Calibri"/>
                <a:cs typeface="Calibri"/>
                <a:sym typeface="Calibri"/>
              </a:rPr>
              <a:t>"Final detective challenge: If you were a school counselor looking at this data, what advice might you give to these students?"</a:t>
            </a:r>
            <a:endParaRPr i="1" dirty="0">
              <a:highlight>
                <a:srgbClr val="F4CC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54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Show isolated statistics without context (e.g., "Crime increased 200% this year"). Students brainstorm what additional information they need to properly evaluate the claim. Skills: Recognizing incomplete information, asking for baseline data and timeframes. Variation: Provide the missing context and have students reassess their initial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50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6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CF46D04F-A2E9-9037-5671-AE76970CC35D}"/>
              </a:ext>
            </a:extLst>
          </p:cNvPr>
          <p:cNvSpPr/>
          <p:nvPr userDrawn="1"/>
        </p:nvSpPr>
        <p:spPr>
          <a:xfrm>
            <a:off x="65675" y="3778845"/>
            <a:ext cx="3849574" cy="2942629"/>
          </a:xfrm>
          <a:prstGeom prst="rtTriangle">
            <a:avLst/>
          </a:prstGeom>
          <a:solidFill>
            <a:srgbClr val="002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8C0CB8-D0C2-1404-F91A-420744DD2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EACBD-CAF3-E652-16CC-1B0FAD472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0A456-AC01-F904-F218-7B4540D7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8589DF-59BF-4BA7-8495-56F0F1B65344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4CB47-B3B7-6135-DE12-0C6A78EA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E3DA9-A3A9-44B9-1EE5-DEE572AF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71BE6C-6E5B-8994-D6FC-7B0CF7008156}"/>
              </a:ext>
            </a:extLst>
          </p:cNvPr>
          <p:cNvSpPr/>
          <p:nvPr userDrawn="1"/>
        </p:nvSpPr>
        <p:spPr>
          <a:xfrm rot="2253748">
            <a:off x="-395637" y="5046769"/>
            <a:ext cx="5087528" cy="134460"/>
          </a:xfrm>
          <a:prstGeom prst="rect">
            <a:avLst/>
          </a:prstGeom>
          <a:solidFill>
            <a:srgbClr val="002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77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28F5-7EB8-E462-7F02-DEC7DD59D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8FE9F-8043-0471-3245-103B67027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662F2-0F81-38B4-96ED-B28DF9DD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059D3-130F-CB1C-C4BD-AB74DE5C8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01768-0D49-C454-6289-60FB4C0A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5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005EB2AA-5849-99F5-8BFB-632AC33BE750}"/>
              </a:ext>
            </a:extLst>
          </p:cNvPr>
          <p:cNvSpPr/>
          <p:nvPr userDrawn="1"/>
        </p:nvSpPr>
        <p:spPr>
          <a:xfrm>
            <a:off x="65675" y="4703350"/>
            <a:ext cx="3000849" cy="2018124"/>
          </a:xfrm>
          <a:prstGeom prst="rtTriangle">
            <a:avLst/>
          </a:prstGeom>
          <a:solidFill>
            <a:srgbClr val="002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21169-83DD-8851-E599-FEA45E149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774" y="1709738"/>
            <a:ext cx="9715675" cy="23570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FA66E-E2F5-038E-BF7C-F544B7844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7242" y="4289092"/>
            <a:ext cx="9670207" cy="136907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E55D8-8CBA-9F43-B01D-D7082DC9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8589DF-59BF-4BA7-8495-56F0F1B65344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051CF-3BF6-AF09-6011-B52C3C68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034DF-802E-7327-8627-9511A495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1E67B-A6F8-DF75-FF70-FDB89861438B}"/>
              </a:ext>
            </a:extLst>
          </p:cNvPr>
          <p:cNvSpPr/>
          <p:nvPr userDrawn="1"/>
        </p:nvSpPr>
        <p:spPr>
          <a:xfrm rot="2037324">
            <a:off x="-227242" y="5530392"/>
            <a:ext cx="3899903" cy="111444"/>
          </a:xfrm>
          <a:prstGeom prst="rect">
            <a:avLst/>
          </a:prstGeom>
          <a:solidFill>
            <a:srgbClr val="002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6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70E4A-4368-4C69-3C64-37AFD71E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C132-4FE6-22EA-BAA6-8CA300CAE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67368-3DE6-C552-433F-568EC0B61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D78C7-6BC7-56DC-CA02-5C90A7A9C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F206C-92E1-28B7-AB9E-7FD2BB751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92DCA-BE48-5290-3278-3EC28D13C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19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2AE3-93B7-61C1-B756-59838E053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E1FB3-F727-DBA4-FBA9-234073858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F2CAC-BACD-7BE3-43DD-71043AC67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B31440-2DA2-FA84-9167-5FC181DCA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8932E-9F32-AA7A-2F1E-17F50265B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7CD880-75C8-7990-30C3-51E10FE8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DEF02E-78D7-F804-7839-C3354BF3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95FA79-FDE3-8906-39A3-A5C937F08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5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978E-2D2F-D341-2FA9-7D6D8ABF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C267CD-2EC9-4F23-858C-B85DCE903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5F275-AA05-AA90-BFF9-94CFF080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8933A-5A98-47C0-0FDC-35C9BCEA3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7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3A021B-9E90-5F87-7450-DC725780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CC1AD-0010-A189-0E43-BE96BA39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2B049-6B92-60D9-D26F-9C4603F9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92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D372C-E996-AF0C-1FE4-F8CE41D2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2E048-3033-FD5E-D3EE-710DA0B00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10ED7-5C65-0E15-895B-7C830D74A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0457B-797B-C6DE-EC6A-CB73EB26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0F16C-84B6-9D3E-10C7-4B359FD7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A5764-25FE-49B4-7825-61267D9E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5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A7B5-D51E-0EBA-DA75-9E1B8639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D8D80-69D5-682D-6788-8F3A45253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C84A4-2F9F-DC4F-74C1-19F1EB3CF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80B86-C717-EA60-2269-392FD0F7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58424-657A-53FD-0817-B7752742B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5CE37-62D2-1E15-6CB6-04D76FAE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2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B41E0-17E7-2015-B9F8-B897CA63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C2268-93A1-B778-5028-5783DE4D4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89D27-0D85-8C7B-142A-74403B21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06D02-609F-7F78-2288-E43B0E23B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58CFA-4B7F-0DBD-C99B-E464A43A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9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441BA-3638-2B1C-D3CA-F862A6C03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156893"/>
            <a:ext cx="2628900" cy="502007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7DF25-5E8D-D4BD-6759-5EB82BA5A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AFB57-7D5C-F3CC-330C-934B10E4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FCFFC-8250-D8A0-8181-3ECD823B9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CBCFC-BE45-2CEE-8C2D-480BF7B6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83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5988B7-8CA8-8706-C4A7-E1290D2D7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91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97779-7EE0-B5F0-D625-DCEDCF087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04051"/>
            <a:ext cx="10515600" cy="3572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6A9E4-6456-C2F9-73BB-C32B468DE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589DF-59BF-4BA7-8495-56F0F1B65344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F09A6-E403-39ED-FCDD-D2B49BE77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All Rights Reserved @Nexellence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1CF5F-1237-1539-FFB2-2128023A2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of a company  AI-generated content may be incorrect.">
            <a:extLst>
              <a:ext uri="{FF2B5EF4-FFF2-40B4-BE49-F238E27FC236}">
                <a16:creationId xmlns:a16="http://schemas.microsoft.com/office/drawing/2014/main" id="{625393FF-C7FE-64BE-F32C-440050D74E5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9383" y="86258"/>
            <a:ext cx="3138446" cy="71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2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viniciusy067.wikidot.com/blog:160" TargetMode="Externa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microsoft.com/office/2018/10/relationships/comments" Target="../comments/modernComment_112_716E133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%40thomas.ellyatt/bad-data-visualisation-real-life-examples-out-there-in-the-wild-eb5032329aeb" TargetMode="Externa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%40thomas.ellyatt/bad-data-visualisation-real-life-examples-out-there-in-the-wild-eb5032329aeb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herry_picking" TargetMode="External"/><Relationship Id="rId5" Type="http://schemas.openxmlformats.org/officeDocument/2006/relationships/hyperlink" Target="http://pixabay.com/en/cherry-sweet-cherry-red-fruit-167341/" TargetMode="Externa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33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5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dc.gov/nchs/products/databriefs/db513.ht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44.jpe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43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42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45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F0FD9-89FB-F700-BA31-62E9A5006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DB892-E4FC-8E3A-5E4C-EB236EC8B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535" y="1196791"/>
            <a:ext cx="10442944" cy="2387600"/>
          </a:xfrm>
        </p:spPr>
        <p:txBody>
          <a:bodyPr>
            <a:normAutofit/>
          </a:bodyPr>
          <a:lstStyle/>
          <a:p>
            <a:r>
              <a:rPr lang="en-US" dirty="0"/>
              <a:t>Chapter 1: Introduction – Thinking Like a Data Detective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29A05-46CF-CCB0-1A30-18BD7B95F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1758"/>
            <a:ext cx="9144000" cy="1026042"/>
          </a:xfrm>
        </p:spPr>
        <p:txBody>
          <a:bodyPr/>
          <a:lstStyle/>
          <a:p>
            <a:r>
              <a:rPr lang="en-US" dirty="0"/>
              <a:t>What is a “Data Detective”?</a:t>
            </a:r>
          </a:p>
        </p:txBody>
      </p:sp>
    </p:spTree>
    <p:extLst>
      <p:ext uri="{BB962C8B-B14F-4D97-AF65-F5344CB8AC3E}">
        <p14:creationId xmlns:p14="http://schemas.microsoft.com/office/powerpoint/2010/main" val="49042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175" y="618087"/>
            <a:ext cx="10515600" cy="1325563"/>
          </a:xfrm>
        </p:spPr>
        <p:txBody>
          <a:bodyPr/>
          <a:lstStyle/>
          <a:p>
            <a:r>
              <a:rPr lang="en-US" dirty="0"/>
              <a:t>Thinking Like a Data Detective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921" y="1843087"/>
            <a:ext cx="7905750" cy="4396825"/>
          </a:xfrm>
        </p:spPr>
        <p:txBody>
          <a:bodyPr>
            <a:norm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ea typeface="Heebo" pitchFamily="34" charset="-122"/>
                <a:cs typeface="Heebo" pitchFamily="34" charset="-120"/>
              </a:rPr>
              <a:t>Data is everywhere — and most of it is trying to tell you something. Your job is to figure out what’s signal and what’s noise.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dirty="0">
              <a:cs typeface="Heeb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800" b="1" dirty="0"/>
              <a:t>In this chapter:</a:t>
            </a:r>
          </a:p>
          <a:p>
            <a:pPr>
              <a:lnSpc>
                <a:spcPts val="2850"/>
              </a:lnSpc>
            </a:pPr>
            <a:r>
              <a:rPr lang="en-US" sz="2800" dirty="0"/>
              <a:t>How data shapes decisions — from algorithms to policy</a:t>
            </a:r>
          </a:p>
          <a:p>
            <a:pPr>
              <a:lnSpc>
                <a:spcPts val="2850"/>
              </a:lnSpc>
            </a:pPr>
            <a:r>
              <a:rPr lang="en-US" sz="2800" dirty="0"/>
              <a:t>Analytical frameworks for evaluating claims and sources</a:t>
            </a:r>
          </a:p>
          <a:p>
            <a:pPr>
              <a:lnSpc>
                <a:spcPts val="2850"/>
              </a:lnSpc>
            </a:pPr>
            <a:r>
              <a:rPr lang="en-US" sz="2800" dirty="0"/>
              <a:t>Core statistical concepts: variables, distributions, correlation vs. causation</a:t>
            </a:r>
          </a:p>
          <a:p>
            <a:pPr>
              <a:lnSpc>
                <a:spcPts val="2850"/>
              </a:lnSpc>
            </a:pPr>
            <a:r>
              <a:rPr lang="en-US" sz="2800" dirty="0"/>
              <a:t>Introduction to coding agents as analytical tools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420A716-5E71-A6E1-8FD6-2B68B1D5CF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5416" y="1099100"/>
            <a:ext cx="3536584" cy="53048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E83C1-E4FA-065E-F44B-231E72EF0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8589"/>
            <a:ext cx="10515600" cy="1325563"/>
          </a:xfrm>
        </p:spPr>
        <p:txBody>
          <a:bodyPr/>
          <a:lstStyle/>
          <a:p>
            <a:r>
              <a:rPr lang="en-US" dirty="0"/>
              <a:t>Data in Everyday Life – Why Data Matters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481F77FA-AB3A-07FA-94EA-8F704B97C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835"/>
            <a:ext cx="10515600" cy="3873033"/>
          </a:xfrm>
        </p:spPr>
        <p:txBody>
          <a:bodyPr/>
          <a:lstStyle/>
          <a:p>
            <a:r>
              <a:rPr lang="en-US" dirty="0"/>
              <a:t>Can you think some data examples in your daily life?</a:t>
            </a:r>
          </a:p>
          <a:p>
            <a:pPr lvl="1"/>
            <a:r>
              <a:rPr lang="en-US" dirty="0"/>
              <a:t>Weather forecast</a:t>
            </a:r>
          </a:p>
          <a:p>
            <a:pPr lvl="1"/>
            <a:r>
              <a:rPr lang="en-US" dirty="0"/>
              <a:t>Sport stats</a:t>
            </a:r>
          </a:p>
          <a:p>
            <a:pPr lvl="1"/>
            <a:r>
              <a:rPr lang="en-US" dirty="0"/>
              <a:t>Social media trends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C0FA26-BE84-A785-EAE3-89E0A6CBCF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57091" y="2383425"/>
            <a:ext cx="4854320" cy="1951085"/>
          </a:xfrm>
          <a:prstGeom prst="rect">
            <a:avLst/>
          </a:prstGeom>
        </p:spPr>
      </p:pic>
      <p:pic>
        <p:nvPicPr>
          <p:cNvPr id="1028" name="Picture 4" descr="No photo description available.">
            <a:extLst>
              <a:ext uri="{FF2B5EF4-FFF2-40B4-BE49-F238E27FC236}">
                <a16:creationId xmlns:a16="http://schemas.microsoft.com/office/drawing/2014/main" id="{60971E42-8389-17D2-9DC4-AC69857853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12283" y="3917715"/>
            <a:ext cx="2771752" cy="235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A facebook like symbol with different emojis  AI-generated content may be incorrect.">
            <a:extLst>
              <a:ext uri="{FF2B5EF4-FFF2-40B4-BE49-F238E27FC236}">
                <a16:creationId xmlns:a16="http://schemas.microsoft.com/office/drawing/2014/main" id="{6354CF91-AB79-457E-74A1-BC8F6180863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393942" y="4646890"/>
            <a:ext cx="2264711" cy="15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7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09A68-6590-1DD3-198F-E695FFFB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038" y="457200"/>
            <a:ext cx="7624762" cy="1714500"/>
          </a:xfrm>
        </p:spPr>
        <p:txBody>
          <a:bodyPr/>
          <a:lstStyle/>
          <a:p>
            <a:r>
              <a:rPr lang="en-US" dirty="0"/>
              <a:t>What Is a “Data Detective”?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8979E-DFA8-EF22-EB40-B69CF3EB6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9036" y="2286000"/>
            <a:ext cx="7624763" cy="3657600"/>
          </a:xfrm>
        </p:spPr>
        <p:txBody>
          <a:bodyPr>
            <a:normAutofit/>
          </a:bodyPr>
          <a:lstStyle/>
          <a:p>
            <a:r>
              <a:rPr lang="en-US" dirty="0"/>
              <a:t>Applies systematic skepticism — treats every claim as a hypothesis to be tested against evidence.</a:t>
            </a:r>
          </a:p>
          <a:p>
            <a:r>
              <a:rPr lang="en-US" dirty="0"/>
              <a:t>Interrogates methodology: how data was collected, who collected it, and what incentives may have shaped it.</a:t>
            </a:r>
          </a:p>
          <a:p>
            <a:r>
              <a:rPr lang="en-US" dirty="0"/>
              <a:t>Uses tools — spreadsheets, statistical summaries, visualizations, and code — to surface patterns invisible to the naked eye.</a:t>
            </a:r>
          </a:p>
          <a:p>
            <a:r>
              <a:rPr lang="en-US" dirty="0"/>
              <a:t>Distinguishes correlation from causation and resists the pull of compelling but misleading narratives.</a:t>
            </a:r>
          </a:p>
          <a:p>
            <a:r>
              <a:rPr lang="en-US" dirty="0"/>
              <a:t>Communicates findings with appropriate uncertainty — knowing what the data does and does not support.</a:t>
            </a:r>
          </a:p>
          <a:p>
            <a:endParaRPr lang="en-US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13CCD16-31EF-81CB-F4C2-A489CDB1A0D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7261"/>
            <a:ext cx="3571875" cy="535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0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E5AE-0AD4-5DCD-FCC4-93FE84973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would Data Detective ask?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90690-2BF9-4EDF-C128-51ED74F52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4663"/>
            <a:ext cx="6692153" cy="4076498"/>
          </a:xfrm>
        </p:spPr>
        <p:txBody>
          <a:bodyPr/>
          <a:lstStyle/>
          <a:p>
            <a:r>
              <a:rPr lang="en-US" dirty="0"/>
              <a:t>Imagine your school newspaper claims that “90% of students prefer online homework.” </a:t>
            </a:r>
          </a:p>
          <a:p>
            <a:pPr lvl="1"/>
            <a:r>
              <a:rPr lang="en-US" i="1" dirty="0"/>
              <a:t>How did they get that number? </a:t>
            </a:r>
          </a:p>
          <a:p>
            <a:pPr lvl="1"/>
            <a:r>
              <a:rPr lang="en-US" i="1" dirty="0"/>
              <a:t>Did they survey all students or just a few? </a:t>
            </a:r>
          </a:p>
          <a:p>
            <a:pPr lvl="1"/>
            <a:r>
              <a:rPr lang="en-US" i="1" dirty="0"/>
              <a:t>Could the wording of the question have influenced the answers?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60FFA-6FE4-434C-0D68-903D0C07C2E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07837" y="2026024"/>
            <a:ext cx="4035928" cy="403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9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0D44D-4E6B-8A5E-A13B-5384CA826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59AB-A940-3A98-CD0A-3A86561C7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535" y="1196791"/>
            <a:ext cx="10442944" cy="2387600"/>
          </a:xfrm>
        </p:spPr>
        <p:txBody>
          <a:bodyPr>
            <a:normAutofit/>
          </a:bodyPr>
          <a:lstStyle/>
          <a:p>
            <a:r>
              <a:rPr lang="en-US" dirty="0"/>
              <a:t>Chapter 1: Introduction – Thinking Like a Data Detective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CDB86-92EB-3766-F38E-D6C7CEAEB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1758"/>
            <a:ext cx="9144000" cy="1026042"/>
          </a:xfrm>
        </p:spPr>
        <p:txBody>
          <a:bodyPr/>
          <a:lstStyle/>
          <a:p>
            <a:r>
              <a:rPr lang="en-US" dirty="0"/>
              <a:t>The Perils of "Face Value"</a:t>
            </a:r>
          </a:p>
        </p:txBody>
      </p:sp>
    </p:spTree>
    <p:extLst>
      <p:ext uri="{BB962C8B-B14F-4D97-AF65-F5344CB8AC3E}">
        <p14:creationId xmlns:p14="http://schemas.microsoft.com/office/powerpoint/2010/main" val="3100563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DCA9-9555-C627-0C15-54283EDA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ptos" panose="020B0004020202020204" pitchFamily="34" charset="0"/>
                <a:ea typeface="Crimson Pro Semi Bold" pitchFamily="34" charset="-122"/>
                <a:cs typeface="Crimson Pro Semi Bold" pitchFamily="34" charset="-120"/>
              </a:rPr>
              <a:t>The Perils of "Face Value"</a:t>
            </a:r>
            <a:endParaRPr lang="en-US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733711AD-E965-B23C-D51C-2452D8429B9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491" y="2424663"/>
            <a:ext cx="3465513" cy="2141835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AA0120F4-A0C4-13F5-8443-F8338848383D}"/>
              </a:ext>
            </a:extLst>
          </p:cNvPr>
          <p:cNvSpPr/>
          <p:nvPr/>
        </p:nvSpPr>
        <p:spPr>
          <a:xfrm>
            <a:off x="661491" y="480273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latin typeface="Aptos" panose="020B0004020202020204" pitchFamily="34" charset="0"/>
                <a:ea typeface="Crimson Pro Semi Bold" pitchFamily="34" charset="-122"/>
                <a:cs typeface="Crimson Pro Semi Bold" pitchFamily="34" charset="-120"/>
              </a:rPr>
              <a:t>Misleading Scales</a:t>
            </a:r>
            <a:endParaRPr lang="en-US" sz="1833" b="1" dirty="0">
              <a:latin typeface="Aptos" panose="020B0004020202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F55633F-15C1-29F9-672C-FD8A54F08BA4}"/>
              </a:ext>
            </a:extLst>
          </p:cNvPr>
          <p:cNvSpPr/>
          <p:nvPr/>
        </p:nvSpPr>
        <p:spPr>
          <a:xfrm>
            <a:off x="661491" y="5211420"/>
            <a:ext cx="346551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Zoomed-in axes can make small changes look dramatic — a 2% shift appears catastrophic when the y-axis starts at 98.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3B28587A-0BDA-7CF4-F9EB-C743DAC557B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3243" y="2424663"/>
            <a:ext cx="3465513" cy="2141835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1E5438FD-8C29-B46B-B9BB-FD65895E45FF}"/>
              </a:ext>
            </a:extLst>
          </p:cNvPr>
          <p:cNvSpPr/>
          <p:nvPr/>
        </p:nvSpPr>
        <p:spPr>
          <a:xfrm>
            <a:off x="4363244" y="480273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latin typeface="Aptos" panose="020B0004020202020204" pitchFamily="34" charset="0"/>
                <a:ea typeface="Crimson Pro Semi Bold" pitchFamily="34" charset="-122"/>
                <a:cs typeface="Crimson Pro Semi Bold" pitchFamily="34" charset="-120"/>
              </a:rPr>
              <a:t>Skewed Averages</a:t>
            </a:r>
            <a:endParaRPr lang="en-US" sz="1833" b="1" dirty="0">
              <a:latin typeface="Aptos" panose="020B00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030997B-6E39-408E-AFA8-214DC76814FA}"/>
              </a:ext>
            </a:extLst>
          </p:cNvPr>
          <p:cNvSpPr/>
          <p:nvPr/>
        </p:nvSpPr>
        <p:spPr>
          <a:xfrm>
            <a:off x="4363243" y="5211420"/>
            <a:ext cx="346551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Outliers skew the mean without affecting the median — always ask which measure of central tendency best represents the distribution.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4A7B1303-9BB3-6DDF-D6FF-F621EF6A2FD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4995" y="2424663"/>
            <a:ext cx="3465513" cy="2141835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B41E9848-1FB4-EDF5-45CE-0B5F4FCC5FE2}"/>
              </a:ext>
            </a:extLst>
          </p:cNvPr>
          <p:cNvSpPr/>
          <p:nvPr/>
        </p:nvSpPr>
        <p:spPr>
          <a:xfrm>
            <a:off x="8064995" y="480273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latin typeface="Aptos" panose="020B0004020202020204" pitchFamily="34" charset="0"/>
                <a:ea typeface="Crimson Pro Semi Bold" pitchFamily="34" charset="-122"/>
                <a:cs typeface="Crimson Pro Semi Bold" pitchFamily="34" charset="-120"/>
              </a:rPr>
              <a:t>Cherry-Picked Data</a:t>
            </a:r>
            <a:endParaRPr lang="en-US" sz="1833" b="1" dirty="0">
              <a:latin typeface="Aptos" panose="020B0004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B8348E7-84C4-E30A-00A5-FB51657FA265}"/>
              </a:ext>
            </a:extLst>
          </p:cNvPr>
          <p:cNvSpPr/>
          <p:nvPr/>
        </p:nvSpPr>
        <p:spPr>
          <a:xfrm>
            <a:off x="8064995" y="5211420"/>
            <a:ext cx="346551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Selecting a convenient time window or subgroup can reverse a trend — this is why peer review requires full data disclosure.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039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Pay Attention to What You See</a:t>
            </a:r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body" idx="1"/>
          </p:nvPr>
        </p:nvSpPr>
        <p:spPr>
          <a:xfrm>
            <a:off x="839788" y="6068735"/>
            <a:ext cx="5157787" cy="64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0"/>
              <a:t>Manipulated axis</a:t>
            </a:r>
            <a:endParaRPr/>
          </a:p>
        </p:txBody>
      </p:sp>
      <p:sp>
        <p:nvSpPr>
          <p:cNvPr id="311" name="Google Shape;311;p14"/>
          <p:cNvSpPr txBox="1"/>
          <p:nvPr/>
        </p:nvSpPr>
        <p:spPr>
          <a:xfrm>
            <a:off x="6661468" y="6078895"/>
            <a:ext cx="5157787" cy="64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40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 axis: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https://www.cdc.gov/sleep/data-research/facts-stats/high-school-students-sleep-facts-and-stats.html?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14" descr="A graph of a number of people  AI-generated content may be incorrect.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0344" y="2743200"/>
            <a:ext cx="5787231" cy="289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4" descr="A graph of a number of people  AI-generated content may be incorrect."/>
          <p:cNvPicPr preferRelativeResize="0">
            <a:picLocks noGrp="1"/>
          </p:cNvPicPr>
          <p:nvPr>
            <p:ph type="body" idx="4"/>
          </p:nvPr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72200" y="3246331"/>
            <a:ext cx="5183188" cy="220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18FDF-21EF-EB74-9477-C4543CC83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Misleading scales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B0963-BF8E-94D2-1EA9-6D65DC306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5989"/>
            <a:ext cx="10515600" cy="3572911"/>
          </a:xfrm>
        </p:spPr>
        <p:txBody>
          <a:bodyPr/>
          <a:lstStyle/>
          <a:p>
            <a:r>
              <a:rPr lang="en-US" dirty="0"/>
              <a:t>Can you spot the issue with this plot?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311B978-B7EB-D828-BD83-713AF48FC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5813" y="2932771"/>
            <a:ext cx="5767450" cy="3244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F10036-9ED6-BA13-F156-47FB7C9D1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31858" y="2932771"/>
            <a:ext cx="3941505" cy="3244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F0C52E-5FE8-9EE0-8AAE-49DA0340D0E1}"/>
              </a:ext>
            </a:extLst>
          </p:cNvPr>
          <p:cNvSpPr txBox="1"/>
          <p:nvPr/>
        </p:nvSpPr>
        <p:spPr>
          <a:xfrm>
            <a:off x="1678043" y="6356350"/>
            <a:ext cx="87380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>
                <a:hlinkClick r:id="rId5"/>
              </a:rPr>
              <a:t>https://medium.com/%40thomas.ellyatt/bad-data-visualisation-real-life-examples-out-there-in-the-wild-eb5032329aeb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30392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DBBF8-541B-B3AA-6A73-5276112F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5167"/>
            <a:ext cx="10515600" cy="640053"/>
          </a:xfrm>
        </p:spPr>
        <p:txBody>
          <a:bodyPr>
            <a:normAutofit fontScale="90000"/>
          </a:bodyPr>
          <a:lstStyle/>
          <a:p>
            <a:r>
              <a:rPr lang="en-US" dirty="0"/>
              <a:t>Can you spot the issue with this plot?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2B619DD-0E6C-13DB-A7EE-751FCBE38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2244" y="1664173"/>
            <a:ext cx="3547893" cy="496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7656242D-4E84-ABF7-A390-06D8D2CCC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18333" y="1664173"/>
            <a:ext cx="4849870" cy="511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14EC3E-739D-1E0D-44EA-CE6322F2C76D}"/>
              </a:ext>
            </a:extLst>
          </p:cNvPr>
          <p:cNvSpPr txBox="1"/>
          <p:nvPr/>
        </p:nvSpPr>
        <p:spPr>
          <a:xfrm>
            <a:off x="1984843" y="6625941"/>
            <a:ext cx="87380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>
                <a:hlinkClick r:id="rId4"/>
              </a:rPr>
              <a:t>https://medium.com/%40thomas.ellyatt/bad-data-visualisation-real-life-examples-out-there-in-the-wild-eb5032329aeb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827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37D14-2C24-4D83-F08D-B81BAB1B0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6650"/>
            <a:ext cx="10515600" cy="1325563"/>
          </a:xfrm>
        </p:spPr>
        <p:txBody>
          <a:bodyPr/>
          <a:lstStyle/>
          <a:p>
            <a:r>
              <a:rPr lang="en-US" dirty="0"/>
              <a:t>Misleading Scales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115B3-4874-EB12-C2B1-840B3B4A4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0672"/>
            <a:ext cx="3191435" cy="43824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Your team’s math-contest accuracy rose from </a:t>
            </a:r>
            <a:r>
              <a:rPr lang="en-US" b="1" dirty="0"/>
              <a:t>60%</a:t>
            </a:r>
            <a:r>
              <a:rPr lang="en-US" dirty="0"/>
              <a:t> last semester to </a:t>
            </a:r>
            <a:r>
              <a:rPr lang="en-US" b="1" dirty="0"/>
              <a:t>65%</a:t>
            </a:r>
            <a:r>
              <a:rPr lang="en-US" dirty="0"/>
              <a:t> this semester. </a:t>
            </a:r>
          </a:p>
          <a:p>
            <a:r>
              <a:rPr lang="en-US" dirty="0"/>
              <a:t>Can you spot the differences on two plots?</a:t>
            </a:r>
          </a:p>
          <a:p>
            <a:r>
              <a:rPr lang="en-US" dirty="0"/>
              <a:t>Which plot presents the difference accurately?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D4F7BC-0C4E-139E-2947-6207D3005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635" y="2255903"/>
            <a:ext cx="3962953" cy="33151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A6A00C-A3B0-44BA-8005-FF093A676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994" y="2232213"/>
            <a:ext cx="3982006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8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1515-4273-BA57-10B5-4D64A5EF3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4272"/>
            <a:ext cx="10515600" cy="1325563"/>
          </a:xfrm>
        </p:spPr>
        <p:txBody>
          <a:bodyPr/>
          <a:lstStyle/>
          <a:p>
            <a:r>
              <a:rPr lang="en-US" dirty="0"/>
              <a:t>Skewed Averages - Example of Stat Land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F831E-2755-69F2-49E0-6D8767A66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8" y="2129835"/>
            <a:ext cx="2958352" cy="4118565"/>
          </a:xfrm>
        </p:spPr>
        <p:txBody>
          <a:bodyPr/>
          <a:lstStyle/>
          <a:p>
            <a:r>
              <a:rPr lang="en-US" dirty="0"/>
              <a:t>Average income in the Stat Land!</a:t>
            </a:r>
          </a:p>
          <a:p>
            <a:r>
              <a:rPr lang="en-US" dirty="0"/>
              <a:t>What is the mean income? </a:t>
            </a:r>
          </a:p>
          <a:p>
            <a:r>
              <a:rPr lang="en-US" dirty="0"/>
              <a:t>Does the mean income well represent everyone in the Stat Land?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787E95-69C5-3451-ED73-3CC6B71F7A9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7600" y="2144905"/>
            <a:ext cx="7942731" cy="371281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1F6499A-9A7A-FF2F-F4DE-56C9FEFE40DB}"/>
              </a:ext>
            </a:extLst>
          </p:cNvPr>
          <p:cNvSpPr/>
          <p:nvPr/>
        </p:nvSpPr>
        <p:spPr>
          <a:xfrm>
            <a:off x="10685931" y="4778188"/>
            <a:ext cx="914400" cy="822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52F562-58F2-5D7D-D43A-52783E2B4694}"/>
              </a:ext>
            </a:extLst>
          </p:cNvPr>
          <p:cNvCxnSpPr>
            <a:cxnSpLocks/>
          </p:cNvCxnSpPr>
          <p:nvPr/>
        </p:nvCxnSpPr>
        <p:spPr>
          <a:xfrm flipH="1" flipV="1">
            <a:off x="10685931" y="3648635"/>
            <a:ext cx="457200" cy="1129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1320F6E-C194-DF5E-3049-4CDCAF8EFFCB}"/>
              </a:ext>
            </a:extLst>
          </p:cNvPr>
          <p:cNvSpPr txBox="1"/>
          <p:nvPr/>
        </p:nvSpPr>
        <p:spPr>
          <a:xfrm>
            <a:off x="9740154" y="2747700"/>
            <a:ext cx="1891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one person skews the dataset, making $5M/year</a:t>
            </a: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DBF79828-78CC-C38E-C765-12736FE7E12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0711" y="2117239"/>
            <a:ext cx="2297163" cy="153139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2659704-1FF6-C16B-0C4D-0A860D64A87F}"/>
              </a:ext>
            </a:extLst>
          </p:cNvPr>
          <p:cNvGrpSpPr/>
          <p:nvPr/>
        </p:nvGrpSpPr>
        <p:grpSpPr>
          <a:xfrm>
            <a:off x="4128530" y="5414682"/>
            <a:ext cx="1599917" cy="925144"/>
            <a:chOff x="4128530" y="5414682"/>
            <a:chExt cx="1599917" cy="925144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231BDA3-2DF3-9ABE-6F1F-7A5A906FE135}"/>
                </a:ext>
              </a:extLst>
            </p:cNvPr>
            <p:cNvCxnSpPr/>
            <p:nvPr/>
          </p:nvCxnSpPr>
          <p:spPr>
            <a:xfrm flipH="1">
              <a:off x="4867835" y="5414682"/>
              <a:ext cx="860612" cy="6633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92D77B7-6999-D1A5-8868-9F791A3A38EB}"/>
                </a:ext>
              </a:extLst>
            </p:cNvPr>
            <p:cNvSpPr txBox="1"/>
            <p:nvPr/>
          </p:nvSpPr>
          <p:spPr>
            <a:xfrm>
              <a:off x="4128530" y="5970494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Median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E93BF9D-D649-6E77-E1CD-95C9F8830BFB}"/>
              </a:ext>
            </a:extLst>
          </p:cNvPr>
          <p:cNvGrpSpPr/>
          <p:nvPr/>
        </p:nvGrpSpPr>
        <p:grpSpPr>
          <a:xfrm>
            <a:off x="5876647" y="5676437"/>
            <a:ext cx="739305" cy="1032721"/>
            <a:chOff x="5876647" y="5676437"/>
            <a:chExt cx="739305" cy="1032721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CE88686-D7ED-DFDA-90B4-3C181A419F76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 flipH="1">
              <a:off x="6246300" y="5676437"/>
              <a:ext cx="369652" cy="6633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08DDCFD-D1DB-3867-7A0D-C56A2A2A003B}"/>
                </a:ext>
              </a:extLst>
            </p:cNvPr>
            <p:cNvSpPr txBox="1"/>
            <p:nvPr/>
          </p:nvSpPr>
          <p:spPr>
            <a:xfrm>
              <a:off x="5876647" y="6339826"/>
              <a:ext cx="7393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057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5A999-9831-0FE9-A2E6-7A856BA4A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Cherry picking data</a:t>
            </a:r>
          </a:p>
        </p:txBody>
      </p:sp>
      <p:pic>
        <p:nvPicPr>
          <p:cNvPr id="7" name="Content Placeholder 6" descr="A graph showing the global warming  AI-generated content may be incorrect.">
            <a:extLst>
              <a:ext uri="{FF2B5EF4-FFF2-40B4-BE49-F238E27FC236}">
                <a16:creationId xmlns:a16="http://schemas.microsoft.com/office/drawing/2014/main" id="{5304E10B-A1DF-E096-F056-F1AD1347A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7076" y="2205604"/>
            <a:ext cx="5691842" cy="4145633"/>
          </a:xfrm>
        </p:spPr>
      </p:pic>
      <p:pic>
        <p:nvPicPr>
          <p:cNvPr id="4" name="Content Placeholder 5" descr="A group of cherries on a tree  AI-generated content may be incorrect.">
            <a:extLst>
              <a:ext uri="{FF2B5EF4-FFF2-40B4-BE49-F238E27FC236}">
                <a16:creationId xmlns:a16="http://schemas.microsoft.com/office/drawing/2014/main" id="{0D9DE9BB-2AB1-A09A-5C7B-DC36F968D73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807388" y="1130733"/>
            <a:ext cx="1683061" cy="12622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0B7748-2C8D-E2E8-E18B-51C2AA6B9AFB}"/>
              </a:ext>
            </a:extLst>
          </p:cNvPr>
          <p:cNvSpPr txBox="1"/>
          <p:nvPr/>
        </p:nvSpPr>
        <p:spPr>
          <a:xfrm>
            <a:off x="2106706" y="6472518"/>
            <a:ext cx="546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6"/>
              </a:rPr>
              <a:t>https://en.wikipedia.org/wiki/Cherry_picking</a:t>
            </a:r>
            <a:r>
              <a:rPr lang="en-US" dirty="0"/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FEFF3C-9EC1-6AB1-C5FF-0FD720E4DE0A}"/>
              </a:ext>
            </a:extLst>
          </p:cNvPr>
          <p:cNvSpPr txBox="1"/>
          <p:nvPr/>
        </p:nvSpPr>
        <p:spPr>
          <a:xfrm>
            <a:off x="900953" y="3170424"/>
            <a:ext cx="359932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By deliberately cherry picking inappropriate time periods, here 1998–2012, an artificial "pause" can be created,  even though the overall warming trend continues.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7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35E3D-7896-BB8A-9B46-22BE737C0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7F848-9F3A-702A-B635-D46E0C0B4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535" y="1196791"/>
            <a:ext cx="10442944" cy="2387600"/>
          </a:xfrm>
        </p:spPr>
        <p:txBody>
          <a:bodyPr>
            <a:normAutofit/>
          </a:bodyPr>
          <a:lstStyle/>
          <a:p>
            <a:r>
              <a:rPr lang="en-US" dirty="0"/>
              <a:t>Chapter 1: Introduction – Thinking Like a Data Detective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83393-AC6E-E38F-744A-29354C866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1758"/>
            <a:ext cx="9144000" cy="1026042"/>
          </a:xfrm>
        </p:spPr>
        <p:txBody>
          <a:bodyPr/>
          <a:lstStyle/>
          <a:p>
            <a:r>
              <a:rPr lang="en-US" dirty="0"/>
              <a:t>The Mindset of a Data Detective: Curiosity and Skepticism</a:t>
            </a:r>
          </a:p>
        </p:txBody>
      </p:sp>
    </p:spTree>
    <p:extLst>
      <p:ext uri="{BB962C8B-B14F-4D97-AF65-F5344CB8AC3E}">
        <p14:creationId xmlns:p14="http://schemas.microsoft.com/office/powerpoint/2010/main" val="3816149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ADCE7-B3CC-E848-DA76-2E73914B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Mindset of a Data Detective: Curiosity and Skepticism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6661D-5E95-B2A0-9904-6D5C45C82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1688" y="2604051"/>
            <a:ext cx="8722112" cy="3897110"/>
          </a:xfrm>
        </p:spPr>
        <p:txBody>
          <a:bodyPr/>
          <a:lstStyle/>
          <a:p>
            <a:r>
              <a:rPr lang="en-US" dirty="0"/>
              <a:t>Cultivate curiosity as a professional habit: every statistic is an invitation to ask “Why? How? Under what conditions?”</a:t>
            </a:r>
          </a:p>
          <a:p>
            <a:pPr lvl="1"/>
            <a:r>
              <a:rPr lang="en-US" dirty="0"/>
              <a:t>Follow the evidence chain: from raw data → measurement → analysis → claim — each link can introduce error or bias.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Practice calibrated skepticism: demand methodological transparency, not just numerical results.</a:t>
            </a:r>
          </a:p>
          <a:p>
            <a:pPr lvl="1"/>
            <a:r>
              <a:rPr lang="en-US" dirty="0"/>
              <a:t>Guard against anchoring: the first data point you encounter shapes all subsequent interpretation — seek disconfirming evidence deliberately.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6FCA0-D72F-321F-AACE-9B303F74FE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191" y="2604051"/>
            <a:ext cx="1725312" cy="1725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7BA159-10C1-EC63-8DE6-250FEC853B7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7493" y="4508751"/>
            <a:ext cx="967298" cy="166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1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A0464-198D-5C3E-2FC6-DC235335C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2" y="529843"/>
            <a:ext cx="10515600" cy="855205"/>
          </a:xfrm>
        </p:spPr>
        <p:txBody>
          <a:bodyPr>
            <a:normAutofit/>
          </a:bodyPr>
          <a:lstStyle/>
          <a:p>
            <a:r>
              <a:rPr lang="en-US" dirty="0"/>
              <a:t>The school newspaper claim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44E54F-E49D-8B58-9C45-D8B04442362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1907" y="1735932"/>
            <a:ext cx="2212044" cy="22120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B4EB46-59D9-CD32-4AC1-73017FBF829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8972" y="2671565"/>
            <a:ext cx="1725312" cy="1725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FBEC5A-A8A1-4B47-1359-BA31932A91BA}"/>
              </a:ext>
            </a:extLst>
          </p:cNvPr>
          <p:cNvSpPr txBox="1"/>
          <p:nvPr/>
        </p:nvSpPr>
        <p:spPr>
          <a:xfrm>
            <a:off x="3697936" y="4520105"/>
            <a:ext cx="1447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curious person</a:t>
            </a:r>
          </a:p>
        </p:txBody>
      </p:sp>
      <p:sp>
        <p:nvSpPr>
          <p:cNvPr id="7" name="Oval Callout 6">
            <a:extLst>
              <a:ext uri="{FF2B5EF4-FFF2-40B4-BE49-F238E27FC236}">
                <a16:creationId xmlns:a16="http://schemas.microsoft.com/office/drawing/2014/main" id="{70A78D59-57CE-09B9-AC84-D063B37CC16C}"/>
              </a:ext>
            </a:extLst>
          </p:cNvPr>
          <p:cNvSpPr/>
          <p:nvPr/>
        </p:nvSpPr>
        <p:spPr>
          <a:xfrm>
            <a:off x="3761879" y="1351756"/>
            <a:ext cx="1850027" cy="1196581"/>
          </a:xfrm>
          <a:prstGeom prst="wedgeEllipseCallout">
            <a:avLst>
              <a:gd name="adj1" fmla="val 6325"/>
              <a:gd name="adj2" fmla="val 625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Wow, why do so many prefer online? What do they like about it?</a:t>
            </a:r>
          </a:p>
        </p:txBody>
      </p:sp>
      <p:sp>
        <p:nvSpPr>
          <p:cNvPr id="9" name="Oval Callout 8">
            <a:extLst>
              <a:ext uri="{FF2B5EF4-FFF2-40B4-BE49-F238E27FC236}">
                <a16:creationId xmlns:a16="http://schemas.microsoft.com/office/drawing/2014/main" id="{69F5DAF9-6407-483E-EF37-B4275668E9EB}"/>
              </a:ext>
            </a:extLst>
          </p:cNvPr>
          <p:cNvSpPr/>
          <p:nvPr/>
        </p:nvSpPr>
        <p:spPr>
          <a:xfrm flipH="1">
            <a:off x="6323930" y="1456329"/>
            <a:ext cx="1536187" cy="987434"/>
          </a:xfrm>
          <a:prstGeom prst="wedgeEllipseCallout">
            <a:avLst>
              <a:gd name="adj1" fmla="val 20540"/>
              <a:gd name="adj2" fmla="val 5757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90% seems high, did they really ask everyone?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949C42-6EE6-D3DF-8463-F05DBB6DA76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08374" y="2671565"/>
            <a:ext cx="967298" cy="16630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27258B-E769-C643-778B-9D26E2ACAC30}"/>
              </a:ext>
            </a:extLst>
          </p:cNvPr>
          <p:cNvSpPr txBox="1"/>
          <p:nvPr/>
        </p:nvSpPr>
        <p:spPr>
          <a:xfrm>
            <a:off x="6323930" y="4501584"/>
            <a:ext cx="1425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skeptical person</a:t>
            </a:r>
          </a:p>
        </p:txBody>
      </p:sp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365D523B-BF55-FEF2-A9BD-82D7618A4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78089" y="2589910"/>
            <a:ext cx="1930195" cy="193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CC14F83-2F4D-0E97-CC35-A6CB68F20943}"/>
              </a:ext>
            </a:extLst>
          </p:cNvPr>
          <p:cNvSpPr txBox="1"/>
          <p:nvPr/>
        </p:nvSpPr>
        <p:spPr>
          <a:xfrm>
            <a:off x="9088051" y="4520105"/>
            <a:ext cx="15314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data detective</a:t>
            </a:r>
          </a:p>
        </p:txBody>
      </p:sp>
      <p:sp>
        <p:nvSpPr>
          <p:cNvPr id="18" name="Oval Callout 17">
            <a:extLst>
              <a:ext uri="{FF2B5EF4-FFF2-40B4-BE49-F238E27FC236}">
                <a16:creationId xmlns:a16="http://schemas.microsoft.com/office/drawing/2014/main" id="{FA6BD5FD-F2B5-887A-DC56-83062EA861BA}"/>
              </a:ext>
            </a:extLst>
          </p:cNvPr>
          <p:cNvSpPr/>
          <p:nvPr/>
        </p:nvSpPr>
        <p:spPr>
          <a:xfrm flipH="1">
            <a:off x="8884385" y="1392098"/>
            <a:ext cx="1317604" cy="987434"/>
          </a:xfrm>
          <a:prstGeom prst="wedgeEllipseCallout">
            <a:avLst>
              <a:gd name="adj1" fmla="val 7030"/>
              <a:gd name="adj2" fmla="val 6311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i="1" dirty="0">
                <a:solidFill>
                  <a:schemeClr val="tx1"/>
                </a:solidFill>
              </a:rPr>
              <a:t>Why</a:t>
            </a:r>
            <a:r>
              <a:rPr lang="en-US" sz="1200" dirty="0">
                <a:solidFill>
                  <a:schemeClr val="tx1"/>
                </a:solidFill>
              </a:rPr>
              <a:t> and </a:t>
            </a:r>
            <a:r>
              <a:rPr lang="en-US" sz="1200" i="1" dirty="0">
                <a:solidFill>
                  <a:schemeClr val="tx1"/>
                </a:solidFill>
              </a:rPr>
              <a:t>how</a:t>
            </a:r>
            <a:r>
              <a:rPr lang="en-US" sz="1200" dirty="0">
                <a:solidFill>
                  <a:schemeClr val="tx1"/>
                </a:solidFill>
              </a:rPr>
              <a:t> the data was collected?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8F7CA4-94F1-3972-B9EE-D2E5545DCB1A}"/>
              </a:ext>
            </a:extLst>
          </p:cNvPr>
          <p:cNvSpPr txBox="1"/>
          <p:nvPr/>
        </p:nvSpPr>
        <p:spPr>
          <a:xfrm>
            <a:off x="577187" y="4298860"/>
            <a:ext cx="26730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would be your answer if the question phrased as:</a:t>
            </a:r>
          </a:p>
          <a:p>
            <a:endParaRPr lang="en-US" dirty="0"/>
          </a:p>
          <a:p>
            <a:r>
              <a:rPr lang="en-US" i="1" dirty="0"/>
              <a:t>“Do you enjoy the flexibility of online homework?”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D1EBF2-9D97-393B-BB89-87CE85A48E13}"/>
              </a:ext>
            </a:extLst>
          </p:cNvPr>
          <p:cNvSpPr txBox="1"/>
          <p:nvPr/>
        </p:nvSpPr>
        <p:spPr>
          <a:xfrm>
            <a:off x="3761879" y="5249971"/>
            <a:ext cx="75202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Curiosity keeps you engaged and digging deeper</a:t>
            </a:r>
          </a:p>
          <a:p>
            <a:endParaRPr lang="en-US" dirty="0"/>
          </a:p>
          <a:p>
            <a:r>
              <a:rPr lang="en-US" dirty="0"/>
              <a:t>Skepticism ensures you validate and verify rather than jump to conclusions. Both are necessary. </a:t>
            </a:r>
          </a:p>
        </p:txBody>
      </p:sp>
      <p:pic>
        <p:nvPicPr>
          <p:cNvPr id="23" name="Image 6" descr="preencoded.png">
            <a:extLst>
              <a:ext uri="{FF2B5EF4-FFF2-40B4-BE49-F238E27FC236}">
                <a16:creationId xmlns:a16="http://schemas.microsoft.com/office/drawing/2014/main" id="{C7E89C26-22FF-B746-0C37-B4B234E3E35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2911" y="5278590"/>
            <a:ext cx="318968" cy="318968"/>
          </a:xfrm>
          <a:prstGeom prst="rect">
            <a:avLst/>
          </a:prstGeom>
        </p:spPr>
      </p:pic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FF8C7C7F-AD95-F213-4826-2C88AD707C5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2911" y="5850135"/>
            <a:ext cx="318968" cy="39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5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6" grpId="0"/>
      <p:bldP spid="17" grpId="0"/>
      <p:bldP spid="18" grpId="0" animBg="1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CD38B-8292-9A54-B181-231BB77B7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9101"/>
            <a:ext cx="10515600" cy="1008480"/>
          </a:xfrm>
        </p:spPr>
        <p:txBody>
          <a:bodyPr anchor="ctr">
            <a:normAutofit/>
          </a:bodyPr>
          <a:lstStyle/>
          <a:p>
            <a:r>
              <a:rPr lang="en-US" dirty="0"/>
              <a:t>Chocolate mystery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2B0B03-00F9-3DE8-578E-BB928C2077A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6380" y="2257669"/>
            <a:ext cx="2904517" cy="4351338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E23AA-6320-B3F3-7218-519B43710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0034" y="2473691"/>
            <a:ext cx="5181600" cy="3919294"/>
          </a:xfrm>
        </p:spPr>
        <p:txBody>
          <a:bodyPr>
            <a:normAutofit/>
          </a:bodyPr>
          <a:lstStyle/>
          <a:p>
            <a:r>
              <a:rPr lang="en-US" dirty="0"/>
              <a:t>Claim: </a:t>
            </a:r>
            <a:r>
              <a:rPr lang="en-US" i="1" dirty="0"/>
              <a:t>Eating chocolate improves memory by 50%.</a:t>
            </a:r>
          </a:p>
          <a:p>
            <a:r>
              <a:rPr lang="en-US" dirty="0"/>
              <a:t>As a data detective what questions would you ask about the data behind it? </a:t>
            </a:r>
          </a:p>
          <a:p>
            <a:r>
              <a:rPr lang="en-US" dirty="0"/>
              <a:t>Work in pairs to list 3–4 questions</a:t>
            </a:r>
          </a:p>
        </p:txBody>
      </p:sp>
    </p:spTree>
    <p:extLst>
      <p:ext uri="{BB962C8B-B14F-4D97-AF65-F5344CB8AC3E}">
        <p14:creationId xmlns:p14="http://schemas.microsoft.com/office/powerpoint/2010/main" val="3528084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E122F-9B59-9F07-BB84-30701DEE3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9100"/>
            <a:ext cx="8656628" cy="1325563"/>
          </a:xfrm>
        </p:spPr>
        <p:txBody>
          <a:bodyPr/>
          <a:lstStyle/>
          <a:p>
            <a:r>
              <a:rPr lang="en-US" dirty="0"/>
              <a:t>Ice Cream and Drowning - classic case of misinterpreting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EA50D-B3C4-47EC-DC52-0065C45EB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3249706" cy="3482371"/>
          </a:xfrm>
        </p:spPr>
        <p:txBody>
          <a:bodyPr/>
          <a:lstStyle/>
          <a:p>
            <a:r>
              <a:rPr lang="en-US" dirty="0"/>
              <a:t>Is there a hidden factor here?</a:t>
            </a:r>
          </a:p>
          <a:p>
            <a:r>
              <a:rPr lang="en-US" dirty="0"/>
              <a:t>Can you say ice cream consumption “causes” drowning?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C9F6F0-4481-FB4B-C46D-9FC18D8557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8083" y="828946"/>
            <a:ext cx="1595717" cy="15957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BF49B5-4FB1-15DE-513B-737816DA2F9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1023" y="2692152"/>
            <a:ext cx="7772400" cy="348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6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9FBE-4F38-5582-24F7-E3A5D11E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Mindset of a Data Detective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7155E9-1551-844B-6A6B-5DA0722EB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8840069"/>
              </p:ext>
            </p:extLst>
          </p:nvPr>
        </p:nvGraphicFramePr>
        <p:xfrm>
          <a:off x="838200" y="2603500"/>
          <a:ext cx="6343185" cy="3573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336DA6DE-67DA-160C-D059-4F98B93CF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861" y="3010829"/>
            <a:ext cx="458593" cy="57311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94E7B60E-4C47-262F-5841-E67BAC2661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5157" y="4123778"/>
            <a:ext cx="458593" cy="573112"/>
          </a:xfrm>
          <a:prstGeom prst="rect">
            <a:avLst/>
          </a:prstGeom>
        </p:spPr>
      </p:pic>
      <p:pic>
        <p:nvPicPr>
          <p:cNvPr id="7" name="Image 6" descr="preencoded.png">
            <a:extLst>
              <a:ext uri="{FF2B5EF4-FFF2-40B4-BE49-F238E27FC236}">
                <a16:creationId xmlns:a16="http://schemas.microsoft.com/office/drawing/2014/main" id="{7801711D-4847-4035-4F10-3323198E94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2911" y="5236727"/>
            <a:ext cx="404491" cy="404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130357-46F2-0736-FB8C-BE3CCDF03605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6096" y="2242276"/>
            <a:ext cx="4382124" cy="438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43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28D45-ED5C-9A43-F9A3-D1943609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Cultivating Curiosity</a:t>
            </a:r>
            <a:endParaRPr lang="en-US" dirty="0"/>
          </a:p>
        </p:txBody>
      </p:sp>
      <p:graphicFrame>
        <p:nvGraphicFramePr>
          <p:cNvPr id="30" name="Content Placeholder 29">
            <a:extLst>
              <a:ext uri="{FF2B5EF4-FFF2-40B4-BE49-F238E27FC236}">
                <a16:creationId xmlns:a16="http://schemas.microsoft.com/office/drawing/2014/main" id="{0EFA8952-A739-2B19-A115-95B7074577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0040559"/>
              </p:ext>
            </p:extLst>
          </p:nvPr>
        </p:nvGraphicFramePr>
        <p:xfrm>
          <a:off x="838200" y="2603500"/>
          <a:ext cx="7357946" cy="3573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E3ECF79-F5E1-78F2-D458-F451013806C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30682" y="1961801"/>
            <a:ext cx="2981093" cy="447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24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6F4C7-74AF-FB72-3E76-CDA4A6EA8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Practicing Skepticism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770F2D-821E-54FD-819E-32AD6AA3D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3589548"/>
              </p:ext>
            </p:extLst>
          </p:nvPr>
        </p:nvGraphicFramePr>
        <p:xfrm>
          <a:off x="2999678" y="2334372"/>
          <a:ext cx="8186545" cy="3921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6A6460C-D12D-3311-1388-9E215EF5AC4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1739" y="2580239"/>
            <a:ext cx="3237153" cy="342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8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AD412EF6-A431-0FB5-EB67-CB2376762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15794" y="1000713"/>
            <a:ext cx="2576206" cy="257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4ED967-9B1C-3B8D-8A81-CDE8C8C9C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SIFT Framework for Evaluating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A6746-354C-9405-0E79-658425A74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Stop: Pause before sharing or accepting a claim — your gut reaction is the least reliable filter.</a:t>
            </a:r>
          </a:p>
          <a:p>
            <a:r>
              <a:rPr lang="en-US" dirty="0"/>
              <a:t>Investigate the source: What is the publisher’s track record, funding, and potential conflicts of interest?</a:t>
            </a:r>
          </a:p>
          <a:p>
            <a:r>
              <a:rPr lang="en-US" dirty="0"/>
              <a:t>Find better coverage: Seek the original study, data set, or primary source rather than relying on media summaries.</a:t>
            </a:r>
          </a:p>
          <a:p>
            <a:r>
              <a:rPr lang="en-US" dirty="0"/>
              <a:t>Trace claims: Follow data back upstream — sampling method, sample size, response rate, and how variables were operationalized all matter.</a:t>
            </a:r>
          </a:p>
        </p:txBody>
      </p:sp>
    </p:spTree>
    <p:extLst>
      <p:ext uri="{BB962C8B-B14F-4D97-AF65-F5344CB8AC3E}">
        <p14:creationId xmlns:p14="http://schemas.microsoft.com/office/powerpoint/2010/main" val="190577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CD7CD-6FD1-DC29-7CDD-71571AD84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reliable?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40E5F-C208-759B-4E59-29B4B1425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1. TikTok: “Teens who use social media 3+ hours daily have lower test scores”</a:t>
            </a:r>
          </a:p>
          <a:p>
            <a:r>
              <a:rPr lang="en-US" dirty="0"/>
              <a:t>2. Company advertisement: “Use our app and boost test scores by 50%”</a:t>
            </a:r>
          </a:p>
          <a:p>
            <a:r>
              <a:rPr lang="en-US" dirty="0"/>
              <a:t>3. Study in Youth &amp; Society: Based on a survey of 1,459 middle schoolers, frequent social media use was associated with decreased academic achievement, accounting for factors like age, gender, and race </a:t>
            </a:r>
          </a:p>
          <a:p>
            <a:r>
              <a:rPr lang="en-US" dirty="0"/>
              <a:t>4. According to Centers for Disease Control, 1 in 4 teens (ages 12–17) who use screens 4+ hours daily reported anxiety (27.1%) or depression (25.9%) in the past 2 weeks, significantly higher than teens using screens less (&lt;4 </a:t>
            </a:r>
            <a:r>
              <a:rPr lang="en-US" dirty="0" err="1"/>
              <a:t>hrs</a:t>
            </a:r>
            <a:r>
              <a:rPr lang="en-US" dirty="0"/>
              <a:t>: 12.3% anxiety; 9.5% depression) (</a:t>
            </a:r>
            <a:r>
              <a:rPr lang="en-US" sz="2100" dirty="0">
                <a:hlinkClick r:id="rId3"/>
              </a:rPr>
              <a:t>https://www.cdc.gov/nchs/products/databriefs/db513.htm</a:t>
            </a:r>
            <a:r>
              <a:rPr lang="en-US" dirty="0"/>
              <a:t>)</a:t>
            </a:r>
          </a:p>
          <a:p>
            <a:r>
              <a:rPr lang="en-US" dirty="0"/>
              <a:t>Work in pairs to</a:t>
            </a:r>
          </a:p>
          <a:p>
            <a:pPr lvl="1"/>
            <a:r>
              <a:rPr lang="en-US" dirty="0"/>
              <a:t>Rank the sources by reliability (most → least):</a:t>
            </a:r>
          </a:p>
          <a:p>
            <a:pPr lvl="1"/>
            <a:r>
              <a:rPr lang="en-US" dirty="0"/>
              <a:t>Justify rankings (method, sample, controls, sources,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15981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F4804-3CFB-C4BD-2DED-D8A5D321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B563-2084-EDB3-08E8-F93F2293D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535" y="1196791"/>
            <a:ext cx="10442944" cy="2387600"/>
          </a:xfrm>
        </p:spPr>
        <p:txBody>
          <a:bodyPr>
            <a:normAutofit/>
          </a:bodyPr>
          <a:lstStyle/>
          <a:p>
            <a:r>
              <a:rPr lang="en-US" dirty="0"/>
              <a:t>Chapter 1: Introduction – Thinking Like a Data Detective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F5319-5F76-FB67-D51F-75108F589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1758"/>
            <a:ext cx="9144000" cy="1026042"/>
          </a:xfrm>
        </p:spPr>
        <p:txBody>
          <a:bodyPr/>
          <a:lstStyle/>
          <a:p>
            <a:r>
              <a:rPr lang="en-US" dirty="0"/>
              <a:t>Basic Data Terminology</a:t>
            </a:r>
          </a:p>
        </p:txBody>
      </p:sp>
    </p:spTree>
    <p:extLst>
      <p:ext uri="{BB962C8B-B14F-4D97-AF65-F5344CB8AC3E}">
        <p14:creationId xmlns:p14="http://schemas.microsoft.com/office/powerpoint/2010/main" val="2561815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74B41-3F90-4213-F345-F0755755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Data Terminology</a:t>
            </a:r>
          </a:p>
        </p:txBody>
      </p:sp>
      <p:pic>
        <p:nvPicPr>
          <p:cNvPr id="5" name="Image 1" descr="Information with solid fill">
            <a:extLst>
              <a:ext uri="{FF2B5EF4-FFF2-40B4-BE49-F238E27FC236}">
                <a16:creationId xmlns:a16="http://schemas.microsoft.com/office/drawing/2014/main" id="{9A4E9989-1879-380B-30B8-4BD48B17B5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7693" y="2715220"/>
            <a:ext cx="566976" cy="566976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02E95E9A-AB9D-A913-2736-CBEFBA25A3AB}"/>
              </a:ext>
            </a:extLst>
          </p:cNvPr>
          <p:cNvSpPr/>
          <p:nvPr/>
        </p:nvSpPr>
        <p:spPr>
          <a:xfrm>
            <a:off x="626150" y="349769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ptos" panose="020B0004020202020204" pitchFamily="34" charset="0"/>
                <a:ea typeface="Crimson Pro Semi Bold" pitchFamily="34" charset="-122"/>
                <a:cs typeface="Crimson Pro Semi Bold" pitchFamily="34" charset="-120"/>
              </a:rPr>
              <a:t>Data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B0E8F1E-9EBE-0915-2A96-AB292F80127D}"/>
              </a:ext>
            </a:extLst>
          </p:cNvPr>
          <p:cNvSpPr/>
          <p:nvPr/>
        </p:nvSpPr>
        <p:spPr>
          <a:xfrm>
            <a:off x="626150" y="3988118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Structured vs. Unstructured — tabular rows/columns are structured; text, images, and social posts are unstructured and require preprocessing.</a:t>
            </a:r>
            <a:endParaRPr lang="en-US" sz="1750" dirty="0">
              <a:latin typeface="Aptos" panose="020B0004020202020204" pitchFamily="34" charset="0"/>
            </a:endParaRPr>
          </a:p>
        </p:txBody>
      </p:sp>
      <p:pic>
        <p:nvPicPr>
          <p:cNvPr id="9" name="Image 2" descr="Table with solid fill">
            <a:extLst>
              <a:ext uri="{FF2B5EF4-FFF2-40B4-BE49-F238E27FC236}">
                <a16:creationId xmlns:a16="http://schemas.microsoft.com/office/drawing/2014/main" id="{9F304B39-0AEE-3A91-989C-6579B757CA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9453" y="2703909"/>
            <a:ext cx="566976" cy="566976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35B21E17-1077-CC10-1118-C6BE65201C08}"/>
              </a:ext>
            </a:extLst>
          </p:cNvPr>
          <p:cNvSpPr/>
          <p:nvPr/>
        </p:nvSpPr>
        <p:spPr>
          <a:xfrm>
            <a:off x="3239453" y="349769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ptos" panose="020B0004020202020204" pitchFamily="34" charset="0"/>
                <a:ea typeface="Crimson Pro Semi Bold" pitchFamily="34" charset="-122"/>
                <a:cs typeface="Crimson Pro Semi Bold" pitchFamily="34" charset="-120"/>
              </a:rPr>
              <a:t>Dataset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19D5B20-C842-F87E-E61A-41D361757897}"/>
              </a:ext>
            </a:extLst>
          </p:cNvPr>
          <p:cNvSpPr/>
          <p:nvPr/>
        </p:nvSpPr>
        <p:spPr>
          <a:xfrm>
            <a:off x="3239453" y="3988118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A structured collection of data; can be tidy (one observation per row, one variable per column) or messy — real-world data is almost always messy.</a:t>
            </a:r>
            <a:endParaRPr lang="en-US" sz="1750" dirty="0">
              <a:latin typeface="Aptos" panose="020B0004020202020204" pitchFamily="34" charset="0"/>
            </a:endParaRPr>
          </a:p>
        </p:txBody>
      </p:sp>
      <p:pic>
        <p:nvPicPr>
          <p:cNvPr id="13" name="Image 3" descr="Venn diagram with solid fill">
            <a:extLst>
              <a:ext uri="{FF2B5EF4-FFF2-40B4-BE49-F238E27FC236}">
                <a16:creationId xmlns:a16="http://schemas.microsoft.com/office/drawing/2014/main" id="{40C8A8CB-7E5C-88EF-8336-1FB962B3A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52755" y="2703909"/>
            <a:ext cx="566976" cy="566976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21262F67-46B0-44E1-FD91-9ED8B20533DF}"/>
              </a:ext>
            </a:extLst>
          </p:cNvPr>
          <p:cNvSpPr/>
          <p:nvPr/>
        </p:nvSpPr>
        <p:spPr>
          <a:xfrm>
            <a:off x="5852755" y="349769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ptos" panose="020B0004020202020204" pitchFamily="34" charset="0"/>
                <a:ea typeface="Crimson Pro Semi Bold" pitchFamily="34" charset="-122"/>
                <a:cs typeface="Crimson Pro Semi Bold" pitchFamily="34" charset="-120"/>
              </a:rPr>
              <a:t>Variable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7661F5B1-128C-C01C-DFC0-E8774B315634}"/>
              </a:ext>
            </a:extLst>
          </p:cNvPr>
          <p:cNvSpPr/>
          <p:nvPr/>
        </p:nvSpPr>
        <p:spPr>
          <a:xfrm>
            <a:off x="5852755" y="3988118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Can be quantitative (continuous or discrete) or categorical (nominal or ordinal). The type determines which statistical operations are valid.</a:t>
            </a:r>
            <a:endParaRPr lang="en-US" sz="1750" dirty="0">
              <a:latin typeface="Aptos" panose="020B0004020202020204" pitchFamily="34" charset="0"/>
            </a:endParaRPr>
          </a:p>
        </p:txBody>
      </p:sp>
      <p:pic>
        <p:nvPicPr>
          <p:cNvPr id="17" name="Image 4" descr="Office worker female with solid fill">
            <a:extLst>
              <a:ext uri="{FF2B5EF4-FFF2-40B4-BE49-F238E27FC236}">
                <a16:creationId xmlns:a16="http://schemas.microsoft.com/office/drawing/2014/main" id="{AEBBF5E1-5CFC-6839-94D2-B0D33523E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910638" y="2703910"/>
            <a:ext cx="566976" cy="566976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5B147665-306E-5DEE-E6CC-E81166AA0C38}"/>
              </a:ext>
            </a:extLst>
          </p:cNvPr>
          <p:cNvSpPr/>
          <p:nvPr/>
        </p:nvSpPr>
        <p:spPr>
          <a:xfrm>
            <a:off x="8910638" y="349769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ptos" panose="020B0004020202020204" pitchFamily="34" charset="0"/>
                <a:ea typeface="Crimson Pro Semi Bold" pitchFamily="34" charset="-122"/>
                <a:cs typeface="Crimson Pro Semi Bold" pitchFamily="34" charset="-120"/>
              </a:rPr>
              <a:t>Observation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F28AEF2E-10BE-E80A-D29A-FAE1433145F8}"/>
              </a:ext>
            </a:extLst>
          </p:cNvPr>
          <p:cNvSpPr/>
          <p:nvPr/>
        </p:nvSpPr>
        <p:spPr>
          <a:xfrm>
            <a:off x="8910638" y="3988118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One record (a row) representing a single entity. Sample size n = number of observations; larger n generally reduces sampling error.</a:t>
            </a:r>
            <a:endParaRPr lang="en-US" sz="175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065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E8A57-7AA8-A61F-E10A-C5ABBEA77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9100"/>
            <a:ext cx="10515600" cy="861157"/>
          </a:xfrm>
        </p:spPr>
        <p:txBody>
          <a:bodyPr/>
          <a:lstStyle/>
          <a:p>
            <a:r>
              <a:rPr lang="en-US" dirty="0"/>
              <a:t>How to read a dataset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031BFA8-4C66-5BAC-5309-8F2506D0B3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1078297"/>
              </p:ext>
            </p:extLst>
          </p:nvPr>
        </p:nvGraphicFramePr>
        <p:xfrm>
          <a:off x="3051810" y="2924608"/>
          <a:ext cx="6134100" cy="2072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210">
                  <a:extLst>
                    <a:ext uri="{9D8B030D-6E8A-4147-A177-3AD203B41FA5}">
                      <a16:colId xmlns:a16="http://schemas.microsoft.com/office/drawing/2014/main" val="2087137946"/>
                    </a:ext>
                  </a:extLst>
                </a:gridCol>
                <a:gridCol w="1694199">
                  <a:extLst>
                    <a:ext uri="{9D8B030D-6E8A-4147-A177-3AD203B41FA5}">
                      <a16:colId xmlns:a16="http://schemas.microsoft.com/office/drawing/2014/main" val="3156583261"/>
                    </a:ext>
                  </a:extLst>
                </a:gridCol>
                <a:gridCol w="2759691">
                  <a:extLst>
                    <a:ext uri="{9D8B030D-6E8A-4147-A177-3AD203B41FA5}">
                      <a16:colId xmlns:a16="http://schemas.microsoft.com/office/drawing/2014/main" val="419098998"/>
                    </a:ext>
                  </a:extLst>
                </a:gridCol>
              </a:tblGrid>
              <a:tr h="518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Name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Age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Favorite Subject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8456613"/>
                  </a:ext>
                </a:extLst>
              </a:tr>
              <a:tr h="518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Alice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Math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7504531"/>
                  </a:ext>
                </a:extLst>
              </a:tr>
              <a:tr h="518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Bob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15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History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9533276"/>
                  </a:ext>
                </a:extLst>
              </a:tr>
              <a:tr h="518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Carmen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Science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18296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1496E53-F8D8-55F8-7F47-0FCEF0B67934}"/>
              </a:ext>
            </a:extLst>
          </p:cNvPr>
          <p:cNvSpPr txBox="1"/>
          <p:nvPr/>
        </p:nvSpPr>
        <p:spPr>
          <a:xfrm>
            <a:off x="946354" y="3493710"/>
            <a:ext cx="1730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Observation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C65DD0AF-DD17-A542-E198-F8B260B6B3B4}"/>
              </a:ext>
            </a:extLst>
          </p:cNvPr>
          <p:cNvSpPr/>
          <p:nvPr/>
        </p:nvSpPr>
        <p:spPr>
          <a:xfrm>
            <a:off x="2590800" y="3489960"/>
            <a:ext cx="358140" cy="40386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17962-4A7F-2803-5D00-D24FA3B22A8F}"/>
              </a:ext>
            </a:extLst>
          </p:cNvPr>
          <p:cNvSpPr txBox="1"/>
          <p:nvPr/>
        </p:nvSpPr>
        <p:spPr>
          <a:xfrm>
            <a:off x="946354" y="4004250"/>
            <a:ext cx="1730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Observation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DCBB2C1D-C1EF-5711-6A16-D257A2A11BEA}"/>
              </a:ext>
            </a:extLst>
          </p:cNvPr>
          <p:cNvSpPr/>
          <p:nvPr/>
        </p:nvSpPr>
        <p:spPr>
          <a:xfrm>
            <a:off x="2590800" y="4000500"/>
            <a:ext cx="358140" cy="40386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06A5A2-FFB9-8691-6B20-D451BE3B8B73}"/>
              </a:ext>
            </a:extLst>
          </p:cNvPr>
          <p:cNvSpPr txBox="1"/>
          <p:nvPr/>
        </p:nvSpPr>
        <p:spPr>
          <a:xfrm>
            <a:off x="946354" y="4514790"/>
            <a:ext cx="1730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Observation 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D0F8DF3F-CC05-9A2C-F992-8C0B624164B7}"/>
              </a:ext>
            </a:extLst>
          </p:cNvPr>
          <p:cNvSpPr/>
          <p:nvPr/>
        </p:nvSpPr>
        <p:spPr>
          <a:xfrm>
            <a:off x="2590800" y="4511040"/>
            <a:ext cx="358140" cy="40386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030FB0BE-1F8D-CA32-2C37-C163EBDDC852}"/>
              </a:ext>
            </a:extLst>
          </p:cNvPr>
          <p:cNvSpPr/>
          <p:nvPr/>
        </p:nvSpPr>
        <p:spPr>
          <a:xfrm rot="16200000">
            <a:off x="3739139" y="1953000"/>
            <a:ext cx="301741" cy="145542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B41ED3-A47B-4D54-DAC4-21758E6D7949}"/>
              </a:ext>
            </a:extLst>
          </p:cNvPr>
          <p:cNvSpPr txBox="1"/>
          <p:nvPr/>
        </p:nvSpPr>
        <p:spPr>
          <a:xfrm>
            <a:off x="3251212" y="2129729"/>
            <a:ext cx="1277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Variable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E7BBA434-690B-09F4-A777-656A51B43E85}"/>
              </a:ext>
            </a:extLst>
          </p:cNvPr>
          <p:cNvSpPr/>
          <p:nvPr/>
        </p:nvSpPr>
        <p:spPr>
          <a:xfrm rot="16200000">
            <a:off x="5400301" y="1903817"/>
            <a:ext cx="301741" cy="145542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0C3750-4BA9-D648-2F76-BE943B2B09FA}"/>
              </a:ext>
            </a:extLst>
          </p:cNvPr>
          <p:cNvSpPr txBox="1"/>
          <p:nvPr/>
        </p:nvSpPr>
        <p:spPr>
          <a:xfrm>
            <a:off x="4912374" y="2080546"/>
            <a:ext cx="1277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Variable 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6DF18A64-E9EF-EB6D-D833-B103DD2A611A}"/>
              </a:ext>
            </a:extLst>
          </p:cNvPr>
          <p:cNvSpPr/>
          <p:nvPr/>
        </p:nvSpPr>
        <p:spPr>
          <a:xfrm rot="16200000">
            <a:off x="7461511" y="1540927"/>
            <a:ext cx="301741" cy="222504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CB41D3-BE5A-C1CB-7D5D-5612713938B5}"/>
              </a:ext>
            </a:extLst>
          </p:cNvPr>
          <p:cNvSpPr txBox="1"/>
          <p:nvPr/>
        </p:nvSpPr>
        <p:spPr>
          <a:xfrm>
            <a:off x="6940887" y="2102467"/>
            <a:ext cx="1342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Variable 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19F575E-F13E-F1D1-B626-48AFB1E30274}"/>
              </a:ext>
            </a:extLst>
          </p:cNvPr>
          <p:cNvSpPr txBox="1">
            <a:spLocks/>
          </p:cNvSpPr>
          <p:nvPr/>
        </p:nvSpPr>
        <p:spPr>
          <a:xfrm>
            <a:off x="838200" y="5204460"/>
            <a:ext cx="10515600" cy="12246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data can be textual (names and favorite subject), or numeric (age).</a:t>
            </a:r>
          </a:p>
          <a:p>
            <a:r>
              <a:rPr lang="en-US" dirty="0"/>
              <a:t>In this dataset we have 3 observations (rows) and 3 variables (columns).</a:t>
            </a:r>
          </a:p>
        </p:txBody>
      </p:sp>
    </p:spTree>
    <p:extLst>
      <p:ext uri="{BB962C8B-B14F-4D97-AF65-F5344CB8AC3E}">
        <p14:creationId xmlns:p14="http://schemas.microsoft.com/office/powerpoint/2010/main" val="3585850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5233492" y="1750517"/>
            <a:ext cx="4725492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8"/>
              <a:buFont typeface="Arial"/>
              <a:buNone/>
            </a:pPr>
            <a:r>
              <a:rPr lang="en-US" sz="3708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Dataset</a:t>
            </a:r>
            <a:endParaRPr sz="3708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215204" y="2624633"/>
            <a:ext cx="6297018" cy="2482850"/>
          </a:xfrm>
          <a:prstGeom prst="roundRect">
            <a:avLst>
              <a:gd name="adj" fmla="val 3198"/>
            </a:avLst>
          </a:prstGeom>
          <a:noFill/>
          <a:ln w="9525" cap="flat" cmpd="sng">
            <a:solidFill>
              <a:srgbClr val="000000">
                <a:alpha val="745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239842" y="2630983"/>
            <a:ext cx="6283623" cy="844352"/>
          </a:xfrm>
          <a:prstGeom prst="rect">
            <a:avLst/>
          </a:pr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429548" y="2750741"/>
            <a:ext cx="1713111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7527032" y="2750741"/>
            <a:ext cx="1709936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 Screen Time (hrs)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9621342" y="2750741"/>
            <a:ext cx="1713111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Nightly Sleep (hrs)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239842" y="3475335"/>
            <a:ext cx="6283623" cy="541933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429548" y="3595093"/>
            <a:ext cx="1713111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527032" y="3595093"/>
            <a:ext cx="1709936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9621342" y="3595093"/>
            <a:ext cx="1713111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429548" y="4137026"/>
            <a:ext cx="1713111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527032" y="4137026"/>
            <a:ext cx="1709936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9621342" y="4137026"/>
            <a:ext cx="1713111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58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239842" y="4559201"/>
            <a:ext cx="6283623" cy="541933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411260" y="4678958"/>
            <a:ext cx="1713111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527032" y="4678958"/>
            <a:ext cx="1709936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58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9633222" y="4678958"/>
            <a:ext cx="1884422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458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411260" y="5179442"/>
            <a:ext cx="1713111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508744" y="5179442"/>
            <a:ext cx="1709936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9603054" y="5179442"/>
            <a:ext cx="1713111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221554" y="5516273"/>
            <a:ext cx="6283623" cy="541933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417356" y="5636030"/>
            <a:ext cx="1713111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7508744" y="5636030"/>
            <a:ext cx="1709936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9639318" y="5636030"/>
            <a:ext cx="1884422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8"/>
              <a:buFont typeface="Arial"/>
              <a:buNone/>
            </a:pPr>
            <a:r>
              <a:rPr lang="en-US" sz="145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5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6FE71-AFD7-3586-77F7-FCEAA23C0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Explore a Dataset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58BC8-D4FE-9603-54E7-36E14AB87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9778" y="2341166"/>
            <a:ext cx="4222285" cy="42660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Calculate the mean and median for each variable. Do they differ? Why might that matter?</a:t>
            </a:r>
          </a:p>
          <a:p>
            <a:r>
              <a:rPr lang="en-US" dirty="0"/>
              <a:t>Describe the apparent relationship between screen time and sleep. Is this correlation positive or negative? Can you say it’s causal? What would you need to know?</a:t>
            </a:r>
          </a:p>
          <a:p>
            <a:r>
              <a:rPr lang="en-US" dirty="0"/>
              <a:t>With only n=5 observations, how confident can you be in any pattern you observe? What sample size would give you more confidence, and why?</a:t>
            </a:r>
          </a:p>
          <a:p>
            <a:r>
              <a:rPr lang="en-US" dirty="0"/>
              <a:t>What confounding variables might explain this relationship? Propose a follow-up study design that could isolate the effect of screen time.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C2E9-85B9-7C25-7C8C-2AFF9B00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05AC-5EF9-AF7D-5B4C-C0EDB9799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535" y="1196791"/>
            <a:ext cx="10442944" cy="2387600"/>
          </a:xfrm>
        </p:spPr>
        <p:txBody>
          <a:bodyPr>
            <a:normAutofit/>
          </a:bodyPr>
          <a:lstStyle/>
          <a:p>
            <a:r>
              <a:rPr lang="en-US" dirty="0"/>
              <a:t>Chapter 1: Introduction – Thinking Like a Data Detective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5C4F7-3AA9-7026-C0BA-8D9243928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1758"/>
            <a:ext cx="9144000" cy="1026042"/>
          </a:xfrm>
        </p:spPr>
        <p:txBody>
          <a:bodyPr/>
          <a:lstStyle/>
          <a:p>
            <a:r>
              <a:rPr lang="en-US" dirty="0"/>
              <a:t>Becoming a Critical Thinker with Data</a:t>
            </a:r>
          </a:p>
        </p:txBody>
      </p:sp>
    </p:spTree>
    <p:extLst>
      <p:ext uri="{BB962C8B-B14F-4D97-AF65-F5344CB8AC3E}">
        <p14:creationId xmlns:p14="http://schemas.microsoft.com/office/powerpoint/2010/main" val="2188330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E3DE0-EDFC-040C-9AF5-ACC55C69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7181"/>
            <a:ext cx="10515600" cy="874480"/>
          </a:xfrm>
        </p:spPr>
        <p:txBody>
          <a:bodyPr/>
          <a:lstStyle/>
          <a:p>
            <a:r>
              <a:rPr lang="en-US" dirty="0"/>
              <a:t>Becoming a Critical Thinker with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97CC53-8A45-D209-E0B1-D1D4EEDD53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2309681"/>
              </p:ext>
            </p:extLst>
          </p:nvPr>
        </p:nvGraphicFramePr>
        <p:xfrm>
          <a:off x="838200" y="2603500"/>
          <a:ext cx="10515600" cy="3573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FB3379F-A087-C3AD-05C6-32666E70145E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960" y="4862280"/>
            <a:ext cx="1793240" cy="17932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0C947B-458B-40C0-2E69-C8D1116FEF7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76320" y="2124943"/>
            <a:ext cx="1644003" cy="1892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723999-6DF1-1343-9255-16D0C53F5E66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58715" y="4862280"/>
            <a:ext cx="1908567" cy="19085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819075-5023-89E4-ED8A-9E72CF67E743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6409" y="1851661"/>
            <a:ext cx="1411662" cy="21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872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B6B4B-49F0-571B-AB8C-AF91616FD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 Questions about the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141DC-7423-7442-A48B-D1F197794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Who?</a:t>
            </a:r>
          </a:p>
          <a:p>
            <a:pPr lvl="1"/>
            <a:r>
              <a:rPr lang="en-US" dirty="0"/>
              <a:t>Who collected it, who funded it, and who is represented or excluded? Coverage bias systematically omits populations that are harder to reach.</a:t>
            </a:r>
          </a:p>
          <a:p>
            <a:r>
              <a:rPr lang="en-US" dirty="0"/>
              <a:t>What?</a:t>
            </a:r>
          </a:p>
          <a:p>
            <a:pPr lvl="1"/>
            <a:r>
              <a:rPr lang="en-US" dirty="0"/>
              <a:t>What construct is being measured — and is the measurement actually valid? (e.g., GPA measures academic performance, but does it measure learning?)</a:t>
            </a:r>
          </a:p>
          <a:p>
            <a:r>
              <a:rPr lang="en-US" dirty="0"/>
              <a:t>When &amp; Where?</a:t>
            </a:r>
          </a:p>
          <a:p>
            <a:pPr lvl="1"/>
            <a:r>
              <a:rPr lang="en-US" dirty="0"/>
              <a:t>When and where was the data collected (could things have changed since then or be different elsewhere)? </a:t>
            </a:r>
          </a:p>
          <a:p>
            <a:r>
              <a:rPr lang="en-US" dirty="0"/>
              <a:t>Why &amp; How?</a:t>
            </a:r>
          </a:p>
          <a:p>
            <a:pPr lvl="1"/>
            <a:r>
              <a:rPr lang="en-US" dirty="0"/>
              <a:t>Why was the data collected (purpose) and how (methodology)? </a:t>
            </a:r>
          </a:p>
        </p:txBody>
      </p:sp>
    </p:spTree>
    <p:extLst>
      <p:ext uri="{BB962C8B-B14F-4D97-AF65-F5344CB8AC3E}">
        <p14:creationId xmlns:p14="http://schemas.microsoft.com/office/powerpoint/2010/main" val="3760434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FF78-4458-1E3E-FB16-BDA56858C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059" y="1099100"/>
            <a:ext cx="8574741" cy="1325563"/>
          </a:xfrm>
        </p:spPr>
        <p:txBody>
          <a:bodyPr/>
          <a:lstStyle/>
          <a:p>
            <a:r>
              <a:rPr lang="en-US" dirty="0"/>
              <a:t>Ask Questions about the Data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C24F924-624F-FF5B-3398-EA745A8C6E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8779494"/>
              </p:ext>
            </p:extLst>
          </p:nvPr>
        </p:nvGraphicFramePr>
        <p:xfrm>
          <a:off x="838200" y="3015877"/>
          <a:ext cx="10515600" cy="3573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4C67FE5-7350-6A91-D0A3-23B646813C9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024" y="153147"/>
            <a:ext cx="2450353" cy="245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426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7CB3-F7BB-AD71-33B1-AAAE6462B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Examine the Evidence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3AC9C-475C-E5B1-551F-090ADE87F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06" y="2604051"/>
            <a:ext cx="8485094" cy="3572911"/>
          </a:xfrm>
        </p:spPr>
        <p:txBody>
          <a:bodyPr/>
          <a:lstStyle/>
          <a:p>
            <a:r>
              <a:rPr lang="en-US" dirty="0"/>
              <a:t>Scrutinize axes: Is the y-axis truncated? Does it start at zero? What does the scale choice emphasize or conceal?</a:t>
            </a:r>
          </a:p>
          <a:p>
            <a:r>
              <a:rPr lang="en-US" dirty="0"/>
              <a:t>Check methodology disclosures: sample size, response rate, confidence intervals, and p-values are all red flags when missing.</a:t>
            </a:r>
          </a:p>
          <a:p>
            <a:r>
              <a:rPr lang="en-US" dirty="0"/>
              <a:t>When possible, access the raw data: summary statistics flatten distributions and can hide bimodality, heavy tails, or outlier clusters.</a:t>
            </a:r>
          </a:p>
          <a:p>
            <a:r>
              <a:rPr lang="en-US" dirty="0"/>
              <a:t>Distinguish statistical significance from practical significance — a result can be statistically real yet too small to matter in the real world.</a:t>
            </a:r>
          </a:p>
          <a:p>
            <a:r>
              <a:rPr lang="en-US" dirty="0"/>
              <a:t>Build your own interpretation before reading the author’s conclusion — then compare. Where you differ is often where the most interesting analysis lives.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1A440C9-E35C-16B8-48A7-6D1EB98EAC2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77" y="2223247"/>
            <a:ext cx="2761129" cy="414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7181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7E3F-727D-5771-8E0F-24CF7D73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4055"/>
            <a:ext cx="10515600" cy="1325563"/>
          </a:xfrm>
        </p:spPr>
        <p:txBody>
          <a:bodyPr/>
          <a:lstStyle/>
          <a:p>
            <a:r>
              <a:rPr lang="en-US" dirty="0"/>
              <a:t>Consider Context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FD5DC-B7A7-865F-1D8A-2C5A19A71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9618"/>
            <a:ext cx="10515600" cy="3572911"/>
          </a:xfrm>
        </p:spPr>
        <p:txBody>
          <a:bodyPr/>
          <a:lstStyle/>
          <a:p>
            <a:r>
              <a:rPr lang="en-US" dirty="0"/>
              <a:t>Context gives meaning to the data. </a:t>
            </a: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D9AFB372-DBB2-62DC-06B2-50C18C5BF0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6692" y="3023376"/>
            <a:ext cx="3128179" cy="19333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6FAEEC-D56C-3897-E43B-D151988D57E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656782"/>
            <a:ext cx="2540000" cy="2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75DB20-26CD-12FD-456E-94FD5ED5A141}"/>
              </a:ext>
            </a:extLst>
          </p:cNvPr>
          <p:cNvSpPr txBox="1"/>
          <p:nvPr/>
        </p:nvSpPr>
        <p:spPr>
          <a:xfrm>
            <a:off x="510988" y="5196782"/>
            <a:ext cx="33796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ptos" panose="020B0004020202020204" pitchFamily="34" charset="0"/>
                <a:ea typeface="Heebo" pitchFamily="34" charset="-122"/>
                <a:cs typeface="Aparajita" panose="020B0604020202020204" pitchFamily="34" charset="0"/>
              </a:rPr>
              <a:t>The new movie made </a:t>
            </a:r>
            <a:r>
              <a:rPr lang="en-US" b="1" dirty="0">
                <a:latin typeface="Aptos" panose="020B0004020202020204" pitchFamily="34" charset="0"/>
                <a:ea typeface="Heebo" pitchFamily="34" charset="-122"/>
                <a:cs typeface="Aparajita" panose="020B0604020202020204" pitchFamily="34" charset="0"/>
              </a:rPr>
              <a:t>$100M!</a:t>
            </a:r>
          </a:p>
          <a:p>
            <a:endParaRPr lang="en-US" sz="1800" b="1" dirty="0">
              <a:latin typeface="Aptos" panose="020B0004020202020204" pitchFamily="34" charset="0"/>
              <a:ea typeface="Heebo" pitchFamily="34" charset="-122"/>
              <a:cs typeface="Aparajita" panose="020B0604020202020204" pitchFamily="34" charset="0"/>
            </a:endParaRPr>
          </a:p>
          <a:p>
            <a:r>
              <a:rPr lang="en-US" sz="1800" dirty="0">
                <a:latin typeface="Aptos" panose="020B0004020202020204" pitchFamily="34" charset="0"/>
                <a:ea typeface="Heebo" pitchFamily="34" charset="-122"/>
                <a:cs typeface="Aparajita" panose="020B0604020202020204" pitchFamily="34" charset="0"/>
              </a:rPr>
              <a:t>Is $100 million good? Depends on the budget and industry standards.</a:t>
            </a:r>
            <a:endParaRPr lang="en-US" sz="1800" dirty="0">
              <a:latin typeface="Aptos" panose="020B0004020202020204" pitchFamily="34" charset="0"/>
              <a:cs typeface="Aparajita" panose="020B0604020202020204" pitchFamily="34" charset="0"/>
            </a:endParaRPr>
          </a:p>
          <a:p>
            <a:endParaRPr lang="en-US" dirty="0">
              <a:latin typeface="Aptos" panose="020B00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2B5858-F41A-4B02-1523-662ABF669846}"/>
              </a:ext>
            </a:extLst>
          </p:cNvPr>
          <p:cNvSpPr txBox="1"/>
          <p:nvPr/>
        </p:nvSpPr>
        <p:spPr>
          <a:xfrm>
            <a:off x="4056530" y="5134960"/>
            <a:ext cx="30883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 got 75 out 100 from a test.</a:t>
            </a:r>
          </a:p>
          <a:p>
            <a:endParaRPr lang="en-US" dirty="0"/>
          </a:p>
          <a:p>
            <a:r>
              <a:rPr lang="en-US" dirty="0"/>
              <a:t>Is 75/100 good? Depends on the class average and difficulty.</a:t>
            </a:r>
          </a:p>
          <a:p>
            <a:r>
              <a:rPr lang="en-US" b="1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0FC90D-820E-68E1-A99D-41EA0048CC55}"/>
              </a:ext>
            </a:extLst>
          </p:cNvPr>
          <p:cNvSpPr txBox="1"/>
          <p:nvPr/>
        </p:nvSpPr>
        <p:spPr>
          <a:xfrm>
            <a:off x="8195179" y="5134960"/>
            <a:ext cx="34858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1% might be bigger than 50%.</a:t>
            </a:r>
          </a:p>
          <a:p>
            <a:endParaRPr lang="en-US" b="1" dirty="0"/>
          </a:p>
          <a:p>
            <a:r>
              <a:rPr lang="en-US" dirty="0"/>
              <a:t>1% of a city of one million is larger than 50% of a small town with 1,000 population.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93C4FD-8806-EAF7-62FE-505014437E9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55106" y="2145559"/>
            <a:ext cx="2792506" cy="295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58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10825-A582-77CD-1BE9-2860E0B6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61A10-B10B-D921-16C2-87A7A71A0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Claim: “Crime increased 200% this year”</a:t>
            </a:r>
          </a:p>
          <a:p>
            <a:r>
              <a:rPr lang="en-US" dirty="0"/>
              <a:t>Apply the SIFT framework and answer these questions in your group:</a:t>
            </a:r>
          </a:p>
          <a:p>
            <a:r>
              <a:rPr lang="en-US" dirty="0"/>
              <a:t>1. A 200% increase from what baseline? (From 1 incident to 3 is also 200%.)</a:t>
            </a:r>
          </a:p>
          <a:p>
            <a:r>
              <a:rPr lang="en-US" dirty="0"/>
              <a:t>2. Which crime types are included? Violent crime and property crime trend very differently.</a:t>
            </a:r>
          </a:p>
          <a:p>
            <a:r>
              <a:rPr lang="en-US" dirty="0"/>
              <a:t>3. Could reporting rates have changed (e.g., new online reporting system) rather than actual incidents?</a:t>
            </a:r>
          </a:p>
        </p:txBody>
      </p:sp>
    </p:spTree>
    <p:extLst>
      <p:ext uri="{BB962C8B-B14F-4D97-AF65-F5344CB8AC3E}">
        <p14:creationId xmlns:p14="http://schemas.microsoft.com/office/powerpoint/2010/main" val="771554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70E5-B161-F586-A186-B80AD27B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7698"/>
            <a:ext cx="10515600" cy="781592"/>
          </a:xfrm>
        </p:spPr>
        <p:txBody>
          <a:bodyPr/>
          <a:lstStyle/>
          <a:p>
            <a:r>
              <a:rPr lang="en-US" dirty="0"/>
              <a:t>Be Aware of Confirmation Bias </a:t>
            </a: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667953AB-999F-C24C-8485-9FC2D024A28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676" y="1952228"/>
            <a:ext cx="3378597" cy="2252365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08C07A42-92A0-3FFC-A010-21BEAFDA7339}"/>
              </a:ext>
            </a:extLst>
          </p:cNvPr>
          <p:cNvSpPr/>
          <p:nvPr/>
        </p:nvSpPr>
        <p:spPr>
          <a:xfrm>
            <a:off x="599677" y="4399161"/>
            <a:ext cx="2162473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dirty="0">
                <a:latin typeface="Aptos" panose="020B0004020202020204" pitchFamily="34" charset="0"/>
                <a:ea typeface="Crimson Pro Semi Bold" pitchFamily="34" charset="-122"/>
                <a:cs typeface="Crimson Pro Semi Bold" pitchFamily="34" charset="-120"/>
              </a:rPr>
              <a:t>What Is It?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C778C84-8CA2-7F6A-4E51-1781FC92D9B2}"/>
              </a:ext>
            </a:extLst>
          </p:cNvPr>
          <p:cNvSpPr/>
          <p:nvPr/>
        </p:nvSpPr>
        <p:spPr>
          <a:xfrm>
            <a:off x="599676" y="4842470"/>
            <a:ext cx="3378597" cy="1669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A cognitive bias where we preferentially seek, interpret, and remember information consistent with our pre-existing beliefs — even when contradictory evidence is equally available.</a:t>
            </a:r>
          </a:p>
          <a:p>
            <a:endParaRPr lang="en-US" sz="1600" dirty="0">
              <a:latin typeface="Aptos" panose="020B0004020202020204" pitchFamily="34" charset="0"/>
              <a:ea typeface="Heebo" pitchFamily="34" charset="-122"/>
              <a:cs typeface="Heebo" pitchFamily="34" charset="-120"/>
            </a:endParaRPr>
          </a:p>
          <a:p>
            <a:r>
              <a:rPr lang="en-US" sz="1600" dirty="0"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Related: motivated reasoning — where the conclusion is decided first and “evidence” is gathered to support it rather than to test it.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2AA05E84-F18D-DDE8-47F8-02C9CFBBAB1E}"/>
              </a:ext>
            </a:extLst>
          </p:cNvPr>
          <p:cNvSpPr/>
          <p:nvPr/>
        </p:nvSpPr>
        <p:spPr>
          <a:xfrm>
            <a:off x="599676" y="5828606"/>
            <a:ext cx="3378597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71E8139-221D-A38A-5773-4E866D09274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6701" y="1952228"/>
            <a:ext cx="3378597" cy="2252365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483BB2C0-9BA1-B03B-7517-88445867E971}"/>
              </a:ext>
            </a:extLst>
          </p:cNvPr>
          <p:cNvSpPr/>
          <p:nvPr/>
        </p:nvSpPr>
        <p:spPr>
          <a:xfrm>
            <a:off x="4406701" y="4399161"/>
            <a:ext cx="2162473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dirty="0">
                <a:latin typeface="Aptos" panose="020B0004020202020204" pitchFamily="34" charset="0"/>
                <a:ea typeface="Crimson Pro Semi Bold" pitchFamily="34" charset="-122"/>
                <a:cs typeface="Crimson Pro Semi Bold" pitchFamily="34" charset="-120"/>
              </a:rPr>
              <a:t>Example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75A5A52E-78E4-3927-9457-DB8E4B363C50}"/>
              </a:ext>
            </a:extLst>
          </p:cNvPr>
          <p:cNvSpPr/>
          <p:nvPr/>
        </p:nvSpPr>
        <p:spPr>
          <a:xfrm>
            <a:off x="4406701" y="4842470"/>
            <a:ext cx="3378597" cy="1669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A researcher who believes social media causes depression may only publish studies that confirm it — this is publication bias, a systemic form of confirmation bias in science.</a:t>
            </a:r>
          </a:p>
          <a:p>
            <a:r>
              <a:rPr lang="en-US" sz="1600" dirty="0"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The backfire effect: when shown contradictory evidence, people sometimes strengthen their original belief rather than update it.</a:t>
            </a:r>
            <a:endParaRPr lang="en-US" sz="1600" dirty="0">
              <a:latin typeface="Aptos" panose="020B0004020202020204" pitchFamily="34" charset="0"/>
            </a:endParaRPr>
          </a:p>
          <a:p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F935BA9-BDCE-E0CC-5BAA-41BE8A360A4C}"/>
              </a:ext>
            </a:extLst>
          </p:cNvPr>
          <p:cNvSpPr/>
          <p:nvPr/>
        </p:nvSpPr>
        <p:spPr>
          <a:xfrm>
            <a:off x="4406701" y="5828606"/>
            <a:ext cx="3378597" cy="830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C6ACD858-686B-9BF3-EBC0-684045AD887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3724" y="1952228"/>
            <a:ext cx="3378597" cy="2252365"/>
          </a:xfrm>
          <a:prstGeom prst="rect">
            <a:avLst/>
          </a:prstGeom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58FC4294-185C-9241-0E5D-A0F718C981FE}"/>
              </a:ext>
            </a:extLst>
          </p:cNvPr>
          <p:cNvSpPr/>
          <p:nvPr/>
        </p:nvSpPr>
        <p:spPr>
          <a:xfrm>
            <a:off x="8213724" y="4399161"/>
            <a:ext cx="2162473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dirty="0">
                <a:latin typeface="Aptos" panose="020B0004020202020204" pitchFamily="34" charset="0"/>
                <a:ea typeface="Crimson Pro Semi Bold" pitchFamily="34" charset="-122"/>
                <a:cs typeface="Crimson Pro Semi Bold" pitchFamily="34" charset="-120"/>
              </a:rPr>
              <a:t>How to Combat It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DBFF322F-7833-7418-3F83-70ADFA327B74}"/>
              </a:ext>
            </a:extLst>
          </p:cNvPr>
          <p:cNvSpPr/>
          <p:nvPr/>
        </p:nvSpPr>
        <p:spPr>
          <a:xfrm>
            <a:off x="8213724" y="4842470"/>
            <a:ext cx="3378597" cy="1424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Practice “steel-manning”: construct the strongest possible version of the opposing view before dismissing it.</a:t>
            </a:r>
          </a:p>
          <a:p>
            <a:endParaRPr lang="en-US" sz="1600" dirty="0">
              <a:latin typeface="Aptos" panose="020B0004020202020204" pitchFamily="34" charset="0"/>
              <a:ea typeface="Heebo" pitchFamily="34" charset="-122"/>
              <a:cs typeface="Heebo" pitchFamily="34" charset="-120"/>
            </a:endParaRPr>
          </a:p>
          <a:p>
            <a:r>
              <a:rPr lang="en-US" sz="1600" dirty="0"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Pre-mortem thinking: before accepting a result, ask “How could this be wrong?” — a technique used by scientists, auditors, and intelligence analysts.</a:t>
            </a:r>
            <a:endParaRPr lang="en-US" sz="1600" dirty="0">
              <a:latin typeface="Aptos" panose="020B0004020202020204" pitchFamily="34" charset="0"/>
            </a:endParaRPr>
          </a:p>
          <a:p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12A58A0F-F932-AFBC-9E72-6A4307E5EA0F}"/>
              </a:ext>
            </a:extLst>
          </p:cNvPr>
          <p:cNvSpPr/>
          <p:nvPr/>
        </p:nvSpPr>
        <p:spPr>
          <a:xfrm>
            <a:off x="8213724" y="5551785"/>
            <a:ext cx="3378597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0264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8D3F-D49E-CD61-9644-6396D5D3C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354400" cy="1371600"/>
          </a:xfrm>
        </p:spPr>
        <p:txBody>
          <a:bodyPr/>
          <a:lstStyle/>
          <a:p>
            <a:r>
              <a:rPr lang="en-US" dirty="0"/>
              <a:t>Use Logical Reasoning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37838" y="1909690"/>
            <a:ext cx="8473067" cy="4537733"/>
          </a:xfrm>
        </p:spPr>
        <p:txBody>
          <a:bodyPr>
            <a:normAutofit/>
          </a:bodyPr>
          <a:lstStyle/>
          <a:p>
            <a:r>
              <a:rPr lang="en-US" sz="2000" b="1" dirty="0"/>
              <a:t>Deductive vs. Inductive Reasoning</a:t>
            </a:r>
          </a:p>
          <a:p>
            <a:r>
              <a:rPr lang="en-US" sz="1700" dirty="0"/>
              <a:t>Deductive: Start with a general rule, apply it to a specific case. Valid logic + true premises = certain conclusion.</a:t>
            </a:r>
          </a:p>
          <a:p>
            <a:r>
              <a:rPr lang="en-US" sz="1700" dirty="0"/>
              <a:t>Inductive: Observe specific cases and generalize — the foundation of data science. Conclusions are probabilistic, never certain.</a:t>
            </a:r>
          </a:p>
          <a:p>
            <a:r>
              <a:rPr lang="en-US" sz="2000" b="1" dirty="0"/>
              <a:t>Establishing Causation (Not Just Correlation)</a:t>
            </a:r>
          </a:p>
          <a:p>
            <a:r>
              <a:rPr lang="en-US" sz="1700" dirty="0"/>
              <a:t>Three requirements: temporal order (cause precedes effect), covariation (they move together), and elimination of confounders (no third variable explains both).</a:t>
            </a:r>
          </a:p>
          <a:p>
            <a:r>
              <a:rPr lang="en-US" sz="1700" dirty="0"/>
              <a:t>Randomized controlled experiments are the gold standard — observational data alone rarely establishes causation.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0D93481-D8D0-42ED-A1AE-D5DD1D9B76B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3045" y="1734016"/>
            <a:ext cx="2798955" cy="419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08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A02DE-9008-3980-EEE1-A301173BE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FE566-E4C0-1FF3-644B-BD082BB45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7447156" cy="3572911"/>
          </a:xfrm>
        </p:spPr>
        <p:txBody>
          <a:bodyPr/>
          <a:lstStyle/>
          <a:p>
            <a:r>
              <a:rPr lang="en-US" dirty="0"/>
              <a:t>Claim: </a:t>
            </a:r>
            <a:r>
              <a:rPr lang="en-US" i="1" dirty="0"/>
              <a:t>Teenagers spend 6 hours a day on phones</a:t>
            </a:r>
            <a:r>
              <a:rPr lang="en-US" dirty="0"/>
              <a:t>.</a:t>
            </a:r>
          </a:p>
          <a:p>
            <a:r>
              <a:rPr lang="en-US" dirty="0"/>
              <a:t>As a data detective what questions would you ask about the data behind it? </a:t>
            </a:r>
          </a:p>
          <a:p>
            <a:r>
              <a:rPr lang="en-US" dirty="0"/>
              <a:t>1. Operationalization: What counts as “on a phone”? Active use only? Screen-on time? Music playing in pocket?</a:t>
            </a:r>
          </a:p>
          <a:p>
            <a:r>
              <a:rPr lang="en-US" dirty="0"/>
              <a:t>2. Measurement method: Self-report surveys vs. screen-time app data — which is more accurate, and why might each be biased?</a:t>
            </a:r>
          </a:p>
          <a:p>
            <a:r>
              <a:rPr lang="en-US" dirty="0"/>
              <a:t>3. Population: Which teenagers? Age range, geography, socioeconomic background? A global average would look very different from a US suburban average.</a:t>
            </a:r>
          </a:p>
          <a:p>
            <a:r>
              <a:rPr lang="en-US" dirty="0"/>
              <a:t>4. Distribution: Is 6 hours the mean or median? If a small number of heavy users skew the mean, the median might be 3 hours — a very different story.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F117B8-8FC5-0B34-A510-5A0AD759DEC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9037" y="1602678"/>
            <a:ext cx="33782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8778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671F-14BA-70D0-1D6C-30A507692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F95B3-5D05-13F6-5D0C-2B506E32A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Work in groups to find a data-backed claim from a news article, research summary, or advertisement. Apply a full methodological audit:</a:t>
            </a:r>
          </a:p>
          <a:p>
            <a:r>
              <a:rPr lang="en-US" dirty="0"/>
              <a:t>Methodology Evaluation Rubric:</a:t>
            </a:r>
          </a:p>
          <a:p>
            <a:pPr lvl="1"/>
            <a:r>
              <a:rPr lang="en-US" dirty="0"/>
              <a:t>1. Source &amp; Credibility: Who produced this? What are their incentives? Is this peer-reviewed, journalism, or marketing?</a:t>
            </a:r>
          </a:p>
          <a:p>
            <a:pPr lvl="1"/>
            <a:r>
              <a:rPr lang="en-US" dirty="0"/>
              <a:t>2. Methodology: How was the data collected? What was the sample size, sampling method, and response rate?</a:t>
            </a:r>
          </a:p>
          <a:p>
            <a:pPr lvl="1"/>
            <a:r>
              <a:rPr lang="en-US" dirty="0"/>
              <a:t>3. Operationalization: How were key terms defined and measured? Could a different definition change the result?</a:t>
            </a:r>
          </a:p>
          <a:p>
            <a:pPr lvl="1"/>
            <a:r>
              <a:rPr lang="en-US" dirty="0"/>
              <a:t>4. Confounders &amp; Alternative Explanations: What third variables might explain the relationship? Is causation being implied from correlation?</a:t>
            </a:r>
          </a:p>
          <a:p>
            <a:pPr lvl="1"/>
            <a:r>
              <a:rPr lang="en-US" dirty="0"/>
              <a:t>5. Verdict: On a scale of 1–5, how reliable is this claim? What would it take to move the rating up one point?</a:t>
            </a:r>
          </a:p>
          <a:p>
            <a:r>
              <a:rPr lang="en-US" dirty="0"/>
              <a:t>Deliverable: A 1-page audit report using the rubric above. Be prepared to present your verdict and defend it.</a:t>
            </a:r>
          </a:p>
        </p:txBody>
      </p:sp>
    </p:spTree>
    <p:extLst>
      <p:ext uri="{BB962C8B-B14F-4D97-AF65-F5344CB8AC3E}">
        <p14:creationId xmlns:p14="http://schemas.microsoft.com/office/powerpoint/2010/main" val="2812446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B7458-F3EA-ED58-E771-4000FB682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Journey Ahead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01444" y="2297152"/>
            <a:ext cx="11374244" cy="3879812"/>
          </a:xfrm>
        </p:spPr>
        <p:txBody>
          <a:bodyPr>
            <a:normAutofit/>
          </a:bodyPr>
          <a:lstStyle/>
          <a:p>
            <a:r>
              <a:rPr lang="en-US" sz="2000" b="1" dirty="0"/>
              <a:t>You’ve built the mindset. Now build the toolkit.</a:t>
            </a:r>
          </a:p>
          <a:p>
            <a:r>
              <a:rPr lang="en-US" sz="1700" dirty="0"/>
              <a:t>Coming up: we move from analyzing data manually to writing code that does it for you — and then to working alongside AI coding agents that can accelerate your analysis.</a:t>
            </a:r>
          </a:p>
          <a:p>
            <a:r>
              <a:rPr lang="en-US" sz="2000" b="1" dirty="0"/>
              <a:t>The Road Ahead</a:t>
            </a:r>
          </a:p>
          <a:p>
            <a:r>
              <a:rPr lang="en-US" sz="1700" dirty="0"/>
              <a:t>Chapter 2: Data Wrangling — loading, cleaning, and reshaping datasets with Python/pandas</a:t>
            </a:r>
          </a:p>
          <a:p>
            <a:r>
              <a:rPr lang="en-US" sz="1700" dirty="0"/>
              <a:t>Chapter 3: Visualization — translating data into charts that reveal (and sometimes deceive)</a:t>
            </a:r>
          </a:p>
          <a:p>
            <a:r>
              <a:rPr lang="en-US" sz="1700" dirty="0"/>
              <a:t>Chapter 4: Coding Agents — using AI as a collaborator to write, debug, and extend your analysis code</a:t>
            </a:r>
          </a:p>
          <a:p>
            <a:r>
              <a:rPr lang="en-US" sz="1700" dirty="0"/>
              <a:t>The skills you practiced today — skepticism, source evaluation, causal reasoning — are exactly what make you an effective partner with an AI agent.</a:t>
            </a:r>
          </a:p>
        </p:txBody>
      </p:sp>
    </p:spTree>
    <p:extLst>
      <p:ext uri="{BB962C8B-B14F-4D97-AF65-F5344CB8AC3E}">
        <p14:creationId xmlns:p14="http://schemas.microsoft.com/office/powerpoint/2010/main" val="33690256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B6532-19FA-1959-F998-BC708D3B1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Bonus: Code It Yourself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F4618-C3B8-41FE-0037-EEB0FBEBA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 class screen-time data, then open a Python notebook and load your numbers into a list. Calculate the mean, median, and standard deviation — compare your manual answer to Python’s output.</a:t>
            </a:r>
          </a:p>
          <a:p>
            <a:r>
              <a:rPr lang="en-US" dirty="0"/>
              <a:t>Calculate the </a:t>
            </a:r>
            <a:r>
              <a:rPr lang="en-US" b="1" dirty="0"/>
              <a:t>mean and median</a:t>
            </a:r>
            <a:r>
              <a:rPr lang="en-US" dirty="0"/>
              <a:t>. Did an outlier (like someone who said “12 hours”) affect the mean?</a:t>
            </a:r>
          </a:p>
          <a:p>
            <a:r>
              <a:rPr lang="en-US" dirty="0"/>
              <a:t>Use matplotlib to plot the same data twice: once with a full y-axis (starting at 0) and once truncated. Screenshot both — how different do they look? This is the y-axis manipulation you saw earlier, now in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9539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3193-FA3B-0EC6-3E0A-FD87E85A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07DBD-DFF0-F017-28B4-3AC4AD3D6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954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Introduction – Thinking Like a Data Detective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Coding Agents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9038" y="457200"/>
            <a:ext cx="7624762" cy="1714500"/>
          </a:xfrm>
        </p:spPr>
        <p:txBody>
          <a:bodyPr/>
          <a:lstStyle/>
          <a:p>
            <a:r>
              <a:rPr lang="en-US" dirty="0"/>
              <a:t>What Is a Coding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9036" y="2286000"/>
            <a:ext cx="7624763" cy="3657600"/>
          </a:xfrm>
        </p:spPr>
        <p:txBody>
          <a:bodyPr>
            <a:normAutofit/>
          </a:bodyPr>
          <a:lstStyle/>
          <a:p>
            <a:r>
              <a:rPr lang="en-US" sz="1900" dirty="0"/>
              <a:t>A coding agent is an AI system that reads instructions in plain English, writes code to carry them out, runs that code, observes the results, and iterates — all in a loop.</a:t>
            </a:r>
          </a:p>
          <a:p>
            <a:r>
              <a:rPr lang="en-US" sz="1900" b="1" dirty="0"/>
              <a:t>How it differs from a regular chatbot:</a:t>
            </a:r>
          </a:p>
          <a:p>
            <a:r>
              <a:rPr lang="en-US" sz="1800" dirty="0"/>
              <a:t>Chatbot: answers questions with text. Coding agent: executes real code and returns real outputs.</a:t>
            </a:r>
          </a:p>
          <a:p>
            <a:r>
              <a:rPr lang="en-US" sz="1800" dirty="0"/>
              <a:t>Chatbot: one-shot response. Coding agent: multi-step loop (plan → code → run → check → revise).</a:t>
            </a:r>
          </a:p>
          <a:p>
            <a:r>
              <a:rPr lang="en-US" sz="1900" b="1" dirty="0"/>
              <a:t>What coding agents can do for data analysis:</a:t>
            </a:r>
          </a:p>
          <a:p>
            <a:r>
              <a:rPr lang="en-US" sz="1800" dirty="0"/>
              <a:t>Load and clean messy datasets, compute statistics, generate visualizations, and explain every step of the code it writes.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9038" y="457200"/>
            <a:ext cx="7624762" cy="1714500"/>
          </a:xfrm>
        </p:spPr>
        <p:txBody>
          <a:bodyPr/>
          <a:lstStyle/>
          <a:p>
            <a:r>
              <a:rPr lang="en-US" dirty="0"/>
              <a:t>How a Coding Agent Thinks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9036" y="2286000"/>
            <a:ext cx="7624763" cy="3657600"/>
          </a:xfrm>
        </p:spPr>
        <p:txBody>
          <a:bodyPr>
            <a:normAutofit/>
          </a:bodyPr>
          <a:lstStyle/>
          <a:p>
            <a:r>
              <a:rPr lang="en-US" sz="2000" b="1" dirty="0"/>
              <a:t>The Agent Loop</a:t>
            </a:r>
          </a:p>
          <a:p>
            <a:r>
              <a:rPr lang="en-US" sz="1800" dirty="0"/>
              <a:t>1. Understand: Parse your goal from natural language into a concrete task.</a:t>
            </a:r>
          </a:p>
          <a:p>
            <a:r>
              <a:rPr lang="en-US" sz="1800" dirty="0"/>
              <a:t>2. Plan: Break the task into sub-steps (e.g., load data → filter rows → compute mean → plot).</a:t>
            </a:r>
          </a:p>
          <a:p>
            <a:r>
              <a:rPr lang="en-US" sz="1800" dirty="0"/>
              <a:t>3. Code: Write Python (or another language) to execute each sub-step.</a:t>
            </a:r>
          </a:p>
          <a:p>
            <a:r>
              <a:rPr lang="en-US" sz="1800" dirty="0"/>
              <a:t>4. Execute: Run the code and capture any outputs, errors, or warnings.</a:t>
            </a:r>
          </a:p>
          <a:p>
            <a:r>
              <a:rPr lang="en-US" sz="1800" dirty="0"/>
              <a:t>5. Reflect: If an error occurred or output looks wrong, revise the code and retry.</a:t>
            </a:r>
          </a:p>
          <a:p>
            <a:r>
              <a:rPr lang="en-US" sz="2000" b="1" dirty="0"/>
              <a:t>Why this matters for you:</a:t>
            </a:r>
          </a:p>
          <a:p>
            <a:r>
              <a:rPr lang="en-US" sz="1800" dirty="0"/>
              <a:t>You direct the agent with your analytical judgment. The agent handles syntax. Together you move much faster than either alone.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9038" y="457200"/>
            <a:ext cx="7624762" cy="1714500"/>
          </a:xfrm>
        </p:spPr>
        <p:txBody>
          <a:bodyPr/>
          <a:lstStyle/>
          <a:p>
            <a:r>
              <a:rPr lang="en-US" dirty="0"/>
              <a:t>You Are Still the Detective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9036" y="2286000"/>
            <a:ext cx="7624763" cy="3657600"/>
          </a:xfrm>
        </p:spPr>
        <p:txBody>
          <a:bodyPr>
            <a:normAutofit/>
          </a:bodyPr>
          <a:lstStyle/>
          <a:p>
            <a:r>
              <a:rPr lang="en-US" sz="2000" b="1" dirty="0"/>
              <a:t>The agent is a tool, not the analyst</a:t>
            </a:r>
          </a:p>
          <a:p>
            <a:r>
              <a:rPr lang="en-US" sz="1800" dirty="0"/>
              <a:t>A coding agent will do exactly what you ask — even if what you asked was the wrong question. Garbage in, garbage out still applies.</a:t>
            </a:r>
          </a:p>
          <a:p>
            <a:r>
              <a:rPr lang="en-US" sz="1800" dirty="0"/>
              <a:t>It can compute a correlation coefficient in seconds. It cannot tell you whether the correlation is meaningful without your domain knowledge.</a:t>
            </a:r>
          </a:p>
          <a:p>
            <a:r>
              <a:rPr lang="en-US" sz="2000" b="1" dirty="0"/>
              <a:t>Your critical thinking skills are non-negotiable:</a:t>
            </a:r>
          </a:p>
          <a:p>
            <a:r>
              <a:rPr lang="en-US" sz="1800" dirty="0"/>
              <a:t>You must frame the right question — the agent cannot know what you are actually trying to understand.</a:t>
            </a:r>
          </a:p>
          <a:p>
            <a:r>
              <a:rPr lang="en-US" sz="1800" dirty="0"/>
              <a:t>You must evaluate the output — check that results are plausible, the right columns were used, and no silent errors occurred.</a:t>
            </a:r>
          </a:p>
          <a:p>
            <a:r>
              <a:rPr lang="en-US" sz="1800" dirty="0"/>
              <a:t>You must interpret the findings — statistical output has no meaning until a human connects it to the real world.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9038" y="457200"/>
            <a:ext cx="7624762" cy="1714500"/>
          </a:xfrm>
        </p:spPr>
        <p:txBody>
          <a:bodyPr/>
          <a:lstStyle/>
          <a:p>
            <a:r>
              <a:rPr lang="en-US" dirty="0"/>
              <a:t>Prompting a Coding Agent Effectively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9036" y="2286000"/>
            <a:ext cx="7624763" cy="3657600"/>
          </a:xfrm>
        </p:spPr>
        <p:txBody>
          <a:bodyPr>
            <a:normAutofit/>
          </a:bodyPr>
          <a:lstStyle/>
          <a:p>
            <a:r>
              <a:rPr lang="en-US" sz="1900" b="1" dirty="0"/>
              <a:t>The quality of your output depends on the quality of your prompt</a:t>
            </a:r>
          </a:p>
          <a:p>
            <a:r>
              <a:rPr lang="en-US" sz="1800" dirty="0"/>
              <a:t>Weak: “Analyze this data.”  Strong: “Load the CSV, show me the first 5 rows, then compute the mean and median of the sleep column and flag any values below 4 hours as outliers.”</a:t>
            </a:r>
          </a:p>
          <a:p>
            <a:r>
              <a:rPr lang="en-US" sz="1900" b="1" dirty="0"/>
              <a:t>Prompt best practices:</a:t>
            </a:r>
          </a:p>
          <a:p>
            <a:r>
              <a:rPr lang="en-US" sz="1800" dirty="0"/>
              <a:t>1. Specify the task precisely: what column, what operation, what output format.</a:t>
            </a:r>
          </a:p>
          <a:p>
            <a:r>
              <a:rPr lang="en-US" sz="1800" dirty="0"/>
              <a:t>2. Give context: explain what the data represents and what question you’re trying to answer.</a:t>
            </a:r>
          </a:p>
          <a:p>
            <a:r>
              <a:rPr lang="en-US" sz="1800" dirty="0"/>
              <a:t>3. Ask for explanations: “Explain what each line of the code does” turns every analysis into a learning opportunity.</a:t>
            </a:r>
          </a:p>
          <a:p>
            <a:r>
              <a:rPr lang="en-US" sz="1800" dirty="0"/>
              <a:t>4. Challenge its output: “Is this the right chart type for this data?” or “What assumptions does this method make?”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9038" y="457200"/>
            <a:ext cx="7624762" cy="1714500"/>
          </a:xfrm>
        </p:spPr>
        <p:txBody>
          <a:bodyPr/>
          <a:lstStyle/>
          <a:p>
            <a:r>
              <a:rPr lang="en-US" sz="3200" dirty="0"/>
              <a:t>Hands-On: Agent-Assisted Data Investigation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9036" y="2286000"/>
            <a:ext cx="7624763" cy="3657600"/>
          </a:xfrm>
        </p:spPr>
        <p:txBody>
          <a:bodyPr>
            <a:normAutofit/>
          </a:bodyPr>
          <a:lstStyle/>
          <a:p>
            <a:r>
              <a:rPr lang="en-US" sz="2000" b="1" dirty="0"/>
              <a:t>Activity (small groups, 20 minutes)</a:t>
            </a:r>
          </a:p>
          <a:p>
            <a:r>
              <a:rPr lang="en-US" sz="1800" dirty="0"/>
              <a:t>You will use a coding agent to investigate a real dataset. Your job is to direct the agent, evaluate its outputs, and draw conclusions.</a:t>
            </a:r>
          </a:p>
          <a:p>
            <a:r>
              <a:rPr lang="en-US" sz="1900" b="1" dirty="0"/>
              <a:t>Step 1 — Pose a question:</a:t>
            </a:r>
          </a:p>
          <a:p>
            <a:r>
              <a:rPr lang="en-US" sz="1800" dirty="0"/>
              <a:t>Choose a question your group cares about (e.g., “Is there a relationship between hours of sleep and GPA in this dataset?”).</a:t>
            </a:r>
          </a:p>
          <a:p>
            <a:r>
              <a:rPr lang="en-US" sz="1900" b="1" dirty="0"/>
              <a:t>Step 2 — Direct the agent:</a:t>
            </a:r>
          </a:p>
          <a:p>
            <a:r>
              <a:rPr lang="en-US" sz="1800" dirty="0"/>
              <a:t>Write a precise prompt asking it to load the data, compute the relevant statistics, and produce a scatter plot.</a:t>
            </a:r>
          </a:p>
          <a:p>
            <a:r>
              <a:rPr lang="en-US" sz="1900" b="1" dirty="0"/>
              <a:t>Step 3 — Evaluate and challenge:</a:t>
            </a:r>
          </a:p>
          <a:p>
            <a:r>
              <a:rPr lang="en-US" sz="1800" dirty="0"/>
              <a:t>Is the output correct? Are there outliers? Does the chart tell the right story? Ask the agent to adjust and explain its reasoning.</a:t>
            </a:r>
          </a:p>
          <a:p>
            <a:r>
              <a:rPr lang="en-US" sz="1900" b="1" dirty="0"/>
              <a:t>Step 4 — Present your verdict:</a:t>
            </a:r>
          </a:p>
          <a:p>
            <a:r>
              <a:rPr lang="en-US" sz="1800" dirty="0"/>
              <a:t>What does the data support? What does it not support? What would you need to strengthen the claim?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8320</TotalTime>
  <Words>3963</Words>
  <Application>Microsoft Office PowerPoint</Application>
  <PresentationFormat>Widescreen</PresentationFormat>
  <Paragraphs>355</Paragraphs>
  <Slides>47</Slides>
  <Notes>12</Notes>
  <HiddenSlides>5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Aptos</vt:lpstr>
      <vt:lpstr>Aptos Display</vt:lpstr>
      <vt:lpstr>Arial</vt:lpstr>
      <vt:lpstr>Calibri</vt:lpstr>
      <vt:lpstr>Crimson Pro Semi Bold</vt:lpstr>
      <vt:lpstr>Heebo</vt:lpstr>
      <vt:lpstr>Helvetica Neue</vt:lpstr>
      <vt:lpstr>Play</vt:lpstr>
      <vt:lpstr>Symbol</vt:lpstr>
      <vt:lpstr>Office Theme</vt:lpstr>
      <vt:lpstr>Chapter 1: Introduction – Thinking Like a Data Detective </vt:lpstr>
      <vt:lpstr>Thinking Like a Data Detective</vt:lpstr>
      <vt:lpstr>Data in Everyday Life – Why Data Matters</vt:lpstr>
      <vt:lpstr>What Is a “Data Detective”?</vt:lpstr>
      <vt:lpstr>What would Data Detective ask?</vt:lpstr>
      <vt:lpstr>Chapter 1: Introduction – Thinking Like a Data Detective </vt:lpstr>
      <vt:lpstr>The Perils of "Face Value"</vt:lpstr>
      <vt:lpstr>Pay Attention to What You See</vt:lpstr>
      <vt:lpstr>Misleading scales</vt:lpstr>
      <vt:lpstr>Can you spot the issue with this plot?</vt:lpstr>
      <vt:lpstr>Misleading Scales </vt:lpstr>
      <vt:lpstr>Skewed Averages - Example of Stat Land </vt:lpstr>
      <vt:lpstr>Cherry picking data</vt:lpstr>
      <vt:lpstr>Chapter 1: Introduction – Thinking Like a Data Detective </vt:lpstr>
      <vt:lpstr>The Mindset of a Data Detective: Curiosity and Skepticism</vt:lpstr>
      <vt:lpstr>The school newspaper claim </vt:lpstr>
      <vt:lpstr>Chocolate mystery</vt:lpstr>
      <vt:lpstr>Ice Cream and Drowning - classic case of misinterpreting data </vt:lpstr>
      <vt:lpstr>The Mindset of a Data Detective</vt:lpstr>
      <vt:lpstr>Cultivating Curiosity</vt:lpstr>
      <vt:lpstr>Practicing Skepticism</vt:lpstr>
      <vt:lpstr>The SIFT Framework for Evaluating Claims</vt:lpstr>
      <vt:lpstr>What is reliable?</vt:lpstr>
      <vt:lpstr>Chapter 1: Introduction – Thinking Like a Data Detective </vt:lpstr>
      <vt:lpstr>Basic Data Terminology</vt:lpstr>
      <vt:lpstr>How to read a dataset</vt:lpstr>
      <vt:lpstr>Let’s Explore a Dataset</vt:lpstr>
      <vt:lpstr>Chapter 1: Introduction – Thinking Like a Data Detective </vt:lpstr>
      <vt:lpstr>Becoming a Critical Thinker with Data</vt:lpstr>
      <vt:lpstr>Ask Questions about the Data </vt:lpstr>
      <vt:lpstr>Ask Questions about the Data </vt:lpstr>
      <vt:lpstr>Examine the Evidence </vt:lpstr>
      <vt:lpstr>Consider Context </vt:lpstr>
      <vt:lpstr>Challenge</vt:lpstr>
      <vt:lpstr>Be Aware of Confirmation Bias </vt:lpstr>
      <vt:lpstr>Use Logical Reasoning </vt:lpstr>
      <vt:lpstr>Challenge</vt:lpstr>
      <vt:lpstr>Assignment</vt:lpstr>
      <vt:lpstr>The Journey Ahead</vt:lpstr>
      <vt:lpstr>Bonus: Code It Yourself</vt:lpstr>
      <vt:lpstr>PowerPoint Presentation</vt:lpstr>
      <vt:lpstr>Chapter 1: Introduction – Thinking Like a Data Detective</vt:lpstr>
      <vt:lpstr>What Is a Coding Agent?</vt:lpstr>
      <vt:lpstr>How a Coding Agent Thinks</vt:lpstr>
      <vt:lpstr>You Are Still the Detective</vt:lpstr>
      <vt:lpstr>Prompting a Coding Agent Effectively</vt:lpstr>
      <vt:lpstr>Hands-On: Agent-Assisted Data Investigation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Yin</dc:creator>
  <cp:lastModifiedBy>Burhan Ogut</cp:lastModifiedBy>
  <cp:revision>18</cp:revision>
  <dcterms:created xsi:type="dcterms:W3CDTF">2025-04-09T18:08:05Z</dcterms:created>
  <dcterms:modified xsi:type="dcterms:W3CDTF">2026-04-19T22:38:55Z</dcterms:modified>
</cp:coreProperties>
</file>