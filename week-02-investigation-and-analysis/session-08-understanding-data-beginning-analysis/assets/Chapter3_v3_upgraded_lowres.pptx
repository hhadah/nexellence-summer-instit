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7" r:id="rId2"/>
    <p:sldId id="260" r:id="rId3"/>
    <p:sldId id="263" r:id="rId4"/>
    <p:sldId id="264" r:id="rId5"/>
    <p:sldId id="265" r:id="rId6"/>
    <p:sldId id="266" r:id="rId7"/>
    <p:sldId id="267" r:id="rId8"/>
    <p:sldId id="268" r:id="rId9"/>
    <p:sldId id="269" r:id="rId10"/>
    <p:sldId id="270" r:id="rId11"/>
    <p:sldId id="272" r:id="rId12"/>
    <p:sldId id="273" r:id="rId13"/>
    <p:sldId id="274" r:id="rId14"/>
    <p:sldId id="275" r:id="rId15"/>
    <p:sldId id="271" r:id="rId16"/>
    <p:sldId id="276" r:id="rId17"/>
    <p:sldId id="277" r:id="rId18"/>
    <p:sldId id="281" r:id="rId19"/>
    <p:sldId id="278" r:id="rId20"/>
    <p:sldId id="279" r:id="rId21"/>
    <p:sldId id="280"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5" r:id="rId35"/>
    <p:sldId id="298" r:id="rId36"/>
    <p:sldId id="296" r:id="rId37"/>
    <p:sldId id="299" r:id="rId38"/>
    <p:sldId id="302" r:id="rId39"/>
    <p:sldId id="303" r:id="rId40"/>
    <p:sldId id="304" r:id="rId41"/>
    <p:sldId id="301" r:id="rId42"/>
    <p:sldId id="305" r:id="rId43"/>
    <p:sldId id="306" r:id="rId44"/>
    <p:sldId id="308" r:id="rId45"/>
    <p:sldId id="309" r:id="rId46"/>
    <p:sldId id="310" r:id="rId47"/>
    <p:sldId id="312" r:id="rId48"/>
    <p:sldId id="313" r:id="rId49"/>
    <p:sldId id="314" r:id="rId50"/>
    <p:sldId id="315" r:id="rId51"/>
    <p:sldId id="316" r:id="rId52"/>
    <p:sldId id="318" r:id="rId53"/>
    <p:sldId id="319" r:id="rId54"/>
    <p:sldId id="320" r:id="rId55"/>
    <p:sldId id="311" r:id="rId56"/>
    <p:sldId id="259" r:id="rId57"/>
    <p:sldId id="321" r:id="rId58"/>
    <p:sldId id="322" r:id="rId59"/>
    <p:sldId id="323" r:id="rId60"/>
    <p:sldId id="324" r:id="rId61"/>
    <p:sldId id="325"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6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83" autoAdjust="0"/>
    <p:restoredTop sz="95782" autoAdjust="0"/>
  </p:normalViewPr>
  <p:slideViewPr>
    <p:cSldViewPr snapToGrid="0">
      <p:cViewPr varScale="1">
        <p:scale>
          <a:sx n="52" d="100"/>
          <a:sy n="52" d="100"/>
        </p:scale>
        <p:origin x="85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3146E-F6A3-455D-A8F7-7C094566E426}"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67100-4AF5-4440-9AA8-F24E6DD39EB4}" type="slidenum">
              <a:rPr lang="en-US" smtClean="0"/>
              <a:t>‹#›</a:t>
            </a:fld>
            <a:endParaRPr lang="en-US"/>
          </a:p>
        </p:txBody>
      </p:sp>
    </p:spTree>
    <p:extLst>
      <p:ext uri="{BB962C8B-B14F-4D97-AF65-F5344CB8AC3E}">
        <p14:creationId xmlns:p14="http://schemas.microsoft.com/office/powerpoint/2010/main" val="408372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4</a:t>
            </a:fld>
            <a:endParaRPr lang="en-US"/>
          </a:p>
        </p:txBody>
      </p:sp>
    </p:spTree>
    <p:extLst>
      <p:ext uri="{BB962C8B-B14F-4D97-AF65-F5344CB8AC3E}">
        <p14:creationId xmlns:p14="http://schemas.microsoft.com/office/powerpoint/2010/main" val="196596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5</a:t>
            </a:fld>
            <a:endParaRPr lang="en-US"/>
          </a:p>
        </p:txBody>
      </p:sp>
    </p:spTree>
    <p:extLst>
      <p:ext uri="{BB962C8B-B14F-4D97-AF65-F5344CB8AC3E}">
        <p14:creationId xmlns:p14="http://schemas.microsoft.com/office/powerpoint/2010/main" val="2306715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20</a:t>
            </a:fld>
            <a:endParaRPr lang="en-US"/>
          </a:p>
        </p:txBody>
      </p:sp>
    </p:spTree>
    <p:extLst>
      <p:ext uri="{BB962C8B-B14F-4D97-AF65-F5344CB8AC3E}">
        <p14:creationId xmlns:p14="http://schemas.microsoft.com/office/powerpoint/2010/main" val="3225947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40</a:t>
            </a:fld>
            <a:endParaRPr lang="en-US"/>
          </a:p>
        </p:txBody>
      </p:sp>
    </p:spTree>
    <p:extLst>
      <p:ext uri="{BB962C8B-B14F-4D97-AF65-F5344CB8AC3E}">
        <p14:creationId xmlns:p14="http://schemas.microsoft.com/office/powerpoint/2010/main" val="2540585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45</a:t>
            </a:fld>
            <a:endParaRPr lang="en-US"/>
          </a:p>
        </p:txBody>
      </p:sp>
    </p:spTree>
    <p:extLst>
      <p:ext uri="{BB962C8B-B14F-4D97-AF65-F5344CB8AC3E}">
        <p14:creationId xmlns:p14="http://schemas.microsoft.com/office/powerpoint/2010/main" val="1601710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55</a:t>
            </a:fld>
            <a:endParaRPr lang="en-US"/>
          </a:p>
        </p:txBody>
      </p:sp>
    </p:spTree>
    <p:extLst>
      <p:ext uri="{BB962C8B-B14F-4D97-AF65-F5344CB8AC3E}">
        <p14:creationId xmlns:p14="http://schemas.microsoft.com/office/powerpoint/2010/main" val="2136534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CF46D04F-A2E9-9037-5671-AE76970CC35D}"/>
              </a:ext>
            </a:extLst>
          </p:cNvPr>
          <p:cNvSpPr/>
          <p:nvPr userDrawn="1"/>
        </p:nvSpPr>
        <p:spPr>
          <a:xfrm>
            <a:off x="65675" y="3778845"/>
            <a:ext cx="3849574" cy="2942629"/>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8C0CB8-D0C2-1404-F91A-420744DD29B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B64EACBD-CAF3-E652-16CC-1B0FAD472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30A456-AC01-F904-F218-7B4540D7D75B}"/>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4/20/2026</a:t>
            </a:fld>
            <a:endParaRPr lang="en-US" dirty="0"/>
          </a:p>
        </p:txBody>
      </p:sp>
      <p:sp>
        <p:nvSpPr>
          <p:cNvPr id="5" name="Footer Placeholder 4">
            <a:extLst>
              <a:ext uri="{FF2B5EF4-FFF2-40B4-BE49-F238E27FC236}">
                <a16:creationId xmlns:a16="http://schemas.microsoft.com/office/drawing/2014/main" id="{8744CB47-B3B7-6135-DE12-0C6A78EAA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E3DA9-A3A9-44B9-1EE5-DEE572AFBD0B}"/>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5571BE6C-6E5B-8994-D6FC-7B0CF7008156}"/>
              </a:ext>
            </a:extLst>
          </p:cNvPr>
          <p:cNvSpPr/>
          <p:nvPr userDrawn="1"/>
        </p:nvSpPr>
        <p:spPr>
          <a:xfrm rot="2253748">
            <a:off x="-395637" y="5046769"/>
            <a:ext cx="5087528" cy="134460"/>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377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228F5-7EB8-E462-7F02-DEC7DD59D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8FE9F-8043-0471-3245-103B670275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5662F2-0F81-38B4-96ED-B28DF9DDA87F}"/>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E04059D3-130F-CB1C-C4BD-AB74DE5C8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01768-0D49-C454-6289-60FB4C0AA2D9}"/>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383453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005EB2AA-5849-99F5-8BFB-632AC33BE750}"/>
              </a:ext>
            </a:extLst>
          </p:cNvPr>
          <p:cNvSpPr/>
          <p:nvPr userDrawn="1"/>
        </p:nvSpPr>
        <p:spPr>
          <a:xfrm>
            <a:off x="65675" y="4703350"/>
            <a:ext cx="3000849" cy="2018124"/>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A21169-83DD-8851-E599-FEA45E149DDB}"/>
              </a:ext>
            </a:extLst>
          </p:cNvPr>
          <p:cNvSpPr>
            <a:spLocks noGrp="1"/>
          </p:cNvSpPr>
          <p:nvPr>
            <p:ph type="title"/>
          </p:nvPr>
        </p:nvSpPr>
        <p:spPr>
          <a:xfrm>
            <a:off x="1631774" y="1709738"/>
            <a:ext cx="9715675" cy="235706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8FA66E-E2F5-038E-BF7C-F544B78441A8}"/>
              </a:ext>
            </a:extLst>
          </p:cNvPr>
          <p:cNvSpPr>
            <a:spLocks noGrp="1"/>
          </p:cNvSpPr>
          <p:nvPr>
            <p:ph type="body" idx="1"/>
          </p:nvPr>
        </p:nvSpPr>
        <p:spPr>
          <a:xfrm>
            <a:off x="1677242" y="4289092"/>
            <a:ext cx="9670207" cy="1369073"/>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CDE55D8-8CBA-9F43-B01D-D7082DC964C2}"/>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4/20/2026</a:t>
            </a:fld>
            <a:endParaRPr lang="en-US" dirty="0"/>
          </a:p>
        </p:txBody>
      </p:sp>
      <p:sp>
        <p:nvSpPr>
          <p:cNvPr id="5" name="Footer Placeholder 4">
            <a:extLst>
              <a:ext uri="{FF2B5EF4-FFF2-40B4-BE49-F238E27FC236}">
                <a16:creationId xmlns:a16="http://schemas.microsoft.com/office/drawing/2014/main" id="{48B051CF-3BF6-AF09-6011-B52C3C683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034DF-802E-7327-8627-9511A495EA58}"/>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3D31E67B-A6F8-DF75-FF70-FDB89861438B}"/>
              </a:ext>
            </a:extLst>
          </p:cNvPr>
          <p:cNvSpPr/>
          <p:nvPr userDrawn="1"/>
        </p:nvSpPr>
        <p:spPr>
          <a:xfrm rot="2037324">
            <a:off x="-227242" y="5530392"/>
            <a:ext cx="3899903" cy="111444"/>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656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0E4A-4368-4C69-3C64-37AFD71E5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0C132-4FE6-22EA-BAA6-8CA300CAE8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F67368-3DE6-C552-433F-568EC0B61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D78C7-6BC7-56DC-CA02-5C90A7A9C46E}"/>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3F2F206C-92E1-28B7-AB9E-7FD2BB751A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892DCA-BE48-5290-3278-3EC28D13C23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619019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2AE3-93B7-61C1-B756-59838E053A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0E1FB3-F727-DBA4-FBA9-234073858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F2CAC-BACD-7BE3-43DD-71043AC67F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B31440-2DA2-FA84-9167-5FC181DCAF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78932E-9F32-AA7A-2F1E-17F50265BE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7CD880-75C8-7990-30C3-51E10FE870E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8" name="Footer Placeholder 7">
            <a:extLst>
              <a:ext uri="{FF2B5EF4-FFF2-40B4-BE49-F238E27FC236}">
                <a16:creationId xmlns:a16="http://schemas.microsoft.com/office/drawing/2014/main" id="{9DDEF02E-78D7-F804-7839-C3354BF3F0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95FA79-FDE3-8906-39A3-A5C937F0834F}"/>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170275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7978E-2D2F-D341-2FA9-7D6D8ABF6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267CD-2EC9-4F23-858C-B85DCE903D46}"/>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4" name="Footer Placeholder 3">
            <a:extLst>
              <a:ext uri="{FF2B5EF4-FFF2-40B4-BE49-F238E27FC236}">
                <a16:creationId xmlns:a16="http://schemas.microsoft.com/office/drawing/2014/main" id="{F325F275-AA05-AA90-BFF9-94CFF0801A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E8933A-5A98-47C0-0FDC-35C9BCEA33B8}"/>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50517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3A021B-9E90-5F87-7450-DC7257801FE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3" name="Footer Placeholder 2">
            <a:extLst>
              <a:ext uri="{FF2B5EF4-FFF2-40B4-BE49-F238E27FC236}">
                <a16:creationId xmlns:a16="http://schemas.microsoft.com/office/drawing/2014/main" id="{227CC1AD-0010-A189-0E43-BE96BA395D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F2B049-6B92-60D9-D26F-9C4603F930A6}"/>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629092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372C-E996-AF0C-1FE4-F8CE41D2C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2E048-3033-FD5E-D3EE-710DA0B00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110ED7-5C65-0E15-895B-7C830D74A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0457B-797B-C6DE-EC6A-CB73EB2600E4}"/>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5030F16C-84B6-9D3E-10C7-4B359FD7B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A5764-25FE-49B4-7825-61267D9E518D}"/>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251350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A7B5-D51E-0EBA-DA75-9E1B86392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D8D80-69D5-682D-6788-8F3A452533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2C84A4-2F9F-DC4F-74C1-19F1EB3CF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80B86-C717-EA60-2269-392FD0F72C59}"/>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6" name="Footer Placeholder 5">
            <a:extLst>
              <a:ext uri="{FF2B5EF4-FFF2-40B4-BE49-F238E27FC236}">
                <a16:creationId xmlns:a16="http://schemas.microsoft.com/office/drawing/2014/main" id="{2A658424-657A-53FD-0817-B7752742B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5CE37-62D2-1E15-6CB6-04D76FAE4FE5}"/>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772120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41E0-17E7-2015-B9F8-B897CA6329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8C2268-93A1-B778-5028-5783DE4D4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B89D27-0D85-8C7B-142A-74403B21FF51}"/>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27006D02-609F-7F78-2288-E43B0E23B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58CFA-4B7F-0DBD-C99B-E464A43A4EA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25179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441BA-3638-2B1C-D3CA-F862A6C0309E}"/>
              </a:ext>
            </a:extLst>
          </p:cNvPr>
          <p:cNvSpPr>
            <a:spLocks noGrp="1"/>
          </p:cNvSpPr>
          <p:nvPr>
            <p:ph type="title" orient="vert"/>
          </p:nvPr>
        </p:nvSpPr>
        <p:spPr>
          <a:xfrm>
            <a:off x="8724900" y="1156893"/>
            <a:ext cx="2628900" cy="502007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E47DF25-5E8D-D4BD-6759-5EB82BA5A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AFB57-7D5C-F3CC-330C-934B10E41D67}"/>
              </a:ext>
            </a:extLst>
          </p:cNvPr>
          <p:cNvSpPr>
            <a:spLocks noGrp="1"/>
          </p:cNvSpPr>
          <p:nvPr>
            <p:ph type="dt" sz="half" idx="10"/>
          </p:nvPr>
        </p:nvSpPr>
        <p:spPr/>
        <p:txBody>
          <a:bodyPr/>
          <a:lstStyle/>
          <a:p>
            <a:fld id="{A08589DF-59BF-4BA7-8495-56F0F1B65344}" type="datetimeFigureOut">
              <a:rPr lang="en-US" smtClean="0"/>
              <a:t>4/20/2026</a:t>
            </a:fld>
            <a:endParaRPr lang="en-US"/>
          </a:p>
        </p:txBody>
      </p:sp>
      <p:sp>
        <p:nvSpPr>
          <p:cNvPr id="5" name="Footer Placeholder 4">
            <a:extLst>
              <a:ext uri="{FF2B5EF4-FFF2-40B4-BE49-F238E27FC236}">
                <a16:creationId xmlns:a16="http://schemas.microsoft.com/office/drawing/2014/main" id="{596FCFFC-8250-D8A0-8181-3ECD823B9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CBCFC-BE45-2CEE-8C2D-480BF7B683A7}"/>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850083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5988B7-8CA8-8706-C4A7-E1290D2D7C8E}"/>
              </a:ext>
            </a:extLst>
          </p:cNvPr>
          <p:cNvSpPr>
            <a:spLocks noGrp="1"/>
          </p:cNvSpPr>
          <p:nvPr>
            <p:ph type="title"/>
          </p:nvPr>
        </p:nvSpPr>
        <p:spPr>
          <a:xfrm>
            <a:off x="838200" y="109910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9097779-7EE0-B5F0-D625-DCEDCF087519}"/>
              </a:ext>
            </a:extLst>
          </p:cNvPr>
          <p:cNvSpPr>
            <a:spLocks noGrp="1"/>
          </p:cNvSpPr>
          <p:nvPr>
            <p:ph type="body" idx="1"/>
          </p:nvPr>
        </p:nvSpPr>
        <p:spPr>
          <a:xfrm>
            <a:off x="838200" y="2604051"/>
            <a:ext cx="10515600" cy="35729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06A9E4-6456-C2F9-73BB-C32B468DE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8589DF-59BF-4BA7-8495-56F0F1B65344}" type="datetimeFigureOut">
              <a:rPr lang="en-US" smtClean="0"/>
              <a:t>4/20/2026</a:t>
            </a:fld>
            <a:endParaRPr lang="en-US" dirty="0"/>
          </a:p>
        </p:txBody>
      </p:sp>
      <p:sp>
        <p:nvSpPr>
          <p:cNvPr id="5" name="Footer Placeholder 4">
            <a:extLst>
              <a:ext uri="{FF2B5EF4-FFF2-40B4-BE49-F238E27FC236}">
                <a16:creationId xmlns:a16="http://schemas.microsoft.com/office/drawing/2014/main" id="{9D8F09A6-E403-39ED-FCDD-D2B49BE77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All Rights Reserved @Nexellence</a:t>
            </a:r>
          </a:p>
        </p:txBody>
      </p:sp>
      <p:sp>
        <p:nvSpPr>
          <p:cNvPr id="6" name="Slide Number Placeholder 5">
            <a:extLst>
              <a:ext uri="{FF2B5EF4-FFF2-40B4-BE49-F238E27FC236}">
                <a16:creationId xmlns:a16="http://schemas.microsoft.com/office/drawing/2014/main" id="{55A1CF5F-1237-1539-FFB2-2128023A2B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93C485-DB5A-4C7E-867A-4FFBAFD4DD2E}" type="slidenum">
              <a:rPr lang="en-US" smtClean="0"/>
              <a:t>‹#›</a:t>
            </a:fld>
            <a:endParaRPr lang="en-US"/>
          </a:p>
        </p:txBody>
      </p:sp>
      <p:pic>
        <p:nvPicPr>
          <p:cNvPr id="8" name="Picture 7" descr="A logo of a company  AI-generated content may be incorrect.">
            <a:extLst>
              <a:ext uri="{FF2B5EF4-FFF2-40B4-BE49-F238E27FC236}">
                <a16:creationId xmlns:a16="http://schemas.microsoft.com/office/drawing/2014/main" id="{625393FF-C7FE-64BE-F32C-440050D74E51}"/>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8809383" y="86258"/>
            <a:ext cx="3138446" cy="717936"/>
          </a:xfrm>
          <a:prstGeom prst="rect">
            <a:avLst/>
          </a:prstGeom>
        </p:spPr>
      </p:pic>
    </p:spTree>
    <p:extLst>
      <p:ext uri="{BB962C8B-B14F-4D97-AF65-F5344CB8AC3E}">
        <p14:creationId xmlns:p14="http://schemas.microsoft.com/office/powerpoint/2010/main" val="210482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cran.rstudio.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posit.co/download/rstudio-desktop/" TargetMode="Externa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posit.clou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a:bodyPr>
          <a:lstStyle/>
          <a:p>
            <a:r>
              <a:rPr lang="en-US" dirty="0"/>
              <a:t>Chapter 3: Introduction to R – Your First Data Analysis</a:t>
            </a:r>
          </a:p>
        </p:txBody>
      </p:sp>
      <p:sp>
        <p:nvSpPr>
          <p:cNvPr id="3" name="Subtitle 2"/>
          <p:cNvSpPr>
            <a:spLocks noGrp="1"/>
          </p:cNvSpPr>
          <p:nvPr>
            <p:ph type="subTitle" idx="1"/>
          </p:nvPr>
        </p:nvSpPr>
        <p:spPr>
          <a:xfrm>
            <a:off x="1524000" y="4231758"/>
            <a:ext cx="9144000" cy="1026042"/>
          </a:xfrm>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00A6D-7548-7C2A-1087-BD77D068A7F8}"/>
              </a:ext>
            </a:extLst>
          </p:cNvPr>
          <p:cNvSpPr>
            <a:spLocks noGrp="1"/>
          </p:cNvSpPr>
          <p:nvPr>
            <p:ph type="title"/>
          </p:nvPr>
        </p:nvSpPr>
        <p:spPr>
          <a:xfrm>
            <a:off x="838200" y="1099100"/>
            <a:ext cx="10515600" cy="1325563"/>
          </a:xfrm>
        </p:spPr>
        <p:txBody>
          <a:bodyPr anchor="ctr">
            <a:normAutofit/>
          </a:bodyPr>
          <a:lstStyle/>
          <a:p>
            <a:r>
              <a:rPr lang="en-US" dirty="0"/>
              <a:t>What is R and Why Use It for Data Analysis?</a:t>
            </a:r>
          </a:p>
        </p:txBody>
      </p:sp>
      <p:pic>
        <p:nvPicPr>
          <p:cNvPr id="6" name="Content Placeholder 5">
            <a:extLst>
              <a:ext uri="{FF2B5EF4-FFF2-40B4-BE49-F238E27FC236}">
                <a16:creationId xmlns:a16="http://schemas.microsoft.com/office/drawing/2014/main" id="{948AB6A4-46EE-4D93-71E2-F05A06FF6924}"/>
              </a:ext>
            </a:extLst>
          </p:cNvPr>
          <p:cNvPicPr>
            <a:picLocks noGrp="1" noChangeAspect="1"/>
          </p:cNvPicPr>
          <p:nvPr>
            <p:ph sz="half" idx="2"/>
          </p:nvPr>
        </p:nvPicPr>
        <p:blipFill>
          <a:blip>
            <a:extLst>
              <a:ext uri="{96DAC541-7B7A-43D3-8B79-37D633B846F1}">
                <asvg:svgBlip xmlns:asvg="http://schemas.microsoft.com/office/drawing/2016/SVG/main" r:embed="rId2"/>
              </a:ext>
            </a:extLst>
          </a:blip>
          <a:stretch>
            <a:fillRect/>
          </a:stretch>
        </p:blipFill>
        <p:spPr>
          <a:xfrm>
            <a:off x="2370930" y="4317881"/>
            <a:ext cx="2167732" cy="1679693"/>
          </a:xfrm>
        </p:spPr>
      </p:pic>
      <p:sp>
        <p:nvSpPr>
          <p:cNvPr id="9" name="Content Placeholder 2">
            <a:extLst>
              <a:ext uri="{FF2B5EF4-FFF2-40B4-BE49-F238E27FC236}">
                <a16:creationId xmlns:a16="http://schemas.microsoft.com/office/drawing/2014/main" id="{F4940AB1-9C10-8558-C3B3-4B094915B72B}"/>
              </a:ext>
            </a:extLst>
          </p:cNvPr>
          <p:cNvSpPr txBox="1">
            <a:spLocks/>
          </p:cNvSpPr>
          <p:nvPr/>
        </p:nvSpPr>
        <p:spPr>
          <a:xfrm>
            <a:off x="838200" y="2424663"/>
            <a:ext cx="6019800" cy="35729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 is an open-source statistical computing language purpose-built for data analysis, modeling, and visualization — used by researchers at Google, the FDA, the New York Times, and most academic journals.</a:t>
            </a:r>
          </a:p>
          <a:p>
            <a:r>
              <a:rPr lang="en-US" dirty="0"/>
              <a:t>Created by statisticians Ross Ihaka and Robert Gentleman (1993). Free, open-source, and backed by CRAN (Comprehensive R Archive Network) with 20,000+ packages.</a:t>
            </a:r>
          </a:p>
        </p:txBody>
      </p:sp>
      <p:pic>
        <p:nvPicPr>
          <p:cNvPr id="12" name="Picture 11" descr="A screenshot of a computer  AI-generated content may be incorrect.">
            <a:extLst>
              <a:ext uri="{FF2B5EF4-FFF2-40B4-BE49-F238E27FC236}">
                <a16:creationId xmlns:a16="http://schemas.microsoft.com/office/drawing/2014/main" id="{8229A6A2-AB81-9B86-7844-FA31E76DAEF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95330" y="2399517"/>
            <a:ext cx="4330116" cy="4376455"/>
          </a:xfrm>
          <a:prstGeom prst="rect">
            <a:avLst/>
          </a:prstGeom>
        </p:spPr>
      </p:pic>
    </p:spTree>
    <p:extLst>
      <p:ext uri="{BB962C8B-B14F-4D97-AF65-F5344CB8AC3E}">
        <p14:creationId xmlns:p14="http://schemas.microsoft.com/office/powerpoint/2010/main" val="4076446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FF38-D667-13A6-1878-1FFE68FC9577}"/>
              </a:ext>
            </a:extLst>
          </p:cNvPr>
          <p:cNvSpPr>
            <a:spLocks noGrp="1"/>
          </p:cNvSpPr>
          <p:nvPr>
            <p:ph type="title"/>
          </p:nvPr>
        </p:nvSpPr>
        <p:spPr/>
        <p:txBody>
          <a:bodyPr/>
          <a:lstStyle/>
          <a:p>
            <a:r>
              <a:rPr lang="en-US" dirty="0"/>
              <a:t>What is R and Why Use It for Data Analysis?</a:t>
            </a:r>
          </a:p>
        </p:txBody>
      </p:sp>
      <p:sp>
        <p:nvSpPr>
          <p:cNvPr id="3" name="Content Placeholder 2">
            <a:extLst>
              <a:ext uri="{FF2B5EF4-FFF2-40B4-BE49-F238E27FC236}">
                <a16:creationId xmlns:a16="http://schemas.microsoft.com/office/drawing/2014/main" id="{36F1E7AF-106F-DE50-0F7E-D31ADC99EAE6}"/>
              </a:ext>
            </a:extLst>
          </p:cNvPr>
          <p:cNvSpPr>
            <a:spLocks noGrp="1"/>
          </p:cNvSpPr>
          <p:nvPr>
            <p:ph idx="1"/>
          </p:nvPr>
        </p:nvSpPr>
        <p:spPr/>
        <p:txBody>
          <a:bodyPr/>
          <a:lstStyle/>
          <a:p>
            <a:r>
              <a:rPr lang="en-US" dirty="0"/>
              <a:t>The R ecosystem includes 20,000+ packages on CRAN. The most important: tidyverse (data wrangling), ggplot2 (publication-quality graphics), caret/tidymodels (machine learning), and Shiny (interactive web apps).</a:t>
            </a:r>
          </a:p>
          <a:p>
            <a:r>
              <a:rPr lang="en-US" dirty="0"/>
              <a:t>R vs Python: R was built by statisticians and excels at statistical tests, mixed models, and reproducible research. Python dominates ML pipelines. Many professional data scientists use both — choose R when the question is statistical.</a:t>
            </a:r>
          </a:p>
        </p:txBody>
      </p:sp>
      <p:pic>
        <p:nvPicPr>
          <p:cNvPr id="3074" name="Picture 2" descr="A Comprehensive List of Handy R Packages | by Gang Su | TDS Archive | Medium">
            <a:extLst>
              <a:ext uri="{FF2B5EF4-FFF2-40B4-BE49-F238E27FC236}">
                <a16:creationId xmlns:a16="http://schemas.microsoft.com/office/drawing/2014/main" id="{5EBE9192-C938-4256-5DAB-D4809EFEB63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815013" y="4925846"/>
            <a:ext cx="5891212" cy="12511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hite background with black text  AI-generated content may be incorrect.">
            <a:extLst>
              <a:ext uri="{FF2B5EF4-FFF2-40B4-BE49-F238E27FC236}">
                <a16:creationId xmlns:a16="http://schemas.microsoft.com/office/drawing/2014/main" id="{68BD89D2-A65B-8FBA-263A-1E56265DD9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5775" y="4150744"/>
            <a:ext cx="5037931" cy="2270927"/>
          </a:xfrm>
          <a:prstGeom prst="rect">
            <a:avLst/>
          </a:prstGeom>
        </p:spPr>
      </p:pic>
    </p:spTree>
    <p:extLst>
      <p:ext uri="{BB962C8B-B14F-4D97-AF65-F5344CB8AC3E}">
        <p14:creationId xmlns:p14="http://schemas.microsoft.com/office/powerpoint/2010/main" val="2421731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09FFE-8389-1548-0C40-3F881883A4EF}"/>
              </a:ext>
            </a:extLst>
          </p:cNvPr>
          <p:cNvSpPr>
            <a:spLocks noGrp="1"/>
          </p:cNvSpPr>
          <p:nvPr>
            <p:ph type="title"/>
          </p:nvPr>
        </p:nvSpPr>
        <p:spPr>
          <a:xfrm>
            <a:off x="723900" y="291371"/>
            <a:ext cx="10515600" cy="1325563"/>
          </a:xfrm>
        </p:spPr>
        <p:txBody>
          <a:bodyPr/>
          <a:lstStyle/>
          <a:p>
            <a:r>
              <a:rPr lang="en-US" dirty="0"/>
              <a:t>Real world examples</a:t>
            </a:r>
          </a:p>
        </p:txBody>
      </p:sp>
      <p:pic>
        <p:nvPicPr>
          <p:cNvPr id="4098" name="Picture 2" descr="In the background, an overview of a busy NYC street filled with yellow taxis. In a callout box is a Quarto report on taxi fares.">
            <a:extLst>
              <a:ext uri="{FF2B5EF4-FFF2-40B4-BE49-F238E27FC236}">
                <a16:creationId xmlns:a16="http://schemas.microsoft.com/office/drawing/2014/main" id="{EEBCD032-9A5F-A6E6-FCD6-6F71E954ECA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957388" y="1426743"/>
            <a:ext cx="8658225" cy="48702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D51D179-6DA3-979F-941C-16DB149D1371}"/>
              </a:ext>
            </a:extLst>
          </p:cNvPr>
          <p:cNvSpPr txBox="1"/>
          <p:nvPr/>
        </p:nvSpPr>
        <p:spPr>
          <a:xfrm>
            <a:off x="1957388" y="6381963"/>
            <a:ext cx="8695586" cy="369332"/>
          </a:xfrm>
          <a:prstGeom prst="rect">
            <a:avLst/>
          </a:prstGeom>
          <a:noFill/>
        </p:spPr>
        <p:txBody>
          <a:bodyPr wrap="none" rtlCol="0">
            <a:spAutoFit/>
          </a:bodyPr>
          <a:lstStyle/>
          <a:p>
            <a:r>
              <a:rPr lang="en-US" dirty="0"/>
              <a:t>Source: https://</a:t>
            </a:r>
            <a:r>
              <a:rPr lang="en-US" dirty="0" err="1"/>
              <a:t>posit.co</a:t>
            </a:r>
            <a:r>
              <a:rPr lang="en-US" dirty="0"/>
              <a:t>/blog/reporting-on-</a:t>
            </a:r>
            <a:r>
              <a:rPr lang="en-US" dirty="0" err="1"/>
              <a:t>nyc</a:t>
            </a:r>
            <a:r>
              <a:rPr lang="en-US" dirty="0"/>
              <a:t>-taxi-data-with-</a:t>
            </a:r>
            <a:r>
              <a:rPr lang="en-US" dirty="0" err="1"/>
              <a:t>rstudio</a:t>
            </a:r>
            <a:r>
              <a:rPr lang="en-US" dirty="0"/>
              <a:t>-and-</a:t>
            </a:r>
            <a:r>
              <a:rPr lang="en-US" dirty="0" err="1"/>
              <a:t>databricks</a:t>
            </a:r>
            <a:r>
              <a:rPr lang="en-US" dirty="0"/>
              <a:t>/</a:t>
            </a:r>
          </a:p>
        </p:txBody>
      </p:sp>
    </p:spTree>
    <p:extLst>
      <p:ext uri="{BB962C8B-B14F-4D97-AF65-F5344CB8AC3E}">
        <p14:creationId xmlns:p14="http://schemas.microsoft.com/office/powerpoint/2010/main" val="1376374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12F84-1FDE-372C-C7FA-DD56C758FAB9}"/>
              </a:ext>
            </a:extLst>
          </p:cNvPr>
          <p:cNvSpPr>
            <a:spLocks noGrp="1"/>
          </p:cNvSpPr>
          <p:nvPr>
            <p:ph type="title"/>
          </p:nvPr>
        </p:nvSpPr>
        <p:spPr/>
        <p:txBody>
          <a:bodyPr/>
          <a:lstStyle/>
          <a:p>
            <a:r>
              <a:rPr lang="en-US" dirty="0"/>
              <a:t>Getting Started: Installing R and RStudio</a:t>
            </a:r>
          </a:p>
        </p:txBody>
      </p:sp>
      <p:sp>
        <p:nvSpPr>
          <p:cNvPr id="3" name="Content Placeholder 2">
            <a:extLst>
              <a:ext uri="{FF2B5EF4-FFF2-40B4-BE49-F238E27FC236}">
                <a16:creationId xmlns:a16="http://schemas.microsoft.com/office/drawing/2014/main" id="{205B4585-E758-98B8-563E-F3B984C457EA}"/>
              </a:ext>
            </a:extLst>
          </p:cNvPr>
          <p:cNvSpPr>
            <a:spLocks noGrp="1"/>
          </p:cNvSpPr>
          <p:nvPr>
            <p:ph idx="1"/>
          </p:nvPr>
        </p:nvSpPr>
        <p:spPr>
          <a:xfrm>
            <a:off x="838200" y="2604051"/>
            <a:ext cx="4933950" cy="3572911"/>
          </a:xfrm>
        </p:spPr>
        <p:txBody>
          <a:bodyPr>
            <a:normAutofit lnSpcReduction="10000"/>
          </a:bodyPr>
          <a:lstStyle/>
          <a:p>
            <a:r>
              <a:rPr lang="en-US" dirty="0" err="1"/>
              <a:t>Rstudio</a:t>
            </a:r>
            <a:r>
              <a:rPr lang="en-US" dirty="0"/>
              <a:t> is a user-friendly application that makes coding in R easier. </a:t>
            </a:r>
          </a:p>
          <a:p>
            <a:r>
              <a:rPr lang="en-US" dirty="0"/>
              <a:t>RStudio is an IDE (Integrated Development Environment), which means it provides tools like a script editor, results console, and plotting window all in one place. </a:t>
            </a:r>
          </a:p>
        </p:txBody>
      </p:sp>
      <p:pic>
        <p:nvPicPr>
          <p:cNvPr id="4" name="Picture 3">
            <a:extLst>
              <a:ext uri="{FF2B5EF4-FFF2-40B4-BE49-F238E27FC236}">
                <a16:creationId xmlns:a16="http://schemas.microsoft.com/office/drawing/2014/main" id="{71C6A65C-E4C6-27BF-E830-9B06FE9449F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34037" y="2424663"/>
            <a:ext cx="5719763" cy="3813175"/>
          </a:xfrm>
          <a:prstGeom prst="rect">
            <a:avLst/>
          </a:prstGeom>
        </p:spPr>
      </p:pic>
    </p:spTree>
    <p:extLst>
      <p:ext uri="{BB962C8B-B14F-4D97-AF65-F5344CB8AC3E}">
        <p14:creationId xmlns:p14="http://schemas.microsoft.com/office/powerpoint/2010/main" val="2517050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6C6C8-E540-B3D1-E72F-01399BA9B3D7}"/>
              </a:ext>
            </a:extLst>
          </p:cNvPr>
          <p:cNvSpPr>
            <a:spLocks noGrp="1"/>
          </p:cNvSpPr>
          <p:nvPr>
            <p:ph type="title"/>
          </p:nvPr>
        </p:nvSpPr>
        <p:spPr/>
        <p:txBody>
          <a:bodyPr/>
          <a:lstStyle/>
          <a:p>
            <a:r>
              <a:rPr lang="en-US" dirty="0"/>
              <a:t>Step 1: Install R </a:t>
            </a:r>
          </a:p>
        </p:txBody>
      </p:sp>
      <p:sp>
        <p:nvSpPr>
          <p:cNvPr id="3" name="Content Placeholder 2">
            <a:extLst>
              <a:ext uri="{FF2B5EF4-FFF2-40B4-BE49-F238E27FC236}">
                <a16:creationId xmlns:a16="http://schemas.microsoft.com/office/drawing/2014/main" id="{7B101DB4-3094-1190-C71D-D491EEB92038}"/>
              </a:ext>
            </a:extLst>
          </p:cNvPr>
          <p:cNvSpPr>
            <a:spLocks noGrp="1"/>
          </p:cNvSpPr>
          <p:nvPr>
            <p:ph idx="1"/>
          </p:nvPr>
        </p:nvSpPr>
        <p:spPr/>
        <p:txBody>
          <a:bodyPr/>
          <a:lstStyle/>
          <a:p>
            <a:r>
              <a:rPr lang="en-US" dirty="0"/>
              <a:t>Go to: </a:t>
            </a:r>
            <a:r>
              <a:rPr lang="en-US" dirty="0">
                <a:hlinkClick r:id="rId2"/>
              </a:rPr>
              <a:t>https://cran.rstudio.com/</a:t>
            </a:r>
            <a:endParaRPr lang="en-US" dirty="0"/>
          </a:p>
          <a:p>
            <a:r>
              <a:rPr lang="en-US" dirty="0"/>
              <a:t>Choose your operating system (Windows, Mac, or Linux) and download the latest version of R. </a:t>
            </a:r>
          </a:p>
          <a:p>
            <a:r>
              <a:rPr lang="en-US" dirty="0"/>
              <a:t>After it’s downloaded follow the prompts and install it into your machine</a:t>
            </a:r>
          </a:p>
        </p:txBody>
      </p:sp>
      <p:pic>
        <p:nvPicPr>
          <p:cNvPr id="5" name="Picture 4" descr="A screenshot of a computer  AI-generated content may be incorrect.">
            <a:extLst>
              <a:ext uri="{FF2B5EF4-FFF2-40B4-BE49-F238E27FC236}">
                <a16:creationId xmlns:a16="http://schemas.microsoft.com/office/drawing/2014/main" id="{E5BF10AF-B0AF-23D9-046A-DFA564E4BD7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14625" y="4607536"/>
            <a:ext cx="9248775" cy="2194778"/>
          </a:xfrm>
          <a:prstGeom prst="rect">
            <a:avLst/>
          </a:prstGeom>
        </p:spPr>
      </p:pic>
    </p:spTree>
    <p:extLst>
      <p:ext uri="{BB962C8B-B14F-4D97-AF65-F5344CB8AC3E}">
        <p14:creationId xmlns:p14="http://schemas.microsoft.com/office/powerpoint/2010/main" val="512642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D5CEF-283C-47CA-13AF-8A43085B3232}"/>
              </a:ext>
            </a:extLst>
          </p:cNvPr>
          <p:cNvSpPr>
            <a:spLocks noGrp="1"/>
          </p:cNvSpPr>
          <p:nvPr>
            <p:ph type="title"/>
          </p:nvPr>
        </p:nvSpPr>
        <p:spPr/>
        <p:txBody>
          <a:bodyPr/>
          <a:lstStyle/>
          <a:p>
            <a:r>
              <a:rPr lang="en-US" dirty="0"/>
              <a:t>Step 2: Install RStudio. </a:t>
            </a:r>
          </a:p>
        </p:txBody>
      </p:sp>
      <p:sp>
        <p:nvSpPr>
          <p:cNvPr id="3" name="Content Placeholder 2">
            <a:extLst>
              <a:ext uri="{FF2B5EF4-FFF2-40B4-BE49-F238E27FC236}">
                <a16:creationId xmlns:a16="http://schemas.microsoft.com/office/drawing/2014/main" id="{978D4467-F5F9-F1E7-60BF-F30427417510}"/>
              </a:ext>
            </a:extLst>
          </p:cNvPr>
          <p:cNvSpPr>
            <a:spLocks noGrp="1"/>
          </p:cNvSpPr>
          <p:nvPr>
            <p:ph idx="1"/>
          </p:nvPr>
        </p:nvSpPr>
        <p:spPr/>
        <p:txBody>
          <a:bodyPr/>
          <a:lstStyle/>
          <a:p>
            <a:r>
              <a:rPr lang="en-US" dirty="0"/>
              <a:t>Go to: </a:t>
            </a:r>
            <a:r>
              <a:rPr lang="en-US" dirty="0">
                <a:hlinkClick r:id="rId2"/>
              </a:rPr>
              <a:t>https://posit.co/download/rstudio-desktop/</a:t>
            </a:r>
            <a:endParaRPr lang="en-US" dirty="0"/>
          </a:p>
          <a:p>
            <a:r>
              <a:rPr lang="en-US" dirty="0"/>
              <a:t>Click on “Download </a:t>
            </a:r>
            <a:r>
              <a:rPr lang="en-US" dirty="0" err="1"/>
              <a:t>Rstudio</a:t>
            </a:r>
            <a:r>
              <a:rPr lang="en-US" dirty="0"/>
              <a:t> …” </a:t>
            </a:r>
          </a:p>
          <a:p>
            <a:r>
              <a:rPr lang="en-US" dirty="0"/>
              <a:t>Follow the prompts</a:t>
            </a:r>
          </a:p>
          <a:p>
            <a:r>
              <a:rPr lang="en-US" dirty="0"/>
              <a:t>Install it into your machine</a:t>
            </a:r>
          </a:p>
        </p:txBody>
      </p:sp>
      <p:pic>
        <p:nvPicPr>
          <p:cNvPr id="5" name="Picture 4" descr="A screenshot of a computer error  AI-generated content may be incorrect.">
            <a:extLst>
              <a:ext uri="{FF2B5EF4-FFF2-40B4-BE49-F238E27FC236}">
                <a16:creationId xmlns:a16="http://schemas.microsoft.com/office/drawing/2014/main" id="{2DF12869-BB78-3D02-0A19-91C79E4707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72226" y="3304066"/>
            <a:ext cx="5395912" cy="3553934"/>
          </a:xfrm>
          <a:prstGeom prst="rect">
            <a:avLst/>
          </a:prstGeom>
        </p:spPr>
      </p:pic>
      <p:pic>
        <p:nvPicPr>
          <p:cNvPr id="7" name="Graphic 6" descr="Cursor with solid fill">
            <a:extLst>
              <a:ext uri="{FF2B5EF4-FFF2-40B4-BE49-F238E27FC236}">
                <a16:creationId xmlns:a16="http://schemas.microsoft.com/office/drawing/2014/main" id="{E309B0F0-46AA-2419-AF98-76B3CCD857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53514" y="4290493"/>
            <a:ext cx="914400" cy="914400"/>
          </a:xfrm>
          <a:prstGeom prst="rect">
            <a:avLst/>
          </a:prstGeom>
        </p:spPr>
      </p:pic>
    </p:spTree>
    <p:extLst>
      <p:ext uri="{BB962C8B-B14F-4D97-AF65-F5344CB8AC3E}">
        <p14:creationId xmlns:p14="http://schemas.microsoft.com/office/powerpoint/2010/main" val="1635038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F1F3A-FD84-F676-1C5C-62309E0F3BE9}"/>
              </a:ext>
            </a:extLst>
          </p:cNvPr>
          <p:cNvSpPr>
            <a:spLocks noGrp="1"/>
          </p:cNvSpPr>
          <p:nvPr>
            <p:ph type="title"/>
          </p:nvPr>
        </p:nvSpPr>
        <p:spPr/>
        <p:txBody>
          <a:bodyPr/>
          <a:lstStyle/>
          <a:p>
            <a:r>
              <a:rPr lang="en-US" dirty="0"/>
              <a:t>Step 3: In Case You Can’t Install</a:t>
            </a:r>
          </a:p>
        </p:txBody>
      </p:sp>
      <p:sp>
        <p:nvSpPr>
          <p:cNvPr id="3" name="Content Placeholder 2">
            <a:extLst>
              <a:ext uri="{FF2B5EF4-FFF2-40B4-BE49-F238E27FC236}">
                <a16:creationId xmlns:a16="http://schemas.microsoft.com/office/drawing/2014/main" id="{A0EB35E5-1C6E-A45E-20C9-6AD6D4A0627A}"/>
              </a:ext>
            </a:extLst>
          </p:cNvPr>
          <p:cNvSpPr>
            <a:spLocks noGrp="1"/>
          </p:cNvSpPr>
          <p:nvPr>
            <p:ph idx="1"/>
          </p:nvPr>
        </p:nvSpPr>
        <p:spPr>
          <a:xfrm>
            <a:off x="838200" y="2604051"/>
            <a:ext cx="6376988" cy="3572911"/>
          </a:xfrm>
        </p:spPr>
        <p:txBody>
          <a:bodyPr>
            <a:normAutofit lnSpcReduction="10000"/>
          </a:bodyPr>
          <a:lstStyle/>
          <a:p>
            <a:r>
              <a:rPr lang="en-US" dirty="0"/>
              <a:t>To use it, go to the RStudio Cloud website: </a:t>
            </a:r>
            <a:r>
              <a:rPr lang="en-US" dirty="0">
                <a:hlinkClick r:id="rId2"/>
              </a:rPr>
              <a:t>https://posit.cloud/</a:t>
            </a:r>
            <a:r>
              <a:rPr lang="en-US" dirty="0"/>
              <a:t> </a:t>
            </a:r>
          </a:p>
          <a:p>
            <a:r>
              <a:rPr lang="en-US" dirty="0"/>
              <a:t>Sign up for a free account, and create a new project. </a:t>
            </a:r>
          </a:p>
          <a:p>
            <a:r>
              <a:rPr lang="en-US" dirty="0"/>
              <a:t>You’ll get an interface almost identical to RStudio Desktop. </a:t>
            </a:r>
          </a:p>
          <a:p>
            <a:r>
              <a:rPr lang="en-US" dirty="0"/>
              <a:t>This way, you can follow along with R coding through your browser without installing anything. </a:t>
            </a:r>
          </a:p>
        </p:txBody>
      </p:sp>
      <p:pic>
        <p:nvPicPr>
          <p:cNvPr id="9" name="Picture 8" descr="A screenshot of a project  AI-generated content may be incorrect.">
            <a:extLst>
              <a:ext uri="{FF2B5EF4-FFF2-40B4-BE49-F238E27FC236}">
                <a16:creationId xmlns:a16="http://schemas.microsoft.com/office/drawing/2014/main" id="{8DF34A81-2410-FFAD-CE28-77174125F99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485488" y="2328372"/>
            <a:ext cx="4564933" cy="3848590"/>
          </a:xfrm>
          <a:prstGeom prst="rect">
            <a:avLst/>
          </a:prstGeom>
        </p:spPr>
      </p:pic>
    </p:spTree>
    <p:extLst>
      <p:ext uri="{BB962C8B-B14F-4D97-AF65-F5344CB8AC3E}">
        <p14:creationId xmlns:p14="http://schemas.microsoft.com/office/powerpoint/2010/main" val="4120944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A21E5-FF59-A072-769D-A7E0BF7822B4}"/>
              </a:ext>
            </a:extLst>
          </p:cNvPr>
          <p:cNvSpPr>
            <a:spLocks noGrp="1"/>
          </p:cNvSpPr>
          <p:nvPr>
            <p:ph type="title"/>
          </p:nvPr>
        </p:nvSpPr>
        <p:spPr/>
        <p:txBody>
          <a:bodyPr/>
          <a:lstStyle/>
          <a:p>
            <a:r>
              <a:rPr lang="en-US" dirty="0"/>
              <a:t>Step 4: Run it!</a:t>
            </a:r>
          </a:p>
        </p:txBody>
      </p:sp>
      <p:sp>
        <p:nvSpPr>
          <p:cNvPr id="3" name="Content Placeholder 2">
            <a:extLst>
              <a:ext uri="{FF2B5EF4-FFF2-40B4-BE49-F238E27FC236}">
                <a16:creationId xmlns:a16="http://schemas.microsoft.com/office/drawing/2014/main" id="{125210F7-20DF-36D0-C94A-02D2B7F1586A}"/>
              </a:ext>
            </a:extLst>
          </p:cNvPr>
          <p:cNvSpPr>
            <a:spLocks noGrp="1"/>
          </p:cNvSpPr>
          <p:nvPr>
            <p:ph idx="1"/>
          </p:nvPr>
        </p:nvSpPr>
        <p:spPr>
          <a:xfrm>
            <a:off x="838200" y="2604051"/>
            <a:ext cx="3268412" cy="3572911"/>
          </a:xfrm>
        </p:spPr>
        <p:txBody>
          <a:bodyPr/>
          <a:lstStyle/>
          <a:p>
            <a:r>
              <a:rPr lang="en-US" dirty="0"/>
              <a:t>Run </a:t>
            </a:r>
            <a:r>
              <a:rPr lang="en-US" dirty="0" err="1"/>
              <a:t>Rstudio</a:t>
            </a:r>
            <a:endParaRPr lang="en-US" dirty="0"/>
          </a:p>
          <a:p>
            <a:r>
              <a:rPr lang="en-US" dirty="0"/>
              <a:t>You should see 3 panes</a:t>
            </a:r>
          </a:p>
          <a:p>
            <a:r>
              <a:rPr lang="en-US" dirty="0"/>
              <a:t>Click on the left top              sign to start a new script</a:t>
            </a:r>
          </a:p>
          <a:p>
            <a:endParaRPr lang="en-US" dirty="0"/>
          </a:p>
        </p:txBody>
      </p:sp>
      <p:pic>
        <p:nvPicPr>
          <p:cNvPr id="7" name="Picture 6" descr="A screenshot of a computer  AI-generated content may be incorrect.">
            <a:extLst>
              <a:ext uri="{FF2B5EF4-FFF2-40B4-BE49-F238E27FC236}">
                <a16:creationId xmlns:a16="http://schemas.microsoft.com/office/drawing/2014/main" id="{1C724307-072E-A5B9-68F3-13F05055A8D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58394" y="1761881"/>
            <a:ext cx="6929606" cy="4415081"/>
          </a:xfrm>
          <a:prstGeom prst="rect">
            <a:avLst/>
          </a:prstGeom>
        </p:spPr>
      </p:pic>
      <p:pic>
        <p:nvPicPr>
          <p:cNvPr id="10" name="Picture 9" descr="A white cross in a green circle  AI-generated content may be incorrect.">
            <a:extLst>
              <a:ext uri="{FF2B5EF4-FFF2-40B4-BE49-F238E27FC236}">
                <a16:creationId xmlns:a16="http://schemas.microsoft.com/office/drawing/2014/main" id="{DB1D274B-2EBE-6655-C1B7-79E3864D110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92037" y="4390506"/>
            <a:ext cx="551426" cy="452957"/>
          </a:xfrm>
          <a:prstGeom prst="rect">
            <a:avLst/>
          </a:prstGeom>
        </p:spPr>
      </p:pic>
    </p:spTree>
    <p:extLst>
      <p:ext uri="{BB962C8B-B14F-4D97-AF65-F5344CB8AC3E}">
        <p14:creationId xmlns:p14="http://schemas.microsoft.com/office/powerpoint/2010/main" val="3576221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D5A5-FABE-E3C5-874A-E17D09AA1BD1}"/>
              </a:ext>
            </a:extLst>
          </p:cNvPr>
          <p:cNvSpPr>
            <a:spLocks noGrp="1"/>
          </p:cNvSpPr>
          <p:nvPr>
            <p:ph type="title"/>
          </p:nvPr>
        </p:nvSpPr>
        <p:spPr/>
        <p:txBody>
          <a:bodyPr/>
          <a:lstStyle/>
          <a:p>
            <a:endParaRPr lang="en-US"/>
          </a:p>
        </p:txBody>
      </p:sp>
      <p:pic>
        <p:nvPicPr>
          <p:cNvPr id="5" name="Content Placeholder 4" descr="A screenshot of a computer  AI-generated content may be incorrect.">
            <a:extLst>
              <a:ext uri="{FF2B5EF4-FFF2-40B4-BE49-F238E27FC236}">
                <a16:creationId xmlns:a16="http://schemas.microsoft.com/office/drawing/2014/main" id="{43EFEFE5-03C4-ABD5-423D-FE3169A28EF3}"/>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581024" y="26120"/>
            <a:ext cx="10615613" cy="6831880"/>
          </a:xfrm>
        </p:spPr>
      </p:pic>
      <p:sp>
        <p:nvSpPr>
          <p:cNvPr id="6" name="TextBox 5">
            <a:extLst>
              <a:ext uri="{FF2B5EF4-FFF2-40B4-BE49-F238E27FC236}">
                <a16:creationId xmlns:a16="http://schemas.microsoft.com/office/drawing/2014/main" id="{ACBC5875-6749-23A3-767D-BF07A4D08C11}"/>
              </a:ext>
            </a:extLst>
          </p:cNvPr>
          <p:cNvSpPr txBox="1"/>
          <p:nvPr/>
        </p:nvSpPr>
        <p:spPr>
          <a:xfrm>
            <a:off x="1371600" y="1285876"/>
            <a:ext cx="2657475"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This is a text editor for your R scripts. You can write multiple lines of code, save, and run parts or all of it. </a:t>
            </a:r>
          </a:p>
        </p:txBody>
      </p:sp>
      <p:sp>
        <p:nvSpPr>
          <p:cNvPr id="7" name="TextBox 6">
            <a:extLst>
              <a:ext uri="{FF2B5EF4-FFF2-40B4-BE49-F238E27FC236}">
                <a16:creationId xmlns:a16="http://schemas.microsoft.com/office/drawing/2014/main" id="{F774F580-563F-AD7E-1967-A17CB4176260}"/>
              </a:ext>
            </a:extLst>
          </p:cNvPr>
          <p:cNvSpPr txBox="1"/>
          <p:nvPr/>
        </p:nvSpPr>
        <p:spPr>
          <a:xfrm>
            <a:off x="1371600" y="5077554"/>
            <a:ext cx="4200525"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The console is R’s command line. You can type commands one at a time and press Enter to execute or “</a:t>
            </a:r>
            <a:r>
              <a:rPr lang="en-US" dirty="0" err="1"/>
              <a:t>ctrl+enter</a:t>
            </a:r>
            <a:r>
              <a:rPr lang="en-US" dirty="0"/>
              <a:t>” on your script and it will come here.</a:t>
            </a:r>
          </a:p>
        </p:txBody>
      </p:sp>
      <p:sp>
        <p:nvSpPr>
          <p:cNvPr id="8" name="TextBox 7">
            <a:extLst>
              <a:ext uri="{FF2B5EF4-FFF2-40B4-BE49-F238E27FC236}">
                <a16:creationId xmlns:a16="http://schemas.microsoft.com/office/drawing/2014/main" id="{3F9FD8CF-9FB6-C7F5-2455-77BA20D04747}"/>
              </a:ext>
            </a:extLst>
          </p:cNvPr>
          <p:cNvSpPr txBox="1"/>
          <p:nvPr/>
        </p:nvSpPr>
        <p:spPr>
          <a:xfrm>
            <a:off x="7181851" y="1285876"/>
            <a:ext cx="3305176"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The Environment tab lists all the variables, data frames, and values you have created in your R session. </a:t>
            </a:r>
          </a:p>
        </p:txBody>
      </p:sp>
      <p:sp>
        <p:nvSpPr>
          <p:cNvPr id="9" name="TextBox 8">
            <a:extLst>
              <a:ext uri="{FF2B5EF4-FFF2-40B4-BE49-F238E27FC236}">
                <a16:creationId xmlns:a16="http://schemas.microsoft.com/office/drawing/2014/main" id="{8E303000-C50C-39E3-496C-1AC5422B3AD1}"/>
              </a:ext>
            </a:extLst>
          </p:cNvPr>
          <p:cNvSpPr txBox="1"/>
          <p:nvPr/>
        </p:nvSpPr>
        <p:spPr>
          <a:xfrm>
            <a:off x="7493793" y="3497643"/>
            <a:ext cx="4343400" cy="34163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r>
              <a:rPr lang="en-US" dirty="0"/>
              <a:t>This pane has multiple tabs</a:t>
            </a:r>
          </a:p>
          <a:p>
            <a:pPr lvl="0"/>
            <a:r>
              <a:rPr lang="en-US" b="1" dirty="0"/>
              <a:t>Files</a:t>
            </a:r>
            <a:r>
              <a:rPr lang="en-US" dirty="0"/>
              <a:t>: Lets you navigate files on your computer.</a:t>
            </a:r>
          </a:p>
          <a:p>
            <a:pPr lvl="0"/>
            <a:r>
              <a:rPr lang="en-US" b="1" dirty="0"/>
              <a:t>Plots</a:t>
            </a:r>
            <a:r>
              <a:rPr lang="en-US" dirty="0"/>
              <a:t>: Whenever you create a plot (graph) in R, it will appear here. </a:t>
            </a:r>
          </a:p>
          <a:p>
            <a:pPr lvl="0"/>
            <a:r>
              <a:rPr lang="en-US" b="1" dirty="0"/>
              <a:t>Packages</a:t>
            </a:r>
            <a:r>
              <a:rPr lang="en-US" dirty="0"/>
              <a:t>: Shows a list of R packages installed on your system. </a:t>
            </a:r>
          </a:p>
          <a:p>
            <a:pPr lvl="0"/>
            <a:r>
              <a:rPr lang="en-US" b="1" dirty="0"/>
              <a:t>Help</a:t>
            </a:r>
            <a:r>
              <a:rPr lang="en-US" dirty="0"/>
              <a:t>: If you use R’s help system the documentation will appear in this tab. </a:t>
            </a:r>
          </a:p>
          <a:p>
            <a:pPr lvl="0"/>
            <a:r>
              <a:rPr lang="en-US" b="1" dirty="0"/>
              <a:t>Viewer</a:t>
            </a:r>
            <a:r>
              <a:rPr lang="en-US" dirty="0"/>
              <a:t>: (Sometimes present) Used for viewing web content or interactive reports.</a:t>
            </a:r>
          </a:p>
          <a:p>
            <a:endParaRPr lang="en-US" dirty="0"/>
          </a:p>
        </p:txBody>
      </p:sp>
    </p:spTree>
    <p:extLst>
      <p:ext uri="{BB962C8B-B14F-4D97-AF65-F5344CB8AC3E}">
        <p14:creationId xmlns:p14="http://schemas.microsoft.com/office/powerpoint/2010/main" val="2238380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A53A-DEF6-1518-5687-406A19D0F3AB}"/>
              </a:ext>
            </a:extLst>
          </p:cNvPr>
          <p:cNvSpPr>
            <a:spLocks noGrp="1"/>
          </p:cNvSpPr>
          <p:nvPr>
            <p:ph type="title"/>
          </p:nvPr>
        </p:nvSpPr>
        <p:spPr/>
        <p:txBody>
          <a:bodyPr/>
          <a:lstStyle/>
          <a:p>
            <a:r>
              <a:rPr lang="en-US" dirty="0"/>
              <a:t>R Console Notes</a:t>
            </a:r>
          </a:p>
        </p:txBody>
      </p:sp>
      <p:pic>
        <p:nvPicPr>
          <p:cNvPr id="4" name="Content Placeholder 4" descr="A screenshot of a computer  AI-generated content may be incorrect.">
            <a:extLst>
              <a:ext uri="{FF2B5EF4-FFF2-40B4-BE49-F238E27FC236}">
                <a16:creationId xmlns:a16="http://schemas.microsoft.com/office/drawing/2014/main" id="{EEC41C18-C377-0E5E-AEAB-912E8438B0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3888" y="2604051"/>
            <a:ext cx="3228168" cy="2010812"/>
          </a:xfrm>
          <a:prstGeom prst="rect">
            <a:avLst/>
          </a:prstGeom>
        </p:spPr>
      </p:pic>
      <p:sp>
        <p:nvSpPr>
          <p:cNvPr id="6" name="TextBox 5">
            <a:extLst>
              <a:ext uri="{FF2B5EF4-FFF2-40B4-BE49-F238E27FC236}">
                <a16:creationId xmlns:a16="http://schemas.microsoft.com/office/drawing/2014/main" id="{229E99EC-E62C-2565-AB7F-72A5C142DF15}"/>
              </a:ext>
            </a:extLst>
          </p:cNvPr>
          <p:cNvSpPr txBox="1"/>
          <p:nvPr/>
        </p:nvSpPr>
        <p:spPr>
          <a:xfrm>
            <a:off x="369889" y="4997098"/>
            <a:ext cx="3987800" cy="646331"/>
          </a:xfrm>
          <a:prstGeom prst="rect">
            <a:avLst/>
          </a:prstGeom>
          <a:noFill/>
        </p:spPr>
        <p:txBody>
          <a:bodyPr wrap="square" rtlCol="0">
            <a:spAutoFit/>
          </a:bodyPr>
          <a:lstStyle/>
          <a:p>
            <a:r>
              <a:rPr lang="en-US" dirty="0"/>
              <a:t>The console is not running anything and it’s ready to go.</a:t>
            </a:r>
          </a:p>
        </p:txBody>
      </p:sp>
      <p:pic>
        <p:nvPicPr>
          <p:cNvPr id="8" name="Picture 7" descr="A screenshot of a computer  AI-generated content may be incorrect.">
            <a:extLst>
              <a:ext uri="{FF2B5EF4-FFF2-40B4-BE49-F238E27FC236}">
                <a16:creationId xmlns:a16="http://schemas.microsoft.com/office/drawing/2014/main" id="{47BFDF7B-81B0-9FDB-95C3-98B1429B0A7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357689" y="2424663"/>
            <a:ext cx="3835400" cy="2476500"/>
          </a:xfrm>
          <a:prstGeom prst="rect">
            <a:avLst/>
          </a:prstGeom>
        </p:spPr>
      </p:pic>
      <p:sp>
        <p:nvSpPr>
          <p:cNvPr id="9" name="TextBox 8">
            <a:extLst>
              <a:ext uri="{FF2B5EF4-FFF2-40B4-BE49-F238E27FC236}">
                <a16:creationId xmlns:a16="http://schemas.microsoft.com/office/drawing/2014/main" id="{CFCFA941-FD5A-9D87-F521-1C4E0E1B3A60}"/>
              </a:ext>
            </a:extLst>
          </p:cNvPr>
          <p:cNvSpPr txBox="1"/>
          <p:nvPr/>
        </p:nvSpPr>
        <p:spPr>
          <a:xfrm>
            <a:off x="4357689" y="5073163"/>
            <a:ext cx="4005262" cy="923330"/>
          </a:xfrm>
          <a:prstGeom prst="rect">
            <a:avLst/>
          </a:prstGeom>
          <a:noFill/>
        </p:spPr>
        <p:txBody>
          <a:bodyPr wrap="square" rtlCol="0">
            <a:spAutoFit/>
          </a:bodyPr>
          <a:lstStyle/>
          <a:p>
            <a:r>
              <a:rPr lang="en-US" dirty="0"/>
              <a:t>I didn’t close my parenthesis. </a:t>
            </a:r>
          </a:p>
          <a:p>
            <a:r>
              <a:rPr lang="en-US" dirty="0"/>
              <a:t>It’s waiting for me to finish my line. If you see this check your code!</a:t>
            </a:r>
          </a:p>
        </p:txBody>
      </p:sp>
      <p:pic>
        <p:nvPicPr>
          <p:cNvPr id="11" name="Picture 10" descr="A screenshot of a computer  AI-generated content may be incorrect.">
            <a:extLst>
              <a:ext uri="{FF2B5EF4-FFF2-40B4-BE49-F238E27FC236}">
                <a16:creationId xmlns:a16="http://schemas.microsoft.com/office/drawing/2014/main" id="{EE725C01-6C3C-422B-7770-AFE45190546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25172" y="2277160"/>
            <a:ext cx="3566827" cy="2624003"/>
          </a:xfrm>
          <a:prstGeom prst="rect">
            <a:avLst/>
          </a:prstGeom>
        </p:spPr>
      </p:pic>
      <p:sp>
        <p:nvSpPr>
          <p:cNvPr id="12" name="TextBox 11">
            <a:extLst>
              <a:ext uri="{FF2B5EF4-FFF2-40B4-BE49-F238E27FC236}">
                <a16:creationId xmlns:a16="http://schemas.microsoft.com/office/drawing/2014/main" id="{325F433F-4ABE-F09D-D1A6-61A444FECCE9}"/>
              </a:ext>
            </a:extLst>
          </p:cNvPr>
          <p:cNvSpPr txBox="1"/>
          <p:nvPr/>
        </p:nvSpPr>
        <p:spPr>
          <a:xfrm>
            <a:off x="8625172" y="5073162"/>
            <a:ext cx="3196939" cy="646331"/>
          </a:xfrm>
          <a:prstGeom prst="rect">
            <a:avLst/>
          </a:prstGeom>
          <a:noFill/>
        </p:spPr>
        <p:txBody>
          <a:bodyPr wrap="square" rtlCol="0">
            <a:spAutoFit/>
          </a:bodyPr>
          <a:lstStyle/>
          <a:p>
            <a:r>
              <a:rPr lang="en-US" dirty="0"/>
              <a:t>I just used it as a calculator. Try it, it’s fun!</a:t>
            </a:r>
          </a:p>
        </p:txBody>
      </p:sp>
    </p:spTree>
    <p:extLst>
      <p:ext uri="{BB962C8B-B14F-4D97-AF65-F5344CB8AC3E}">
        <p14:creationId xmlns:p14="http://schemas.microsoft.com/office/powerpoint/2010/main" val="3144055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61E6-B7F4-1743-193C-9EE750F8B6D1}"/>
              </a:ext>
            </a:extLst>
          </p:cNvPr>
          <p:cNvSpPr>
            <a:spLocks noGrp="1"/>
          </p:cNvSpPr>
          <p:nvPr>
            <p:ph type="title"/>
          </p:nvPr>
        </p:nvSpPr>
        <p:spPr/>
        <p:txBody>
          <a:bodyPr/>
          <a:lstStyle/>
          <a:p>
            <a:r>
              <a:rPr lang="en-US" dirty="0"/>
              <a:t>Running Your First R Commands</a:t>
            </a:r>
          </a:p>
        </p:txBody>
      </p:sp>
      <p:pic>
        <p:nvPicPr>
          <p:cNvPr id="5" name="Content Placeholder 4" descr="A screenshot of a computer  AI-generated content may be incorrect.">
            <a:extLst>
              <a:ext uri="{FF2B5EF4-FFF2-40B4-BE49-F238E27FC236}">
                <a16:creationId xmlns:a16="http://schemas.microsoft.com/office/drawing/2014/main" id="{57BEB0C8-AE88-9006-74C4-59EBFF97986F}"/>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838200" y="2314575"/>
            <a:ext cx="4688785" cy="1543050"/>
          </a:xfrm>
        </p:spPr>
      </p:pic>
      <p:pic>
        <p:nvPicPr>
          <p:cNvPr id="7" name="Picture 6" descr="A screenshot of a computer  AI-generated content may be incorrect.">
            <a:extLst>
              <a:ext uri="{FF2B5EF4-FFF2-40B4-BE49-F238E27FC236}">
                <a16:creationId xmlns:a16="http://schemas.microsoft.com/office/drawing/2014/main" id="{ACAD34E6-DE30-2C9D-078F-8DD46822F15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8199" y="4144042"/>
            <a:ext cx="4688785" cy="2142118"/>
          </a:xfrm>
          <a:prstGeom prst="rect">
            <a:avLst/>
          </a:prstGeom>
        </p:spPr>
      </p:pic>
      <p:pic>
        <p:nvPicPr>
          <p:cNvPr id="9" name="Picture 8" descr="A screenshot of a computer  AI-generated content may be incorrect.">
            <a:extLst>
              <a:ext uri="{FF2B5EF4-FFF2-40B4-BE49-F238E27FC236}">
                <a16:creationId xmlns:a16="http://schemas.microsoft.com/office/drawing/2014/main" id="{042800D7-E75C-57C7-2628-706AE121F8A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814388" y="2357941"/>
            <a:ext cx="3867900" cy="2142118"/>
          </a:xfrm>
          <a:prstGeom prst="rect">
            <a:avLst/>
          </a:prstGeom>
        </p:spPr>
      </p:pic>
      <p:sp>
        <p:nvSpPr>
          <p:cNvPr id="10" name="TextBox 9">
            <a:extLst>
              <a:ext uri="{FF2B5EF4-FFF2-40B4-BE49-F238E27FC236}">
                <a16:creationId xmlns:a16="http://schemas.microsoft.com/office/drawing/2014/main" id="{2FFE3C27-ED31-D204-CDCA-BAEAE9C65D6F}"/>
              </a:ext>
            </a:extLst>
          </p:cNvPr>
          <p:cNvSpPr txBox="1"/>
          <p:nvPr/>
        </p:nvSpPr>
        <p:spPr>
          <a:xfrm>
            <a:off x="6665018" y="4891935"/>
            <a:ext cx="5015110" cy="646331"/>
          </a:xfrm>
          <a:prstGeom prst="rect">
            <a:avLst/>
          </a:prstGeom>
          <a:noFill/>
        </p:spPr>
        <p:txBody>
          <a:bodyPr wrap="square" rtlCol="0">
            <a:spAutoFit/>
          </a:bodyPr>
          <a:lstStyle/>
          <a:p>
            <a:r>
              <a:rPr lang="en-US" dirty="0"/>
              <a:t>Quick note: &lt;- and = are the same in R. But sticking to &lt;- will avoid some subtle issues.  </a:t>
            </a:r>
          </a:p>
        </p:txBody>
      </p:sp>
    </p:spTree>
    <p:extLst>
      <p:ext uri="{BB962C8B-B14F-4D97-AF65-F5344CB8AC3E}">
        <p14:creationId xmlns:p14="http://schemas.microsoft.com/office/powerpoint/2010/main" val="2671695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7072C-555F-9897-AA02-1DC299C5633D}"/>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6AACCD58-7DB0-3DFF-B915-F4D4122DC04F}"/>
              </a:ext>
            </a:extLst>
          </p:cNvPr>
          <p:cNvSpPr>
            <a:spLocks noGrp="1"/>
          </p:cNvSpPr>
          <p:nvPr>
            <p:ph idx="1"/>
          </p:nvPr>
        </p:nvSpPr>
        <p:spPr/>
        <p:txBody>
          <a:bodyPr/>
          <a:lstStyle/>
          <a:p>
            <a:r>
              <a:rPr lang="en-US" dirty="0"/>
              <a:t>Part A — Arithmetic and assignment:</a:t>
            </a:r>
          </a:p>
          <a:p>
            <a:r>
              <a:rPr lang="en-US" dirty="0"/>
              <a:t>Create a &lt;- 5 and b &lt;- 7. Compute: a+b, a-b, a*b, a/b, a^2, b%%a. What does %% (modulo) return? </a:t>
            </a:r>
          </a:p>
          <a:p>
            <a:pPr lvl="1"/>
            <a:r>
              <a:rPr lang="en-US" dirty="0" err="1"/>
              <a:t>Part B — Vectors (R’s basic data structure):</a:t>
            </a:r>
            <a:endParaRPr lang="en-US" dirty="0"/>
          </a:p>
          <a:p>
            <a:pPr lvl="1"/>
            <a:r>
              <a:rPr lang="en-US" dirty="0"/>
              <a:t>scores &lt;- c(85, 92, 78, 95, 61). Compute mean(scores), median(scores), sd(scores), range(scores). What does c() stand for?</a:t>
            </a:r>
          </a:p>
          <a:p>
            <a:pPr lvl="1"/>
            <a:r>
              <a:rPr lang="en-US" dirty="0"/>
              <a:t>Part C — Vector arithmetic is vectorized: try scores * 0.9 (10% grade penalty). What happens? How does this differ from Python lists?</a:t>
            </a:r>
          </a:p>
          <a:p>
            <a:endParaRPr lang="en-US" dirty="0"/>
          </a:p>
        </p:txBody>
      </p:sp>
    </p:spTree>
    <p:extLst>
      <p:ext uri="{BB962C8B-B14F-4D97-AF65-F5344CB8AC3E}">
        <p14:creationId xmlns:p14="http://schemas.microsoft.com/office/powerpoint/2010/main" val="1729708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AF17D-BCA2-E9AD-E72B-CC0BCF48E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842CC-6EA8-8964-0244-707AE26F905E}"/>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7F010EDC-B85C-D500-14C6-503193BD38D7}"/>
              </a:ext>
            </a:extLst>
          </p:cNvPr>
          <p:cNvSpPr>
            <a:spLocks noGrp="1"/>
          </p:cNvSpPr>
          <p:nvPr>
            <p:ph idx="1"/>
          </p:nvPr>
        </p:nvSpPr>
        <p:spPr>
          <a:xfrm>
            <a:off x="838200" y="2604051"/>
            <a:ext cx="3819525" cy="3572911"/>
          </a:xfrm>
        </p:spPr>
        <p:txBody>
          <a:bodyPr/>
          <a:lstStyle/>
          <a:p>
            <a:r>
              <a:rPr lang="en-US" dirty="0"/>
              <a:t>Create two variables: a = 5 and b =7</a:t>
            </a:r>
          </a:p>
          <a:p>
            <a:r>
              <a:rPr lang="en-US" dirty="0"/>
              <a:t>Calculate; </a:t>
            </a:r>
          </a:p>
          <a:p>
            <a:pPr lvl="1"/>
            <a:r>
              <a:rPr lang="en-US" dirty="0" err="1"/>
              <a:t>a+b</a:t>
            </a:r>
            <a:endParaRPr lang="en-US" dirty="0"/>
          </a:p>
          <a:p>
            <a:pPr lvl="1"/>
            <a:r>
              <a:rPr lang="en-US" dirty="0"/>
              <a:t>a-b</a:t>
            </a:r>
          </a:p>
          <a:p>
            <a:pPr lvl="1"/>
            <a:r>
              <a:rPr lang="en-US" dirty="0"/>
              <a:t>a*b</a:t>
            </a:r>
          </a:p>
          <a:p>
            <a:endParaRPr lang="en-US" dirty="0"/>
          </a:p>
        </p:txBody>
      </p:sp>
      <p:pic>
        <p:nvPicPr>
          <p:cNvPr id="5" name="Picture 4" descr="A screenshot of a computer  AI-generated content may be incorrect.">
            <a:extLst>
              <a:ext uri="{FF2B5EF4-FFF2-40B4-BE49-F238E27FC236}">
                <a16:creationId xmlns:a16="http://schemas.microsoft.com/office/drawing/2014/main" id="{3C68629B-71D1-D655-E65D-BF24D829AF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88991" y="1761880"/>
            <a:ext cx="6588659" cy="4415081"/>
          </a:xfrm>
          <a:prstGeom prst="rect">
            <a:avLst/>
          </a:prstGeom>
        </p:spPr>
      </p:pic>
    </p:spTree>
    <p:extLst>
      <p:ext uri="{BB962C8B-B14F-4D97-AF65-F5344CB8AC3E}">
        <p14:creationId xmlns:p14="http://schemas.microsoft.com/office/powerpoint/2010/main" val="1201094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DC36-ABBA-FB93-5474-311F52B963A4}"/>
              </a:ext>
            </a:extLst>
          </p:cNvPr>
          <p:cNvSpPr>
            <a:spLocks noGrp="1"/>
          </p:cNvSpPr>
          <p:nvPr>
            <p:ph type="title"/>
          </p:nvPr>
        </p:nvSpPr>
        <p:spPr/>
        <p:txBody>
          <a:bodyPr/>
          <a:lstStyle/>
          <a:p>
            <a:r>
              <a:rPr lang="en-US" dirty="0"/>
              <a:t>Working with Data: Reading a CSV File in R</a:t>
            </a:r>
          </a:p>
        </p:txBody>
      </p:sp>
      <p:sp>
        <p:nvSpPr>
          <p:cNvPr id="7" name="Content Placeholder 6">
            <a:extLst>
              <a:ext uri="{FF2B5EF4-FFF2-40B4-BE49-F238E27FC236}">
                <a16:creationId xmlns:a16="http://schemas.microsoft.com/office/drawing/2014/main" id="{E82ADA13-05E7-F948-1A7C-BD2520359A95}"/>
              </a:ext>
            </a:extLst>
          </p:cNvPr>
          <p:cNvSpPr>
            <a:spLocks noGrp="1"/>
          </p:cNvSpPr>
          <p:nvPr>
            <p:ph idx="1"/>
          </p:nvPr>
        </p:nvSpPr>
        <p:spPr>
          <a:xfrm>
            <a:off x="838200" y="2424662"/>
            <a:ext cx="6862763" cy="4196799"/>
          </a:xfrm>
        </p:spPr>
        <p:txBody>
          <a:bodyPr>
            <a:normAutofit lnSpcReduction="10000"/>
          </a:bodyPr>
          <a:lstStyle/>
          <a:p>
            <a:r>
              <a:rPr lang="en-US" dirty="0"/>
              <a:t>Data often comes in files, and a common format is CSV (Comma-Separated Values). </a:t>
            </a:r>
          </a:p>
          <a:p>
            <a:r>
              <a:rPr lang="en-US" dirty="0"/>
              <a:t>Let’s use a small example dataset about cars (originally derived from </a:t>
            </a:r>
            <a:r>
              <a:rPr lang="en-US" dirty="0" err="1"/>
              <a:t>mtcars</a:t>
            </a:r>
            <a:r>
              <a:rPr lang="en-US" dirty="0"/>
              <a:t> dataset in R).</a:t>
            </a:r>
          </a:p>
          <a:p>
            <a:r>
              <a:rPr lang="en-US" dirty="0"/>
              <a:t>Contains information on a set of cars:</a:t>
            </a:r>
          </a:p>
          <a:p>
            <a:pPr lvl="1"/>
            <a:r>
              <a:rPr lang="en-US" dirty="0"/>
              <a:t>their fuel efficiency (miles per gallon),</a:t>
            </a:r>
          </a:p>
          <a:p>
            <a:pPr lvl="1"/>
            <a:r>
              <a:rPr lang="en-US" dirty="0"/>
              <a:t>number of cylinders, </a:t>
            </a:r>
          </a:p>
          <a:p>
            <a:pPr lvl="1"/>
            <a:r>
              <a:rPr lang="en-US" dirty="0"/>
              <a:t>horsepower </a:t>
            </a:r>
          </a:p>
        </p:txBody>
      </p:sp>
      <p:pic>
        <p:nvPicPr>
          <p:cNvPr id="5122" name="Picture 2" descr="Motor Trend Magazine September 1974 Auto Car Vintage | eBay">
            <a:extLst>
              <a:ext uri="{FF2B5EF4-FFF2-40B4-BE49-F238E27FC236}">
                <a16:creationId xmlns:a16="http://schemas.microsoft.com/office/drawing/2014/main" id="{ADF8707E-A845-59A5-666F-E760CE5EB8F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810445" y="2138913"/>
            <a:ext cx="3944991" cy="419679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6BD1E4B-A9FE-5BC5-A483-631A1F6F67E3}"/>
              </a:ext>
            </a:extLst>
          </p:cNvPr>
          <p:cNvSpPr txBox="1"/>
          <p:nvPr/>
        </p:nvSpPr>
        <p:spPr>
          <a:xfrm>
            <a:off x="7810445" y="6335712"/>
            <a:ext cx="4103816" cy="307777"/>
          </a:xfrm>
          <a:prstGeom prst="rect">
            <a:avLst/>
          </a:prstGeom>
          <a:noFill/>
        </p:spPr>
        <p:txBody>
          <a:bodyPr wrap="none" rtlCol="0">
            <a:spAutoFit/>
          </a:bodyPr>
          <a:lstStyle/>
          <a:p>
            <a:r>
              <a:rPr lang="en-US" sz="1400" dirty="0"/>
              <a:t>Source: https://</a:t>
            </a:r>
            <a:r>
              <a:rPr lang="en-US" sz="1400" dirty="0" err="1"/>
              <a:t>www.ebay.com</a:t>
            </a:r>
            <a:r>
              <a:rPr lang="en-US" sz="1400" dirty="0"/>
              <a:t>/</a:t>
            </a:r>
            <a:r>
              <a:rPr lang="en-US" sz="1400" dirty="0" err="1"/>
              <a:t>itm</a:t>
            </a:r>
            <a:r>
              <a:rPr lang="en-US" sz="1400" dirty="0"/>
              <a:t>/362971887232</a:t>
            </a:r>
          </a:p>
        </p:txBody>
      </p:sp>
    </p:spTree>
    <p:extLst>
      <p:ext uri="{BB962C8B-B14F-4D97-AF65-F5344CB8AC3E}">
        <p14:creationId xmlns:p14="http://schemas.microsoft.com/office/powerpoint/2010/main" val="456376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97A6E-86A0-C025-6A43-BDFD2AD78981}"/>
              </a:ext>
            </a:extLst>
          </p:cNvPr>
          <p:cNvSpPr>
            <a:spLocks noGrp="1"/>
          </p:cNvSpPr>
          <p:nvPr>
            <p:ph type="title"/>
          </p:nvPr>
        </p:nvSpPr>
        <p:spPr>
          <a:xfrm>
            <a:off x="666029" y="649287"/>
            <a:ext cx="10515600" cy="1325563"/>
          </a:xfrm>
        </p:spPr>
        <p:txBody>
          <a:bodyPr/>
          <a:lstStyle/>
          <a:p>
            <a:r>
              <a:rPr lang="en-US" dirty="0"/>
              <a:t>Set Working Directory </a:t>
            </a:r>
          </a:p>
        </p:txBody>
      </p:sp>
      <p:pic>
        <p:nvPicPr>
          <p:cNvPr id="12" name="Content Placeholder 8">
            <a:extLst>
              <a:ext uri="{FF2B5EF4-FFF2-40B4-BE49-F238E27FC236}">
                <a16:creationId xmlns:a16="http://schemas.microsoft.com/office/drawing/2014/main" id="{5BB9BDBB-BADE-4E02-067B-6D0852C8F5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43654" y="1690443"/>
            <a:ext cx="7760349" cy="4905771"/>
          </a:xfrm>
          <a:prstGeom prst="rect">
            <a:avLst/>
          </a:prstGeom>
        </p:spPr>
      </p:pic>
    </p:spTree>
    <p:extLst>
      <p:ext uri="{BB962C8B-B14F-4D97-AF65-F5344CB8AC3E}">
        <p14:creationId xmlns:p14="http://schemas.microsoft.com/office/powerpoint/2010/main" val="2130814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F52D-7494-124E-0EA8-1464E412C091}"/>
              </a:ext>
            </a:extLst>
          </p:cNvPr>
          <p:cNvSpPr>
            <a:spLocks noGrp="1"/>
          </p:cNvSpPr>
          <p:nvPr>
            <p:ph type="title"/>
          </p:nvPr>
        </p:nvSpPr>
        <p:spPr>
          <a:xfrm>
            <a:off x="838200" y="716206"/>
            <a:ext cx="10515600" cy="1325563"/>
          </a:xfrm>
        </p:spPr>
        <p:txBody>
          <a:bodyPr/>
          <a:lstStyle/>
          <a:p>
            <a:r>
              <a:rPr lang="en-US" dirty="0"/>
              <a:t>Read the CSV file</a:t>
            </a:r>
          </a:p>
        </p:txBody>
      </p:sp>
      <p:pic>
        <p:nvPicPr>
          <p:cNvPr id="13" name="Content Placeholder 12">
            <a:extLst>
              <a:ext uri="{FF2B5EF4-FFF2-40B4-BE49-F238E27FC236}">
                <a16:creationId xmlns:a16="http://schemas.microsoft.com/office/drawing/2014/main" id="{3C6E76A1-2DBF-2E96-0631-5EA364DC1BBC}"/>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978093" y="1813169"/>
            <a:ext cx="7734433" cy="4783137"/>
          </a:xfrm>
        </p:spPr>
      </p:pic>
    </p:spTree>
    <p:extLst>
      <p:ext uri="{BB962C8B-B14F-4D97-AF65-F5344CB8AC3E}">
        <p14:creationId xmlns:p14="http://schemas.microsoft.com/office/powerpoint/2010/main" val="1674648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A1E7-D5A4-5E3B-24EE-FFB2FF5C5053}"/>
              </a:ext>
            </a:extLst>
          </p:cNvPr>
          <p:cNvSpPr>
            <a:spLocks noGrp="1"/>
          </p:cNvSpPr>
          <p:nvPr>
            <p:ph type="title"/>
          </p:nvPr>
        </p:nvSpPr>
        <p:spPr/>
        <p:txBody>
          <a:bodyPr/>
          <a:lstStyle/>
          <a:p>
            <a:r>
              <a:rPr lang="en-US" dirty="0"/>
              <a:t>What happens when you run “</a:t>
            </a:r>
            <a:r>
              <a:rPr lang="en-US" dirty="0" err="1"/>
              <a:t>read.csv</a:t>
            </a:r>
            <a:r>
              <a:rPr lang="en-US" dirty="0"/>
              <a:t>”?</a:t>
            </a:r>
          </a:p>
        </p:txBody>
      </p:sp>
      <p:sp>
        <p:nvSpPr>
          <p:cNvPr id="3" name="Content Placeholder 2">
            <a:extLst>
              <a:ext uri="{FF2B5EF4-FFF2-40B4-BE49-F238E27FC236}">
                <a16:creationId xmlns:a16="http://schemas.microsoft.com/office/drawing/2014/main" id="{33D01C61-CD1C-1BD4-2F97-58E45B5AB876}"/>
              </a:ext>
            </a:extLst>
          </p:cNvPr>
          <p:cNvSpPr>
            <a:spLocks noGrp="1"/>
          </p:cNvSpPr>
          <p:nvPr>
            <p:ph idx="1"/>
          </p:nvPr>
        </p:nvSpPr>
        <p:spPr/>
        <p:txBody>
          <a:bodyPr/>
          <a:lstStyle/>
          <a:p>
            <a:pPr lvl="0"/>
            <a:r>
              <a:rPr lang="en-US" dirty="0"/>
              <a:t>R opens the file </a:t>
            </a:r>
            <a:r>
              <a:rPr lang="en-US" dirty="0" err="1"/>
              <a:t>car_data.csv</a:t>
            </a:r>
            <a:r>
              <a:rPr lang="en-US" dirty="0"/>
              <a:t>.</a:t>
            </a:r>
          </a:p>
          <a:p>
            <a:pPr lvl="0"/>
            <a:r>
              <a:rPr lang="en-US" dirty="0"/>
              <a:t>It parses the contents, assuming the first line has column names (like "mpg", "</a:t>
            </a:r>
            <a:r>
              <a:rPr lang="en-US" dirty="0" err="1"/>
              <a:t>cyl</a:t>
            </a:r>
            <a:r>
              <a:rPr lang="en-US" dirty="0"/>
              <a:t>", "hp", etc.) and the subsequent lines are data.</a:t>
            </a:r>
          </a:p>
          <a:p>
            <a:pPr lvl="0"/>
            <a:r>
              <a:rPr lang="en-US" dirty="0"/>
              <a:t>It creates a data frame object named </a:t>
            </a:r>
            <a:r>
              <a:rPr lang="en-US" dirty="0" err="1"/>
              <a:t>car_data</a:t>
            </a:r>
            <a:r>
              <a:rPr lang="en-US" dirty="0"/>
              <a:t> in memory to hold the data.</a:t>
            </a:r>
          </a:p>
          <a:p>
            <a:pPr lvl="0"/>
            <a:r>
              <a:rPr lang="en-US" dirty="0"/>
              <a:t>In the Environment panel, you’ll see </a:t>
            </a:r>
            <a:r>
              <a:rPr lang="en-US" dirty="0" err="1"/>
              <a:t>car_data</a:t>
            </a:r>
            <a:r>
              <a:rPr lang="en-US" dirty="0"/>
              <a:t> listed with a preview like </a:t>
            </a:r>
            <a:r>
              <a:rPr lang="en-US" dirty="0" err="1"/>
              <a:t>obs</a:t>
            </a:r>
            <a:r>
              <a:rPr lang="en-US" dirty="0"/>
              <a:t>=74 vars=12.</a:t>
            </a:r>
          </a:p>
          <a:p>
            <a:endParaRPr lang="en-US" dirty="0"/>
          </a:p>
        </p:txBody>
      </p:sp>
    </p:spTree>
    <p:extLst>
      <p:ext uri="{BB962C8B-B14F-4D97-AF65-F5344CB8AC3E}">
        <p14:creationId xmlns:p14="http://schemas.microsoft.com/office/powerpoint/2010/main" val="2747358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6EFEB-D94F-D1EF-D7AD-55E239DE8924}"/>
              </a:ext>
            </a:extLst>
          </p:cNvPr>
          <p:cNvSpPr>
            <a:spLocks noGrp="1"/>
          </p:cNvSpPr>
          <p:nvPr>
            <p:ph type="title"/>
          </p:nvPr>
        </p:nvSpPr>
        <p:spPr/>
        <p:txBody>
          <a:bodyPr/>
          <a:lstStyle/>
          <a:p>
            <a:r>
              <a:rPr lang="en-US" dirty="0"/>
              <a:t>Possible Error Message</a:t>
            </a:r>
          </a:p>
        </p:txBody>
      </p:sp>
      <p:pic>
        <p:nvPicPr>
          <p:cNvPr id="9" name="Content Placeholder 8">
            <a:extLst>
              <a:ext uri="{FF2B5EF4-FFF2-40B4-BE49-F238E27FC236}">
                <a16:creationId xmlns:a16="http://schemas.microsoft.com/office/drawing/2014/main" id="{4A8F5DE3-8D8B-8AA8-B559-4297DAFEDEA3}"/>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406139" y="2098281"/>
            <a:ext cx="7551671" cy="4670113"/>
          </a:xfrm>
        </p:spPr>
      </p:pic>
      <p:sp>
        <p:nvSpPr>
          <p:cNvPr id="10" name="TextBox 9">
            <a:extLst>
              <a:ext uri="{FF2B5EF4-FFF2-40B4-BE49-F238E27FC236}">
                <a16:creationId xmlns:a16="http://schemas.microsoft.com/office/drawing/2014/main" id="{EE7A071D-47C3-5BFC-EF55-8058FA0388ED}"/>
              </a:ext>
            </a:extLst>
          </p:cNvPr>
          <p:cNvSpPr txBox="1"/>
          <p:nvPr/>
        </p:nvSpPr>
        <p:spPr>
          <a:xfrm>
            <a:off x="964819" y="2863676"/>
            <a:ext cx="2943225" cy="3139321"/>
          </a:xfrm>
          <a:prstGeom prst="rect">
            <a:avLst/>
          </a:prstGeom>
          <a:noFill/>
        </p:spPr>
        <p:txBody>
          <a:bodyPr wrap="square" rtlCol="0">
            <a:spAutoFit/>
          </a:bodyPr>
          <a:lstStyle/>
          <a:p>
            <a:r>
              <a:rPr lang="en-US" dirty="0"/>
              <a:t>If you didn’t’ specify the data path correctly or set your working directory correctly, R can’t find the file.</a:t>
            </a:r>
          </a:p>
          <a:p>
            <a:endParaRPr lang="en-US" dirty="0"/>
          </a:p>
          <a:p>
            <a:r>
              <a:rPr lang="en-US" b="1" dirty="0"/>
              <a:t>Solution</a:t>
            </a:r>
          </a:p>
          <a:p>
            <a:r>
              <a:rPr lang="en-US" dirty="0"/>
              <a:t>Set your working directory again, or</a:t>
            </a:r>
          </a:p>
          <a:p>
            <a:r>
              <a:rPr lang="en-US" dirty="0"/>
              <a:t>Change your </a:t>
            </a:r>
            <a:r>
              <a:rPr lang="en-US" dirty="0" err="1"/>
              <a:t>car_data.csv</a:t>
            </a:r>
            <a:r>
              <a:rPr lang="en-US" dirty="0"/>
              <a:t> path to correct path.</a:t>
            </a:r>
          </a:p>
        </p:txBody>
      </p:sp>
    </p:spTree>
    <p:extLst>
      <p:ext uri="{BB962C8B-B14F-4D97-AF65-F5344CB8AC3E}">
        <p14:creationId xmlns:p14="http://schemas.microsoft.com/office/powerpoint/2010/main" val="980177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56647-5643-1115-05DC-B2EB5A31064A}"/>
              </a:ext>
            </a:extLst>
          </p:cNvPr>
          <p:cNvSpPr>
            <a:spLocks noGrp="1"/>
          </p:cNvSpPr>
          <p:nvPr>
            <p:ph type="title"/>
          </p:nvPr>
        </p:nvSpPr>
        <p:spPr>
          <a:xfrm>
            <a:off x="838200" y="704467"/>
            <a:ext cx="10515600" cy="1325563"/>
          </a:xfrm>
        </p:spPr>
        <p:txBody>
          <a:bodyPr/>
          <a:lstStyle/>
          <a:p>
            <a:r>
              <a:rPr lang="en-US" dirty="0"/>
              <a:t>Still having trouble? Another solution</a:t>
            </a:r>
          </a:p>
        </p:txBody>
      </p:sp>
      <p:sp>
        <p:nvSpPr>
          <p:cNvPr id="3" name="Content Placeholder 2">
            <a:extLst>
              <a:ext uri="{FF2B5EF4-FFF2-40B4-BE49-F238E27FC236}">
                <a16:creationId xmlns:a16="http://schemas.microsoft.com/office/drawing/2014/main" id="{2C43E619-CB7B-6A75-6C50-3D0D7A081427}"/>
              </a:ext>
            </a:extLst>
          </p:cNvPr>
          <p:cNvSpPr>
            <a:spLocks noGrp="1"/>
          </p:cNvSpPr>
          <p:nvPr>
            <p:ph idx="1"/>
          </p:nvPr>
        </p:nvSpPr>
        <p:spPr>
          <a:xfrm>
            <a:off x="838200" y="2604051"/>
            <a:ext cx="2690813" cy="3572911"/>
          </a:xfrm>
        </p:spPr>
        <p:txBody>
          <a:bodyPr/>
          <a:lstStyle/>
          <a:p>
            <a:r>
              <a:rPr lang="en-US" dirty="0"/>
              <a:t>Click File </a:t>
            </a:r>
            <a:r>
              <a:rPr lang="en-US" dirty="0">
                <a:sym typeface="Wingdings" pitchFamily="2" charset="2"/>
              </a:rPr>
              <a:t> Import Dataset  From Text (base)  Find and select your file (Open)  Import</a:t>
            </a:r>
            <a:endParaRPr lang="en-US" dirty="0"/>
          </a:p>
        </p:txBody>
      </p:sp>
      <p:pic>
        <p:nvPicPr>
          <p:cNvPr id="7" name="Picture 6">
            <a:extLst>
              <a:ext uri="{FF2B5EF4-FFF2-40B4-BE49-F238E27FC236}">
                <a16:creationId xmlns:a16="http://schemas.microsoft.com/office/drawing/2014/main" id="{390499E0-C7ED-3EE1-1528-1FD5414A3B0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29013" y="1758567"/>
            <a:ext cx="7772400" cy="4806615"/>
          </a:xfrm>
          <a:prstGeom prst="rect">
            <a:avLst/>
          </a:prstGeom>
        </p:spPr>
      </p:pic>
    </p:spTree>
    <p:extLst>
      <p:ext uri="{BB962C8B-B14F-4D97-AF65-F5344CB8AC3E}">
        <p14:creationId xmlns:p14="http://schemas.microsoft.com/office/powerpoint/2010/main" val="2002208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AA39-A6FD-AFDA-7614-3D599E7C725B}"/>
              </a:ext>
            </a:extLst>
          </p:cNvPr>
          <p:cNvSpPr>
            <a:spLocks noGrp="1"/>
          </p:cNvSpPr>
          <p:nvPr>
            <p:ph type="title"/>
          </p:nvPr>
        </p:nvSpPr>
        <p:spPr>
          <a:xfrm>
            <a:off x="450406" y="341863"/>
            <a:ext cx="10515600" cy="1325563"/>
          </a:xfrm>
        </p:spPr>
        <p:txBody>
          <a:bodyPr/>
          <a:lstStyle/>
          <a:p>
            <a:r>
              <a:rPr lang="en-US" dirty="0"/>
              <a:t>Get Summary Statistics</a:t>
            </a:r>
          </a:p>
        </p:txBody>
      </p:sp>
      <p:pic>
        <p:nvPicPr>
          <p:cNvPr id="5" name="Content Placeholder 4" descr="A screenshot of a computer  AI-generated content may be incorrect.">
            <a:extLst>
              <a:ext uri="{FF2B5EF4-FFF2-40B4-BE49-F238E27FC236}">
                <a16:creationId xmlns:a16="http://schemas.microsoft.com/office/drawing/2014/main" id="{D349AD83-C426-FB23-8F65-1E473C1F260D}"/>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486598" y="1455732"/>
            <a:ext cx="8986139" cy="5285385"/>
          </a:xfrm>
        </p:spPr>
      </p:pic>
    </p:spTree>
    <p:extLst>
      <p:ext uri="{BB962C8B-B14F-4D97-AF65-F5344CB8AC3E}">
        <p14:creationId xmlns:p14="http://schemas.microsoft.com/office/powerpoint/2010/main" val="2563396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FA980-8C76-C9A8-EF41-F7FC2417C609}"/>
              </a:ext>
            </a:extLst>
          </p:cNvPr>
          <p:cNvSpPr>
            <a:spLocks noGrp="1"/>
          </p:cNvSpPr>
          <p:nvPr>
            <p:ph type="title"/>
          </p:nvPr>
        </p:nvSpPr>
        <p:spPr/>
        <p:txBody>
          <a:bodyPr/>
          <a:lstStyle/>
          <a:p>
            <a:r>
              <a:rPr lang="en-US" dirty="0"/>
              <a:t>Some functions</a:t>
            </a:r>
          </a:p>
        </p:txBody>
      </p:sp>
      <p:sp>
        <p:nvSpPr>
          <p:cNvPr id="3" name="Content Placeholder 2">
            <a:extLst>
              <a:ext uri="{FF2B5EF4-FFF2-40B4-BE49-F238E27FC236}">
                <a16:creationId xmlns:a16="http://schemas.microsoft.com/office/drawing/2014/main" id="{6C62774F-C693-4E31-4F84-1FAEFC5FF3BB}"/>
              </a:ext>
            </a:extLst>
          </p:cNvPr>
          <p:cNvSpPr>
            <a:spLocks noGrp="1"/>
          </p:cNvSpPr>
          <p:nvPr>
            <p:ph idx="1"/>
          </p:nvPr>
        </p:nvSpPr>
        <p:spPr/>
        <p:txBody>
          <a:bodyPr/>
          <a:lstStyle/>
          <a:p>
            <a:r>
              <a:rPr lang="en-US" dirty="0"/>
              <a:t>head(df, n=6): first n rows. Run immediately after loading data. str(df) shows column types — critical for catching numeric IDs read as character. </a:t>
            </a:r>
          </a:p>
          <a:p>
            <a:pPr lvl="1"/>
            <a:r>
              <a:rPr lang="en-US" dirty="0"/>
              <a:t>nrow(df) and ncol(df) return dimensions. dim(df) returns both as a vector. names(df) lists all column names.</a:t>
            </a:r>
          </a:p>
          <a:p>
            <a:r>
              <a:rPr lang="en-US" dirty="0"/>
              <a:t>summary(df): for numerical columns shows Min/Q1/Median/Mean/Q3/Max. For categorical (factor) columns shows frequency counts. Notice when mean and median diverge — that signals skew or outliers.</a:t>
            </a:r>
          </a:p>
          <a:p>
            <a:pPr lvl="1"/>
            <a:r>
              <a:rPr lang="en-US" dirty="0"/>
              <a:t>summary() reveals outliers: when mean &gt;&gt; median, the distribution is right-skewed. Columns showing “NA’s: N” alert you to missing values immediately. </a:t>
            </a:r>
            <a:r>
              <a:rPr lang="en-US" i="1" dirty="0"/>
              <a:t>Min</a:t>
            </a:r>
            <a:r>
              <a:rPr lang="en-US" dirty="0"/>
              <a:t>, </a:t>
            </a:r>
            <a:r>
              <a:rPr lang="en-US" i="1" dirty="0"/>
              <a:t>1st Quartile</a:t>
            </a:r>
            <a:r>
              <a:rPr lang="en-US" dirty="0"/>
              <a:t>, </a:t>
            </a:r>
            <a:r>
              <a:rPr lang="en-US" i="1" dirty="0"/>
              <a:t>Median</a:t>
            </a:r>
            <a:r>
              <a:rPr lang="en-US" dirty="0"/>
              <a:t>, </a:t>
            </a:r>
            <a:r>
              <a:rPr lang="en-US" i="1" dirty="0"/>
              <a:t>Mean</a:t>
            </a:r>
            <a:r>
              <a:rPr lang="en-US" dirty="0"/>
              <a:t>, </a:t>
            </a:r>
            <a:r>
              <a:rPr lang="en-US" i="1" dirty="0"/>
              <a:t>3rd Quartile</a:t>
            </a:r>
            <a:r>
              <a:rPr lang="en-US" dirty="0"/>
              <a:t>, and </a:t>
            </a:r>
            <a:r>
              <a:rPr lang="en-US" i="1" dirty="0"/>
              <a:t>Max</a:t>
            </a:r>
            <a:r>
              <a:rPr lang="en-US" dirty="0"/>
              <a:t>. </a:t>
            </a:r>
          </a:p>
        </p:txBody>
      </p:sp>
    </p:spTree>
    <p:extLst>
      <p:ext uri="{BB962C8B-B14F-4D97-AF65-F5344CB8AC3E}">
        <p14:creationId xmlns:p14="http://schemas.microsoft.com/office/powerpoint/2010/main" val="2873688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59F7-4C45-92C5-260C-09BEE4770BD2}"/>
              </a:ext>
            </a:extLst>
          </p:cNvPr>
          <p:cNvSpPr>
            <a:spLocks noGrp="1"/>
          </p:cNvSpPr>
          <p:nvPr>
            <p:ph type="title"/>
          </p:nvPr>
        </p:nvSpPr>
        <p:spPr/>
        <p:txBody>
          <a:bodyPr/>
          <a:lstStyle/>
          <a:p>
            <a:r>
              <a:rPr lang="en-US" dirty="0"/>
              <a:t>Check your knowledge</a:t>
            </a:r>
          </a:p>
        </p:txBody>
      </p:sp>
      <p:sp>
        <p:nvSpPr>
          <p:cNvPr id="3" name="Content Placeholder 2">
            <a:extLst>
              <a:ext uri="{FF2B5EF4-FFF2-40B4-BE49-F238E27FC236}">
                <a16:creationId xmlns:a16="http://schemas.microsoft.com/office/drawing/2014/main" id="{AB1376BE-A91B-EE3A-88F3-B1EB88285071}"/>
              </a:ext>
            </a:extLst>
          </p:cNvPr>
          <p:cNvSpPr>
            <a:spLocks noGrp="1"/>
          </p:cNvSpPr>
          <p:nvPr>
            <p:ph idx="1"/>
          </p:nvPr>
        </p:nvSpPr>
        <p:spPr/>
        <p:txBody>
          <a:bodyPr/>
          <a:lstStyle/>
          <a:p>
            <a:r>
              <a:rPr lang="en-US" dirty="0"/>
              <a:t>What is the min and max mpg?</a:t>
            </a:r>
          </a:p>
          <a:p>
            <a:r>
              <a:rPr lang="en-US" dirty="0"/>
              <a:t>What is the mean and median mpg?</a:t>
            </a:r>
          </a:p>
        </p:txBody>
      </p:sp>
      <p:pic>
        <p:nvPicPr>
          <p:cNvPr id="4" name="Image 0" descr="preencoded.png">
            <a:extLst>
              <a:ext uri="{FF2B5EF4-FFF2-40B4-BE49-F238E27FC236}">
                <a16:creationId xmlns:a16="http://schemas.microsoft.com/office/drawing/2014/main" id="{4500809B-BD1E-F345-9980-872E2E4FCA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99009" y="1281663"/>
            <a:ext cx="3192991" cy="4789486"/>
          </a:xfrm>
          <a:prstGeom prst="rect">
            <a:avLst/>
          </a:prstGeom>
        </p:spPr>
      </p:pic>
    </p:spTree>
    <p:extLst>
      <p:ext uri="{BB962C8B-B14F-4D97-AF65-F5344CB8AC3E}">
        <p14:creationId xmlns:p14="http://schemas.microsoft.com/office/powerpoint/2010/main" val="2485097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6AEE7-B709-6054-A292-BBFEDEC80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BED60-E353-2D8F-DA0D-8F6EB0798000}"/>
              </a:ext>
            </a:extLst>
          </p:cNvPr>
          <p:cNvSpPr>
            <a:spLocks noGrp="1"/>
          </p:cNvSpPr>
          <p:nvPr>
            <p:ph type="title"/>
          </p:nvPr>
        </p:nvSpPr>
        <p:spPr/>
        <p:txBody>
          <a:bodyPr/>
          <a:lstStyle/>
          <a:p>
            <a:r>
              <a:rPr lang="en-US" dirty="0"/>
              <a:t>Check your knowledge</a:t>
            </a:r>
          </a:p>
        </p:txBody>
      </p:sp>
      <p:sp>
        <p:nvSpPr>
          <p:cNvPr id="3" name="Content Placeholder 2">
            <a:extLst>
              <a:ext uri="{FF2B5EF4-FFF2-40B4-BE49-F238E27FC236}">
                <a16:creationId xmlns:a16="http://schemas.microsoft.com/office/drawing/2014/main" id="{4316A855-647E-C93C-BA2F-8773C4ADE5B9}"/>
              </a:ext>
            </a:extLst>
          </p:cNvPr>
          <p:cNvSpPr>
            <a:spLocks noGrp="1"/>
          </p:cNvSpPr>
          <p:nvPr>
            <p:ph idx="1"/>
          </p:nvPr>
        </p:nvSpPr>
        <p:spPr/>
        <p:txBody>
          <a:bodyPr/>
          <a:lstStyle/>
          <a:p>
            <a:r>
              <a:rPr lang="en-US" dirty="0"/>
              <a:t>What is the min and max mpg?</a:t>
            </a:r>
          </a:p>
          <a:p>
            <a:r>
              <a:rPr lang="en-US" dirty="0"/>
              <a:t>What is the mean and median mpg?</a:t>
            </a:r>
          </a:p>
        </p:txBody>
      </p:sp>
      <p:pic>
        <p:nvPicPr>
          <p:cNvPr id="4" name="Image 0" descr="preencoded.png">
            <a:extLst>
              <a:ext uri="{FF2B5EF4-FFF2-40B4-BE49-F238E27FC236}">
                <a16:creationId xmlns:a16="http://schemas.microsoft.com/office/drawing/2014/main" id="{9E1979E9-65C4-257B-718B-00267BA5942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99009" y="1281663"/>
            <a:ext cx="3192991" cy="4789486"/>
          </a:xfrm>
          <a:prstGeom prst="rect">
            <a:avLst/>
          </a:prstGeom>
        </p:spPr>
      </p:pic>
      <p:pic>
        <p:nvPicPr>
          <p:cNvPr id="11" name="Picture 10" descr="A screenshot of a computer  AI-generated content may be incorrect.">
            <a:extLst>
              <a:ext uri="{FF2B5EF4-FFF2-40B4-BE49-F238E27FC236}">
                <a16:creationId xmlns:a16="http://schemas.microsoft.com/office/drawing/2014/main" id="{63835E41-6ED4-CA93-274A-F56D86F4B6F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66700" y="3846817"/>
            <a:ext cx="8509946" cy="2224332"/>
          </a:xfrm>
          <a:prstGeom prst="rect">
            <a:avLst/>
          </a:prstGeom>
        </p:spPr>
      </p:pic>
      <p:sp>
        <p:nvSpPr>
          <p:cNvPr id="13" name="Rectangle 12">
            <a:extLst>
              <a:ext uri="{FF2B5EF4-FFF2-40B4-BE49-F238E27FC236}">
                <a16:creationId xmlns:a16="http://schemas.microsoft.com/office/drawing/2014/main" id="{000E9A04-2155-B555-03B5-5DA78D92A752}"/>
              </a:ext>
            </a:extLst>
          </p:cNvPr>
          <p:cNvSpPr/>
          <p:nvPr/>
        </p:nvSpPr>
        <p:spPr>
          <a:xfrm>
            <a:off x="4214813" y="3899723"/>
            <a:ext cx="1881187" cy="2330145"/>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255099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41B5-237E-2B3D-FB23-0AE7AE426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47279-2799-7CEE-E362-299430D91704}"/>
              </a:ext>
            </a:extLst>
          </p:cNvPr>
          <p:cNvSpPr>
            <a:spLocks noGrp="1"/>
          </p:cNvSpPr>
          <p:nvPr>
            <p:ph type="title"/>
          </p:nvPr>
        </p:nvSpPr>
        <p:spPr/>
        <p:txBody>
          <a:bodyPr/>
          <a:lstStyle/>
          <a:p>
            <a:r>
              <a:rPr lang="en-US" dirty="0"/>
              <a:t>Some more functions</a:t>
            </a:r>
          </a:p>
        </p:txBody>
      </p:sp>
      <p:sp>
        <p:nvSpPr>
          <p:cNvPr id="3" name="Content Placeholder 2">
            <a:extLst>
              <a:ext uri="{FF2B5EF4-FFF2-40B4-BE49-F238E27FC236}">
                <a16:creationId xmlns:a16="http://schemas.microsoft.com/office/drawing/2014/main" id="{55486A92-051B-CCA5-A32C-5695EADC8747}"/>
              </a:ext>
            </a:extLst>
          </p:cNvPr>
          <p:cNvSpPr>
            <a:spLocks noGrp="1"/>
          </p:cNvSpPr>
          <p:nvPr>
            <p:ph idx="1"/>
          </p:nvPr>
        </p:nvSpPr>
        <p:spPr>
          <a:xfrm>
            <a:off x="838200" y="2604051"/>
            <a:ext cx="7948613" cy="3572911"/>
          </a:xfrm>
        </p:spPr>
        <p:txBody>
          <a:bodyPr>
            <a:normAutofit/>
          </a:bodyPr>
          <a:lstStyle/>
          <a:p>
            <a:r>
              <a:rPr lang="en-US" dirty="0"/>
              <a:t>The $ operator extracts a column as a vector. Combine with any R function: mean(), median(), sd(), quantile(), table(). Use logical indexing to filter: car_data$mpg[car_data$foreign==1].</a:t>
            </a:r>
          </a:p>
          <a:p>
            <a:endParaRPr lang="en-US" dirty="0"/>
          </a:p>
          <a:p>
            <a:endParaRPr lang="en-US" dirty="0"/>
          </a:p>
          <a:p>
            <a:r>
              <a:rPr lang="en-US" dirty="0"/>
              <a:t>Also valid: car_data[["mpg"]] (bracket notation). In tidyverse dplyr, you access columns directly inside mutate(), filter(), summarise() without $. </a:t>
            </a:r>
            <a:r>
              <a:rPr lang="en-US" dirty="0" err="1"/>
              <a:t>car_data$mpg</a:t>
            </a:r>
            <a:r>
              <a:rPr lang="en-US" dirty="0"/>
              <a:t> selects the mpg vector. Try: quantile(car_data$mpg, probs=c(0.25, 0.75)) to get the IQR boundaries. </a:t>
            </a:r>
            <a:r>
              <a:rPr lang="en-US" dirty="0" err="1"/>
              <a:t>car_data</a:t>
            </a:r>
            <a:r>
              <a:rPr lang="en-US" dirty="0"/>
              <a:t> data frame.” In R, the $ operator lets you access a column by name. </a:t>
            </a:r>
          </a:p>
        </p:txBody>
      </p:sp>
      <p:pic>
        <p:nvPicPr>
          <p:cNvPr id="4" name="Image 0" descr="preencoded.png">
            <a:extLst>
              <a:ext uri="{FF2B5EF4-FFF2-40B4-BE49-F238E27FC236}">
                <a16:creationId xmlns:a16="http://schemas.microsoft.com/office/drawing/2014/main" id="{66FDB0EA-194A-9578-628D-091853C361B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99009" y="1281663"/>
            <a:ext cx="3192991" cy="4789486"/>
          </a:xfrm>
          <a:prstGeom prst="rect">
            <a:avLst/>
          </a:prstGeom>
        </p:spPr>
      </p:pic>
      <p:pic>
        <p:nvPicPr>
          <p:cNvPr id="8" name="Picture 7" descr="A close-up of a number  AI-generated content may be incorrect.">
            <a:extLst>
              <a:ext uri="{FF2B5EF4-FFF2-40B4-BE49-F238E27FC236}">
                <a16:creationId xmlns:a16="http://schemas.microsoft.com/office/drawing/2014/main" id="{20FB8115-CB42-B2EA-68EE-45042C1167D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65755" y="3911356"/>
            <a:ext cx="2501900" cy="673100"/>
          </a:xfrm>
          <a:prstGeom prst="rect">
            <a:avLst/>
          </a:prstGeom>
        </p:spPr>
      </p:pic>
    </p:spTree>
    <p:extLst>
      <p:ext uri="{BB962C8B-B14F-4D97-AF65-F5344CB8AC3E}">
        <p14:creationId xmlns:p14="http://schemas.microsoft.com/office/powerpoint/2010/main" val="3344389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77B8-410B-172F-D53F-84F48806CE92}"/>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E85AD9AD-7B5B-4138-84CD-ABA70E8F61A4}"/>
              </a:ext>
            </a:extLst>
          </p:cNvPr>
          <p:cNvSpPr>
            <a:spLocks noGrp="1"/>
          </p:cNvSpPr>
          <p:nvPr>
            <p:ph idx="1"/>
          </p:nvPr>
        </p:nvSpPr>
        <p:spPr/>
        <p:txBody>
          <a:bodyPr/>
          <a:lstStyle/>
          <a:p>
            <a:r>
              <a:rPr lang="en-US" dirty="0"/>
              <a:t>Calculate mean, median, and standard deviation of car price. Then: is the mean or median a better measure of typical price? Why? Use summary(car_data$price) to check for outliers.</a:t>
            </a:r>
          </a:p>
          <a:p>
            <a:r>
              <a:rPr lang="en-US" dirty="0"/>
              <a:t>Extension: compute the coefficient of variation (sd/mean * 100). What does it tell you about price variability? These are 1974 prices — a $6,000 car in 1974 is roughly $38,000 today.</a:t>
            </a:r>
          </a:p>
          <a:p>
            <a:endParaRPr lang="en-US" dirty="0"/>
          </a:p>
        </p:txBody>
      </p:sp>
      <p:pic>
        <p:nvPicPr>
          <p:cNvPr id="5" name="Picture 4">
            <a:extLst>
              <a:ext uri="{FF2B5EF4-FFF2-40B4-BE49-F238E27FC236}">
                <a16:creationId xmlns:a16="http://schemas.microsoft.com/office/drawing/2014/main" id="{A7D05226-0D7E-D61E-F4D8-6319A46AFE9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743825" y="3212758"/>
            <a:ext cx="3340100" cy="3340100"/>
          </a:xfrm>
          <a:prstGeom prst="rect">
            <a:avLst/>
          </a:prstGeom>
        </p:spPr>
      </p:pic>
    </p:spTree>
    <p:extLst>
      <p:ext uri="{BB962C8B-B14F-4D97-AF65-F5344CB8AC3E}">
        <p14:creationId xmlns:p14="http://schemas.microsoft.com/office/powerpoint/2010/main" val="257134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8414C-824C-87A1-56A6-59A82FC7B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4CF4A-3593-C01D-9BD2-CEB5E80AE431}"/>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D1924D03-8EA1-E6AE-DACF-1432EF875231}"/>
              </a:ext>
            </a:extLst>
          </p:cNvPr>
          <p:cNvSpPr>
            <a:spLocks noGrp="1"/>
          </p:cNvSpPr>
          <p:nvPr>
            <p:ph idx="1"/>
          </p:nvPr>
        </p:nvSpPr>
        <p:spPr/>
        <p:txBody>
          <a:bodyPr/>
          <a:lstStyle/>
          <a:p>
            <a:r>
              <a:rPr lang="en-US" dirty="0"/>
              <a:t>Calculate the mean price of a car using the mean function!</a:t>
            </a:r>
          </a:p>
        </p:txBody>
      </p:sp>
      <p:pic>
        <p:nvPicPr>
          <p:cNvPr id="5" name="Picture 4">
            <a:extLst>
              <a:ext uri="{FF2B5EF4-FFF2-40B4-BE49-F238E27FC236}">
                <a16:creationId xmlns:a16="http://schemas.microsoft.com/office/drawing/2014/main" id="{E36FC473-CD99-2F9A-8DC9-5D5BCBC471D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743825" y="3212758"/>
            <a:ext cx="3340100" cy="3340100"/>
          </a:xfrm>
          <a:prstGeom prst="rect">
            <a:avLst/>
          </a:prstGeom>
        </p:spPr>
      </p:pic>
      <p:pic>
        <p:nvPicPr>
          <p:cNvPr id="7" name="Picture 6" descr="A close up of a number  AI-generated content may be incorrect.">
            <a:extLst>
              <a:ext uri="{FF2B5EF4-FFF2-40B4-BE49-F238E27FC236}">
                <a16:creationId xmlns:a16="http://schemas.microsoft.com/office/drawing/2014/main" id="{76616289-3EB6-F24B-BBE4-3C323DC6120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08075" y="3971406"/>
            <a:ext cx="5217958" cy="1243532"/>
          </a:xfrm>
          <a:prstGeom prst="rect">
            <a:avLst/>
          </a:prstGeom>
        </p:spPr>
      </p:pic>
    </p:spTree>
    <p:extLst>
      <p:ext uri="{BB962C8B-B14F-4D97-AF65-F5344CB8AC3E}">
        <p14:creationId xmlns:p14="http://schemas.microsoft.com/office/powerpoint/2010/main" val="1726153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AD946-113C-FE09-9CC8-1BAFC61B7696}"/>
              </a:ext>
            </a:extLst>
          </p:cNvPr>
          <p:cNvSpPr>
            <a:spLocks noGrp="1"/>
          </p:cNvSpPr>
          <p:nvPr>
            <p:ph type="title"/>
          </p:nvPr>
        </p:nvSpPr>
        <p:spPr/>
        <p:txBody>
          <a:bodyPr/>
          <a:lstStyle/>
          <a:p>
            <a:r>
              <a:rPr lang="en-US" dirty="0"/>
              <a:t>Frequency “table” function</a:t>
            </a:r>
          </a:p>
        </p:txBody>
      </p:sp>
      <p:sp>
        <p:nvSpPr>
          <p:cNvPr id="3" name="Content Placeholder 2">
            <a:extLst>
              <a:ext uri="{FF2B5EF4-FFF2-40B4-BE49-F238E27FC236}">
                <a16:creationId xmlns:a16="http://schemas.microsoft.com/office/drawing/2014/main" id="{8C833872-926B-C381-4DCF-9A548C85EE5B}"/>
              </a:ext>
            </a:extLst>
          </p:cNvPr>
          <p:cNvSpPr>
            <a:spLocks noGrp="1"/>
          </p:cNvSpPr>
          <p:nvPr>
            <p:ph idx="1"/>
          </p:nvPr>
        </p:nvSpPr>
        <p:spPr/>
        <p:txBody>
          <a:bodyPr/>
          <a:lstStyle/>
          <a:p>
            <a:r>
              <a:rPr lang="en-US" dirty="0"/>
              <a:t>“table” function provides us the frequency values for each category. </a:t>
            </a:r>
          </a:p>
          <a:p>
            <a:r>
              <a:rPr lang="en-US" dirty="0"/>
              <a:t>For example, there is a variable called “foreign”, which shows whether the car is domestic or foreign. </a:t>
            </a:r>
          </a:p>
          <a:p>
            <a:r>
              <a:rPr lang="en-US" dirty="0"/>
              <a:t>We can find how many of them are domestic and how many of them are foreign using the table function.</a:t>
            </a:r>
          </a:p>
          <a:p>
            <a:pPr marL="0" indent="0">
              <a:buNone/>
            </a:pPr>
            <a:endParaRPr lang="en-US" dirty="0"/>
          </a:p>
        </p:txBody>
      </p:sp>
      <p:pic>
        <p:nvPicPr>
          <p:cNvPr id="5" name="Picture 4" descr="A close-up of a text  AI-generated content may be incorrect.">
            <a:extLst>
              <a:ext uri="{FF2B5EF4-FFF2-40B4-BE49-F238E27FC236}">
                <a16:creationId xmlns:a16="http://schemas.microsoft.com/office/drawing/2014/main" id="{FA856F59-425B-996F-82C8-AB4E9113726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030662" y="5310187"/>
            <a:ext cx="3654053" cy="1433513"/>
          </a:xfrm>
          <a:prstGeom prst="rect">
            <a:avLst/>
          </a:prstGeom>
        </p:spPr>
      </p:pic>
    </p:spTree>
    <p:extLst>
      <p:ext uri="{BB962C8B-B14F-4D97-AF65-F5344CB8AC3E}">
        <p14:creationId xmlns:p14="http://schemas.microsoft.com/office/powerpoint/2010/main" val="4137866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53695-D7D4-C405-F08B-A35C9A937252}"/>
              </a:ext>
            </a:extLst>
          </p:cNvPr>
          <p:cNvSpPr>
            <a:spLocks noGrp="1"/>
          </p:cNvSpPr>
          <p:nvPr>
            <p:ph type="title"/>
          </p:nvPr>
        </p:nvSpPr>
        <p:spPr/>
        <p:txBody>
          <a:bodyPr/>
          <a:lstStyle/>
          <a:p>
            <a:r>
              <a:rPr lang="en-US" dirty="0"/>
              <a:t>Writing and Running R Scripts</a:t>
            </a:r>
          </a:p>
        </p:txBody>
      </p:sp>
      <p:sp>
        <p:nvSpPr>
          <p:cNvPr id="3" name="Content Placeholder 2">
            <a:extLst>
              <a:ext uri="{FF2B5EF4-FFF2-40B4-BE49-F238E27FC236}">
                <a16:creationId xmlns:a16="http://schemas.microsoft.com/office/drawing/2014/main" id="{5A9D71C3-FF2A-CC82-348A-546D72612378}"/>
              </a:ext>
            </a:extLst>
          </p:cNvPr>
          <p:cNvSpPr>
            <a:spLocks noGrp="1"/>
          </p:cNvSpPr>
          <p:nvPr>
            <p:ph idx="1"/>
          </p:nvPr>
        </p:nvSpPr>
        <p:spPr/>
        <p:txBody>
          <a:bodyPr/>
          <a:lstStyle/>
          <a:p>
            <a:r>
              <a:rPr lang="en-US" dirty="0"/>
              <a:t>It’s OK to run your codes on Console for a quick check. </a:t>
            </a:r>
          </a:p>
          <a:p>
            <a:r>
              <a:rPr lang="en-US" dirty="0"/>
              <a:t>But for a project or assignment, you’ll want to save your code so you can run it again or share it. </a:t>
            </a:r>
          </a:p>
          <a:p>
            <a:r>
              <a:rPr lang="en-US" dirty="0"/>
              <a:t>This is where the script comes in.</a:t>
            </a:r>
          </a:p>
          <a:p>
            <a:r>
              <a:rPr lang="en-US" dirty="0"/>
              <a:t>Creating a script: In RStudio, go to File -&gt; New File -&gt; R Script </a:t>
            </a:r>
          </a:p>
        </p:txBody>
      </p:sp>
    </p:spTree>
    <p:extLst>
      <p:ext uri="{BB962C8B-B14F-4D97-AF65-F5344CB8AC3E}">
        <p14:creationId xmlns:p14="http://schemas.microsoft.com/office/powerpoint/2010/main" val="2498348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DDCB-4C42-5B32-53A1-0C79EE327BA1}"/>
              </a:ext>
            </a:extLst>
          </p:cNvPr>
          <p:cNvSpPr>
            <a:spLocks noGrp="1"/>
          </p:cNvSpPr>
          <p:nvPr>
            <p:ph type="title"/>
          </p:nvPr>
        </p:nvSpPr>
        <p:spPr>
          <a:xfrm>
            <a:off x="723900" y="699051"/>
            <a:ext cx="4148138" cy="572538"/>
          </a:xfrm>
        </p:spPr>
        <p:txBody>
          <a:bodyPr>
            <a:normAutofit fontScale="90000"/>
          </a:bodyPr>
          <a:lstStyle/>
          <a:p>
            <a:r>
              <a:rPr lang="en-US" dirty="0"/>
              <a:t>New Script</a:t>
            </a:r>
          </a:p>
        </p:txBody>
      </p:sp>
      <p:pic>
        <p:nvPicPr>
          <p:cNvPr id="5" name="Content Placeholder 4">
            <a:extLst>
              <a:ext uri="{FF2B5EF4-FFF2-40B4-BE49-F238E27FC236}">
                <a16:creationId xmlns:a16="http://schemas.microsoft.com/office/drawing/2014/main" id="{18AA1AD3-CD81-CFC2-2B7F-8AFE6D74AD25}"/>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2228851" y="1414237"/>
            <a:ext cx="8032426" cy="5272313"/>
          </a:xfrm>
        </p:spPr>
      </p:pic>
    </p:spTree>
    <p:extLst>
      <p:ext uri="{BB962C8B-B14F-4D97-AF65-F5344CB8AC3E}">
        <p14:creationId xmlns:p14="http://schemas.microsoft.com/office/powerpoint/2010/main" val="2349779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8953689-62D5-2CA7-8B42-B38BE9C60BEC}"/>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2128837" y="1333012"/>
            <a:ext cx="8237663" cy="5407026"/>
          </a:xfrm>
        </p:spPr>
      </p:pic>
      <p:sp>
        <p:nvSpPr>
          <p:cNvPr id="6" name="Title 1">
            <a:extLst>
              <a:ext uri="{FF2B5EF4-FFF2-40B4-BE49-F238E27FC236}">
                <a16:creationId xmlns:a16="http://schemas.microsoft.com/office/drawing/2014/main" id="{C1AE557D-D709-BBD5-CA80-4E7ED8905950}"/>
              </a:ext>
            </a:extLst>
          </p:cNvPr>
          <p:cNvSpPr txBox="1">
            <a:spLocks/>
          </p:cNvSpPr>
          <p:nvPr/>
        </p:nvSpPr>
        <p:spPr>
          <a:xfrm>
            <a:off x="838200" y="631887"/>
            <a:ext cx="4148138" cy="572538"/>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New Script - 2</a:t>
            </a:r>
          </a:p>
        </p:txBody>
      </p:sp>
    </p:spTree>
    <p:extLst>
      <p:ext uri="{BB962C8B-B14F-4D97-AF65-F5344CB8AC3E}">
        <p14:creationId xmlns:p14="http://schemas.microsoft.com/office/powerpoint/2010/main" val="3466338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88326EA-531D-9235-DC4B-5BDB8A75BAE3}"/>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2102307" y="1099100"/>
            <a:ext cx="8556167" cy="5616085"/>
          </a:xfrm>
        </p:spPr>
      </p:pic>
      <p:sp>
        <p:nvSpPr>
          <p:cNvPr id="4" name="Title 1">
            <a:extLst>
              <a:ext uri="{FF2B5EF4-FFF2-40B4-BE49-F238E27FC236}">
                <a16:creationId xmlns:a16="http://schemas.microsoft.com/office/drawing/2014/main" id="{56CE73E0-4D9D-ABC9-5A11-1C996886CA11}"/>
              </a:ext>
            </a:extLst>
          </p:cNvPr>
          <p:cNvSpPr txBox="1">
            <a:spLocks/>
          </p:cNvSpPr>
          <p:nvPr/>
        </p:nvSpPr>
        <p:spPr>
          <a:xfrm>
            <a:off x="838200" y="631887"/>
            <a:ext cx="4148138" cy="572538"/>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Save Your Script</a:t>
            </a:r>
          </a:p>
        </p:txBody>
      </p:sp>
    </p:spTree>
    <p:extLst>
      <p:ext uri="{BB962C8B-B14F-4D97-AF65-F5344CB8AC3E}">
        <p14:creationId xmlns:p14="http://schemas.microsoft.com/office/powerpoint/2010/main" val="3520071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DD5A-D7CD-F8FB-0086-8B0B3B7CFA9B}"/>
              </a:ext>
            </a:extLst>
          </p:cNvPr>
          <p:cNvSpPr>
            <a:spLocks noGrp="1"/>
          </p:cNvSpPr>
          <p:nvPr>
            <p:ph type="title"/>
          </p:nvPr>
        </p:nvSpPr>
        <p:spPr/>
        <p:txBody>
          <a:bodyPr/>
          <a:lstStyle/>
          <a:p>
            <a:r>
              <a:rPr lang="en-US" dirty="0"/>
              <a:t>Benefits of Using Scripts</a:t>
            </a:r>
          </a:p>
        </p:txBody>
      </p:sp>
      <p:sp>
        <p:nvSpPr>
          <p:cNvPr id="20" name="Text 1">
            <a:extLst>
              <a:ext uri="{FF2B5EF4-FFF2-40B4-BE49-F238E27FC236}">
                <a16:creationId xmlns:a16="http://schemas.microsoft.com/office/drawing/2014/main" id="{A4F08A8D-E7B2-ABCA-0CBA-619AA28980E8}"/>
              </a:ext>
            </a:extLst>
          </p:cNvPr>
          <p:cNvSpPr/>
          <p:nvPr/>
        </p:nvSpPr>
        <p:spPr>
          <a:xfrm>
            <a:off x="1547763" y="2746175"/>
            <a:ext cx="2362696" cy="295275"/>
          </a:xfrm>
          <a:prstGeom prst="rect">
            <a:avLst/>
          </a:prstGeom>
          <a:noFill/>
          <a:ln/>
        </p:spPr>
        <p:txBody>
          <a:bodyPr wrap="none" lIns="0" tIns="0" rIns="0" bIns="0" rtlCol="0" anchor="t"/>
          <a:lstStyle/>
          <a:p>
            <a:pPr algn="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Reproducibility</a:t>
            </a:r>
            <a:endParaRPr lang="en-US" sz="1833" dirty="0">
              <a:latin typeface="Aptos" panose="020B0004020202020204" pitchFamily="34" charset="0"/>
            </a:endParaRPr>
          </a:p>
        </p:txBody>
      </p:sp>
      <p:sp>
        <p:nvSpPr>
          <p:cNvPr id="21" name="Text 2">
            <a:extLst>
              <a:ext uri="{FF2B5EF4-FFF2-40B4-BE49-F238E27FC236}">
                <a16:creationId xmlns:a16="http://schemas.microsoft.com/office/drawing/2014/main" id="{2634CE1D-F8CF-087F-9264-1712FA9AAC96}"/>
              </a:ext>
            </a:extLst>
          </p:cNvPr>
          <p:cNvSpPr/>
          <p:nvPr/>
        </p:nvSpPr>
        <p:spPr>
          <a:xfrm>
            <a:off x="661541" y="3154858"/>
            <a:ext cx="3248918" cy="604838"/>
          </a:xfrm>
          <a:prstGeom prst="rect">
            <a:avLst/>
          </a:prstGeom>
          <a:noFill/>
          <a:ln/>
        </p:spPr>
        <p:txBody>
          <a:bodyPr wrap="square" lIns="0" tIns="0" rIns="0" bIns="0" rtlCol="0" anchor="t"/>
          <a:lstStyle/>
          <a:p>
            <a:pPr algn="r">
              <a:lnSpc>
                <a:spcPts val="2375"/>
              </a:lnSpc>
            </a:pPr>
            <a:r>
              <a:rPr lang="en-US" sz="1458" dirty="0">
                <a:solidFill>
                  <a:srgbClr val="000000"/>
                </a:solidFill>
                <a:latin typeface="Aptos" panose="020B0004020202020204" pitchFamily="34" charset="0"/>
                <a:ea typeface="Inter" pitchFamily="34" charset="-122"/>
                <a:cs typeface="Inter" pitchFamily="34" charset="-120"/>
              </a:rPr>
              <a:t>Scientific reproducibility: anyone with your script and data can rerun your exact analysis. This is now required by many journals and organizations.</a:t>
            </a:r>
            <a:endParaRPr lang="en-US" sz="1458" dirty="0">
              <a:latin typeface="Aptos" panose="020B0004020202020204" pitchFamily="34" charset="0"/>
            </a:endParaRPr>
          </a:p>
        </p:txBody>
      </p:sp>
      <p:pic>
        <p:nvPicPr>
          <p:cNvPr id="22" name="Image 0" descr="preencoded.png">
            <a:extLst>
              <a:ext uri="{FF2B5EF4-FFF2-40B4-BE49-F238E27FC236}">
                <a16:creationId xmlns:a16="http://schemas.microsoft.com/office/drawing/2014/main" id="{44E532D0-0ED8-5D61-BCBF-26EF610182D1}"/>
              </a:ext>
            </a:extLst>
          </p:cNvPr>
          <p:cNvPicPr>
            <a:picLocks noChangeAspect="1"/>
          </p:cNvPicPr>
          <p:nvPr/>
        </p:nvPicPr>
        <p:blipFill>
          <a:blip r:embed="rId2"/>
          <a:stretch>
            <a:fillRect/>
          </a:stretch>
        </p:blipFill>
        <p:spPr>
          <a:xfrm>
            <a:off x="4193927" y="2372816"/>
            <a:ext cx="3804146" cy="3804146"/>
          </a:xfrm>
          <a:prstGeom prst="rect">
            <a:avLst/>
          </a:prstGeom>
        </p:spPr>
      </p:pic>
      <p:pic>
        <p:nvPicPr>
          <p:cNvPr id="23" name="Image 1" descr="preencoded.png">
            <a:extLst>
              <a:ext uri="{FF2B5EF4-FFF2-40B4-BE49-F238E27FC236}">
                <a16:creationId xmlns:a16="http://schemas.microsoft.com/office/drawing/2014/main" id="{6A91A61D-4AF8-00CB-7B5F-84C1FECA6997}"/>
              </a:ext>
            </a:extLst>
          </p:cNvPr>
          <p:cNvPicPr>
            <a:picLocks noChangeAspect="1"/>
          </p:cNvPicPr>
          <p:nvPr/>
        </p:nvPicPr>
        <p:blipFill>
          <a:blip r:embed="rId3"/>
          <a:stretch>
            <a:fillRect/>
          </a:stretch>
        </p:blipFill>
        <p:spPr>
          <a:xfrm>
            <a:off x="5188992" y="3008709"/>
            <a:ext cx="282773" cy="353517"/>
          </a:xfrm>
          <a:prstGeom prst="rect">
            <a:avLst/>
          </a:prstGeom>
        </p:spPr>
      </p:pic>
      <p:sp>
        <p:nvSpPr>
          <p:cNvPr id="24" name="Text 3">
            <a:extLst>
              <a:ext uri="{FF2B5EF4-FFF2-40B4-BE49-F238E27FC236}">
                <a16:creationId xmlns:a16="http://schemas.microsoft.com/office/drawing/2014/main" id="{FF7FE680-6DEA-CB07-6165-C77905E09FB6}"/>
              </a:ext>
            </a:extLst>
          </p:cNvPr>
          <p:cNvSpPr/>
          <p:nvPr/>
        </p:nvSpPr>
        <p:spPr>
          <a:xfrm>
            <a:off x="8281541" y="2746175"/>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Organization</a:t>
            </a:r>
            <a:endParaRPr lang="en-US" sz="1833" dirty="0">
              <a:latin typeface="Aptos" panose="020B0004020202020204" pitchFamily="34" charset="0"/>
            </a:endParaRPr>
          </a:p>
        </p:txBody>
      </p:sp>
      <p:sp>
        <p:nvSpPr>
          <p:cNvPr id="25" name="Text 4">
            <a:extLst>
              <a:ext uri="{FF2B5EF4-FFF2-40B4-BE49-F238E27FC236}">
                <a16:creationId xmlns:a16="http://schemas.microsoft.com/office/drawing/2014/main" id="{F1CCFEBA-378A-48F8-1F0C-740B059AF34B}"/>
              </a:ext>
            </a:extLst>
          </p:cNvPr>
          <p:cNvSpPr/>
          <p:nvPr/>
        </p:nvSpPr>
        <p:spPr>
          <a:xfrm>
            <a:off x="8281541" y="3154858"/>
            <a:ext cx="3249018"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Version control: scripts can be tracked with Git, so you can see every change made and roll back mistakes — essential for professional and academic work.</a:t>
            </a:r>
            <a:endParaRPr lang="en-US" sz="1458" dirty="0">
              <a:latin typeface="Aptos" panose="020B0004020202020204" pitchFamily="34" charset="0"/>
            </a:endParaRPr>
          </a:p>
        </p:txBody>
      </p:sp>
      <p:pic>
        <p:nvPicPr>
          <p:cNvPr id="26" name="Image 2" descr="preencoded.png">
            <a:extLst>
              <a:ext uri="{FF2B5EF4-FFF2-40B4-BE49-F238E27FC236}">
                <a16:creationId xmlns:a16="http://schemas.microsoft.com/office/drawing/2014/main" id="{B2B189DA-974C-3918-8B7D-D95346484CC1}"/>
              </a:ext>
            </a:extLst>
          </p:cNvPr>
          <p:cNvPicPr>
            <a:picLocks noChangeAspect="1"/>
          </p:cNvPicPr>
          <p:nvPr/>
        </p:nvPicPr>
        <p:blipFill>
          <a:blip r:embed="rId4"/>
          <a:stretch>
            <a:fillRect/>
          </a:stretch>
        </p:blipFill>
        <p:spPr>
          <a:xfrm>
            <a:off x="4193927" y="2372816"/>
            <a:ext cx="3804146" cy="3804146"/>
          </a:xfrm>
          <a:prstGeom prst="rect">
            <a:avLst/>
          </a:prstGeom>
        </p:spPr>
      </p:pic>
      <p:pic>
        <p:nvPicPr>
          <p:cNvPr id="27" name="Image 3" descr="preencoded.png">
            <a:extLst>
              <a:ext uri="{FF2B5EF4-FFF2-40B4-BE49-F238E27FC236}">
                <a16:creationId xmlns:a16="http://schemas.microsoft.com/office/drawing/2014/main" id="{0008D844-24EE-8DD0-9E3C-89480139589F}"/>
              </a:ext>
            </a:extLst>
          </p:cNvPr>
          <p:cNvPicPr>
            <a:picLocks noChangeAspect="1"/>
          </p:cNvPicPr>
          <p:nvPr/>
        </p:nvPicPr>
        <p:blipFill>
          <a:blip r:embed="rId5"/>
          <a:stretch>
            <a:fillRect/>
          </a:stretch>
        </p:blipFill>
        <p:spPr>
          <a:xfrm>
            <a:off x="7043886" y="3332459"/>
            <a:ext cx="282773" cy="353517"/>
          </a:xfrm>
          <a:prstGeom prst="rect">
            <a:avLst/>
          </a:prstGeom>
        </p:spPr>
      </p:pic>
      <p:sp>
        <p:nvSpPr>
          <p:cNvPr id="28" name="Text 5">
            <a:extLst>
              <a:ext uri="{FF2B5EF4-FFF2-40B4-BE49-F238E27FC236}">
                <a16:creationId xmlns:a16="http://schemas.microsoft.com/office/drawing/2014/main" id="{02D136F1-9832-546A-EDA4-1195C7E44988}"/>
              </a:ext>
            </a:extLst>
          </p:cNvPr>
          <p:cNvSpPr/>
          <p:nvPr/>
        </p:nvSpPr>
        <p:spPr>
          <a:xfrm>
            <a:off x="8281541" y="4789983"/>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Troubleshooting</a:t>
            </a:r>
            <a:endParaRPr lang="en-US" sz="1833" dirty="0">
              <a:latin typeface="Aptos" panose="020B0004020202020204" pitchFamily="34" charset="0"/>
            </a:endParaRPr>
          </a:p>
        </p:txBody>
      </p:sp>
      <p:sp>
        <p:nvSpPr>
          <p:cNvPr id="29" name="Text 6">
            <a:extLst>
              <a:ext uri="{FF2B5EF4-FFF2-40B4-BE49-F238E27FC236}">
                <a16:creationId xmlns:a16="http://schemas.microsoft.com/office/drawing/2014/main" id="{C5C71663-E3CC-FCA1-E98D-7B808C6AD5C4}"/>
              </a:ext>
            </a:extLst>
          </p:cNvPr>
          <p:cNvSpPr/>
          <p:nvPr/>
        </p:nvSpPr>
        <p:spPr>
          <a:xfrm>
            <a:off x="8281541" y="5198665"/>
            <a:ext cx="3249018"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Auditability: every transformation is documented in code, not hidden in manual spreadsheet steps. Your analysis can be independently verified.</a:t>
            </a:r>
            <a:endParaRPr lang="en-US" sz="1458" dirty="0">
              <a:latin typeface="Aptos" panose="020B0004020202020204" pitchFamily="34" charset="0"/>
            </a:endParaRPr>
          </a:p>
        </p:txBody>
      </p:sp>
      <p:pic>
        <p:nvPicPr>
          <p:cNvPr id="30" name="Image 4" descr="preencoded.png">
            <a:extLst>
              <a:ext uri="{FF2B5EF4-FFF2-40B4-BE49-F238E27FC236}">
                <a16:creationId xmlns:a16="http://schemas.microsoft.com/office/drawing/2014/main" id="{1F70FEE7-F985-A1CB-57DA-017D83F86E95}"/>
              </a:ext>
            </a:extLst>
          </p:cNvPr>
          <p:cNvPicPr>
            <a:picLocks noChangeAspect="1"/>
          </p:cNvPicPr>
          <p:nvPr/>
        </p:nvPicPr>
        <p:blipFill>
          <a:blip r:embed="rId6"/>
          <a:stretch>
            <a:fillRect/>
          </a:stretch>
        </p:blipFill>
        <p:spPr>
          <a:xfrm>
            <a:off x="4193927" y="2372816"/>
            <a:ext cx="3804146" cy="3804146"/>
          </a:xfrm>
          <a:prstGeom prst="rect">
            <a:avLst/>
          </a:prstGeom>
        </p:spPr>
      </p:pic>
      <p:pic>
        <p:nvPicPr>
          <p:cNvPr id="31" name="Image 5" descr="preencoded.png">
            <a:extLst>
              <a:ext uri="{FF2B5EF4-FFF2-40B4-BE49-F238E27FC236}">
                <a16:creationId xmlns:a16="http://schemas.microsoft.com/office/drawing/2014/main" id="{E759109B-56CA-2960-1064-AD8B8622FF40}"/>
              </a:ext>
            </a:extLst>
          </p:cNvPr>
          <p:cNvPicPr>
            <a:picLocks noChangeAspect="1"/>
          </p:cNvPicPr>
          <p:nvPr/>
        </p:nvPicPr>
        <p:blipFill>
          <a:blip r:embed="rId7"/>
          <a:stretch>
            <a:fillRect/>
          </a:stretch>
        </p:blipFill>
        <p:spPr>
          <a:xfrm>
            <a:off x="6720135" y="5187354"/>
            <a:ext cx="282773" cy="353517"/>
          </a:xfrm>
          <a:prstGeom prst="rect">
            <a:avLst/>
          </a:prstGeom>
        </p:spPr>
      </p:pic>
      <p:sp>
        <p:nvSpPr>
          <p:cNvPr id="32" name="Text 7">
            <a:extLst>
              <a:ext uri="{FF2B5EF4-FFF2-40B4-BE49-F238E27FC236}">
                <a16:creationId xmlns:a16="http://schemas.microsoft.com/office/drawing/2014/main" id="{A3E49FDC-FCA0-2B70-2876-01DCAF026588}"/>
              </a:ext>
            </a:extLst>
          </p:cNvPr>
          <p:cNvSpPr/>
          <p:nvPr/>
        </p:nvSpPr>
        <p:spPr>
          <a:xfrm>
            <a:off x="1547763" y="4789983"/>
            <a:ext cx="2362696" cy="295275"/>
          </a:xfrm>
          <a:prstGeom prst="rect">
            <a:avLst/>
          </a:prstGeom>
          <a:noFill/>
          <a:ln/>
        </p:spPr>
        <p:txBody>
          <a:bodyPr wrap="none" lIns="0" tIns="0" rIns="0" bIns="0" rtlCol="0" anchor="t"/>
          <a:lstStyle/>
          <a:p>
            <a:pPr algn="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Sharing</a:t>
            </a:r>
            <a:endParaRPr lang="en-US" sz="1833" dirty="0">
              <a:latin typeface="Aptos" panose="020B0004020202020204" pitchFamily="34" charset="0"/>
            </a:endParaRPr>
          </a:p>
        </p:txBody>
      </p:sp>
      <p:sp>
        <p:nvSpPr>
          <p:cNvPr id="33" name="Text 8">
            <a:extLst>
              <a:ext uri="{FF2B5EF4-FFF2-40B4-BE49-F238E27FC236}">
                <a16:creationId xmlns:a16="http://schemas.microsoft.com/office/drawing/2014/main" id="{B25CAF42-7B9D-0D70-D22C-BB81F983BFAC}"/>
              </a:ext>
            </a:extLst>
          </p:cNvPr>
          <p:cNvSpPr/>
          <p:nvPr/>
        </p:nvSpPr>
        <p:spPr>
          <a:xfrm>
            <a:off x="661541" y="5198665"/>
            <a:ext cx="3248918" cy="604838"/>
          </a:xfrm>
          <a:prstGeom prst="rect">
            <a:avLst/>
          </a:prstGeom>
          <a:noFill/>
          <a:ln/>
        </p:spPr>
        <p:txBody>
          <a:bodyPr wrap="square" lIns="0" tIns="0" rIns="0" bIns="0" rtlCol="0" anchor="t"/>
          <a:lstStyle/>
          <a:p>
            <a:pPr algn="r">
              <a:lnSpc>
                <a:spcPts val="2375"/>
              </a:lnSpc>
            </a:pPr>
            <a:r>
              <a:rPr lang="en-US" sz="1458" dirty="0">
                <a:solidFill>
                  <a:srgbClr val="000000"/>
                </a:solidFill>
                <a:latin typeface="Aptos" panose="020B0004020202020204" pitchFamily="34" charset="0"/>
                <a:ea typeface="Inter" pitchFamily="34" charset="-122"/>
                <a:cs typeface="Inter" pitchFamily="34" charset="-120"/>
              </a:rPr>
              <a:t>Collaboration: share your .R script and others can reproduce, extend, or peer-review your work — the foundation of open science.</a:t>
            </a:r>
            <a:endParaRPr lang="en-US" sz="1458" dirty="0">
              <a:latin typeface="Aptos" panose="020B0004020202020204" pitchFamily="34" charset="0"/>
            </a:endParaRPr>
          </a:p>
        </p:txBody>
      </p:sp>
      <p:pic>
        <p:nvPicPr>
          <p:cNvPr id="34" name="Image 6" descr="preencoded.png">
            <a:extLst>
              <a:ext uri="{FF2B5EF4-FFF2-40B4-BE49-F238E27FC236}">
                <a16:creationId xmlns:a16="http://schemas.microsoft.com/office/drawing/2014/main" id="{EA43CE14-6388-80E9-7EAA-F06D0A7000B0}"/>
              </a:ext>
            </a:extLst>
          </p:cNvPr>
          <p:cNvPicPr>
            <a:picLocks noChangeAspect="1"/>
          </p:cNvPicPr>
          <p:nvPr/>
        </p:nvPicPr>
        <p:blipFill>
          <a:blip r:embed="rId8"/>
          <a:stretch>
            <a:fillRect/>
          </a:stretch>
        </p:blipFill>
        <p:spPr>
          <a:xfrm>
            <a:off x="4193927" y="2372816"/>
            <a:ext cx="3804146" cy="3804146"/>
          </a:xfrm>
          <a:prstGeom prst="rect">
            <a:avLst/>
          </a:prstGeom>
        </p:spPr>
      </p:pic>
      <p:pic>
        <p:nvPicPr>
          <p:cNvPr id="35" name="Image 7" descr="preencoded.png">
            <a:extLst>
              <a:ext uri="{FF2B5EF4-FFF2-40B4-BE49-F238E27FC236}">
                <a16:creationId xmlns:a16="http://schemas.microsoft.com/office/drawing/2014/main" id="{932E975A-4F88-E8F3-98AC-C13EA6908758}"/>
              </a:ext>
            </a:extLst>
          </p:cNvPr>
          <p:cNvPicPr>
            <a:picLocks noChangeAspect="1"/>
          </p:cNvPicPr>
          <p:nvPr/>
        </p:nvPicPr>
        <p:blipFill>
          <a:blip r:embed="rId9"/>
          <a:stretch>
            <a:fillRect/>
          </a:stretch>
        </p:blipFill>
        <p:spPr>
          <a:xfrm>
            <a:off x="4865241" y="4863603"/>
            <a:ext cx="282773" cy="353517"/>
          </a:xfrm>
          <a:prstGeom prst="rect">
            <a:avLst/>
          </a:prstGeom>
        </p:spPr>
      </p:pic>
    </p:spTree>
    <p:extLst>
      <p:ext uri="{BB962C8B-B14F-4D97-AF65-F5344CB8AC3E}">
        <p14:creationId xmlns:p14="http://schemas.microsoft.com/office/powerpoint/2010/main" val="802023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A5B61-87B4-0F64-E94C-D2BE520A39B7}"/>
              </a:ext>
            </a:extLst>
          </p:cNvPr>
          <p:cNvSpPr>
            <a:spLocks noGrp="1"/>
          </p:cNvSpPr>
          <p:nvPr>
            <p:ph type="title"/>
          </p:nvPr>
        </p:nvSpPr>
        <p:spPr/>
        <p:txBody>
          <a:bodyPr/>
          <a:lstStyle/>
          <a:p>
            <a:r>
              <a:rPr lang="en-US" dirty="0"/>
              <a:t>Using Comments in Scripts</a:t>
            </a:r>
          </a:p>
        </p:txBody>
      </p:sp>
      <p:sp>
        <p:nvSpPr>
          <p:cNvPr id="4" name="Text 1">
            <a:extLst>
              <a:ext uri="{FF2B5EF4-FFF2-40B4-BE49-F238E27FC236}">
                <a16:creationId xmlns:a16="http://schemas.microsoft.com/office/drawing/2014/main" id="{18592F73-F61B-7743-094B-EF0D8B1C9373}"/>
              </a:ext>
            </a:extLst>
          </p:cNvPr>
          <p:cNvSpPr/>
          <p:nvPr/>
        </p:nvSpPr>
        <p:spPr>
          <a:xfrm>
            <a:off x="542926" y="2702520"/>
            <a:ext cx="6700838" cy="2269530"/>
          </a:xfrm>
          <a:prstGeom prst="rect">
            <a:avLst/>
          </a:prstGeom>
          <a:noFill/>
          <a:ln/>
        </p:spPr>
        <p:txBody>
          <a:bodyPr wrap="none" lIns="0" tIns="0" rIns="0" bIns="0" rtlCol="0" anchor="t"/>
          <a:lstStyle/>
          <a:p>
            <a:pPr>
              <a:lnSpc>
                <a:spcPts val="2292"/>
              </a:lnSpc>
            </a:pPr>
            <a:r>
              <a:rPr lang="en-US" b="1" dirty="0">
                <a:solidFill>
                  <a:srgbClr val="000000"/>
                </a:solidFill>
                <a:latin typeface="Aptos" panose="020B0004020202020204" pitchFamily="34" charset="0"/>
                <a:ea typeface="Playfair Display Bold" pitchFamily="34" charset="-122"/>
                <a:cs typeface="Playfair Display Bold" pitchFamily="34" charset="-120"/>
              </a:rPr>
              <a:t>What Are Comments?</a:t>
            </a:r>
          </a:p>
          <a:p>
            <a:pPr>
              <a:lnSpc>
                <a:spcPts val="2292"/>
              </a:lnSpc>
            </a:pPr>
            <a:endParaRPr lang="en-US" b="1" dirty="0">
              <a:solidFill>
                <a:srgbClr val="000000"/>
              </a:solidFill>
              <a:latin typeface="Aptos" panose="020B0004020202020204" pitchFamily="34" charset="0"/>
              <a:ea typeface="Playfair Display Bold" pitchFamily="34" charset="-122"/>
            </a:endParaRPr>
          </a:p>
          <a:p>
            <a:pPr>
              <a:lnSpc>
                <a:spcPts val="2292"/>
              </a:lnSpc>
            </a:pPr>
            <a:r>
              <a:rPr lang="en-US" dirty="0">
                <a:solidFill>
                  <a:srgbClr val="000000"/>
                </a:solidFill>
                <a:latin typeface="Aptos" panose="020B0004020202020204" pitchFamily="34" charset="0"/>
                <a:ea typeface="Inter" pitchFamily="34" charset="-122"/>
                <a:cs typeface="Inter" pitchFamily="34" charset="-120"/>
              </a:rPr>
              <a:t>Text preceded by # symbol that R ignores when running code.</a:t>
            </a:r>
          </a:p>
          <a:p>
            <a:pPr>
              <a:lnSpc>
                <a:spcPts val="2292"/>
              </a:lnSpc>
            </a:pPr>
            <a:endParaRPr lang="en-US" dirty="0">
              <a:solidFill>
                <a:srgbClr val="000000"/>
              </a:solidFill>
              <a:latin typeface="Aptos" panose="020B0004020202020204" pitchFamily="34" charset="0"/>
              <a:ea typeface="Inter" pitchFamily="34" charset="-122"/>
              <a:cs typeface="Inter" pitchFamily="34" charset="-120"/>
            </a:endParaRPr>
          </a:p>
          <a:p>
            <a:pPr>
              <a:lnSpc>
                <a:spcPts val="2292"/>
              </a:lnSpc>
            </a:pPr>
            <a:r>
              <a:rPr lang="en-US" dirty="0">
                <a:solidFill>
                  <a:srgbClr val="000000"/>
                </a:solidFill>
                <a:latin typeface="Aptos" panose="020B0004020202020204" pitchFamily="34" charset="0"/>
                <a:ea typeface="Inter" pitchFamily="34" charset="-122"/>
                <a:cs typeface="Inter" pitchFamily="34" charset="-120"/>
              </a:rPr>
              <a:t>Used to explain what your code does in plain language.</a:t>
            </a:r>
            <a:endParaRPr lang="en-US" dirty="0">
              <a:latin typeface="Aptos" panose="020B0004020202020204" pitchFamily="34" charset="0"/>
            </a:endParaRPr>
          </a:p>
          <a:p>
            <a:pPr>
              <a:lnSpc>
                <a:spcPts val="2292"/>
              </a:lnSpc>
            </a:pPr>
            <a:endParaRPr lang="en-US" dirty="0">
              <a:latin typeface="Aptos" panose="020B0004020202020204" pitchFamily="34" charset="0"/>
            </a:endParaRPr>
          </a:p>
          <a:p>
            <a:pPr>
              <a:lnSpc>
                <a:spcPts val="2292"/>
              </a:lnSpc>
            </a:pPr>
            <a:endParaRPr lang="en-US" dirty="0">
              <a:latin typeface="Aptos" panose="020B0004020202020204" pitchFamily="34" charset="0"/>
            </a:endParaRPr>
          </a:p>
        </p:txBody>
      </p:sp>
      <p:pic>
        <p:nvPicPr>
          <p:cNvPr id="9" name="Picture 8" descr="A close-up of words  AI-generated content may be incorrect.">
            <a:extLst>
              <a:ext uri="{FF2B5EF4-FFF2-40B4-BE49-F238E27FC236}">
                <a16:creationId xmlns:a16="http://schemas.microsoft.com/office/drawing/2014/main" id="{C38AE011-A97E-BCC7-5552-DC84CCFC885A}"/>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434138" y="3822997"/>
            <a:ext cx="5067300" cy="1460500"/>
          </a:xfrm>
          <a:prstGeom prst="rect">
            <a:avLst/>
          </a:prstGeom>
        </p:spPr>
      </p:pic>
    </p:spTree>
    <p:extLst>
      <p:ext uri="{BB962C8B-B14F-4D97-AF65-F5344CB8AC3E}">
        <p14:creationId xmlns:p14="http://schemas.microsoft.com/office/powerpoint/2010/main" val="4143378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43164-9793-4D92-B748-B267FF8B2286}"/>
              </a:ext>
            </a:extLst>
          </p:cNvPr>
          <p:cNvSpPr>
            <a:spLocks noGrp="1"/>
          </p:cNvSpPr>
          <p:nvPr>
            <p:ph type="title"/>
          </p:nvPr>
        </p:nvSpPr>
        <p:spPr/>
        <p:txBody>
          <a:bodyPr/>
          <a:lstStyle/>
          <a:p>
            <a:r>
              <a:rPr lang="en-US" dirty="0"/>
              <a:t>Data Visualization: Why It Matters</a:t>
            </a:r>
          </a:p>
        </p:txBody>
      </p:sp>
      <p:pic>
        <p:nvPicPr>
          <p:cNvPr id="4" name="Image 0" descr="preencoded.png">
            <a:extLst>
              <a:ext uri="{FF2B5EF4-FFF2-40B4-BE49-F238E27FC236}">
                <a16:creationId xmlns:a16="http://schemas.microsoft.com/office/drawing/2014/main" id="{373F6E1C-728E-9008-C045-8A6CDC1B59B1}"/>
              </a:ext>
            </a:extLst>
          </p:cNvPr>
          <p:cNvPicPr>
            <a:picLocks noChangeAspect="1"/>
          </p:cNvPicPr>
          <p:nvPr/>
        </p:nvPicPr>
        <p:blipFill>
          <a:blip r:embed="rId2" cstate="screen">
            <a:extLst>
              <a:ext uri="{28A0092B-C50C-407E-A947-70E740481C1C}">
                <a14:useLocalDpi xmlns:a14="http://schemas.microsoft.com/office/drawing/2010/main"/>
              </a:ext>
            </a:extLst>
          </a:blip>
          <a:srcRect b="-10499"/>
          <a:stretch>
            <a:fillRect/>
          </a:stretch>
        </p:blipFill>
        <p:spPr>
          <a:xfrm>
            <a:off x="301527" y="2667551"/>
            <a:ext cx="4572000" cy="3021455"/>
          </a:xfrm>
          <a:prstGeom prst="rect">
            <a:avLst/>
          </a:prstGeom>
        </p:spPr>
      </p:pic>
      <p:sp>
        <p:nvSpPr>
          <p:cNvPr id="6" name="Shape 1">
            <a:extLst>
              <a:ext uri="{FF2B5EF4-FFF2-40B4-BE49-F238E27FC236}">
                <a16:creationId xmlns:a16="http://schemas.microsoft.com/office/drawing/2014/main" id="{B590D6D2-2BD6-EC1D-2ACE-53F5DE0D829C}"/>
              </a:ext>
            </a:extLst>
          </p:cNvPr>
          <p:cNvSpPr/>
          <p:nvPr/>
        </p:nvSpPr>
        <p:spPr>
          <a:xfrm>
            <a:off x="5233492" y="2742704"/>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7" name="Image 1" descr="preencoded.png">
            <a:extLst>
              <a:ext uri="{FF2B5EF4-FFF2-40B4-BE49-F238E27FC236}">
                <a16:creationId xmlns:a16="http://schemas.microsoft.com/office/drawing/2014/main" id="{68C3715A-76B9-61DA-E2E0-F36677C90588}"/>
              </a:ext>
            </a:extLst>
          </p:cNvPr>
          <p:cNvPicPr>
            <a:picLocks noChangeAspect="1"/>
          </p:cNvPicPr>
          <p:nvPr/>
        </p:nvPicPr>
        <p:blipFill>
          <a:blip r:embed="rId3"/>
          <a:stretch>
            <a:fillRect/>
          </a:stretch>
        </p:blipFill>
        <p:spPr>
          <a:xfrm>
            <a:off x="5304384" y="2778126"/>
            <a:ext cx="283468" cy="354409"/>
          </a:xfrm>
          <a:prstGeom prst="rect">
            <a:avLst/>
          </a:prstGeom>
        </p:spPr>
      </p:pic>
      <p:sp>
        <p:nvSpPr>
          <p:cNvPr id="8" name="Text 2">
            <a:extLst>
              <a:ext uri="{FF2B5EF4-FFF2-40B4-BE49-F238E27FC236}">
                <a16:creationId xmlns:a16="http://schemas.microsoft.com/office/drawing/2014/main" id="{B26FBBF7-3EEF-799F-2144-690FB5A79048}"/>
              </a:ext>
            </a:extLst>
          </p:cNvPr>
          <p:cNvSpPr/>
          <p:nvPr/>
        </p:nvSpPr>
        <p:spPr>
          <a:xfrm>
            <a:off x="5847755" y="2807593"/>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See Patterns</a:t>
            </a:r>
            <a:endParaRPr lang="en-US" sz="1833" dirty="0">
              <a:latin typeface="Aptos" panose="020B0004020202020204" pitchFamily="34" charset="0"/>
            </a:endParaRPr>
          </a:p>
        </p:txBody>
      </p:sp>
      <p:sp>
        <p:nvSpPr>
          <p:cNvPr id="9" name="Text 3">
            <a:extLst>
              <a:ext uri="{FF2B5EF4-FFF2-40B4-BE49-F238E27FC236}">
                <a16:creationId xmlns:a16="http://schemas.microsoft.com/office/drawing/2014/main" id="{BBD52393-E24C-019E-5557-0D99E48F3DAC}"/>
              </a:ext>
            </a:extLst>
          </p:cNvPr>
          <p:cNvSpPr/>
          <p:nvPr/>
        </p:nvSpPr>
        <p:spPr>
          <a:xfrm>
            <a:off x="5847755" y="3216275"/>
            <a:ext cx="2416175" cy="907257"/>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A mean of 21 MPG tells you little — a histogram instantly shows whether the distribution is symmetric, skewed, bimodal, or has outliers. Numbers compress; plots reveal.</a:t>
            </a:r>
            <a:endParaRPr lang="en-US" sz="1458" dirty="0">
              <a:latin typeface="Aptos" panose="020B0004020202020204" pitchFamily="34" charset="0"/>
            </a:endParaRPr>
          </a:p>
        </p:txBody>
      </p:sp>
      <p:sp>
        <p:nvSpPr>
          <p:cNvPr id="10" name="Shape 4">
            <a:extLst>
              <a:ext uri="{FF2B5EF4-FFF2-40B4-BE49-F238E27FC236}">
                <a16:creationId xmlns:a16="http://schemas.microsoft.com/office/drawing/2014/main" id="{3381543A-3EAE-9AE1-A752-AC349CBF6055}"/>
              </a:ext>
            </a:extLst>
          </p:cNvPr>
          <p:cNvSpPr/>
          <p:nvPr/>
        </p:nvSpPr>
        <p:spPr>
          <a:xfrm>
            <a:off x="8500169" y="2742704"/>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11" name="Image 2" descr="preencoded.png">
            <a:extLst>
              <a:ext uri="{FF2B5EF4-FFF2-40B4-BE49-F238E27FC236}">
                <a16:creationId xmlns:a16="http://schemas.microsoft.com/office/drawing/2014/main" id="{36CD2B46-EE9F-728A-D5CB-E742E2D88AEA}"/>
              </a:ext>
            </a:extLst>
          </p:cNvPr>
          <p:cNvPicPr>
            <a:picLocks noChangeAspect="1"/>
          </p:cNvPicPr>
          <p:nvPr/>
        </p:nvPicPr>
        <p:blipFill>
          <a:blip r:embed="rId4"/>
          <a:stretch>
            <a:fillRect/>
          </a:stretch>
        </p:blipFill>
        <p:spPr>
          <a:xfrm>
            <a:off x="8571062" y="2778126"/>
            <a:ext cx="283468" cy="354409"/>
          </a:xfrm>
          <a:prstGeom prst="rect">
            <a:avLst/>
          </a:prstGeom>
        </p:spPr>
      </p:pic>
      <p:sp>
        <p:nvSpPr>
          <p:cNvPr id="12" name="Text 5">
            <a:extLst>
              <a:ext uri="{FF2B5EF4-FFF2-40B4-BE49-F238E27FC236}">
                <a16:creationId xmlns:a16="http://schemas.microsoft.com/office/drawing/2014/main" id="{E02E5BAD-2EAD-768F-E72D-F37F80ABF3FC}"/>
              </a:ext>
            </a:extLst>
          </p:cNvPr>
          <p:cNvSpPr/>
          <p:nvPr/>
        </p:nvSpPr>
        <p:spPr>
          <a:xfrm>
            <a:off x="9114433" y="2807593"/>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Tell Stories</a:t>
            </a:r>
            <a:endParaRPr lang="en-US" sz="1833" dirty="0">
              <a:latin typeface="Aptos" panose="020B0004020202020204" pitchFamily="34" charset="0"/>
            </a:endParaRPr>
          </a:p>
        </p:txBody>
      </p:sp>
      <p:sp>
        <p:nvSpPr>
          <p:cNvPr id="13" name="Text 6">
            <a:extLst>
              <a:ext uri="{FF2B5EF4-FFF2-40B4-BE49-F238E27FC236}">
                <a16:creationId xmlns:a16="http://schemas.microsoft.com/office/drawing/2014/main" id="{D3B4AFBB-E7F3-6716-AA13-AC6BBEB33D05}"/>
              </a:ext>
            </a:extLst>
          </p:cNvPr>
          <p:cNvSpPr/>
          <p:nvPr/>
        </p:nvSpPr>
        <p:spPr>
          <a:xfrm>
            <a:off x="9114433" y="3216275"/>
            <a:ext cx="2416175"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The grammar of graphics (ggplot2): every chart is built from data + aesthetic mappings + geometric layers. This mental model applies across R, Python (seaborn/plotly), and Vega-Lite.</a:t>
            </a:r>
            <a:endParaRPr lang="en-US" sz="1458" dirty="0">
              <a:latin typeface="Aptos" panose="020B0004020202020204" pitchFamily="34" charset="0"/>
            </a:endParaRPr>
          </a:p>
        </p:txBody>
      </p:sp>
      <p:sp>
        <p:nvSpPr>
          <p:cNvPr id="14" name="Shape 7">
            <a:extLst>
              <a:ext uri="{FF2B5EF4-FFF2-40B4-BE49-F238E27FC236}">
                <a16:creationId xmlns:a16="http://schemas.microsoft.com/office/drawing/2014/main" id="{6EBE9429-617B-D4C1-AE8E-F5364DF69FCE}"/>
              </a:ext>
            </a:extLst>
          </p:cNvPr>
          <p:cNvSpPr/>
          <p:nvPr/>
        </p:nvSpPr>
        <p:spPr>
          <a:xfrm>
            <a:off x="5233492" y="4501555"/>
            <a:ext cx="425252" cy="425252"/>
          </a:xfrm>
          <a:prstGeom prst="roundRect">
            <a:avLst>
              <a:gd name="adj" fmla="val 18669"/>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pic>
        <p:nvPicPr>
          <p:cNvPr id="15" name="Image 3" descr="preencoded.png">
            <a:extLst>
              <a:ext uri="{FF2B5EF4-FFF2-40B4-BE49-F238E27FC236}">
                <a16:creationId xmlns:a16="http://schemas.microsoft.com/office/drawing/2014/main" id="{5AADC644-5A04-0680-9EAA-B8FA7C6374FD}"/>
              </a:ext>
            </a:extLst>
          </p:cNvPr>
          <p:cNvPicPr>
            <a:picLocks noChangeAspect="1"/>
          </p:cNvPicPr>
          <p:nvPr/>
        </p:nvPicPr>
        <p:blipFill>
          <a:blip r:embed="rId5"/>
          <a:stretch>
            <a:fillRect/>
          </a:stretch>
        </p:blipFill>
        <p:spPr>
          <a:xfrm>
            <a:off x="5304384" y="4536976"/>
            <a:ext cx="283468" cy="354409"/>
          </a:xfrm>
          <a:prstGeom prst="rect">
            <a:avLst/>
          </a:prstGeom>
        </p:spPr>
      </p:pic>
      <p:sp>
        <p:nvSpPr>
          <p:cNvPr id="16" name="Text 8">
            <a:extLst>
              <a:ext uri="{FF2B5EF4-FFF2-40B4-BE49-F238E27FC236}">
                <a16:creationId xmlns:a16="http://schemas.microsoft.com/office/drawing/2014/main" id="{2D7C639E-21E2-2C7D-25CD-883733BB6483}"/>
              </a:ext>
            </a:extLst>
          </p:cNvPr>
          <p:cNvSpPr/>
          <p:nvPr/>
        </p:nvSpPr>
        <p:spPr>
          <a:xfrm>
            <a:off x="5847755" y="4566444"/>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Generate Insights</a:t>
            </a:r>
            <a:endParaRPr lang="en-US" sz="1833" dirty="0">
              <a:latin typeface="Aptos" panose="020B0004020202020204" pitchFamily="34" charset="0"/>
            </a:endParaRPr>
          </a:p>
        </p:txBody>
      </p:sp>
      <p:sp>
        <p:nvSpPr>
          <p:cNvPr id="17" name="Text 9">
            <a:extLst>
              <a:ext uri="{FF2B5EF4-FFF2-40B4-BE49-F238E27FC236}">
                <a16:creationId xmlns:a16="http://schemas.microsoft.com/office/drawing/2014/main" id="{8290CDC0-1891-3084-6C5E-02FDC72AD174}"/>
              </a:ext>
            </a:extLst>
          </p:cNvPr>
          <p:cNvSpPr/>
          <p:nvPr/>
        </p:nvSpPr>
        <p:spPr>
          <a:xfrm>
            <a:off x="5847756" y="4975126"/>
            <a:ext cx="5682754"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Base R plots are fast for exploration; ggplot2 is the standard for publication and presentation. We start with base R, then introduce ggplot2 syntax.</a:t>
            </a:r>
            <a:endParaRPr lang="en-US" sz="1458" dirty="0">
              <a:latin typeface="Aptos" panose="020B0004020202020204" pitchFamily="34" charset="0"/>
            </a:endParaRPr>
          </a:p>
        </p:txBody>
      </p:sp>
    </p:spTree>
    <p:extLst>
      <p:ext uri="{BB962C8B-B14F-4D97-AF65-F5344CB8AC3E}">
        <p14:creationId xmlns:p14="http://schemas.microsoft.com/office/powerpoint/2010/main" val="2317820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61017-FDB4-A940-A1FE-2F16775701A7}"/>
              </a:ext>
            </a:extLst>
          </p:cNvPr>
          <p:cNvSpPr>
            <a:spLocks noGrp="1"/>
          </p:cNvSpPr>
          <p:nvPr>
            <p:ph type="title"/>
          </p:nvPr>
        </p:nvSpPr>
        <p:spPr/>
        <p:txBody>
          <a:bodyPr>
            <a:normAutofit/>
          </a:bodyPr>
          <a:lstStyle/>
          <a:p>
            <a:r>
              <a:rPr lang="en-US" dirty="0"/>
              <a:t>Simple Data Analysis Example: Summaries and Visualizations</a:t>
            </a:r>
          </a:p>
        </p:txBody>
      </p:sp>
      <p:sp>
        <p:nvSpPr>
          <p:cNvPr id="3" name="Content Placeholder 2">
            <a:extLst>
              <a:ext uri="{FF2B5EF4-FFF2-40B4-BE49-F238E27FC236}">
                <a16:creationId xmlns:a16="http://schemas.microsoft.com/office/drawing/2014/main" id="{1821BA58-D24E-EE97-2312-722223F47071}"/>
              </a:ext>
            </a:extLst>
          </p:cNvPr>
          <p:cNvSpPr>
            <a:spLocks noGrp="1"/>
          </p:cNvSpPr>
          <p:nvPr>
            <p:ph idx="1"/>
          </p:nvPr>
        </p:nvSpPr>
        <p:spPr>
          <a:xfrm>
            <a:off x="838200" y="2604051"/>
            <a:ext cx="9963150" cy="3572911"/>
          </a:xfrm>
        </p:spPr>
        <p:txBody>
          <a:bodyPr>
            <a:normAutofit/>
          </a:bodyPr>
          <a:lstStyle/>
          <a:p>
            <a:r>
              <a:rPr lang="en-US" dirty="0"/>
              <a:t>We start with base R graphics for speed. In practice, ggplot2 is the standard — we preview its syntax after the base R examples. Both produce the same plots; ggplot2 scales to complex, layered visualizations.</a:t>
            </a:r>
          </a:p>
          <a:p>
            <a:pPr marL="971550" lvl="1" indent="-514350">
              <a:buFont typeface="+mj-lt"/>
              <a:buAutoNum type="arabicPeriod"/>
            </a:pPr>
            <a:r>
              <a:rPr lang="en-US" dirty="0"/>
              <a:t>A Histogram of a numeric variable (MPG) to see its distribution.</a:t>
            </a:r>
          </a:p>
          <a:p>
            <a:pPr marL="971550" lvl="1" indent="-514350">
              <a:buFont typeface="+mj-lt"/>
              <a:buAutoNum type="arabicPeriod"/>
            </a:pPr>
            <a:r>
              <a:rPr lang="en-US" dirty="0"/>
              <a:t>A Bar Chart of a categorical-like variable (number of foreign cars) to see how many cars fall into each category.</a:t>
            </a:r>
          </a:p>
          <a:p>
            <a:endParaRPr lang="en-US" dirty="0"/>
          </a:p>
        </p:txBody>
      </p:sp>
    </p:spTree>
    <p:extLst>
      <p:ext uri="{BB962C8B-B14F-4D97-AF65-F5344CB8AC3E}">
        <p14:creationId xmlns:p14="http://schemas.microsoft.com/office/powerpoint/2010/main" val="12198451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50D5C-785D-2FEB-7FDD-4CBC80530A73}"/>
              </a:ext>
            </a:extLst>
          </p:cNvPr>
          <p:cNvSpPr>
            <a:spLocks noGrp="1"/>
          </p:cNvSpPr>
          <p:nvPr>
            <p:ph type="title"/>
          </p:nvPr>
        </p:nvSpPr>
        <p:spPr/>
        <p:txBody>
          <a:bodyPr/>
          <a:lstStyle/>
          <a:p>
            <a:r>
              <a:rPr lang="en-US" dirty="0"/>
              <a:t>Histogram of MPG</a:t>
            </a:r>
          </a:p>
        </p:txBody>
      </p:sp>
      <p:sp>
        <p:nvSpPr>
          <p:cNvPr id="3" name="Content Placeholder 2">
            <a:extLst>
              <a:ext uri="{FF2B5EF4-FFF2-40B4-BE49-F238E27FC236}">
                <a16:creationId xmlns:a16="http://schemas.microsoft.com/office/drawing/2014/main" id="{8F4AF765-7590-2E0F-BEFC-9F8A1756D950}"/>
              </a:ext>
            </a:extLst>
          </p:cNvPr>
          <p:cNvSpPr>
            <a:spLocks noGrp="1"/>
          </p:cNvSpPr>
          <p:nvPr>
            <p:ph idx="1"/>
          </p:nvPr>
        </p:nvSpPr>
        <p:spPr>
          <a:xfrm>
            <a:off x="838200" y="2424663"/>
            <a:ext cx="10515600" cy="3752299"/>
          </a:xfrm>
        </p:spPr>
        <p:txBody>
          <a:bodyPr/>
          <a:lstStyle/>
          <a:p>
            <a:r>
              <a:rPr lang="en-US" dirty="0"/>
              <a:t>A histogram shows the distribution of a continuous numeric variable by grouping values into “bins” (ranges) and plotting bars for the count of observations in each bin. </a:t>
            </a:r>
          </a:p>
          <a:p>
            <a:r>
              <a:rPr lang="en-US" dirty="0"/>
              <a:t>In base R, we will use the hist() function:</a:t>
            </a:r>
          </a:p>
          <a:p>
            <a:endParaRPr lang="en-US" dirty="0"/>
          </a:p>
        </p:txBody>
      </p:sp>
      <p:sp>
        <p:nvSpPr>
          <p:cNvPr id="5" name="TextBox 4">
            <a:extLst>
              <a:ext uri="{FF2B5EF4-FFF2-40B4-BE49-F238E27FC236}">
                <a16:creationId xmlns:a16="http://schemas.microsoft.com/office/drawing/2014/main" id="{1878BD16-F733-DDD0-32A7-D86B61D58F81}"/>
              </a:ext>
            </a:extLst>
          </p:cNvPr>
          <p:cNvSpPr txBox="1"/>
          <p:nvPr/>
        </p:nvSpPr>
        <p:spPr>
          <a:xfrm>
            <a:off x="3150394" y="4386294"/>
            <a:ext cx="6100762" cy="2031325"/>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Plot a histogram of the MPG (Miles per Gallon) column</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hist(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car_data$mpg</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main=</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"Distribution of Car MPG"</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xlab</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"Miles per Gallon (MPG)"</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col=</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skyblue</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border=</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"black"</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8397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B983-029A-FC18-3439-05B93BEE06FA}"/>
              </a:ext>
            </a:extLst>
          </p:cNvPr>
          <p:cNvSpPr>
            <a:spLocks noGrp="1"/>
          </p:cNvSpPr>
          <p:nvPr>
            <p:ph type="title"/>
          </p:nvPr>
        </p:nvSpPr>
        <p:spPr/>
        <p:txBody>
          <a:bodyPr/>
          <a:lstStyle/>
          <a:p>
            <a:r>
              <a:rPr lang="en-US" dirty="0"/>
              <a:t>Histogram of MPG</a:t>
            </a:r>
          </a:p>
        </p:txBody>
      </p:sp>
      <p:pic>
        <p:nvPicPr>
          <p:cNvPr id="8" name="Picture 7" descr="A graph of a distribution of cars  AI-generated content may be incorrect.">
            <a:extLst>
              <a:ext uri="{FF2B5EF4-FFF2-40B4-BE49-F238E27FC236}">
                <a16:creationId xmlns:a16="http://schemas.microsoft.com/office/drawing/2014/main" id="{9B57A0E8-585C-2F22-77E8-8B01255E4C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96000" y="2361393"/>
            <a:ext cx="5180012" cy="4058226"/>
          </a:xfrm>
          <a:prstGeom prst="rect">
            <a:avLst/>
          </a:prstGeom>
        </p:spPr>
      </p:pic>
      <p:sp>
        <p:nvSpPr>
          <p:cNvPr id="9" name="TextBox 8">
            <a:extLst>
              <a:ext uri="{FF2B5EF4-FFF2-40B4-BE49-F238E27FC236}">
                <a16:creationId xmlns:a16="http://schemas.microsoft.com/office/drawing/2014/main" id="{70D1B802-9903-F31A-23FC-D5FAC73044C9}"/>
              </a:ext>
            </a:extLst>
          </p:cNvPr>
          <p:cNvSpPr txBox="1"/>
          <p:nvPr/>
        </p:nvSpPr>
        <p:spPr>
          <a:xfrm>
            <a:off x="1077516" y="3371850"/>
            <a:ext cx="4779169" cy="2031325"/>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Plot a histogram of the MPG (Miles per Gallon) column</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hist(</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car_data$mpg</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main=</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"Distribution of Car MPG"</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18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xlab</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"Miles per Gallon (MPG)"</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col=</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skyblue</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border=</a:t>
            </a:r>
            <a:r>
              <a:rPr lang="en-US" sz="18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"black"</a:t>
            </a: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3200" dirty="0">
              <a:effectLst/>
              <a:latin typeface="Times New Roman" panose="02020603050405020304" pitchFamily="18" charset="0"/>
              <a:ea typeface="Times New Roman" panose="02020603050405020304" pitchFamily="18" charset="0"/>
            </a:endParaRPr>
          </a:p>
          <a:p>
            <a:pPr marL="0" marR="0">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94755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98795-04F3-98C7-2BB7-FAFFEDF6C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F136B-C2E1-AC2F-732A-591D9AC7EDB2}"/>
              </a:ext>
            </a:extLst>
          </p:cNvPr>
          <p:cNvSpPr>
            <a:spLocks noGrp="1"/>
          </p:cNvSpPr>
          <p:nvPr>
            <p:ph type="title"/>
          </p:nvPr>
        </p:nvSpPr>
        <p:spPr>
          <a:xfrm>
            <a:off x="838200" y="927650"/>
            <a:ext cx="10515600" cy="1325563"/>
          </a:xfrm>
        </p:spPr>
        <p:txBody>
          <a:bodyPr/>
          <a:lstStyle/>
          <a:p>
            <a:r>
              <a:rPr lang="en-US" dirty="0"/>
              <a:t>Histogram of MPG – Let’s break down the argument</a:t>
            </a:r>
          </a:p>
        </p:txBody>
      </p:sp>
      <p:pic>
        <p:nvPicPr>
          <p:cNvPr id="8" name="Picture 7" descr="A graph of a distribution of cars  AI-generated content may be incorrect.">
            <a:extLst>
              <a:ext uri="{FF2B5EF4-FFF2-40B4-BE49-F238E27FC236}">
                <a16:creationId xmlns:a16="http://schemas.microsoft.com/office/drawing/2014/main" id="{64B266D0-E231-71D7-1F7B-9B09764623B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07773" y="3213437"/>
            <a:ext cx="2768469" cy="2168928"/>
          </a:xfrm>
          <a:prstGeom prst="rect">
            <a:avLst/>
          </a:prstGeom>
        </p:spPr>
      </p:pic>
      <p:sp>
        <p:nvSpPr>
          <p:cNvPr id="9" name="TextBox 8">
            <a:extLst>
              <a:ext uri="{FF2B5EF4-FFF2-40B4-BE49-F238E27FC236}">
                <a16:creationId xmlns:a16="http://schemas.microsoft.com/office/drawing/2014/main" id="{B0A6F27E-E41D-3E6F-9BDF-7EA1B9A10B61}"/>
              </a:ext>
            </a:extLst>
          </p:cNvPr>
          <p:cNvSpPr txBox="1"/>
          <p:nvPr/>
        </p:nvSpPr>
        <p:spPr>
          <a:xfrm>
            <a:off x="1445756" y="3113425"/>
            <a:ext cx="7138988" cy="2308324"/>
          </a:xfrm>
          <a:prstGeom prst="rect">
            <a:avLst/>
          </a:prstGeom>
          <a:noFill/>
        </p:spPr>
        <p:txBody>
          <a:bodyPr wrap="square">
            <a:spAutoFit/>
          </a:bodyPr>
          <a:lstStyle/>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8000"/>
                </a:solidFill>
                <a:effectLst/>
                <a:latin typeface="Consolas" panose="020B0609020204030204" pitchFamily="49" charset="0"/>
                <a:ea typeface="Times New Roman" panose="02020603050405020304" pitchFamily="18" charset="0"/>
                <a:cs typeface="Courier New" panose="02070309020205020404" pitchFamily="49" charset="0"/>
              </a:rPr>
              <a:t># Plot a histogram of the MPG (Miles per Gallon) column</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hist(</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car_data$mpg</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main=</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"Distribution of Car MPG"</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US" sz="24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xlab</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"Miles per Gallon (MPG)"</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4000" dirty="0">
              <a:effectLst/>
              <a:latin typeface="Times New Roman" panose="02020603050405020304" pitchFamily="18" charset="0"/>
              <a:ea typeface="Times New Roman" panose="02020603050405020304" pitchFamily="18" charset="0"/>
            </a:endParaRPr>
          </a:p>
          <a:p>
            <a:pPr marL="0" marR="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col=</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err="1">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skyblue</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border=</a:t>
            </a:r>
            <a:r>
              <a:rPr lang="en-US" sz="2400" dirty="0">
                <a:solidFill>
                  <a:srgbClr val="A31515"/>
                </a:solidFill>
                <a:effectLst/>
                <a:latin typeface="Consolas" panose="020B0609020204030204" pitchFamily="49" charset="0"/>
                <a:ea typeface="Times New Roman" panose="02020603050405020304" pitchFamily="18" charset="0"/>
                <a:cs typeface="Courier New" panose="02070309020205020404" pitchFamily="49" charset="0"/>
              </a:rPr>
              <a:t>"black"</a:t>
            </a:r>
            <a:r>
              <a:rPr lang="en-US" sz="24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US" sz="4000" dirty="0">
              <a:effectLst/>
              <a:latin typeface="Times New Roman" panose="02020603050405020304" pitchFamily="18" charset="0"/>
              <a:ea typeface="Times New Roman" panose="02020603050405020304" pitchFamily="18" charset="0"/>
            </a:endParaRPr>
          </a:p>
        </p:txBody>
      </p:sp>
      <p:sp>
        <p:nvSpPr>
          <p:cNvPr id="4" name="Oval 3">
            <a:extLst>
              <a:ext uri="{FF2B5EF4-FFF2-40B4-BE49-F238E27FC236}">
                <a16:creationId xmlns:a16="http://schemas.microsoft.com/office/drawing/2014/main" id="{137CC04C-FC6A-DD4E-2BF0-0A0248E24E61}"/>
              </a:ext>
            </a:extLst>
          </p:cNvPr>
          <p:cNvSpPr/>
          <p:nvPr/>
        </p:nvSpPr>
        <p:spPr>
          <a:xfrm>
            <a:off x="2114549" y="4274286"/>
            <a:ext cx="5529263" cy="457199"/>
          </a:xfrm>
          <a:prstGeom prst="ellipse">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E25CBE1-B32B-A51D-D92B-47920430E267}"/>
              </a:ext>
            </a:extLst>
          </p:cNvPr>
          <p:cNvCxnSpPr>
            <a:cxnSpLocks/>
            <a:endCxn id="7" idx="1"/>
          </p:cNvCxnSpPr>
          <p:nvPr/>
        </p:nvCxnSpPr>
        <p:spPr>
          <a:xfrm flipV="1">
            <a:off x="4581014" y="3899597"/>
            <a:ext cx="1025154" cy="207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1AC1550-3B1C-4EE3-793E-6EB2292CC185}"/>
              </a:ext>
            </a:extLst>
          </p:cNvPr>
          <p:cNvSpPr txBox="1"/>
          <p:nvPr/>
        </p:nvSpPr>
        <p:spPr>
          <a:xfrm>
            <a:off x="5606168" y="3714931"/>
            <a:ext cx="221791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Data we want to plot</a:t>
            </a:r>
          </a:p>
        </p:txBody>
      </p:sp>
      <p:sp>
        <p:nvSpPr>
          <p:cNvPr id="10" name="Oval 9">
            <a:extLst>
              <a:ext uri="{FF2B5EF4-FFF2-40B4-BE49-F238E27FC236}">
                <a16:creationId xmlns:a16="http://schemas.microsoft.com/office/drawing/2014/main" id="{68036F1C-5E1A-DAC4-3316-403A3B6DCF8D}"/>
              </a:ext>
            </a:extLst>
          </p:cNvPr>
          <p:cNvSpPr/>
          <p:nvPr/>
        </p:nvSpPr>
        <p:spPr>
          <a:xfrm>
            <a:off x="2237864" y="5013033"/>
            <a:ext cx="2343150" cy="369332"/>
          </a:xfrm>
          <a:prstGeom prst="ellipse">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Oval 10">
            <a:extLst>
              <a:ext uri="{FF2B5EF4-FFF2-40B4-BE49-F238E27FC236}">
                <a16:creationId xmlns:a16="http://schemas.microsoft.com/office/drawing/2014/main" id="{6DBA97A0-28A3-E791-2B8B-B11177339F37}"/>
              </a:ext>
            </a:extLst>
          </p:cNvPr>
          <p:cNvSpPr/>
          <p:nvPr/>
        </p:nvSpPr>
        <p:spPr>
          <a:xfrm>
            <a:off x="9333092" y="3244334"/>
            <a:ext cx="2343150" cy="369332"/>
          </a:xfrm>
          <a:prstGeom prst="ellipse">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E6162436-226D-F53B-B3F0-A04ABF125312}"/>
              </a:ext>
            </a:extLst>
          </p:cNvPr>
          <p:cNvCxnSpPr>
            <a:stCxn id="4" idx="6"/>
            <a:endCxn id="11" idx="2"/>
          </p:cNvCxnSpPr>
          <p:nvPr/>
        </p:nvCxnSpPr>
        <p:spPr>
          <a:xfrm flipV="1">
            <a:off x="7643812" y="3429000"/>
            <a:ext cx="1689280" cy="10738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60357F84-4962-BC61-6F0D-F558C63A959D}"/>
              </a:ext>
            </a:extLst>
          </p:cNvPr>
          <p:cNvSpPr/>
          <p:nvPr/>
        </p:nvSpPr>
        <p:spPr>
          <a:xfrm>
            <a:off x="2187008" y="4589861"/>
            <a:ext cx="5529263" cy="457199"/>
          </a:xfrm>
          <a:prstGeom prst="ellipse">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Oval 16">
            <a:extLst>
              <a:ext uri="{FF2B5EF4-FFF2-40B4-BE49-F238E27FC236}">
                <a16:creationId xmlns:a16="http://schemas.microsoft.com/office/drawing/2014/main" id="{75978167-1654-C76E-961F-9E47C2C9AE27}"/>
              </a:ext>
            </a:extLst>
          </p:cNvPr>
          <p:cNvSpPr/>
          <p:nvPr/>
        </p:nvSpPr>
        <p:spPr>
          <a:xfrm>
            <a:off x="9644063" y="5047061"/>
            <a:ext cx="1709737" cy="366202"/>
          </a:xfrm>
          <a:prstGeom prst="ellipse">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A12926B-00EA-B4C2-0B3E-CFB6BC7F8D1C}"/>
              </a:ext>
            </a:extLst>
          </p:cNvPr>
          <p:cNvCxnSpPr>
            <a:cxnSpLocks/>
            <a:stCxn id="15" idx="6"/>
            <a:endCxn id="17" idx="2"/>
          </p:cNvCxnSpPr>
          <p:nvPr/>
        </p:nvCxnSpPr>
        <p:spPr>
          <a:xfrm>
            <a:off x="7716271" y="4818461"/>
            <a:ext cx="1927792" cy="4117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B0D060C9-2781-C6D3-1393-D88B6DBD91F1}"/>
              </a:ext>
            </a:extLst>
          </p:cNvPr>
          <p:cNvSpPr/>
          <p:nvPr/>
        </p:nvSpPr>
        <p:spPr>
          <a:xfrm>
            <a:off x="2229870" y="3921968"/>
            <a:ext cx="2343150" cy="369332"/>
          </a:xfrm>
          <a:prstGeom prst="ellipse">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p>
        </p:txBody>
      </p:sp>
      <p:sp>
        <p:nvSpPr>
          <p:cNvPr id="22" name="TextBox 21">
            <a:extLst>
              <a:ext uri="{FF2B5EF4-FFF2-40B4-BE49-F238E27FC236}">
                <a16:creationId xmlns:a16="http://schemas.microsoft.com/office/drawing/2014/main" id="{BF9ABD30-3896-7CC2-1337-DED4A8B974F3}"/>
              </a:ext>
            </a:extLst>
          </p:cNvPr>
          <p:cNvSpPr txBox="1"/>
          <p:nvPr/>
        </p:nvSpPr>
        <p:spPr>
          <a:xfrm>
            <a:off x="1118443" y="5526765"/>
            <a:ext cx="199221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t>Color fills the bars</a:t>
            </a:r>
          </a:p>
        </p:txBody>
      </p:sp>
      <p:cxnSp>
        <p:nvCxnSpPr>
          <p:cNvPr id="24" name="Straight Arrow Connector 23">
            <a:extLst>
              <a:ext uri="{FF2B5EF4-FFF2-40B4-BE49-F238E27FC236}">
                <a16:creationId xmlns:a16="http://schemas.microsoft.com/office/drawing/2014/main" id="{26271298-6A65-E2D2-23C9-64D5B3725C81}"/>
              </a:ext>
            </a:extLst>
          </p:cNvPr>
          <p:cNvCxnSpPr>
            <a:stCxn id="10" idx="4"/>
            <a:endCxn id="22" idx="3"/>
          </p:cNvCxnSpPr>
          <p:nvPr/>
        </p:nvCxnSpPr>
        <p:spPr>
          <a:xfrm flipH="1">
            <a:off x="3110655" y="5382365"/>
            <a:ext cx="298784" cy="3290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C4F6C148-7D66-1516-6270-06C3A6ED7B48}"/>
              </a:ext>
            </a:extLst>
          </p:cNvPr>
          <p:cNvSpPr/>
          <p:nvPr/>
        </p:nvSpPr>
        <p:spPr>
          <a:xfrm>
            <a:off x="4744805" y="5007590"/>
            <a:ext cx="2343150" cy="369332"/>
          </a:xfrm>
          <a:prstGeom prst="ellipse">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7" name="TextBox 26">
            <a:extLst>
              <a:ext uri="{FF2B5EF4-FFF2-40B4-BE49-F238E27FC236}">
                <a16:creationId xmlns:a16="http://schemas.microsoft.com/office/drawing/2014/main" id="{6F3C74B8-391B-E337-F6D2-032BDAF1ACE1}"/>
              </a:ext>
            </a:extLst>
          </p:cNvPr>
          <p:cNvSpPr txBox="1"/>
          <p:nvPr/>
        </p:nvSpPr>
        <p:spPr>
          <a:xfrm>
            <a:off x="5866627" y="5506267"/>
            <a:ext cx="2442656"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t>Color outlines the bars</a:t>
            </a:r>
          </a:p>
        </p:txBody>
      </p:sp>
      <p:cxnSp>
        <p:nvCxnSpPr>
          <p:cNvPr id="29" name="Straight Arrow Connector 28">
            <a:extLst>
              <a:ext uri="{FF2B5EF4-FFF2-40B4-BE49-F238E27FC236}">
                <a16:creationId xmlns:a16="http://schemas.microsoft.com/office/drawing/2014/main" id="{F86C5C1B-9671-9507-18CC-BFD066EA5BA6}"/>
              </a:ext>
            </a:extLst>
          </p:cNvPr>
          <p:cNvCxnSpPr>
            <a:stCxn id="25" idx="3"/>
            <a:endCxn id="27" idx="1"/>
          </p:cNvCxnSpPr>
          <p:nvPr/>
        </p:nvCxnSpPr>
        <p:spPr>
          <a:xfrm>
            <a:off x="5087951" y="5322835"/>
            <a:ext cx="778676" cy="3680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42067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7B36-21B1-58EE-D461-02EE47B9E50C}"/>
              </a:ext>
            </a:extLst>
          </p:cNvPr>
          <p:cNvSpPr>
            <a:spLocks noGrp="1"/>
          </p:cNvSpPr>
          <p:nvPr>
            <p:ph type="title"/>
          </p:nvPr>
        </p:nvSpPr>
        <p:spPr>
          <a:xfrm>
            <a:off x="838200" y="913363"/>
            <a:ext cx="10515600" cy="1325563"/>
          </a:xfrm>
        </p:spPr>
        <p:txBody>
          <a:bodyPr anchor="ctr">
            <a:normAutofit/>
          </a:bodyPr>
          <a:lstStyle/>
          <a:p>
            <a:r>
              <a:rPr lang="en-US" dirty="0"/>
              <a:t>Histogram – Interpretation </a:t>
            </a:r>
          </a:p>
        </p:txBody>
      </p:sp>
      <p:sp>
        <p:nvSpPr>
          <p:cNvPr id="3" name="Content Placeholder 2">
            <a:extLst>
              <a:ext uri="{FF2B5EF4-FFF2-40B4-BE49-F238E27FC236}">
                <a16:creationId xmlns:a16="http://schemas.microsoft.com/office/drawing/2014/main" id="{541CF78E-7F04-DD0E-F307-0556D1994682}"/>
              </a:ext>
            </a:extLst>
          </p:cNvPr>
          <p:cNvSpPr>
            <a:spLocks noGrp="1"/>
          </p:cNvSpPr>
          <p:nvPr>
            <p:ph sz="half" idx="1"/>
          </p:nvPr>
        </p:nvSpPr>
        <p:spPr>
          <a:xfrm>
            <a:off x="838200" y="2125144"/>
            <a:ext cx="5181600" cy="4351338"/>
          </a:xfrm>
        </p:spPr>
        <p:txBody>
          <a:bodyPr>
            <a:normAutofit/>
          </a:bodyPr>
          <a:lstStyle/>
          <a:p>
            <a:r>
              <a:rPr lang="en-US" sz="2000" dirty="0"/>
              <a:t>This histogram shows the distribution shape of MPG. Shape reveals more than any single statistic — here we can assess skewness, outliers, and the most common value range. </a:t>
            </a:r>
          </a:p>
          <a:p>
            <a:r>
              <a:rPr lang="en-US" sz="2000" dirty="0"/>
              <a:t>This distribution is right-skewed: the right tail extends further. This means mean &gt; median, and a few high-MPG outliers pull the average up. </a:t>
            </a:r>
          </a:p>
          <a:p>
            <a:r>
              <a:rPr lang="en-US" sz="2000" dirty="0"/>
              <a:t>The mode is in the 15–20 MPG bin. The median is a better center than the mean for skewed data. Detective question: did you expect this shape before plotting? in that range. </a:t>
            </a:r>
          </a:p>
          <a:p>
            <a:r>
              <a:rPr lang="en-US" sz="2000" dirty="0"/>
              <a:t>Detective question: if you only saw the mean MPG of 21.3, would you have guessed this shape? This is exactly why visualization precedes modeling — distributions tell stories statistics summarize away.</a:t>
            </a:r>
          </a:p>
        </p:txBody>
      </p:sp>
      <p:pic>
        <p:nvPicPr>
          <p:cNvPr id="4" name="Picture 3" descr="A graph of a distribution of cars  AI-generated content may be incorrect.">
            <a:extLst>
              <a:ext uri="{FF2B5EF4-FFF2-40B4-BE49-F238E27FC236}">
                <a16:creationId xmlns:a16="http://schemas.microsoft.com/office/drawing/2014/main" id="{C1589F08-9EFC-4C6C-D145-AE7FC056447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096000" y="2125144"/>
            <a:ext cx="5181600" cy="4351338"/>
          </a:xfrm>
          <a:prstGeom prst="rect">
            <a:avLst/>
          </a:prstGeom>
          <a:noFill/>
        </p:spPr>
      </p:pic>
    </p:spTree>
    <p:extLst>
      <p:ext uri="{BB962C8B-B14F-4D97-AF65-F5344CB8AC3E}">
        <p14:creationId xmlns:p14="http://schemas.microsoft.com/office/powerpoint/2010/main" val="3223156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6AB8-EE60-4825-E9C1-B442D332115A}"/>
              </a:ext>
            </a:extLst>
          </p:cNvPr>
          <p:cNvSpPr>
            <a:spLocks noGrp="1"/>
          </p:cNvSpPr>
          <p:nvPr>
            <p:ph type="title"/>
          </p:nvPr>
        </p:nvSpPr>
        <p:spPr/>
        <p:txBody>
          <a:bodyPr/>
          <a:lstStyle/>
          <a:p>
            <a:r>
              <a:rPr lang="en-US" dirty="0"/>
              <a:t>Quick Tip: Read the error</a:t>
            </a:r>
          </a:p>
        </p:txBody>
      </p:sp>
      <p:sp>
        <p:nvSpPr>
          <p:cNvPr id="3" name="Content Placeholder 2">
            <a:extLst>
              <a:ext uri="{FF2B5EF4-FFF2-40B4-BE49-F238E27FC236}">
                <a16:creationId xmlns:a16="http://schemas.microsoft.com/office/drawing/2014/main" id="{586F4598-4E58-C167-7BEF-A483FA2C23FE}"/>
              </a:ext>
            </a:extLst>
          </p:cNvPr>
          <p:cNvSpPr>
            <a:spLocks noGrp="1"/>
          </p:cNvSpPr>
          <p:nvPr>
            <p:ph idx="1"/>
          </p:nvPr>
        </p:nvSpPr>
        <p:spPr/>
        <p:txBody>
          <a:bodyPr/>
          <a:lstStyle/>
          <a:p>
            <a:r>
              <a:rPr lang="en-US" dirty="0"/>
              <a:t>You will get an error message now or later. Read the error message!</a:t>
            </a:r>
          </a:p>
          <a:p>
            <a:r>
              <a:rPr lang="en-US" dirty="0"/>
              <a:t>The below message says, R can’t find the data file. If you get this error, it means that “</a:t>
            </a:r>
            <a:r>
              <a:rPr lang="en-US" dirty="0" err="1"/>
              <a:t>car_data</a:t>
            </a:r>
            <a:r>
              <a:rPr lang="en-US" dirty="0"/>
              <a:t>” is not in your environment and you need to read it.</a:t>
            </a:r>
          </a:p>
        </p:txBody>
      </p:sp>
      <p:pic>
        <p:nvPicPr>
          <p:cNvPr id="4" name="Content Placeholder 4" descr="A close-up of a text  AI-generated content may be incorrect.">
            <a:extLst>
              <a:ext uri="{FF2B5EF4-FFF2-40B4-BE49-F238E27FC236}">
                <a16:creationId xmlns:a16="http://schemas.microsoft.com/office/drawing/2014/main" id="{EAC7EA8F-5F43-625A-0419-54EA46340C9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454400" y="4741862"/>
            <a:ext cx="4826000" cy="1435100"/>
          </a:xfrm>
          <a:prstGeom prst="rect">
            <a:avLst/>
          </a:prstGeom>
        </p:spPr>
      </p:pic>
    </p:spTree>
    <p:extLst>
      <p:ext uri="{BB962C8B-B14F-4D97-AF65-F5344CB8AC3E}">
        <p14:creationId xmlns:p14="http://schemas.microsoft.com/office/powerpoint/2010/main" val="2607967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9F15B-1B80-7CA0-E036-245BE83CBCE6}"/>
              </a:ext>
            </a:extLst>
          </p:cNvPr>
          <p:cNvSpPr>
            <a:spLocks noGrp="1"/>
          </p:cNvSpPr>
          <p:nvPr>
            <p:ph type="title"/>
          </p:nvPr>
        </p:nvSpPr>
        <p:spPr/>
        <p:txBody>
          <a:bodyPr/>
          <a:lstStyle/>
          <a:p>
            <a:r>
              <a:rPr lang="en-US" dirty="0"/>
              <a:t>Bar Chart</a:t>
            </a:r>
          </a:p>
        </p:txBody>
      </p:sp>
      <p:sp>
        <p:nvSpPr>
          <p:cNvPr id="3" name="Content Placeholder 2">
            <a:extLst>
              <a:ext uri="{FF2B5EF4-FFF2-40B4-BE49-F238E27FC236}">
                <a16:creationId xmlns:a16="http://schemas.microsoft.com/office/drawing/2014/main" id="{B9D06FC8-85AC-E962-79C0-D388A97D5298}"/>
              </a:ext>
            </a:extLst>
          </p:cNvPr>
          <p:cNvSpPr>
            <a:spLocks noGrp="1"/>
          </p:cNvSpPr>
          <p:nvPr>
            <p:ph idx="1"/>
          </p:nvPr>
        </p:nvSpPr>
        <p:spPr>
          <a:xfrm>
            <a:off x="838200" y="2304014"/>
            <a:ext cx="10515600" cy="3572911"/>
          </a:xfrm>
        </p:spPr>
        <p:txBody>
          <a:bodyPr/>
          <a:lstStyle/>
          <a:p>
            <a:r>
              <a:rPr lang="en-US" dirty="0"/>
              <a:t>Let’s visualize the distribution of a categorical variable: the number of foreign cars.</a:t>
            </a:r>
          </a:p>
          <a:p>
            <a:r>
              <a:rPr lang="en-US" dirty="0"/>
              <a:t>Base R has a </a:t>
            </a:r>
            <a:r>
              <a:rPr lang="en-US" dirty="0" err="1"/>
              <a:t>barplot</a:t>
            </a:r>
            <a:r>
              <a:rPr lang="en-US" dirty="0"/>
              <a:t>() function, which can take a vector of counts and plot bars. </a:t>
            </a:r>
          </a:p>
          <a:p>
            <a:r>
              <a:rPr lang="en-US" dirty="0"/>
              <a:t>We can pipe the output of table() directly into </a:t>
            </a:r>
            <a:r>
              <a:rPr lang="en-US" dirty="0" err="1"/>
              <a:t>barplot</a:t>
            </a:r>
            <a:r>
              <a:rPr lang="en-US" dirty="0"/>
              <a:t>() </a:t>
            </a:r>
          </a:p>
        </p:txBody>
      </p:sp>
      <p:sp>
        <p:nvSpPr>
          <p:cNvPr id="5" name="TextBox 4">
            <a:extLst>
              <a:ext uri="{FF2B5EF4-FFF2-40B4-BE49-F238E27FC236}">
                <a16:creationId xmlns:a16="http://schemas.microsoft.com/office/drawing/2014/main" id="{3FF8710A-ECE8-7D41-6DEE-D0F838F9C14C}"/>
              </a:ext>
            </a:extLst>
          </p:cNvPr>
          <p:cNvSpPr txBox="1"/>
          <p:nvPr/>
        </p:nvSpPr>
        <p:spPr>
          <a:xfrm>
            <a:off x="3045619" y="4667425"/>
            <a:ext cx="6100762" cy="1754326"/>
          </a:xfrm>
          <a:prstGeom prst="rect">
            <a:avLst/>
          </a:prstGeom>
          <a:noFill/>
        </p:spPr>
        <p:txBody>
          <a:bodyPr wrap="square">
            <a:spAutoFit/>
          </a:bodyPr>
          <a:lstStyle/>
          <a:p>
            <a:r>
              <a:rPr lang="en-US" dirty="0" err="1"/>
              <a:t>for_counts</a:t>
            </a:r>
            <a:r>
              <a:rPr lang="en-US" dirty="0"/>
              <a:t> &lt;- table(</a:t>
            </a:r>
            <a:r>
              <a:rPr lang="en-US" dirty="0" err="1"/>
              <a:t>car_data$foreign</a:t>
            </a:r>
            <a:r>
              <a:rPr lang="en-US" dirty="0"/>
              <a:t>)</a:t>
            </a:r>
          </a:p>
          <a:p>
            <a:r>
              <a:rPr lang="en-US" dirty="0" err="1"/>
              <a:t>barplot</a:t>
            </a:r>
            <a:r>
              <a:rPr lang="en-US" dirty="0"/>
              <a:t>(</a:t>
            </a:r>
            <a:r>
              <a:rPr lang="en-US" dirty="0" err="1"/>
              <a:t>for_counts</a:t>
            </a:r>
            <a:r>
              <a:rPr lang="en-US" dirty="0"/>
              <a:t>,</a:t>
            </a:r>
          </a:p>
          <a:p>
            <a:r>
              <a:rPr lang="en-US" dirty="0"/>
              <a:t>        main="Number of Cars by Production Location",</a:t>
            </a:r>
          </a:p>
          <a:p>
            <a:r>
              <a:rPr lang="en-US" dirty="0"/>
              <a:t>        </a:t>
            </a:r>
            <a:r>
              <a:rPr lang="en-US" dirty="0" err="1"/>
              <a:t>xlab</a:t>
            </a:r>
            <a:r>
              <a:rPr lang="en-US" dirty="0"/>
              <a:t>="Production",</a:t>
            </a:r>
          </a:p>
          <a:p>
            <a:r>
              <a:rPr lang="en-US" dirty="0"/>
              <a:t>        </a:t>
            </a:r>
            <a:r>
              <a:rPr lang="en-US" dirty="0" err="1"/>
              <a:t>ylab</a:t>
            </a:r>
            <a:r>
              <a:rPr lang="en-US" dirty="0"/>
              <a:t>="Number of Cars",</a:t>
            </a:r>
          </a:p>
          <a:p>
            <a:r>
              <a:rPr lang="en-US" dirty="0"/>
              <a:t>        col="coral")</a:t>
            </a:r>
          </a:p>
        </p:txBody>
      </p:sp>
    </p:spTree>
    <p:extLst>
      <p:ext uri="{BB962C8B-B14F-4D97-AF65-F5344CB8AC3E}">
        <p14:creationId xmlns:p14="http://schemas.microsoft.com/office/powerpoint/2010/main" val="3003735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9135E-AC26-3B97-1522-D1E8DDEE0E6D}"/>
              </a:ext>
            </a:extLst>
          </p:cNvPr>
          <p:cNvSpPr>
            <a:spLocks noGrp="1"/>
          </p:cNvSpPr>
          <p:nvPr>
            <p:ph type="title"/>
          </p:nvPr>
        </p:nvSpPr>
        <p:spPr/>
        <p:txBody>
          <a:bodyPr/>
          <a:lstStyle/>
          <a:p>
            <a:r>
              <a:rPr lang="en-US" dirty="0"/>
              <a:t>Bar Chart</a:t>
            </a:r>
          </a:p>
        </p:txBody>
      </p:sp>
      <p:pic>
        <p:nvPicPr>
          <p:cNvPr id="8" name="Content Placeholder 7" descr="A screenshot of a computer  AI-generated content may be incorrect.">
            <a:extLst>
              <a:ext uri="{FF2B5EF4-FFF2-40B4-BE49-F238E27FC236}">
                <a16:creationId xmlns:a16="http://schemas.microsoft.com/office/drawing/2014/main" id="{888D02DE-CED0-BA4F-0F92-3CFF0DBFC3CC}"/>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03226" y="3234531"/>
            <a:ext cx="6185440" cy="1788266"/>
          </a:xfrm>
        </p:spPr>
      </p:pic>
      <p:pic>
        <p:nvPicPr>
          <p:cNvPr id="10" name="Picture 9" descr="A graph showing a number of cars by production location  AI-generated content may be incorrect.">
            <a:extLst>
              <a:ext uri="{FF2B5EF4-FFF2-40B4-BE49-F238E27FC236}">
                <a16:creationId xmlns:a16="http://schemas.microsoft.com/office/drawing/2014/main" id="{EA616EC8-D2A5-CD02-626A-BAE0F1D1F48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88666" y="2424663"/>
            <a:ext cx="5042946" cy="3950843"/>
          </a:xfrm>
          <a:prstGeom prst="rect">
            <a:avLst/>
          </a:prstGeom>
        </p:spPr>
      </p:pic>
    </p:spTree>
    <p:extLst>
      <p:ext uri="{BB962C8B-B14F-4D97-AF65-F5344CB8AC3E}">
        <p14:creationId xmlns:p14="http://schemas.microsoft.com/office/powerpoint/2010/main" val="28857471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8FF33-D53B-3CC1-5A39-6A0C3F430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0005D-A67B-D8CB-2FA7-8910253F0C82}"/>
              </a:ext>
            </a:extLst>
          </p:cNvPr>
          <p:cNvSpPr>
            <a:spLocks noGrp="1"/>
          </p:cNvSpPr>
          <p:nvPr>
            <p:ph type="title"/>
          </p:nvPr>
        </p:nvSpPr>
        <p:spPr/>
        <p:txBody>
          <a:bodyPr/>
          <a:lstStyle/>
          <a:p>
            <a:r>
              <a:rPr lang="en-US" dirty="0"/>
              <a:t>Bar Chart – Let’s break down the argument</a:t>
            </a:r>
          </a:p>
        </p:txBody>
      </p:sp>
      <p:pic>
        <p:nvPicPr>
          <p:cNvPr id="8" name="Content Placeholder 7" descr="A screenshot of a computer  AI-generated content may be incorrect.">
            <a:extLst>
              <a:ext uri="{FF2B5EF4-FFF2-40B4-BE49-F238E27FC236}">
                <a16:creationId xmlns:a16="http://schemas.microsoft.com/office/drawing/2014/main" id="{7D1101BD-6597-5F40-4715-D2B569331E72}"/>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838200" y="3128887"/>
            <a:ext cx="7758615" cy="2243085"/>
          </a:xfrm>
        </p:spPr>
      </p:pic>
      <p:pic>
        <p:nvPicPr>
          <p:cNvPr id="10" name="Picture 9" descr="A graph showing a number of cars by production location  AI-generated content may be incorrect.">
            <a:extLst>
              <a:ext uri="{FF2B5EF4-FFF2-40B4-BE49-F238E27FC236}">
                <a16:creationId xmlns:a16="http://schemas.microsoft.com/office/drawing/2014/main" id="{E0734EE6-6870-2E01-915A-22B2FAEC5B6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01162" y="2424664"/>
            <a:ext cx="2330449" cy="1825766"/>
          </a:xfrm>
          <a:prstGeom prst="rect">
            <a:avLst/>
          </a:prstGeom>
        </p:spPr>
      </p:pic>
      <p:sp>
        <p:nvSpPr>
          <p:cNvPr id="3" name="Oval 2">
            <a:extLst>
              <a:ext uri="{FF2B5EF4-FFF2-40B4-BE49-F238E27FC236}">
                <a16:creationId xmlns:a16="http://schemas.microsoft.com/office/drawing/2014/main" id="{3ADEB19B-8AB6-AAA5-42CA-C799E2627E34}"/>
              </a:ext>
            </a:extLst>
          </p:cNvPr>
          <p:cNvSpPr/>
          <p:nvPr/>
        </p:nvSpPr>
        <p:spPr>
          <a:xfrm>
            <a:off x="838200" y="3128888"/>
            <a:ext cx="5257799" cy="457276"/>
          </a:xfrm>
          <a:prstGeom prst="ellipse">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TextBox 3">
            <a:extLst>
              <a:ext uri="{FF2B5EF4-FFF2-40B4-BE49-F238E27FC236}">
                <a16:creationId xmlns:a16="http://schemas.microsoft.com/office/drawing/2014/main" id="{8BA96064-A1A1-1288-2769-3F964DFA0CCA}"/>
              </a:ext>
            </a:extLst>
          </p:cNvPr>
          <p:cNvSpPr txBox="1"/>
          <p:nvPr/>
        </p:nvSpPr>
        <p:spPr>
          <a:xfrm>
            <a:off x="4925965" y="2424663"/>
            <a:ext cx="2682016" cy="369332"/>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creates a table of counts </a:t>
            </a:r>
          </a:p>
        </p:txBody>
      </p:sp>
      <p:cxnSp>
        <p:nvCxnSpPr>
          <p:cNvPr id="6" name="Straight Arrow Connector 5">
            <a:extLst>
              <a:ext uri="{FF2B5EF4-FFF2-40B4-BE49-F238E27FC236}">
                <a16:creationId xmlns:a16="http://schemas.microsoft.com/office/drawing/2014/main" id="{B4C238AD-02CD-1B00-E42C-96AFE5CC1073}"/>
              </a:ext>
            </a:extLst>
          </p:cNvPr>
          <p:cNvCxnSpPr>
            <a:stCxn id="3" idx="7"/>
            <a:endCxn id="4" idx="2"/>
          </p:cNvCxnSpPr>
          <p:nvPr/>
        </p:nvCxnSpPr>
        <p:spPr>
          <a:xfrm flipV="1">
            <a:off x="5326012" y="2793995"/>
            <a:ext cx="940961" cy="4018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227FCAD3-0F8B-C8A5-70D1-399BB0C2454A}"/>
              </a:ext>
            </a:extLst>
          </p:cNvPr>
          <p:cNvSpPr/>
          <p:nvPr/>
        </p:nvSpPr>
        <p:spPr>
          <a:xfrm>
            <a:off x="1876423" y="3563870"/>
            <a:ext cx="1671637" cy="357186"/>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9" name="TextBox 8">
            <a:extLst>
              <a:ext uri="{FF2B5EF4-FFF2-40B4-BE49-F238E27FC236}">
                <a16:creationId xmlns:a16="http://schemas.microsoft.com/office/drawing/2014/main" id="{098DED70-921D-D503-F87B-EA2FA7ACC4EA}"/>
              </a:ext>
            </a:extLst>
          </p:cNvPr>
          <p:cNvSpPr txBox="1"/>
          <p:nvPr/>
        </p:nvSpPr>
        <p:spPr>
          <a:xfrm>
            <a:off x="4821883" y="3530747"/>
            <a:ext cx="3860419"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We pass the table count as the data</a:t>
            </a:r>
          </a:p>
        </p:txBody>
      </p:sp>
      <p:cxnSp>
        <p:nvCxnSpPr>
          <p:cNvPr id="12" name="Straight Arrow Connector 11">
            <a:extLst>
              <a:ext uri="{FF2B5EF4-FFF2-40B4-BE49-F238E27FC236}">
                <a16:creationId xmlns:a16="http://schemas.microsoft.com/office/drawing/2014/main" id="{51800815-C776-4616-3038-7CD14DECAE10}"/>
              </a:ext>
            </a:extLst>
          </p:cNvPr>
          <p:cNvCxnSpPr>
            <a:cxnSpLocks/>
            <a:stCxn id="7" idx="6"/>
            <a:endCxn id="9" idx="1"/>
          </p:cNvCxnSpPr>
          <p:nvPr/>
        </p:nvCxnSpPr>
        <p:spPr>
          <a:xfrm flipV="1">
            <a:off x="3548060" y="3715413"/>
            <a:ext cx="1273823" cy="270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315582C8-5F71-39A2-3684-7E2A03FB9C09}"/>
              </a:ext>
            </a:extLst>
          </p:cNvPr>
          <p:cNvSpPr/>
          <p:nvPr/>
        </p:nvSpPr>
        <p:spPr>
          <a:xfrm>
            <a:off x="1876423" y="3921056"/>
            <a:ext cx="835818" cy="922407"/>
          </a:xfrm>
          <a:prstGeom prst="ellipse">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TextBox 16">
            <a:extLst>
              <a:ext uri="{FF2B5EF4-FFF2-40B4-BE49-F238E27FC236}">
                <a16:creationId xmlns:a16="http://schemas.microsoft.com/office/drawing/2014/main" id="{F816638A-F317-E015-1106-F1F5F35DEC11}"/>
              </a:ext>
            </a:extLst>
          </p:cNvPr>
          <p:cNvSpPr txBox="1"/>
          <p:nvPr/>
        </p:nvSpPr>
        <p:spPr>
          <a:xfrm>
            <a:off x="171220" y="4051602"/>
            <a:ext cx="1186092"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Title and axis labels</a:t>
            </a:r>
          </a:p>
        </p:txBody>
      </p:sp>
      <p:cxnSp>
        <p:nvCxnSpPr>
          <p:cNvPr id="19" name="Straight Arrow Connector 18">
            <a:extLst>
              <a:ext uri="{FF2B5EF4-FFF2-40B4-BE49-F238E27FC236}">
                <a16:creationId xmlns:a16="http://schemas.microsoft.com/office/drawing/2014/main" id="{D7CD37FF-B361-3FD0-2511-53922B94422B}"/>
              </a:ext>
            </a:extLst>
          </p:cNvPr>
          <p:cNvCxnSpPr>
            <a:stCxn id="16" idx="2"/>
            <a:endCxn id="17" idx="3"/>
          </p:cNvCxnSpPr>
          <p:nvPr/>
        </p:nvCxnSpPr>
        <p:spPr>
          <a:xfrm flipH="1">
            <a:off x="1357312" y="4382260"/>
            <a:ext cx="519111" cy="1310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B33DC536-7DF7-EC47-DA46-173B61C13AA0}"/>
              </a:ext>
            </a:extLst>
          </p:cNvPr>
          <p:cNvSpPr/>
          <p:nvPr/>
        </p:nvSpPr>
        <p:spPr>
          <a:xfrm>
            <a:off x="1876422" y="4858721"/>
            <a:ext cx="1671637" cy="357186"/>
          </a:xfrm>
          <a:prstGeom prst="ellipse">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21" name="TextBox 20">
            <a:extLst>
              <a:ext uri="{FF2B5EF4-FFF2-40B4-BE49-F238E27FC236}">
                <a16:creationId xmlns:a16="http://schemas.microsoft.com/office/drawing/2014/main" id="{BCF38154-0DE2-9605-9560-C24488F4963F}"/>
              </a:ext>
            </a:extLst>
          </p:cNvPr>
          <p:cNvSpPr txBox="1"/>
          <p:nvPr/>
        </p:nvSpPr>
        <p:spPr>
          <a:xfrm>
            <a:off x="1499055" y="5616658"/>
            <a:ext cx="2426370"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t>Filling color of the bars</a:t>
            </a:r>
          </a:p>
        </p:txBody>
      </p:sp>
      <p:cxnSp>
        <p:nvCxnSpPr>
          <p:cNvPr id="23" name="Straight Arrow Connector 22">
            <a:extLst>
              <a:ext uri="{FF2B5EF4-FFF2-40B4-BE49-F238E27FC236}">
                <a16:creationId xmlns:a16="http://schemas.microsoft.com/office/drawing/2014/main" id="{CFF7D673-2318-A1DD-B053-04CB0DCE59A8}"/>
              </a:ext>
            </a:extLst>
          </p:cNvPr>
          <p:cNvCxnSpPr>
            <a:stCxn id="20" idx="4"/>
            <a:endCxn id="21" idx="0"/>
          </p:cNvCxnSpPr>
          <p:nvPr/>
        </p:nvCxnSpPr>
        <p:spPr>
          <a:xfrm flipH="1">
            <a:off x="2712240" y="5215907"/>
            <a:ext cx="1" cy="4007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2798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9B09A-1C54-BC96-1CB9-67C3CCA38770}"/>
              </a:ext>
            </a:extLst>
          </p:cNvPr>
          <p:cNvSpPr>
            <a:spLocks noGrp="1"/>
          </p:cNvSpPr>
          <p:nvPr>
            <p:ph type="title"/>
          </p:nvPr>
        </p:nvSpPr>
        <p:spPr>
          <a:xfrm>
            <a:off x="195263" y="141838"/>
            <a:ext cx="10515600" cy="1325563"/>
          </a:xfrm>
        </p:spPr>
        <p:txBody>
          <a:bodyPr/>
          <a:lstStyle/>
          <a:p>
            <a:r>
              <a:rPr lang="en-US" dirty="0"/>
              <a:t>Saving Your Plots (Optional)</a:t>
            </a:r>
          </a:p>
        </p:txBody>
      </p:sp>
      <p:pic>
        <p:nvPicPr>
          <p:cNvPr id="5" name="Content Placeholder 4">
            <a:extLst>
              <a:ext uri="{FF2B5EF4-FFF2-40B4-BE49-F238E27FC236}">
                <a16:creationId xmlns:a16="http://schemas.microsoft.com/office/drawing/2014/main" id="{235997BE-3D67-F794-F975-607487FE8B80}"/>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tretch>
            <a:fillRect/>
          </a:stretch>
        </p:blipFill>
        <p:spPr>
          <a:xfrm>
            <a:off x="1481137" y="1068387"/>
            <a:ext cx="8756752" cy="5647775"/>
          </a:xfrm>
        </p:spPr>
      </p:pic>
    </p:spTree>
    <p:extLst>
      <p:ext uri="{BB962C8B-B14F-4D97-AF65-F5344CB8AC3E}">
        <p14:creationId xmlns:p14="http://schemas.microsoft.com/office/powerpoint/2010/main" val="487637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3389-E445-32EE-2F1D-C83843A3BB26}"/>
              </a:ext>
            </a:extLst>
          </p:cNvPr>
          <p:cNvSpPr>
            <a:spLocks noGrp="1"/>
          </p:cNvSpPr>
          <p:nvPr>
            <p:ph type="title"/>
          </p:nvPr>
        </p:nvSpPr>
        <p:spPr>
          <a:xfrm>
            <a:off x="838200" y="958528"/>
            <a:ext cx="10515600" cy="1325563"/>
          </a:xfrm>
        </p:spPr>
        <p:txBody>
          <a:bodyPr/>
          <a:lstStyle/>
          <a:p>
            <a:r>
              <a:rPr lang="en-US" dirty="0"/>
              <a:t>Common Pitfalls and How to Troubleshoot</a:t>
            </a:r>
          </a:p>
        </p:txBody>
      </p:sp>
      <p:sp>
        <p:nvSpPr>
          <p:cNvPr id="7" name="TextBox 6">
            <a:extLst>
              <a:ext uri="{FF2B5EF4-FFF2-40B4-BE49-F238E27FC236}">
                <a16:creationId xmlns:a16="http://schemas.microsoft.com/office/drawing/2014/main" id="{A7FB6651-324E-1073-615F-B53C830BEF66}"/>
              </a:ext>
            </a:extLst>
          </p:cNvPr>
          <p:cNvSpPr txBox="1"/>
          <p:nvPr/>
        </p:nvSpPr>
        <p:spPr>
          <a:xfrm>
            <a:off x="838200" y="3823762"/>
            <a:ext cx="4936197" cy="2862322"/>
          </a:xfrm>
          <a:prstGeom prst="rect">
            <a:avLst/>
          </a:prstGeom>
          <a:noFill/>
        </p:spPr>
        <p:txBody>
          <a:bodyPr wrap="square" rtlCol="0">
            <a:spAutoFit/>
          </a:bodyPr>
          <a:lstStyle/>
          <a:p>
            <a:r>
              <a:rPr lang="en-US" b="1" dirty="0"/>
              <a:t>File not found error</a:t>
            </a:r>
          </a:p>
          <a:p>
            <a:endParaRPr lang="en-US" b="1" dirty="0"/>
          </a:p>
          <a:p>
            <a:r>
              <a:rPr lang="en-US" dirty="0"/>
              <a:t>This means R cannot find the file. </a:t>
            </a:r>
          </a:p>
          <a:p>
            <a:r>
              <a:rPr lang="en-US" dirty="0"/>
              <a:t>Usual file path problem. </a:t>
            </a:r>
          </a:p>
          <a:p>
            <a:r>
              <a:rPr lang="en-US" dirty="0"/>
              <a:t>Ensure that the CSV is in your working directory or provide the correct path. </a:t>
            </a:r>
          </a:p>
          <a:p>
            <a:endParaRPr lang="en-US" b="1" dirty="0"/>
          </a:p>
          <a:p>
            <a:r>
              <a:rPr lang="en-US" dirty="0" err="1"/>
              <a:t>getwd</a:t>
            </a:r>
            <a:r>
              <a:rPr lang="en-US" dirty="0"/>
              <a:t>() </a:t>
            </a:r>
            <a:r>
              <a:rPr lang="en-US" dirty="0">
                <a:sym typeface="Wingdings" pitchFamily="2" charset="2"/>
              </a:rPr>
              <a:t> Shows your working directory </a:t>
            </a:r>
          </a:p>
          <a:p>
            <a:r>
              <a:rPr lang="en-US" dirty="0" err="1"/>
              <a:t>setwd</a:t>
            </a:r>
            <a:r>
              <a:rPr lang="en-US" dirty="0"/>
              <a:t>("path/to/your/folder") </a:t>
            </a:r>
            <a:r>
              <a:rPr lang="en-US" dirty="0">
                <a:sym typeface="Wingdings" pitchFamily="2" charset="2"/>
              </a:rPr>
              <a:t> sets your working directory</a:t>
            </a:r>
            <a:endParaRPr lang="en-US" b="1" dirty="0"/>
          </a:p>
        </p:txBody>
      </p:sp>
      <p:pic>
        <p:nvPicPr>
          <p:cNvPr id="9" name="Picture 8" descr="A screenshot of a computer  AI-generated content may be incorrect.">
            <a:extLst>
              <a:ext uri="{FF2B5EF4-FFF2-40B4-BE49-F238E27FC236}">
                <a16:creationId xmlns:a16="http://schemas.microsoft.com/office/drawing/2014/main" id="{CD8FFC03-CA83-5FF0-9E9B-F3AD962BB1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38200" y="2238165"/>
            <a:ext cx="4936197" cy="1520144"/>
          </a:xfrm>
          <a:prstGeom prst="rect">
            <a:avLst/>
          </a:prstGeom>
        </p:spPr>
      </p:pic>
      <p:sp>
        <p:nvSpPr>
          <p:cNvPr id="12" name="TextBox 11">
            <a:extLst>
              <a:ext uri="{FF2B5EF4-FFF2-40B4-BE49-F238E27FC236}">
                <a16:creationId xmlns:a16="http://schemas.microsoft.com/office/drawing/2014/main" id="{946F1B46-108B-40FC-5F36-771A5AC53446}"/>
              </a:ext>
            </a:extLst>
          </p:cNvPr>
          <p:cNvSpPr txBox="1"/>
          <p:nvPr/>
        </p:nvSpPr>
        <p:spPr>
          <a:xfrm>
            <a:off x="6203015" y="2690336"/>
            <a:ext cx="5579403" cy="1477328"/>
          </a:xfrm>
          <a:prstGeom prst="rect">
            <a:avLst/>
          </a:prstGeom>
          <a:noFill/>
        </p:spPr>
        <p:txBody>
          <a:bodyPr wrap="square" rtlCol="0">
            <a:spAutoFit/>
          </a:bodyPr>
          <a:lstStyle/>
          <a:p>
            <a:r>
              <a:rPr lang="en-US" dirty="0"/>
              <a:t>Means you forgot to load the package that provides that function. You can install the package as shown below.</a:t>
            </a:r>
          </a:p>
          <a:p>
            <a:endParaRPr lang="en-US" dirty="0"/>
          </a:p>
          <a:p>
            <a:endParaRPr lang="en-US" dirty="0"/>
          </a:p>
        </p:txBody>
      </p:sp>
      <p:pic>
        <p:nvPicPr>
          <p:cNvPr id="14" name="Picture 13">
            <a:extLst>
              <a:ext uri="{FF2B5EF4-FFF2-40B4-BE49-F238E27FC236}">
                <a16:creationId xmlns:a16="http://schemas.microsoft.com/office/drawing/2014/main" id="{3B45BAAD-C6DE-194C-EA2B-DB78E7B6E5C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03018" y="2244926"/>
            <a:ext cx="5071374" cy="517280"/>
          </a:xfrm>
          <a:prstGeom prst="rect">
            <a:avLst/>
          </a:prstGeom>
        </p:spPr>
      </p:pic>
      <p:pic>
        <p:nvPicPr>
          <p:cNvPr id="16" name="Picture 15" descr="A close-up of a computer code  AI-generated content may be incorrect.">
            <a:extLst>
              <a:ext uri="{FF2B5EF4-FFF2-40B4-BE49-F238E27FC236}">
                <a16:creationId xmlns:a16="http://schemas.microsoft.com/office/drawing/2014/main" id="{E8FD3EBE-E725-EBCB-CEB6-EAADA90CB06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03015" y="3570489"/>
            <a:ext cx="5579403" cy="1369178"/>
          </a:xfrm>
          <a:prstGeom prst="rect">
            <a:avLst/>
          </a:prstGeom>
        </p:spPr>
      </p:pic>
      <p:sp>
        <p:nvSpPr>
          <p:cNvPr id="17" name="TextBox 16">
            <a:extLst>
              <a:ext uri="{FF2B5EF4-FFF2-40B4-BE49-F238E27FC236}">
                <a16:creationId xmlns:a16="http://schemas.microsoft.com/office/drawing/2014/main" id="{D0A89E2A-4A3C-4C73-A065-25BF74942182}"/>
              </a:ext>
            </a:extLst>
          </p:cNvPr>
          <p:cNvSpPr txBox="1"/>
          <p:nvPr/>
        </p:nvSpPr>
        <p:spPr>
          <a:xfrm>
            <a:off x="6203014" y="4939667"/>
            <a:ext cx="5579403" cy="369332"/>
          </a:xfrm>
          <a:prstGeom prst="rect">
            <a:avLst/>
          </a:prstGeom>
          <a:noFill/>
        </p:spPr>
        <p:txBody>
          <a:bodyPr wrap="square" rtlCol="0">
            <a:spAutoFit/>
          </a:bodyPr>
          <a:lstStyle/>
          <a:p>
            <a:r>
              <a:rPr lang="en-US" dirty="0"/>
              <a:t>After installation, you need to call it from the library.</a:t>
            </a:r>
          </a:p>
        </p:txBody>
      </p:sp>
      <p:pic>
        <p:nvPicPr>
          <p:cNvPr id="19" name="Picture 18" descr="A purple text on a white background  AI-generated content may be incorrect.">
            <a:extLst>
              <a:ext uri="{FF2B5EF4-FFF2-40B4-BE49-F238E27FC236}">
                <a16:creationId xmlns:a16="http://schemas.microsoft.com/office/drawing/2014/main" id="{A24C64B7-33F7-5B32-7537-94E68309757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203013" y="5277210"/>
            <a:ext cx="1826557" cy="313124"/>
          </a:xfrm>
          <a:prstGeom prst="rect">
            <a:avLst/>
          </a:prstGeom>
        </p:spPr>
      </p:pic>
      <p:pic>
        <p:nvPicPr>
          <p:cNvPr id="21" name="Picture 20" descr="A white background with black text  AI-generated content may be incorrect.">
            <a:extLst>
              <a:ext uri="{FF2B5EF4-FFF2-40B4-BE49-F238E27FC236}">
                <a16:creationId xmlns:a16="http://schemas.microsoft.com/office/drawing/2014/main" id="{308493C2-3C51-E57F-09C3-642F55D268C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203012" y="5614753"/>
            <a:ext cx="3483912" cy="1262918"/>
          </a:xfrm>
          <a:prstGeom prst="rect">
            <a:avLst/>
          </a:prstGeom>
        </p:spPr>
      </p:pic>
      <p:sp>
        <p:nvSpPr>
          <p:cNvPr id="22" name="TextBox 21">
            <a:extLst>
              <a:ext uri="{FF2B5EF4-FFF2-40B4-BE49-F238E27FC236}">
                <a16:creationId xmlns:a16="http://schemas.microsoft.com/office/drawing/2014/main" id="{D122048D-702C-D5E8-F967-028DB5AC24C4}"/>
              </a:ext>
            </a:extLst>
          </p:cNvPr>
          <p:cNvSpPr txBox="1"/>
          <p:nvPr/>
        </p:nvSpPr>
        <p:spPr>
          <a:xfrm>
            <a:off x="10115539" y="5619337"/>
            <a:ext cx="1528763" cy="923330"/>
          </a:xfrm>
          <a:prstGeom prst="rect">
            <a:avLst/>
          </a:prstGeom>
          <a:noFill/>
        </p:spPr>
        <p:txBody>
          <a:bodyPr wrap="square" rtlCol="0">
            <a:spAutoFit/>
          </a:bodyPr>
          <a:lstStyle/>
          <a:p>
            <a:r>
              <a:rPr lang="en-US" dirty="0"/>
              <a:t>Finally, the function works!</a:t>
            </a:r>
          </a:p>
        </p:txBody>
      </p:sp>
    </p:spTree>
    <p:extLst>
      <p:ext uri="{BB962C8B-B14F-4D97-AF65-F5344CB8AC3E}">
        <p14:creationId xmlns:p14="http://schemas.microsoft.com/office/powerpoint/2010/main" val="38340967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1A92-83B4-A3A1-3C3E-FB7AF29D0DE3}"/>
              </a:ext>
            </a:extLst>
          </p:cNvPr>
          <p:cNvSpPr>
            <a:spLocks noGrp="1"/>
          </p:cNvSpPr>
          <p:nvPr>
            <p:ph type="title"/>
          </p:nvPr>
        </p:nvSpPr>
        <p:spPr/>
        <p:txBody>
          <a:bodyPr/>
          <a:lstStyle/>
          <a:p>
            <a:r>
              <a:rPr lang="en-US" dirty="0"/>
              <a:t>How to use R help?</a:t>
            </a:r>
          </a:p>
        </p:txBody>
      </p:sp>
      <p:pic>
        <p:nvPicPr>
          <p:cNvPr id="9" name="Content Placeholder 8" descr="A screenshot of a computer  AI-generated content may be incorrect.">
            <a:extLst>
              <a:ext uri="{FF2B5EF4-FFF2-40B4-BE49-F238E27FC236}">
                <a16:creationId xmlns:a16="http://schemas.microsoft.com/office/drawing/2014/main" id="{38F2713B-6D3D-EE05-70AB-7E4F4218B44A}"/>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406298" y="2175548"/>
            <a:ext cx="7195153" cy="4515579"/>
          </a:xfrm>
        </p:spPr>
      </p:pic>
      <p:sp>
        <p:nvSpPr>
          <p:cNvPr id="10" name="TextBox 9">
            <a:extLst>
              <a:ext uri="{FF2B5EF4-FFF2-40B4-BE49-F238E27FC236}">
                <a16:creationId xmlns:a16="http://schemas.microsoft.com/office/drawing/2014/main" id="{71FE405A-AAA1-9252-4B0C-84C556D8F9F0}"/>
              </a:ext>
            </a:extLst>
          </p:cNvPr>
          <p:cNvSpPr txBox="1"/>
          <p:nvPr/>
        </p:nvSpPr>
        <p:spPr>
          <a:xfrm>
            <a:off x="590549" y="3464193"/>
            <a:ext cx="3595689" cy="1323439"/>
          </a:xfrm>
          <a:prstGeom prst="rect">
            <a:avLst/>
          </a:prstGeom>
          <a:noFill/>
        </p:spPr>
        <p:txBody>
          <a:bodyPr wrap="square" rtlCol="0">
            <a:spAutoFit/>
          </a:bodyPr>
          <a:lstStyle/>
          <a:p>
            <a:r>
              <a:rPr lang="en-US" sz="2000" dirty="0"/>
              <a:t>You can get the help document for almost any function by typing question mark and the function name</a:t>
            </a:r>
          </a:p>
        </p:txBody>
      </p:sp>
    </p:spTree>
    <p:extLst>
      <p:ext uri="{BB962C8B-B14F-4D97-AF65-F5344CB8AC3E}">
        <p14:creationId xmlns:p14="http://schemas.microsoft.com/office/powerpoint/2010/main" val="6760012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81300-8CD0-21DA-CC43-881CCD2A7266}"/>
              </a:ext>
            </a:extLst>
          </p:cNvPr>
          <p:cNvSpPr>
            <a:spLocks noGrp="1"/>
          </p:cNvSpPr>
          <p:nvPr>
            <p:ph type="title"/>
          </p:nvPr>
        </p:nvSpPr>
        <p:spPr>
          <a:xfrm>
            <a:off x="457200" y="200000"/>
            <a:ext cx="11354400" cy="914400"/>
          </a:xfrm>
        </p:spPr>
        <p:txBody>
          <a:bodyPr anchor="ctr">
            <a:normAutofit/>
          </a:bodyPr>
          <a:lstStyle/>
          <a:p>
            <a:r>
              <a:rPr lang="en-US" dirty="0"/>
              <a:t>Chapter 3 Summary</a:t>
            </a:r>
          </a:p>
        </p:txBody>
      </p:sp>
      <p:sp>
        <p:nvSpPr>
          <p:cNvPr id="20" name="Summary Text"/>
          <p:cNvSpPr>
            <a:spLocks noGrp="1"/>
          </p:cNvSpPr>
          <p:nvPr/>
        </p:nvSpPr>
        <p:spPr>
          <a:xfrm>
            <a:off x="457200" y="1200000"/>
            <a:ext cx="11354400" cy="5143500"/>
          </a:xfrm>
          <a:prstGeom prst="rect">
            <a:avLst/>
          </a:prstGeom>
        </p:spPr>
        <p:txBody>
          <a:bodyPr>
            <a:normAutofit/>
          </a:bodyPr>
          <a:lstStyle/>
          <a:p>
            <a:r>
              <a:rPr lang="en-US" sz="1900" b="1" dirty="0"/>
              <a:t>R as an analytical environment:</a:t>
            </a:r>
          </a:p>
          <a:p>
            <a:r>
              <a:rPr lang="en-US" sz="1700" dirty="0"/>
              <a:t>✓ R is a statistical computing language with 20,000+ packages. Its vectorized operations and built-in statistical functions make it purpose-built for data analysis.</a:t>
            </a:r>
          </a:p>
          <a:p>
            <a:r>
              <a:rPr lang="en-US" sz="1700" dirty="0"/>
              <a:t>✓ RStudio provides a four-pane IDE: script editor, console, environment, and plots/packages/help. Scripts ensure reproducibility; comments document intent.</a:t>
            </a:r>
          </a:p>
          <a:p>
            <a:r>
              <a:rPr lang="en-US" sz="1900" b="1" dirty="0"/>
              <a:t>Working with data:</a:t>
            </a:r>
          </a:p>
          <a:p>
            <a:r>
              <a:rPr lang="en-US" sz="1700" dirty="0"/>
              <a:t>✓ Data frames: 2D tabular structure. Access columns with $. Always run str(), head(), and summary() after loading data to detect type issues, missingness, and outlier signals.</a:t>
            </a:r>
          </a:p>
          <a:p>
            <a:r>
              <a:rPr lang="en-US" sz="1700" dirty="0"/>
              <a:t>✓ Visualization reveals what statistics compress: skewness, outliers, bimodality, and patterns only visible in shape. Base R hist() and barplot() for exploration; ggplot2 for presentation.</a:t>
            </a:r>
          </a:p>
          <a:p>
            <a:r>
              <a:rPr lang="en-US" sz="1900" b="1" dirty="0"/>
              <a:t>Key mindset:</a:t>
            </a:r>
          </a:p>
          <a:p>
            <a:r>
              <a:rPr lang="en-US" sz="1700" dirty="0"/>
              <a:t>✓ Always plot before modeling. When mean and median diverge, investigate why. A right-skewed distribution suggests outliers pulling the mean — the median tells the more typical story.</a:t>
            </a:r>
          </a:p>
        </p:txBody>
      </p:sp>
    </p:spTree>
    <p:extLst>
      <p:ext uri="{BB962C8B-B14F-4D97-AF65-F5344CB8AC3E}">
        <p14:creationId xmlns:p14="http://schemas.microsoft.com/office/powerpoint/2010/main" val="41702577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CB6B3-347A-A872-822E-55DD1DEFD974}"/>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85249254-E322-C74C-104E-C47087D4A23F}"/>
              </a:ext>
            </a:extLst>
          </p:cNvPr>
          <p:cNvSpPr>
            <a:spLocks noGrp="1"/>
          </p:cNvSpPr>
          <p:nvPr>
            <p:ph idx="1"/>
          </p:nvPr>
        </p:nvSpPr>
        <p:spPr/>
        <p:txBody>
          <a:bodyPr/>
          <a:lstStyle/>
          <a:p>
            <a:r>
              <a:rPr lang="en-US" dirty="0"/>
              <a:t>Create a histogram of the price similar to what we did for MPG. Describe the shape: is it skewed or roughly symmetric? Are there multiple peaks?</a:t>
            </a:r>
          </a:p>
          <a:p>
            <a:endParaRPr lang="en-US" dirty="0"/>
          </a:p>
        </p:txBody>
      </p:sp>
    </p:spTree>
    <p:extLst>
      <p:ext uri="{BB962C8B-B14F-4D97-AF65-F5344CB8AC3E}">
        <p14:creationId xmlns:p14="http://schemas.microsoft.com/office/powerpoint/2010/main" val="32262130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B3B5D-C7C2-61D7-E182-B627E766A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03308-750C-79BE-2EEF-DC6909C07AB5}"/>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60E219BD-81F7-CF89-1355-6B9817EE1A7B}"/>
              </a:ext>
            </a:extLst>
          </p:cNvPr>
          <p:cNvSpPr>
            <a:spLocks noGrp="1"/>
          </p:cNvSpPr>
          <p:nvPr>
            <p:ph idx="1"/>
          </p:nvPr>
        </p:nvSpPr>
        <p:spPr>
          <a:xfrm>
            <a:off x="838200" y="2228501"/>
            <a:ext cx="10363200" cy="1200499"/>
          </a:xfrm>
        </p:spPr>
        <p:txBody>
          <a:bodyPr>
            <a:normAutofit lnSpcReduction="10000"/>
          </a:bodyPr>
          <a:lstStyle/>
          <a:p>
            <a:r>
              <a:rPr lang="en-US" dirty="0"/>
              <a:t>Create a histogram of the price similar to what we did for MPG. Describe the shape: is it skewed or roughly symmetric? Are there multiple peaks?</a:t>
            </a:r>
          </a:p>
          <a:p>
            <a:endParaRPr lang="en-US" dirty="0"/>
          </a:p>
        </p:txBody>
      </p:sp>
      <p:sp>
        <p:nvSpPr>
          <p:cNvPr id="5" name="TextBox 4">
            <a:extLst>
              <a:ext uri="{FF2B5EF4-FFF2-40B4-BE49-F238E27FC236}">
                <a16:creationId xmlns:a16="http://schemas.microsoft.com/office/drawing/2014/main" id="{4EC95994-A463-E78E-6C7F-5D93D957D124}"/>
              </a:ext>
            </a:extLst>
          </p:cNvPr>
          <p:cNvSpPr txBox="1"/>
          <p:nvPr/>
        </p:nvSpPr>
        <p:spPr>
          <a:xfrm>
            <a:off x="1238251" y="4004574"/>
            <a:ext cx="4219575" cy="1754326"/>
          </a:xfrm>
          <a:prstGeom prst="rect">
            <a:avLst/>
          </a:prstGeom>
          <a:noFill/>
        </p:spPr>
        <p:txBody>
          <a:bodyPr wrap="square">
            <a:spAutoFit/>
          </a:bodyPr>
          <a:lstStyle/>
          <a:p>
            <a:r>
              <a:rPr lang="en-US" dirty="0" err="1"/>
              <a:t>car_data</a:t>
            </a:r>
            <a:r>
              <a:rPr lang="en-US" dirty="0"/>
              <a:t> &lt;- </a:t>
            </a:r>
            <a:r>
              <a:rPr lang="en-US" dirty="0" err="1"/>
              <a:t>read.csv</a:t>
            </a:r>
            <a:r>
              <a:rPr lang="en-US" dirty="0"/>
              <a:t>("</a:t>
            </a:r>
            <a:r>
              <a:rPr lang="en-US" dirty="0" err="1"/>
              <a:t>car_data.csv</a:t>
            </a:r>
            <a:r>
              <a:rPr lang="en-US" dirty="0"/>
              <a:t>")</a:t>
            </a:r>
          </a:p>
          <a:p>
            <a:endParaRPr lang="en-US" dirty="0"/>
          </a:p>
          <a:p>
            <a:r>
              <a:rPr lang="en-US" dirty="0"/>
              <a:t>hist(</a:t>
            </a:r>
            <a:r>
              <a:rPr lang="en-US" dirty="0" err="1"/>
              <a:t>car_data$price</a:t>
            </a:r>
            <a:r>
              <a:rPr lang="en-US" dirty="0"/>
              <a:t>, </a:t>
            </a:r>
          </a:p>
          <a:p>
            <a:r>
              <a:rPr lang="en-US" dirty="0"/>
              <a:t>     main="Distribution of Car Prices",</a:t>
            </a:r>
          </a:p>
          <a:p>
            <a:r>
              <a:rPr lang="en-US" dirty="0"/>
              <a:t>     </a:t>
            </a:r>
            <a:r>
              <a:rPr lang="en-US" dirty="0" err="1"/>
              <a:t>xlab</a:t>
            </a:r>
            <a:r>
              <a:rPr lang="en-US" dirty="0"/>
              <a:t>="Car Price (Dollar)",</a:t>
            </a:r>
          </a:p>
          <a:p>
            <a:r>
              <a:rPr lang="en-US" dirty="0"/>
              <a:t>     col="</a:t>
            </a:r>
            <a:r>
              <a:rPr lang="en-US" dirty="0" err="1"/>
              <a:t>skyblue</a:t>
            </a:r>
            <a:r>
              <a:rPr lang="en-US" dirty="0"/>
              <a:t>", border="black")</a:t>
            </a:r>
          </a:p>
        </p:txBody>
      </p:sp>
      <p:pic>
        <p:nvPicPr>
          <p:cNvPr id="7" name="Picture 6" descr="A graph of a distribution of car prices  AI-generated content may be incorrect.">
            <a:extLst>
              <a:ext uri="{FF2B5EF4-FFF2-40B4-BE49-F238E27FC236}">
                <a16:creationId xmlns:a16="http://schemas.microsoft.com/office/drawing/2014/main" id="{B91ABAB7-38DA-E0C1-F484-3BA00908C23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34175" y="3115966"/>
            <a:ext cx="4467225" cy="3648941"/>
          </a:xfrm>
          <a:prstGeom prst="rect">
            <a:avLst/>
          </a:prstGeom>
        </p:spPr>
      </p:pic>
    </p:spTree>
    <p:extLst>
      <p:ext uri="{BB962C8B-B14F-4D97-AF65-F5344CB8AC3E}">
        <p14:creationId xmlns:p14="http://schemas.microsoft.com/office/powerpoint/2010/main" val="15877603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2C0B-BEAE-FA9B-1192-F1ABD870E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F3946-DE78-44CE-2060-D7FCED6E8097}"/>
              </a:ext>
            </a:extLst>
          </p:cNvPr>
          <p:cNvSpPr>
            <a:spLocks noGrp="1"/>
          </p:cNvSpPr>
          <p:nvPr>
            <p:ph type="title"/>
          </p:nvPr>
        </p:nvSpPr>
        <p:spPr/>
        <p:txBody>
          <a:bodyPr/>
          <a:lstStyle/>
          <a:p>
            <a:r>
              <a:rPr lang="en-US" dirty="0"/>
              <a:t>Your Turn!</a:t>
            </a:r>
          </a:p>
        </p:txBody>
      </p:sp>
      <p:sp>
        <p:nvSpPr>
          <p:cNvPr id="5" name="TextBox 4">
            <a:extLst>
              <a:ext uri="{FF2B5EF4-FFF2-40B4-BE49-F238E27FC236}">
                <a16:creationId xmlns:a16="http://schemas.microsoft.com/office/drawing/2014/main" id="{CEDC46BA-BD28-ECD4-441F-41E78E0909ED}"/>
              </a:ext>
            </a:extLst>
          </p:cNvPr>
          <p:cNvSpPr txBox="1"/>
          <p:nvPr/>
        </p:nvSpPr>
        <p:spPr>
          <a:xfrm>
            <a:off x="1238251" y="4004574"/>
            <a:ext cx="4219575" cy="1754326"/>
          </a:xfrm>
          <a:prstGeom prst="rect">
            <a:avLst/>
          </a:prstGeom>
          <a:noFill/>
        </p:spPr>
        <p:txBody>
          <a:bodyPr wrap="square">
            <a:spAutoFit/>
          </a:bodyPr>
          <a:lstStyle/>
          <a:p>
            <a:r>
              <a:rPr lang="en-US" dirty="0" err="1"/>
              <a:t>car_data</a:t>
            </a:r>
            <a:r>
              <a:rPr lang="en-US" dirty="0"/>
              <a:t> &lt;- </a:t>
            </a:r>
            <a:r>
              <a:rPr lang="en-US" dirty="0" err="1"/>
              <a:t>read.csv</a:t>
            </a:r>
            <a:r>
              <a:rPr lang="en-US" dirty="0"/>
              <a:t>("</a:t>
            </a:r>
            <a:r>
              <a:rPr lang="en-US" dirty="0" err="1"/>
              <a:t>car_data.csv</a:t>
            </a:r>
            <a:r>
              <a:rPr lang="en-US" dirty="0"/>
              <a:t>")</a:t>
            </a:r>
          </a:p>
          <a:p>
            <a:endParaRPr lang="en-US" dirty="0"/>
          </a:p>
          <a:p>
            <a:r>
              <a:rPr lang="en-US" dirty="0"/>
              <a:t>hist(</a:t>
            </a:r>
            <a:r>
              <a:rPr lang="en-US" dirty="0" err="1"/>
              <a:t>car_data$price</a:t>
            </a:r>
            <a:r>
              <a:rPr lang="en-US" dirty="0"/>
              <a:t>, </a:t>
            </a:r>
          </a:p>
          <a:p>
            <a:r>
              <a:rPr lang="en-US" dirty="0"/>
              <a:t>     main="Distribution of Car Prices",</a:t>
            </a:r>
          </a:p>
          <a:p>
            <a:r>
              <a:rPr lang="en-US" dirty="0"/>
              <a:t>     </a:t>
            </a:r>
            <a:r>
              <a:rPr lang="en-US" dirty="0" err="1"/>
              <a:t>xlab</a:t>
            </a:r>
            <a:r>
              <a:rPr lang="en-US" dirty="0"/>
              <a:t>="Car Price (Dollar)",</a:t>
            </a:r>
          </a:p>
          <a:p>
            <a:r>
              <a:rPr lang="en-US" dirty="0"/>
              <a:t>     col="</a:t>
            </a:r>
            <a:r>
              <a:rPr lang="en-US" dirty="0" err="1"/>
              <a:t>skyblue</a:t>
            </a:r>
            <a:r>
              <a:rPr lang="en-US" dirty="0"/>
              <a:t>", border="black")</a:t>
            </a:r>
          </a:p>
        </p:txBody>
      </p:sp>
      <p:pic>
        <p:nvPicPr>
          <p:cNvPr id="7" name="Picture 6" descr="A graph of a distribution of car prices  AI-generated content may be incorrect.">
            <a:extLst>
              <a:ext uri="{FF2B5EF4-FFF2-40B4-BE49-F238E27FC236}">
                <a16:creationId xmlns:a16="http://schemas.microsoft.com/office/drawing/2014/main" id="{8C1421A5-94A8-446D-F3D2-144AB85AF1D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86575" y="3057266"/>
            <a:ext cx="4467225" cy="3648941"/>
          </a:xfrm>
          <a:prstGeom prst="rect">
            <a:avLst/>
          </a:prstGeom>
        </p:spPr>
      </p:pic>
      <p:sp>
        <p:nvSpPr>
          <p:cNvPr id="6" name="Content Placeholder 5">
            <a:extLst>
              <a:ext uri="{FF2B5EF4-FFF2-40B4-BE49-F238E27FC236}">
                <a16:creationId xmlns:a16="http://schemas.microsoft.com/office/drawing/2014/main" id="{BE1A4F85-69D3-5D55-287A-7D2525A1AF16}"/>
              </a:ext>
            </a:extLst>
          </p:cNvPr>
          <p:cNvSpPr>
            <a:spLocks noGrp="1"/>
          </p:cNvSpPr>
          <p:nvPr>
            <p:ph idx="1"/>
          </p:nvPr>
        </p:nvSpPr>
        <p:spPr>
          <a:xfrm>
            <a:off x="838200" y="2424663"/>
            <a:ext cx="10515600" cy="3572911"/>
          </a:xfrm>
        </p:spPr>
        <p:txBody>
          <a:bodyPr/>
          <a:lstStyle/>
          <a:p>
            <a:r>
              <a:rPr lang="en-US" dirty="0"/>
              <a:t>Most cars are between 4,000 and 6,000 dollars and the most expensive ones are around $16,000.</a:t>
            </a:r>
          </a:p>
        </p:txBody>
      </p:sp>
    </p:spTree>
    <p:extLst>
      <p:ext uri="{BB962C8B-B14F-4D97-AF65-F5344CB8AC3E}">
        <p14:creationId xmlns:p14="http://schemas.microsoft.com/office/powerpoint/2010/main" val="34728054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F303-9B74-9581-89E2-D97FE027DA05}"/>
              </a:ext>
            </a:extLst>
          </p:cNvPr>
          <p:cNvSpPr>
            <a:spLocks noGrp="1"/>
          </p:cNvSpPr>
          <p:nvPr>
            <p:ph type="title"/>
          </p:nvPr>
        </p:nvSpPr>
        <p:spPr/>
        <p:txBody>
          <a:bodyPr/>
          <a:lstStyle/>
          <a:p>
            <a:r>
              <a:rPr lang="en-US" dirty="0"/>
              <a:t>Challenge</a:t>
            </a:r>
          </a:p>
        </p:txBody>
      </p:sp>
      <p:sp>
        <p:nvSpPr>
          <p:cNvPr id="3" name="Content Placeholder 2">
            <a:extLst>
              <a:ext uri="{FF2B5EF4-FFF2-40B4-BE49-F238E27FC236}">
                <a16:creationId xmlns:a16="http://schemas.microsoft.com/office/drawing/2014/main" id="{2D0749EB-44D8-D7E2-3504-7C06527D7C77}"/>
              </a:ext>
            </a:extLst>
          </p:cNvPr>
          <p:cNvSpPr>
            <a:spLocks noGrp="1"/>
          </p:cNvSpPr>
          <p:nvPr>
            <p:ph idx="1"/>
          </p:nvPr>
        </p:nvSpPr>
        <p:spPr/>
        <p:txBody>
          <a:bodyPr/>
          <a:lstStyle/>
          <a:p>
            <a:r>
              <a:rPr lang="en-US" dirty="0"/>
              <a:t>Use plot() to create a scatter plot of weight vs. MPG. Before running the code, formulate a hypothesis: what direction do you expect the relationship to go, and why?</a:t>
            </a:r>
          </a:p>
          <a:p>
            <a:r>
              <a:rPr lang="en-US" dirty="0"/>
              <a:t>After plotting: (1) Describe the direction, form, and strength of the relationship. (2) Are there outliers? (3) Does this look linear or curved? (4) What does this suggest about the physics of fuel efficiency?</a:t>
            </a:r>
          </a:p>
          <a:p>
            <a:endParaRPr lang="en-US" dirty="0"/>
          </a:p>
        </p:txBody>
      </p:sp>
      <p:pic>
        <p:nvPicPr>
          <p:cNvPr id="7" name="Picture 6">
            <a:extLst>
              <a:ext uri="{FF2B5EF4-FFF2-40B4-BE49-F238E27FC236}">
                <a16:creationId xmlns:a16="http://schemas.microsoft.com/office/drawing/2014/main" id="{7C08C002-6E8E-ECD2-6EB0-422844C720E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59179" y="4081045"/>
            <a:ext cx="3412958" cy="2275305"/>
          </a:xfrm>
          <a:prstGeom prst="rect">
            <a:avLst/>
          </a:prstGeom>
        </p:spPr>
      </p:pic>
    </p:spTree>
    <p:extLst>
      <p:ext uri="{BB962C8B-B14F-4D97-AF65-F5344CB8AC3E}">
        <p14:creationId xmlns:p14="http://schemas.microsoft.com/office/powerpoint/2010/main" val="892081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74CBF-504C-DBEB-6434-3820DE0D1EA0}"/>
              </a:ext>
            </a:extLst>
          </p:cNvPr>
          <p:cNvSpPr>
            <a:spLocks noGrp="1"/>
          </p:cNvSpPr>
          <p:nvPr>
            <p:ph type="title"/>
          </p:nvPr>
        </p:nvSpPr>
        <p:spPr/>
        <p:txBody>
          <a:bodyPr/>
          <a:lstStyle/>
          <a:p>
            <a:r>
              <a:rPr lang="en-US" dirty="0"/>
              <a:t>Challenge</a:t>
            </a:r>
          </a:p>
        </p:txBody>
      </p:sp>
      <p:sp>
        <p:nvSpPr>
          <p:cNvPr id="3" name="Content Placeholder 2">
            <a:extLst>
              <a:ext uri="{FF2B5EF4-FFF2-40B4-BE49-F238E27FC236}">
                <a16:creationId xmlns:a16="http://schemas.microsoft.com/office/drawing/2014/main" id="{035F8FB7-D98D-F369-AC87-0A76BDB47AA5}"/>
              </a:ext>
            </a:extLst>
          </p:cNvPr>
          <p:cNvSpPr>
            <a:spLocks noGrp="1"/>
          </p:cNvSpPr>
          <p:nvPr>
            <p:ph idx="1"/>
          </p:nvPr>
        </p:nvSpPr>
        <p:spPr>
          <a:xfrm>
            <a:off x="838200" y="2604051"/>
            <a:ext cx="7222958" cy="3572911"/>
          </a:xfrm>
        </p:spPr>
        <p:txBody>
          <a:bodyPr>
            <a:normAutofit lnSpcReduction="10000"/>
          </a:bodyPr>
          <a:lstStyle/>
          <a:p>
            <a:r>
              <a:rPr lang="en-US" dirty="0"/>
              <a:t>First, find which variables to use:</a:t>
            </a:r>
          </a:p>
          <a:p>
            <a:pPr lvl="1"/>
            <a:r>
              <a:rPr lang="en-US" dirty="0"/>
              <a:t>Weight and MPG</a:t>
            </a:r>
          </a:p>
          <a:p>
            <a:r>
              <a:rPr lang="en-US" dirty="0"/>
              <a:t>Second, which variable to use:</a:t>
            </a:r>
          </a:p>
          <a:p>
            <a:pPr lvl="1"/>
            <a:r>
              <a:rPr lang="en-US" dirty="0"/>
              <a:t>plot function would work fine</a:t>
            </a:r>
          </a:p>
          <a:p>
            <a:r>
              <a:rPr lang="en-US" dirty="0"/>
              <a:t>If you don’t know how to do it, you can check the help file by</a:t>
            </a:r>
          </a:p>
          <a:p>
            <a:pPr lvl="1"/>
            <a:r>
              <a:rPr lang="en-US" dirty="0"/>
              <a:t>?plot</a:t>
            </a:r>
          </a:p>
          <a:p>
            <a:r>
              <a:rPr lang="en-US" dirty="0"/>
              <a:t>Let’s run it now!</a:t>
            </a:r>
          </a:p>
        </p:txBody>
      </p:sp>
      <p:pic>
        <p:nvPicPr>
          <p:cNvPr id="5" name="Picture 4" descr="Purple letters and a question mark  AI-generated content may be incorrect.">
            <a:extLst>
              <a:ext uri="{FF2B5EF4-FFF2-40B4-BE49-F238E27FC236}">
                <a16:creationId xmlns:a16="http://schemas.microsoft.com/office/drawing/2014/main" id="{1D35492E-2BF7-ABA7-3F16-B9ADD882B91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08047" y="2183363"/>
            <a:ext cx="1498600" cy="482600"/>
          </a:xfrm>
          <a:prstGeom prst="rect">
            <a:avLst/>
          </a:prstGeom>
        </p:spPr>
      </p:pic>
      <p:pic>
        <p:nvPicPr>
          <p:cNvPr id="7" name="Picture 6" descr="A screenshot of a computer program  AI-generated content may be incorrect.">
            <a:extLst>
              <a:ext uri="{FF2B5EF4-FFF2-40B4-BE49-F238E27FC236}">
                <a16:creationId xmlns:a16="http://schemas.microsoft.com/office/drawing/2014/main" id="{957F0F31-436E-DFA5-2DC7-4820D1523BA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93504" y="3055032"/>
            <a:ext cx="3793105" cy="2250261"/>
          </a:xfrm>
          <a:prstGeom prst="rect">
            <a:avLst/>
          </a:prstGeom>
        </p:spPr>
      </p:pic>
    </p:spTree>
    <p:extLst>
      <p:ext uri="{BB962C8B-B14F-4D97-AF65-F5344CB8AC3E}">
        <p14:creationId xmlns:p14="http://schemas.microsoft.com/office/powerpoint/2010/main" val="5876992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F96F5-3FC5-59EB-58FA-75C7669DF0A3}"/>
              </a:ext>
            </a:extLst>
          </p:cNvPr>
          <p:cNvSpPr>
            <a:spLocks noGrp="1"/>
          </p:cNvSpPr>
          <p:nvPr>
            <p:ph type="title"/>
          </p:nvPr>
        </p:nvSpPr>
        <p:spPr/>
        <p:txBody>
          <a:bodyPr/>
          <a:lstStyle/>
          <a:p>
            <a:r>
              <a:rPr lang="en-US" dirty="0"/>
              <a:t>Challenge</a:t>
            </a:r>
          </a:p>
        </p:txBody>
      </p:sp>
      <p:sp>
        <p:nvSpPr>
          <p:cNvPr id="5" name="TextBox 4">
            <a:extLst>
              <a:ext uri="{FF2B5EF4-FFF2-40B4-BE49-F238E27FC236}">
                <a16:creationId xmlns:a16="http://schemas.microsoft.com/office/drawing/2014/main" id="{47B3E084-6155-5AD0-A031-70D2AEEE59B3}"/>
              </a:ext>
            </a:extLst>
          </p:cNvPr>
          <p:cNvSpPr txBox="1"/>
          <p:nvPr/>
        </p:nvSpPr>
        <p:spPr>
          <a:xfrm>
            <a:off x="943302" y="2758254"/>
            <a:ext cx="6100010" cy="1754326"/>
          </a:xfrm>
          <a:prstGeom prst="rect">
            <a:avLst/>
          </a:prstGeom>
          <a:noFill/>
        </p:spPr>
        <p:txBody>
          <a:bodyPr wrap="square">
            <a:spAutoFit/>
          </a:bodyPr>
          <a:lstStyle/>
          <a:p>
            <a:r>
              <a:rPr lang="en-US" dirty="0"/>
              <a:t>plot(</a:t>
            </a:r>
            <a:r>
              <a:rPr lang="en-US" dirty="0" err="1"/>
              <a:t>car_data$weight</a:t>
            </a:r>
            <a:r>
              <a:rPr lang="en-US" dirty="0"/>
              <a:t>, </a:t>
            </a:r>
            <a:r>
              <a:rPr lang="en-US" dirty="0" err="1"/>
              <a:t>car_data$mpg</a:t>
            </a:r>
            <a:r>
              <a:rPr lang="en-US" dirty="0"/>
              <a:t>,</a:t>
            </a:r>
          </a:p>
          <a:p>
            <a:r>
              <a:rPr lang="en-US" dirty="0"/>
              <a:t>     main = "Scatter plot of MPG vs. Weight",</a:t>
            </a:r>
          </a:p>
          <a:p>
            <a:r>
              <a:rPr lang="en-US" dirty="0"/>
              <a:t>     </a:t>
            </a:r>
            <a:r>
              <a:rPr lang="en-US" dirty="0" err="1"/>
              <a:t>xlab</a:t>
            </a:r>
            <a:r>
              <a:rPr lang="en-US" dirty="0"/>
              <a:t> = "Car Weight (1000 </a:t>
            </a:r>
            <a:r>
              <a:rPr lang="en-US" dirty="0" err="1"/>
              <a:t>lbs</a:t>
            </a:r>
            <a:r>
              <a:rPr lang="en-US" dirty="0"/>
              <a:t>)",</a:t>
            </a:r>
          </a:p>
          <a:p>
            <a:r>
              <a:rPr lang="en-US" dirty="0"/>
              <a:t>     </a:t>
            </a:r>
            <a:r>
              <a:rPr lang="en-US" dirty="0" err="1"/>
              <a:t>ylab</a:t>
            </a:r>
            <a:r>
              <a:rPr lang="en-US" dirty="0"/>
              <a:t> = "Miles Per Gallon",</a:t>
            </a:r>
          </a:p>
          <a:p>
            <a:r>
              <a:rPr lang="en-US" dirty="0"/>
              <a:t>     </a:t>
            </a:r>
            <a:r>
              <a:rPr lang="en-US" dirty="0" err="1"/>
              <a:t>pch</a:t>
            </a:r>
            <a:r>
              <a:rPr lang="en-US" dirty="0"/>
              <a:t> = 19,  # solid circles</a:t>
            </a:r>
          </a:p>
          <a:p>
            <a:r>
              <a:rPr lang="en-US" dirty="0"/>
              <a:t>     col = "blue")</a:t>
            </a:r>
          </a:p>
        </p:txBody>
      </p:sp>
      <p:sp>
        <p:nvSpPr>
          <p:cNvPr id="10" name="TextBox 9">
            <a:extLst>
              <a:ext uri="{FF2B5EF4-FFF2-40B4-BE49-F238E27FC236}">
                <a16:creationId xmlns:a16="http://schemas.microsoft.com/office/drawing/2014/main" id="{80FEE517-BE45-3F42-9BBB-38B5F3A0C643}"/>
              </a:ext>
            </a:extLst>
          </p:cNvPr>
          <p:cNvSpPr txBox="1"/>
          <p:nvPr/>
        </p:nvSpPr>
        <p:spPr>
          <a:xfrm>
            <a:off x="838200" y="5287402"/>
            <a:ext cx="4610804" cy="1477328"/>
          </a:xfrm>
          <a:prstGeom prst="rect">
            <a:avLst/>
          </a:prstGeom>
          <a:noFill/>
        </p:spPr>
        <p:txBody>
          <a:bodyPr wrap="square" rtlCol="0">
            <a:spAutoFit/>
          </a:bodyPr>
          <a:lstStyle/>
          <a:p>
            <a:r>
              <a:rPr lang="en-US" dirty="0"/>
              <a:t>Interpretation: As car weight increases, miles per gallon (MPG) generally decreases, indicating that heavier cars tend to be less fuel efficient.</a:t>
            </a:r>
          </a:p>
          <a:p>
            <a:endParaRPr lang="en-US" dirty="0"/>
          </a:p>
        </p:txBody>
      </p:sp>
      <p:pic>
        <p:nvPicPr>
          <p:cNvPr id="4" name="Picture 3" descr="A graph of scatter plot of mpg vs weight  AI-generated content may be incorrect.">
            <a:extLst>
              <a:ext uri="{FF2B5EF4-FFF2-40B4-BE49-F238E27FC236}">
                <a16:creationId xmlns:a16="http://schemas.microsoft.com/office/drawing/2014/main" id="{D1B0A5EF-47B1-90C0-D031-10E4AF738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74367" y="2173289"/>
            <a:ext cx="6100010" cy="4323005"/>
          </a:xfrm>
          <a:prstGeom prst="rect">
            <a:avLst/>
          </a:prstGeom>
        </p:spPr>
      </p:pic>
    </p:spTree>
    <p:extLst>
      <p:ext uri="{BB962C8B-B14F-4D97-AF65-F5344CB8AC3E}">
        <p14:creationId xmlns:p14="http://schemas.microsoft.com/office/powerpoint/2010/main" val="3101127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A9FF-76D4-CDD8-C230-4267B234A547}"/>
              </a:ext>
            </a:extLst>
          </p:cNvPr>
          <p:cNvSpPr>
            <a:spLocks noGrp="1"/>
          </p:cNvSpPr>
          <p:nvPr>
            <p:ph type="title"/>
          </p:nvPr>
        </p:nvSpPr>
        <p:spPr/>
        <p:txBody>
          <a:bodyPr/>
          <a:lstStyle/>
          <a:p>
            <a:r>
              <a:rPr lang="en-US" dirty="0"/>
              <a:t>Reflection Questions</a:t>
            </a:r>
          </a:p>
        </p:txBody>
      </p:sp>
      <p:sp>
        <p:nvSpPr>
          <p:cNvPr id="5" name="Shape 1">
            <a:extLst>
              <a:ext uri="{FF2B5EF4-FFF2-40B4-BE49-F238E27FC236}">
                <a16:creationId xmlns:a16="http://schemas.microsoft.com/office/drawing/2014/main" id="{3159FF0F-B5A1-6F31-53DE-E0DBC6CF5468}"/>
              </a:ext>
            </a:extLst>
          </p:cNvPr>
          <p:cNvSpPr/>
          <p:nvPr/>
        </p:nvSpPr>
        <p:spPr>
          <a:xfrm>
            <a:off x="4890592" y="2920945"/>
            <a:ext cx="3054053" cy="1404243"/>
          </a:xfrm>
          <a:prstGeom prst="roundRect">
            <a:avLst>
              <a:gd name="adj" fmla="val 5654"/>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6" name="Text 2">
            <a:extLst>
              <a:ext uri="{FF2B5EF4-FFF2-40B4-BE49-F238E27FC236}">
                <a16:creationId xmlns:a16="http://schemas.microsoft.com/office/drawing/2014/main" id="{37C76516-B549-E74F-02A5-4D776759E8F6}"/>
              </a:ext>
            </a:extLst>
          </p:cNvPr>
          <p:cNvSpPr/>
          <p:nvPr/>
        </p:nvSpPr>
        <p:spPr>
          <a:xfrm>
            <a:off x="5085954" y="3116308"/>
            <a:ext cx="2362696"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What Was Easy?</a:t>
            </a:r>
            <a:endParaRPr lang="en-US" sz="1833" dirty="0">
              <a:latin typeface="Aptos" panose="020B0004020202020204" pitchFamily="34" charset="0"/>
            </a:endParaRPr>
          </a:p>
        </p:txBody>
      </p:sp>
      <p:sp>
        <p:nvSpPr>
          <p:cNvPr id="7" name="Text 3">
            <a:extLst>
              <a:ext uri="{FF2B5EF4-FFF2-40B4-BE49-F238E27FC236}">
                <a16:creationId xmlns:a16="http://schemas.microsoft.com/office/drawing/2014/main" id="{0D8EBD7F-36A4-0902-07A2-9F2886F8D2DC}"/>
              </a:ext>
            </a:extLst>
          </p:cNvPr>
          <p:cNvSpPr/>
          <p:nvPr/>
        </p:nvSpPr>
        <p:spPr>
          <a:xfrm>
            <a:off x="5085954" y="3524990"/>
            <a:ext cx="2663329"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Which R concepts map directly to Python (from Ch. 2)? Which are fundamentally different? What does R’s vectorized arithmetic imply about how it handles data?</a:t>
            </a:r>
            <a:endParaRPr lang="en-US" sz="1458" dirty="0">
              <a:latin typeface="Aptos" panose="020B0004020202020204" pitchFamily="34" charset="0"/>
            </a:endParaRPr>
          </a:p>
        </p:txBody>
      </p:sp>
      <p:sp>
        <p:nvSpPr>
          <p:cNvPr id="8" name="Shape 4">
            <a:extLst>
              <a:ext uri="{FF2B5EF4-FFF2-40B4-BE49-F238E27FC236}">
                <a16:creationId xmlns:a16="http://schemas.microsoft.com/office/drawing/2014/main" id="{3695EBA3-5F46-C2E1-7A78-90534FABCFB4}"/>
              </a:ext>
            </a:extLst>
          </p:cNvPr>
          <p:cNvSpPr/>
          <p:nvPr/>
        </p:nvSpPr>
        <p:spPr>
          <a:xfrm>
            <a:off x="8133656" y="2920945"/>
            <a:ext cx="3054053" cy="1404243"/>
          </a:xfrm>
          <a:prstGeom prst="roundRect">
            <a:avLst>
              <a:gd name="adj" fmla="val 5654"/>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9" name="Text 5">
            <a:extLst>
              <a:ext uri="{FF2B5EF4-FFF2-40B4-BE49-F238E27FC236}">
                <a16:creationId xmlns:a16="http://schemas.microsoft.com/office/drawing/2014/main" id="{D0C7F192-A081-4C09-5008-0DEF126F3D8D}"/>
              </a:ext>
            </a:extLst>
          </p:cNvPr>
          <p:cNvSpPr/>
          <p:nvPr/>
        </p:nvSpPr>
        <p:spPr>
          <a:xfrm>
            <a:off x="8329018" y="3116308"/>
            <a:ext cx="2556073"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What Was Challenging?</a:t>
            </a:r>
            <a:endParaRPr lang="en-US" sz="1833" dirty="0">
              <a:latin typeface="Aptos" panose="020B0004020202020204" pitchFamily="34" charset="0"/>
            </a:endParaRPr>
          </a:p>
        </p:txBody>
      </p:sp>
      <p:sp>
        <p:nvSpPr>
          <p:cNvPr id="10" name="Text 6">
            <a:extLst>
              <a:ext uri="{FF2B5EF4-FFF2-40B4-BE49-F238E27FC236}">
                <a16:creationId xmlns:a16="http://schemas.microsoft.com/office/drawing/2014/main" id="{01F33AF0-6454-F91A-83E5-4DC879CE863A}"/>
              </a:ext>
            </a:extLst>
          </p:cNvPr>
          <p:cNvSpPr/>
          <p:nvPr/>
        </p:nvSpPr>
        <p:spPr>
          <a:xfrm>
            <a:off x="8329018" y="3524990"/>
            <a:ext cx="2663329" cy="604838"/>
          </a:xfrm>
          <a:prstGeom prst="rect">
            <a:avLst/>
          </a:prstGeom>
          <a:noFill/>
          <a:ln/>
        </p:spPr>
        <p:txBody>
          <a:bodyPr wrap="squar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The $ operator, working directory, and factor data types trip up most new R users. What mental model helped you understand them? What would you explain differently to someone new?</a:t>
            </a:r>
            <a:endParaRPr lang="en-US" sz="1458" dirty="0">
              <a:latin typeface="Aptos" panose="020B0004020202020204" pitchFamily="34" charset="0"/>
            </a:endParaRPr>
          </a:p>
        </p:txBody>
      </p:sp>
      <p:sp>
        <p:nvSpPr>
          <p:cNvPr id="11" name="Shape 7">
            <a:extLst>
              <a:ext uri="{FF2B5EF4-FFF2-40B4-BE49-F238E27FC236}">
                <a16:creationId xmlns:a16="http://schemas.microsoft.com/office/drawing/2014/main" id="{78BFE123-50B3-0C38-8263-C40AF983A930}"/>
              </a:ext>
            </a:extLst>
          </p:cNvPr>
          <p:cNvSpPr/>
          <p:nvPr/>
        </p:nvSpPr>
        <p:spPr>
          <a:xfrm>
            <a:off x="4890592" y="4514201"/>
            <a:ext cx="6297018" cy="1101824"/>
          </a:xfrm>
          <a:prstGeom prst="roundRect">
            <a:avLst>
              <a:gd name="adj" fmla="val 7205"/>
            </a:avLst>
          </a:prstGeom>
          <a:solidFill>
            <a:srgbClr val="CCEDFF"/>
          </a:solidFill>
          <a:ln w="7620">
            <a:solidFill>
              <a:srgbClr val="B2D3E5"/>
            </a:solidFill>
            <a:prstDash val="solid"/>
          </a:ln>
        </p:spPr>
        <p:txBody>
          <a:bodyPr/>
          <a:lstStyle/>
          <a:p>
            <a:endParaRPr lang="en-US" sz="1500">
              <a:latin typeface="Aptos" panose="020B0004020202020204" pitchFamily="34" charset="0"/>
            </a:endParaRPr>
          </a:p>
        </p:txBody>
      </p:sp>
      <p:sp>
        <p:nvSpPr>
          <p:cNvPr id="12" name="Text 8">
            <a:extLst>
              <a:ext uri="{FF2B5EF4-FFF2-40B4-BE49-F238E27FC236}">
                <a16:creationId xmlns:a16="http://schemas.microsoft.com/office/drawing/2014/main" id="{54C08903-F337-7CB3-3642-7494F6D459DD}"/>
              </a:ext>
            </a:extLst>
          </p:cNvPr>
          <p:cNvSpPr/>
          <p:nvPr/>
        </p:nvSpPr>
        <p:spPr>
          <a:xfrm>
            <a:off x="5085954" y="4709562"/>
            <a:ext cx="3351609" cy="295275"/>
          </a:xfrm>
          <a:prstGeom prst="rect">
            <a:avLst/>
          </a:prstGeom>
          <a:noFill/>
          <a:ln/>
        </p:spPr>
        <p:txBody>
          <a:bodyPr wrap="none" lIns="0" tIns="0" rIns="0" bIns="0" rtlCol="0" anchor="t"/>
          <a:lstStyle/>
          <a:p>
            <a:pPr>
              <a:lnSpc>
                <a:spcPts val="2292"/>
              </a:lnSpc>
            </a:pPr>
            <a:r>
              <a:rPr lang="en-US" sz="1833" b="1" dirty="0">
                <a:solidFill>
                  <a:srgbClr val="000000"/>
                </a:solidFill>
                <a:latin typeface="Aptos" panose="020B0004020202020204" pitchFamily="34" charset="0"/>
                <a:ea typeface="Playfair Display Bold" pitchFamily="34" charset="-122"/>
                <a:cs typeface="Playfair Display Bold" pitchFamily="34" charset="-120"/>
              </a:rPr>
              <a:t>What Story Does the Data Tell?</a:t>
            </a:r>
            <a:endParaRPr lang="en-US" sz="1833" dirty="0">
              <a:latin typeface="Aptos" panose="020B0004020202020204" pitchFamily="34" charset="0"/>
            </a:endParaRPr>
          </a:p>
        </p:txBody>
      </p:sp>
      <p:sp>
        <p:nvSpPr>
          <p:cNvPr id="13" name="Text 9">
            <a:extLst>
              <a:ext uri="{FF2B5EF4-FFF2-40B4-BE49-F238E27FC236}">
                <a16:creationId xmlns:a16="http://schemas.microsoft.com/office/drawing/2014/main" id="{8891A364-B85A-F28E-23E9-FEF9CBE29051}"/>
              </a:ext>
            </a:extLst>
          </p:cNvPr>
          <p:cNvSpPr/>
          <p:nvPr/>
        </p:nvSpPr>
        <p:spPr>
          <a:xfrm>
            <a:off x="5085954" y="5118245"/>
            <a:ext cx="5906294" cy="302419"/>
          </a:xfrm>
          <a:prstGeom prst="rect">
            <a:avLst/>
          </a:prstGeom>
          <a:noFill/>
          <a:ln/>
        </p:spPr>
        <p:txBody>
          <a:bodyPr wrap="none" lIns="0" tIns="0" rIns="0" bIns="0" rtlCol="0" anchor="t"/>
          <a:lstStyle/>
          <a:p>
            <a:pPr>
              <a:lnSpc>
                <a:spcPts val="2375"/>
              </a:lnSpc>
            </a:pPr>
            <a:r>
              <a:rPr lang="en-US" sz="1458" dirty="0">
                <a:solidFill>
                  <a:srgbClr val="000000"/>
                </a:solidFill>
                <a:latin typeface="Aptos" panose="020B0004020202020204" pitchFamily="34" charset="0"/>
                <a:ea typeface="Inter" pitchFamily="34" charset="-122"/>
                <a:cs typeface="Inter" pitchFamily="34" charset="-120"/>
              </a:rPr>
              <a:t>Based on MPG, weight, and price distributions: what hypotheses would you form about what drove car design in the 1970s? How would you test them with the data available?</a:t>
            </a:r>
            <a:endParaRPr lang="en-US" sz="1458" dirty="0">
              <a:latin typeface="Aptos" panose="020B0004020202020204" pitchFamily="34" charset="0"/>
            </a:endParaRPr>
          </a:p>
        </p:txBody>
      </p:sp>
      <p:pic>
        <p:nvPicPr>
          <p:cNvPr id="14" name="Image 0" descr="preencoded.png">
            <a:extLst>
              <a:ext uri="{FF2B5EF4-FFF2-40B4-BE49-F238E27FC236}">
                <a16:creationId xmlns:a16="http://schemas.microsoft.com/office/drawing/2014/main" id="{40EAFAB6-A049-A441-E0D4-EAF408E93D0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29065" y="3000939"/>
            <a:ext cx="4472516" cy="3026524"/>
          </a:xfrm>
          <a:prstGeom prst="rect">
            <a:avLst/>
          </a:prstGeom>
        </p:spPr>
      </p:pic>
    </p:spTree>
    <p:extLst>
      <p:ext uri="{BB962C8B-B14F-4D97-AF65-F5344CB8AC3E}">
        <p14:creationId xmlns:p14="http://schemas.microsoft.com/office/powerpoint/2010/main" val="3027653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23193-FA3B-0EC6-3E0A-FD87E85AEA5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C107DBD-DFF0-F017-28B4-3AC4AD3D6B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581954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a:bodyPr>
          <a:lstStyle/>
          <a:p>
            <a:r>
              <a:rPr lang="en-US" dirty="0"/>
              <a:t>Chapter 3: Introduction to R</a:t>
            </a:r>
          </a:p>
        </p:txBody>
      </p:sp>
      <p:sp>
        <p:nvSpPr>
          <p:cNvPr id="3" name="Subtitle 2"/>
          <p:cNvSpPr>
            <a:spLocks noGrp="1"/>
          </p:cNvSpPr>
          <p:nvPr>
            <p:ph type="subTitle" idx="1"/>
          </p:nvPr>
        </p:nvSpPr>
        <p:spPr>
          <a:xfrm>
            <a:off x="1524000" y="4231758"/>
            <a:ext cx="9144000" cy="1026042"/>
          </a:xfrm>
        </p:spPr>
        <p:txBody>
          <a:bodyPr/>
          <a:lstStyle/>
          <a:p>
            <a:endParaRPr dirty="0"/>
          </a:p>
        </p:txBody>
      </p:sp>
      <p:sp>
        <p:nvSpPr>
          <p:cNvPr id="5" name="Subtitle"/>
          <p:cNvSpPr>
            <a:spLocks noGrp="1"/>
          </p:cNvSpPr>
          <p:nvPr>
            <p:ph type="subTitle" idx="1"/>
          </p:nvPr>
        </p:nvSpPr>
        <p:spPr/>
        <p:txBody>
          <a:bodyPr/>
          <a:lstStyle/>
          <a:p>
            <a:r>
              <a:rPr lang="en-US" dirty="0"/>
              <a:t>Coding Agents for R-Based Analysis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457200"/>
            <a:ext cx="11354400" cy="1143000"/>
          </a:xfrm>
        </p:spPr>
        <p:txBody>
          <a:bodyPr/>
          <a:lstStyle/>
          <a:p>
            <a:r>
              <a:rPr lang="en-US" dirty="0"/>
              <a:t>Using a Coding Agent with R</a:t>
            </a:r>
          </a:p>
        </p:txBody>
      </p:sp>
      <p:sp>
        <p:nvSpPr>
          <p:cNvPr id="3" name="Content"/>
          <p:cNvSpPr>
            <a:spLocks noGrp="1"/>
          </p:cNvSpPr>
          <p:nvPr>
            <p:ph idx="1"/>
          </p:nvPr>
        </p:nvSpPr>
        <p:spPr>
          <a:xfrm>
            <a:off x="457200" y="1714500"/>
            <a:ext cx="11354400" cy="4628700"/>
          </a:xfrm>
        </p:spPr>
        <p:txBody>
          <a:bodyPr>
            <a:normAutofit/>
          </a:bodyPr>
          <a:lstStyle/>
          <a:p>
            <a:r>
              <a:rPr lang="en-US" sz="1900" b="1" dirty="0"/>
              <a:t>A coding agent can write, run, and debug R code based on your natural language instructions — but you must frame the analytical question precisely.</a:t>
            </a:r>
          </a:p>
          <a:p>
            <a:r>
              <a:rPr lang="en-US" sz="1800" dirty="0"/>
              <a:t>What the agent handles: syntax (function names, argument order, $ notation), package loading, error messages, and iterating on plot aesthetics.</a:t>
            </a:r>
          </a:p>
          <a:p>
            <a:r>
              <a:rPr lang="en-US" sz="1800" dirty="0"/>
              <a:t>What you must handle: choosing the right statistical method, interpreting whether the output answers your actual question, and catching plausible-but-wrong results.</a:t>
            </a:r>
          </a:p>
          <a:p>
            <a:r>
              <a:rPr lang="en-US" sz="1800" b="1" dirty="0"/>
              <a:t>Workflow: (1) Describe your dataset and question. (2) Ask for EDA first (str, summary, head). (3) Request specific plots or statistics. (4) Verify the output against what you know about the data.</a:t>
            </a:r>
          </a:p>
          <a:p>
            <a:r>
              <a:rPr lang="en-US" sz="1800" dirty="0"/>
              <a:t>Key risk: agents confidently produce incorrect code. Always check — does the output match what summary() told you? Are the axis labels right? Is the sample size what you expected?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457200"/>
            <a:ext cx="11354400" cy="1143000"/>
          </a:xfrm>
        </p:spPr>
        <p:txBody>
          <a:bodyPr/>
          <a:lstStyle/>
          <a:p>
            <a:r>
              <a:rPr lang="en-US" dirty="0"/>
              <a:t>Prompting a Coding Agent for R Analysis</a:t>
            </a:r>
          </a:p>
        </p:txBody>
      </p:sp>
      <p:sp>
        <p:nvSpPr>
          <p:cNvPr id="3" name="Content"/>
          <p:cNvSpPr>
            <a:spLocks noGrp="1"/>
          </p:cNvSpPr>
          <p:nvPr>
            <p:ph idx="1"/>
          </p:nvPr>
        </p:nvSpPr>
        <p:spPr>
          <a:xfrm>
            <a:off x="457200" y="1714500"/>
            <a:ext cx="11354400" cy="4628700"/>
          </a:xfrm>
        </p:spPr>
        <p:txBody>
          <a:bodyPr>
            <a:normAutofit/>
          </a:bodyPr>
          <a:lstStyle/>
          <a:p>
            <a:r>
              <a:rPr lang="en-US" sz="1900" b="1" dirty="0"/>
              <a:t>Weak prompt vs. strong prompt — the difference is specificity and analytical framing:</a:t>
            </a:r>
          </a:p>
          <a:p>
            <a:r>
              <a:rPr lang="en-US" sz="1800" dirty="0"/>
              <a:t>Weak: "Analyze the car data." → Agent may produce arbitrary outputs that don’t answer any specific question.</a:t>
            </a:r>
          </a:p>
          <a:p>
            <a:r>
              <a:rPr lang="en-US" sz="1800" dirty="0"/>
              <a:t>Strong: "Load car_data.csv. Run str() and summary(). For the mpg column: compute mean, median, sd, and IQR. Then produce a histogram with 10 bins. Describe whether the distribution is skewed and why mean vs median differ."</a:t>
            </a:r>
          </a:p>
          <a:p>
            <a:r>
              <a:rPr lang="en-US" sz="1900" b="1" dirty="0"/>
              <a:t>Follow-up prompts that sharpen the analysis:</a:t>
            </a:r>
          </a:p>
          <a:p>
            <a:r>
              <a:rPr lang="en-US" sz="1800" dirty="0"/>
              <a:t>"Is the relationship between weight and mpg linear? Produce a scatter plot and overlay a regression line using abline(lm(mpg~weight, data=car_data))."</a:t>
            </a:r>
          </a:p>
          <a:p>
            <a:r>
              <a:rPr lang="en-US" sz="1800" dirty="0"/>
              <a:t>"Compare the mean and median mpg for domestic vs. foreign cars separately. Which group has higher variability? Use tapply()."</a:t>
            </a:r>
          </a:p>
          <a:p>
            <a:r>
              <a:rPr lang="en-US" sz="1800" dirty="0"/>
              <a:t>"Flag any car with mpg more than 2 standard deviations from the mean as an outlier. Print those rows."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457200"/>
            <a:ext cx="11354400" cy="1143000"/>
          </a:xfrm>
        </p:spPr>
        <p:txBody>
          <a:bodyPr/>
          <a:lstStyle/>
          <a:p>
            <a:r>
              <a:rPr lang="en-US" dirty="0"/>
              <a:t>Hands-On: Agent-Assisted R Analysis</a:t>
            </a:r>
          </a:p>
        </p:txBody>
      </p:sp>
      <p:sp>
        <p:nvSpPr>
          <p:cNvPr id="3" name="Content"/>
          <p:cNvSpPr>
            <a:spLocks noGrp="1"/>
          </p:cNvSpPr>
          <p:nvPr>
            <p:ph idx="1"/>
          </p:nvPr>
        </p:nvSpPr>
        <p:spPr>
          <a:xfrm>
            <a:off x="457200" y="1714500"/>
            <a:ext cx="11354400" cy="4628700"/>
          </a:xfrm>
        </p:spPr>
        <p:txBody>
          <a:bodyPr>
            <a:normAutofit/>
          </a:bodyPr>
          <a:lstStyle/>
          <a:p>
            <a:r>
              <a:rPr lang="en-US" sz="1900" b="1" dirty="0"/>
              <a:t>Activity (pairs, 25 minutes) — use car_data.csv with a coding agent:</a:t>
            </a:r>
          </a:p>
          <a:p>
            <a:r>
              <a:rPr lang="en-US" sz="1800" dirty="0"/>
              <a:t>Step 1 — Data audit: Prompt the agent to run str(), head(), summary(), and dim(). Report the number of rows, columns, data types, and any columns with NA values.</a:t>
            </a:r>
          </a:p>
          <a:p>
            <a:r>
              <a:rPr lang="en-US" sz="1800" dirty="0"/>
              <a:t>Step 2 — Distribution analysis: Ask for histograms of mpg, weight, and price. For each, identify: is it skewed? Symmetric? Are there visible outliers? Which measure of center is most appropriate?</a:t>
            </a:r>
          </a:p>
          <a:p>
            <a:r>
              <a:rPr lang="en-US" sz="1800" dirty="0"/>
              <a:t>Step 3 — Group comparison: Use tapply() to compare mean mpg for domestic vs. foreign cars. Then ask: is this difference statistically meaningful, or could it be sampling noise?</a:t>
            </a:r>
          </a:p>
          <a:p>
            <a:r>
              <a:rPr lang="en-US" sz="1800" dirty="0"/>
              <a:t>Step 4 — Catch the agent: Deliberately ask a vague question ("tell me something interesting"). Evaluate whether the agent’s response actually answers a meaningful analytical question.</a:t>
            </a:r>
          </a:p>
          <a:p>
            <a:r>
              <a:rPr lang="en-US" sz="1800" b="1" dirty="0"/>
              <a:t>Present: one insight that surprised you, and one output you had to correct or reframe.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457200"/>
            <a:ext cx="11354400" cy="1143000"/>
          </a:xfrm>
        </p:spPr>
        <p:txBody>
          <a:bodyPr/>
          <a:lstStyle/>
          <a:p>
            <a:r>
              <a:rPr lang="en-US" dirty="0"/>
              <a:t>Chapter 3: What You Can Do Now</a:t>
            </a:r>
          </a:p>
        </p:txBody>
      </p:sp>
      <p:sp>
        <p:nvSpPr>
          <p:cNvPr id="3" name="Content"/>
          <p:cNvSpPr>
            <a:spLocks noGrp="1"/>
          </p:cNvSpPr>
          <p:nvPr>
            <p:ph idx="1"/>
          </p:nvPr>
        </p:nvSpPr>
        <p:spPr>
          <a:xfrm>
            <a:off x="457200" y="1714500"/>
            <a:ext cx="11354400" cy="4628700"/>
          </a:xfrm>
        </p:spPr>
        <p:txBody>
          <a:bodyPr>
            <a:normAutofit/>
          </a:bodyPr>
          <a:lstStyle/>
          <a:p>
            <a:r>
              <a:rPr lang="en-US" sz="1900" b="1" dirty="0"/>
              <a:t>R environment:</a:t>
            </a:r>
          </a:p>
          <a:p>
            <a:r>
              <a:rPr lang="en-US" sz="1800" dirty="0"/>
              <a:t>✓ Set up RStudio (or Posit Cloud), run scripts, and use comments to document analytical decisions.</a:t>
            </a:r>
          </a:p>
          <a:p>
            <a:r>
              <a:rPr lang="en-US" sz="1800" dirty="0"/>
              <a:t>✓ Load CSV data with read.csv(), inspect with str()/head()/summary(), and access columns with the $ operator.</a:t>
            </a:r>
          </a:p>
          <a:p>
            <a:r>
              <a:rPr lang="en-US" sz="1900" b="1" dirty="0"/>
              <a:t>Data analysis in R:</a:t>
            </a:r>
          </a:p>
          <a:p>
            <a:r>
              <a:rPr lang="en-US" sz="1800" dirty="0"/>
              <a:t>✓ Compute mean, median, sd, quantile(), and table() on real data. Interpret summary() output to identify skew, outliers, and missing values.</a:t>
            </a:r>
          </a:p>
          <a:p>
            <a:r>
              <a:rPr lang="en-US" sz="1800" dirty="0"/>
              <a:t>✓ Create histograms, bar charts, and scatter plots in base R. Interpret distribution shape — connecting visual patterns to statistical concepts (skewness, outliers, central tendency).</a:t>
            </a:r>
          </a:p>
          <a:p>
            <a:r>
              <a:rPr lang="en-US" sz="1900" b="1" dirty="0"/>
              <a:t>Agent-assisted analysis:</a:t>
            </a:r>
          </a:p>
          <a:p>
            <a:r>
              <a:rPr lang="en-US" sz="1800" dirty="0"/>
              <a:t>✓ Write precise analytical prompts for a coding agent working in R. Verify its outputs against known summary statistics and catch plausible-but-wrong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3827</TotalTime>
  <Words>4006</Words>
  <Application>Microsoft Office PowerPoint</Application>
  <PresentationFormat>Widescreen</PresentationFormat>
  <Paragraphs>296</Paragraphs>
  <Slides>61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Aptos</vt:lpstr>
      <vt:lpstr>Aptos Display</vt:lpstr>
      <vt:lpstr>Arial</vt:lpstr>
      <vt:lpstr>Consolas</vt:lpstr>
      <vt:lpstr>Times New Roman</vt:lpstr>
      <vt:lpstr>Wingdings</vt:lpstr>
      <vt:lpstr>Office Theme</vt:lpstr>
      <vt:lpstr>Chapter 3: Introduction to R – Your First Data Analysis</vt:lpstr>
      <vt:lpstr>What is R and Why Use It for Data Analysis?</vt:lpstr>
      <vt:lpstr>What is R and Why Use It for Data Analysis?</vt:lpstr>
      <vt:lpstr>Real world examples</vt:lpstr>
      <vt:lpstr>Getting Started: Installing R and RStudio</vt:lpstr>
      <vt:lpstr>Step 1: Install R </vt:lpstr>
      <vt:lpstr>Step 2: Install RStudio. </vt:lpstr>
      <vt:lpstr>Step 3: In Case You Can’t Install</vt:lpstr>
      <vt:lpstr>Step 4: Run it!</vt:lpstr>
      <vt:lpstr>PowerPoint Presentation</vt:lpstr>
      <vt:lpstr>R Console Notes</vt:lpstr>
      <vt:lpstr>Running Your First R Commands</vt:lpstr>
      <vt:lpstr>Exercise</vt:lpstr>
      <vt:lpstr>Exercise</vt:lpstr>
      <vt:lpstr>Working with Data: Reading a CSV File in R</vt:lpstr>
      <vt:lpstr>Set Working Directory </vt:lpstr>
      <vt:lpstr>Read the CSV file</vt:lpstr>
      <vt:lpstr>What happens when you run “read.csv”?</vt:lpstr>
      <vt:lpstr>Possible Error Message</vt:lpstr>
      <vt:lpstr>Still having trouble? Another solution</vt:lpstr>
      <vt:lpstr>Get Summary Statistics</vt:lpstr>
      <vt:lpstr>Some functions</vt:lpstr>
      <vt:lpstr>Check your knowledge</vt:lpstr>
      <vt:lpstr>Check your knowledge</vt:lpstr>
      <vt:lpstr>Some more functions</vt:lpstr>
      <vt:lpstr>Your turn!</vt:lpstr>
      <vt:lpstr>Your turn!</vt:lpstr>
      <vt:lpstr>Frequency “table” function</vt:lpstr>
      <vt:lpstr>Writing and Running R Scripts</vt:lpstr>
      <vt:lpstr>New Script</vt:lpstr>
      <vt:lpstr>PowerPoint Presentation</vt:lpstr>
      <vt:lpstr>PowerPoint Presentation</vt:lpstr>
      <vt:lpstr>Benefits of Using Scripts</vt:lpstr>
      <vt:lpstr>Using Comments in Scripts</vt:lpstr>
      <vt:lpstr>Data Visualization: Why It Matters</vt:lpstr>
      <vt:lpstr>Simple Data Analysis Example: Summaries and Visualizations</vt:lpstr>
      <vt:lpstr>Histogram of MPG</vt:lpstr>
      <vt:lpstr>Histogram of MPG</vt:lpstr>
      <vt:lpstr>Histogram of MPG – Let’s break down the argument</vt:lpstr>
      <vt:lpstr>Histogram – Interpretation </vt:lpstr>
      <vt:lpstr>Quick Tip: Read the error</vt:lpstr>
      <vt:lpstr>Bar Chart</vt:lpstr>
      <vt:lpstr>Bar Chart</vt:lpstr>
      <vt:lpstr>Bar Chart – Let’s break down the argument</vt:lpstr>
      <vt:lpstr>Saving Your Plots (Optional)</vt:lpstr>
      <vt:lpstr>Common Pitfalls and How to Troubleshoot</vt:lpstr>
      <vt:lpstr>How to use R help?</vt:lpstr>
      <vt:lpstr>Chapter 3 Summary</vt:lpstr>
      <vt:lpstr>Your Turn!</vt:lpstr>
      <vt:lpstr>Your Turn!</vt:lpstr>
      <vt:lpstr>Your Turn!</vt:lpstr>
      <vt:lpstr>Challenge</vt:lpstr>
      <vt:lpstr>Challenge</vt:lpstr>
      <vt:lpstr>Challenge</vt:lpstr>
      <vt:lpstr>Reflection Questions</vt:lpstr>
      <vt:lpstr>PowerPoint Presentation</vt:lpstr>
      <vt:lpstr>Chapter 3: Introduction to R</vt:lpstr>
      <vt:lpstr>Using a Coding Agent with R</vt:lpstr>
      <vt:lpstr>Prompting a Coding Agent for R Analysis</vt:lpstr>
      <vt:lpstr>Hands-On: Agent-Assisted R Analysis</vt:lpstr>
      <vt:lpstr>Chapter 3: What You Can Do 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Yin</dc:creator>
  <cp:lastModifiedBy>Burhan Ogut</cp:lastModifiedBy>
  <cp:revision>20</cp:revision>
  <dcterms:created xsi:type="dcterms:W3CDTF">2025-04-09T18:08:05Z</dcterms:created>
  <dcterms:modified xsi:type="dcterms:W3CDTF">2026-04-20T19:49:33Z</dcterms:modified>
</cp:coreProperties>
</file>