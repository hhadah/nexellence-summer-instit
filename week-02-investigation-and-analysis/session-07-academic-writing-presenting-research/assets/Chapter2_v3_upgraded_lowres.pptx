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357" r:id="rId2"/>
    <p:sldId id="358" r:id="rId3"/>
    <p:sldId id="360" r:id="rId4"/>
    <p:sldId id="356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377" r:id="rId22"/>
    <p:sldId id="378" r:id="rId23"/>
    <p:sldId id="379" r:id="rId24"/>
    <p:sldId id="257" r:id="rId25"/>
    <p:sldId id="260" r:id="rId26"/>
    <p:sldId id="261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4" r:id="rId37"/>
    <p:sldId id="277" r:id="rId38"/>
    <p:sldId id="276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6" r:id="rId47"/>
    <p:sldId id="285" r:id="rId48"/>
    <p:sldId id="288" r:id="rId49"/>
    <p:sldId id="289" r:id="rId50"/>
    <p:sldId id="287" r:id="rId51"/>
    <p:sldId id="290" r:id="rId52"/>
    <p:sldId id="291" r:id="rId53"/>
    <p:sldId id="292" r:id="rId54"/>
    <p:sldId id="294" r:id="rId55"/>
    <p:sldId id="295" r:id="rId56"/>
    <p:sldId id="296" r:id="rId57"/>
    <p:sldId id="297" r:id="rId58"/>
    <p:sldId id="298" r:id="rId59"/>
    <p:sldId id="300" r:id="rId60"/>
    <p:sldId id="301" r:id="rId61"/>
    <p:sldId id="302" r:id="rId62"/>
    <p:sldId id="307" r:id="rId63"/>
    <p:sldId id="304" r:id="rId64"/>
    <p:sldId id="309" r:id="rId65"/>
    <p:sldId id="306" r:id="rId66"/>
    <p:sldId id="308" r:id="rId67"/>
    <p:sldId id="311" r:id="rId68"/>
    <p:sldId id="310" r:id="rId69"/>
    <p:sldId id="312" r:id="rId70"/>
    <p:sldId id="313" r:id="rId71"/>
    <p:sldId id="314" r:id="rId72"/>
    <p:sldId id="315" r:id="rId73"/>
    <p:sldId id="316" r:id="rId74"/>
    <p:sldId id="317" r:id="rId75"/>
    <p:sldId id="319" r:id="rId76"/>
    <p:sldId id="320" r:id="rId77"/>
    <p:sldId id="321" r:id="rId78"/>
    <p:sldId id="340" r:id="rId79"/>
    <p:sldId id="322" r:id="rId80"/>
    <p:sldId id="323" r:id="rId81"/>
    <p:sldId id="324" r:id="rId82"/>
    <p:sldId id="326" r:id="rId83"/>
    <p:sldId id="327" r:id="rId84"/>
    <p:sldId id="328" r:id="rId85"/>
    <p:sldId id="325" r:id="rId86"/>
    <p:sldId id="329" r:id="rId87"/>
    <p:sldId id="331" r:id="rId88"/>
    <p:sldId id="332" r:id="rId89"/>
    <p:sldId id="333" r:id="rId90"/>
    <p:sldId id="336" r:id="rId91"/>
    <p:sldId id="335" r:id="rId92"/>
    <p:sldId id="337" r:id="rId93"/>
    <p:sldId id="338" r:id="rId94"/>
    <p:sldId id="339" r:id="rId95"/>
    <p:sldId id="341" r:id="rId96"/>
    <p:sldId id="342" r:id="rId97"/>
    <p:sldId id="343" r:id="rId98"/>
    <p:sldId id="344" r:id="rId99"/>
    <p:sldId id="345" r:id="rId100"/>
    <p:sldId id="347" r:id="rId101"/>
    <p:sldId id="348" r:id="rId102"/>
    <p:sldId id="350" r:id="rId103"/>
    <p:sldId id="349" r:id="rId104"/>
    <p:sldId id="334" r:id="rId105"/>
    <p:sldId id="380" r:id="rId106"/>
    <p:sldId id="381" r:id="rId107"/>
    <p:sldId id="382" r:id="rId108"/>
    <p:sldId id="383" r:id="rId109"/>
    <p:sldId id="384" r:id="rId110"/>
    <p:sldId id="385" r:id="rId111"/>
    <p:sldId id="352" r:id="rId112"/>
    <p:sldId id="354" r:id="rId113"/>
    <p:sldId id="355" r:id="rId114"/>
    <p:sldId id="353" r:id="rId115"/>
    <p:sldId id="259" r:id="rId116"/>
    <p:sldId id="386" r:id="rId117"/>
    <p:sldId id="387" r:id="rId118"/>
    <p:sldId id="388" r:id="rId119"/>
    <p:sldId id="389" r:id="rId120"/>
    <p:sldId id="390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74" autoAdjust="0"/>
    <p:restoredTop sz="95942" autoAdjust="0"/>
  </p:normalViewPr>
  <p:slideViewPr>
    <p:cSldViewPr snapToGrid="0">
      <p:cViewPr varScale="1">
        <p:scale>
          <a:sx n="98" d="100"/>
          <a:sy n="98" d="100"/>
        </p:scale>
        <p:origin x="12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27230D-C59F-F043-8BF3-A05276DE2847}" type="doc">
      <dgm:prSet loTypeId="urn:microsoft.com/office/officeart/2005/8/layout/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486DE1-58F6-AE41-8984-165E5C195F02}">
      <dgm:prSet phldrT="[Text]"/>
      <dgm:spPr/>
      <dgm:t>
        <a:bodyPr/>
        <a:lstStyle/>
        <a:p>
          <a:r>
            <a:rPr lang="en-US" dirty="0"/>
            <a:t>Types of Data</a:t>
          </a:r>
        </a:p>
      </dgm:t>
    </dgm:pt>
    <dgm:pt modelId="{1EFAACE4-33C8-464A-A920-B600F9F1A203}" type="parTrans" cxnId="{A5E67D14-C2C1-3643-9C55-CD4C79CA111A}">
      <dgm:prSet/>
      <dgm:spPr/>
      <dgm:t>
        <a:bodyPr/>
        <a:lstStyle/>
        <a:p>
          <a:endParaRPr lang="en-US"/>
        </a:p>
      </dgm:t>
    </dgm:pt>
    <dgm:pt modelId="{139B7930-6559-ED4F-AED5-7B9DAD5FCF2C}" type="sibTrans" cxnId="{A5E67D14-C2C1-3643-9C55-CD4C79CA111A}">
      <dgm:prSet/>
      <dgm:spPr/>
      <dgm:t>
        <a:bodyPr/>
        <a:lstStyle/>
        <a:p>
          <a:endParaRPr lang="en-US"/>
        </a:p>
      </dgm:t>
    </dgm:pt>
    <dgm:pt modelId="{5649D96A-8376-8448-BFCD-30BF58BCFE4E}">
      <dgm:prSet phldrT="[Text]"/>
      <dgm:spPr/>
      <dgm:t>
        <a:bodyPr/>
        <a:lstStyle/>
        <a:p>
          <a:r>
            <a:rPr lang="en-US" dirty="0"/>
            <a:t>Learn to distinguish between categorical and numerical data</a:t>
          </a:r>
        </a:p>
      </dgm:t>
    </dgm:pt>
    <dgm:pt modelId="{9FA2560A-9230-4840-9F7B-4A037AF332A0}" type="parTrans" cxnId="{539BA46D-49FE-904F-A43B-329DEBB462A0}">
      <dgm:prSet/>
      <dgm:spPr/>
      <dgm:t>
        <a:bodyPr/>
        <a:lstStyle/>
        <a:p>
          <a:endParaRPr lang="en-US"/>
        </a:p>
      </dgm:t>
    </dgm:pt>
    <dgm:pt modelId="{5B590D1B-D7FA-4943-9DB8-F36CA5FCCC4C}" type="sibTrans" cxnId="{539BA46D-49FE-904F-A43B-329DEBB462A0}">
      <dgm:prSet/>
      <dgm:spPr/>
      <dgm:t>
        <a:bodyPr/>
        <a:lstStyle/>
        <a:p>
          <a:endParaRPr lang="en-US"/>
        </a:p>
      </dgm:t>
    </dgm:pt>
    <dgm:pt modelId="{B99FF710-7297-254E-B92F-9EAD7728F312}">
      <dgm:prSet phldrT="[Text]"/>
      <dgm:spPr/>
      <dgm:t>
        <a:bodyPr/>
        <a:lstStyle/>
        <a:p>
          <a:r>
            <a:rPr lang="en-US" dirty="0"/>
            <a:t>Data Formats</a:t>
          </a:r>
        </a:p>
      </dgm:t>
    </dgm:pt>
    <dgm:pt modelId="{A14B7F69-C97A-AD4B-AC35-44EFFF02F0B6}" type="parTrans" cxnId="{543251FA-B84E-AD45-8FDE-8975DF0A1BC9}">
      <dgm:prSet/>
      <dgm:spPr/>
      <dgm:t>
        <a:bodyPr/>
        <a:lstStyle/>
        <a:p>
          <a:endParaRPr lang="en-US"/>
        </a:p>
      </dgm:t>
    </dgm:pt>
    <dgm:pt modelId="{1C1BEE5A-D0CD-2F4D-A7BA-3F3907A512B3}" type="sibTrans" cxnId="{543251FA-B84E-AD45-8FDE-8975DF0A1BC9}">
      <dgm:prSet/>
      <dgm:spPr/>
      <dgm:t>
        <a:bodyPr/>
        <a:lstStyle/>
        <a:p>
          <a:endParaRPr lang="en-US"/>
        </a:p>
      </dgm:t>
    </dgm:pt>
    <dgm:pt modelId="{4485F1B8-B570-F047-90D9-50D328EB4541}">
      <dgm:prSet phldrT="[Text]"/>
      <dgm:spPr/>
      <dgm:t>
        <a:bodyPr/>
        <a:lstStyle/>
        <a:p>
          <a:r>
            <a:rPr lang="en-US" dirty="0"/>
            <a:t>Explore how data is organized and stored</a:t>
          </a:r>
        </a:p>
      </dgm:t>
    </dgm:pt>
    <dgm:pt modelId="{0D55C1E3-E9B9-3044-BEBF-9881E30BDD0C}" type="parTrans" cxnId="{A012BF27-648F-F342-B68D-E3D3EE787334}">
      <dgm:prSet/>
      <dgm:spPr/>
      <dgm:t>
        <a:bodyPr/>
        <a:lstStyle/>
        <a:p>
          <a:endParaRPr lang="en-US"/>
        </a:p>
      </dgm:t>
    </dgm:pt>
    <dgm:pt modelId="{DC97F8FF-F57E-EF4B-9549-57037A3B1E13}" type="sibTrans" cxnId="{A012BF27-648F-F342-B68D-E3D3EE787334}">
      <dgm:prSet/>
      <dgm:spPr/>
      <dgm:t>
        <a:bodyPr/>
        <a:lstStyle/>
        <a:p>
          <a:endParaRPr lang="en-US"/>
        </a:p>
      </dgm:t>
    </dgm:pt>
    <dgm:pt modelId="{85309DC7-2347-2046-9586-83FB045A3179}">
      <dgm:prSet phldrT="[Text]"/>
      <dgm:spPr/>
      <dgm:t>
        <a:bodyPr/>
        <a:lstStyle/>
        <a:p>
          <a:r>
            <a:rPr lang="en-US" dirty="0"/>
            <a:t>Apply these concepts to real-world scenarios</a:t>
          </a:r>
        </a:p>
      </dgm:t>
    </dgm:pt>
    <dgm:pt modelId="{6AE82DFB-F13D-AC4B-B30E-12E41F428D66}" type="parTrans" cxnId="{6B4DD64C-4C8B-424E-9E14-8A4FA58E0327}">
      <dgm:prSet/>
      <dgm:spPr/>
      <dgm:t>
        <a:bodyPr/>
        <a:lstStyle/>
        <a:p>
          <a:endParaRPr lang="en-US"/>
        </a:p>
      </dgm:t>
    </dgm:pt>
    <dgm:pt modelId="{4763D9D6-4965-D840-9475-A39519F2768F}" type="sibTrans" cxnId="{6B4DD64C-4C8B-424E-9E14-8A4FA58E0327}">
      <dgm:prSet/>
      <dgm:spPr/>
      <dgm:t>
        <a:bodyPr/>
        <a:lstStyle/>
        <a:p>
          <a:endParaRPr lang="en-US"/>
        </a:p>
      </dgm:t>
    </dgm:pt>
    <dgm:pt modelId="{94AB7212-D266-584A-B4A0-139402213955}">
      <dgm:prSet phldrT="[Text]"/>
      <dgm:spPr/>
      <dgm:t>
        <a:bodyPr/>
        <a:lstStyle/>
        <a:p>
          <a:r>
            <a:rPr lang="en-US" dirty="0"/>
            <a:t>Master the tools to summarize and describe data</a:t>
          </a:r>
        </a:p>
      </dgm:t>
    </dgm:pt>
    <dgm:pt modelId="{BEC975CA-081C-D042-B3B4-063BCBF8994A}" type="parTrans" cxnId="{D645221D-4BEB-9142-969C-5C114DE419E7}">
      <dgm:prSet/>
      <dgm:spPr/>
      <dgm:t>
        <a:bodyPr/>
        <a:lstStyle/>
        <a:p>
          <a:endParaRPr lang="en-US"/>
        </a:p>
      </dgm:t>
    </dgm:pt>
    <dgm:pt modelId="{B929816E-6E2B-0F4C-9825-25326A89CD0E}" type="sibTrans" cxnId="{D645221D-4BEB-9142-969C-5C114DE419E7}">
      <dgm:prSet/>
      <dgm:spPr/>
      <dgm:t>
        <a:bodyPr/>
        <a:lstStyle/>
        <a:p>
          <a:endParaRPr lang="en-US"/>
        </a:p>
      </dgm:t>
    </dgm:pt>
    <dgm:pt modelId="{31E2E029-815B-D845-A3FF-DA056ED07756}">
      <dgm:prSet phldrT="[Text]"/>
      <dgm:spPr/>
      <dgm:t>
        <a:bodyPr/>
        <a:lstStyle/>
        <a:p>
          <a:r>
            <a:rPr lang="en-US" dirty="0"/>
            <a:t>Basic Statistics</a:t>
          </a:r>
        </a:p>
      </dgm:t>
    </dgm:pt>
    <dgm:pt modelId="{5BE2AF6C-1F7E-D841-B991-4D293BAFA7B7}" type="parTrans" cxnId="{BB771287-8A70-1241-B9C9-756AFC7F6D07}">
      <dgm:prSet/>
      <dgm:spPr/>
      <dgm:t>
        <a:bodyPr/>
        <a:lstStyle/>
        <a:p>
          <a:endParaRPr lang="en-US"/>
        </a:p>
      </dgm:t>
    </dgm:pt>
    <dgm:pt modelId="{0412BBB1-DA95-6549-AC97-CE1A5CD563FA}" type="sibTrans" cxnId="{BB771287-8A70-1241-B9C9-756AFC7F6D07}">
      <dgm:prSet/>
      <dgm:spPr/>
      <dgm:t>
        <a:bodyPr/>
        <a:lstStyle/>
        <a:p>
          <a:endParaRPr lang="en-US"/>
        </a:p>
      </dgm:t>
    </dgm:pt>
    <dgm:pt modelId="{E0D85310-E164-E043-9512-E1D11FFDA262}">
      <dgm:prSet phldrT="[Text]"/>
      <dgm:spPr/>
      <dgm:t>
        <a:bodyPr/>
        <a:lstStyle/>
        <a:p>
          <a:r>
            <a:rPr lang="en-US" dirty="0"/>
            <a:t>Practical Applications</a:t>
          </a:r>
        </a:p>
      </dgm:t>
    </dgm:pt>
    <dgm:pt modelId="{F9B92515-E6E8-8149-904E-024E40C10DF3}" type="parTrans" cxnId="{11F5C2A7-E2BD-E94D-9E92-8FF4BEC97923}">
      <dgm:prSet/>
      <dgm:spPr/>
      <dgm:t>
        <a:bodyPr/>
        <a:lstStyle/>
        <a:p>
          <a:endParaRPr lang="en-US"/>
        </a:p>
      </dgm:t>
    </dgm:pt>
    <dgm:pt modelId="{7D11BC29-99BD-244D-AEC0-83F16577FC4E}" type="sibTrans" cxnId="{11F5C2A7-E2BD-E94D-9E92-8FF4BEC97923}">
      <dgm:prSet/>
      <dgm:spPr/>
      <dgm:t>
        <a:bodyPr/>
        <a:lstStyle/>
        <a:p>
          <a:endParaRPr lang="en-US"/>
        </a:p>
      </dgm:t>
    </dgm:pt>
    <dgm:pt modelId="{372963AE-2D75-ED49-BC49-9505BBE1F3F5}" type="pres">
      <dgm:prSet presAssocID="{D227230D-C59F-F043-8BF3-A05276DE2847}" presName="linear" presStyleCnt="0">
        <dgm:presLayoutVars>
          <dgm:dir/>
          <dgm:animLvl val="lvl"/>
          <dgm:resizeHandles val="exact"/>
        </dgm:presLayoutVars>
      </dgm:prSet>
      <dgm:spPr/>
    </dgm:pt>
    <dgm:pt modelId="{A92C6E1B-ACFA-6C45-B061-9F147E603B6D}" type="pres">
      <dgm:prSet presAssocID="{AB486DE1-58F6-AE41-8984-165E5C195F02}" presName="parentLin" presStyleCnt="0"/>
      <dgm:spPr/>
    </dgm:pt>
    <dgm:pt modelId="{CDA9EEB3-6263-544C-BB78-39645C4A98E3}" type="pres">
      <dgm:prSet presAssocID="{AB486DE1-58F6-AE41-8984-165E5C195F02}" presName="parentLeftMargin" presStyleLbl="node1" presStyleIdx="0" presStyleCnt="4"/>
      <dgm:spPr/>
    </dgm:pt>
    <dgm:pt modelId="{BA2B3BF9-4255-CE41-9CDF-9A0DEAAC69E7}" type="pres">
      <dgm:prSet presAssocID="{AB486DE1-58F6-AE41-8984-165E5C195F0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1B5FF89-A3FF-6E4C-9C06-AEF737FEDD50}" type="pres">
      <dgm:prSet presAssocID="{AB486DE1-58F6-AE41-8984-165E5C195F02}" presName="negativeSpace" presStyleCnt="0"/>
      <dgm:spPr/>
    </dgm:pt>
    <dgm:pt modelId="{08464246-BB27-334D-9DD7-2245054E6EFC}" type="pres">
      <dgm:prSet presAssocID="{AB486DE1-58F6-AE41-8984-165E5C195F02}" presName="childText" presStyleLbl="conFgAcc1" presStyleIdx="0" presStyleCnt="4">
        <dgm:presLayoutVars>
          <dgm:bulletEnabled val="1"/>
        </dgm:presLayoutVars>
      </dgm:prSet>
      <dgm:spPr/>
    </dgm:pt>
    <dgm:pt modelId="{85787D0A-790E-DD40-8300-8E2CD31249F7}" type="pres">
      <dgm:prSet presAssocID="{139B7930-6559-ED4F-AED5-7B9DAD5FCF2C}" presName="spaceBetweenRectangles" presStyleCnt="0"/>
      <dgm:spPr/>
    </dgm:pt>
    <dgm:pt modelId="{D649E15D-174F-3040-9269-685DE63302D1}" type="pres">
      <dgm:prSet presAssocID="{B99FF710-7297-254E-B92F-9EAD7728F312}" presName="parentLin" presStyleCnt="0"/>
      <dgm:spPr/>
    </dgm:pt>
    <dgm:pt modelId="{D3083F47-60D1-C34D-AF57-CAE3C58369E4}" type="pres">
      <dgm:prSet presAssocID="{B99FF710-7297-254E-B92F-9EAD7728F312}" presName="parentLeftMargin" presStyleLbl="node1" presStyleIdx="0" presStyleCnt="4"/>
      <dgm:spPr/>
    </dgm:pt>
    <dgm:pt modelId="{BA4CB4D1-1474-6F49-A168-208445F0C625}" type="pres">
      <dgm:prSet presAssocID="{B99FF710-7297-254E-B92F-9EAD7728F3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D799013-47CF-9841-AB84-1F82EE5CEAB9}" type="pres">
      <dgm:prSet presAssocID="{B99FF710-7297-254E-B92F-9EAD7728F312}" presName="negativeSpace" presStyleCnt="0"/>
      <dgm:spPr/>
    </dgm:pt>
    <dgm:pt modelId="{2DFF3213-79CD-7846-BCDF-B2929B549E91}" type="pres">
      <dgm:prSet presAssocID="{B99FF710-7297-254E-B92F-9EAD7728F312}" presName="childText" presStyleLbl="conFgAcc1" presStyleIdx="1" presStyleCnt="4">
        <dgm:presLayoutVars>
          <dgm:bulletEnabled val="1"/>
        </dgm:presLayoutVars>
      </dgm:prSet>
      <dgm:spPr/>
    </dgm:pt>
    <dgm:pt modelId="{34A99DFB-27E9-FE42-A6A1-2E7FF80C45D3}" type="pres">
      <dgm:prSet presAssocID="{1C1BEE5A-D0CD-2F4D-A7BA-3F3907A512B3}" presName="spaceBetweenRectangles" presStyleCnt="0"/>
      <dgm:spPr/>
    </dgm:pt>
    <dgm:pt modelId="{06EB3FE0-E5B9-6C44-A2DE-6FAB340F6F6F}" type="pres">
      <dgm:prSet presAssocID="{31E2E029-815B-D845-A3FF-DA056ED07756}" presName="parentLin" presStyleCnt="0"/>
      <dgm:spPr/>
    </dgm:pt>
    <dgm:pt modelId="{4741E8EE-9EEA-9948-8CFE-6A24E9A6003B}" type="pres">
      <dgm:prSet presAssocID="{31E2E029-815B-D845-A3FF-DA056ED07756}" presName="parentLeftMargin" presStyleLbl="node1" presStyleIdx="1" presStyleCnt="4"/>
      <dgm:spPr/>
    </dgm:pt>
    <dgm:pt modelId="{359E1A24-1F15-D042-8236-A9924BC738EF}" type="pres">
      <dgm:prSet presAssocID="{31E2E029-815B-D845-A3FF-DA056ED0775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71728F1-346C-BB4B-AB36-978B94D20AE4}" type="pres">
      <dgm:prSet presAssocID="{31E2E029-815B-D845-A3FF-DA056ED07756}" presName="negativeSpace" presStyleCnt="0"/>
      <dgm:spPr/>
    </dgm:pt>
    <dgm:pt modelId="{0EADA8CF-AB73-4645-A20D-55680A1E8568}" type="pres">
      <dgm:prSet presAssocID="{31E2E029-815B-D845-A3FF-DA056ED07756}" presName="childText" presStyleLbl="conFgAcc1" presStyleIdx="2" presStyleCnt="4">
        <dgm:presLayoutVars>
          <dgm:bulletEnabled val="1"/>
        </dgm:presLayoutVars>
      </dgm:prSet>
      <dgm:spPr/>
    </dgm:pt>
    <dgm:pt modelId="{FAC9AF33-5421-764C-869B-9172F4147220}" type="pres">
      <dgm:prSet presAssocID="{0412BBB1-DA95-6549-AC97-CE1A5CD563FA}" presName="spaceBetweenRectangles" presStyleCnt="0"/>
      <dgm:spPr/>
    </dgm:pt>
    <dgm:pt modelId="{F378751A-DC25-514A-9B66-330F0B8C95F1}" type="pres">
      <dgm:prSet presAssocID="{E0D85310-E164-E043-9512-E1D11FFDA262}" presName="parentLin" presStyleCnt="0"/>
      <dgm:spPr/>
    </dgm:pt>
    <dgm:pt modelId="{04FED22A-6E0D-F14F-BB60-47183043CC24}" type="pres">
      <dgm:prSet presAssocID="{E0D85310-E164-E043-9512-E1D11FFDA262}" presName="parentLeftMargin" presStyleLbl="node1" presStyleIdx="2" presStyleCnt="4"/>
      <dgm:spPr/>
    </dgm:pt>
    <dgm:pt modelId="{F5D464C4-2940-C14A-A4EA-438CEEDD7761}" type="pres">
      <dgm:prSet presAssocID="{E0D85310-E164-E043-9512-E1D11FFDA26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D6C8EC8D-E8BF-3A44-A8FE-28562887C6D3}" type="pres">
      <dgm:prSet presAssocID="{E0D85310-E164-E043-9512-E1D11FFDA262}" presName="negativeSpace" presStyleCnt="0"/>
      <dgm:spPr/>
    </dgm:pt>
    <dgm:pt modelId="{2AB6EC5E-0C78-1D43-879F-B37578F259FE}" type="pres">
      <dgm:prSet presAssocID="{E0D85310-E164-E043-9512-E1D11FFDA26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DB99203-EE3D-D845-B815-6DF2F0371502}" type="presOf" srcId="{31E2E029-815B-D845-A3FF-DA056ED07756}" destId="{4741E8EE-9EEA-9948-8CFE-6A24E9A6003B}" srcOrd="0" destOrd="0" presId="urn:microsoft.com/office/officeart/2005/8/layout/list1"/>
    <dgm:cxn modelId="{A5E67D14-C2C1-3643-9C55-CD4C79CA111A}" srcId="{D227230D-C59F-F043-8BF3-A05276DE2847}" destId="{AB486DE1-58F6-AE41-8984-165E5C195F02}" srcOrd="0" destOrd="0" parTransId="{1EFAACE4-33C8-464A-A920-B600F9F1A203}" sibTransId="{139B7930-6559-ED4F-AED5-7B9DAD5FCF2C}"/>
    <dgm:cxn modelId="{F2C05B17-0FCA-1646-93DF-A43EE695A1B8}" type="presOf" srcId="{E0D85310-E164-E043-9512-E1D11FFDA262}" destId="{F5D464C4-2940-C14A-A4EA-438CEEDD7761}" srcOrd="1" destOrd="0" presId="urn:microsoft.com/office/officeart/2005/8/layout/list1"/>
    <dgm:cxn modelId="{D645221D-4BEB-9142-969C-5C114DE419E7}" srcId="{31E2E029-815B-D845-A3FF-DA056ED07756}" destId="{94AB7212-D266-584A-B4A0-139402213955}" srcOrd="0" destOrd="0" parTransId="{BEC975CA-081C-D042-B3B4-063BCBF8994A}" sibTransId="{B929816E-6E2B-0F4C-9825-25326A89CD0E}"/>
    <dgm:cxn modelId="{70643421-F90D-B04F-B710-BB968536EB7B}" type="presOf" srcId="{AB486DE1-58F6-AE41-8984-165E5C195F02}" destId="{CDA9EEB3-6263-544C-BB78-39645C4A98E3}" srcOrd="0" destOrd="0" presId="urn:microsoft.com/office/officeart/2005/8/layout/list1"/>
    <dgm:cxn modelId="{6F34BE25-9ACA-5B45-84F0-8F2531102310}" type="presOf" srcId="{4485F1B8-B570-F047-90D9-50D328EB4541}" destId="{2DFF3213-79CD-7846-BCDF-B2929B549E91}" srcOrd="0" destOrd="0" presId="urn:microsoft.com/office/officeart/2005/8/layout/list1"/>
    <dgm:cxn modelId="{A012BF27-648F-F342-B68D-E3D3EE787334}" srcId="{B99FF710-7297-254E-B92F-9EAD7728F312}" destId="{4485F1B8-B570-F047-90D9-50D328EB4541}" srcOrd="0" destOrd="0" parTransId="{0D55C1E3-E9B9-3044-BEBF-9881E30BDD0C}" sibTransId="{DC97F8FF-F57E-EF4B-9549-57037A3B1E13}"/>
    <dgm:cxn modelId="{E829BE33-1167-0847-ADCE-C4BA560C51C6}" type="presOf" srcId="{94AB7212-D266-584A-B4A0-139402213955}" destId="{0EADA8CF-AB73-4645-A20D-55680A1E8568}" srcOrd="0" destOrd="0" presId="urn:microsoft.com/office/officeart/2005/8/layout/list1"/>
    <dgm:cxn modelId="{674D7336-53C2-A444-A6BC-16C655D31669}" type="presOf" srcId="{85309DC7-2347-2046-9586-83FB045A3179}" destId="{2AB6EC5E-0C78-1D43-879F-B37578F259FE}" srcOrd="0" destOrd="0" presId="urn:microsoft.com/office/officeart/2005/8/layout/list1"/>
    <dgm:cxn modelId="{6315AF47-3C4F-CC46-A32D-5630990045F4}" type="presOf" srcId="{31E2E029-815B-D845-A3FF-DA056ED07756}" destId="{359E1A24-1F15-D042-8236-A9924BC738EF}" srcOrd="1" destOrd="0" presId="urn:microsoft.com/office/officeart/2005/8/layout/list1"/>
    <dgm:cxn modelId="{6B4DD64C-4C8B-424E-9E14-8A4FA58E0327}" srcId="{E0D85310-E164-E043-9512-E1D11FFDA262}" destId="{85309DC7-2347-2046-9586-83FB045A3179}" srcOrd="0" destOrd="0" parTransId="{6AE82DFB-F13D-AC4B-B30E-12E41F428D66}" sibTransId="{4763D9D6-4965-D840-9475-A39519F2768F}"/>
    <dgm:cxn modelId="{539BA46D-49FE-904F-A43B-329DEBB462A0}" srcId="{AB486DE1-58F6-AE41-8984-165E5C195F02}" destId="{5649D96A-8376-8448-BFCD-30BF58BCFE4E}" srcOrd="0" destOrd="0" parTransId="{9FA2560A-9230-4840-9F7B-4A037AF332A0}" sibTransId="{5B590D1B-D7FA-4943-9DB8-F36CA5FCCC4C}"/>
    <dgm:cxn modelId="{4A9D2676-0087-014E-BF99-DFB08CB13C35}" type="presOf" srcId="{D227230D-C59F-F043-8BF3-A05276DE2847}" destId="{372963AE-2D75-ED49-BC49-9505BBE1F3F5}" srcOrd="0" destOrd="0" presId="urn:microsoft.com/office/officeart/2005/8/layout/list1"/>
    <dgm:cxn modelId="{E6F00279-3B81-9245-8709-95D1D39DE044}" type="presOf" srcId="{AB486DE1-58F6-AE41-8984-165E5C195F02}" destId="{BA2B3BF9-4255-CE41-9CDF-9A0DEAAC69E7}" srcOrd="1" destOrd="0" presId="urn:microsoft.com/office/officeart/2005/8/layout/list1"/>
    <dgm:cxn modelId="{C958B67F-F7F2-0645-890D-2DF0536BC19F}" type="presOf" srcId="{B99FF710-7297-254E-B92F-9EAD7728F312}" destId="{D3083F47-60D1-C34D-AF57-CAE3C58369E4}" srcOrd="0" destOrd="0" presId="urn:microsoft.com/office/officeart/2005/8/layout/list1"/>
    <dgm:cxn modelId="{BB771287-8A70-1241-B9C9-756AFC7F6D07}" srcId="{D227230D-C59F-F043-8BF3-A05276DE2847}" destId="{31E2E029-815B-D845-A3FF-DA056ED07756}" srcOrd="2" destOrd="0" parTransId="{5BE2AF6C-1F7E-D841-B991-4D293BAFA7B7}" sibTransId="{0412BBB1-DA95-6549-AC97-CE1A5CD563FA}"/>
    <dgm:cxn modelId="{88217B90-26EB-4340-8364-347054018D78}" type="presOf" srcId="{5649D96A-8376-8448-BFCD-30BF58BCFE4E}" destId="{08464246-BB27-334D-9DD7-2245054E6EFC}" srcOrd="0" destOrd="0" presId="urn:microsoft.com/office/officeart/2005/8/layout/list1"/>
    <dgm:cxn modelId="{11F5C2A7-E2BD-E94D-9E92-8FF4BEC97923}" srcId="{D227230D-C59F-F043-8BF3-A05276DE2847}" destId="{E0D85310-E164-E043-9512-E1D11FFDA262}" srcOrd="3" destOrd="0" parTransId="{F9B92515-E6E8-8149-904E-024E40C10DF3}" sibTransId="{7D11BC29-99BD-244D-AEC0-83F16577FC4E}"/>
    <dgm:cxn modelId="{3DF8CDB2-2515-C040-8E36-86167D144A5C}" type="presOf" srcId="{E0D85310-E164-E043-9512-E1D11FFDA262}" destId="{04FED22A-6E0D-F14F-BB60-47183043CC24}" srcOrd="0" destOrd="0" presId="urn:microsoft.com/office/officeart/2005/8/layout/list1"/>
    <dgm:cxn modelId="{B37106E4-0573-5A4A-917B-D112A3633E6F}" type="presOf" srcId="{B99FF710-7297-254E-B92F-9EAD7728F312}" destId="{BA4CB4D1-1474-6F49-A168-208445F0C625}" srcOrd="1" destOrd="0" presId="urn:microsoft.com/office/officeart/2005/8/layout/list1"/>
    <dgm:cxn modelId="{543251FA-B84E-AD45-8FDE-8975DF0A1BC9}" srcId="{D227230D-C59F-F043-8BF3-A05276DE2847}" destId="{B99FF710-7297-254E-B92F-9EAD7728F312}" srcOrd="1" destOrd="0" parTransId="{A14B7F69-C97A-AD4B-AC35-44EFFF02F0B6}" sibTransId="{1C1BEE5A-D0CD-2F4D-A7BA-3F3907A512B3}"/>
    <dgm:cxn modelId="{34293F04-B200-C347-B32E-E5E266BD9B12}" type="presParOf" srcId="{372963AE-2D75-ED49-BC49-9505BBE1F3F5}" destId="{A92C6E1B-ACFA-6C45-B061-9F147E603B6D}" srcOrd="0" destOrd="0" presId="urn:microsoft.com/office/officeart/2005/8/layout/list1"/>
    <dgm:cxn modelId="{7A2E748B-4529-044C-B742-FFEE5BD32863}" type="presParOf" srcId="{A92C6E1B-ACFA-6C45-B061-9F147E603B6D}" destId="{CDA9EEB3-6263-544C-BB78-39645C4A98E3}" srcOrd="0" destOrd="0" presId="urn:microsoft.com/office/officeart/2005/8/layout/list1"/>
    <dgm:cxn modelId="{A16BBEDD-C742-C946-8ABF-4F0B8CA54E7F}" type="presParOf" srcId="{A92C6E1B-ACFA-6C45-B061-9F147E603B6D}" destId="{BA2B3BF9-4255-CE41-9CDF-9A0DEAAC69E7}" srcOrd="1" destOrd="0" presId="urn:microsoft.com/office/officeart/2005/8/layout/list1"/>
    <dgm:cxn modelId="{5EE769B7-09D8-B444-B489-953F68BF5E10}" type="presParOf" srcId="{372963AE-2D75-ED49-BC49-9505BBE1F3F5}" destId="{A1B5FF89-A3FF-6E4C-9C06-AEF737FEDD50}" srcOrd="1" destOrd="0" presId="urn:microsoft.com/office/officeart/2005/8/layout/list1"/>
    <dgm:cxn modelId="{465E31B6-F227-1A48-9972-4B052D498EE7}" type="presParOf" srcId="{372963AE-2D75-ED49-BC49-9505BBE1F3F5}" destId="{08464246-BB27-334D-9DD7-2245054E6EFC}" srcOrd="2" destOrd="0" presId="urn:microsoft.com/office/officeart/2005/8/layout/list1"/>
    <dgm:cxn modelId="{0A8629CB-E892-F345-B645-775D30437126}" type="presParOf" srcId="{372963AE-2D75-ED49-BC49-9505BBE1F3F5}" destId="{85787D0A-790E-DD40-8300-8E2CD31249F7}" srcOrd="3" destOrd="0" presId="urn:microsoft.com/office/officeart/2005/8/layout/list1"/>
    <dgm:cxn modelId="{28C26495-DE40-624A-8B87-2C1E0E2C5582}" type="presParOf" srcId="{372963AE-2D75-ED49-BC49-9505BBE1F3F5}" destId="{D649E15D-174F-3040-9269-685DE63302D1}" srcOrd="4" destOrd="0" presId="urn:microsoft.com/office/officeart/2005/8/layout/list1"/>
    <dgm:cxn modelId="{5C19B786-2310-A74D-ADA3-216F3CB6B032}" type="presParOf" srcId="{D649E15D-174F-3040-9269-685DE63302D1}" destId="{D3083F47-60D1-C34D-AF57-CAE3C58369E4}" srcOrd="0" destOrd="0" presId="urn:microsoft.com/office/officeart/2005/8/layout/list1"/>
    <dgm:cxn modelId="{9F92D8E6-FA98-E448-9D74-D9FA9CB51912}" type="presParOf" srcId="{D649E15D-174F-3040-9269-685DE63302D1}" destId="{BA4CB4D1-1474-6F49-A168-208445F0C625}" srcOrd="1" destOrd="0" presId="urn:microsoft.com/office/officeart/2005/8/layout/list1"/>
    <dgm:cxn modelId="{615BB061-3CA1-8F4A-B21E-4BA826B4BF3E}" type="presParOf" srcId="{372963AE-2D75-ED49-BC49-9505BBE1F3F5}" destId="{BD799013-47CF-9841-AB84-1F82EE5CEAB9}" srcOrd="5" destOrd="0" presId="urn:microsoft.com/office/officeart/2005/8/layout/list1"/>
    <dgm:cxn modelId="{CE845E9A-0218-FC44-B69B-80075FCB7916}" type="presParOf" srcId="{372963AE-2D75-ED49-BC49-9505BBE1F3F5}" destId="{2DFF3213-79CD-7846-BCDF-B2929B549E91}" srcOrd="6" destOrd="0" presId="urn:microsoft.com/office/officeart/2005/8/layout/list1"/>
    <dgm:cxn modelId="{B7378646-238E-3442-AA40-F214153A86F3}" type="presParOf" srcId="{372963AE-2D75-ED49-BC49-9505BBE1F3F5}" destId="{34A99DFB-27E9-FE42-A6A1-2E7FF80C45D3}" srcOrd="7" destOrd="0" presId="urn:microsoft.com/office/officeart/2005/8/layout/list1"/>
    <dgm:cxn modelId="{89B81AD5-F426-B340-8E22-39391F58C9A7}" type="presParOf" srcId="{372963AE-2D75-ED49-BC49-9505BBE1F3F5}" destId="{06EB3FE0-E5B9-6C44-A2DE-6FAB340F6F6F}" srcOrd="8" destOrd="0" presId="urn:microsoft.com/office/officeart/2005/8/layout/list1"/>
    <dgm:cxn modelId="{04F62E98-861F-BC46-A963-ED78269DC408}" type="presParOf" srcId="{06EB3FE0-E5B9-6C44-A2DE-6FAB340F6F6F}" destId="{4741E8EE-9EEA-9948-8CFE-6A24E9A6003B}" srcOrd="0" destOrd="0" presId="urn:microsoft.com/office/officeart/2005/8/layout/list1"/>
    <dgm:cxn modelId="{F3BA1595-8C05-2B42-814B-C34A333102BE}" type="presParOf" srcId="{06EB3FE0-E5B9-6C44-A2DE-6FAB340F6F6F}" destId="{359E1A24-1F15-D042-8236-A9924BC738EF}" srcOrd="1" destOrd="0" presId="urn:microsoft.com/office/officeart/2005/8/layout/list1"/>
    <dgm:cxn modelId="{4AB5F241-8850-734A-8EFD-E4CF181F713E}" type="presParOf" srcId="{372963AE-2D75-ED49-BC49-9505BBE1F3F5}" destId="{771728F1-346C-BB4B-AB36-978B94D20AE4}" srcOrd="9" destOrd="0" presId="urn:microsoft.com/office/officeart/2005/8/layout/list1"/>
    <dgm:cxn modelId="{CABF1350-2EF7-8545-8ED2-D27880F22DE9}" type="presParOf" srcId="{372963AE-2D75-ED49-BC49-9505BBE1F3F5}" destId="{0EADA8CF-AB73-4645-A20D-55680A1E8568}" srcOrd="10" destOrd="0" presId="urn:microsoft.com/office/officeart/2005/8/layout/list1"/>
    <dgm:cxn modelId="{EC6E1029-36F4-794A-AB33-4282F7490512}" type="presParOf" srcId="{372963AE-2D75-ED49-BC49-9505BBE1F3F5}" destId="{FAC9AF33-5421-764C-869B-9172F4147220}" srcOrd="11" destOrd="0" presId="urn:microsoft.com/office/officeart/2005/8/layout/list1"/>
    <dgm:cxn modelId="{C5455403-47D7-634E-845B-0AC802E09CB9}" type="presParOf" srcId="{372963AE-2D75-ED49-BC49-9505BBE1F3F5}" destId="{F378751A-DC25-514A-9B66-330F0B8C95F1}" srcOrd="12" destOrd="0" presId="urn:microsoft.com/office/officeart/2005/8/layout/list1"/>
    <dgm:cxn modelId="{B4C3B537-37AC-F443-BB85-62CF0B8A20F9}" type="presParOf" srcId="{F378751A-DC25-514A-9B66-330F0B8C95F1}" destId="{04FED22A-6E0D-F14F-BB60-47183043CC24}" srcOrd="0" destOrd="0" presId="urn:microsoft.com/office/officeart/2005/8/layout/list1"/>
    <dgm:cxn modelId="{090AC65F-1636-344F-B62D-C96E6E2C3975}" type="presParOf" srcId="{F378751A-DC25-514A-9B66-330F0B8C95F1}" destId="{F5D464C4-2940-C14A-A4EA-438CEEDD7761}" srcOrd="1" destOrd="0" presId="urn:microsoft.com/office/officeart/2005/8/layout/list1"/>
    <dgm:cxn modelId="{DB54A5BF-40B0-0942-BF0D-F076730BF9F0}" type="presParOf" srcId="{372963AE-2D75-ED49-BC49-9505BBE1F3F5}" destId="{D6C8EC8D-E8BF-3A44-A8FE-28562887C6D3}" srcOrd="13" destOrd="0" presId="urn:microsoft.com/office/officeart/2005/8/layout/list1"/>
    <dgm:cxn modelId="{0A1ADCB9-C794-BA41-93DB-C7D86C37D398}" type="presParOf" srcId="{372963AE-2D75-ED49-BC49-9505BBE1F3F5}" destId="{2AB6EC5E-0C78-1D43-879F-B37578F259F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6F19AD-2FCC-E246-A875-86CA7A0DF06E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6DFA42-8B71-2D47-B1D8-22FC31075B6B}">
      <dgm:prSet phldrT="[Text]"/>
      <dgm:spPr/>
      <dgm:t>
        <a:bodyPr/>
        <a:lstStyle/>
        <a:p>
          <a:r>
            <a:rPr lang="en-US"/>
            <a:t>Data Type</a:t>
          </a:r>
        </a:p>
      </dgm:t>
    </dgm:pt>
    <dgm:pt modelId="{BB808DD0-A291-7340-BCA4-29DD11CD136B}" type="parTrans" cxnId="{0D3AF116-60DB-8D46-8975-E7216036E980}">
      <dgm:prSet/>
      <dgm:spPr/>
      <dgm:t>
        <a:bodyPr/>
        <a:lstStyle/>
        <a:p>
          <a:endParaRPr lang="en-US"/>
        </a:p>
      </dgm:t>
    </dgm:pt>
    <dgm:pt modelId="{FE38DB77-9F5B-7B4E-B025-16DB8BC39788}" type="sibTrans" cxnId="{0D3AF116-60DB-8D46-8975-E7216036E980}">
      <dgm:prSet/>
      <dgm:spPr/>
      <dgm:t>
        <a:bodyPr/>
        <a:lstStyle/>
        <a:p>
          <a:endParaRPr lang="en-US"/>
        </a:p>
      </dgm:t>
    </dgm:pt>
    <dgm:pt modelId="{276D3AB5-C40F-DE43-B8C9-044034C2A07C}">
      <dgm:prSet phldrT="[Text]"/>
      <dgm:spPr/>
      <dgm:t>
        <a:bodyPr/>
        <a:lstStyle/>
        <a:p>
          <a:r>
            <a:rPr lang="en-US"/>
            <a:t>Categorical</a:t>
          </a:r>
        </a:p>
      </dgm:t>
    </dgm:pt>
    <dgm:pt modelId="{3284C6BF-DB5D-1040-9B52-850546DB747F}" type="parTrans" cxnId="{4A37A9FF-F476-1940-B4A6-863052D0583D}">
      <dgm:prSet/>
      <dgm:spPr/>
      <dgm:t>
        <a:bodyPr/>
        <a:lstStyle/>
        <a:p>
          <a:endParaRPr lang="en-US"/>
        </a:p>
      </dgm:t>
    </dgm:pt>
    <dgm:pt modelId="{72BAFE91-FFB3-1842-83B8-48C055289A63}" type="sibTrans" cxnId="{4A37A9FF-F476-1940-B4A6-863052D0583D}">
      <dgm:prSet/>
      <dgm:spPr/>
      <dgm:t>
        <a:bodyPr/>
        <a:lstStyle/>
        <a:p>
          <a:endParaRPr lang="en-US"/>
        </a:p>
      </dgm:t>
    </dgm:pt>
    <dgm:pt modelId="{960C5558-B254-5849-8701-B7DEAF6F6230}">
      <dgm:prSet phldrT="[Text]"/>
      <dgm:spPr/>
      <dgm:t>
        <a:bodyPr/>
        <a:lstStyle/>
        <a:p>
          <a:r>
            <a:rPr lang="en-US"/>
            <a:t>Numerical</a:t>
          </a:r>
        </a:p>
      </dgm:t>
    </dgm:pt>
    <dgm:pt modelId="{4D416333-F52F-0542-A034-E24F74ECE577}" type="parTrans" cxnId="{E8B5063E-0F61-1A4D-A591-E24A0D3BDA16}">
      <dgm:prSet/>
      <dgm:spPr/>
      <dgm:t>
        <a:bodyPr/>
        <a:lstStyle/>
        <a:p>
          <a:endParaRPr lang="en-US"/>
        </a:p>
      </dgm:t>
    </dgm:pt>
    <dgm:pt modelId="{6A99D196-4D82-C740-BA1C-9A4B8E900063}" type="sibTrans" cxnId="{E8B5063E-0F61-1A4D-A591-E24A0D3BDA16}">
      <dgm:prSet/>
      <dgm:spPr/>
      <dgm:t>
        <a:bodyPr/>
        <a:lstStyle/>
        <a:p>
          <a:endParaRPr lang="en-US"/>
        </a:p>
      </dgm:t>
    </dgm:pt>
    <dgm:pt modelId="{ECBBACD8-5D5E-B245-A24B-CF1426CD8F09}">
      <dgm:prSet phldrT="[Text]"/>
      <dgm:spPr/>
      <dgm:t>
        <a:bodyPr/>
        <a:lstStyle/>
        <a:p>
          <a:r>
            <a:rPr lang="en-US"/>
            <a:t>Discrete</a:t>
          </a:r>
        </a:p>
      </dgm:t>
    </dgm:pt>
    <dgm:pt modelId="{A6C63AFE-E5B1-9347-8C3C-2F17CD7D5D28}" type="parTrans" cxnId="{51F012C4-EDC8-6D40-A4EB-86CF6D8F481B}">
      <dgm:prSet/>
      <dgm:spPr/>
      <dgm:t>
        <a:bodyPr/>
        <a:lstStyle/>
        <a:p>
          <a:endParaRPr lang="en-US"/>
        </a:p>
      </dgm:t>
    </dgm:pt>
    <dgm:pt modelId="{D21B220E-F1AA-784C-8160-C2BD7380EC06}" type="sibTrans" cxnId="{51F012C4-EDC8-6D40-A4EB-86CF6D8F481B}">
      <dgm:prSet/>
      <dgm:spPr/>
      <dgm:t>
        <a:bodyPr/>
        <a:lstStyle/>
        <a:p>
          <a:endParaRPr lang="en-US"/>
        </a:p>
      </dgm:t>
    </dgm:pt>
    <dgm:pt modelId="{D1F54D03-2F3E-3841-BE7D-11C7B5AB26CD}">
      <dgm:prSet phldrT="[Text]"/>
      <dgm:spPr/>
      <dgm:t>
        <a:bodyPr/>
        <a:lstStyle/>
        <a:p>
          <a:r>
            <a:rPr lang="en-US"/>
            <a:t>Nominal</a:t>
          </a:r>
        </a:p>
      </dgm:t>
    </dgm:pt>
    <dgm:pt modelId="{BF0DF5F5-E3CF-0744-88B7-C6783A20B5C5}" type="parTrans" cxnId="{F5985AE2-33EA-C74F-9D22-CB49E8E3D17B}">
      <dgm:prSet/>
      <dgm:spPr/>
      <dgm:t>
        <a:bodyPr/>
        <a:lstStyle/>
        <a:p>
          <a:endParaRPr lang="en-US"/>
        </a:p>
      </dgm:t>
    </dgm:pt>
    <dgm:pt modelId="{FDDA5047-A70C-654B-A228-84CAE29CE0F9}" type="sibTrans" cxnId="{F5985AE2-33EA-C74F-9D22-CB49E8E3D17B}">
      <dgm:prSet/>
      <dgm:spPr/>
      <dgm:t>
        <a:bodyPr/>
        <a:lstStyle/>
        <a:p>
          <a:endParaRPr lang="en-US"/>
        </a:p>
      </dgm:t>
    </dgm:pt>
    <dgm:pt modelId="{3791244C-7DA7-FF46-8F5E-A97DC9260A60}">
      <dgm:prSet phldrT="[Text]"/>
      <dgm:spPr/>
      <dgm:t>
        <a:bodyPr/>
        <a:lstStyle/>
        <a:p>
          <a:r>
            <a:rPr lang="en-US"/>
            <a:t>Ordinal</a:t>
          </a:r>
        </a:p>
      </dgm:t>
    </dgm:pt>
    <dgm:pt modelId="{351E87BC-7CA6-A244-8DCF-6B1EBCE46F81}" type="parTrans" cxnId="{160AD438-9871-7B41-9E85-ADC32045F816}">
      <dgm:prSet/>
      <dgm:spPr/>
      <dgm:t>
        <a:bodyPr/>
        <a:lstStyle/>
        <a:p>
          <a:endParaRPr lang="en-US"/>
        </a:p>
      </dgm:t>
    </dgm:pt>
    <dgm:pt modelId="{D1680B05-5237-8943-BF3F-ABE02F978208}" type="sibTrans" cxnId="{160AD438-9871-7B41-9E85-ADC32045F816}">
      <dgm:prSet/>
      <dgm:spPr/>
      <dgm:t>
        <a:bodyPr/>
        <a:lstStyle/>
        <a:p>
          <a:endParaRPr lang="en-US"/>
        </a:p>
      </dgm:t>
    </dgm:pt>
    <dgm:pt modelId="{81E1BD7F-5DFB-B840-B463-42D8F3216BAB}">
      <dgm:prSet phldrT="[Text]"/>
      <dgm:spPr/>
      <dgm:t>
        <a:bodyPr/>
        <a:lstStyle/>
        <a:p>
          <a:r>
            <a:rPr lang="en-US"/>
            <a:t>Continuous</a:t>
          </a:r>
        </a:p>
      </dgm:t>
    </dgm:pt>
    <dgm:pt modelId="{160C0098-BD2E-8444-B3EF-537EE29F9CD9}" type="parTrans" cxnId="{F9F417DC-09CE-454C-84A3-A1D14761F601}">
      <dgm:prSet/>
      <dgm:spPr/>
      <dgm:t>
        <a:bodyPr/>
        <a:lstStyle/>
        <a:p>
          <a:endParaRPr lang="en-US"/>
        </a:p>
      </dgm:t>
    </dgm:pt>
    <dgm:pt modelId="{5E820D83-5CFE-AA42-A5AE-A67424370F97}" type="sibTrans" cxnId="{F9F417DC-09CE-454C-84A3-A1D14761F601}">
      <dgm:prSet/>
      <dgm:spPr/>
      <dgm:t>
        <a:bodyPr/>
        <a:lstStyle/>
        <a:p>
          <a:endParaRPr lang="en-US"/>
        </a:p>
      </dgm:t>
    </dgm:pt>
    <dgm:pt modelId="{94E1C52D-6BAA-D243-ABC8-507391746543}" type="pres">
      <dgm:prSet presAssocID="{6B6F19AD-2FCC-E246-A875-86CA7A0DF06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C2D9EED-4D09-034C-B518-703D823A5287}" type="pres">
      <dgm:prSet presAssocID="{5A6DFA42-8B71-2D47-B1D8-22FC31075B6B}" presName="hierRoot1" presStyleCnt="0">
        <dgm:presLayoutVars>
          <dgm:hierBranch val="init"/>
        </dgm:presLayoutVars>
      </dgm:prSet>
      <dgm:spPr/>
    </dgm:pt>
    <dgm:pt modelId="{6BC5E122-D0B5-BD4B-9B74-E4354F414F53}" type="pres">
      <dgm:prSet presAssocID="{5A6DFA42-8B71-2D47-B1D8-22FC31075B6B}" presName="rootComposite1" presStyleCnt="0"/>
      <dgm:spPr/>
    </dgm:pt>
    <dgm:pt modelId="{6D57927E-6C24-4D44-B992-43B3402C9C68}" type="pres">
      <dgm:prSet presAssocID="{5A6DFA42-8B71-2D47-B1D8-22FC31075B6B}" presName="rootText1" presStyleLbl="node0" presStyleIdx="0" presStyleCnt="1">
        <dgm:presLayoutVars>
          <dgm:chPref val="3"/>
        </dgm:presLayoutVars>
      </dgm:prSet>
      <dgm:spPr/>
    </dgm:pt>
    <dgm:pt modelId="{2B538E1C-6630-2E41-B4DD-8623ABF1315D}" type="pres">
      <dgm:prSet presAssocID="{5A6DFA42-8B71-2D47-B1D8-22FC31075B6B}" presName="rootConnector1" presStyleLbl="node1" presStyleIdx="0" presStyleCnt="0"/>
      <dgm:spPr/>
    </dgm:pt>
    <dgm:pt modelId="{7DA2D6E1-DC45-3D41-A687-89EBD4E3B15B}" type="pres">
      <dgm:prSet presAssocID="{5A6DFA42-8B71-2D47-B1D8-22FC31075B6B}" presName="hierChild2" presStyleCnt="0"/>
      <dgm:spPr/>
    </dgm:pt>
    <dgm:pt modelId="{676DC93C-C4EA-4444-9FD8-4B5715873561}" type="pres">
      <dgm:prSet presAssocID="{3284C6BF-DB5D-1040-9B52-850546DB747F}" presName="Name37" presStyleLbl="parChTrans1D2" presStyleIdx="0" presStyleCnt="2"/>
      <dgm:spPr/>
    </dgm:pt>
    <dgm:pt modelId="{DAF88014-B57A-5E4B-8E38-75A229338612}" type="pres">
      <dgm:prSet presAssocID="{276D3AB5-C40F-DE43-B8C9-044034C2A07C}" presName="hierRoot2" presStyleCnt="0">
        <dgm:presLayoutVars>
          <dgm:hierBranch val="init"/>
        </dgm:presLayoutVars>
      </dgm:prSet>
      <dgm:spPr/>
    </dgm:pt>
    <dgm:pt modelId="{58D9A75F-260B-5048-A449-B37698618BFB}" type="pres">
      <dgm:prSet presAssocID="{276D3AB5-C40F-DE43-B8C9-044034C2A07C}" presName="rootComposite" presStyleCnt="0"/>
      <dgm:spPr/>
    </dgm:pt>
    <dgm:pt modelId="{5BA8E797-2CCB-4E4D-8E18-214B20FF7EDC}" type="pres">
      <dgm:prSet presAssocID="{276D3AB5-C40F-DE43-B8C9-044034C2A07C}" presName="rootText" presStyleLbl="node2" presStyleIdx="0" presStyleCnt="2">
        <dgm:presLayoutVars>
          <dgm:chPref val="3"/>
        </dgm:presLayoutVars>
      </dgm:prSet>
      <dgm:spPr/>
    </dgm:pt>
    <dgm:pt modelId="{1DBEAFF5-70EB-874A-AB14-B27F88A26EFB}" type="pres">
      <dgm:prSet presAssocID="{276D3AB5-C40F-DE43-B8C9-044034C2A07C}" presName="rootConnector" presStyleLbl="node2" presStyleIdx="0" presStyleCnt="2"/>
      <dgm:spPr/>
    </dgm:pt>
    <dgm:pt modelId="{8BDB813A-6B06-1F46-B91C-BF2FC04C4523}" type="pres">
      <dgm:prSet presAssocID="{276D3AB5-C40F-DE43-B8C9-044034C2A07C}" presName="hierChild4" presStyleCnt="0"/>
      <dgm:spPr/>
    </dgm:pt>
    <dgm:pt modelId="{ECFCBC84-D63E-EB45-A8DD-44B3DFEBE029}" type="pres">
      <dgm:prSet presAssocID="{BF0DF5F5-E3CF-0744-88B7-C6783A20B5C5}" presName="Name37" presStyleLbl="parChTrans1D3" presStyleIdx="0" presStyleCnt="4"/>
      <dgm:spPr/>
    </dgm:pt>
    <dgm:pt modelId="{E8D50825-93BD-164A-A671-0AB0204EF0ED}" type="pres">
      <dgm:prSet presAssocID="{D1F54D03-2F3E-3841-BE7D-11C7B5AB26CD}" presName="hierRoot2" presStyleCnt="0">
        <dgm:presLayoutVars>
          <dgm:hierBranch val="init"/>
        </dgm:presLayoutVars>
      </dgm:prSet>
      <dgm:spPr/>
    </dgm:pt>
    <dgm:pt modelId="{1551663B-F882-4044-9B2D-A1E96F38126A}" type="pres">
      <dgm:prSet presAssocID="{D1F54D03-2F3E-3841-BE7D-11C7B5AB26CD}" presName="rootComposite" presStyleCnt="0"/>
      <dgm:spPr/>
    </dgm:pt>
    <dgm:pt modelId="{51D3F294-7E66-844A-81C9-2844A87188E8}" type="pres">
      <dgm:prSet presAssocID="{D1F54D03-2F3E-3841-BE7D-11C7B5AB26CD}" presName="rootText" presStyleLbl="node3" presStyleIdx="0" presStyleCnt="4">
        <dgm:presLayoutVars>
          <dgm:chPref val="3"/>
        </dgm:presLayoutVars>
      </dgm:prSet>
      <dgm:spPr/>
    </dgm:pt>
    <dgm:pt modelId="{3DA50414-BE69-A842-8D77-42A5B63F6DFF}" type="pres">
      <dgm:prSet presAssocID="{D1F54D03-2F3E-3841-BE7D-11C7B5AB26CD}" presName="rootConnector" presStyleLbl="node3" presStyleIdx="0" presStyleCnt="4"/>
      <dgm:spPr/>
    </dgm:pt>
    <dgm:pt modelId="{04C20E5D-A09A-7F47-A080-591C9A2D616F}" type="pres">
      <dgm:prSet presAssocID="{D1F54D03-2F3E-3841-BE7D-11C7B5AB26CD}" presName="hierChild4" presStyleCnt="0"/>
      <dgm:spPr/>
    </dgm:pt>
    <dgm:pt modelId="{98886EAB-6DB5-4E41-994E-B1352C1FCEC0}" type="pres">
      <dgm:prSet presAssocID="{D1F54D03-2F3E-3841-BE7D-11C7B5AB26CD}" presName="hierChild5" presStyleCnt="0"/>
      <dgm:spPr/>
    </dgm:pt>
    <dgm:pt modelId="{A33694FF-5166-5942-A806-807E1DF7D644}" type="pres">
      <dgm:prSet presAssocID="{351E87BC-7CA6-A244-8DCF-6B1EBCE46F81}" presName="Name37" presStyleLbl="parChTrans1D3" presStyleIdx="1" presStyleCnt="4"/>
      <dgm:spPr/>
    </dgm:pt>
    <dgm:pt modelId="{8F71F22E-B51B-2441-B704-0F6BACB1ED97}" type="pres">
      <dgm:prSet presAssocID="{3791244C-7DA7-FF46-8F5E-A97DC9260A60}" presName="hierRoot2" presStyleCnt="0">
        <dgm:presLayoutVars>
          <dgm:hierBranch val="init"/>
        </dgm:presLayoutVars>
      </dgm:prSet>
      <dgm:spPr/>
    </dgm:pt>
    <dgm:pt modelId="{17B3E833-E613-2043-BF9D-5D4D86DC9022}" type="pres">
      <dgm:prSet presAssocID="{3791244C-7DA7-FF46-8F5E-A97DC9260A60}" presName="rootComposite" presStyleCnt="0"/>
      <dgm:spPr/>
    </dgm:pt>
    <dgm:pt modelId="{ABF363E8-6087-8B4C-B116-BFCBD24F2E82}" type="pres">
      <dgm:prSet presAssocID="{3791244C-7DA7-FF46-8F5E-A97DC9260A60}" presName="rootText" presStyleLbl="node3" presStyleIdx="1" presStyleCnt="4">
        <dgm:presLayoutVars>
          <dgm:chPref val="3"/>
        </dgm:presLayoutVars>
      </dgm:prSet>
      <dgm:spPr/>
    </dgm:pt>
    <dgm:pt modelId="{A9D92A96-F66B-8648-85EE-E0A5E23FBEDE}" type="pres">
      <dgm:prSet presAssocID="{3791244C-7DA7-FF46-8F5E-A97DC9260A60}" presName="rootConnector" presStyleLbl="node3" presStyleIdx="1" presStyleCnt="4"/>
      <dgm:spPr/>
    </dgm:pt>
    <dgm:pt modelId="{C1F16AED-D933-9B45-8C7D-F0BAB572E6DD}" type="pres">
      <dgm:prSet presAssocID="{3791244C-7DA7-FF46-8F5E-A97DC9260A60}" presName="hierChild4" presStyleCnt="0"/>
      <dgm:spPr/>
    </dgm:pt>
    <dgm:pt modelId="{F1FC937E-C1FE-0440-9B4D-AC6A8123E2D3}" type="pres">
      <dgm:prSet presAssocID="{3791244C-7DA7-FF46-8F5E-A97DC9260A60}" presName="hierChild5" presStyleCnt="0"/>
      <dgm:spPr/>
    </dgm:pt>
    <dgm:pt modelId="{F12CECD2-8796-E94A-832E-5D1EB682EF54}" type="pres">
      <dgm:prSet presAssocID="{276D3AB5-C40F-DE43-B8C9-044034C2A07C}" presName="hierChild5" presStyleCnt="0"/>
      <dgm:spPr/>
    </dgm:pt>
    <dgm:pt modelId="{843C95FE-BE05-474C-B419-7D2335C1132A}" type="pres">
      <dgm:prSet presAssocID="{4D416333-F52F-0542-A034-E24F74ECE577}" presName="Name37" presStyleLbl="parChTrans1D2" presStyleIdx="1" presStyleCnt="2"/>
      <dgm:spPr/>
    </dgm:pt>
    <dgm:pt modelId="{4291069D-1072-A14C-99B4-8874A8DCE3A2}" type="pres">
      <dgm:prSet presAssocID="{960C5558-B254-5849-8701-B7DEAF6F6230}" presName="hierRoot2" presStyleCnt="0">
        <dgm:presLayoutVars>
          <dgm:hierBranch val="init"/>
        </dgm:presLayoutVars>
      </dgm:prSet>
      <dgm:spPr/>
    </dgm:pt>
    <dgm:pt modelId="{E66BBEF4-DECC-3343-9075-BC98889B723E}" type="pres">
      <dgm:prSet presAssocID="{960C5558-B254-5849-8701-B7DEAF6F6230}" presName="rootComposite" presStyleCnt="0"/>
      <dgm:spPr/>
    </dgm:pt>
    <dgm:pt modelId="{8CE7E5BD-B069-8D44-AB88-AB142E733E49}" type="pres">
      <dgm:prSet presAssocID="{960C5558-B254-5849-8701-B7DEAF6F6230}" presName="rootText" presStyleLbl="node2" presStyleIdx="1" presStyleCnt="2">
        <dgm:presLayoutVars>
          <dgm:chPref val="3"/>
        </dgm:presLayoutVars>
      </dgm:prSet>
      <dgm:spPr/>
    </dgm:pt>
    <dgm:pt modelId="{FD3EBD1A-0CEA-C64E-8342-8C0D3F242CA8}" type="pres">
      <dgm:prSet presAssocID="{960C5558-B254-5849-8701-B7DEAF6F6230}" presName="rootConnector" presStyleLbl="node2" presStyleIdx="1" presStyleCnt="2"/>
      <dgm:spPr/>
    </dgm:pt>
    <dgm:pt modelId="{DB53D414-F944-8840-9960-72A974AC060D}" type="pres">
      <dgm:prSet presAssocID="{960C5558-B254-5849-8701-B7DEAF6F6230}" presName="hierChild4" presStyleCnt="0"/>
      <dgm:spPr/>
    </dgm:pt>
    <dgm:pt modelId="{0443A748-0BE3-AB4E-933C-E20B109A5446}" type="pres">
      <dgm:prSet presAssocID="{A6C63AFE-E5B1-9347-8C3C-2F17CD7D5D28}" presName="Name37" presStyleLbl="parChTrans1D3" presStyleIdx="2" presStyleCnt="4"/>
      <dgm:spPr/>
    </dgm:pt>
    <dgm:pt modelId="{60A8C8EC-83DD-5C4D-BFEB-2DBA190986F9}" type="pres">
      <dgm:prSet presAssocID="{ECBBACD8-5D5E-B245-A24B-CF1426CD8F09}" presName="hierRoot2" presStyleCnt="0">
        <dgm:presLayoutVars>
          <dgm:hierBranch val="init"/>
        </dgm:presLayoutVars>
      </dgm:prSet>
      <dgm:spPr/>
    </dgm:pt>
    <dgm:pt modelId="{F1941757-269D-9048-9A71-484166A55285}" type="pres">
      <dgm:prSet presAssocID="{ECBBACD8-5D5E-B245-A24B-CF1426CD8F09}" presName="rootComposite" presStyleCnt="0"/>
      <dgm:spPr/>
    </dgm:pt>
    <dgm:pt modelId="{B0D50B17-D44E-B24A-A028-6F3D746ABD17}" type="pres">
      <dgm:prSet presAssocID="{ECBBACD8-5D5E-B245-A24B-CF1426CD8F09}" presName="rootText" presStyleLbl="node3" presStyleIdx="2" presStyleCnt="4">
        <dgm:presLayoutVars>
          <dgm:chPref val="3"/>
        </dgm:presLayoutVars>
      </dgm:prSet>
      <dgm:spPr/>
    </dgm:pt>
    <dgm:pt modelId="{F5ABCD5C-C463-2C48-8DB8-4D015EB56F8E}" type="pres">
      <dgm:prSet presAssocID="{ECBBACD8-5D5E-B245-A24B-CF1426CD8F09}" presName="rootConnector" presStyleLbl="node3" presStyleIdx="2" presStyleCnt="4"/>
      <dgm:spPr/>
    </dgm:pt>
    <dgm:pt modelId="{460DC3A5-8DA9-1646-9994-32EE7798FC9A}" type="pres">
      <dgm:prSet presAssocID="{ECBBACD8-5D5E-B245-A24B-CF1426CD8F09}" presName="hierChild4" presStyleCnt="0"/>
      <dgm:spPr/>
    </dgm:pt>
    <dgm:pt modelId="{2DD1C3DC-FA36-054C-AF21-AB47DC3B0CC6}" type="pres">
      <dgm:prSet presAssocID="{ECBBACD8-5D5E-B245-A24B-CF1426CD8F09}" presName="hierChild5" presStyleCnt="0"/>
      <dgm:spPr/>
    </dgm:pt>
    <dgm:pt modelId="{F2B6F206-6D81-7147-A08C-CCF9D98A1B99}" type="pres">
      <dgm:prSet presAssocID="{160C0098-BD2E-8444-B3EF-537EE29F9CD9}" presName="Name37" presStyleLbl="parChTrans1D3" presStyleIdx="3" presStyleCnt="4"/>
      <dgm:spPr/>
    </dgm:pt>
    <dgm:pt modelId="{E6A5449E-230D-DC43-96DA-6E921FAC0F3D}" type="pres">
      <dgm:prSet presAssocID="{81E1BD7F-5DFB-B840-B463-42D8F3216BAB}" presName="hierRoot2" presStyleCnt="0">
        <dgm:presLayoutVars>
          <dgm:hierBranch val="init"/>
        </dgm:presLayoutVars>
      </dgm:prSet>
      <dgm:spPr/>
    </dgm:pt>
    <dgm:pt modelId="{95E8900B-A217-CE4A-83F6-8B0ACEC27BB4}" type="pres">
      <dgm:prSet presAssocID="{81E1BD7F-5DFB-B840-B463-42D8F3216BAB}" presName="rootComposite" presStyleCnt="0"/>
      <dgm:spPr/>
    </dgm:pt>
    <dgm:pt modelId="{72DD1387-1488-8C40-833B-AC21781100F6}" type="pres">
      <dgm:prSet presAssocID="{81E1BD7F-5DFB-B840-B463-42D8F3216BAB}" presName="rootText" presStyleLbl="node3" presStyleIdx="3" presStyleCnt="4">
        <dgm:presLayoutVars>
          <dgm:chPref val="3"/>
        </dgm:presLayoutVars>
      </dgm:prSet>
      <dgm:spPr/>
    </dgm:pt>
    <dgm:pt modelId="{9507AAF5-FAA0-344C-9827-E870874EBD2C}" type="pres">
      <dgm:prSet presAssocID="{81E1BD7F-5DFB-B840-B463-42D8F3216BAB}" presName="rootConnector" presStyleLbl="node3" presStyleIdx="3" presStyleCnt="4"/>
      <dgm:spPr/>
    </dgm:pt>
    <dgm:pt modelId="{022BF5D0-8B69-7240-9EBD-0C6ADF7D4A8A}" type="pres">
      <dgm:prSet presAssocID="{81E1BD7F-5DFB-B840-B463-42D8F3216BAB}" presName="hierChild4" presStyleCnt="0"/>
      <dgm:spPr/>
    </dgm:pt>
    <dgm:pt modelId="{F9981119-AFA7-CD45-94A9-1B09E7B27DF3}" type="pres">
      <dgm:prSet presAssocID="{81E1BD7F-5DFB-B840-B463-42D8F3216BAB}" presName="hierChild5" presStyleCnt="0"/>
      <dgm:spPr/>
    </dgm:pt>
    <dgm:pt modelId="{D70D9A7E-CE48-8C46-A010-D6222571D1AA}" type="pres">
      <dgm:prSet presAssocID="{960C5558-B254-5849-8701-B7DEAF6F6230}" presName="hierChild5" presStyleCnt="0"/>
      <dgm:spPr/>
    </dgm:pt>
    <dgm:pt modelId="{E03F1D6C-CA3D-4D4B-AFB7-467637335D2A}" type="pres">
      <dgm:prSet presAssocID="{5A6DFA42-8B71-2D47-B1D8-22FC31075B6B}" presName="hierChild3" presStyleCnt="0"/>
      <dgm:spPr/>
    </dgm:pt>
  </dgm:ptLst>
  <dgm:cxnLst>
    <dgm:cxn modelId="{9C37320E-833F-3340-BB37-79472133DC81}" type="presOf" srcId="{3284C6BF-DB5D-1040-9B52-850546DB747F}" destId="{676DC93C-C4EA-4444-9FD8-4B5715873561}" srcOrd="0" destOrd="0" presId="urn:microsoft.com/office/officeart/2005/8/layout/orgChart1"/>
    <dgm:cxn modelId="{A45BC816-36B3-D743-A7FE-BFF2A3023D20}" type="presOf" srcId="{BF0DF5F5-E3CF-0744-88B7-C6783A20B5C5}" destId="{ECFCBC84-D63E-EB45-A8DD-44B3DFEBE029}" srcOrd="0" destOrd="0" presId="urn:microsoft.com/office/officeart/2005/8/layout/orgChart1"/>
    <dgm:cxn modelId="{0D3AF116-60DB-8D46-8975-E7216036E980}" srcId="{6B6F19AD-2FCC-E246-A875-86CA7A0DF06E}" destId="{5A6DFA42-8B71-2D47-B1D8-22FC31075B6B}" srcOrd="0" destOrd="0" parTransId="{BB808DD0-A291-7340-BCA4-29DD11CD136B}" sibTransId="{FE38DB77-9F5B-7B4E-B025-16DB8BC39788}"/>
    <dgm:cxn modelId="{A57E5020-727E-FF43-B238-85C467E2FFA1}" type="presOf" srcId="{A6C63AFE-E5B1-9347-8C3C-2F17CD7D5D28}" destId="{0443A748-0BE3-AB4E-933C-E20B109A5446}" srcOrd="0" destOrd="0" presId="urn:microsoft.com/office/officeart/2005/8/layout/orgChart1"/>
    <dgm:cxn modelId="{A2436331-EAF5-EA4E-94E9-1BDA64718A8A}" type="presOf" srcId="{960C5558-B254-5849-8701-B7DEAF6F6230}" destId="{8CE7E5BD-B069-8D44-AB88-AB142E733E49}" srcOrd="0" destOrd="0" presId="urn:microsoft.com/office/officeart/2005/8/layout/orgChart1"/>
    <dgm:cxn modelId="{160AD438-9871-7B41-9E85-ADC32045F816}" srcId="{276D3AB5-C40F-DE43-B8C9-044034C2A07C}" destId="{3791244C-7DA7-FF46-8F5E-A97DC9260A60}" srcOrd="1" destOrd="0" parTransId="{351E87BC-7CA6-A244-8DCF-6B1EBCE46F81}" sibTransId="{D1680B05-5237-8943-BF3F-ABE02F978208}"/>
    <dgm:cxn modelId="{7CFB8E3B-073C-1A47-862F-BA0A49AE0203}" type="presOf" srcId="{D1F54D03-2F3E-3841-BE7D-11C7B5AB26CD}" destId="{51D3F294-7E66-844A-81C9-2844A87188E8}" srcOrd="0" destOrd="0" presId="urn:microsoft.com/office/officeart/2005/8/layout/orgChart1"/>
    <dgm:cxn modelId="{E8B5063E-0F61-1A4D-A591-E24A0D3BDA16}" srcId="{5A6DFA42-8B71-2D47-B1D8-22FC31075B6B}" destId="{960C5558-B254-5849-8701-B7DEAF6F6230}" srcOrd="1" destOrd="0" parTransId="{4D416333-F52F-0542-A034-E24F74ECE577}" sibTransId="{6A99D196-4D82-C740-BA1C-9A4B8E900063}"/>
    <dgm:cxn modelId="{855F9960-3E69-D34D-B479-077D18F48A88}" type="presOf" srcId="{276D3AB5-C40F-DE43-B8C9-044034C2A07C}" destId="{1DBEAFF5-70EB-874A-AB14-B27F88A26EFB}" srcOrd="1" destOrd="0" presId="urn:microsoft.com/office/officeart/2005/8/layout/orgChart1"/>
    <dgm:cxn modelId="{AB2E1061-2321-304C-8FF1-EED615CF7C25}" type="presOf" srcId="{160C0098-BD2E-8444-B3EF-537EE29F9CD9}" destId="{F2B6F206-6D81-7147-A08C-CCF9D98A1B99}" srcOrd="0" destOrd="0" presId="urn:microsoft.com/office/officeart/2005/8/layout/orgChart1"/>
    <dgm:cxn modelId="{B925D650-382B-3648-9B4C-1C47EEFC6FE5}" type="presOf" srcId="{3791244C-7DA7-FF46-8F5E-A97DC9260A60}" destId="{A9D92A96-F66B-8648-85EE-E0A5E23FBEDE}" srcOrd="1" destOrd="0" presId="urn:microsoft.com/office/officeart/2005/8/layout/orgChart1"/>
    <dgm:cxn modelId="{1F194C55-729B-5C45-A0F5-EEC817074F42}" type="presOf" srcId="{81E1BD7F-5DFB-B840-B463-42D8F3216BAB}" destId="{72DD1387-1488-8C40-833B-AC21781100F6}" srcOrd="0" destOrd="0" presId="urn:microsoft.com/office/officeart/2005/8/layout/orgChart1"/>
    <dgm:cxn modelId="{EC0F6E84-037D-9641-8A19-EEBDAA023CCD}" type="presOf" srcId="{ECBBACD8-5D5E-B245-A24B-CF1426CD8F09}" destId="{F5ABCD5C-C463-2C48-8DB8-4D015EB56F8E}" srcOrd="1" destOrd="0" presId="urn:microsoft.com/office/officeart/2005/8/layout/orgChart1"/>
    <dgm:cxn modelId="{DC926298-4649-D346-9CC1-5A5432BD64ED}" type="presOf" srcId="{81E1BD7F-5DFB-B840-B463-42D8F3216BAB}" destId="{9507AAF5-FAA0-344C-9827-E870874EBD2C}" srcOrd="1" destOrd="0" presId="urn:microsoft.com/office/officeart/2005/8/layout/orgChart1"/>
    <dgm:cxn modelId="{A95C2E9A-1F54-3A4B-A6AE-AD3AE1FC0E9B}" type="presOf" srcId="{6B6F19AD-2FCC-E246-A875-86CA7A0DF06E}" destId="{94E1C52D-6BAA-D243-ABC8-507391746543}" srcOrd="0" destOrd="0" presId="urn:microsoft.com/office/officeart/2005/8/layout/orgChart1"/>
    <dgm:cxn modelId="{D8AE919A-6806-3E48-80A1-AD2C2F78FF7E}" type="presOf" srcId="{4D416333-F52F-0542-A034-E24F74ECE577}" destId="{843C95FE-BE05-474C-B419-7D2335C1132A}" srcOrd="0" destOrd="0" presId="urn:microsoft.com/office/officeart/2005/8/layout/orgChart1"/>
    <dgm:cxn modelId="{E46E18B0-FBD1-5A43-834C-7E11D7E85F5F}" type="presOf" srcId="{960C5558-B254-5849-8701-B7DEAF6F6230}" destId="{FD3EBD1A-0CEA-C64E-8342-8C0D3F242CA8}" srcOrd="1" destOrd="0" presId="urn:microsoft.com/office/officeart/2005/8/layout/orgChart1"/>
    <dgm:cxn modelId="{80C780B2-0B58-D949-BA91-52BBC50BC304}" type="presOf" srcId="{5A6DFA42-8B71-2D47-B1D8-22FC31075B6B}" destId="{2B538E1C-6630-2E41-B4DD-8623ABF1315D}" srcOrd="1" destOrd="0" presId="urn:microsoft.com/office/officeart/2005/8/layout/orgChart1"/>
    <dgm:cxn modelId="{4BB525C2-69E7-DC41-BBE3-D2E0D0FD5765}" type="presOf" srcId="{351E87BC-7CA6-A244-8DCF-6B1EBCE46F81}" destId="{A33694FF-5166-5942-A806-807E1DF7D644}" srcOrd="0" destOrd="0" presId="urn:microsoft.com/office/officeart/2005/8/layout/orgChart1"/>
    <dgm:cxn modelId="{07235FC3-E3E9-B24D-9BAC-22FC6181C58C}" type="presOf" srcId="{ECBBACD8-5D5E-B245-A24B-CF1426CD8F09}" destId="{B0D50B17-D44E-B24A-A028-6F3D746ABD17}" srcOrd="0" destOrd="0" presId="urn:microsoft.com/office/officeart/2005/8/layout/orgChart1"/>
    <dgm:cxn modelId="{51F012C4-EDC8-6D40-A4EB-86CF6D8F481B}" srcId="{960C5558-B254-5849-8701-B7DEAF6F6230}" destId="{ECBBACD8-5D5E-B245-A24B-CF1426CD8F09}" srcOrd="0" destOrd="0" parTransId="{A6C63AFE-E5B1-9347-8C3C-2F17CD7D5D28}" sibTransId="{D21B220E-F1AA-784C-8160-C2BD7380EC06}"/>
    <dgm:cxn modelId="{9A45DDC8-D91C-B541-9484-540F2AC4B8F8}" type="presOf" srcId="{276D3AB5-C40F-DE43-B8C9-044034C2A07C}" destId="{5BA8E797-2CCB-4E4D-8E18-214B20FF7EDC}" srcOrd="0" destOrd="0" presId="urn:microsoft.com/office/officeart/2005/8/layout/orgChart1"/>
    <dgm:cxn modelId="{614A46C9-DD70-2C4C-87DC-E49A99A20743}" type="presOf" srcId="{D1F54D03-2F3E-3841-BE7D-11C7B5AB26CD}" destId="{3DA50414-BE69-A842-8D77-42A5B63F6DFF}" srcOrd="1" destOrd="0" presId="urn:microsoft.com/office/officeart/2005/8/layout/orgChart1"/>
    <dgm:cxn modelId="{54F8DCCD-AAAC-624F-8840-2F8C92FB6336}" type="presOf" srcId="{5A6DFA42-8B71-2D47-B1D8-22FC31075B6B}" destId="{6D57927E-6C24-4D44-B992-43B3402C9C68}" srcOrd="0" destOrd="0" presId="urn:microsoft.com/office/officeart/2005/8/layout/orgChart1"/>
    <dgm:cxn modelId="{F9F417DC-09CE-454C-84A3-A1D14761F601}" srcId="{960C5558-B254-5849-8701-B7DEAF6F6230}" destId="{81E1BD7F-5DFB-B840-B463-42D8F3216BAB}" srcOrd="1" destOrd="0" parTransId="{160C0098-BD2E-8444-B3EF-537EE29F9CD9}" sibTransId="{5E820D83-5CFE-AA42-A5AE-A67424370F97}"/>
    <dgm:cxn modelId="{F5985AE2-33EA-C74F-9D22-CB49E8E3D17B}" srcId="{276D3AB5-C40F-DE43-B8C9-044034C2A07C}" destId="{D1F54D03-2F3E-3841-BE7D-11C7B5AB26CD}" srcOrd="0" destOrd="0" parTransId="{BF0DF5F5-E3CF-0744-88B7-C6783A20B5C5}" sibTransId="{FDDA5047-A70C-654B-A228-84CAE29CE0F9}"/>
    <dgm:cxn modelId="{D2A975E4-379B-FD47-8206-DB2229DE579D}" type="presOf" srcId="{3791244C-7DA7-FF46-8F5E-A97DC9260A60}" destId="{ABF363E8-6087-8B4C-B116-BFCBD24F2E82}" srcOrd="0" destOrd="0" presId="urn:microsoft.com/office/officeart/2005/8/layout/orgChart1"/>
    <dgm:cxn modelId="{4A37A9FF-F476-1940-B4A6-863052D0583D}" srcId="{5A6DFA42-8B71-2D47-B1D8-22FC31075B6B}" destId="{276D3AB5-C40F-DE43-B8C9-044034C2A07C}" srcOrd="0" destOrd="0" parTransId="{3284C6BF-DB5D-1040-9B52-850546DB747F}" sibTransId="{72BAFE91-FFB3-1842-83B8-48C055289A63}"/>
    <dgm:cxn modelId="{6AEF3BFC-D036-644B-9ABB-4938428219B6}" type="presParOf" srcId="{94E1C52D-6BAA-D243-ABC8-507391746543}" destId="{CC2D9EED-4D09-034C-B518-703D823A5287}" srcOrd="0" destOrd="0" presId="urn:microsoft.com/office/officeart/2005/8/layout/orgChart1"/>
    <dgm:cxn modelId="{1EC3F789-D073-8C4F-B96C-8C3786BB61E4}" type="presParOf" srcId="{CC2D9EED-4D09-034C-B518-703D823A5287}" destId="{6BC5E122-D0B5-BD4B-9B74-E4354F414F53}" srcOrd="0" destOrd="0" presId="urn:microsoft.com/office/officeart/2005/8/layout/orgChart1"/>
    <dgm:cxn modelId="{C794F158-77F5-F44A-99FA-8C467B388642}" type="presParOf" srcId="{6BC5E122-D0B5-BD4B-9B74-E4354F414F53}" destId="{6D57927E-6C24-4D44-B992-43B3402C9C68}" srcOrd="0" destOrd="0" presId="urn:microsoft.com/office/officeart/2005/8/layout/orgChart1"/>
    <dgm:cxn modelId="{1E3CD56A-CAE1-D240-A055-84EB7F8BAF46}" type="presParOf" srcId="{6BC5E122-D0B5-BD4B-9B74-E4354F414F53}" destId="{2B538E1C-6630-2E41-B4DD-8623ABF1315D}" srcOrd="1" destOrd="0" presId="urn:microsoft.com/office/officeart/2005/8/layout/orgChart1"/>
    <dgm:cxn modelId="{2B3B6F7E-97CA-AA43-8AD9-0F732BAE1D91}" type="presParOf" srcId="{CC2D9EED-4D09-034C-B518-703D823A5287}" destId="{7DA2D6E1-DC45-3D41-A687-89EBD4E3B15B}" srcOrd="1" destOrd="0" presId="urn:microsoft.com/office/officeart/2005/8/layout/orgChart1"/>
    <dgm:cxn modelId="{421F38EC-CC32-7B40-87B2-643F420D597A}" type="presParOf" srcId="{7DA2D6E1-DC45-3D41-A687-89EBD4E3B15B}" destId="{676DC93C-C4EA-4444-9FD8-4B5715873561}" srcOrd="0" destOrd="0" presId="urn:microsoft.com/office/officeart/2005/8/layout/orgChart1"/>
    <dgm:cxn modelId="{57AF9CE2-5A1A-8C4E-8550-FE9F73DBE10D}" type="presParOf" srcId="{7DA2D6E1-DC45-3D41-A687-89EBD4E3B15B}" destId="{DAF88014-B57A-5E4B-8E38-75A229338612}" srcOrd="1" destOrd="0" presId="urn:microsoft.com/office/officeart/2005/8/layout/orgChart1"/>
    <dgm:cxn modelId="{026DF59C-A0A8-DA45-859D-5AB3BC46CDB8}" type="presParOf" srcId="{DAF88014-B57A-5E4B-8E38-75A229338612}" destId="{58D9A75F-260B-5048-A449-B37698618BFB}" srcOrd="0" destOrd="0" presId="urn:microsoft.com/office/officeart/2005/8/layout/orgChart1"/>
    <dgm:cxn modelId="{E629A43A-82AE-E843-B68B-09D73A651635}" type="presParOf" srcId="{58D9A75F-260B-5048-A449-B37698618BFB}" destId="{5BA8E797-2CCB-4E4D-8E18-214B20FF7EDC}" srcOrd="0" destOrd="0" presId="urn:microsoft.com/office/officeart/2005/8/layout/orgChart1"/>
    <dgm:cxn modelId="{CFB9B8B6-6C1C-A64B-97C2-14900DFF7F6A}" type="presParOf" srcId="{58D9A75F-260B-5048-A449-B37698618BFB}" destId="{1DBEAFF5-70EB-874A-AB14-B27F88A26EFB}" srcOrd="1" destOrd="0" presId="urn:microsoft.com/office/officeart/2005/8/layout/orgChart1"/>
    <dgm:cxn modelId="{350EDE62-635F-FF4E-AA00-13F8571C8855}" type="presParOf" srcId="{DAF88014-B57A-5E4B-8E38-75A229338612}" destId="{8BDB813A-6B06-1F46-B91C-BF2FC04C4523}" srcOrd="1" destOrd="0" presId="urn:microsoft.com/office/officeart/2005/8/layout/orgChart1"/>
    <dgm:cxn modelId="{E6BBF6AA-6768-ED4D-9FD3-57384E83B2D3}" type="presParOf" srcId="{8BDB813A-6B06-1F46-B91C-BF2FC04C4523}" destId="{ECFCBC84-D63E-EB45-A8DD-44B3DFEBE029}" srcOrd="0" destOrd="0" presId="urn:microsoft.com/office/officeart/2005/8/layout/orgChart1"/>
    <dgm:cxn modelId="{8330CD2E-EC48-6E4C-BFE0-6E10A962D12B}" type="presParOf" srcId="{8BDB813A-6B06-1F46-B91C-BF2FC04C4523}" destId="{E8D50825-93BD-164A-A671-0AB0204EF0ED}" srcOrd="1" destOrd="0" presId="urn:microsoft.com/office/officeart/2005/8/layout/orgChart1"/>
    <dgm:cxn modelId="{4433DD10-C153-7642-9D63-6E2C3E3E17BA}" type="presParOf" srcId="{E8D50825-93BD-164A-A671-0AB0204EF0ED}" destId="{1551663B-F882-4044-9B2D-A1E96F38126A}" srcOrd="0" destOrd="0" presId="urn:microsoft.com/office/officeart/2005/8/layout/orgChart1"/>
    <dgm:cxn modelId="{DAE0B0F2-1027-2C49-A676-E5F228C7F722}" type="presParOf" srcId="{1551663B-F882-4044-9B2D-A1E96F38126A}" destId="{51D3F294-7E66-844A-81C9-2844A87188E8}" srcOrd="0" destOrd="0" presId="urn:microsoft.com/office/officeart/2005/8/layout/orgChart1"/>
    <dgm:cxn modelId="{AF34B53D-6E47-B746-B3A9-6E14A1AB2ED0}" type="presParOf" srcId="{1551663B-F882-4044-9B2D-A1E96F38126A}" destId="{3DA50414-BE69-A842-8D77-42A5B63F6DFF}" srcOrd="1" destOrd="0" presId="urn:microsoft.com/office/officeart/2005/8/layout/orgChart1"/>
    <dgm:cxn modelId="{10F9801D-2064-CD4F-9A62-9B7EB6D74732}" type="presParOf" srcId="{E8D50825-93BD-164A-A671-0AB0204EF0ED}" destId="{04C20E5D-A09A-7F47-A080-591C9A2D616F}" srcOrd="1" destOrd="0" presId="urn:microsoft.com/office/officeart/2005/8/layout/orgChart1"/>
    <dgm:cxn modelId="{19EFF432-209D-F34B-9C02-3DEDCFC3DA15}" type="presParOf" srcId="{E8D50825-93BD-164A-A671-0AB0204EF0ED}" destId="{98886EAB-6DB5-4E41-994E-B1352C1FCEC0}" srcOrd="2" destOrd="0" presId="urn:microsoft.com/office/officeart/2005/8/layout/orgChart1"/>
    <dgm:cxn modelId="{75BFC7AF-70E4-7B40-A61B-2D681393486A}" type="presParOf" srcId="{8BDB813A-6B06-1F46-B91C-BF2FC04C4523}" destId="{A33694FF-5166-5942-A806-807E1DF7D644}" srcOrd="2" destOrd="0" presId="urn:microsoft.com/office/officeart/2005/8/layout/orgChart1"/>
    <dgm:cxn modelId="{05F2F733-3909-DD42-987F-886785491593}" type="presParOf" srcId="{8BDB813A-6B06-1F46-B91C-BF2FC04C4523}" destId="{8F71F22E-B51B-2441-B704-0F6BACB1ED97}" srcOrd="3" destOrd="0" presId="urn:microsoft.com/office/officeart/2005/8/layout/orgChart1"/>
    <dgm:cxn modelId="{F9A69856-4841-C149-8C7C-CFF3353BF0AC}" type="presParOf" srcId="{8F71F22E-B51B-2441-B704-0F6BACB1ED97}" destId="{17B3E833-E613-2043-BF9D-5D4D86DC9022}" srcOrd="0" destOrd="0" presId="urn:microsoft.com/office/officeart/2005/8/layout/orgChart1"/>
    <dgm:cxn modelId="{E2164B80-EA2C-9544-80A5-C6BE679EC844}" type="presParOf" srcId="{17B3E833-E613-2043-BF9D-5D4D86DC9022}" destId="{ABF363E8-6087-8B4C-B116-BFCBD24F2E82}" srcOrd="0" destOrd="0" presId="urn:microsoft.com/office/officeart/2005/8/layout/orgChart1"/>
    <dgm:cxn modelId="{CF776C14-DEEB-DD47-8EBA-0D966D7EBE4C}" type="presParOf" srcId="{17B3E833-E613-2043-BF9D-5D4D86DC9022}" destId="{A9D92A96-F66B-8648-85EE-E0A5E23FBEDE}" srcOrd="1" destOrd="0" presId="urn:microsoft.com/office/officeart/2005/8/layout/orgChart1"/>
    <dgm:cxn modelId="{1C0321C5-078B-554C-9056-6CB3B4C24432}" type="presParOf" srcId="{8F71F22E-B51B-2441-B704-0F6BACB1ED97}" destId="{C1F16AED-D933-9B45-8C7D-F0BAB572E6DD}" srcOrd="1" destOrd="0" presId="urn:microsoft.com/office/officeart/2005/8/layout/orgChart1"/>
    <dgm:cxn modelId="{5A1AC19D-861F-3C45-AA23-BDBDDDD973D7}" type="presParOf" srcId="{8F71F22E-B51B-2441-B704-0F6BACB1ED97}" destId="{F1FC937E-C1FE-0440-9B4D-AC6A8123E2D3}" srcOrd="2" destOrd="0" presId="urn:microsoft.com/office/officeart/2005/8/layout/orgChart1"/>
    <dgm:cxn modelId="{17E35E0C-72EE-814E-8F36-B8991225FB44}" type="presParOf" srcId="{DAF88014-B57A-5E4B-8E38-75A229338612}" destId="{F12CECD2-8796-E94A-832E-5D1EB682EF54}" srcOrd="2" destOrd="0" presId="urn:microsoft.com/office/officeart/2005/8/layout/orgChart1"/>
    <dgm:cxn modelId="{91B7CB82-E7A5-3442-8F50-A12A77D16E43}" type="presParOf" srcId="{7DA2D6E1-DC45-3D41-A687-89EBD4E3B15B}" destId="{843C95FE-BE05-474C-B419-7D2335C1132A}" srcOrd="2" destOrd="0" presId="urn:microsoft.com/office/officeart/2005/8/layout/orgChart1"/>
    <dgm:cxn modelId="{5CF7E1CF-6364-EE45-A625-A33C04F86E3F}" type="presParOf" srcId="{7DA2D6E1-DC45-3D41-A687-89EBD4E3B15B}" destId="{4291069D-1072-A14C-99B4-8874A8DCE3A2}" srcOrd="3" destOrd="0" presId="urn:microsoft.com/office/officeart/2005/8/layout/orgChart1"/>
    <dgm:cxn modelId="{C05662FE-431C-4D48-B90B-D9F16B7DB40A}" type="presParOf" srcId="{4291069D-1072-A14C-99B4-8874A8DCE3A2}" destId="{E66BBEF4-DECC-3343-9075-BC98889B723E}" srcOrd="0" destOrd="0" presId="urn:microsoft.com/office/officeart/2005/8/layout/orgChart1"/>
    <dgm:cxn modelId="{D41CCFA6-2F94-974C-93C6-6DADDF08F30D}" type="presParOf" srcId="{E66BBEF4-DECC-3343-9075-BC98889B723E}" destId="{8CE7E5BD-B069-8D44-AB88-AB142E733E49}" srcOrd="0" destOrd="0" presId="urn:microsoft.com/office/officeart/2005/8/layout/orgChart1"/>
    <dgm:cxn modelId="{43E2D5B0-2779-7747-B9F4-A9749B743CE0}" type="presParOf" srcId="{E66BBEF4-DECC-3343-9075-BC98889B723E}" destId="{FD3EBD1A-0CEA-C64E-8342-8C0D3F242CA8}" srcOrd="1" destOrd="0" presId="urn:microsoft.com/office/officeart/2005/8/layout/orgChart1"/>
    <dgm:cxn modelId="{3C219D80-3F64-9D46-BCF4-1CBD570922EC}" type="presParOf" srcId="{4291069D-1072-A14C-99B4-8874A8DCE3A2}" destId="{DB53D414-F944-8840-9960-72A974AC060D}" srcOrd="1" destOrd="0" presId="urn:microsoft.com/office/officeart/2005/8/layout/orgChart1"/>
    <dgm:cxn modelId="{D813BF82-CCF1-CF4D-9D9F-3E3998BB8ECD}" type="presParOf" srcId="{DB53D414-F944-8840-9960-72A974AC060D}" destId="{0443A748-0BE3-AB4E-933C-E20B109A5446}" srcOrd="0" destOrd="0" presId="urn:microsoft.com/office/officeart/2005/8/layout/orgChart1"/>
    <dgm:cxn modelId="{A152916C-9D8C-9F44-B6AA-9E5BAF8D6BC8}" type="presParOf" srcId="{DB53D414-F944-8840-9960-72A974AC060D}" destId="{60A8C8EC-83DD-5C4D-BFEB-2DBA190986F9}" srcOrd="1" destOrd="0" presId="urn:microsoft.com/office/officeart/2005/8/layout/orgChart1"/>
    <dgm:cxn modelId="{52FA96BF-BDF3-2345-8F5D-032CAA1CEF4E}" type="presParOf" srcId="{60A8C8EC-83DD-5C4D-BFEB-2DBA190986F9}" destId="{F1941757-269D-9048-9A71-484166A55285}" srcOrd="0" destOrd="0" presId="urn:microsoft.com/office/officeart/2005/8/layout/orgChart1"/>
    <dgm:cxn modelId="{AD353862-7F6B-6F42-AF87-A087E809768F}" type="presParOf" srcId="{F1941757-269D-9048-9A71-484166A55285}" destId="{B0D50B17-D44E-B24A-A028-6F3D746ABD17}" srcOrd="0" destOrd="0" presId="urn:microsoft.com/office/officeart/2005/8/layout/orgChart1"/>
    <dgm:cxn modelId="{5D2A1A67-956C-C245-A6AE-991CCD6C980B}" type="presParOf" srcId="{F1941757-269D-9048-9A71-484166A55285}" destId="{F5ABCD5C-C463-2C48-8DB8-4D015EB56F8E}" srcOrd="1" destOrd="0" presId="urn:microsoft.com/office/officeart/2005/8/layout/orgChart1"/>
    <dgm:cxn modelId="{3B5CE2F4-05A8-C64F-96A6-9562C7770B4F}" type="presParOf" srcId="{60A8C8EC-83DD-5C4D-BFEB-2DBA190986F9}" destId="{460DC3A5-8DA9-1646-9994-32EE7798FC9A}" srcOrd="1" destOrd="0" presId="urn:microsoft.com/office/officeart/2005/8/layout/orgChart1"/>
    <dgm:cxn modelId="{85D7E948-E3A6-454F-BF5C-0B4A6F253A7A}" type="presParOf" srcId="{60A8C8EC-83DD-5C4D-BFEB-2DBA190986F9}" destId="{2DD1C3DC-FA36-054C-AF21-AB47DC3B0CC6}" srcOrd="2" destOrd="0" presId="urn:microsoft.com/office/officeart/2005/8/layout/orgChart1"/>
    <dgm:cxn modelId="{9ED72332-E905-474D-AB65-8B51742B045B}" type="presParOf" srcId="{DB53D414-F944-8840-9960-72A974AC060D}" destId="{F2B6F206-6D81-7147-A08C-CCF9D98A1B99}" srcOrd="2" destOrd="0" presId="urn:microsoft.com/office/officeart/2005/8/layout/orgChart1"/>
    <dgm:cxn modelId="{3B3DFAAC-1227-2E44-96EB-216A38D88FB2}" type="presParOf" srcId="{DB53D414-F944-8840-9960-72A974AC060D}" destId="{E6A5449E-230D-DC43-96DA-6E921FAC0F3D}" srcOrd="3" destOrd="0" presId="urn:microsoft.com/office/officeart/2005/8/layout/orgChart1"/>
    <dgm:cxn modelId="{E2ECF1F8-2BDF-C14E-9C83-8AE88C37AF3C}" type="presParOf" srcId="{E6A5449E-230D-DC43-96DA-6E921FAC0F3D}" destId="{95E8900B-A217-CE4A-83F6-8B0ACEC27BB4}" srcOrd="0" destOrd="0" presId="urn:microsoft.com/office/officeart/2005/8/layout/orgChart1"/>
    <dgm:cxn modelId="{1D6867E4-5FDB-FA42-9D5A-C8CA08BB3E02}" type="presParOf" srcId="{95E8900B-A217-CE4A-83F6-8B0ACEC27BB4}" destId="{72DD1387-1488-8C40-833B-AC21781100F6}" srcOrd="0" destOrd="0" presId="urn:microsoft.com/office/officeart/2005/8/layout/orgChart1"/>
    <dgm:cxn modelId="{8C11180B-93E9-B84F-A2C2-AA1A99496F67}" type="presParOf" srcId="{95E8900B-A217-CE4A-83F6-8B0ACEC27BB4}" destId="{9507AAF5-FAA0-344C-9827-E870874EBD2C}" srcOrd="1" destOrd="0" presId="urn:microsoft.com/office/officeart/2005/8/layout/orgChart1"/>
    <dgm:cxn modelId="{B5CC7A3E-16E2-A840-AB03-5E442F6D04DB}" type="presParOf" srcId="{E6A5449E-230D-DC43-96DA-6E921FAC0F3D}" destId="{022BF5D0-8B69-7240-9EBD-0C6ADF7D4A8A}" srcOrd="1" destOrd="0" presId="urn:microsoft.com/office/officeart/2005/8/layout/orgChart1"/>
    <dgm:cxn modelId="{E1A56233-D13E-F04B-AEFE-08D853506B23}" type="presParOf" srcId="{E6A5449E-230D-DC43-96DA-6E921FAC0F3D}" destId="{F9981119-AFA7-CD45-94A9-1B09E7B27DF3}" srcOrd="2" destOrd="0" presId="urn:microsoft.com/office/officeart/2005/8/layout/orgChart1"/>
    <dgm:cxn modelId="{94491F9F-EE4B-E44E-AA51-7DCD414B0224}" type="presParOf" srcId="{4291069D-1072-A14C-99B4-8874A8DCE3A2}" destId="{D70D9A7E-CE48-8C46-A010-D6222571D1AA}" srcOrd="2" destOrd="0" presId="urn:microsoft.com/office/officeart/2005/8/layout/orgChart1"/>
    <dgm:cxn modelId="{140BB9A5-B6DC-7D4B-8D24-C049F2FB3C48}" type="presParOf" srcId="{CC2D9EED-4D09-034C-B518-703D823A5287}" destId="{E03F1D6C-CA3D-4D4B-AFB7-467637335D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DAF9E2-C149-3649-B1A1-BF9A86915B24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EBC49A8-27FC-0747-8194-53EB4F4DEA5E}">
      <dgm:prSet phldrT="[Text]"/>
      <dgm:spPr/>
      <dgm:t>
        <a:bodyPr/>
        <a:lstStyle/>
        <a:p>
          <a:r>
            <a:rPr lang="en-US" dirty="0"/>
            <a:t>Nominal</a:t>
          </a:r>
        </a:p>
      </dgm:t>
    </dgm:pt>
    <dgm:pt modelId="{949BCA37-E2E4-7948-B254-5641BD5CE1CD}" type="parTrans" cxnId="{1AF3CCCC-2D6D-BF40-A954-ED9D94B273C0}">
      <dgm:prSet/>
      <dgm:spPr/>
      <dgm:t>
        <a:bodyPr/>
        <a:lstStyle/>
        <a:p>
          <a:endParaRPr lang="en-US"/>
        </a:p>
      </dgm:t>
    </dgm:pt>
    <dgm:pt modelId="{E315A34C-099B-DD4F-A9B8-92B3A280A6AB}" type="sibTrans" cxnId="{1AF3CCCC-2D6D-BF40-A954-ED9D94B273C0}">
      <dgm:prSet/>
      <dgm:spPr/>
      <dgm:t>
        <a:bodyPr/>
        <a:lstStyle/>
        <a:p>
          <a:endParaRPr lang="en-US"/>
        </a:p>
      </dgm:t>
    </dgm:pt>
    <dgm:pt modelId="{70EBF57F-C6DE-2243-B568-7D03241DF9A9}">
      <dgm:prSet phldrT="[Text]" custT="1"/>
      <dgm:spPr/>
      <dgm:t>
        <a:bodyPr/>
        <a:lstStyle/>
        <a:p>
          <a:r>
            <a:rPr lang="en-US" sz="2000" dirty="0"/>
            <a:t>Hair color</a:t>
          </a:r>
        </a:p>
      </dgm:t>
    </dgm:pt>
    <dgm:pt modelId="{89941C9F-67E2-1A4C-946A-97E8738DC372}" type="parTrans" cxnId="{A7E46BCF-50FA-AA42-8A4C-9F62D8DED69A}">
      <dgm:prSet/>
      <dgm:spPr/>
      <dgm:t>
        <a:bodyPr/>
        <a:lstStyle/>
        <a:p>
          <a:endParaRPr lang="en-US"/>
        </a:p>
      </dgm:t>
    </dgm:pt>
    <dgm:pt modelId="{443262F9-BE8F-D74C-B6C7-DBDB0437F5EA}" type="sibTrans" cxnId="{A7E46BCF-50FA-AA42-8A4C-9F62D8DED69A}">
      <dgm:prSet/>
      <dgm:spPr/>
      <dgm:t>
        <a:bodyPr/>
        <a:lstStyle/>
        <a:p>
          <a:endParaRPr lang="en-US"/>
        </a:p>
      </dgm:t>
    </dgm:pt>
    <dgm:pt modelId="{F3644D2E-C6D9-664F-8FAF-75D917C34C6A}">
      <dgm:prSet phldrT="[Text]" custT="1"/>
      <dgm:spPr/>
      <dgm:t>
        <a:bodyPr/>
        <a:lstStyle/>
        <a:p>
          <a:r>
            <a:rPr lang="en-US" sz="2000" dirty="0"/>
            <a:t>Blood type</a:t>
          </a:r>
        </a:p>
      </dgm:t>
    </dgm:pt>
    <dgm:pt modelId="{986AFAF6-2114-F647-AF7F-59BCF60501D6}" type="parTrans" cxnId="{3E9CDA2C-BA98-C242-8D7B-43B440F297AD}">
      <dgm:prSet/>
      <dgm:spPr/>
      <dgm:t>
        <a:bodyPr/>
        <a:lstStyle/>
        <a:p>
          <a:endParaRPr lang="en-US"/>
        </a:p>
      </dgm:t>
    </dgm:pt>
    <dgm:pt modelId="{97286391-BBF5-DF43-BC0E-76841A18F785}" type="sibTrans" cxnId="{3E9CDA2C-BA98-C242-8D7B-43B440F297AD}">
      <dgm:prSet/>
      <dgm:spPr/>
      <dgm:t>
        <a:bodyPr/>
        <a:lstStyle/>
        <a:p>
          <a:endParaRPr lang="en-US"/>
        </a:p>
      </dgm:t>
    </dgm:pt>
    <dgm:pt modelId="{5E812AB1-9640-0C4C-B8BD-C45E55B83282}">
      <dgm:prSet phldrT="[Text]"/>
      <dgm:spPr/>
      <dgm:t>
        <a:bodyPr/>
        <a:lstStyle/>
        <a:p>
          <a:r>
            <a:rPr lang="en-US" dirty="0"/>
            <a:t>Ordinal</a:t>
          </a:r>
        </a:p>
      </dgm:t>
    </dgm:pt>
    <dgm:pt modelId="{36E85428-BDA2-984F-90B8-2ECAF815D47F}" type="parTrans" cxnId="{C74B8DAD-62E4-F14A-9B2B-1F5B187B7650}">
      <dgm:prSet/>
      <dgm:spPr/>
      <dgm:t>
        <a:bodyPr/>
        <a:lstStyle/>
        <a:p>
          <a:endParaRPr lang="en-US"/>
        </a:p>
      </dgm:t>
    </dgm:pt>
    <dgm:pt modelId="{372FCEB6-92C0-494B-93C0-C3DF06E9AF6A}" type="sibTrans" cxnId="{C74B8DAD-62E4-F14A-9B2B-1F5B187B7650}">
      <dgm:prSet/>
      <dgm:spPr/>
      <dgm:t>
        <a:bodyPr/>
        <a:lstStyle/>
        <a:p>
          <a:endParaRPr lang="en-US"/>
        </a:p>
      </dgm:t>
    </dgm:pt>
    <dgm:pt modelId="{6F2DE77D-B6C4-904A-AA6F-D1E90F543DF9}">
      <dgm:prSet phldrT="[Text]" custT="1"/>
      <dgm:spPr/>
      <dgm:t>
        <a:bodyPr/>
        <a:lstStyle/>
        <a:p>
          <a:r>
            <a:rPr lang="en-US" sz="2000" dirty="0"/>
            <a:t>Shirt sizes (S, M, L, XL)</a:t>
          </a:r>
        </a:p>
      </dgm:t>
    </dgm:pt>
    <dgm:pt modelId="{AF5D636D-9AC4-A54B-97EF-0FCA7131ABC8}" type="parTrans" cxnId="{D008954F-CC51-734A-BAF3-EAC780CAAA1F}">
      <dgm:prSet/>
      <dgm:spPr/>
      <dgm:t>
        <a:bodyPr/>
        <a:lstStyle/>
        <a:p>
          <a:endParaRPr lang="en-US"/>
        </a:p>
      </dgm:t>
    </dgm:pt>
    <dgm:pt modelId="{D0B91A38-46AC-7940-B7A9-60CE3CA24008}" type="sibTrans" cxnId="{D008954F-CC51-734A-BAF3-EAC780CAAA1F}">
      <dgm:prSet/>
      <dgm:spPr/>
      <dgm:t>
        <a:bodyPr/>
        <a:lstStyle/>
        <a:p>
          <a:endParaRPr lang="en-US"/>
        </a:p>
      </dgm:t>
    </dgm:pt>
    <dgm:pt modelId="{8C0419E7-1D07-3747-9AFD-A401A2B256E1}">
      <dgm:prSet phldrT="[Text]" custT="1"/>
      <dgm:spPr/>
      <dgm:t>
        <a:bodyPr/>
        <a:lstStyle/>
        <a:p>
          <a:r>
            <a:rPr lang="en-US" sz="2000" dirty="0"/>
            <a:t>Letter grades (A, B, C, D, F)</a:t>
          </a:r>
        </a:p>
      </dgm:t>
    </dgm:pt>
    <dgm:pt modelId="{96EFD376-1065-6D4D-99F9-7CB275DF5F3C}" type="parTrans" cxnId="{D8BC4F0D-20A1-0E49-A534-A1EE45D0FD86}">
      <dgm:prSet/>
      <dgm:spPr/>
      <dgm:t>
        <a:bodyPr/>
        <a:lstStyle/>
        <a:p>
          <a:endParaRPr lang="en-US"/>
        </a:p>
      </dgm:t>
    </dgm:pt>
    <dgm:pt modelId="{AB394F57-52CC-C747-8435-9FB5F1931508}" type="sibTrans" cxnId="{D8BC4F0D-20A1-0E49-A534-A1EE45D0FD86}">
      <dgm:prSet/>
      <dgm:spPr/>
      <dgm:t>
        <a:bodyPr/>
        <a:lstStyle/>
        <a:p>
          <a:endParaRPr lang="en-US"/>
        </a:p>
      </dgm:t>
    </dgm:pt>
    <dgm:pt modelId="{CAFEECED-A53B-D744-8AF9-CDFFD8465F06}">
      <dgm:prSet phldrT="[Text]" custT="1"/>
      <dgm:spPr/>
      <dgm:t>
        <a:bodyPr/>
        <a:lstStyle/>
        <a:p>
          <a:r>
            <a:rPr lang="en-US" sz="2000" dirty="0"/>
            <a:t>Survey ratings </a:t>
          </a:r>
          <a:r>
            <a:rPr lang="en-US" sz="2000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(Strongly Disagree to Strongly Agree)</a:t>
          </a:r>
          <a:endParaRPr lang="en-US" sz="2000" dirty="0"/>
        </a:p>
      </dgm:t>
    </dgm:pt>
    <dgm:pt modelId="{E0A0C967-6645-B545-BD92-66B20041EF20}" type="parTrans" cxnId="{8116CC1A-EFD0-E442-A290-0BB62BC176C4}">
      <dgm:prSet/>
      <dgm:spPr/>
      <dgm:t>
        <a:bodyPr/>
        <a:lstStyle/>
        <a:p>
          <a:endParaRPr lang="en-US"/>
        </a:p>
      </dgm:t>
    </dgm:pt>
    <dgm:pt modelId="{52C49303-C8BE-6543-8270-D784BEDED6C2}" type="sibTrans" cxnId="{8116CC1A-EFD0-E442-A290-0BB62BC176C4}">
      <dgm:prSet/>
      <dgm:spPr/>
      <dgm:t>
        <a:bodyPr/>
        <a:lstStyle/>
        <a:p>
          <a:endParaRPr lang="en-US"/>
        </a:p>
      </dgm:t>
    </dgm:pt>
    <dgm:pt modelId="{BEA2D65F-12C6-A14F-BB78-F70AECA13660}">
      <dgm:prSet phldrT="[Text]" custT="1"/>
      <dgm:spPr/>
      <dgm:t>
        <a:bodyPr/>
        <a:lstStyle/>
        <a:p>
          <a:r>
            <a:rPr lang="en-US" sz="2000" dirty="0"/>
            <a:t>Favorite Sports team</a:t>
          </a:r>
        </a:p>
      </dgm:t>
    </dgm:pt>
    <dgm:pt modelId="{93917384-CEAB-B84E-8604-72712E37A4AA}" type="parTrans" cxnId="{003965C5-439B-2744-8D7A-DA4232974FA9}">
      <dgm:prSet/>
      <dgm:spPr/>
      <dgm:t>
        <a:bodyPr/>
        <a:lstStyle/>
        <a:p>
          <a:endParaRPr lang="en-US"/>
        </a:p>
      </dgm:t>
    </dgm:pt>
    <dgm:pt modelId="{37BAF401-2FEE-F248-B9F2-C91052BCEF3B}" type="sibTrans" cxnId="{003965C5-439B-2744-8D7A-DA4232974FA9}">
      <dgm:prSet/>
      <dgm:spPr/>
      <dgm:t>
        <a:bodyPr/>
        <a:lstStyle/>
        <a:p>
          <a:endParaRPr lang="en-US"/>
        </a:p>
      </dgm:t>
    </dgm:pt>
    <dgm:pt modelId="{2B49353E-A06B-F94D-B2C7-E5F6C20AAAD0}" type="pres">
      <dgm:prSet presAssocID="{50DAF9E2-C149-3649-B1A1-BF9A86915B24}" presName="Name0" presStyleCnt="0">
        <dgm:presLayoutVars>
          <dgm:dir/>
          <dgm:animLvl val="lvl"/>
          <dgm:resizeHandles val="exact"/>
        </dgm:presLayoutVars>
      </dgm:prSet>
      <dgm:spPr/>
    </dgm:pt>
    <dgm:pt modelId="{EB8C6BFF-AD25-8E4D-B10A-23BCE42B0039}" type="pres">
      <dgm:prSet presAssocID="{FEBC49A8-27FC-0747-8194-53EB4F4DEA5E}" presName="composite" presStyleCnt="0"/>
      <dgm:spPr/>
    </dgm:pt>
    <dgm:pt modelId="{F07A2A19-5B99-6744-B98D-A84ABF2F54FE}" type="pres">
      <dgm:prSet presAssocID="{FEBC49A8-27FC-0747-8194-53EB4F4DEA5E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9A4AC1A8-9832-BF42-B49F-5B4B355E9DA7}" type="pres">
      <dgm:prSet presAssocID="{FEBC49A8-27FC-0747-8194-53EB4F4DEA5E}" presName="desTx" presStyleLbl="alignAccFollowNode1" presStyleIdx="0" presStyleCnt="2">
        <dgm:presLayoutVars>
          <dgm:bulletEnabled val="1"/>
        </dgm:presLayoutVars>
      </dgm:prSet>
      <dgm:spPr/>
    </dgm:pt>
    <dgm:pt modelId="{2B96005C-F820-DB4D-A48E-7DAD5A41F1DB}" type="pres">
      <dgm:prSet presAssocID="{E315A34C-099B-DD4F-A9B8-92B3A280A6AB}" presName="space" presStyleCnt="0"/>
      <dgm:spPr/>
    </dgm:pt>
    <dgm:pt modelId="{4208BF6A-00EA-1A46-A327-7CB54BBDE90C}" type="pres">
      <dgm:prSet presAssocID="{5E812AB1-9640-0C4C-B8BD-C45E55B83282}" presName="composite" presStyleCnt="0"/>
      <dgm:spPr/>
    </dgm:pt>
    <dgm:pt modelId="{F7A7DD47-693B-3046-9ADE-0ECAB63BC2B6}" type="pres">
      <dgm:prSet presAssocID="{5E812AB1-9640-0C4C-B8BD-C45E55B83282}" presName="parTx" presStyleLbl="alignNode1" presStyleIdx="1" presStyleCnt="2" custScaleX="107968" custScaleY="97202">
        <dgm:presLayoutVars>
          <dgm:chMax val="0"/>
          <dgm:chPref val="0"/>
          <dgm:bulletEnabled val="1"/>
        </dgm:presLayoutVars>
      </dgm:prSet>
      <dgm:spPr/>
    </dgm:pt>
    <dgm:pt modelId="{B049A179-250F-7D41-915F-984CAE967C6C}" type="pres">
      <dgm:prSet presAssocID="{5E812AB1-9640-0C4C-B8BD-C45E55B83282}" presName="desTx" presStyleLbl="alignAccFollowNode1" presStyleIdx="1" presStyleCnt="2" custScaleX="107968" custScaleY="97202">
        <dgm:presLayoutVars>
          <dgm:bulletEnabled val="1"/>
        </dgm:presLayoutVars>
      </dgm:prSet>
      <dgm:spPr/>
    </dgm:pt>
  </dgm:ptLst>
  <dgm:cxnLst>
    <dgm:cxn modelId="{D8BC4F0D-20A1-0E49-A534-A1EE45D0FD86}" srcId="{5E812AB1-9640-0C4C-B8BD-C45E55B83282}" destId="{8C0419E7-1D07-3747-9AFD-A401A2B256E1}" srcOrd="1" destOrd="0" parTransId="{96EFD376-1065-6D4D-99F9-7CB275DF5F3C}" sibTransId="{AB394F57-52CC-C747-8435-9FB5F1931508}"/>
    <dgm:cxn modelId="{8116CC1A-EFD0-E442-A290-0BB62BC176C4}" srcId="{5E812AB1-9640-0C4C-B8BD-C45E55B83282}" destId="{CAFEECED-A53B-D744-8AF9-CDFFD8465F06}" srcOrd="2" destOrd="0" parTransId="{E0A0C967-6645-B545-BD92-66B20041EF20}" sibTransId="{52C49303-C8BE-6543-8270-D784BEDED6C2}"/>
    <dgm:cxn modelId="{3E9CDA2C-BA98-C242-8D7B-43B440F297AD}" srcId="{FEBC49A8-27FC-0747-8194-53EB4F4DEA5E}" destId="{F3644D2E-C6D9-664F-8FAF-75D917C34C6A}" srcOrd="1" destOrd="0" parTransId="{986AFAF6-2114-F647-AF7F-59BCF60501D6}" sibTransId="{97286391-BBF5-DF43-BC0E-76841A18F785}"/>
    <dgm:cxn modelId="{FD9FB92F-ECC6-9B46-9E8C-7CB6A221C792}" type="presOf" srcId="{6F2DE77D-B6C4-904A-AA6F-D1E90F543DF9}" destId="{B049A179-250F-7D41-915F-984CAE967C6C}" srcOrd="0" destOrd="0" presId="urn:microsoft.com/office/officeart/2005/8/layout/hList1"/>
    <dgm:cxn modelId="{1DD24B63-612A-4048-A6DA-6E3D3A689A70}" type="presOf" srcId="{70EBF57F-C6DE-2243-B568-7D03241DF9A9}" destId="{9A4AC1A8-9832-BF42-B49F-5B4B355E9DA7}" srcOrd="0" destOrd="0" presId="urn:microsoft.com/office/officeart/2005/8/layout/hList1"/>
    <dgm:cxn modelId="{60B5CB6A-4C37-7145-BFB7-2CE30085EE54}" type="presOf" srcId="{50DAF9E2-C149-3649-B1A1-BF9A86915B24}" destId="{2B49353E-A06B-F94D-B2C7-E5F6C20AAAD0}" srcOrd="0" destOrd="0" presId="urn:microsoft.com/office/officeart/2005/8/layout/hList1"/>
    <dgm:cxn modelId="{D008954F-CC51-734A-BAF3-EAC780CAAA1F}" srcId="{5E812AB1-9640-0C4C-B8BD-C45E55B83282}" destId="{6F2DE77D-B6C4-904A-AA6F-D1E90F543DF9}" srcOrd="0" destOrd="0" parTransId="{AF5D636D-9AC4-A54B-97EF-0FCA7131ABC8}" sibTransId="{D0B91A38-46AC-7940-B7A9-60CE3CA24008}"/>
    <dgm:cxn modelId="{9FF73890-A150-D54F-892F-BFC50CA7DE66}" type="presOf" srcId="{CAFEECED-A53B-D744-8AF9-CDFFD8465F06}" destId="{B049A179-250F-7D41-915F-984CAE967C6C}" srcOrd="0" destOrd="2" presId="urn:microsoft.com/office/officeart/2005/8/layout/hList1"/>
    <dgm:cxn modelId="{ABD276A0-BD7B-C741-A81B-F34181841344}" type="presOf" srcId="{8C0419E7-1D07-3747-9AFD-A401A2B256E1}" destId="{B049A179-250F-7D41-915F-984CAE967C6C}" srcOrd="0" destOrd="1" presId="urn:microsoft.com/office/officeart/2005/8/layout/hList1"/>
    <dgm:cxn modelId="{2333CFA1-50C4-A041-A451-43629BB97857}" type="presOf" srcId="{BEA2D65F-12C6-A14F-BB78-F70AECA13660}" destId="{9A4AC1A8-9832-BF42-B49F-5B4B355E9DA7}" srcOrd="0" destOrd="2" presId="urn:microsoft.com/office/officeart/2005/8/layout/hList1"/>
    <dgm:cxn modelId="{C74B8DAD-62E4-F14A-9B2B-1F5B187B7650}" srcId="{50DAF9E2-C149-3649-B1A1-BF9A86915B24}" destId="{5E812AB1-9640-0C4C-B8BD-C45E55B83282}" srcOrd="1" destOrd="0" parTransId="{36E85428-BDA2-984F-90B8-2ECAF815D47F}" sibTransId="{372FCEB6-92C0-494B-93C0-C3DF06E9AF6A}"/>
    <dgm:cxn modelId="{7C9B09B9-482C-0141-8ECF-6AAB4FE9CD25}" type="presOf" srcId="{5E812AB1-9640-0C4C-B8BD-C45E55B83282}" destId="{F7A7DD47-693B-3046-9ADE-0ECAB63BC2B6}" srcOrd="0" destOrd="0" presId="urn:microsoft.com/office/officeart/2005/8/layout/hList1"/>
    <dgm:cxn modelId="{003965C5-439B-2744-8D7A-DA4232974FA9}" srcId="{FEBC49A8-27FC-0747-8194-53EB4F4DEA5E}" destId="{BEA2D65F-12C6-A14F-BB78-F70AECA13660}" srcOrd="2" destOrd="0" parTransId="{93917384-CEAB-B84E-8604-72712E37A4AA}" sibTransId="{37BAF401-2FEE-F248-B9F2-C91052BCEF3B}"/>
    <dgm:cxn modelId="{1AF3CCCC-2D6D-BF40-A954-ED9D94B273C0}" srcId="{50DAF9E2-C149-3649-B1A1-BF9A86915B24}" destId="{FEBC49A8-27FC-0747-8194-53EB4F4DEA5E}" srcOrd="0" destOrd="0" parTransId="{949BCA37-E2E4-7948-B254-5641BD5CE1CD}" sibTransId="{E315A34C-099B-DD4F-A9B8-92B3A280A6AB}"/>
    <dgm:cxn modelId="{A7E46BCF-50FA-AA42-8A4C-9F62D8DED69A}" srcId="{FEBC49A8-27FC-0747-8194-53EB4F4DEA5E}" destId="{70EBF57F-C6DE-2243-B568-7D03241DF9A9}" srcOrd="0" destOrd="0" parTransId="{89941C9F-67E2-1A4C-946A-97E8738DC372}" sibTransId="{443262F9-BE8F-D74C-B6C7-DBDB0437F5EA}"/>
    <dgm:cxn modelId="{679575D8-E420-7C46-94DF-373D6CA3C157}" type="presOf" srcId="{FEBC49A8-27FC-0747-8194-53EB4F4DEA5E}" destId="{F07A2A19-5B99-6744-B98D-A84ABF2F54FE}" srcOrd="0" destOrd="0" presId="urn:microsoft.com/office/officeart/2005/8/layout/hList1"/>
    <dgm:cxn modelId="{745350D9-874C-514E-A7AC-42EEF21C9B52}" type="presOf" srcId="{F3644D2E-C6D9-664F-8FAF-75D917C34C6A}" destId="{9A4AC1A8-9832-BF42-B49F-5B4B355E9DA7}" srcOrd="0" destOrd="1" presId="urn:microsoft.com/office/officeart/2005/8/layout/hList1"/>
    <dgm:cxn modelId="{F216DC23-84AB-2F4F-A853-FB12938DAB0C}" type="presParOf" srcId="{2B49353E-A06B-F94D-B2C7-E5F6C20AAAD0}" destId="{EB8C6BFF-AD25-8E4D-B10A-23BCE42B0039}" srcOrd="0" destOrd="0" presId="urn:microsoft.com/office/officeart/2005/8/layout/hList1"/>
    <dgm:cxn modelId="{1F8367D7-7E74-B14B-8287-8506A06C6AC0}" type="presParOf" srcId="{EB8C6BFF-AD25-8E4D-B10A-23BCE42B0039}" destId="{F07A2A19-5B99-6744-B98D-A84ABF2F54FE}" srcOrd="0" destOrd="0" presId="urn:microsoft.com/office/officeart/2005/8/layout/hList1"/>
    <dgm:cxn modelId="{0ECFACB5-23F9-6B43-A926-3022A835989E}" type="presParOf" srcId="{EB8C6BFF-AD25-8E4D-B10A-23BCE42B0039}" destId="{9A4AC1A8-9832-BF42-B49F-5B4B355E9DA7}" srcOrd="1" destOrd="0" presId="urn:microsoft.com/office/officeart/2005/8/layout/hList1"/>
    <dgm:cxn modelId="{9D69BCE3-5EF5-0649-B785-D82E731A2A52}" type="presParOf" srcId="{2B49353E-A06B-F94D-B2C7-E5F6C20AAAD0}" destId="{2B96005C-F820-DB4D-A48E-7DAD5A41F1DB}" srcOrd="1" destOrd="0" presId="urn:microsoft.com/office/officeart/2005/8/layout/hList1"/>
    <dgm:cxn modelId="{C2E90378-80B2-414E-B3D6-859C4D8EFC3D}" type="presParOf" srcId="{2B49353E-A06B-F94D-B2C7-E5F6C20AAAD0}" destId="{4208BF6A-00EA-1A46-A327-7CB54BBDE90C}" srcOrd="2" destOrd="0" presId="urn:microsoft.com/office/officeart/2005/8/layout/hList1"/>
    <dgm:cxn modelId="{BEE25CD4-3B71-4C4C-900F-8E4284D53E3E}" type="presParOf" srcId="{4208BF6A-00EA-1A46-A327-7CB54BBDE90C}" destId="{F7A7DD47-693B-3046-9ADE-0ECAB63BC2B6}" srcOrd="0" destOrd="0" presId="urn:microsoft.com/office/officeart/2005/8/layout/hList1"/>
    <dgm:cxn modelId="{1016E399-AB26-C64A-B378-5C06316A79B1}" type="presParOf" srcId="{4208BF6A-00EA-1A46-A327-7CB54BBDE90C}" destId="{B049A179-250F-7D41-915F-984CAE967C6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E71897-446D-DD44-9BBD-2B82CCA06492}" type="doc">
      <dgm:prSet loTypeId="urn:microsoft.com/office/officeart/2005/8/layout/hProcess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05BEE-B464-8241-8F4C-A71BBE006FD7}">
      <dgm:prSet phldrT="[Text]"/>
      <dgm:spPr/>
      <dgm:t>
        <a:bodyPr/>
        <a:lstStyle/>
        <a:p>
          <a:r>
            <a:rPr lang="en-US" dirty="0"/>
            <a:t>Analysis Methods</a:t>
          </a:r>
        </a:p>
      </dgm:t>
    </dgm:pt>
    <dgm:pt modelId="{7AB940E1-B469-3742-A834-888871BB566A}" type="parTrans" cxnId="{019B1EF4-FE1A-3B4D-A7AA-650E2CDCBB05}">
      <dgm:prSet/>
      <dgm:spPr/>
      <dgm:t>
        <a:bodyPr/>
        <a:lstStyle/>
        <a:p>
          <a:endParaRPr lang="en-US"/>
        </a:p>
      </dgm:t>
    </dgm:pt>
    <dgm:pt modelId="{81D30511-A742-F944-9D4C-4CF1254D0F60}" type="sibTrans" cxnId="{019B1EF4-FE1A-3B4D-A7AA-650E2CDCBB05}">
      <dgm:prSet/>
      <dgm:spPr/>
      <dgm:t>
        <a:bodyPr/>
        <a:lstStyle/>
        <a:p>
          <a:endParaRPr lang="en-US"/>
        </a:p>
      </dgm:t>
    </dgm:pt>
    <dgm:pt modelId="{24235E32-5F7C-6A4B-AA54-D9F0ECBB4672}">
      <dgm:prSet phldrT="[Text]"/>
      <dgm:spPr/>
      <dgm:t>
        <a:bodyPr/>
        <a:lstStyle/>
        <a:p>
          <a:r>
            <a:rPr lang="en-US" dirty="0"/>
            <a:t>Visualization</a:t>
          </a:r>
        </a:p>
      </dgm:t>
    </dgm:pt>
    <dgm:pt modelId="{F2BFA80B-3DD1-824B-9C77-161D667568DC}" type="parTrans" cxnId="{247475BA-0A6D-524D-8166-4C937B0A7D45}">
      <dgm:prSet/>
      <dgm:spPr/>
      <dgm:t>
        <a:bodyPr/>
        <a:lstStyle/>
        <a:p>
          <a:endParaRPr lang="en-US"/>
        </a:p>
      </dgm:t>
    </dgm:pt>
    <dgm:pt modelId="{768740CE-6089-834C-808A-515C1067F1A7}" type="sibTrans" cxnId="{247475BA-0A6D-524D-8166-4C937B0A7D45}">
      <dgm:prSet/>
      <dgm:spPr/>
      <dgm:t>
        <a:bodyPr/>
        <a:lstStyle/>
        <a:p>
          <a:endParaRPr lang="en-US"/>
        </a:p>
      </dgm:t>
    </dgm:pt>
    <dgm:pt modelId="{D474AE14-2B34-FB41-82DE-10008C182E43}">
      <dgm:prSet phldrT="[Text]"/>
      <dgm:spPr/>
      <dgm:t>
        <a:bodyPr/>
        <a:lstStyle/>
        <a:p>
          <a:r>
            <a:rPr lang="en-US" dirty="0"/>
            <a:t>Interpretation</a:t>
          </a:r>
        </a:p>
      </dgm:t>
    </dgm:pt>
    <dgm:pt modelId="{F4C01AE6-64E0-984B-9429-1A5176DDEA29}" type="parTrans" cxnId="{8F7CFF7B-96F6-224E-B9F4-A142B4672023}">
      <dgm:prSet/>
      <dgm:spPr/>
      <dgm:t>
        <a:bodyPr/>
        <a:lstStyle/>
        <a:p>
          <a:endParaRPr lang="en-US"/>
        </a:p>
      </dgm:t>
    </dgm:pt>
    <dgm:pt modelId="{4439AB17-55C8-994F-BF97-36F187886EC5}" type="sibTrans" cxnId="{8F7CFF7B-96F6-224E-B9F4-A142B4672023}">
      <dgm:prSet/>
      <dgm:spPr/>
      <dgm:t>
        <a:bodyPr/>
        <a:lstStyle/>
        <a:p>
          <a:endParaRPr lang="en-US"/>
        </a:p>
      </dgm:t>
    </dgm:pt>
    <dgm:pt modelId="{5F773DB0-16A4-104A-B98C-395F92EF3CB8}">
      <dgm:prSet phldrT="[Text]"/>
      <dgm:spPr/>
      <dgm:t>
        <a:bodyPr/>
        <a:lstStyle/>
        <a:p>
          <a:r>
            <a:rPr lang="en-US" dirty="0"/>
            <a:t>Different data types require different approaches</a:t>
          </a:r>
        </a:p>
      </dgm:t>
    </dgm:pt>
    <dgm:pt modelId="{640AE946-09B4-814A-B7AE-7DD6CCE803AF}" type="parTrans" cxnId="{753F12FC-AF85-C44B-98C4-20E8985382A0}">
      <dgm:prSet/>
      <dgm:spPr/>
      <dgm:t>
        <a:bodyPr/>
        <a:lstStyle/>
        <a:p>
          <a:endParaRPr lang="en-US"/>
        </a:p>
      </dgm:t>
    </dgm:pt>
    <dgm:pt modelId="{D24A2DC3-746D-824E-A41C-968E694D030B}" type="sibTrans" cxnId="{753F12FC-AF85-C44B-98C4-20E8985382A0}">
      <dgm:prSet/>
      <dgm:spPr/>
      <dgm:t>
        <a:bodyPr/>
        <a:lstStyle/>
        <a:p>
          <a:endParaRPr lang="en-US"/>
        </a:p>
      </dgm:t>
    </dgm:pt>
    <dgm:pt modelId="{6BDD45F2-FB30-374C-98F4-61C971B3B9B6}">
      <dgm:prSet phldrT="[Text]"/>
      <dgm:spPr/>
      <dgm:t>
        <a:bodyPr/>
        <a:lstStyle/>
        <a:p>
          <a:r>
            <a:rPr lang="en-US" dirty="0"/>
            <a:t>Data type determines appropriate graph types</a:t>
          </a:r>
        </a:p>
      </dgm:t>
    </dgm:pt>
    <dgm:pt modelId="{2B19B1E2-64B4-B644-9CAD-A7830E1E2F85}" type="parTrans" cxnId="{2B00DB62-32BF-0244-841A-4533B661E4E3}">
      <dgm:prSet/>
      <dgm:spPr/>
      <dgm:t>
        <a:bodyPr/>
        <a:lstStyle/>
        <a:p>
          <a:endParaRPr lang="en-US"/>
        </a:p>
      </dgm:t>
    </dgm:pt>
    <dgm:pt modelId="{DA2E938E-8CAA-1A45-87E1-CAC469CE9CAD}" type="sibTrans" cxnId="{2B00DB62-32BF-0244-841A-4533B661E4E3}">
      <dgm:prSet/>
      <dgm:spPr/>
      <dgm:t>
        <a:bodyPr/>
        <a:lstStyle/>
        <a:p>
          <a:endParaRPr lang="en-US"/>
        </a:p>
      </dgm:t>
    </dgm:pt>
    <dgm:pt modelId="{19EA1BAE-2844-CD44-8261-488459AE0B0B}">
      <dgm:prSet phldrT="[Text]"/>
      <dgm:spPr/>
      <dgm:t>
        <a:bodyPr/>
        <a:lstStyle/>
        <a:p>
          <a:r>
            <a:rPr lang="en-US" dirty="0"/>
            <a:t>Understanding type helps avoid incorrect conclusion</a:t>
          </a:r>
        </a:p>
      </dgm:t>
    </dgm:pt>
    <dgm:pt modelId="{05203A83-5471-FA43-A25E-FEB0CA610DA4}" type="parTrans" cxnId="{294C3F04-B4B5-084F-BD78-E1EE21D72AED}">
      <dgm:prSet/>
      <dgm:spPr/>
      <dgm:t>
        <a:bodyPr/>
        <a:lstStyle/>
        <a:p>
          <a:endParaRPr lang="en-US"/>
        </a:p>
      </dgm:t>
    </dgm:pt>
    <dgm:pt modelId="{A093B9F6-602A-224C-9A73-DDB935C574C2}" type="sibTrans" cxnId="{294C3F04-B4B5-084F-BD78-E1EE21D72AED}">
      <dgm:prSet/>
      <dgm:spPr/>
      <dgm:t>
        <a:bodyPr/>
        <a:lstStyle/>
        <a:p>
          <a:endParaRPr lang="en-US"/>
        </a:p>
      </dgm:t>
    </dgm:pt>
    <dgm:pt modelId="{5870212B-803F-D14B-AA4A-D6D9EB794F0E}">
      <dgm:prSet phldrT="[Text]"/>
      <dgm:spPr/>
      <dgm:t>
        <a:bodyPr/>
        <a:lstStyle/>
        <a:p>
          <a:r>
            <a:rPr lang="en-US" dirty="0"/>
            <a:t>Calculation Options</a:t>
          </a:r>
        </a:p>
      </dgm:t>
    </dgm:pt>
    <dgm:pt modelId="{B300768B-6EED-D741-9C1D-8C5338A6766C}" type="parTrans" cxnId="{0B8813DA-EE60-A548-9CDB-7F4737F07263}">
      <dgm:prSet/>
      <dgm:spPr/>
      <dgm:t>
        <a:bodyPr/>
        <a:lstStyle/>
        <a:p>
          <a:endParaRPr lang="en-US"/>
        </a:p>
      </dgm:t>
    </dgm:pt>
    <dgm:pt modelId="{363F78AF-BD83-E249-8EFE-F291513913BE}" type="sibTrans" cxnId="{0B8813DA-EE60-A548-9CDB-7F4737F07263}">
      <dgm:prSet/>
      <dgm:spPr/>
      <dgm:t>
        <a:bodyPr/>
        <a:lstStyle/>
        <a:p>
          <a:endParaRPr lang="en-US"/>
        </a:p>
      </dgm:t>
    </dgm:pt>
    <dgm:pt modelId="{1B8EF8C7-7B5C-8449-9E0A-C2DA6CF3C02F}">
      <dgm:prSet phldrT="[Text]"/>
      <dgm:spPr/>
      <dgm:t>
        <a:bodyPr/>
        <a:lstStyle/>
        <a:p>
          <a:r>
            <a:rPr lang="en-US" dirty="0"/>
            <a:t>Only certain operations make sense for each type</a:t>
          </a:r>
        </a:p>
      </dgm:t>
    </dgm:pt>
    <dgm:pt modelId="{FEA6D3E6-A556-474B-A0CD-7BDA0D34AFDE}" type="parTrans" cxnId="{2314FDDC-7118-424C-BD37-C39947159F0C}">
      <dgm:prSet/>
      <dgm:spPr/>
      <dgm:t>
        <a:bodyPr/>
        <a:lstStyle/>
        <a:p>
          <a:endParaRPr lang="en-US"/>
        </a:p>
      </dgm:t>
    </dgm:pt>
    <dgm:pt modelId="{79D52A4C-D5F0-1642-ADE2-E151AC99B4CA}" type="sibTrans" cxnId="{2314FDDC-7118-424C-BD37-C39947159F0C}">
      <dgm:prSet/>
      <dgm:spPr/>
      <dgm:t>
        <a:bodyPr/>
        <a:lstStyle/>
        <a:p>
          <a:endParaRPr lang="en-US"/>
        </a:p>
      </dgm:t>
    </dgm:pt>
    <dgm:pt modelId="{718BAF96-2C9B-8C4E-BD84-A0DFB91CFCD5}" type="pres">
      <dgm:prSet presAssocID="{65E71897-446D-DD44-9BBD-2B82CCA06492}" presName="Name0" presStyleCnt="0">
        <dgm:presLayoutVars>
          <dgm:dir/>
          <dgm:animLvl val="lvl"/>
          <dgm:resizeHandles val="exact"/>
        </dgm:presLayoutVars>
      </dgm:prSet>
      <dgm:spPr/>
    </dgm:pt>
    <dgm:pt modelId="{8103EB36-3B49-794F-BE1B-2DD19561F5B6}" type="pres">
      <dgm:prSet presAssocID="{65E71897-446D-DD44-9BBD-2B82CCA06492}" presName="tSp" presStyleCnt="0"/>
      <dgm:spPr/>
    </dgm:pt>
    <dgm:pt modelId="{9F954C72-9A75-1B4C-80E9-C9451250AD31}" type="pres">
      <dgm:prSet presAssocID="{65E71897-446D-DD44-9BBD-2B82CCA06492}" presName="bSp" presStyleCnt="0"/>
      <dgm:spPr/>
    </dgm:pt>
    <dgm:pt modelId="{1534384E-915B-3248-ACD9-47C61A7BD3CE}" type="pres">
      <dgm:prSet presAssocID="{65E71897-446D-DD44-9BBD-2B82CCA06492}" presName="process" presStyleCnt="0"/>
      <dgm:spPr/>
    </dgm:pt>
    <dgm:pt modelId="{384F4716-11B9-274F-A2CE-326C6D84DFA1}" type="pres">
      <dgm:prSet presAssocID="{3B905BEE-B464-8241-8F4C-A71BBE006FD7}" presName="composite1" presStyleCnt="0"/>
      <dgm:spPr/>
    </dgm:pt>
    <dgm:pt modelId="{1539E6CA-3716-E147-9820-83A90DAD5F76}" type="pres">
      <dgm:prSet presAssocID="{3B905BEE-B464-8241-8F4C-A71BBE006FD7}" presName="dummyNode1" presStyleLbl="node1" presStyleIdx="0" presStyleCnt="4"/>
      <dgm:spPr/>
    </dgm:pt>
    <dgm:pt modelId="{3F24B140-7074-7641-B33B-DE4D79B1BF10}" type="pres">
      <dgm:prSet presAssocID="{3B905BEE-B464-8241-8F4C-A71BBE006FD7}" presName="childNode1" presStyleLbl="bgAcc1" presStyleIdx="0" presStyleCnt="4">
        <dgm:presLayoutVars>
          <dgm:bulletEnabled val="1"/>
        </dgm:presLayoutVars>
      </dgm:prSet>
      <dgm:spPr/>
    </dgm:pt>
    <dgm:pt modelId="{783169B6-93F9-E44C-B4DF-A56542CFC78D}" type="pres">
      <dgm:prSet presAssocID="{3B905BEE-B464-8241-8F4C-A71BBE006FD7}" presName="childNode1tx" presStyleLbl="bgAcc1" presStyleIdx="0" presStyleCnt="4">
        <dgm:presLayoutVars>
          <dgm:bulletEnabled val="1"/>
        </dgm:presLayoutVars>
      </dgm:prSet>
      <dgm:spPr/>
    </dgm:pt>
    <dgm:pt modelId="{19196619-3F2A-3747-A9F5-5A819E63A715}" type="pres">
      <dgm:prSet presAssocID="{3B905BEE-B464-8241-8F4C-A71BBE006FD7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89BC013C-87C4-CC4D-B2AA-923C487F3878}" type="pres">
      <dgm:prSet presAssocID="{3B905BEE-B464-8241-8F4C-A71BBE006FD7}" presName="connSite1" presStyleCnt="0"/>
      <dgm:spPr/>
    </dgm:pt>
    <dgm:pt modelId="{5F4BC2EE-DBEC-2049-AA33-4DC8E3310C63}" type="pres">
      <dgm:prSet presAssocID="{81D30511-A742-F944-9D4C-4CF1254D0F60}" presName="Name9" presStyleLbl="sibTrans2D1" presStyleIdx="0" presStyleCnt="3"/>
      <dgm:spPr/>
    </dgm:pt>
    <dgm:pt modelId="{734C65F9-0B91-3140-9DAE-F1A744891238}" type="pres">
      <dgm:prSet presAssocID="{24235E32-5F7C-6A4B-AA54-D9F0ECBB4672}" presName="composite2" presStyleCnt="0"/>
      <dgm:spPr/>
    </dgm:pt>
    <dgm:pt modelId="{B8426827-693E-C14F-9014-7632ECE54A2F}" type="pres">
      <dgm:prSet presAssocID="{24235E32-5F7C-6A4B-AA54-D9F0ECBB4672}" presName="dummyNode2" presStyleLbl="node1" presStyleIdx="0" presStyleCnt="4"/>
      <dgm:spPr/>
    </dgm:pt>
    <dgm:pt modelId="{506702F1-0385-F941-AEB7-4F1EE91414D5}" type="pres">
      <dgm:prSet presAssocID="{24235E32-5F7C-6A4B-AA54-D9F0ECBB4672}" presName="childNode2" presStyleLbl="bgAcc1" presStyleIdx="1" presStyleCnt="4">
        <dgm:presLayoutVars>
          <dgm:bulletEnabled val="1"/>
        </dgm:presLayoutVars>
      </dgm:prSet>
      <dgm:spPr/>
    </dgm:pt>
    <dgm:pt modelId="{6A9EA6B4-B62B-3F4A-85DC-2C0A3B323080}" type="pres">
      <dgm:prSet presAssocID="{24235E32-5F7C-6A4B-AA54-D9F0ECBB4672}" presName="childNode2tx" presStyleLbl="bgAcc1" presStyleIdx="1" presStyleCnt="4">
        <dgm:presLayoutVars>
          <dgm:bulletEnabled val="1"/>
        </dgm:presLayoutVars>
      </dgm:prSet>
      <dgm:spPr/>
    </dgm:pt>
    <dgm:pt modelId="{0E3D46D1-D60C-D443-BD19-50592672B27C}" type="pres">
      <dgm:prSet presAssocID="{24235E32-5F7C-6A4B-AA54-D9F0ECBB4672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4DA4D1F1-8542-E749-AC32-742B70A35AC2}" type="pres">
      <dgm:prSet presAssocID="{24235E32-5F7C-6A4B-AA54-D9F0ECBB4672}" presName="connSite2" presStyleCnt="0"/>
      <dgm:spPr/>
    </dgm:pt>
    <dgm:pt modelId="{957925FA-766D-0145-8AB5-62CECB2DFBA5}" type="pres">
      <dgm:prSet presAssocID="{768740CE-6089-834C-808A-515C1067F1A7}" presName="Name18" presStyleLbl="sibTrans2D1" presStyleIdx="1" presStyleCnt="3"/>
      <dgm:spPr/>
    </dgm:pt>
    <dgm:pt modelId="{F51DB611-B9C3-4E4B-8DA6-9F420482C4A4}" type="pres">
      <dgm:prSet presAssocID="{D474AE14-2B34-FB41-82DE-10008C182E43}" presName="composite1" presStyleCnt="0"/>
      <dgm:spPr/>
    </dgm:pt>
    <dgm:pt modelId="{8FFBE896-78F3-6949-962C-39FBFF7E3E6C}" type="pres">
      <dgm:prSet presAssocID="{D474AE14-2B34-FB41-82DE-10008C182E43}" presName="dummyNode1" presStyleLbl="node1" presStyleIdx="1" presStyleCnt="4"/>
      <dgm:spPr/>
    </dgm:pt>
    <dgm:pt modelId="{A53D2C29-0F28-1543-85D7-8A6156C72746}" type="pres">
      <dgm:prSet presAssocID="{D474AE14-2B34-FB41-82DE-10008C182E43}" presName="childNode1" presStyleLbl="bgAcc1" presStyleIdx="2" presStyleCnt="4">
        <dgm:presLayoutVars>
          <dgm:bulletEnabled val="1"/>
        </dgm:presLayoutVars>
      </dgm:prSet>
      <dgm:spPr/>
    </dgm:pt>
    <dgm:pt modelId="{CE1965B6-7E2F-6044-8AEE-E445B038C524}" type="pres">
      <dgm:prSet presAssocID="{D474AE14-2B34-FB41-82DE-10008C182E43}" presName="childNode1tx" presStyleLbl="bgAcc1" presStyleIdx="2" presStyleCnt="4">
        <dgm:presLayoutVars>
          <dgm:bulletEnabled val="1"/>
        </dgm:presLayoutVars>
      </dgm:prSet>
      <dgm:spPr/>
    </dgm:pt>
    <dgm:pt modelId="{2867488C-F089-234A-8E91-17D9E277A6EA}" type="pres">
      <dgm:prSet presAssocID="{D474AE14-2B34-FB41-82DE-10008C182E43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BB60F8B0-EE36-4D4C-988C-7ACC8534F2FB}" type="pres">
      <dgm:prSet presAssocID="{D474AE14-2B34-FB41-82DE-10008C182E43}" presName="connSite1" presStyleCnt="0"/>
      <dgm:spPr/>
    </dgm:pt>
    <dgm:pt modelId="{8592F283-835B-0F4A-B2B6-6732EE35B3F2}" type="pres">
      <dgm:prSet presAssocID="{4439AB17-55C8-994F-BF97-36F187886EC5}" presName="Name9" presStyleLbl="sibTrans2D1" presStyleIdx="2" presStyleCnt="3"/>
      <dgm:spPr/>
    </dgm:pt>
    <dgm:pt modelId="{5805D2D7-F7F4-7D40-A18D-EC1869912C4B}" type="pres">
      <dgm:prSet presAssocID="{5870212B-803F-D14B-AA4A-D6D9EB794F0E}" presName="composite2" presStyleCnt="0"/>
      <dgm:spPr/>
    </dgm:pt>
    <dgm:pt modelId="{16F70CD9-FE22-8A48-B028-0D7AE16CE5B9}" type="pres">
      <dgm:prSet presAssocID="{5870212B-803F-D14B-AA4A-D6D9EB794F0E}" presName="dummyNode2" presStyleLbl="node1" presStyleIdx="2" presStyleCnt="4"/>
      <dgm:spPr/>
    </dgm:pt>
    <dgm:pt modelId="{97FB78AB-4E2C-A841-A23F-04DF146BB314}" type="pres">
      <dgm:prSet presAssocID="{5870212B-803F-D14B-AA4A-D6D9EB794F0E}" presName="childNode2" presStyleLbl="bgAcc1" presStyleIdx="3" presStyleCnt="4">
        <dgm:presLayoutVars>
          <dgm:bulletEnabled val="1"/>
        </dgm:presLayoutVars>
      </dgm:prSet>
      <dgm:spPr/>
    </dgm:pt>
    <dgm:pt modelId="{1B77DAFC-5FB2-C744-823D-7C3F8EE387C7}" type="pres">
      <dgm:prSet presAssocID="{5870212B-803F-D14B-AA4A-D6D9EB794F0E}" presName="childNode2tx" presStyleLbl="bgAcc1" presStyleIdx="3" presStyleCnt="4">
        <dgm:presLayoutVars>
          <dgm:bulletEnabled val="1"/>
        </dgm:presLayoutVars>
      </dgm:prSet>
      <dgm:spPr/>
    </dgm:pt>
    <dgm:pt modelId="{55A8098D-EB9B-9D44-AD6F-BFBC31FB48FC}" type="pres">
      <dgm:prSet presAssocID="{5870212B-803F-D14B-AA4A-D6D9EB794F0E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5EDD2FCD-A786-2347-B986-8EAC81CEC4CB}" type="pres">
      <dgm:prSet presAssocID="{5870212B-803F-D14B-AA4A-D6D9EB794F0E}" presName="connSite2" presStyleCnt="0"/>
      <dgm:spPr/>
    </dgm:pt>
  </dgm:ptLst>
  <dgm:cxnLst>
    <dgm:cxn modelId="{E6B4FF03-EDD0-C147-B26B-1313170FDE1F}" type="presOf" srcId="{81D30511-A742-F944-9D4C-4CF1254D0F60}" destId="{5F4BC2EE-DBEC-2049-AA33-4DC8E3310C63}" srcOrd="0" destOrd="0" presId="urn:microsoft.com/office/officeart/2005/8/layout/hProcess4"/>
    <dgm:cxn modelId="{294C3F04-B4B5-084F-BD78-E1EE21D72AED}" srcId="{D474AE14-2B34-FB41-82DE-10008C182E43}" destId="{19EA1BAE-2844-CD44-8261-488459AE0B0B}" srcOrd="0" destOrd="0" parTransId="{05203A83-5471-FA43-A25E-FEB0CA610DA4}" sibTransId="{A093B9F6-602A-224C-9A73-DDB935C574C2}"/>
    <dgm:cxn modelId="{C8A21D08-7873-614E-9862-C102EBFE3A13}" type="presOf" srcId="{D474AE14-2B34-FB41-82DE-10008C182E43}" destId="{2867488C-F089-234A-8E91-17D9E277A6EA}" srcOrd="0" destOrd="0" presId="urn:microsoft.com/office/officeart/2005/8/layout/hProcess4"/>
    <dgm:cxn modelId="{936D9C0B-E3DB-5B4A-BF1D-A7E53E3AFD2B}" type="presOf" srcId="{6BDD45F2-FB30-374C-98F4-61C971B3B9B6}" destId="{6A9EA6B4-B62B-3F4A-85DC-2C0A3B323080}" srcOrd="1" destOrd="0" presId="urn:microsoft.com/office/officeart/2005/8/layout/hProcess4"/>
    <dgm:cxn modelId="{7CDD6311-0B13-AC4A-960D-B9D999DA6023}" type="presOf" srcId="{5F773DB0-16A4-104A-B98C-395F92EF3CB8}" destId="{3F24B140-7074-7641-B33B-DE4D79B1BF10}" srcOrd="0" destOrd="0" presId="urn:microsoft.com/office/officeart/2005/8/layout/hProcess4"/>
    <dgm:cxn modelId="{2FD13015-7DA6-4F41-93D6-C6F113430A44}" type="presOf" srcId="{3B905BEE-B464-8241-8F4C-A71BBE006FD7}" destId="{19196619-3F2A-3747-A9F5-5A819E63A715}" srcOrd="0" destOrd="0" presId="urn:microsoft.com/office/officeart/2005/8/layout/hProcess4"/>
    <dgm:cxn modelId="{4D8DE52E-DF14-8448-8D28-9082110985B0}" type="presOf" srcId="{19EA1BAE-2844-CD44-8261-488459AE0B0B}" destId="{CE1965B6-7E2F-6044-8AEE-E445B038C524}" srcOrd="1" destOrd="0" presId="urn:microsoft.com/office/officeart/2005/8/layout/hProcess4"/>
    <dgm:cxn modelId="{2B00DB62-32BF-0244-841A-4533B661E4E3}" srcId="{24235E32-5F7C-6A4B-AA54-D9F0ECBB4672}" destId="{6BDD45F2-FB30-374C-98F4-61C971B3B9B6}" srcOrd="0" destOrd="0" parTransId="{2B19B1E2-64B4-B644-9CAD-A7830E1E2F85}" sibTransId="{DA2E938E-8CAA-1A45-87E1-CAC469CE9CAD}"/>
    <dgm:cxn modelId="{8453086A-A72D-454D-A8B9-FFA220435865}" type="presOf" srcId="{6BDD45F2-FB30-374C-98F4-61C971B3B9B6}" destId="{506702F1-0385-F941-AEB7-4F1EE91414D5}" srcOrd="0" destOrd="0" presId="urn:microsoft.com/office/officeart/2005/8/layout/hProcess4"/>
    <dgm:cxn modelId="{49B5156A-1093-FC4A-829F-80626709FDBD}" type="presOf" srcId="{65E71897-446D-DD44-9BBD-2B82CCA06492}" destId="{718BAF96-2C9B-8C4E-BD84-A0DFB91CFCD5}" srcOrd="0" destOrd="0" presId="urn:microsoft.com/office/officeart/2005/8/layout/hProcess4"/>
    <dgm:cxn modelId="{9C3D7972-E9EA-3540-BDE6-A42E2B357744}" type="presOf" srcId="{24235E32-5F7C-6A4B-AA54-D9F0ECBB4672}" destId="{0E3D46D1-D60C-D443-BD19-50592672B27C}" srcOrd="0" destOrd="0" presId="urn:microsoft.com/office/officeart/2005/8/layout/hProcess4"/>
    <dgm:cxn modelId="{E94AA972-C485-D14D-8222-B77D143FC848}" type="presOf" srcId="{4439AB17-55C8-994F-BF97-36F187886EC5}" destId="{8592F283-835B-0F4A-B2B6-6732EE35B3F2}" srcOrd="0" destOrd="0" presId="urn:microsoft.com/office/officeart/2005/8/layout/hProcess4"/>
    <dgm:cxn modelId="{212C4E58-CB55-EB40-87C1-AA3776FFBEF2}" type="presOf" srcId="{5870212B-803F-D14B-AA4A-D6D9EB794F0E}" destId="{55A8098D-EB9B-9D44-AD6F-BFBC31FB48FC}" srcOrd="0" destOrd="0" presId="urn:microsoft.com/office/officeart/2005/8/layout/hProcess4"/>
    <dgm:cxn modelId="{01C3B37B-BB3C-3D48-B61A-38674DD36E9D}" type="presOf" srcId="{5F773DB0-16A4-104A-B98C-395F92EF3CB8}" destId="{783169B6-93F9-E44C-B4DF-A56542CFC78D}" srcOrd="1" destOrd="0" presId="urn:microsoft.com/office/officeart/2005/8/layout/hProcess4"/>
    <dgm:cxn modelId="{8F7CFF7B-96F6-224E-B9F4-A142B4672023}" srcId="{65E71897-446D-DD44-9BBD-2B82CCA06492}" destId="{D474AE14-2B34-FB41-82DE-10008C182E43}" srcOrd="2" destOrd="0" parTransId="{F4C01AE6-64E0-984B-9429-1A5176DDEA29}" sibTransId="{4439AB17-55C8-994F-BF97-36F187886EC5}"/>
    <dgm:cxn modelId="{89BA6884-F9FB-5947-A28C-EA3BBFD31E61}" type="presOf" srcId="{1B8EF8C7-7B5C-8449-9E0A-C2DA6CF3C02F}" destId="{1B77DAFC-5FB2-C744-823D-7C3F8EE387C7}" srcOrd="1" destOrd="0" presId="urn:microsoft.com/office/officeart/2005/8/layout/hProcess4"/>
    <dgm:cxn modelId="{3CB0E2AD-129E-D544-B7B9-6E0794E290D2}" type="presOf" srcId="{19EA1BAE-2844-CD44-8261-488459AE0B0B}" destId="{A53D2C29-0F28-1543-85D7-8A6156C72746}" srcOrd="0" destOrd="0" presId="urn:microsoft.com/office/officeart/2005/8/layout/hProcess4"/>
    <dgm:cxn modelId="{BEDF11B7-E7B6-7445-BB49-D1DBC4EB6C70}" type="presOf" srcId="{1B8EF8C7-7B5C-8449-9E0A-C2DA6CF3C02F}" destId="{97FB78AB-4E2C-A841-A23F-04DF146BB314}" srcOrd="0" destOrd="0" presId="urn:microsoft.com/office/officeart/2005/8/layout/hProcess4"/>
    <dgm:cxn modelId="{247475BA-0A6D-524D-8166-4C937B0A7D45}" srcId="{65E71897-446D-DD44-9BBD-2B82CCA06492}" destId="{24235E32-5F7C-6A4B-AA54-D9F0ECBB4672}" srcOrd="1" destOrd="0" parTransId="{F2BFA80B-3DD1-824B-9C77-161D667568DC}" sibTransId="{768740CE-6089-834C-808A-515C1067F1A7}"/>
    <dgm:cxn modelId="{0B8813DA-EE60-A548-9CDB-7F4737F07263}" srcId="{65E71897-446D-DD44-9BBD-2B82CCA06492}" destId="{5870212B-803F-D14B-AA4A-D6D9EB794F0E}" srcOrd="3" destOrd="0" parTransId="{B300768B-6EED-D741-9C1D-8C5338A6766C}" sibTransId="{363F78AF-BD83-E249-8EFE-F291513913BE}"/>
    <dgm:cxn modelId="{2314FDDC-7118-424C-BD37-C39947159F0C}" srcId="{5870212B-803F-D14B-AA4A-D6D9EB794F0E}" destId="{1B8EF8C7-7B5C-8449-9E0A-C2DA6CF3C02F}" srcOrd="0" destOrd="0" parTransId="{FEA6D3E6-A556-474B-A0CD-7BDA0D34AFDE}" sibTransId="{79D52A4C-D5F0-1642-ADE2-E151AC99B4CA}"/>
    <dgm:cxn modelId="{99BFCCDD-0190-7249-B82F-C9B595335E87}" type="presOf" srcId="{768740CE-6089-834C-808A-515C1067F1A7}" destId="{957925FA-766D-0145-8AB5-62CECB2DFBA5}" srcOrd="0" destOrd="0" presId="urn:microsoft.com/office/officeart/2005/8/layout/hProcess4"/>
    <dgm:cxn modelId="{019B1EF4-FE1A-3B4D-A7AA-650E2CDCBB05}" srcId="{65E71897-446D-DD44-9BBD-2B82CCA06492}" destId="{3B905BEE-B464-8241-8F4C-A71BBE006FD7}" srcOrd="0" destOrd="0" parTransId="{7AB940E1-B469-3742-A834-888871BB566A}" sibTransId="{81D30511-A742-F944-9D4C-4CF1254D0F60}"/>
    <dgm:cxn modelId="{753F12FC-AF85-C44B-98C4-20E8985382A0}" srcId="{3B905BEE-B464-8241-8F4C-A71BBE006FD7}" destId="{5F773DB0-16A4-104A-B98C-395F92EF3CB8}" srcOrd="0" destOrd="0" parTransId="{640AE946-09B4-814A-B7AE-7DD6CCE803AF}" sibTransId="{D24A2DC3-746D-824E-A41C-968E694D030B}"/>
    <dgm:cxn modelId="{71E83602-3E5B-AF40-B151-EDDC34F226C3}" type="presParOf" srcId="{718BAF96-2C9B-8C4E-BD84-A0DFB91CFCD5}" destId="{8103EB36-3B49-794F-BE1B-2DD19561F5B6}" srcOrd="0" destOrd="0" presId="urn:microsoft.com/office/officeart/2005/8/layout/hProcess4"/>
    <dgm:cxn modelId="{E90DAF87-A8D0-3949-BDBA-144AC9C3F844}" type="presParOf" srcId="{718BAF96-2C9B-8C4E-BD84-A0DFB91CFCD5}" destId="{9F954C72-9A75-1B4C-80E9-C9451250AD31}" srcOrd="1" destOrd="0" presId="urn:microsoft.com/office/officeart/2005/8/layout/hProcess4"/>
    <dgm:cxn modelId="{1AFFB4DF-E24F-8C4B-9959-4CB5F654DDE4}" type="presParOf" srcId="{718BAF96-2C9B-8C4E-BD84-A0DFB91CFCD5}" destId="{1534384E-915B-3248-ACD9-47C61A7BD3CE}" srcOrd="2" destOrd="0" presId="urn:microsoft.com/office/officeart/2005/8/layout/hProcess4"/>
    <dgm:cxn modelId="{5ACC2166-ADFD-A949-BF67-A258BA7ADF22}" type="presParOf" srcId="{1534384E-915B-3248-ACD9-47C61A7BD3CE}" destId="{384F4716-11B9-274F-A2CE-326C6D84DFA1}" srcOrd="0" destOrd="0" presId="urn:microsoft.com/office/officeart/2005/8/layout/hProcess4"/>
    <dgm:cxn modelId="{381020A5-84C6-8A4F-ADD9-30601269D678}" type="presParOf" srcId="{384F4716-11B9-274F-A2CE-326C6D84DFA1}" destId="{1539E6CA-3716-E147-9820-83A90DAD5F76}" srcOrd="0" destOrd="0" presId="urn:microsoft.com/office/officeart/2005/8/layout/hProcess4"/>
    <dgm:cxn modelId="{4EDB7220-1D7F-2146-BCED-D49E9043C33D}" type="presParOf" srcId="{384F4716-11B9-274F-A2CE-326C6D84DFA1}" destId="{3F24B140-7074-7641-B33B-DE4D79B1BF10}" srcOrd="1" destOrd="0" presId="urn:microsoft.com/office/officeart/2005/8/layout/hProcess4"/>
    <dgm:cxn modelId="{EC27648F-35C6-424D-B102-BFFAEFEFDBC6}" type="presParOf" srcId="{384F4716-11B9-274F-A2CE-326C6D84DFA1}" destId="{783169B6-93F9-E44C-B4DF-A56542CFC78D}" srcOrd="2" destOrd="0" presId="urn:microsoft.com/office/officeart/2005/8/layout/hProcess4"/>
    <dgm:cxn modelId="{42445F48-1276-FF47-850C-495D2D30CB9D}" type="presParOf" srcId="{384F4716-11B9-274F-A2CE-326C6D84DFA1}" destId="{19196619-3F2A-3747-A9F5-5A819E63A715}" srcOrd="3" destOrd="0" presId="urn:microsoft.com/office/officeart/2005/8/layout/hProcess4"/>
    <dgm:cxn modelId="{D0705DDB-F725-D941-8758-6B5EB700E33A}" type="presParOf" srcId="{384F4716-11B9-274F-A2CE-326C6D84DFA1}" destId="{89BC013C-87C4-CC4D-B2AA-923C487F3878}" srcOrd="4" destOrd="0" presId="urn:microsoft.com/office/officeart/2005/8/layout/hProcess4"/>
    <dgm:cxn modelId="{4B74C683-E192-DA4E-95F2-BA133C9406C5}" type="presParOf" srcId="{1534384E-915B-3248-ACD9-47C61A7BD3CE}" destId="{5F4BC2EE-DBEC-2049-AA33-4DC8E3310C63}" srcOrd="1" destOrd="0" presId="urn:microsoft.com/office/officeart/2005/8/layout/hProcess4"/>
    <dgm:cxn modelId="{3D28A99A-D311-844C-BCA6-DD1DBB77D03A}" type="presParOf" srcId="{1534384E-915B-3248-ACD9-47C61A7BD3CE}" destId="{734C65F9-0B91-3140-9DAE-F1A744891238}" srcOrd="2" destOrd="0" presId="urn:microsoft.com/office/officeart/2005/8/layout/hProcess4"/>
    <dgm:cxn modelId="{A069BE98-39DC-BF4B-9A01-40437C30EB59}" type="presParOf" srcId="{734C65F9-0B91-3140-9DAE-F1A744891238}" destId="{B8426827-693E-C14F-9014-7632ECE54A2F}" srcOrd="0" destOrd="0" presId="urn:microsoft.com/office/officeart/2005/8/layout/hProcess4"/>
    <dgm:cxn modelId="{B1C19A4C-C24F-0848-9AE5-D43647CDB82A}" type="presParOf" srcId="{734C65F9-0B91-3140-9DAE-F1A744891238}" destId="{506702F1-0385-F941-AEB7-4F1EE91414D5}" srcOrd="1" destOrd="0" presId="urn:microsoft.com/office/officeart/2005/8/layout/hProcess4"/>
    <dgm:cxn modelId="{9E217DB4-1B22-CD4A-B1C4-A177F51305D4}" type="presParOf" srcId="{734C65F9-0B91-3140-9DAE-F1A744891238}" destId="{6A9EA6B4-B62B-3F4A-85DC-2C0A3B323080}" srcOrd="2" destOrd="0" presId="urn:microsoft.com/office/officeart/2005/8/layout/hProcess4"/>
    <dgm:cxn modelId="{6AF4C9A7-CE3B-A643-A51D-733142ED65F0}" type="presParOf" srcId="{734C65F9-0B91-3140-9DAE-F1A744891238}" destId="{0E3D46D1-D60C-D443-BD19-50592672B27C}" srcOrd="3" destOrd="0" presId="urn:microsoft.com/office/officeart/2005/8/layout/hProcess4"/>
    <dgm:cxn modelId="{AEEA20AF-D84F-0149-8740-F9F0DA2F5D8E}" type="presParOf" srcId="{734C65F9-0B91-3140-9DAE-F1A744891238}" destId="{4DA4D1F1-8542-E749-AC32-742B70A35AC2}" srcOrd="4" destOrd="0" presId="urn:microsoft.com/office/officeart/2005/8/layout/hProcess4"/>
    <dgm:cxn modelId="{85CFC12E-FBA6-F04E-9E13-F4C41327086C}" type="presParOf" srcId="{1534384E-915B-3248-ACD9-47C61A7BD3CE}" destId="{957925FA-766D-0145-8AB5-62CECB2DFBA5}" srcOrd="3" destOrd="0" presId="urn:microsoft.com/office/officeart/2005/8/layout/hProcess4"/>
    <dgm:cxn modelId="{0A5F190E-6114-BF46-AD82-A4D8D9B61A96}" type="presParOf" srcId="{1534384E-915B-3248-ACD9-47C61A7BD3CE}" destId="{F51DB611-B9C3-4E4B-8DA6-9F420482C4A4}" srcOrd="4" destOrd="0" presId="urn:microsoft.com/office/officeart/2005/8/layout/hProcess4"/>
    <dgm:cxn modelId="{0FC9DC5A-0A3B-EE4F-BBEA-B72449C512FA}" type="presParOf" srcId="{F51DB611-B9C3-4E4B-8DA6-9F420482C4A4}" destId="{8FFBE896-78F3-6949-962C-39FBFF7E3E6C}" srcOrd="0" destOrd="0" presId="urn:microsoft.com/office/officeart/2005/8/layout/hProcess4"/>
    <dgm:cxn modelId="{B50435D5-AEB1-5A4D-A8A6-03E48E2598CA}" type="presParOf" srcId="{F51DB611-B9C3-4E4B-8DA6-9F420482C4A4}" destId="{A53D2C29-0F28-1543-85D7-8A6156C72746}" srcOrd="1" destOrd="0" presId="urn:microsoft.com/office/officeart/2005/8/layout/hProcess4"/>
    <dgm:cxn modelId="{07A1A886-437C-C844-B434-746A48850886}" type="presParOf" srcId="{F51DB611-B9C3-4E4B-8DA6-9F420482C4A4}" destId="{CE1965B6-7E2F-6044-8AEE-E445B038C524}" srcOrd="2" destOrd="0" presId="urn:microsoft.com/office/officeart/2005/8/layout/hProcess4"/>
    <dgm:cxn modelId="{E34CC5D2-0FB4-4F4F-8E3F-831278255EEF}" type="presParOf" srcId="{F51DB611-B9C3-4E4B-8DA6-9F420482C4A4}" destId="{2867488C-F089-234A-8E91-17D9E277A6EA}" srcOrd="3" destOrd="0" presId="urn:microsoft.com/office/officeart/2005/8/layout/hProcess4"/>
    <dgm:cxn modelId="{4C19C10A-3CBA-FD4D-A07E-8F2CA6A06293}" type="presParOf" srcId="{F51DB611-B9C3-4E4B-8DA6-9F420482C4A4}" destId="{BB60F8B0-EE36-4D4C-988C-7ACC8534F2FB}" srcOrd="4" destOrd="0" presId="urn:microsoft.com/office/officeart/2005/8/layout/hProcess4"/>
    <dgm:cxn modelId="{C71EE819-19ED-F747-A581-0B4A4C39320B}" type="presParOf" srcId="{1534384E-915B-3248-ACD9-47C61A7BD3CE}" destId="{8592F283-835B-0F4A-B2B6-6732EE35B3F2}" srcOrd="5" destOrd="0" presId="urn:microsoft.com/office/officeart/2005/8/layout/hProcess4"/>
    <dgm:cxn modelId="{843515CD-C6C3-9440-9652-F3064737CFDB}" type="presParOf" srcId="{1534384E-915B-3248-ACD9-47C61A7BD3CE}" destId="{5805D2D7-F7F4-7D40-A18D-EC1869912C4B}" srcOrd="6" destOrd="0" presId="urn:microsoft.com/office/officeart/2005/8/layout/hProcess4"/>
    <dgm:cxn modelId="{BD56052F-40A8-B347-A189-59CEA2FD0981}" type="presParOf" srcId="{5805D2D7-F7F4-7D40-A18D-EC1869912C4B}" destId="{16F70CD9-FE22-8A48-B028-0D7AE16CE5B9}" srcOrd="0" destOrd="0" presId="urn:microsoft.com/office/officeart/2005/8/layout/hProcess4"/>
    <dgm:cxn modelId="{72F14EB2-73F7-9747-964D-55AF327C2DB9}" type="presParOf" srcId="{5805D2D7-F7F4-7D40-A18D-EC1869912C4B}" destId="{97FB78AB-4E2C-A841-A23F-04DF146BB314}" srcOrd="1" destOrd="0" presId="urn:microsoft.com/office/officeart/2005/8/layout/hProcess4"/>
    <dgm:cxn modelId="{1736EFC0-ADF4-F945-9EB1-6D1820BBAF48}" type="presParOf" srcId="{5805D2D7-F7F4-7D40-A18D-EC1869912C4B}" destId="{1B77DAFC-5FB2-C744-823D-7C3F8EE387C7}" srcOrd="2" destOrd="0" presId="urn:microsoft.com/office/officeart/2005/8/layout/hProcess4"/>
    <dgm:cxn modelId="{B61247F1-255B-7F4F-84D8-C9336EB7E563}" type="presParOf" srcId="{5805D2D7-F7F4-7D40-A18D-EC1869912C4B}" destId="{55A8098D-EB9B-9D44-AD6F-BFBC31FB48FC}" srcOrd="3" destOrd="0" presId="urn:microsoft.com/office/officeart/2005/8/layout/hProcess4"/>
    <dgm:cxn modelId="{12C38452-A7E3-3847-BBF1-63AF09CF1C3A}" type="presParOf" srcId="{5805D2D7-F7F4-7D40-A18D-EC1869912C4B}" destId="{5EDD2FCD-A786-2347-B986-8EAC81CEC4C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BC9443-99B2-BB40-8554-D0310215A0CE}" type="doc">
      <dgm:prSet loTypeId="urn:microsoft.com/office/officeart/2005/8/layout/hierarchy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427F86-AF31-6147-8800-4A5BC1F34460}">
      <dgm:prSet phldrT="[Text]"/>
      <dgm:spPr/>
      <dgm:t>
        <a:bodyPr/>
        <a:lstStyle/>
        <a:p>
          <a:r>
            <a:rPr lang="en-US" dirty="0"/>
            <a:t>Summary Statistics</a:t>
          </a:r>
        </a:p>
      </dgm:t>
    </dgm:pt>
    <dgm:pt modelId="{B317A1C1-DF53-1246-B421-A85269A03C9F}" type="parTrans" cxnId="{446D4B63-4230-7040-9C38-5286A06D3C91}">
      <dgm:prSet/>
      <dgm:spPr/>
      <dgm:t>
        <a:bodyPr/>
        <a:lstStyle/>
        <a:p>
          <a:endParaRPr lang="en-US"/>
        </a:p>
      </dgm:t>
    </dgm:pt>
    <dgm:pt modelId="{52CFD135-C2DA-2243-A09A-761CE18C52A1}" type="sibTrans" cxnId="{446D4B63-4230-7040-9C38-5286A06D3C91}">
      <dgm:prSet/>
      <dgm:spPr/>
      <dgm:t>
        <a:bodyPr/>
        <a:lstStyle/>
        <a:p>
          <a:endParaRPr lang="en-US"/>
        </a:p>
      </dgm:t>
    </dgm:pt>
    <dgm:pt modelId="{6FB10109-28CB-314D-84A2-4C7EC82C82CE}">
      <dgm:prSet phldrT="[Text]"/>
      <dgm:spPr/>
      <dgm:t>
        <a:bodyPr/>
        <a:lstStyle/>
        <a:p>
          <a:pPr>
            <a:buNone/>
          </a:pPr>
          <a:r>
            <a:rPr lang="en-US" dirty="0"/>
            <a:t>Central Tendency </a:t>
          </a:r>
        </a:p>
      </dgm:t>
    </dgm:pt>
    <dgm:pt modelId="{92525402-4264-DF48-8424-8FF5FC6F9906}" type="parTrans" cxnId="{80FCEE6D-830C-2242-9C83-69ED2EF32403}">
      <dgm:prSet/>
      <dgm:spPr/>
      <dgm:t>
        <a:bodyPr/>
        <a:lstStyle/>
        <a:p>
          <a:endParaRPr lang="en-US"/>
        </a:p>
      </dgm:t>
    </dgm:pt>
    <dgm:pt modelId="{C83A83DF-AF76-1D43-8B55-CACCB0DE36DE}" type="sibTrans" cxnId="{80FCEE6D-830C-2242-9C83-69ED2EF32403}">
      <dgm:prSet/>
      <dgm:spPr/>
      <dgm:t>
        <a:bodyPr/>
        <a:lstStyle/>
        <a:p>
          <a:endParaRPr lang="en-US"/>
        </a:p>
      </dgm:t>
    </dgm:pt>
    <dgm:pt modelId="{5F32892B-444D-9648-A125-80A2347065CE}">
      <dgm:prSet phldrT="[Text]"/>
      <dgm:spPr/>
      <dgm:t>
        <a:bodyPr/>
        <a:lstStyle/>
        <a:p>
          <a:r>
            <a:rPr lang="en-US" dirty="0"/>
            <a:t>Mean</a:t>
          </a:r>
        </a:p>
      </dgm:t>
    </dgm:pt>
    <dgm:pt modelId="{53414396-02EE-C243-987B-38FD6EB70C86}" type="parTrans" cxnId="{04FAD8F8-EFE7-7346-A9AE-124C67A0E1A0}">
      <dgm:prSet/>
      <dgm:spPr/>
      <dgm:t>
        <a:bodyPr/>
        <a:lstStyle/>
        <a:p>
          <a:endParaRPr lang="en-US"/>
        </a:p>
      </dgm:t>
    </dgm:pt>
    <dgm:pt modelId="{87131643-96A7-D343-B0D8-8AE14D2235CB}" type="sibTrans" cxnId="{04FAD8F8-EFE7-7346-A9AE-124C67A0E1A0}">
      <dgm:prSet/>
      <dgm:spPr/>
      <dgm:t>
        <a:bodyPr/>
        <a:lstStyle/>
        <a:p>
          <a:endParaRPr lang="en-US"/>
        </a:p>
      </dgm:t>
    </dgm:pt>
    <dgm:pt modelId="{F1317889-6BE8-7948-8D20-65FA8E988FA4}">
      <dgm:prSet phldrT="[Text]"/>
      <dgm:spPr/>
      <dgm:t>
        <a:bodyPr/>
        <a:lstStyle/>
        <a:p>
          <a:r>
            <a:rPr lang="en-US" dirty="0"/>
            <a:t>Median</a:t>
          </a:r>
        </a:p>
      </dgm:t>
    </dgm:pt>
    <dgm:pt modelId="{D9C533DD-D7DF-494C-B7AE-B0DE6F23C353}" type="parTrans" cxnId="{F2AB3F71-4883-A742-94B4-43A9C0756894}">
      <dgm:prSet/>
      <dgm:spPr/>
      <dgm:t>
        <a:bodyPr/>
        <a:lstStyle/>
        <a:p>
          <a:endParaRPr lang="en-US"/>
        </a:p>
      </dgm:t>
    </dgm:pt>
    <dgm:pt modelId="{2C1D5FAE-2668-F94E-A6F3-E9247F31DCC6}" type="sibTrans" cxnId="{F2AB3F71-4883-A742-94B4-43A9C0756894}">
      <dgm:prSet/>
      <dgm:spPr/>
      <dgm:t>
        <a:bodyPr/>
        <a:lstStyle/>
        <a:p>
          <a:endParaRPr lang="en-US"/>
        </a:p>
      </dgm:t>
    </dgm:pt>
    <dgm:pt modelId="{28996E74-5655-AC4D-963C-D42D4E1A659A}">
      <dgm:prSet phldrT="[Text]"/>
      <dgm:spPr/>
      <dgm:t>
        <a:bodyPr/>
        <a:lstStyle/>
        <a:p>
          <a:pPr>
            <a:buNone/>
          </a:pPr>
          <a:r>
            <a:rPr lang="en-US" dirty="0"/>
            <a:t>Dispersion / Variability </a:t>
          </a:r>
        </a:p>
      </dgm:t>
    </dgm:pt>
    <dgm:pt modelId="{7E339AEC-70E6-6747-9990-76443EBF179A}" type="parTrans" cxnId="{790993F5-85ED-E94B-9D08-27E86DC8668E}">
      <dgm:prSet/>
      <dgm:spPr/>
      <dgm:t>
        <a:bodyPr/>
        <a:lstStyle/>
        <a:p>
          <a:endParaRPr lang="en-US"/>
        </a:p>
      </dgm:t>
    </dgm:pt>
    <dgm:pt modelId="{88B9300D-A4F1-D74D-9F13-FB96A5E3FA20}" type="sibTrans" cxnId="{790993F5-85ED-E94B-9D08-27E86DC8668E}">
      <dgm:prSet/>
      <dgm:spPr/>
      <dgm:t>
        <a:bodyPr/>
        <a:lstStyle/>
        <a:p>
          <a:endParaRPr lang="en-US"/>
        </a:p>
      </dgm:t>
    </dgm:pt>
    <dgm:pt modelId="{90104314-C49B-6343-98EC-0552064DA968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F8AF8FAB-D877-FA4E-B3C3-CEFCCA93116C}" type="parTrans" cxnId="{24FC62BB-FB9B-3A4B-B42A-ED342FFEAD02}">
      <dgm:prSet/>
      <dgm:spPr/>
      <dgm:t>
        <a:bodyPr/>
        <a:lstStyle/>
        <a:p>
          <a:endParaRPr lang="en-US"/>
        </a:p>
      </dgm:t>
    </dgm:pt>
    <dgm:pt modelId="{F26BC757-4957-1A44-89A3-6786067066B4}" type="sibTrans" cxnId="{24FC62BB-FB9B-3A4B-B42A-ED342FFEAD02}">
      <dgm:prSet/>
      <dgm:spPr/>
      <dgm:t>
        <a:bodyPr/>
        <a:lstStyle/>
        <a:p>
          <a:endParaRPr lang="en-US"/>
        </a:p>
      </dgm:t>
    </dgm:pt>
    <dgm:pt modelId="{D798765A-3641-2E4D-B162-57E44CF564B2}">
      <dgm:prSet phldrT="[Text]"/>
      <dgm:spPr/>
      <dgm:t>
        <a:bodyPr/>
        <a:lstStyle/>
        <a:p>
          <a:r>
            <a:rPr lang="en-US" dirty="0"/>
            <a:t>Mode</a:t>
          </a:r>
        </a:p>
      </dgm:t>
    </dgm:pt>
    <dgm:pt modelId="{EFF83B11-74A7-3D46-9479-4241127DC463}" type="parTrans" cxnId="{42BBCF84-B804-3640-966E-F4896E5D25C9}">
      <dgm:prSet/>
      <dgm:spPr/>
      <dgm:t>
        <a:bodyPr/>
        <a:lstStyle/>
        <a:p>
          <a:endParaRPr lang="en-US"/>
        </a:p>
      </dgm:t>
    </dgm:pt>
    <dgm:pt modelId="{4D07ECCB-E595-BC4A-BE60-F4ED9AE26712}" type="sibTrans" cxnId="{42BBCF84-B804-3640-966E-F4896E5D25C9}">
      <dgm:prSet/>
      <dgm:spPr/>
      <dgm:t>
        <a:bodyPr/>
        <a:lstStyle/>
        <a:p>
          <a:endParaRPr lang="en-US"/>
        </a:p>
      </dgm:t>
    </dgm:pt>
    <dgm:pt modelId="{DA939D19-B282-0648-B01D-93256640C461}">
      <dgm:prSet phldrT="[Text]"/>
      <dgm:spPr/>
      <dgm:t>
        <a:bodyPr/>
        <a:lstStyle/>
        <a:p>
          <a:r>
            <a:rPr lang="en-US" dirty="0"/>
            <a:t>Standard Deviation</a:t>
          </a:r>
        </a:p>
      </dgm:t>
    </dgm:pt>
    <dgm:pt modelId="{FF2E342B-BFB5-844A-AF21-1D98FD83000A}" type="parTrans" cxnId="{47484944-A80C-5445-8FEA-7AF5A34906E0}">
      <dgm:prSet/>
      <dgm:spPr/>
      <dgm:t>
        <a:bodyPr/>
        <a:lstStyle/>
        <a:p>
          <a:endParaRPr lang="en-US"/>
        </a:p>
      </dgm:t>
    </dgm:pt>
    <dgm:pt modelId="{941461FB-45BE-274E-AAD2-6BE8A7EDF83A}" type="sibTrans" cxnId="{47484944-A80C-5445-8FEA-7AF5A34906E0}">
      <dgm:prSet/>
      <dgm:spPr/>
      <dgm:t>
        <a:bodyPr/>
        <a:lstStyle/>
        <a:p>
          <a:endParaRPr lang="en-US"/>
        </a:p>
      </dgm:t>
    </dgm:pt>
    <dgm:pt modelId="{2BF80573-36B6-DC44-A4F9-6BDC10A48396}" type="pres">
      <dgm:prSet presAssocID="{00BC9443-99B2-BB40-8554-D0310215A0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25AEDD-9B86-124E-B53B-D3B17E662156}" type="pres">
      <dgm:prSet presAssocID="{0B427F86-AF31-6147-8800-4A5BC1F34460}" presName="hierRoot1" presStyleCnt="0"/>
      <dgm:spPr/>
    </dgm:pt>
    <dgm:pt modelId="{04717D83-7078-424C-9F31-438C863CD5A7}" type="pres">
      <dgm:prSet presAssocID="{0B427F86-AF31-6147-8800-4A5BC1F34460}" presName="composite" presStyleCnt="0"/>
      <dgm:spPr/>
    </dgm:pt>
    <dgm:pt modelId="{C3B539AA-EE95-DF46-805E-FF46EB0CADA0}" type="pres">
      <dgm:prSet presAssocID="{0B427F86-AF31-6147-8800-4A5BC1F34460}" presName="background" presStyleLbl="node0" presStyleIdx="0" presStyleCnt="1"/>
      <dgm:spPr/>
    </dgm:pt>
    <dgm:pt modelId="{9DFF1FA2-C88E-BF44-8D5E-82A7AE5E9798}" type="pres">
      <dgm:prSet presAssocID="{0B427F86-AF31-6147-8800-4A5BC1F34460}" presName="text" presStyleLbl="fgAcc0" presStyleIdx="0" presStyleCnt="1">
        <dgm:presLayoutVars>
          <dgm:chPref val="3"/>
        </dgm:presLayoutVars>
      </dgm:prSet>
      <dgm:spPr/>
    </dgm:pt>
    <dgm:pt modelId="{7EC087D3-6B09-5E4F-8935-1F33FE4B5089}" type="pres">
      <dgm:prSet presAssocID="{0B427F86-AF31-6147-8800-4A5BC1F34460}" presName="hierChild2" presStyleCnt="0"/>
      <dgm:spPr/>
    </dgm:pt>
    <dgm:pt modelId="{D4B405AB-D469-284C-9473-AB9D5FE5E688}" type="pres">
      <dgm:prSet presAssocID="{92525402-4264-DF48-8424-8FF5FC6F9906}" presName="Name10" presStyleLbl="parChTrans1D2" presStyleIdx="0" presStyleCnt="2"/>
      <dgm:spPr/>
    </dgm:pt>
    <dgm:pt modelId="{5E620C4A-E6A5-B840-82FC-21D0C3FBE854}" type="pres">
      <dgm:prSet presAssocID="{6FB10109-28CB-314D-84A2-4C7EC82C82CE}" presName="hierRoot2" presStyleCnt="0"/>
      <dgm:spPr/>
    </dgm:pt>
    <dgm:pt modelId="{A1955627-BD0E-BA44-B7BF-138D6616F799}" type="pres">
      <dgm:prSet presAssocID="{6FB10109-28CB-314D-84A2-4C7EC82C82CE}" presName="composite2" presStyleCnt="0"/>
      <dgm:spPr/>
    </dgm:pt>
    <dgm:pt modelId="{2658DEB2-1451-1C41-84F9-498F4F135092}" type="pres">
      <dgm:prSet presAssocID="{6FB10109-28CB-314D-84A2-4C7EC82C82CE}" presName="background2" presStyleLbl="node2" presStyleIdx="0" presStyleCnt="2"/>
      <dgm:spPr/>
    </dgm:pt>
    <dgm:pt modelId="{CDE6AFD8-C93A-464D-9E0D-D8748FB6A83F}" type="pres">
      <dgm:prSet presAssocID="{6FB10109-28CB-314D-84A2-4C7EC82C82CE}" presName="text2" presStyleLbl="fgAcc2" presStyleIdx="0" presStyleCnt="2">
        <dgm:presLayoutVars>
          <dgm:chPref val="3"/>
        </dgm:presLayoutVars>
      </dgm:prSet>
      <dgm:spPr/>
    </dgm:pt>
    <dgm:pt modelId="{9AAB2656-5AF3-0942-AA19-98A362BB13F8}" type="pres">
      <dgm:prSet presAssocID="{6FB10109-28CB-314D-84A2-4C7EC82C82CE}" presName="hierChild3" presStyleCnt="0"/>
      <dgm:spPr/>
    </dgm:pt>
    <dgm:pt modelId="{998A3D1C-0ECE-9645-BDE0-4645B00E610F}" type="pres">
      <dgm:prSet presAssocID="{53414396-02EE-C243-987B-38FD6EB70C86}" presName="Name17" presStyleLbl="parChTrans1D3" presStyleIdx="0" presStyleCnt="5"/>
      <dgm:spPr/>
    </dgm:pt>
    <dgm:pt modelId="{90045FAB-5555-2C4C-9090-5DA918DD502B}" type="pres">
      <dgm:prSet presAssocID="{5F32892B-444D-9648-A125-80A2347065CE}" presName="hierRoot3" presStyleCnt="0"/>
      <dgm:spPr/>
    </dgm:pt>
    <dgm:pt modelId="{53DAA920-5CA3-B749-8668-29B9B55B2E49}" type="pres">
      <dgm:prSet presAssocID="{5F32892B-444D-9648-A125-80A2347065CE}" presName="composite3" presStyleCnt="0"/>
      <dgm:spPr/>
    </dgm:pt>
    <dgm:pt modelId="{78040002-B55B-D340-A9EB-2AE1564E566D}" type="pres">
      <dgm:prSet presAssocID="{5F32892B-444D-9648-A125-80A2347065CE}" presName="background3" presStyleLbl="node3" presStyleIdx="0" presStyleCnt="5"/>
      <dgm:spPr/>
    </dgm:pt>
    <dgm:pt modelId="{4CABEAEF-E4BD-3D48-860C-CBFBA699220F}" type="pres">
      <dgm:prSet presAssocID="{5F32892B-444D-9648-A125-80A2347065CE}" presName="text3" presStyleLbl="fgAcc3" presStyleIdx="0" presStyleCnt="5">
        <dgm:presLayoutVars>
          <dgm:chPref val="3"/>
        </dgm:presLayoutVars>
      </dgm:prSet>
      <dgm:spPr/>
    </dgm:pt>
    <dgm:pt modelId="{FA6F7CDD-4D16-564D-BA86-9AB4E32FD520}" type="pres">
      <dgm:prSet presAssocID="{5F32892B-444D-9648-A125-80A2347065CE}" presName="hierChild4" presStyleCnt="0"/>
      <dgm:spPr/>
    </dgm:pt>
    <dgm:pt modelId="{6C750A8A-3D78-5241-ADCB-DEB877E71119}" type="pres">
      <dgm:prSet presAssocID="{D9C533DD-D7DF-494C-B7AE-B0DE6F23C353}" presName="Name17" presStyleLbl="parChTrans1D3" presStyleIdx="1" presStyleCnt="5"/>
      <dgm:spPr/>
    </dgm:pt>
    <dgm:pt modelId="{401634AE-51ED-714C-A10A-798F113F58F2}" type="pres">
      <dgm:prSet presAssocID="{F1317889-6BE8-7948-8D20-65FA8E988FA4}" presName="hierRoot3" presStyleCnt="0"/>
      <dgm:spPr/>
    </dgm:pt>
    <dgm:pt modelId="{6AE2A24C-4E28-E948-9FDC-CE4DBBC74EE3}" type="pres">
      <dgm:prSet presAssocID="{F1317889-6BE8-7948-8D20-65FA8E988FA4}" presName="composite3" presStyleCnt="0"/>
      <dgm:spPr/>
    </dgm:pt>
    <dgm:pt modelId="{D199E20A-F8BF-9144-94CA-18940CD7DEB6}" type="pres">
      <dgm:prSet presAssocID="{F1317889-6BE8-7948-8D20-65FA8E988FA4}" presName="background3" presStyleLbl="node3" presStyleIdx="1" presStyleCnt="5"/>
      <dgm:spPr/>
    </dgm:pt>
    <dgm:pt modelId="{5E03EBD9-E248-1043-8F81-B67931AF3ABE}" type="pres">
      <dgm:prSet presAssocID="{F1317889-6BE8-7948-8D20-65FA8E988FA4}" presName="text3" presStyleLbl="fgAcc3" presStyleIdx="1" presStyleCnt="5">
        <dgm:presLayoutVars>
          <dgm:chPref val="3"/>
        </dgm:presLayoutVars>
      </dgm:prSet>
      <dgm:spPr/>
    </dgm:pt>
    <dgm:pt modelId="{1A42930B-F235-2442-8463-459BB1803678}" type="pres">
      <dgm:prSet presAssocID="{F1317889-6BE8-7948-8D20-65FA8E988FA4}" presName="hierChild4" presStyleCnt="0"/>
      <dgm:spPr/>
    </dgm:pt>
    <dgm:pt modelId="{28E7277E-7152-4145-9BB1-EDC6D5F2A1CC}" type="pres">
      <dgm:prSet presAssocID="{EFF83B11-74A7-3D46-9479-4241127DC463}" presName="Name17" presStyleLbl="parChTrans1D3" presStyleIdx="2" presStyleCnt="5"/>
      <dgm:spPr/>
    </dgm:pt>
    <dgm:pt modelId="{2CEE7301-472D-7B42-B8D3-CEF3D1570E0F}" type="pres">
      <dgm:prSet presAssocID="{D798765A-3641-2E4D-B162-57E44CF564B2}" presName="hierRoot3" presStyleCnt="0"/>
      <dgm:spPr/>
    </dgm:pt>
    <dgm:pt modelId="{CA731B0C-AF2F-EB4C-A022-85E858B204A1}" type="pres">
      <dgm:prSet presAssocID="{D798765A-3641-2E4D-B162-57E44CF564B2}" presName="composite3" presStyleCnt="0"/>
      <dgm:spPr/>
    </dgm:pt>
    <dgm:pt modelId="{A2A6867B-A5EB-DD48-B03C-8B97B84B6091}" type="pres">
      <dgm:prSet presAssocID="{D798765A-3641-2E4D-B162-57E44CF564B2}" presName="background3" presStyleLbl="node3" presStyleIdx="2" presStyleCnt="5"/>
      <dgm:spPr/>
    </dgm:pt>
    <dgm:pt modelId="{93550C62-798C-674A-BC8D-00B6258A87A4}" type="pres">
      <dgm:prSet presAssocID="{D798765A-3641-2E4D-B162-57E44CF564B2}" presName="text3" presStyleLbl="fgAcc3" presStyleIdx="2" presStyleCnt="5">
        <dgm:presLayoutVars>
          <dgm:chPref val="3"/>
        </dgm:presLayoutVars>
      </dgm:prSet>
      <dgm:spPr/>
    </dgm:pt>
    <dgm:pt modelId="{9BA6ECE0-B4BA-3047-A876-C147F584F292}" type="pres">
      <dgm:prSet presAssocID="{D798765A-3641-2E4D-B162-57E44CF564B2}" presName="hierChild4" presStyleCnt="0"/>
      <dgm:spPr/>
    </dgm:pt>
    <dgm:pt modelId="{5701B02C-DA07-F542-9769-A7EF98FFC126}" type="pres">
      <dgm:prSet presAssocID="{7E339AEC-70E6-6747-9990-76443EBF179A}" presName="Name10" presStyleLbl="parChTrans1D2" presStyleIdx="1" presStyleCnt="2"/>
      <dgm:spPr/>
    </dgm:pt>
    <dgm:pt modelId="{BDA3712F-888B-E740-AD97-5A25582B3457}" type="pres">
      <dgm:prSet presAssocID="{28996E74-5655-AC4D-963C-D42D4E1A659A}" presName="hierRoot2" presStyleCnt="0"/>
      <dgm:spPr/>
    </dgm:pt>
    <dgm:pt modelId="{5CEF540A-7DDC-BF40-9C8F-EEB1AC9BF261}" type="pres">
      <dgm:prSet presAssocID="{28996E74-5655-AC4D-963C-D42D4E1A659A}" presName="composite2" presStyleCnt="0"/>
      <dgm:spPr/>
    </dgm:pt>
    <dgm:pt modelId="{E4BE1F15-E905-CB4D-BFD9-BECC63D9DA14}" type="pres">
      <dgm:prSet presAssocID="{28996E74-5655-AC4D-963C-D42D4E1A659A}" presName="background2" presStyleLbl="node2" presStyleIdx="1" presStyleCnt="2"/>
      <dgm:spPr/>
    </dgm:pt>
    <dgm:pt modelId="{3B82D116-CF19-5C45-900F-D1C21FAB0A77}" type="pres">
      <dgm:prSet presAssocID="{28996E74-5655-AC4D-963C-D42D4E1A659A}" presName="text2" presStyleLbl="fgAcc2" presStyleIdx="1" presStyleCnt="2">
        <dgm:presLayoutVars>
          <dgm:chPref val="3"/>
        </dgm:presLayoutVars>
      </dgm:prSet>
      <dgm:spPr/>
    </dgm:pt>
    <dgm:pt modelId="{A4B9F81B-D994-2443-8735-92AC0D029E3E}" type="pres">
      <dgm:prSet presAssocID="{28996E74-5655-AC4D-963C-D42D4E1A659A}" presName="hierChild3" presStyleCnt="0"/>
      <dgm:spPr/>
    </dgm:pt>
    <dgm:pt modelId="{CA633913-C41C-7849-AB80-38FD57B11F06}" type="pres">
      <dgm:prSet presAssocID="{F8AF8FAB-D877-FA4E-B3C3-CEFCCA93116C}" presName="Name17" presStyleLbl="parChTrans1D3" presStyleIdx="3" presStyleCnt="5"/>
      <dgm:spPr/>
    </dgm:pt>
    <dgm:pt modelId="{B864EE91-C760-7340-ACF8-129381B05808}" type="pres">
      <dgm:prSet presAssocID="{90104314-C49B-6343-98EC-0552064DA968}" presName="hierRoot3" presStyleCnt="0"/>
      <dgm:spPr/>
    </dgm:pt>
    <dgm:pt modelId="{58F58F00-B495-4042-AB4C-A9E1F3764FED}" type="pres">
      <dgm:prSet presAssocID="{90104314-C49B-6343-98EC-0552064DA968}" presName="composite3" presStyleCnt="0"/>
      <dgm:spPr/>
    </dgm:pt>
    <dgm:pt modelId="{BFAB607F-FD38-1A49-A239-06785EB42EA5}" type="pres">
      <dgm:prSet presAssocID="{90104314-C49B-6343-98EC-0552064DA968}" presName="background3" presStyleLbl="node3" presStyleIdx="3" presStyleCnt="5"/>
      <dgm:spPr/>
    </dgm:pt>
    <dgm:pt modelId="{A93AB391-1E49-364C-96D7-4960DC71D443}" type="pres">
      <dgm:prSet presAssocID="{90104314-C49B-6343-98EC-0552064DA968}" presName="text3" presStyleLbl="fgAcc3" presStyleIdx="3" presStyleCnt="5">
        <dgm:presLayoutVars>
          <dgm:chPref val="3"/>
        </dgm:presLayoutVars>
      </dgm:prSet>
      <dgm:spPr/>
    </dgm:pt>
    <dgm:pt modelId="{F1D15651-6999-8842-AD50-BA5F2213B53A}" type="pres">
      <dgm:prSet presAssocID="{90104314-C49B-6343-98EC-0552064DA968}" presName="hierChild4" presStyleCnt="0"/>
      <dgm:spPr/>
    </dgm:pt>
    <dgm:pt modelId="{9C11681C-D490-B44E-A694-411741C55EA6}" type="pres">
      <dgm:prSet presAssocID="{FF2E342B-BFB5-844A-AF21-1D98FD83000A}" presName="Name17" presStyleLbl="parChTrans1D3" presStyleIdx="4" presStyleCnt="5"/>
      <dgm:spPr/>
    </dgm:pt>
    <dgm:pt modelId="{705CB14F-0F4C-5948-953B-CF0918DF85F3}" type="pres">
      <dgm:prSet presAssocID="{DA939D19-B282-0648-B01D-93256640C461}" presName="hierRoot3" presStyleCnt="0"/>
      <dgm:spPr/>
    </dgm:pt>
    <dgm:pt modelId="{C1F5DC3C-5175-ED46-A7E9-779074C1AE84}" type="pres">
      <dgm:prSet presAssocID="{DA939D19-B282-0648-B01D-93256640C461}" presName="composite3" presStyleCnt="0"/>
      <dgm:spPr/>
    </dgm:pt>
    <dgm:pt modelId="{B168E1B9-DF3B-A94A-87A1-ABB853C31247}" type="pres">
      <dgm:prSet presAssocID="{DA939D19-B282-0648-B01D-93256640C461}" presName="background3" presStyleLbl="node3" presStyleIdx="4" presStyleCnt="5"/>
      <dgm:spPr/>
    </dgm:pt>
    <dgm:pt modelId="{FFC973F6-3C0D-E042-880C-3408A4D8BDBE}" type="pres">
      <dgm:prSet presAssocID="{DA939D19-B282-0648-B01D-93256640C461}" presName="text3" presStyleLbl="fgAcc3" presStyleIdx="4" presStyleCnt="5">
        <dgm:presLayoutVars>
          <dgm:chPref val="3"/>
        </dgm:presLayoutVars>
      </dgm:prSet>
      <dgm:spPr/>
    </dgm:pt>
    <dgm:pt modelId="{B1F51F0D-F992-9547-963A-0CB287708E1C}" type="pres">
      <dgm:prSet presAssocID="{DA939D19-B282-0648-B01D-93256640C461}" presName="hierChild4" presStyleCnt="0"/>
      <dgm:spPr/>
    </dgm:pt>
  </dgm:ptLst>
  <dgm:cxnLst>
    <dgm:cxn modelId="{67ACB90B-E91A-6642-BB65-D4AE40B76FB1}" type="presOf" srcId="{D798765A-3641-2E4D-B162-57E44CF564B2}" destId="{93550C62-798C-674A-BC8D-00B6258A87A4}" srcOrd="0" destOrd="0" presId="urn:microsoft.com/office/officeart/2005/8/layout/hierarchy1"/>
    <dgm:cxn modelId="{C94E560D-35AF-FB45-BFAA-8520B91DC71A}" type="presOf" srcId="{F1317889-6BE8-7948-8D20-65FA8E988FA4}" destId="{5E03EBD9-E248-1043-8F81-B67931AF3ABE}" srcOrd="0" destOrd="0" presId="urn:microsoft.com/office/officeart/2005/8/layout/hierarchy1"/>
    <dgm:cxn modelId="{5BF03F11-1D1E-E84E-B7B9-F5EC99187D8C}" type="presOf" srcId="{F8AF8FAB-D877-FA4E-B3C3-CEFCCA93116C}" destId="{CA633913-C41C-7849-AB80-38FD57B11F06}" srcOrd="0" destOrd="0" presId="urn:microsoft.com/office/officeart/2005/8/layout/hierarchy1"/>
    <dgm:cxn modelId="{A1C25D12-587A-7544-82F8-537F9D463068}" type="presOf" srcId="{7E339AEC-70E6-6747-9990-76443EBF179A}" destId="{5701B02C-DA07-F542-9769-A7EF98FFC126}" srcOrd="0" destOrd="0" presId="urn:microsoft.com/office/officeart/2005/8/layout/hierarchy1"/>
    <dgm:cxn modelId="{D0711D19-3F23-3C4D-836D-3D5ED8BDAD7F}" type="presOf" srcId="{0B427F86-AF31-6147-8800-4A5BC1F34460}" destId="{9DFF1FA2-C88E-BF44-8D5E-82A7AE5E9798}" srcOrd="0" destOrd="0" presId="urn:microsoft.com/office/officeart/2005/8/layout/hierarchy1"/>
    <dgm:cxn modelId="{F310B828-C06F-804E-8826-D53C2E0605A1}" type="presOf" srcId="{6FB10109-28CB-314D-84A2-4C7EC82C82CE}" destId="{CDE6AFD8-C93A-464D-9E0D-D8748FB6A83F}" srcOrd="0" destOrd="0" presId="urn:microsoft.com/office/officeart/2005/8/layout/hierarchy1"/>
    <dgm:cxn modelId="{75BDDA28-569E-BE49-B04B-7FC186529E4C}" type="presOf" srcId="{90104314-C49B-6343-98EC-0552064DA968}" destId="{A93AB391-1E49-364C-96D7-4960DC71D443}" srcOrd="0" destOrd="0" presId="urn:microsoft.com/office/officeart/2005/8/layout/hierarchy1"/>
    <dgm:cxn modelId="{5D194E5F-B94B-A140-B671-105C3975F982}" type="presOf" srcId="{D9C533DD-D7DF-494C-B7AE-B0DE6F23C353}" destId="{6C750A8A-3D78-5241-ADCB-DEB877E71119}" srcOrd="0" destOrd="0" presId="urn:microsoft.com/office/officeart/2005/8/layout/hierarchy1"/>
    <dgm:cxn modelId="{D12A2663-A4D5-3041-80C0-0B3D36DCF121}" type="presOf" srcId="{28996E74-5655-AC4D-963C-D42D4E1A659A}" destId="{3B82D116-CF19-5C45-900F-D1C21FAB0A77}" srcOrd="0" destOrd="0" presId="urn:microsoft.com/office/officeart/2005/8/layout/hierarchy1"/>
    <dgm:cxn modelId="{446D4B63-4230-7040-9C38-5286A06D3C91}" srcId="{00BC9443-99B2-BB40-8554-D0310215A0CE}" destId="{0B427F86-AF31-6147-8800-4A5BC1F34460}" srcOrd="0" destOrd="0" parTransId="{B317A1C1-DF53-1246-B421-A85269A03C9F}" sibTransId="{52CFD135-C2DA-2243-A09A-761CE18C52A1}"/>
    <dgm:cxn modelId="{47484944-A80C-5445-8FEA-7AF5A34906E0}" srcId="{28996E74-5655-AC4D-963C-D42D4E1A659A}" destId="{DA939D19-B282-0648-B01D-93256640C461}" srcOrd="1" destOrd="0" parTransId="{FF2E342B-BFB5-844A-AF21-1D98FD83000A}" sibTransId="{941461FB-45BE-274E-AAD2-6BE8A7EDF83A}"/>
    <dgm:cxn modelId="{8A5E536D-D228-8248-AF34-1B7DF5D03FCA}" type="presOf" srcId="{53414396-02EE-C243-987B-38FD6EB70C86}" destId="{998A3D1C-0ECE-9645-BDE0-4645B00E610F}" srcOrd="0" destOrd="0" presId="urn:microsoft.com/office/officeart/2005/8/layout/hierarchy1"/>
    <dgm:cxn modelId="{80FCEE6D-830C-2242-9C83-69ED2EF32403}" srcId="{0B427F86-AF31-6147-8800-4A5BC1F34460}" destId="{6FB10109-28CB-314D-84A2-4C7EC82C82CE}" srcOrd="0" destOrd="0" parTransId="{92525402-4264-DF48-8424-8FF5FC6F9906}" sibTransId="{C83A83DF-AF76-1D43-8B55-CACCB0DE36DE}"/>
    <dgm:cxn modelId="{1B6F664F-854B-6740-A05C-1EF1F09D7D74}" type="presOf" srcId="{92525402-4264-DF48-8424-8FF5FC6F9906}" destId="{D4B405AB-D469-284C-9473-AB9D5FE5E688}" srcOrd="0" destOrd="0" presId="urn:microsoft.com/office/officeart/2005/8/layout/hierarchy1"/>
    <dgm:cxn modelId="{F2AB3F71-4883-A742-94B4-43A9C0756894}" srcId="{6FB10109-28CB-314D-84A2-4C7EC82C82CE}" destId="{F1317889-6BE8-7948-8D20-65FA8E988FA4}" srcOrd="1" destOrd="0" parTransId="{D9C533DD-D7DF-494C-B7AE-B0DE6F23C353}" sibTransId="{2C1D5FAE-2668-F94E-A6F3-E9247F31DCC6}"/>
    <dgm:cxn modelId="{42BBCF84-B804-3640-966E-F4896E5D25C9}" srcId="{6FB10109-28CB-314D-84A2-4C7EC82C82CE}" destId="{D798765A-3641-2E4D-B162-57E44CF564B2}" srcOrd="2" destOrd="0" parTransId="{EFF83B11-74A7-3D46-9479-4241127DC463}" sibTransId="{4D07ECCB-E595-BC4A-BE60-F4ED9AE26712}"/>
    <dgm:cxn modelId="{DB0126A6-6C7D-7C4C-8176-51E54B6608F1}" type="presOf" srcId="{EFF83B11-74A7-3D46-9479-4241127DC463}" destId="{28E7277E-7152-4145-9BB1-EDC6D5F2A1CC}" srcOrd="0" destOrd="0" presId="urn:microsoft.com/office/officeart/2005/8/layout/hierarchy1"/>
    <dgm:cxn modelId="{B17906A8-4424-5A44-A42D-C1A761D6A122}" type="presOf" srcId="{FF2E342B-BFB5-844A-AF21-1D98FD83000A}" destId="{9C11681C-D490-B44E-A694-411741C55EA6}" srcOrd="0" destOrd="0" presId="urn:microsoft.com/office/officeart/2005/8/layout/hierarchy1"/>
    <dgm:cxn modelId="{24FC62BB-FB9B-3A4B-B42A-ED342FFEAD02}" srcId="{28996E74-5655-AC4D-963C-D42D4E1A659A}" destId="{90104314-C49B-6343-98EC-0552064DA968}" srcOrd="0" destOrd="0" parTransId="{F8AF8FAB-D877-FA4E-B3C3-CEFCCA93116C}" sibTransId="{F26BC757-4957-1A44-89A3-6786067066B4}"/>
    <dgm:cxn modelId="{08C048BD-E6EB-4F46-91D5-16487A5266B0}" type="presOf" srcId="{00BC9443-99B2-BB40-8554-D0310215A0CE}" destId="{2BF80573-36B6-DC44-A4F9-6BDC10A48396}" srcOrd="0" destOrd="0" presId="urn:microsoft.com/office/officeart/2005/8/layout/hierarchy1"/>
    <dgm:cxn modelId="{B5CA3FD3-36F8-8E42-B2BB-5D75174A87E3}" type="presOf" srcId="{DA939D19-B282-0648-B01D-93256640C461}" destId="{FFC973F6-3C0D-E042-880C-3408A4D8BDBE}" srcOrd="0" destOrd="0" presId="urn:microsoft.com/office/officeart/2005/8/layout/hierarchy1"/>
    <dgm:cxn modelId="{BF0421E2-0310-3540-8407-20C318A01DDD}" type="presOf" srcId="{5F32892B-444D-9648-A125-80A2347065CE}" destId="{4CABEAEF-E4BD-3D48-860C-CBFBA699220F}" srcOrd="0" destOrd="0" presId="urn:microsoft.com/office/officeart/2005/8/layout/hierarchy1"/>
    <dgm:cxn modelId="{790993F5-85ED-E94B-9D08-27E86DC8668E}" srcId="{0B427F86-AF31-6147-8800-4A5BC1F34460}" destId="{28996E74-5655-AC4D-963C-D42D4E1A659A}" srcOrd="1" destOrd="0" parTransId="{7E339AEC-70E6-6747-9990-76443EBF179A}" sibTransId="{88B9300D-A4F1-D74D-9F13-FB96A5E3FA20}"/>
    <dgm:cxn modelId="{04FAD8F8-EFE7-7346-A9AE-124C67A0E1A0}" srcId="{6FB10109-28CB-314D-84A2-4C7EC82C82CE}" destId="{5F32892B-444D-9648-A125-80A2347065CE}" srcOrd="0" destOrd="0" parTransId="{53414396-02EE-C243-987B-38FD6EB70C86}" sibTransId="{87131643-96A7-D343-B0D8-8AE14D2235CB}"/>
    <dgm:cxn modelId="{99EF5DAE-82E0-4E48-AF26-6895F51E54FB}" type="presParOf" srcId="{2BF80573-36B6-DC44-A4F9-6BDC10A48396}" destId="{1B25AEDD-9B86-124E-B53B-D3B17E662156}" srcOrd="0" destOrd="0" presId="urn:microsoft.com/office/officeart/2005/8/layout/hierarchy1"/>
    <dgm:cxn modelId="{D9025EFB-3A4B-5447-8BF3-D57EDA8F2C22}" type="presParOf" srcId="{1B25AEDD-9B86-124E-B53B-D3B17E662156}" destId="{04717D83-7078-424C-9F31-438C863CD5A7}" srcOrd="0" destOrd="0" presId="urn:microsoft.com/office/officeart/2005/8/layout/hierarchy1"/>
    <dgm:cxn modelId="{1B6A8EC7-8F1C-FA47-87D3-267004D68088}" type="presParOf" srcId="{04717D83-7078-424C-9F31-438C863CD5A7}" destId="{C3B539AA-EE95-DF46-805E-FF46EB0CADA0}" srcOrd="0" destOrd="0" presId="urn:microsoft.com/office/officeart/2005/8/layout/hierarchy1"/>
    <dgm:cxn modelId="{63DD102A-21D8-5740-A5A8-331B60CF34AD}" type="presParOf" srcId="{04717D83-7078-424C-9F31-438C863CD5A7}" destId="{9DFF1FA2-C88E-BF44-8D5E-82A7AE5E9798}" srcOrd="1" destOrd="0" presId="urn:microsoft.com/office/officeart/2005/8/layout/hierarchy1"/>
    <dgm:cxn modelId="{92AAEDA0-3525-5F4F-8EF4-AD2AD8B4851E}" type="presParOf" srcId="{1B25AEDD-9B86-124E-B53B-D3B17E662156}" destId="{7EC087D3-6B09-5E4F-8935-1F33FE4B5089}" srcOrd="1" destOrd="0" presId="urn:microsoft.com/office/officeart/2005/8/layout/hierarchy1"/>
    <dgm:cxn modelId="{92358FFB-FA9B-D44B-9414-AAF55AB49B3F}" type="presParOf" srcId="{7EC087D3-6B09-5E4F-8935-1F33FE4B5089}" destId="{D4B405AB-D469-284C-9473-AB9D5FE5E688}" srcOrd="0" destOrd="0" presId="urn:microsoft.com/office/officeart/2005/8/layout/hierarchy1"/>
    <dgm:cxn modelId="{D041D4A0-5204-B848-B756-53E6AFD9B937}" type="presParOf" srcId="{7EC087D3-6B09-5E4F-8935-1F33FE4B5089}" destId="{5E620C4A-E6A5-B840-82FC-21D0C3FBE854}" srcOrd="1" destOrd="0" presId="urn:microsoft.com/office/officeart/2005/8/layout/hierarchy1"/>
    <dgm:cxn modelId="{AB8BB2CA-AAC3-F14D-AE28-C9526A632D88}" type="presParOf" srcId="{5E620C4A-E6A5-B840-82FC-21D0C3FBE854}" destId="{A1955627-BD0E-BA44-B7BF-138D6616F799}" srcOrd="0" destOrd="0" presId="urn:microsoft.com/office/officeart/2005/8/layout/hierarchy1"/>
    <dgm:cxn modelId="{E143D57C-C74D-A04B-814C-973862B74077}" type="presParOf" srcId="{A1955627-BD0E-BA44-B7BF-138D6616F799}" destId="{2658DEB2-1451-1C41-84F9-498F4F135092}" srcOrd="0" destOrd="0" presId="urn:microsoft.com/office/officeart/2005/8/layout/hierarchy1"/>
    <dgm:cxn modelId="{90195568-542F-3946-87B7-9167F730B8AF}" type="presParOf" srcId="{A1955627-BD0E-BA44-B7BF-138D6616F799}" destId="{CDE6AFD8-C93A-464D-9E0D-D8748FB6A83F}" srcOrd="1" destOrd="0" presId="urn:microsoft.com/office/officeart/2005/8/layout/hierarchy1"/>
    <dgm:cxn modelId="{0C90818B-FF37-3649-B941-ECC4B2253BAC}" type="presParOf" srcId="{5E620C4A-E6A5-B840-82FC-21D0C3FBE854}" destId="{9AAB2656-5AF3-0942-AA19-98A362BB13F8}" srcOrd="1" destOrd="0" presId="urn:microsoft.com/office/officeart/2005/8/layout/hierarchy1"/>
    <dgm:cxn modelId="{8149B21D-D7AB-BB4D-88C8-87D8CC8A864E}" type="presParOf" srcId="{9AAB2656-5AF3-0942-AA19-98A362BB13F8}" destId="{998A3D1C-0ECE-9645-BDE0-4645B00E610F}" srcOrd="0" destOrd="0" presId="urn:microsoft.com/office/officeart/2005/8/layout/hierarchy1"/>
    <dgm:cxn modelId="{DF87F965-E740-0745-9EBE-B195B70EB0E4}" type="presParOf" srcId="{9AAB2656-5AF3-0942-AA19-98A362BB13F8}" destId="{90045FAB-5555-2C4C-9090-5DA918DD502B}" srcOrd="1" destOrd="0" presId="urn:microsoft.com/office/officeart/2005/8/layout/hierarchy1"/>
    <dgm:cxn modelId="{215E77D4-9CFC-DA43-B837-97FD63CAFB51}" type="presParOf" srcId="{90045FAB-5555-2C4C-9090-5DA918DD502B}" destId="{53DAA920-5CA3-B749-8668-29B9B55B2E49}" srcOrd="0" destOrd="0" presId="urn:microsoft.com/office/officeart/2005/8/layout/hierarchy1"/>
    <dgm:cxn modelId="{B70A02EF-7EEB-3244-AC13-25086321867D}" type="presParOf" srcId="{53DAA920-5CA3-B749-8668-29B9B55B2E49}" destId="{78040002-B55B-D340-A9EB-2AE1564E566D}" srcOrd="0" destOrd="0" presId="urn:microsoft.com/office/officeart/2005/8/layout/hierarchy1"/>
    <dgm:cxn modelId="{6E9AB284-7DB0-0C40-80A4-C18B19C86F6A}" type="presParOf" srcId="{53DAA920-5CA3-B749-8668-29B9B55B2E49}" destId="{4CABEAEF-E4BD-3D48-860C-CBFBA699220F}" srcOrd="1" destOrd="0" presId="urn:microsoft.com/office/officeart/2005/8/layout/hierarchy1"/>
    <dgm:cxn modelId="{A7C53FF8-F83D-4A41-95DC-1F618D51558F}" type="presParOf" srcId="{90045FAB-5555-2C4C-9090-5DA918DD502B}" destId="{FA6F7CDD-4D16-564D-BA86-9AB4E32FD520}" srcOrd="1" destOrd="0" presId="urn:microsoft.com/office/officeart/2005/8/layout/hierarchy1"/>
    <dgm:cxn modelId="{22EEAED7-79DA-EF48-9984-12A09984C544}" type="presParOf" srcId="{9AAB2656-5AF3-0942-AA19-98A362BB13F8}" destId="{6C750A8A-3D78-5241-ADCB-DEB877E71119}" srcOrd="2" destOrd="0" presId="urn:microsoft.com/office/officeart/2005/8/layout/hierarchy1"/>
    <dgm:cxn modelId="{D590D5D9-CA61-514B-9F6E-8F00D4053728}" type="presParOf" srcId="{9AAB2656-5AF3-0942-AA19-98A362BB13F8}" destId="{401634AE-51ED-714C-A10A-798F113F58F2}" srcOrd="3" destOrd="0" presId="urn:microsoft.com/office/officeart/2005/8/layout/hierarchy1"/>
    <dgm:cxn modelId="{E8C49808-6411-8D4B-9E4C-0998ECAD3EBA}" type="presParOf" srcId="{401634AE-51ED-714C-A10A-798F113F58F2}" destId="{6AE2A24C-4E28-E948-9FDC-CE4DBBC74EE3}" srcOrd="0" destOrd="0" presId="urn:microsoft.com/office/officeart/2005/8/layout/hierarchy1"/>
    <dgm:cxn modelId="{8BF75A71-B144-8E4C-A8DB-29BD1B8208FD}" type="presParOf" srcId="{6AE2A24C-4E28-E948-9FDC-CE4DBBC74EE3}" destId="{D199E20A-F8BF-9144-94CA-18940CD7DEB6}" srcOrd="0" destOrd="0" presId="urn:microsoft.com/office/officeart/2005/8/layout/hierarchy1"/>
    <dgm:cxn modelId="{ED79588E-1188-A042-AE06-C700B04F450D}" type="presParOf" srcId="{6AE2A24C-4E28-E948-9FDC-CE4DBBC74EE3}" destId="{5E03EBD9-E248-1043-8F81-B67931AF3ABE}" srcOrd="1" destOrd="0" presId="urn:microsoft.com/office/officeart/2005/8/layout/hierarchy1"/>
    <dgm:cxn modelId="{6A3FE441-80AD-F341-A02A-F5C87653D848}" type="presParOf" srcId="{401634AE-51ED-714C-A10A-798F113F58F2}" destId="{1A42930B-F235-2442-8463-459BB1803678}" srcOrd="1" destOrd="0" presId="urn:microsoft.com/office/officeart/2005/8/layout/hierarchy1"/>
    <dgm:cxn modelId="{A5B94B95-180D-7E4E-A941-CAA1759D81BD}" type="presParOf" srcId="{9AAB2656-5AF3-0942-AA19-98A362BB13F8}" destId="{28E7277E-7152-4145-9BB1-EDC6D5F2A1CC}" srcOrd="4" destOrd="0" presId="urn:microsoft.com/office/officeart/2005/8/layout/hierarchy1"/>
    <dgm:cxn modelId="{E7F06AA3-D631-344D-9260-4793EDD5A8AB}" type="presParOf" srcId="{9AAB2656-5AF3-0942-AA19-98A362BB13F8}" destId="{2CEE7301-472D-7B42-B8D3-CEF3D1570E0F}" srcOrd="5" destOrd="0" presId="urn:microsoft.com/office/officeart/2005/8/layout/hierarchy1"/>
    <dgm:cxn modelId="{1F89F791-9987-6A46-99B7-BC2D9E1ECB6E}" type="presParOf" srcId="{2CEE7301-472D-7B42-B8D3-CEF3D1570E0F}" destId="{CA731B0C-AF2F-EB4C-A022-85E858B204A1}" srcOrd="0" destOrd="0" presId="urn:microsoft.com/office/officeart/2005/8/layout/hierarchy1"/>
    <dgm:cxn modelId="{FBC9208B-C2D6-2740-BDF7-3AB6C1391E4A}" type="presParOf" srcId="{CA731B0C-AF2F-EB4C-A022-85E858B204A1}" destId="{A2A6867B-A5EB-DD48-B03C-8B97B84B6091}" srcOrd="0" destOrd="0" presId="urn:microsoft.com/office/officeart/2005/8/layout/hierarchy1"/>
    <dgm:cxn modelId="{633F653C-869C-C74E-9268-C2E08FA67080}" type="presParOf" srcId="{CA731B0C-AF2F-EB4C-A022-85E858B204A1}" destId="{93550C62-798C-674A-BC8D-00B6258A87A4}" srcOrd="1" destOrd="0" presId="urn:microsoft.com/office/officeart/2005/8/layout/hierarchy1"/>
    <dgm:cxn modelId="{59A24D0D-9D37-024C-B0AF-3380252486C6}" type="presParOf" srcId="{2CEE7301-472D-7B42-B8D3-CEF3D1570E0F}" destId="{9BA6ECE0-B4BA-3047-A876-C147F584F292}" srcOrd="1" destOrd="0" presId="urn:microsoft.com/office/officeart/2005/8/layout/hierarchy1"/>
    <dgm:cxn modelId="{BE395EEE-D895-4A4F-A40A-C4C2749C9082}" type="presParOf" srcId="{7EC087D3-6B09-5E4F-8935-1F33FE4B5089}" destId="{5701B02C-DA07-F542-9769-A7EF98FFC126}" srcOrd="2" destOrd="0" presId="urn:microsoft.com/office/officeart/2005/8/layout/hierarchy1"/>
    <dgm:cxn modelId="{2EEC6EAB-944E-944F-84D1-68ECA989794B}" type="presParOf" srcId="{7EC087D3-6B09-5E4F-8935-1F33FE4B5089}" destId="{BDA3712F-888B-E740-AD97-5A25582B3457}" srcOrd="3" destOrd="0" presId="urn:microsoft.com/office/officeart/2005/8/layout/hierarchy1"/>
    <dgm:cxn modelId="{81C198EF-7840-C44F-8C28-65CF8F5DCD7C}" type="presParOf" srcId="{BDA3712F-888B-E740-AD97-5A25582B3457}" destId="{5CEF540A-7DDC-BF40-9C8F-EEB1AC9BF261}" srcOrd="0" destOrd="0" presId="urn:microsoft.com/office/officeart/2005/8/layout/hierarchy1"/>
    <dgm:cxn modelId="{4D1D0305-F6C0-7E4D-B57B-A01BD1C68B49}" type="presParOf" srcId="{5CEF540A-7DDC-BF40-9C8F-EEB1AC9BF261}" destId="{E4BE1F15-E905-CB4D-BFD9-BECC63D9DA14}" srcOrd="0" destOrd="0" presId="urn:microsoft.com/office/officeart/2005/8/layout/hierarchy1"/>
    <dgm:cxn modelId="{1A16FEAB-EDB2-9246-BA02-803C74EB6136}" type="presParOf" srcId="{5CEF540A-7DDC-BF40-9C8F-EEB1AC9BF261}" destId="{3B82D116-CF19-5C45-900F-D1C21FAB0A77}" srcOrd="1" destOrd="0" presId="urn:microsoft.com/office/officeart/2005/8/layout/hierarchy1"/>
    <dgm:cxn modelId="{2E310775-7055-D246-B8B4-78B5961D124D}" type="presParOf" srcId="{BDA3712F-888B-E740-AD97-5A25582B3457}" destId="{A4B9F81B-D994-2443-8735-92AC0D029E3E}" srcOrd="1" destOrd="0" presId="urn:microsoft.com/office/officeart/2005/8/layout/hierarchy1"/>
    <dgm:cxn modelId="{C21B7D43-E61D-924F-976D-DC99CCFE2FBF}" type="presParOf" srcId="{A4B9F81B-D994-2443-8735-92AC0D029E3E}" destId="{CA633913-C41C-7849-AB80-38FD57B11F06}" srcOrd="0" destOrd="0" presId="urn:microsoft.com/office/officeart/2005/8/layout/hierarchy1"/>
    <dgm:cxn modelId="{5F4E17BD-A930-A144-ABA1-40C4E9F6F3FA}" type="presParOf" srcId="{A4B9F81B-D994-2443-8735-92AC0D029E3E}" destId="{B864EE91-C760-7340-ACF8-129381B05808}" srcOrd="1" destOrd="0" presId="urn:microsoft.com/office/officeart/2005/8/layout/hierarchy1"/>
    <dgm:cxn modelId="{E34ACD43-BEFF-F342-9DA3-82FFD3787C83}" type="presParOf" srcId="{B864EE91-C760-7340-ACF8-129381B05808}" destId="{58F58F00-B495-4042-AB4C-A9E1F3764FED}" srcOrd="0" destOrd="0" presId="urn:microsoft.com/office/officeart/2005/8/layout/hierarchy1"/>
    <dgm:cxn modelId="{7AE3FA15-25C7-A24A-94B8-AFC52B3527F3}" type="presParOf" srcId="{58F58F00-B495-4042-AB4C-A9E1F3764FED}" destId="{BFAB607F-FD38-1A49-A239-06785EB42EA5}" srcOrd="0" destOrd="0" presId="urn:microsoft.com/office/officeart/2005/8/layout/hierarchy1"/>
    <dgm:cxn modelId="{DBF5E945-8EC4-9545-A510-9BD37E69C0C3}" type="presParOf" srcId="{58F58F00-B495-4042-AB4C-A9E1F3764FED}" destId="{A93AB391-1E49-364C-96D7-4960DC71D443}" srcOrd="1" destOrd="0" presId="urn:microsoft.com/office/officeart/2005/8/layout/hierarchy1"/>
    <dgm:cxn modelId="{4547B37F-6483-DE4F-8809-BFFEB3B0AC34}" type="presParOf" srcId="{B864EE91-C760-7340-ACF8-129381B05808}" destId="{F1D15651-6999-8842-AD50-BA5F2213B53A}" srcOrd="1" destOrd="0" presId="urn:microsoft.com/office/officeart/2005/8/layout/hierarchy1"/>
    <dgm:cxn modelId="{CCE406C1-4366-4F4E-8129-2C5B7B28F009}" type="presParOf" srcId="{A4B9F81B-D994-2443-8735-92AC0D029E3E}" destId="{9C11681C-D490-B44E-A694-411741C55EA6}" srcOrd="2" destOrd="0" presId="urn:microsoft.com/office/officeart/2005/8/layout/hierarchy1"/>
    <dgm:cxn modelId="{7B467DE2-90A6-B54B-8C13-F3B53F77DE7A}" type="presParOf" srcId="{A4B9F81B-D994-2443-8735-92AC0D029E3E}" destId="{705CB14F-0F4C-5948-953B-CF0918DF85F3}" srcOrd="3" destOrd="0" presId="urn:microsoft.com/office/officeart/2005/8/layout/hierarchy1"/>
    <dgm:cxn modelId="{7D6D6D54-232D-C24D-9000-6D7F704AE33C}" type="presParOf" srcId="{705CB14F-0F4C-5948-953B-CF0918DF85F3}" destId="{C1F5DC3C-5175-ED46-A7E9-779074C1AE84}" srcOrd="0" destOrd="0" presId="urn:microsoft.com/office/officeart/2005/8/layout/hierarchy1"/>
    <dgm:cxn modelId="{E6F7373A-A5A1-BD4A-A238-94FBDF886728}" type="presParOf" srcId="{C1F5DC3C-5175-ED46-A7E9-779074C1AE84}" destId="{B168E1B9-DF3B-A94A-87A1-ABB853C31247}" srcOrd="0" destOrd="0" presId="urn:microsoft.com/office/officeart/2005/8/layout/hierarchy1"/>
    <dgm:cxn modelId="{3B246B57-3AA1-004E-9463-9876C9E9A8C2}" type="presParOf" srcId="{C1F5DC3C-5175-ED46-A7E9-779074C1AE84}" destId="{FFC973F6-3C0D-E042-880C-3408A4D8BDBE}" srcOrd="1" destOrd="0" presId="urn:microsoft.com/office/officeart/2005/8/layout/hierarchy1"/>
    <dgm:cxn modelId="{D81F1859-7980-CE4B-B13A-98E533E2338C}" type="presParOf" srcId="{705CB14F-0F4C-5948-953B-CF0918DF85F3}" destId="{B1F51F0D-F992-9547-963A-0CB287708E1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64246-BB27-334D-9DD7-2245054E6EFC}">
      <dsp:nvSpPr>
        <dsp:cNvPr id="0" name=""/>
        <dsp:cNvSpPr/>
      </dsp:nvSpPr>
      <dsp:spPr>
        <a:xfrm>
          <a:off x="0" y="340932"/>
          <a:ext cx="7549896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56" tIns="354076" rIns="5859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Learn to distinguish between categorical and numerical data</a:t>
          </a:r>
        </a:p>
      </dsp:txBody>
      <dsp:txXfrm>
        <a:off x="0" y="340932"/>
        <a:ext cx="7549896" cy="722925"/>
      </dsp:txXfrm>
    </dsp:sp>
    <dsp:sp modelId="{BA2B3BF9-4255-CE41-9CDF-9A0DEAAC69E7}">
      <dsp:nvSpPr>
        <dsp:cNvPr id="0" name=""/>
        <dsp:cNvSpPr/>
      </dsp:nvSpPr>
      <dsp:spPr>
        <a:xfrm>
          <a:off x="377494" y="90012"/>
          <a:ext cx="5284927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58" tIns="0" rIns="1997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Types of Data</a:t>
          </a:r>
        </a:p>
      </dsp:txBody>
      <dsp:txXfrm>
        <a:off x="401992" y="114510"/>
        <a:ext cx="5235931" cy="452844"/>
      </dsp:txXfrm>
    </dsp:sp>
    <dsp:sp modelId="{2DFF3213-79CD-7846-BCDF-B2929B549E91}">
      <dsp:nvSpPr>
        <dsp:cNvPr id="0" name=""/>
        <dsp:cNvSpPr/>
      </dsp:nvSpPr>
      <dsp:spPr>
        <a:xfrm>
          <a:off x="0" y="1406577"/>
          <a:ext cx="7549896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56" tIns="354076" rIns="5859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Explore how data is organized and stored</a:t>
          </a:r>
        </a:p>
      </dsp:txBody>
      <dsp:txXfrm>
        <a:off x="0" y="1406577"/>
        <a:ext cx="7549896" cy="722925"/>
      </dsp:txXfrm>
    </dsp:sp>
    <dsp:sp modelId="{BA4CB4D1-1474-6F49-A168-208445F0C625}">
      <dsp:nvSpPr>
        <dsp:cNvPr id="0" name=""/>
        <dsp:cNvSpPr/>
      </dsp:nvSpPr>
      <dsp:spPr>
        <a:xfrm>
          <a:off x="377494" y="1155657"/>
          <a:ext cx="5284927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58" tIns="0" rIns="1997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Formats</a:t>
          </a:r>
        </a:p>
      </dsp:txBody>
      <dsp:txXfrm>
        <a:off x="401992" y="1180155"/>
        <a:ext cx="5235931" cy="452844"/>
      </dsp:txXfrm>
    </dsp:sp>
    <dsp:sp modelId="{0EADA8CF-AB73-4645-A20D-55680A1E8568}">
      <dsp:nvSpPr>
        <dsp:cNvPr id="0" name=""/>
        <dsp:cNvSpPr/>
      </dsp:nvSpPr>
      <dsp:spPr>
        <a:xfrm>
          <a:off x="0" y="2472222"/>
          <a:ext cx="7549896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56" tIns="354076" rIns="5859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Master the tools to summarize and describe data</a:t>
          </a:r>
        </a:p>
      </dsp:txBody>
      <dsp:txXfrm>
        <a:off x="0" y="2472222"/>
        <a:ext cx="7549896" cy="722925"/>
      </dsp:txXfrm>
    </dsp:sp>
    <dsp:sp modelId="{359E1A24-1F15-D042-8236-A9924BC738EF}">
      <dsp:nvSpPr>
        <dsp:cNvPr id="0" name=""/>
        <dsp:cNvSpPr/>
      </dsp:nvSpPr>
      <dsp:spPr>
        <a:xfrm>
          <a:off x="377494" y="2221302"/>
          <a:ext cx="5284927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58" tIns="0" rIns="1997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Basic Statistics</a:t>
          </a:r>
        </a:p>
      </dsp:txBody>
      <dsp:txXfrm>
        <a:off x="401992" y="2245800"/>
        <a:ext cx="5235931" cy="452844"/>
      </dsp:txXfrm>
    </dsp:sp>
    <dsp:sp modelId="{2AB6EC5E-0C78-1D43-879F-B37578F259FE}">
      <dsp:nvSpPr>
        <dsp:cNvPr id="0" name=""/>
        <dsp:cNvSpPr/>
      </dsp:nvSpPr>
      <dsp:spPr>
        <a:xfrm>
          <a:off x="0" y="3537866"/>
          <a:ext cx="7549896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5956" tIns="354076" rIns="585956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Apply these concepts to real-world scenarios</a:t>
          </a:r>
        </a:p>
      </dsp:txBody>
      <dsp:txXfrm>
        <a:off x="0" y="3537866"/>
        <a:ext cx="7549896" cy="722925"/>
      </dsp:txXfrm>
    </dsp:sp>
    <dsp:sp modelId="{F5D464C4-2940-C14A-A4EA-438CEEDD7761}">
      <dsp:nvSpPr>
        <dsp:cNvPr id="0" name=""/>
        <dsp:cNvSpPr/>
      </dsp:nvSpPr>
      <dsp:spPr>
        <a:xfrm>
          <a:off x="377494" y="3286946"/>
          <a:ext cx="5284927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758" tIns="0" rIns="19975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Practical Applications</a:t>
          </a:r>
        </a:p>
      </dsp:txBody>
      <dsp:txXfrm>
        <a:off x="401992" y="3311444"/>
        <a:ext cx="5235931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6F206-6D81-7147-A08C-CCF9D98A1B99}">
      <dsp:nvSpPr>
        <dsp:cNvPr id="0" name=""/>
        <dsp:cNvSpPr/>
      </dsp:nvSpPr>
      <dsp:spPr>
        <a:xfrm>
          <a:off x="2259085" y="1690992"/>
          <a:ext cx="209567" cy="1634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4628"/>
              </a:lnTo>
              <a:lnTo>
                <a:pt x="209567" y="16346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3A748-0BE3-AB4E-933C-E20B109A5446}">
      <dsp:nvSpPr>
        <dsp:cNvPr id="0" name=""/>
        <dsp:cNvSpPr/>
      </dsp:nvSpPr>
      <dsp:spPr>
        <a:xfrm>
          <a:off x="2259085" y="1690992"/>
          <a:ext cx="209567" cy="64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2674"/>
              </a:lnTo>
              <a:lnTo>
                <a:pt x="209567" y="6426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C95FE-BE05-474C-B419-7D2335C1132A}">
      <dsp:nvSpPr>
        <dsp:cNvPr id="0" name=""/>
        <dsp:cNvSpPr/>
      </dsp:nvSpPr>
      <dsp:spPr>
        <a:xfrm>
          <a:off x="1972676" y="699038"/>
          <a:ext cx="845256" cy="293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6697"/>
              </a:lnTo>
              <a:lnTo>
                <a:pt x="845256" y="146697"/>
              </a:lnTo>
              <a:lnTo>
                <a:pt x="845256" y="2933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3694FF-5166-5942-A806-807E1DF7D644}">
      <dsp:nvSpPr>
        <dsp:cNvPr id="0" name=""/>
        <dsp:cNvSpPr/>
      </dsp:nvSpPr>
      <dsp:spPr>
        <a:xfrm>
          <a:off x="568572" y="1690992"/>
          <a:ext cx="209567" cy="16346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34628"/>
              </a:lnTo>
              <a:lnTo>
                <a:pt x="209567" y="163462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FCBC84-D63E-EB45-A8DD-44B3DFEBE029}">
      <dsp:nvSpPr>
        <dsp:cNvPr id="0" name=""/>
        <dsp:cNvSpPr/>
      </dsp:nvSpPr>
      <dsp:spPr>
        <a:xfrm>
          <a:off x="568572" y="1690992"/>
          <a:ext cx="209567" cy="6426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2674"/>
              </a:lnTo>
              <a:lnTo>
                <a:pt x="209567" y="64267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6DC93C-C4EA-4444-9FD8-4B5715873561}">
      <dsp:nvSpPr>
        <dsp:cNvPr id="0" name=""/>
        <dsp:cNvSpPr/>
      </dsp:nvSpPr>
      <dsp:spPr>
        <a:xfrm>
          <a:off x="1127419" y="699038"/>
          <a:ext cx="845256" cy="293394"/>
        </a:xfrm>
        <a:custGeom>
          <a:avLst/>
          <a:gdLst/>
          <a:ahLst/>
          <a:cxnLst/>
          <a:rect l="0" t="0" r="0" b="0"/>
          <a:pathLst>
            <a:path>
              <a:moveTo>
                <a:pt x="845256" y="0"/>
              </a:moveTo>
              <a:lnTo>
                <a:pt x="845256" y="146697"/>
              </a:lnTo>
              <a:lnTo>
                <a:pt x="0" y="146697"/>
              </a:lnTo>
              <a:lnTo>
                <a:pt x="0" y="29339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7927E-6C24-4D44-B992-43B3402C9C68}">
      <dsp:nvSpPr>
        <dsp:cNvPr id="0" name=""/>
        <dsp:cNvSpPr/>
      </dsp:nvSpPr>
      <dsp:spPr>
        <a:xfrm>
          <a:off x="1274116" y="479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Type</a:t>
          </a:r>
        </a:p>
      </dsp:txBody>
      <dsp:txXfrm>
        <a:off x="1274116" y="479"/>
        <a:ext cx="1397118" cy="698559"/>
      </dsp:txXfrm>
    </dsp:sp>
    <dsp:sp modelId="{5BA8E797-2CCB-4E4D-8E18-214B20FF7EDC}">
      <dsp:nvSpPr>
        <dsp:cNvPr id="0" name=""/>
        <dsp:cNvSpPr/>
      </dsp:nvSpPr>
      <dsp:spPr>
        <a:xfrm>
          <a:off x="428860" y="992433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Categorical</a:t>
          </a:r>
        </a:p>
      </dsp:txBody>
      <dsp:txXfrm>
        <a:off x="428860" y="992433"/>
        <a:ext cx="1397118" cy="698559"/>
      </dsp:txXfrm>
    </dsp:sp>
    <dsp:sp modelId="{51D3F294-7E66-844A-81C9-2844A87188E8}">
      <dsp:nvSpPr>
        <dsp:cNvPr id="0" name=""/>
        <dsp:cNvSpPr/>
      </dsp:nvSpPr>
      <dsp:spPr>
        <a:xfrm>
          <a:off x="778139" y="1984387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Nominal</a:t>
          </a:r>
        </a:p>
      </dsp:txBody>
      <dsp:txXfrm>
        <a:off x="778139" y="1984387"/>
        <a:ext cx="1397118" cy="698559"/>
      </dsp:txXfrm>
    </dsp:sp>
    <dsp:sp modelId="{ABF363E8-6087-8B4C-B116-BFCBD24F2E82}">
      <dsp:nvSpPr>
        <dsp:cNvPr id="0" name=""/>
        <dsp:cNvSpPr/>
      </dsp:nvSpPr>
      <dsp:spPr>
        <a:xfrm>
          <a:off x="778139" y="2976341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Ordinal</a:t>
          </a:r>
        </a:p>
      </dsp:txBody>
      <dsp:txXfrm>
        <a:off x="778139" y="2976341"/>
        <a:ext cx="1397118" cy="698559"/>
      </dsp:txXfrm>
    </dsp:sp>
    <dsp:sp modelId="{8CE7E5BD-B069-8D44-AB88-AB142E733E49}">
      <dsp:nvSpPr>
        <dsp:cNvPr id="0" name=""/>
        <dsp:cNvSpPr/>
      </dsp:nvSpPr>
      <dsp:spPr>
        <a:xfrm>
          <a:off x="2119373" y="992433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Numerical</a:t>
          </a:r>
        </a:p>
      </dsp:txBody>
      <dsp:txXfrm>
        <a:off x="2119373" y="992433"/>
        <a:ext cx="1397118" cy="698559"/>
      </dsp:txXfrm>
    </dsp:sp>
    <dsp:sp modelId="{B0D50B17-D44E-B24A-A028-6F3D746ABD17}">
      <dsp:nvSpPr>
        <dsp:cNvPr id="0" name=""/>
        <dsp:cNvSpPr/>
      </dsp:nvSpPr>
      <dsp:spPr>
        <a:xfrm>
          <a:off x="2468653" y="1984387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Discrete</a:t>
          </a:r>
        </a:p>
      </dsp:txBody>
      <dsp:txXfrm>
        <a:off x="2468653" y="1984387"/>
        <a:ext cx="1397118" cy="698559"/>
      </dsp:txXfrm>
    </dsp:sp>
    <dsp:sp modelId="{72DD1387-1488-8C40-833B-AC21781100F6}">
      <dsp:nvSpPr>
        <dsp:cNvPr id="0" name=""/>
        <dsp:cNvSpPr/>
      </dsp:nvSpPr>
      <dsp:spPr>
        <a:xfrm>
          <a:off x="2468653" y="2976341"/>
          <a:ext cx="1397118" cy="69855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Continuous</a:t>
          </a:r>
        </a:p>
      </dsp:txBody>
      <dsp:txXfrm>
        <a:off x="2468653" y="2976341"/>
        <a:ext cx="1397118" cy="6985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A2A19-5B99-6744-B98D-A84ABF2F54FE}">
      <dsp:nvSpPr>
        <dsp:cNvPr id="0" name=""/>
        <dsp:cNvSpPr/>
      </dsp:nvSpPr>
      <dsp:spPr>
        <a:xfrm>
          <a:off x="2756" y="25232"/>
          <a:ext cx="3493484" cy="1036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Nominal</a:t>
          </a:r>
        </a:p>
      </dsp:txBody>
      <dsp:txXfrm>
        <a:off x="2756" y="25232"/>
        <a:ext cx="3493484" cy="1036800"/>
      </dsp:txXfrm>
    </dsp:sp>
    <dsp:sp modelId="{9A4AC1A8-9832-BF42-B49F-5B4B355E9DA7}">
      <dsp:nvSpPr>
        <dsp:cNvPr id="0" name=""/>
        <dsp:cNvSpPr/>
      </dsp:nvSpPr>
      <dsp:spPr>
        <a:xfrm>
          <a:off x="2756" y="1062033"/>
          <a:ext cx="3493484" cy="15811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Hair color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Blood type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Favorite Sports team</a:t>
          </a:r>
        </a:p>
      </dsp:txBody>
      <dsp:txXfrm>
        <a:off x="2756" y="1062033"/>
        <a:ext cx="3493484" cy="1581120"/>
      </dsp:txXfrm>
    </dsp:sp>
    <dsp:sp modelId="{F7A7DD47-693B-3046-9ADE-0ECAB63BC2B6}">
      <dsp:nvSpPr>
        <dsp:cNvPr id="0" name=""/>
        <dsp:cNvSpPr/>
      </dsp:nvSpPr>
      <dsp:spPr>
        <a:xfrm>
          <a:off x="3985328" y="58050"/>
          <a:ext cx="3771845" cy="1007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Ordinal</a:t>
          </a:r>
        </a:p>
      </dsp:txBody>
      <dsp:txXfrm>
        <a:off x="3985328" y="58050"/>
        <a:ext cx="3771845" cy="1007790"/>
      </dsp:txXfrm>
    </dsp:sp>
    <dsp:sp modelId="{B049A179-250F-7D41-915F-984CAE967C6C}">
      <dsp:nvSpPr>
        <dsp:cNvPr id="0" name=""/>
        <dsp:cNvSpPr/>
      </dsp:nvSpPr>
      <dsp:spPr>
        <a:xfrm>
          <a:off x="3985328" y="1073455"/>
          <a:ext cx="3771845" cy="1536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Shirt sizes (S, M, L, XL)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Letter grades (A, B, C, D, F)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Survey ratings </a:t>
          </a:r>
          <a:r>
            <a:rPr lang="en-US" sz="2000" kern="1200" dirty="0">
              <a:solidFill>
                <a:srgbClr val="000000"/>
              </a:solidFill>
              <a:latin typeface="Inter" pitchFamily="34" charset="0"/>
              <a:ea typeface="Inter" pitchFamily="34" charset="-122"/>
              <a:cs typeface="Inter" pitchFamily="34" charset="-120"/>
            </a:rPr>
            <a:t>(Strongly Disagree to Strongly Agree)</a:t>
          </a:r>
          <a:endParaRPr lang="en-US" sz="2000" kern="1200" dirty="0"/>
        </a:p>
      </dsp:txBody>
      <dsp:txXfrm>
        <a:off x="3985328" y="1073455"/>
        <a:ext cx="3771845" cy="15368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24B140-7074-7641-B33B-DE4D79B1BF10}">
      <dsp:nvSpPr>
        <dsp:cNvPr id="0" name=""/>
        <dsp:cNvSpPr/>
      </dsp:nvSpPr>
      <dsp:spPr>
        <a:xfrm>
          <a:off x="4177" y="951417"/>
          <a:ext cx="2025518" cy="16706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Different data types require different approaches</a:t>
          </a:r>
        </a:p>
      </dsp:txBody>
      <dsp:txXfrm>
        <a:off x="42623" y="989863"/>
        <a:ext cx="1948626" cy="1235744"/>
      </dsp:txXfrm>
    </dsp:sp>
    <dsp:sp modelId="{5F4BC2EE-DBEC-2049-AA33-4DC8E3310C63}">
      <dsp:nvSpPr>
        <dsp:cNvPr id="0" name=""/>
        <dsp:cNvSpPr/>
      </dsp:nvSpPr>
      <dsp:spPr>
        <a:xfrm>
          <a:off x="1092214" y="1168830"/>
          <a:ext cx="2500390" cy="2500390"/>
        </a:xfrm>
        <a:prstGeom prst="leftCircularArrow">
          <a:avLst>
            <a:gd name="adj1" fmla="val 4213"/>
            <a:gd name="adj2" fmla="val 531825"/>
            <a:gd name="adj3" fmla="val 2307335"/>
            <a:gd name="adj4" fmla="val 9024489"/>
            <a:gd name="adj5" fmla="val 491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96619-3F2A-3747-A9F5-5A819E63A715}">
      <dsp:nvSpPr>
        <dsp:cNvPr id="0" name=""/>
        <dsp:cNvSpPr/>
      </dsp:nvSpPr>
      <dsp:spPr>
        <a:xfrm>
          <a:off x="454292" y="2264054"/>
          <a:ext cx="1800460" cy="715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Analysis Methods</a:t>
          </a:r>
        </a:p>
      </dsp:txBody>
      <dsp:txXfrm>
        <a:off x="475262" y="2285024"/>
        <a:ext cx="1758520" cy="674043"/>
      </dsp:txXfrm>
    </dsp:sp>
    <dsp:sp modelId="{506702F1-0385-F941-AEB7-4F1EE91414D5}">
      <dsp:nvSpPr>
        <dsp:cNvPr id="0" name=""/>
        <dsp:cNvSpPr/>
      </dsp:nvSpPr>
      <dsp:spPr>
        <a:xfrm>
          <a:off x="2756400" y="951417"/>
          <a:ext cx="2025518" cy="16706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Data type determines appropriate graph types</a:t>
          </a:r>
        </a:p>
      </dsp:txBody>
      <dsp:txXfrm>
        <a:off x="2794846" y="1347854"/>
        <a:ext cx="1948626" cy="1235744"/>
      </dsp:txXfrm>
    </dsp:sp>
    <dsp:sp modelId="{957925FA-766D-0145-8AB5-62CECB2DFBA5}">
      <dsp:nvSpPr>
        <dsp:cNvPr id="0" name=""/>
        <dsp:cNvSpPr/>
      </dsp:nvSpPr>
      <dsp:spPr>
        <a:xfrm>
          <a:off x="3827558" y="-161261"/>
          <a:ext cx="2759206" cy="2759206"/>
        </a:xfrm>
        <a:prstGeom prst="circularArrow">
          <a:avLst>
            <a:gd name="adj1" fmla="val 3818"/>
            <a:gd name="adj2" fmla="val 477348"/>
            <a:gd name="adj3" fmla="val 19347142"/>
            <a:gd name="adj4" fmla="val 12575511"/>
            <a:gd name="adj5" fmla="val 445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3D46D1-D60C-D443-BD19-50592672B27C}">
      <dsp:nvSpPr>
        <dsp:cNvPr id="0" name=""/>
        <dsp:cNvSpPr/>
      </dsp:nvSpPr>
      <dsp:spPr>
        <a:xfrm>
          <a:off x="3206515" y="593425"/>
          <a:ext cx="1800460" cy="715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Visualization</a:t>
          </a:r>
        </a:p>
      </dsp:txBody>
      <dsp:txXfrm>
        <a:off x="3227485" y="614395"/>
        <a:ext cx="1758520" cy="674043"/>
      </dsp:txXfrm>
    </dsp:sp>
    <dsp:sp modelId="{A53D2C29-0F28-1543-85D7-8A6156C72746}">
      <dsp:nvSpPr>
        <dsp:cNvPr id="0" name=""/>
        <dsp:cNvSpPr/>
      </dsp:nvSpPr>
      <dsp:spPr>
        <a:xfrm>
          <a:off x="5508623" y="951417"/>
          <a:ext cx="2025518" cy="16706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Understanding type helps avoid incorrect conclusion</a:t>
          </a:r>
        </a:p>
      </dsp:txBody>
      <dsp:txXfrm>
        <a:off x="5547069" y="989863"/>
        <a:ext cx="1948626" cy="1235744"/>
      </dsp:txXfrm>
    </dsp:sp>
    <dsp:sp modelId="{8592F283-835B-0F4A-B2B6-6732EE35B3F2}">
      <dsp:nvSpPr>
        <dsp:cNvPr id="0" name=""/>
        <dsp:cNvSpPr/>
      </dsp:nvSpPr>
      <dsp:spPr>
        <a:xfrm>
          <a:off x="6596661" y="1168830"/>
          <a:ext cx="2500390" cy="2500390"/>
        </a:xfrm>
        <a:prstGeom prst="leftCircularArrow">
          <a:avLst>
            <a:gd name="adj1" fmla="val 4213"/>
            <a:gd name="adj2" fmla="val 531825"/>
            <a:gd name="adj3" fmla="val 2307335"/>
            <a:gd name="adj4" fmla="val 9024489"/>
            <a:gd name="adj5" fmla="val 491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7488C-F089-234A-8E91-17D9E277A6EA}">
      <dsp:nvSpPr>
        <dsp:cNvPr id="0" name=""/>
        <dsp:cNvSpPr/>
      </dsp:nvSpPr>
      <dsp:spPr>
        <a:xfrm>
          <a:off x="5958738" y="2264054"/>
          <a:ext cx="1800460" cy="715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Interpretation</a:t>
          </a:r>
        </a:p>
      </dsp:txBody>
      <dsp:txXfrm>
        <a:off x="5979708" y="2285024"/>
        <a:ext cx="1758520" cy="674043"/>
      </dsp:txXfrm>
    </dsp:sp>
    <dsp:sp modelId="{97FB78AB-4E2C-A841-A23F-04DF146BB314}">
      <dsp:nvSpPr>
        <dsp:cNvPr id="0" name=""/>
        <dsp:cNvSpPr/>
      </dsp:nvSpPr>
      <dsp:spPr>
        <a:xfrm>
          <a:off x="8260847" y="951417"/>
          <a:ext cx="2025518" cy="16706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Only certain operations make sense for each type</a:t>
          </a:r>
        </a:p>
      </dsp:txBody>
      <dsp:txXfrm>
        <a:off x="8299293" y="1347854"/>
        <a:ext cx="1948626" cy="1235744"/>
      </dsp:txXfrm>
    </dsp:sp>
    <dsp:sp modelId="{55A8098D-EB9B-9D44-AD6F-BFBC31FB48FC}">
      <dsp:nvSpPr>
        <dsp:cNvPr id="0" name=""/>
        <dsp:cNvSpPr/>
      </dsp:nvSpPr>
      <dsp:spPr>
        <a:xfrm>
          <a:off x="8710962" y="593425"/>
          <a:ext cx="1800460" cy="7159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Calculation Options</a:t>
          </a:r>
        </a:p>
      </dsp:txBody>
      <dsp:txXfrm>
        <a:off x="8731932" y="614395"/>
        <a:ext cx="1758520" cy="6740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11681C-D490-B44E-A694-411741C55EA6}">
      <dsp:nvSpPr>
        <dsp:cNvPr id="0" name=""/>
        <dsp:cNvSpPr/>
      </dsp:nvSpPr>
      <dsp:spPr>
        <a:xfrm>
          <a:off x="7989273" y="2156232"/>
          <a:ext cx="843074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843074" y="273424"/>
              </a:lnTo>
              <a:lnTo>
                <a:pt x="843074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633913-C41C-7849-AB80-38FD57B11F06}">
      <dsp:nvSpPr>
        <dsp:cNvPr id="0" name=""/>
        <dsp:cNvSpPr/>
      </dsp:nvSpPr>
      <dsp:spPr>
        <a:xfrm>
          <a:off x="7146198" y="2156232"/>
          <a:ext cx="843074" cy="401227"/>
        </a:xfrm>
        <a:custGeom>
          <a:avLst/>
          <a:gdLst/>
          <a:ahLst/>
          <a:cxnLst/>
          <a:rect l="0" t="0" r="0" b="0"/>
          <a:pathLst>
            <a:path>
              <a:moveTo>
                <a:pt x="843074" y="0"/>
              </a:moveTo>
              <a:lnTo>
                <a:pt x="843074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01B02C-DA07-F542-9769-A7EF98FFC126}">
      <dsp:nvSpPr>
        <dsp:cNvPr id="0" name=""/>
        <dsp:cNvSpPr/>
      </dsp:nvSpPr>
      <dsp:spPr>
        <a:xfrm>
          <a:off x="5881586" y="878973"/>
          <a:ext cx="2107687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2107687" y="273424"/>
              </a:lnTo>
              <a:lnTo>
                <a:pt x="2107687" y="4012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E7277E-7152-4145-9BB1-EDC6D5F2A1CC}">
      <dsp:nvSpPr>
        <dsp:cNvPr id="0" name=""/>
        <dsp:cNvSpPr/>
      </dsp:nvSpPr>
      <dsp:spPr>
        <a:xfrm>
          <a:off x="3773899" y="2156232"/>
          <a:ext cx="1686149" cy="4012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424"/>
              </a:lnTo>
              <a:lnTo>
                <a:pt x="1686149" y="273424"/>
              </a:lnTo>
              <a:lnTo>
                <a:pt x="1686149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750A8A-3D78-5241-ADCB-DEB877E71119}">
      <dsp:nvSpPr>
        <dsp:cNvPr id="0" name=""/>
        <dsp:cNvSpPr/>
      </dsp:nvSpPr>
      <dsp:spPr>
        <a:xfrm>
          <a:off x="3728179" y="2156232"/>
          <a:ext cx="91440" cy="40122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A3D1C-0ECE-9645-BDE0-4645B00E610F}">
      <dsp:nvSpPr>
        <dsp:cNvPr id="0" name=""/>
        <dsp:cNvSpPr/>
      </dsp:nvSpPr>
      <dsp:spPr>
        <a:xfrm>
          <a:off x="2087749" y="2156232"/>
          <a:ext cx="1686149" cy="401227"/>
        </a:xfrm>
        <a:custGeom>
          <a:avLst/>
          <a:gdLst/>
          <a:ahLst/>
          <a:cxnLst/>
          <a:rect l="0" t="0" r="0" b="0"/>
          <a:pathLst>
            <a:path>
              <a:moveTo>
                <a:pt x="1686149" y="0"/>
              </a:moveTo>
              <a:lnTo>
                <a:pt x="1686149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B405AB-D469-284C-9473-AB9D5FE5E688}">
      <dsp:nvSpPr>
        <dsp:cNvPr id="0" name=""/>
        <dsp:cNvSpPr/>
      </dsp:nvSpPr>
      <dsp:spPr>
        <a:xfrm>
          <a:off x="3773899" y="878973"/>
          <a:ext cx="2107687" cy="401227"/>
        </a:xfrm>
        <a:custGeom>
          <a:avLst/>
          <a:gdLst/>
          <a:ahLst/>
          <a:cxnLst/>
          <a:rect l="0" t="0" r="0" b="0"/>
          <a:pathLst>
            <a:path>
              <a:moveTo>
                <a:pt x="2107687" y="0"/>
              </a:moveTo>
              <a:lnTo>
                <a:pt x="2107687" y="273424"/>
              </a:lnTo>
              <a:lnTo>
                <a:pt x="0" y="273424"/>
              </a:lnTo>
              <a:lnTo>
                <a:pt x="0" y="40122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B539AA-EE95-DF46-805E-FF46EB0CADA0}">
      <dsp:nvSpPr>
        <dsp:cNvPr id="0" name=""/>
        <dsp:cNvSpPr/>
      </dsp:nvSpPr>
      <dsp:spPr>
        <a:xfrm>
          <a:off x="5191797" y="2942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F1FA2-C88E-BF44-8D5E-82A7AE5E9798}">
      <dsp:nvSpPr>
        <dsp:cNvPr id="0" name=""/>
        <dsp:cNvSpPr/>
      </dsp:nvSpPr>
      <dsp:spPr>
        <a:xfrm>
          <a:off x="5345084" y="148564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Summary Statistics</a:t>
          </a:r>
        </a:p>
      </dsp:txBody>
      <dsp:txXfrm>
        <a:off x="5370742" y="174222"/>
        <a:ext cx="1328261" cy="824715"/>
      </dsp:txXfrm>
    </dsp:sp>
    <dsp:sp modelId="{2658DEB2-1451-1C41-84F9-498F4F135092}">
      <dsp:nvSpPr>
        <dsp:cNvPr id="0" name=""/>
        <dsp:cNvSpPr/>
      </dsp:nvSpPr>
      <dsp:spPr>
        <a:xfrm>
          <a:off x="3084110" y="1280200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6AFD8-C93A-464D-9E0D-D8748FB6A83F}">
      <dsp:nvSpPr>
        <dsp:cNvPr id="0" name=""/>
        <dsp:cNvSpPr/>
      </dsp:nvSpPr>
      <dsp:spPr>
        <a:xfrm>
          <a:off x="3237396" y="1425822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Central Tendency </a:t>
          </a:r>
        </a:p>
      </dsp:txBody>
      <dsp:txXfrm>
        <a:off x="3263054" y="1451480"/>
        <a:ext cx="1328261" cy="824715"/>
      </dsp:txXfrm>
    </dsp:sp>
    <dsp:sp modelId="{78040002-B55B-D340-A9EB-2AE1564E566D}">
      <dsp:nvSpPr>
        <dsp:cNvPr id="0" name=""/>
        <dsp:cNvSpPr/>
      </dsp:nvSpPr>
      <dsp:spPr>
        <a:xfrm>
          <a:off x="139796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BEAEF-E4BD-3D48-860C-CBFBA699220F}">
      <dsp:nvSpPr>
        <dsp:cNvPr id="0" name=""/>
        <dsp:cNvSpPr/>
      </dsp:nvSpPr>
      <dsp:spPr>
        <a:xfrm>
          <a:off x="1551247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Mean</a:t>
          </a:r>
        </a:p>
      </dsp:txBody>
      <dsp:txXfrm>
        <a:off x="1576905" y="2728739"/>
        <a:ext cx="1328261" cy="824715"/>
      </dsp:txXfrm>
    </dsp:sp>
    <dsp:sp modelId="{D199E20A-F8BF-9144-94CA-18940CD7DEB6}">
      <dsp:nvSpPr>
        <dsp:cNvPr id="0" name=""/>
        <dsp:cNvSpPr/>
      </dsp:nvSpPr>
      <dsp:spPr>
        <a:xfrm>
          <a:off x="308411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3EBD9-E248-1043-8F81-B67931AF3ABE}">
      <dsp:nvSpPr>
        <dsp:cNvPr id="0" name=""/>
        <dsp:cNvSpPr/>
      </dsp:nvSpPr>
      <dsp:spPr>
        <a:xfrm>
          <a:off x="323739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Median</a:t>
          </a:r>
        </a:p>
      </dsp:txBody>
      <dsp:txXfrm>
        <a:off x="3263054" y="2728739"/>
        <a:ext cx="1328261" cy="824715"/>
      </dsp:txXfrm>
    </dsp:sp>
    <dsp:sp modelId="{A2A6867B-A5EB-DD48-B03C-8B97B84B6091}">
      <dsp:nvSpPr>
        <dsp:cNvPr id="0" name=""/>
        <dsp:cNvSpPr/>
      </dsp:nvSpPr>
      <dsp:spPr>
        <a:xfrm>
          <a:off x="477026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550C62-798C-674A-BC8D-00B6258A87A4}">
      <dsp:nvSpPr>
        <dsp:cNvPr id="0" name=""/>
        <dsp:cNvSpPr/>
      </dsp:nvSpPr>
      <dsp:spPr>
        <a:xfrm>
          <a:off x="492354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</a:t>
          </a:r>
        </a:p>
      </dsp:txBody>
      <dsp:txXfrm>
        <a:off x="4949204" y="2728739"/>
        <a:ext cx="1328261" cy="824715"/>
      </dsp:txXfrm>
    </dsp:sp>
    <dsp:sp modelId="{E4BE1F15-E905-CB4D-BFD9-BECC63D9DA14}">
      <dsp:nvSpPr>
        <dsp:cNvPr id="0" name=""/>
        <dsp:cNvSpPr/>
      </dsp:nvSpPr>
      <dsp:spPr>
        <a:xfrm>
          <a:off x="7299484" y="1280200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82D116-CF19-5C45-900F-D1C21FAB0A77}">
      <dsp:nvSpPr>
        <dsp:cNvPr id="0" name=""/>
        <dsp:cNvSpPr/>
      </dsp:nvSpPr>
      <dsp:spPr>
        <a:xfrm>
          <a:off x="7452771" y="1425822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Dispersion / Variability </a:t>
          </a:r>
        </a:p>
      </dsp:txBody>
      <dsp:txXfrm>
        <a:off x="7478429" y="1451480"/>
        <a:ext cx="1328261" cy="824715"/>
      </dsp:txXfrm>
    </dsp:sp>
    <dsp:sp modelId="{BFAB607F-FD38-1A49-A239-06785EB42EA5}">
      <dsp:nvSpPr>
        <dsp:cNvPr id="0" name=""/>
        <dsp:cNvSpPr/>
      </dsp:nvSpPr>
      <dsp:spPr>
        <a:xfrm>
          <a:off x="6456410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AB391-1E49-364C-96D7-4960DC71D443}">
      <dsp:nvSpPr>
        <dsp:cNvPr id="0" name=""/>
        <dsp:cNvSpPr/>
      </dsp:nvSpPr>
      <dsp:spPr>
        <a:xfrm>
          <a:off x="660969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Range</a:t>
          </a:r>
        </a:p>
      </dsp:txBody>
      <dsp:txXfrm>
        <a:off x="6635354" y="2728739"/>
        <a:ext cx="1328261" cy="824715"/>
      </dsp:txXfrm>
    </dsp:sp>
    <dsp:sp modelId="{B168E1B9-DF3B-A94A-87A1-ABB853C31247}">
      <dsp:nvSpPr>
        <dsp:cNvPr id="0" name=""/>
        <dsp:cNvSpPr/>
      </dsp:nvSpPr>
      <dsp:spPr>
        <a:xfrm>
          <a:off x="8142559" y="2557459"/>
          <a:ext cx="1379577" cy="8760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973F6-3C0D-E042-880C-3408A4D8BDBE}">
      <dsp:nvSpPr>
        <dsp:cNvPr id="0" name=""/>
        <dsp:cNvSpPr/>
      </dsp:nvSpPr>
      <dsp:spPr>
        <a:xfrm>
          <a:off x="8295846" y="2703081"/>
          <a:ext cx="1379577" cy="8760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Standard Deviation</a:t>
          </a:r>
        </a:p>
      </dsp:txBody>
      <dsp:txXfrm>
        <a:off x="8321504" y="2728739"/>
        <a:ext cx="1328261" cy="8247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3146E-F6A3-455D-A8F7-7C094566E426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67100-4AF5-4440-9AA8-F24E6DD39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1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716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03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48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CF46D04F-A2E9-9037-5671-AE76970CC35D}"/>
              </a:ext>
            </a:extLst>
          </p:cNvPr>
          <p:cNvSpPr/>
          <p:nvPr userDrawn="1"/>
        </p:nvSpPr>
        <p:spPr>
          <a:xfrm>
            <a:off x="65675" y="3778845"/>
            <a:ext cx="3849574" cy="2942629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C0CB8-D0C2-1404-F91A-420744D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EACBD-CAF3-E652-16CC-1B0FAD472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A456-AC01-F904-F218-7B4540D7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CB47-B3B7-6135-DE12-0C6A78EA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3DA9-A3A9-44B9-1EE5-DEE572AF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1BE6C-6E5B-8994-D6FC-7B0CF7008156}"/>
              </a:ext>
            </a:extLst>
          </p:cNvPr>
          <p:cNvSpPr/>
          <p:nvPr userDrawn="1"/>
        </p:nvSpPr>
        <p:spPr>
          <a:xfrm rot="2253748">
            <a:off x="-395637" y="5046769"/>
            <a:ext cx="5087528" cy="134460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7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28F5-7EB8-E462-7F02-DEC7DD59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FE9F-8043-0471-3245-103B6702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62F2-0F81-38B4-96ED-B28DF9DD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59D3-130F-CB1C-C4BD-AB74DE5C8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1768-0D49-C454-6289-60FB4C0A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5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005EB2AA-5849-99F5-8BFB-632AC33BE750}"/>
              </a:ext>
            </a:extLst>
          </p:cNvPr>
          <p:cNvSpPr/>
          <p:nvPr userDrawn="1"/>
        </p:nvSpPr>
        <p:spPr>
          <a:xfrm>
            <a:off x="65675" y="4703350"/>
            <a:ext cx="3000849" cy="2018124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21169-83DD-8851-E599-FEA45E14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74" y="1709738"/>
            <a:ext cx="9715675" cy="23570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FA66E-E2F5-038E-BF7C-F544B784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7242" y="4289092"/>
            <a:ext cx="9670207" cy="13690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55D8-8CBA-9F43-B01D-D7082DC9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51CF-3BF6-AF09-6011-B52C3C68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34DF-802E-7327-8627-9511A495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1E67B-A6F8-DF75-FF70-FDB89861438B}"/>
              </a:ext>
            </a:extLst>
          </p:cNvPr>
          <p:cNvSpPr/>
          <p:nvPr userDrawn="1"/>
        </p:nvSpPr>
        <p:spPr>
          <a:xfrm rot="2037324">
            <a:off x="-227242" y="5530392"/>
            <a:ext cx="3899903" cy="111444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0E4A-4368-4C69-3C64-37AFD71E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C132-4FE6-22EA-BAA6-8CA300CAE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7368-3DE6-C552-433F-568EC0B61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D78C7-6BC7-56DC-CA02-5C90A7A9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206C-92E1-28B7-AB9E-7FD2BB75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92DCA-BE48-5290-3278-3EC28D13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2AE3-93B7-61C1-B756-59838E05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E1FB3-F727-DBA4-FBA9-23407385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F2CAC-BACD-7BE3-43DD-71043AC67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31440-2DA2-FA84-9167-5FC181DCA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8932E-9F32-AA7A-2F1E-17F50265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D880-75C8-7990-30C3-51E10FE8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EF02E-78D7-F804-7839-C3354BF3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5FA79-FDE3-8906-39A3-A5C937F0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5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978E-2D2F-D341-2FA9-7D6D8ABF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267CD-2EC9-4F23-858C-B85DCE90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5F275-AA05-AA90-BFF9-94CFF080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8933A-5A98-47C0-0FDC-35C9BCEA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7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A021B-9E90-5F87-7450-DC725780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CC1AD-0010-A189-0E43-BE96BA39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B049-6B92-60D9-D26F-9C4603F9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9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372C-E996-AF0C-1FE4-F8CE41D2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2E048-3033-FD5E-D3EE-710DA0B00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10ED7-5C65-0E15-895B-7C830D74A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0457B-797B-C6DE-EC6A-CB73EB26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0F16C-84B6-9D3E-10C7-4B359FD7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A5764-25FE-49B4-7825-61267D9E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5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A7B5-D51E-0EBA-DA75-9E1B8639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D8D80-69D5-682D-6788-8F3A45253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C84A4-2F9F-DC4F-74C1-19F1EB3C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80B86-C717-EA60-2269-392FD0F7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58424-657A-53FD-0817-B7752742B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5CE37-62D2-1E15-6CB6-04D76FAE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2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41E0-17E7-2015-B9F8-B897CA63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C2268-93A1-B778-5028-5783DE4D4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9D27-0D85-8C7B-142A-74403B21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6D02-609F-7F78-2288-E43B0E23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8CFA-4B7F-0DBD-C99B-E464A43A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441BA-3638-2B1C-D3CA-F862A6C03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56893"/>
            <a:ext cx="2628900" cy="502007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7DF25-5E8D-D4BD-6759-5EB82BA5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FB57-7D5C-F3CC-330C-934B10E4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CFFC-8250-D8A0-8181-3ECD823B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BCFC-BE45-2CEE-8C2D-480BF7B6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8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988B7-8CA8-8706-C4A7-E1290D2D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97779-7EE0-B5F0-D625-DCEDCF087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04051"/>
            <a:ext cx="10515600" cy="357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6A9E4-6456-C2F9-73BB-C32B468DE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589DF-59BF-4BA7-8495-56F0F1B65344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09A6-E403-39ED-FCDD-D2B49BE77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All Rights Reserved @Nexellence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CF5F-1237-1539-FFB2-2128023A2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company  AI-generated content may be incorrect.">
            <a:extLst>
              <a:ext uri="{FF2B5EF4-FFF2-40B4-BE49-F238E27FC236}">
                <a16:creationId xmlns:a16="http://schemas.microsoft.com/office/drawing/2014/main" id="{625393FF-C7FE-64BE-F32C-440050D74E5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9383" y="86258"/>
            <a:ext cx="3138446" cy="71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2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download/succes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2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Day 2: Introduction to Python – Data Analysis in Python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59406-F570-1A28-BC8E-6CF18FA3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Anaconda (Python + </a:t>
            </a:r>
            <a:r>
              <a:rPr lang="en-US" dirty="0" err="1"/>
              <a:t>Jupyter</a:t>
            </a:r>
            <a:r>
              <a:rPr lang="en-US" dirty="0"/>
              <a:t>) </a:t>
            </a:r>
          </a:p>
        </p:txBody>
      </p:sp>
      <p:sp>
        <p:nvSpPr>
          <p:cNvPr id="4" name="AutoShape 2" descr="Anaconda">
            <a:extLst>
              <a:ext uri="{FF2B5EF4-FFF2-40B4-BE49-F238E27FC236}">
                <a16:creationId xmlns:a16="http://schemas.microsoft.com/office/drawing/2014/main" id="{9DBB2D63-3688-77EA-BEFF-5F79B6317BB9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2604051"/>
            <a:ext cx="4333875" cy="357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dirty="0"/>
              <a:t>Go to: </a:t>
            </a:r>
            <a:r>
              <a:rPr lang="en-US" dirty="0">
                <a:hlinkClick r:id="rId3"/>
              </a:rPr>
              <a:t>https://www.anaconda.com/download/success</a:t>
            </a:r>
            <a:endParaRPr lang="en-US" dirty="0"/>
          </a:p>
          <a:p>
            <a:r>
              <a:rPr lang="en-US" dirty="0"/>
              <a:t>Download the correct option for your system</a:t>
            </a:r>
          </a:p>
          <a:p>
            <a:r>
              <a:rPr lang="en-US" dirty="0"/>
              <a:t>The file is large, it may take a few mins</a:t>
            </a:r>
          </a:p>
          <a:p>
            <a:r>
              <a:rPr lang="en-US" dirty="0"/>
              <a:t>After the download is complete, run and install it. 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1E266F-A04E-74C9-2105-670BFDCC2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01638"/>
            <a:ext cx="3108444" cy="518074"/>
          </a:xfrm>
          <a:prstGeom prst="rect">
            <a:avLst/>
          </a:prstGeom>
        </p:spPr>
      </p:pic>
      <p:pic>
        <p:nvPicPr>
          <p:cNvPr id="11" name="Picture 10" descr="A screenshot of a computer  AI-generated content may be incorrect.">
            <a:extLst>
              <a:ext uri="{FF2B5EF4-FFF2-40B4-BE49-F238E27FC236}">
                <a16:creationId xmlns:a16="http://schemas.microsoft.com/office/drawing/2014/main" id="{961D7D3F-2227-2912-8507-AC2165A2138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7862" y="2055163"/>
            <a:ext cx="6434137" cy="482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29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414F-7507-E1C5-AF30-7A3EAD09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383E8-C34E-B05F-2672-A4A4B32C9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4663"/>
            <a:ext cx="10515600" cy="3334237"/>
          </a:xfrm>
        </p:spPr>
        <p:txBody>
          <a:bodyPr/>
          <a:lstStyle/>
          <a:p>
            <a:r>
              <a:rPr lang="en-US" dirty="0"/>
              <a:t>Start Anaconda Navigator </a:t>
            </a:r>
          </a:p>
          <a:p>
            <a:r>
              <a:rPr lang="en-US" dirty="0"/>
              <a:t>Sign in is optional</a:t>
            </a:r>
          </a:p>
          <a:p>
            <a:r>
              <a:rPr lang="en-US" dirty="0"/>
              <a:t>Launch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6146" name="Picture 2" descr="Anaconda navigator Icons, Logos, Symbols – Free Download PNG ...">
            <a:extLst>
              <a:ext uri="{FF2B5EF4-FFF2-40B4-BE49-F238E27FC236}">
                <a16:creationId xmlns:a16="http://schemas.microsoft.com/office/drawing/2014/main" id="{F732CDF1-F30A-192A-A84F-DA66483F1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28925" y="1875875"/>
            <a:ext cx="2824712" cy="282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16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9715-663E-A1EA-FA6E-52DCCC123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790" y="805278"/>
            <a:ext cx="10515600" cy="1325563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Jupyter</a:t>
            </a:r>
            <a:r>
              <a:rPr lang="en-US" dirty="0"/>
              <a:t> Notebook? </a:t>
            </a:r>
          </a:p>
        </p:txBody>
      </p:sp>
      <p:pic>
        <p:nvPicPr>
          <p:cNvPr id="7" name="Picture 6" descr="A logo with text and circles  AI-generated content may be incorrect.">
            <a:extLst>
              <a:ext uri="{FF2B5EF4-FFF2-40B4-BE49-F238E27FC236}">
                <a16:creationId xmlns:a16="http://schemas.microsoft.com/office/drawing/2014/main" id="{F8696820-290B-AFC3-BB38-2723B9583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6825" y="3038474"/>
            <a:ext cx="2032000" cy="2183925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E9839B3A-07EF-D9FC-A35B-0708159705FA}"/>
              </a:ext>
            </a:extLst>
          </p:cNvPr>
          <p:cNvSpPr/>
          <p:nvPr/>
        </p:nvSpPr>
        <p:spPr>
          <a:xfrm>
            <a:off x="793790" y="213084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9F5DD6AF-2FFB-6183-EABE-5F6EF0F43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2173347"/>
            <a:ext cx="340162" cy="425291"/>
          </a:xfrm>
          <a:prstGeom prst="rect">
            <a:avLst/>
          </a:prstGeom>
        </p:spPr>
      </p:pic>
      <p:sp>
        <p:nvSpPr>
          <p:cNvPr id="12" name="Text 3">
            <a:extLst>
              <a:ext uri="{FF2B5EF4-FFF2-40B4-BE49-F238E27FC236}">
                <a16:creationId xmlns:a16="http://schemas.microsoft.com/office/drawing/2014/main" id="{A0F4439A-5ACA-11CB-8539-A505E1EA160D}"/>
              </a:ext>
            </a:extLst>
          </p:cNvPr>
          <p:cNvSpPr/>
          <p:nvPr/>
        </p:nvSpPr>
        <p:spPr>
          <a:xfrm>
            <a:off x="1530906" y="2208708"/>
            <a:ext cx="31938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Interactive Environment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18AA724-C5F5-DA1B-F6C6-E14BA78F719F}"/>
              </a:ext>
            </a:extLst>
          </p:cNvPr>
          <p:cNvSpPr/>
          <p:nvPr/>
        </p:nvSpPr>
        <p:spPr>
          <a:xfrm>
            <a:off x="1530906" y="269912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Create documents that mix code, output, and explanatory text.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528143B1-D011-BA61-6384-52497E1039D3}"/>
              </a:ext>
            </a:extLst>
          </p:cNvPr>
          <p:cNvSpPr/>
          <p:nvPr/>
        </p:nvSpPr>
        <p:spPr>
          <a:xfrm>
            <a:off x="793790" y="327253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12C69BCC-0C68-FA89-AC88-020D67288E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315037"/>
            <a:ext cx="340162" cy="425291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76774ED9-0D8E-B449-BE75-4360EA9BA47D}"/>
              </a:ext>
            </a:extLst>
          </p:cNvPr>
          <p:cNvSpPr/>
          <p:nvPr/>
        </p:nvSpPr>
        <p:spPr>
          <a:xfrm>
            <a:off x="1530906" y="33503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Cell-Based Structure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E9D161C0-21DE-5CCE-BD37-1D710A66FC19}"/>
              </a:ext>
            </a:extLst>
          </p:cNvPr>
          <p:cNvSpPr/>
          <p:nvPr/>
        </p:nvSpPr>
        <p:spPr>
          <a:xfrm>
            <a:off x="1530906" y="38408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Break work into steps (cells), run each step, and see results immediately.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09F8274-523A-59C2-D147-96BA08307295}"/>
              </a:ext>
            </a:extLst>
          </p:cNvPr>
          <p:cNvSpPr/>
          <p:nvPr/>
        </p:nvSpPr>
        <p:spPr>
          <a:xfrm>
            <a:off x="793790" y="464270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B049108F-63CF-82F7-3814-62A920CEA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4685209"/>
            <a:ext cx="340162" cy="425291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70B74460-1EFC-8653-269C-EA052933E5B5}"/>
              </a:ext>
            </a:extLst>
          </p:cNvPr>
          <p:cNvSpPr/>
          <p:nvPr/>
        </p:nvSpPr>
        <p:spPr>
          <a:xfrm>
            <a:off x="1530906" y="4720571"/>
            <a:ext cx="283690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Visualization Support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EA8EB27-C646-6A75-29B6-D864965A19CC}"/>
              </a:ext>
            </a:extLst>
          </p:cNvPr>
          <p:cNvSpPr/>
          <p:nvPr/>
        </p:nvSpPr>
        <p:spPr>
          <a:xfrm>
            <a:off x="1530906" y="5210989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Display charts and graphs directly in your notebook.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9CC2B0DA-10AA-935C-F10F-DC1CEE5C7FE0}"/>
              </a:ext>
            </a:extLst>
          </p:cNvPr>
          <p:cNvSpPr/>
          <p:nvPr/>
        </p:nvSpPr>
        <p:spPr>
          <a:xfrm>
            <a:off x="793790" y="572129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83BB0CDC-B0C1-7E7B-F63A-ED2661263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5763796"/>
            <a:ext cx="340162" cy="425291"/>
          </a:xfrm>
          <a:prstGeom prst="rect">
            <a:avLst/>
          </a:prstGeom>
        </p:spPr>
      </p:pic>
      <p:sp>
        <p:nvSpPr>
          <p:cNvPr id="24" name="Text 12">
            <a:extLst>
              <a:ext uri="{FF2B5EF4-FFF2-40B4-BE49-F238E27FC236}">
                <a16:creationId xmlns:a16="http://schemas.microsoft.com/office/drawing/2014/main" id="{EB74939F-C703-6F5C-BB15-D62C370AF2A5}"/>
              </a:ext>
            </a:extLst>
          </p:cNvPr>
          <p:cNvSpPr/>
          <p:nvPr/>
        </p:nvSpPr>
        <p:spPr>
          <a:xfrm>
            <a:off x="1530906" y="57991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Shareable Format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F600646C-D4BE-91AF-9A42-E77FCDB623DC}"/>
              </a:ext>
            </a:extLst>
          </p:cNvPr>
          <p:cNvSpPr/>
          <p:nvPr/>
        </p:nvSpPr>
        <p:spPr>
          <a:xfrm>
            <a:off x="1530906" y="618908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Easy to share your analysis and results with others.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19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0485-DF61-F875-434E-35191022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the </a:t>
            </a:r>
            <a:r>
              <a:rPr lang="en-US" dirty="0" err="1"/>
              <a:t>Jupyter</a:t>
            </a:r>
            <a:r>
              <a:rPr lang="en-US" dirty="0"/>
              <a:t> Notebook Interface</a:t>
            </a:r>
          </a:p>
        </p:txBody>
      </p:sp>
      <p:pic>
        <p:nvPicPr>
          <p:cNvPr id="4" name="Picture 3" descr="A screenshot of a computer  AI-generated content may be incorrect.">
            <a:extLst>
              <a:ext uri="{FF2B5EF4-FFF2-40B4-BE49-F238E27FC236}">
                <a16:creationId xmlns:a16="http://schemas.microsoft.com/office/drawing/2014/main" id="{AD662A62-F156-1A95-28AB-13FFD23E5B6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73"/>
          <a:stretch>
            <a:fillRect/>
          </a:stretch>
        </p:blipFill>
        <p:spPr>
          <a:xfrm>
            <a:off x="383848" y="2895326"/>
            <a:ext cx="11693852" cy="307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04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E7C33-094B-CDB0-C5B9-FE54F16F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0714-60BD-F7BF-C1D2-439C6AA39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407"/>
            <a:ext cx="10515600" cy="1325563"/>
          </a:xfrm>
        </p:spPr>
        <p:txBody>
          <a:bodyPr/>
          <a:lstStyle/>
          <a:p>
            <a:r>
              <a:rPr lang="en-US" dirty="0"/>
              <a:t>Navigating the </a:t>
            </a:r>
            <a:r>
              <a:rPr lang="en-US" dirty="0" err="1"/>
              <a:t>Jupyter</a:t>
            </a:r>
            <a:r>
              <a:rPr lang="en-US" dirty="0"/>
              <a:t> Notebook Interface</a:t>
            </a:r>
          </a:p>
        </p:txBody>
      </p:sp>
      <p:pic>
        <p:nvPicPr>
          <p:cNvPr id="4" name="Picture 3" descr="A screenshot of a computer  AI-generated content may be incorrect.">
            <a:extLst>
              <a:ext uri="{FF2B5EF4-FFF2-40B4-BE49-F238E27FC236}">
                <a16:creationId xmlns:a16="http://schemas.microsoft.com/office/drawing/2014/main" id="{4236FF8B-BB7C-C6DA-4D2D-FCFE7D7E4C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15"/>
          <a:stretch>
            <a:fillRect/>
          </a:stretch>
        </p:blipFill>
        <p:spPr>
          <a:xfrm>
            <a:off x="3885758" y="1766856"/>
            <a:ext cx="6529830" cy="5091144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125B203-9BFC-D3D4-1165-2B769381F3B2}"/>
              </a:ext>
            </a:extLst>
          </p:cNvPr>
          <p:cNvSpPr/>
          <p:nvPr/>
        </p:nvSpPr>
        <p:spPr>
          <a:xfrm>
            <a:off x="3885758" y="2304013"/>
            <a:ext cx="5557838" cy="60007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068D7D-1647-C749-890E-05D462548B81}"/>
              </a:ext>
            </a:extLst>
          </p:cNvPr>
          <p:cNvSpPr txBox="1"/>
          <p:nvPr/>
        </p:nvSpPr>
        <p:spPr>
          <a:xfrm>
            <a:off x="1826726" y="1934681"/>
            <a:ext cx="11208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Menu bar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C86D90-2139-C28F-9EEA-0176F7C33283}"/>
              </a:ext>
            </a:extLst>
          </p:cNvPr>
          <p:cNvCxnSpPr>
            <a:stCxn id="5" idx="2"/>
            <a:endCxn id="6" idx="3"/>
          </p:cNvCxnSpPr>
          <p:nvPr/>
        </p:nvCxnSpPr>
        <p:spPr>
          <a:xfrm flipH="1" flipV="1">
            <a:off x="2947546" y="2119347"/>
            <a:ext cx="938212" cy="484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FDB8438-BF31-D9D5-8114-19BF45283F3E}"/>
              </a:ext>
            </a:extLst>
          </p:cNvPr>
          <p:cNvSpPr txBox="1"/>
          <p:nvPr/>
        </p:nvSpPr>
        <p:spPr>
          <a:xfrm>
            <a:off x="1471613" y="2786063"/>
            <a:ext cx="9660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Tool bar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DB1BB3-753D-B0D6-BEB1-908D9D7A7C29}"/>
              </a:ext>
            </a:extLst>
          </p:cNvPr>
          <p:cNvSpPr/>
          <p:nvPr/>
        </p:nvSpPr>
        <p:spPr>
          <a:xfrm>
            <a:off x="3909570" y="2786063"/>
            <a:ext cx="5557838" cy="600075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11EE34-871F-6325-C2D0-1A9FAB60462F}"/>
              </a:ext>
            </a:extLst>
          </p:cNvPr>
          <p:cNvCxnSpPr>
            <a:stCxn id="10" idx="2"/>
            <a:endCxn id="9" idx="3"/>
          </p:cNvCxnSpPr>
          <p:nvPr/>
        </p:nvCxnSpPr>
        <p:spPr>
          <a:xfrm flipH="1" flipV="1">
            <a:off x="2437711" y="2970729"/>
            <a:ext cx="1471859" cy="115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A0DEB36-883F-223E-1BEA-18B7FA08B2F1}"/>
              </a:ext>
            </a:extLst>
          </p:cNvPr>
          <p:cNvSpPr/>
          <p:nvPr/>
        </p:nvSpPr>
        <p:spPr>
          <a:xfrm>
            <a:off x="4586288" y="4456665"/>
            <a:ext cx="2800350" cy="600075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6C2A12-FE07-950B-72F8-035F62B5D3A0}"/>
              </a:ext>
            </a:extLst>
          </p:cNvPr>
          <p:cNvSpPr/>
          <p:nvPr/>
        </p:nvSpPr>
        <p:spPr>
          <a:xfrm>
            <a:off x="4586288" y="4972050"/>
            <a:ext cx="2800350" cy="600075"/>
          </a:xfrm>
          <a:prstGeom prst="ellipse">
            <a:avLst/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DF214-6610-0B32-6585-A17D027DA979}"/>
              </a:ext>
            </a:extLst>
          </p:cNvPr>
          <p:cNvSpPr txBox="1"/>
          <p:nvPr/>
        </p:nvSpPr>
        <p:spPr>
          <a:xfrm>
            <a:off x="1954662" y="4312428"/>
            <a:ext cx="128913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Input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9D7D02-C8CD-765B-B0EE-9480F99A0609}"/>
              </a:ext>
            </a:extLst>
          </p:cNvPr>
          <p:cNvSpPr txBox="1"/>
          <p:nvPr/>
        </p:nvSpPr>
        <p:spPr>
          <a:xfrm>
            <a:off x="2170842" y="5056740"/>
            <a:ext cx="88998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B1192A-34DE-05ED-1043-5D945E7F07B9}"/>
              </a:ext>
            </a:extLst>
          </p:cNvPr>
          <p:cNvCxnSpPr>
            <a:endCxn id="15" idx="3"/>
          </p:cNvCxnSpPr>
          <p:nvPr/>
        </p:nvCxnSpPr>
        <p:spPr>
          <a:xfrm flipH="1" flipV="1">
            <a:off x="3243797" y="4497094"/>
            <a:ext cx="1342491" cy="259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7C6638A-ECF2-2E92-A5D9-6A3990AE4AC6}"/>
              </a:ext>
            </a:extLst>
          </p:cNvPr>
          <p:cNvCxnSpPr>
            <a:stCxn id="14" idx="2"/>
            <a:endCxn id="16" idx="3"/>
          </p:cNvCxnSpPr>
          <p:nvPr/>
        </p:nvCxnSpPr>
        <p:spPr>
          <a:xfrm flipH="1" flipV="1">
            <a:off x="3060829" y="5241406"/>
            <a:ext cx="1525459" cy="306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C11D035C-2676-6072-246B-717EC0BC4AD1}"/>
              </a:ext>
            </a:extLst>
          </p:cNvPr>
          <p:cNvSpPr/>
          <p:nvPr/>
        </p:nvSpPr>
        <p:spPr>
          <a:xfrm>
            <a:off x="6386070" y="2806634"/>
            <a:ext cx="557213" cy="528638"/>
          </a:xfrm>
          <a:prstGeom prst="ellipse">
            <a:avLst/>
          </a:prstGeom>
          <a:noFill/>
          <a:ln w="2857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2BDBFD-4464-A2DE-9256-4977A34B7179}"/>
              </a:ext>
            </a:extLst>
          </p:cNvPr>
          <p:cNvSpPr txBox="1"/>
          <p:nvPr/>
        </p:nvSpPr>
        <p:spPr>
          <a:xfrm>
            <a:off x="10598001" y="3796787"/>
            <a:ext cx="128663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Run button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ABBFFA-31E2-1615-D495-13B258ABEDE9}"/>
              </a:ext>
            </a:extLst>
          </p:cNvPr>
          <p:cNvCxnSpPr>
            <a:stCxn id="21" idx="6"/>
            <a:endCxn id="22" idx="1"/>
          </p:cNvCxnSpPr>
          <p:nvPr/>
        </p:nvCxnSpPr>
        <p:spPr>
          <a:xfrm>
            <a:off x="6943283" y="3070953"/>
            <a:ext cx="3654718" cy="91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557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 AI-generated content may be incorrect.">
            <a:extLst>
              <a:ext uri="{FF2B5EF4-FFF2-40B4-BE49-F238E27FC236}">
                <a16:creationId xmlns:a16="http://schemas.microsoft.com/office/drawing/2014/main" id="{2FB15927-D988-DEBE-DE82-A310B23C5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542" y="1704731"/>
            <a:ext cx="11802915" cy="39398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996E1B-E0C8-0A97-A1F4-72D1DA6B5C72}"/>
              </a:ext>
            </a:extLst>
          </p:cNvPr>
          <p:cNvSpPr txBox="1"/>
          <p:nvPr/>
        </p:nvSpPr>
        <p:spPr>
          <a:xfrm>
            <a:off x="6972300" y="3674665"/>
            <a:ext cx="118333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Code cell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B63E1F-4FC4-2F8F-C3AD-1E2EB788F798}"/>
              </a:ext>
            </a:extLst>
          </p:cNvPr>
          <p:cNvSpPr txBox="1"/>
          <p:nvPr/>
        </p:nvSpPr>
        <p:spPr>
          <a:xfrm>
            <a:off x="6972300" y="4155677"/>
            <a:ext cx="381925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Output, after you hit the run button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65F98-0A53-7732-933C-DE4B089CE2BC}"/>
              </a:ext>
            </a:extLst>
          </p:cNvPr>
          <p:cNvSpPr txBox="1"/>
          <p:nvPr/>
        </p:nvSpPr>
        <p:spPr>
          <a:xfrm>
            <a:off x="6095999" y="4634703"/>
            <a:ext cx="171797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Markdown cell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7D8D73-ED63-960F-DB28-06462AEBED35}"/>
              </a:ext>
            </a:extLst>
          </p:cNvPr>
          <p:cNvSpPr txBox="1"/>
          <p:nvPr/>
        </p:nvSpPr>
        <p:spPr>
          <a:xfrm>
            <a:off x="2452688" y="844068"/>
            <a:ext cx="189071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Notebook Name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2FE320-0A3C-CAD1-9619-D8565F5F6B6B}"/>
              </a:ext>
            </a:extLst>
          </p:cNvPr>
          <p:cNvCxnSpPr>
            <a:cxnSpLocks/>
          </p:cNvCxnSpPr>
          <p:nvPr/>
        </p:nvCxnSpPr>
        <p:spPr>
          <a:xfrm flipH="1">
            <a:off x="2957513" y="1213400"/>
            <a:ext cx="497680" cy="629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8E18690-7CA1-894F-5F06-27FF13ADB785}"/>
              </a:ext>
            </a:extLst>
          </p:cNvPr>
          <p:cNvSpPr/>
          <p:nvPr/>
        </p:nvSpPr>
        <p:spPr>
          <a:xfrm>
            <a:off x="585788" y="3460352"/>
            <a:ext cx="485775" cy="428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5646BB-8606-1795-B29C-AB7D4588BE3F}"/>
              </a:ext>
            </a:extLst>
          </p:cNvPr>
          <p:cNvSpPr txBox="1"/>
          <p:nvPr/>
        </p:nvSpPr>
        <p:spPr>
          <a:xfrm>
            <a:off x="342900" y="6013932"/>
            <a:ext cx="237520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Number of executions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368C4B-EBAE-5190-D620-1742341F4FB9}"/>
              </a:ext>
            </a:extLst>
          </p:cNvPr>
          <p:cNvCxnSpPr>
            <a:stCxn id="20" idx="0"/>
            <a:endCxn id="19" idx="2"/>
          </p:cNvCxnSpPr>
          <p:nvPr/>
        </p:nvCxnSpPr>
        <p:spPr>
          <a:xfrm flipH="1" flipV="1">
            <a:off x="828676" y="3888977"/>
            <a:ext cx="701825" cy="2124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1672424-C86A-2022-CFD1-CE903BB5681A}"/>
              </a:ext>
            </a:extLst>
          </p:cNvPr>
          <p:cNvSpPr/>
          <p:nvPr/>
        </p:nvSpPr>
        <p:spPr>
          <a:xfrm>
            <a:off x="7135206" y="2605475"/>
            <a:ext cx="2208819" cy="428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F33C1F-51F2-A9F3-B1B6-33B6296899D6}"/>
              </a:ext>
            </a:extLst>
          </p:cNvPr>
          <p:cNvSpPr txBox="1"/>
          <p:nvPr/>
        </p:nvSpPr>
        <p:spPr>
          <a:xfrm>
            <a:off x="9115425" y="5882091"/>
            <a:ext cx="288203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Adds code/markdown line above or below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C1D937-25C4-24EB-FBE8-A5DF0F7DBA3C}"/>
              </a:ext>
            </a:extLst>
          </p:cNvPr>
          <p:cNvCxnSpPr>
            <a:stCxn id="25" idx="0"/>
          </p:cNvCxnSpPr>
          <p:nvPr/>
        </p:nvCxnSpPr>
        <p:spPr>
          <a:xfrm flipV="1">
            <a:off x="10556441" y="3918186"/>
            <a:ext cx="459222" cy="1963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9C9613A-E323-ABC5-EBF8-4632183F8E10}"/>
              </a:ext>
            </a:extLst>
          </p:cNvPr>
          <p:cNvSpPr/>
          <p:nvPr/>
        </p:nvSpPr>
        <p:spPr>
          <a:xfrm>
            <a:off x="10748689" y="3509346"/>
            <a:ext cx="857523" cy="42862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52D636-5569-43A0-13C8-724D17D3A4F8}"/>
              </a:ext>
            </a:extLst>
          </p:cNvPr>
          <p:cNvSpPr txBox="1"/>
          <p:nvPr/>
        </p:nvSpPr>
        <p:spPr>
          <a:xfrm>
            <a:off x="7894145" y="1398355"/>
            <a:ext cx="2680684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Shows the running engine on the backend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2235A50-7B45-5ADC-68B8-046AAC35D6B7}"/>
              </a:ext>
            </a:extLst>
          </p:cNvPr>
          <p:cNvCxnSpPr>
            <a:stCxn id="29" idx="2"/>
          </p:cNvCxnSpPr>
          <p:nvPr/>
        </p:nvCxnSpPr>
        <p:spPr>
          <a:xfrm flipH="1">
            <a:off x="8239615" y="2044686"/>
            <a:ext cx="994872" cy="560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361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CDC9-D795-DD72-1572-F4122708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091E-EAF5-8656-97C0-4F19DF1D2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2"/>
            <a:ext cx="10515600" cy="1400000"/>
          </a:xfrm>
        </p:spPr>
        <p:txBody>
          <a:bodyPr/>
          <a:lstStyle/>
          <a:p>
            <a:pPr lvl="0"/>
            <a:r>
              <a:rPr lang="en-US" dirty="0"/>
              <a:t>A variable is a named reference to a value stored in memory.</a:t>
            </a:r>
          </a:p>
          <a:p>
            <a:pPr lvl="0"/>
            <a:r>
              <a:rPr lang="en-US" dirty="0"/>
              <a:t>Python is </a:t>
            </a:r>
            <a:r>
              <a:rPr lang="en-US" b="1" dirty="0"/>
              <a:t>dynamically typed</a:t>
            </a:r>
            <a:r>
              <a:rPr lang="en-US" dirty="0"/>
              <a:t> — the type is inferred at runtime. The same variable name can be reassigned to a different type.</a:t>
            </a:r>
          </a:p>
          <a:p>
            <a:pPr lvl="0"/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0062D7-1C19-4ECD-A1CC-1FBD498970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600" r="53577"/>
          <a:stretch>
            <a:fillRect/>
          </a:stretch>
        </p:blipFill>
        <p:spPr>
          <a:xfrm>
            <a:off x="838200" y="4120382"/>
            <a:ext cx="9184050" cy="163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3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0C70-66C9-73B1-D42B-66F02077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142F5-9DAE-FB1D-1D77-D8C102761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str — immutable text sequence</a:t>
            </a:r>
            <a:r>
              <a:rPr lang="en-US" dirty="0"/>
              <a:t>: "Hello". Supports slicing, f-strings, .split()/.join(). "Hello"[1:3] == "el"</a:t>
            </a:r>
          </a:p>
          <a:p>
            <a:pPr lvl="0"/>
            <a:r>
              <a:rPr lang="en-US" b="1" dirty="0"/>
              <a:t>int — arbitrary precision whole number</a:t>
            </a:r>
            <a:r>
              <a:rPr lang="en-US" dirty="0"/>
              <a:t>: 14, -3, 10**100. No overflow. Division always returns float: 7/2 == 3.5</a:t>
            </a:r>
          </a:p>
          <a:p>
            <a:pPr lvl="0"/>
            <a:r>
              <a:rPr lang="en-US" b="1" dirty="0"/>
              <a:t>float — 64-bit IEEE 754 decimal</a:t>
            </a:r>
            <a:r>
              <a:rPr lang="en-US" dirty="0"/>
              <a:t>: 3.14. Caution: floating-point precision means 0.1 + 0.2 != 0.3</a:t>
            </a:r>
          </a:p>
          <a:p>
            <a:pPr lvl="0"/>
            <a:r>
              <a:rPr lang="en-US" b="1" dirty="0"/>
              <a:t>bool — subclass of int (True==1, False==0)</a:t>
            </a:r>
            <a:r>
              <a:rPr lang="en-US" dirty="0"/>
              <a:t>: True, False. Drives control flow; supports and/or/not operators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208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AF4F-8BF7-166D-224A-957B4BEB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4F32-F5DE-66D9-D133-0A82FA9E3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10515600" cy="1121055"/>
          </a:xfrm>
        </p:spPr>
        <p:txBody>
          <a:bodyPr/>
          <a:lstStyle/>
          <a:p>
            <a:pPr lvl="0"/>
            <a:r>
              <a:rPr lang="en-US" dirty="0"/>
              <a:t>print() writes to stdout by default. Can redirect to stderr with file=sys.stderr, or to a file. Accepts sep= and end= kwargs for formatting.</a:t>
            </a:r>
          </a:p>
          <a:p>
            <a:pPr lvl="0"/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E57481-6090-E639-A67E-5593BDD05A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678"/>
          <a:stretch>
            <a:fillRect/>
          </a:stretch>
        </p:blipFill>
        <p:spPr>
          <a:xfrm>
            <a:off x="918289" y="4056500"/>
            <a:ext cx="10253760" cy="128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88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E37-BEAC-2450-20DA-D49D01EE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(3 Ways)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43E32-FE04-B113-BC3B-4382138AE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200" b="1" dirty="0"/>
              <a:t>Concatenation (avoid — fragile with non-strings):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	name = "Alice"</a:t>
            </a:r>
          </a:p>
          <a:p>
            <a:pPr marL="0" indent="0">
              <a:buNone/>
            </a:pPr>
            <a:r>
              <a:rPr lang="en-US" sz="3200" dirty="0"/>
              <a:t>	print("Hello, " + name)</a:t>
            </a:r>
          </a:p>
          <a:p>
            <a:pPr lvl="0"/>
            <a:r>
              <a:rPr lang="en-US" sz="3200" b="1" dirty="0"/>
              <a:t>f-string (preferred — readable and efficient):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	print(f"Hello, {name}! You are {age} years old.")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327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06EC0-EFE4-2843-B5DE-B9A6B4AB5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2C05-4A7D-CB52-F6DF-11215CB53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input() always returns a string — cast to int or float for numeric input. Validate before using.</a:t>
            </a:r>
          </a:p>
          <a:p>
            <a:pPr marL="0" indent="0">
              <a:buNone/>
            </a:pPr>
            <a:r>
              <a:rPr lang="en-US" dirty="0"/>
              <a:t>	age = int(input("Enter your age: "))  # cast to int</a:t>
            </a:r>
          </a:p>
          <a:p>
            <a:pPr marL="0" indent="0">
              <a:buNone/>
            </a:pPr>
            <a:r>
              <a:rPr lang="en-US" dirty="0"/>
              <a:t>	print(f"In 5 years you will be {age + 5}")  # arithmetic now works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8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46BF-8B6B-4B0D-A24E-8B859C89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Fundamentals: Mini 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A2DF7-8E75-90B8-022A-FB4EF3768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5257800" cy="3572911"/>
          </a:xfrm>
        </p:spPr>
        <p:txBody>
          <a:bodyPr/>
          <a:lstStyle/>
          <a:p>
            <a:pPr lvl="0"/>
            <a:r>
              <a:rPr lang="en-US" dirty="0"/>
              <a:t>Exercise A — Type Exploration:</a:t>
            </a:r>
          </a:p>
          <a:p>
            <a:pPr lvl="1"/>
            <a:r>
              <a:rPr lang="en-US" dirty="0"/>
              <a:t>Create a float variable, then convert it to int. What happens to the decimal?</a:t>
            </a:r>
          </a:p>
          <a:p>
            <a:pPr lvl="1"/>
            <a:r>
              <a:rPr lang="en-US" dirty="0"/>
              <a:t>Create a string "3.14" and convert it to float. What happens with int("3.14")?</a:t>
            </a:r>
          </a:p>
          <a:p>
            <a:pPr lvl="1"/>
            <a:r>
              <a:rPr lang="en-US" dirty="0"/>
              <a:t>Assign x = 5, then x = "five". What does type(x) return each time? Why?</a:t>
            </a:r>
          </a:p>
          <a:p>
            <a:pPr lvl="0"/>
            <a:r>
              <a:rPr lang="en-US" dirty="0"/>
              <a:t>Exercise B — f-string formatting:</a:t>
            </a:r>
          </a:p>
          <a:p>
            <a:pPr marL="0" indent="0">
              <a:buNone/>
            </a:pPr>
            <a:r>
              <a:rPr lang="en-US" dirty="0"/>
              <a:t>Store a name, age, and GPA. Print: "Alice (age 17) has a 3.85 GPA." using an f-string. Round GPA to 1 decimal.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70F6AD-23AC-7CFC-559E-013528B934E4}"/>
              </a:ext>
            </a:extLst>
          </p:cNvPr>
          <p:cNvSpPr txBox="1">
            <a:spLocks/>
          </p:cNvSpPr>
          <p:nvPr/>
        </p:nvSpPr>
        <p:spPr>
          <a:xfrm>
            <a:off x="6200833" y="2615300"/>
            <a:ext cx="5257800" cy="357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Exercise C — Input + type casting:</a:t>
            </a:r>
          </a:p>
          <a:p>
            <a:pPr lvl="1"/>
            <a:r>
              <a:rPr lang="en-US" dirty="0"/>
              <a:t>Prompt for two numbers, cast to float, print their sum, difference, and ratio.</a:t>
            </a:r>
          </a:p>
          <a:p>
            <a:pPr lvl="1"/>
            <a:r>
              <a:rPr lang="en-US" dirty="0"/>
              <a:t>Handle the case where the user types a non-number — what error do you get?</a:t>
            </a:r>
          </a:p>
          <a:p>
            <a:pPr lvl="0"/>
            <a:r>
              <a:rPr lang="en-US" dirty="0"/>
              <a:t>Exercise B — f-string formatting:</a:t>
            </a:r>
            <a:br>
              <a:rPr lang="en-US" dirty="0"/>
            </a:br>
            <a:endParaRPr lang="en-US" dirty="0"/>
          </a:p>
          <a:p>
            <a:pPr marL="0" lvl="0" indent="0">
              <a:buNone/>
            </a:pPr>
            <a:r>
              <a:rPr lang="en-US" dirty="0"/>
              <a:t>Bonus: use a try/except block to catch the ValueError and print a helpful message instead.</a:t>
            </a:r>
          </a:p>
        </p:txBody>
      </p:sp>
    </p:spTree>
    <p:extLst>
      <p:ext uri="{BB962C8B-B14F-4D97-AF65-F5344CB8AC3E}">
        <p14:creationId xmlns:p14="http://schemas.microsoft.com/office/powerpoint/2010/main" val="61852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4462-F7BC-EA22-157D-625450D5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Lists – A Collection of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B369E-886C-4ED1-D535-D1983508B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dirty="0"/>
              <a:t>A </a:t>
            </a:r>
            <a:r>
              <a:rPr lang="en-US" sz="3600" b="1" dirty="0"/>
              <a:t>list</a:t>
            </a:r>
            <a:r>
              <a:rPr lang="en-US" sz="3600" dirty="0"/>
              <a:t> is an ordered, mutable sequence. Supports mixed types, negative indexing, and slicing.</a:t>
            </a:r>
          </a:p>
          <a:p>
            <a:pPr lvl="0"/>
            <a:r>
              <a:rPr lang="en-US" sz="3600" dirty="0"/>
              <a:t>Example:</a:t>
            </a:r>
          </a:p>
          <a:p>
            <a:pPr marL="0" indent="0">
              <a:buNone/>
            </a:pPr>
            <a:r>
              <a:rPr lang="en-US" sz="3600" dirty="0"/>
              <a:t>	colors = ["red", "blue", "green"]</a:t>
            </a:r>
          </a:p>
          <a:p>
            <a:pPr marL="0" indent="0">
              <a:buNone/>
            </a:pPr>
            <a:r>
              <a:rPr lang="en-US" sz="3600" dirty="0"/>
              <a:t>	print(colors)</a:t>
            </a:r>
          </a:p>
          <a:p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6245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E09C-009F-3ADC-5015-0EF3B811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List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BF544-833A-FC39-B988-9B848C7F4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dirty="0"/>
              <a:t>Python uses zero-based indexing. Negative indices count from the end: </a:t>
            </a:r>
            <a:r>
              <a:rPr lang="en-US" sz="3600" b="1" dirty="0"/>
              <a:t>colors[-1]</a:t>
            </a:r>
            <a:r>
              <a:rPr lang="en-US" sz="3600" dirty="0"/>
              <a:t> == last element. Slicing: colors[1:3] returns elements at index 1 and 2.</a:t>
            </a:r>
          </a:p>
          <a:p>
            <a:pPr marL="0" indent="0">
              <a:buNone/>
            </a:pPr>
            <a:r>
              <a:rPr lang="en-US" sz="3600" dirty="0"/>
              <a:t>	print(colors[-1])   # green (last)</a:t>
            </a:r>
          </a:p>
          <a:p>
            <a:pPr marL="0" indent="0">
              <a:buNone/>
            </a:pPr>
            <a:r>
              <a:rPr lang="en-US" sz="3600" dirty="0"/>
              <a:t>	print(colors[1:3])  # ['blue', 'green'] — slicing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78975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C8EE-C43F-D2ED-00FF-50BC62FF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and Changing List Items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F2D4D-A6D8-0B5A-052C-4AEB2682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sz="3600" dirty="0"/>
              <a:t>Common list methods (lists are mutable — in-place modification):</a:t>
            </a:r>
          </a:p>
          <a:p>
            <a:pPr marL="0" indent="0">
              <a:buNone/>
            </a:pPr>
            <a:r>
              <a:rPr lang="en-US" sz="3600" dirty="0" err="1"/>
              <a:t>colors.append</a:t>
            </a:r>
            <a:r>
              <a:rPr lang="en-US" sz="3600" dirty="0"/>
              <a:t>("yellow")</a:t>
            </a:r>
          </a:p>
          <a:p>
            <a:pPr marL="0" indent="0">
              <a:buNone/>
            </a:pPr>
            <a:r>
              <a:rPr lang="en-US" sz="3600" dirty="0"/>
              <a:t>print(colors)</a:t>
            </a:r>
          </a:p>
          <a:p>
            <a:pPr lvl="0"/>
            <a:r>
              <a:rPr lang="en-US" sz="3600" dirty="0"/>
              <a:t>Key methods: .append() — end, .insert(i, x) — at index, .remove(x) — first match, .sort() — in place, sorted() — returns new list</a:t>
            </a:r>
          </a:p>
          <a:p>
            <a:pPr marL="0" indent="0">
              <a:buNone/>
            </a:pPr>
            <a:r>
              <a:rPr lang="en-US" sz="3600" dirty="0"/>
              <a:t> colors[0] = "pink“</a:t>
            </a:r>
          </a:p>
          <a:p>
            <a:pPr marL="0" indent="0">
              <a:buNone/>
            </a:pPr>
            <a:r>
              <a:rPr lang="en-US" sz="3600" dirty="0"/>
              <a:t>print(colors)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85673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4ADE-4517-5B3B-090F-1117A7F15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Loops – Doing Things Repeatedly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DDAD0-9582-B238-8EDF-B6AD6CBD5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</a:t>
            </a:r>
            <a:r>
              <a:rPr lang="en-US" b="1" dirty="0"/>
              <a:t>for loop</a:t>
            </a:r>
            <a:r>
              <a:rPr lang="en-US" dirty="0"/>
              <a:t> iterates over any iterable. Use enumerate() to get index + value, range() for numeric sequences.</a:t>
            </a:r>
          </a:p>
          <a:p>
            <a:pPr marL="0" indent="0">
              <a:buNone/>
            </a:pPr>
            <a:r>
              <a:rPr lang="en-US" dirty="0"/>
              <a:t>	for i, color in enumerate(colors):</a:t>
            </a:r>
          </a:p>
          <a:p>
            <a:pPr marL="0" indent="0">
              <a:buNone/>
            </a:pPr>
            <a:r>
              <a:rPr lang="en-US" dirty="0"/>
              <a:t>		print(f"{i}: I like {color}")  # i=0,1,2...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373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ED2D1-50BC-B0C3-0E14-62D830D0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If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A362-27BF-8C17-4947-EDA5572AE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Use if/elif/else chains. Python uses and/or/not (not &amp;&amp;/||). Membership: "blue" in colors is O(n); use sets for O(1).</a:t>
            </a:r>
          </a:p>
          <a:p>
            <a:pPr marL="0" indent="0">
              <a:buNone/>
            </a:pPr>
            <a:r>
              <a:rPr lang="en-US" dirty="0"/>
              <a:t>	if "blue" in colors and len(colors) &gt; 2:</a:t>
            </a:r>
          </a:p>
          <a:p>
            <a:pPr marL="0" indent="0">
              <a:buNone/>
            </a:pPr>
            <a:r>
              <a:rPr lang="en-US" dirty="0"/>
              <a:t>	    print(f"Blue found! List has {len(colors)} items.")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321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92D37-8605-3051-7864-C84F76EF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Lists, Loops &amp; Conditionals: Mini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5FA52-E02F-6296-2337-24F438F8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Create a list of 5 exam scores (e.g., 88, 72.5, 95, 61, 83).</a:t>
            </a:r>
          </a:p>
          <a:p>
            <a:pPr lvl="0"/>
            <a:r>
              <a:rPr lang="en-US" dirty="0"/>
              <a:t>A — Loop and print each with a label: "Score 1: 88", etc.</a:t>
            </a:r>
            <a:br>
              <a:rPr lang="en-US" dirty="0"/>
            </a:br>
            <a:r>
              <a:rPr lang="en-US" dirty="0"/>
              <a:t>B — Add if/elif/else inside the loop to grade each score (A/B/C/Below C).</a:t>
            </a:r>
          </a:p>
          <a:p>
            <a:r>
              <a:rPr lang="en-US" dirty="0"/>
              <a:t>C — Calculate the mean without any library. Compare to sum(scores)/len(scores).</a:t>
            </a:r>
          </a:p>
        </p:txBody>
      </p:sp>
    </p:spTree>
    <p:extLst>
      <p:ext uri="{BB962C8B-B14F-4D97-AF65-F5344CB8AC3E}">
        <p14:creationId xmlns:p14="http://schemas.microsoft.com/office/powerpoint/2010/main" val="3310098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BBB1-3155-344E-145B-A6CEA948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Dictionary?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D5242-7D2C-997B-4E40-98F9D8928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dictionary stores data as </a:t>
            </a:r>
            <a:r>
              <a:rPr lang="en-US" b="1" dirty="0"/>
              <a:t>key-value pairs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	student = {"name": "Alice", "age": 14, "grade": 9}</a:t>
            </a:r>
            <a:endParaRPr lang="en-US" sz="4400" dirty="0"/>
          </a:p>
          <a:p>
            <a:pPr lvl="0"/>
            <a:r>
              <a:rPr lang="en-US" dirty="0"/>
              <a:t>Dicts are hash maps — O(1) average lookup. Keys must be </a:t>
            </a:r>
            <a:r>
              <a:rPr lang="en-US" b="1" dirty="0"/>
              <a:t>hashable (strings, ints, tuples)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Key: unique identifier — like a column name in a DataFrame</a:t>
            </a:r>
          </a:p>
          <a:p>
            <a:pPr lvl="1"/>
            <a:r>
              <a:rPr lang="en-US" dirty="0"/>
              <a:t>Value: any Python object — int, list, dict, even a function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242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F7CD-E52B-C2A1-F08A-068E3233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Accessing Dictionary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A3D59-077E-7A1E-1770-08CA9DE79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dirty="0"/>
              <a:t>Direct access raises KeyError if key missing. Use </a:t>
            </a:r>
            <a:r>
              <a:rPr lang="en-US" sz="3600" b="1" dirty="0"/>
              <a:t>.get()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sz="3600" dirty="0"/>
              <a:t>	print(student.get("gpa", 0.0))  # returns 0.0 if key missing</a:t>
            </a:r>
          </a:p>
          <a:p>
            <a:pPr marL="0" indent="0">
              <a:buNone/>
            </a:pPr>
            <a:r>
              <a:rPr lang="en-US" sz="3600" dirty="0"/>
              <a:t>	print(list(student.keys()))   # all keys as a list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27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EF1D1-4A68-A216-3E74-A442538D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and Updating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9B40-C7A9-1F50-750A-684F4B392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Three ways to add/update (all mutate the dict in place):</a:t>
            </a:r>
          </a:p>
          <a:p>
            <a:pPr marL="0" indent="0">
              <a:buNone/>
            </a:pPr>
            <a:r>
              <a:rPr lang="en-US" dirty="0"/>
              <a:t>	student["</a:t>
            </a:r>
            <a:r>
              <a:rPr lang="en-US" dirty="0" err="1"/>
              <a:t>favorite_color</a:t>
            </a:r>
            <a:r>
              <a:rPr lang="en-US" dirty="0"/>
              <a:t>"] = "blue"</a:t>
            </a:r>
          </a:p>
          <a:p>
            <a:endParaRPr lang="en-US" dirty="0"/>
          </a:p>
          <a:p>
            <a:pPr lvl="0"/>
            <a:r>
              <a:rPr lang="en-US" dirty="0"/>
              <a:t>Remove a key: del student["grade"]  or  student.pop("grade", None)</a:t>
            </a:r>
          </a:p>
          <a:p>
            <a:pPr marL="0" indent="0">
              <a:buNone/>
            </a:pPr>
            <a:r>
              <a:rPr lang="en-US" dirty="0"/>
              <a:t>	student.update({"age": 15, "gpa": 3.9})  # batch update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214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C5598-AFCC-7960-15C8-5A90D68EB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Loops with Dictionaries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ABB4-E572-42FE-084C-D025A8534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dirty="0"/>
              <a:t>Prefer .items() to unpack key-value pairs simultaneously. </a:t>
            </a:r>
            <a:r>
              <a:rPr lang="en-US" sz="3600" b="1" dirty="0"/>
              <a:t>Dict comprehensions build dicts concisely.</a:t>
            </a:r>
            <a:r>
              <a:rPr lang="en-US" sz="3600" dirty="0"/>
              <a:t>:</a:t>
            </a:r>
          </a:p>
          <a:p>
            <a:pPr marL="0" indent="0">
              <a:buNone/>
            </a:pPr>
            <a:r>
              <a:rPr lang="en-US" sz="3600" dirty="0"/>
              <a:t>	for key, val in student.items():  # preferred</a:t>
            </a:r>
          </a:p>
          <a:p>
            <a:pPr marL="0" indent="0">
              <a:buNone/>
            </a:pPr>
            <a:r>
              <a:rPr lang="en-US" sz="3600" dirty="0"/>
              <a:t>	    print(f"{key} -&gt; {val}")</a:t>
            </a:r>
          </a:p>
          <a:p>
            <a:pPr marL="0" indent="0">
              <a:buNone/>
            </a:pPr>
            <a:r>
              <a:rPr lang="en-US" sz="3600" dirty="0"/>
              <a:t> 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1238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Day 2: Data 101: Types, Formats, and Basic Statistics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CD1167-DFE7-CBB0-8037-40D23BA61B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071D4-FBB9-3A10-7C96-BF1F78F2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900" y="1099100"/>
            <a:ext cx="6438900" cy="1325563"/>
          </a:xfrm>
        </p:spPr>
        <p:txBody>
          <a:bodyPr/>
          <a:lstStyle/>
          <a:p>
            <a:r>
              <a:rPr lang="en-US" dirty="0"/>
              <a:t>Data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019C-37AC-6314-5142-2AB3BF126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898" y="2604051"/>
            <a:ext cx="6438901" cy="35729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Welcome to Data 101! </a:t>
            </a:r>
          </a:p>
          <a:p>
            <a:pPr marL="0" indent="0">
              <a:buNone/>
            </a:pPr>
            <a:r>
              <a:rPr lang="en-US" dirty="0"/>
              <a:t>In this chapter, we'll explore the fundamentals of data types, formats, and basic statistics. </a:t>
            </a:r>
          </a:p>
          <a:p>
            <a:pPr marL="0" indent="0">
              <a:buNone/>
            </a:pPr>
            <a:r>
              <a:rPr lang="en-US" dirty="0"/>
              <a:t>Think of yourself as a </a:t>
            </a:r>
            <a:r>
              <a:rPr lang="en-US" b="1" dirty="0"/>
              <a:t>data detective </a:t>
            </a:r>
            <a:r>
              <a:rPr lang="en-US" dirty="0"/>
              <a:t>learning to use essential tools to solve mysteries hidden in data points.</a:t>
            </a:r>
          </a:p>
          <a:p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6C7BF43-ABAD-9E27-D3F4-A2F482E0C4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58" y="183631"/>
            <a:ext cx="4327159" cy="64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51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447DF-7AFC-D0D8-8D75-81223683C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101: Learning Objectives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0C9B1D-AC7D-564B-3959-F75589E3A2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601042"/>
              </p:ext>
            </p:extLst>
          </p:nvPr>
        </p:nvGraphicFramePr>
        <p:xfrm>
          <a:off x="838200" y="2316480"/>
          <a:ext cx="7549896" cy="4350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CD7A2C6-A3B0-030A-6264-DA075F0723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6125" y="1288472"/>
            <a:ext cx="3585875" cy="5378812"/>
          </a:xfrm>
          <a:prstGeom prst="rect">
            <a:avLst/>
          </a:prstGeom>
        </p:spPr>
      </p:pic>
      <p:sp>
        <p:nvSpPr>
          <p:cNvPr id="10" name="Objectives Text"/>
          <p:cNvSpPr>
            <a:spLocks noGrp="1"/>
          </p:cNvSpPr>
          <p:nvPr/>
        </p:nvSpPr>
        <p:spPr>
          <a:xfrm>
            <a:off x="457200" y="1600200"/>
            <a:ext cx="11354400" cy="47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000" b="1" dirty="0"/>
              <a:t>By the end of this chapter you will be able to:</a:t>
            </a:r>
          </a:p>
          <a:p>
            <a:r>
              <a:rPr lang="en-US" sz="1800" dirty="0"/>
              <a:t>1. Classify any variable as nominal, ordinal, discrete, or continuous — and explain which statistical operations are valid for each type.</a:t>
            </a:r>
          </a:p>
          <a:p>
            <a:r>
              <a:rPr lang="en-US" sz="1800" dirty="0"/>
              <a:t>2. Identify data in CSV, JSON, database, and spreadsheet formats and explain the tradeoffs between them.</a:t>
            </a:r>
          </a:p>
          <a:p>
            <a:r>
              <a:rPr lang="en-US" sz="1800" dirty="0"/>
              <a:t>3. Compute mean, median, mode, range, and standard deviation by hand and in Python/R.</a:t>
            </a:r>
          </a:p>
          <a:p>
            <a:r>
              <a:rPr lang="en-US" sz="1800" dirty="0"/>
              <a:t>4. Interpret summary statistics critically — knowing when the mean misleads and when the median is more informative.</a:t>
            </a:r>
          </a:p>
          <a:p>
            <a:r>
              <a:rPr lang="en-US" sz="1800" dirty="0"/>
              <a:t>5. Use Python (pandas) to load a CSV, inspect a DataFrame, and compute descriptive statistics programmatically.</a:t>
            </a:r>
          </a:p>
          <a:p>
            <a:r>
              <a:rPr lang="en-US" sz="1800" dirty="0"/>
              <a:t>6. Collaborate with a coding agent to perform exploratory data analysis, verifying and interpreting the agent’s outputs.</a:t>
            </a:r>
          </a:p>
        </p:txBody>
      </p:sp>
    </p:spTree>
    <p:extLst>
      <p:ext uri="{BB962C8B-B14F-4D97-AF65-F5344CB8AC3E}">
        <p14:creationId xmlns:p14="http://schemas.microsoft.com/office/powerpoint/2010/main" val="373427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6E36-D77B-4571-0D49-279CEA903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FACA9-5D53-36EB-3144-6ED2595B9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Types of Data: Categorical vs. Numerical</a:t>
            </a:r>
          </a:p>
        </p:txBody>
      </p:sp>
    </p:spTree>
    <p:extLst>
      <p:ext uri="{BB962C8B-B14F-4D97-AF65-F5344CB8AC3E}">
        <p14:creationId xmlns:p14="http://schemas.microsoft.com/office/powerpoint/2010/main" val="1216300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E616-6994-813F-7D4F-133EEC8C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Data: Categorical vs.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CE1F0-F682-D1DF-066D-CF1BFB66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832" y="2705969"/>
            <a:ext cx="6220968" cy="3572911"/>
          </a:xfrm>
        </p:spPr>
        <p:txBody>
          <a:bodyPr/>
          <a:lstStyle/>
          <a:p>
            <a:r>
              <a:rPr lang="en-US" dirty="0"/>
              <a:t>This taxonomy traces back to Stanley Stevens (1946) and underpins which statistical operations are mathematically valid:</a:t>
            </a:r>
          </a:p>
          <a:p>
            <a:pPr lvl="1"/>
            <a:r>
              <a:rPr lang="en-US" dirty="0"/>
              <a:t>Categorical (qualitative): identity or membership — nominal and ordinal scales</a:t>
            </a:r>
          </a:p>
          <a:p>
            <a:pPr lvl="1"/>
            <a:r>
              <a:rPr lang="en-US" dirty="0"/>
              <a:t>Numerical (quantitative): magnitude — interval and ratio scales. Only numerical data supports arithmetic operations like mean and standard deviation.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7CD9C4D-828D-D820-039B-65A63BF342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0417312"/>
              </p:ext>
            </p:extLst>
          </p:nvPr>
        </p:nvGraphicFramePr>
        <p:xfrm>
          <a:off x="838200" y="2603500"/>
          <a:ext cx="4294632" cy="3675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0414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9733-157E-E112-D4AC-BA68D3A43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9D0ED-3CA3-2E71-DDBC-A7BE318E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22" y="2219040"/>
            <a:ext cx="7647432" cy="39823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Categorical variables encode membership, not magnitude. Valid operations are limited to counting, frequency tables, and mode — not mean or standard deviation.</a:t>
            </a:r>
          </a:p>
          <a:p>
            <a:pPr lvl="1"/>
            <a:r>
              <a:rPr lang="en-US" dirty="0"/>
              <a:t>Even when coded as numbers (e.g., 1=Male, 2=Female), arithmetic is meaningless — average gender is not a concept.</a:t>
            </a:r>
          </a:p>
          <a:p>
            <a:pPr lvl="2"/>
            <a:r>
              <a:rPr lang="en-US" dirty="0"/>
              <a:t>Eye color, blood type, ZIP code, student ID — all categorical despite potentially numeric encoding.</a:t>
            </a:r>
          </a:p>
          <a:p>
            <a:pPr lvl="1"/>
            <a:r>
              <a:rPr lang="en-US" dirty="0"/>
              <a:t>Statistical tools for categorical data: frequency tables, bar charts, chi-square tests, contingency tables.</a:t>
            </a:r>
          </a:p>
          <a:p>
            <a:pPr lvl="2"/>
            <a:r>
              <a:rPr lang="en-US" dirty="0"/>
              <a:t>Choosing the wrong operation (e.g., mean on a zip code) produces a result that looks valid but is analytically meaningless.</a:t>
            </a:r>
          </a:p>
          <a:p>
            <a:pPr lvl="1"/>
            <a:r>
              <a:rPr lang="en-US" dirty="0"/>
              <a:t>Rule of thumb: if two values can be averaged and the result is interpretable, the variable is likely numerical.</a:t>
            </a:r>
          </a:p>
          <a:p>
            <a:pPr lvl="2"/>
            <a:r>
              <a:rPr lang="en-US" dirty="0"/>
              <a:t>20% prefer History — note: percentages are valid summary statistics for categorical data.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8A3214A-C006-54ED-7E8F-03A969BF6E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3808" y="1505712"/>
            <a:ext cx="3568192" cy="535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698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D362B-180B-6041-3B45-CB0A7A79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Categorical Data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9FD8820-D989-6557-1969-AA0CE220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2604051"/>
            <a:ext cx="3518367" cy="2174501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96F6A08C-CE3D-37FD-0BC1-9910021F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723" y="2604052"/>
            <a:ext cx="3575533" cy="2209832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8A0E004D-430B-71A8-BCE3-F688EA947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893" y="2604052"/>
            <a:ext cx="3575533" cy="2209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49E8D4B-5845-EA23-3B7A-32D8CDA0A27B}"/>
              </a:ext>
            </a:extLst>
          </p:cNvPr>
          <p:cNvSpPr txBox="1"/>
          <p:nvPr/>
        </p:nvSpPr>
        <p:spPr>
          <a:xfrm>
            <a:off x="1621536" y="4957940"/>
            <a:ext cx="1133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Eye Color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E9989-9217-4349-A99D-3A172F45A2F1}"/>
              </a:ext>
            </a:extLst>
          </p:cNvPr>
          <p:cNvSpPr txBox="1"/>
          <p:nvPr/>
        </p:nvSpPr>
        <p:spPr>
          <a:xfrm>
            <a:off x="5281083" y="4957940"/>
            <a:ext cx="1790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Favorite Subject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61C09-7463-B858-C9FE-A8566CF328C4}"/>
              </a:ext>
            </a:extLst>
          </p:cNvPr>
          <p:cNvSpPr txBox="1"/>
          <p:nvPr/>
        </p:nvSpPr>
        <p:spPr>
          <a:xfrm>
            <a:off x="9559972" y="4957940"/>
            <a:ext cx="1271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Blood Type</a:t>
            </a:r>
          </a:p>
        </p:txBody>
      </p:sp>
    </p:spTree>
    <p:extLst>
      <p:ext uri="{BB962C8B-B14F-4D97-AF65-F5344CB8AC3E}">
        <p14:creationId xmlns:p14="http://schemas.microsoft.com/office/powerpoint/2010/main" val="880070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7CF7-0F60-AB8E-76CF-A9C7D9E4A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DF87B-900F-F75A-D0F6-1EA8FC9C3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Categorical data can be further divided into two subtypes:</a:t>
            </a:r>
          </a:p>
          <a:p>
            <a:pPr lvl="1"/>
            <a:r>
              <a:rPr lang="en-US" dirty="0"/>
              <a:t>Nominal</a:t>
            </a:r>
          </a:p>
          <a:p>
            <a:pPr lvl="2"/>
            <a:r>
              <a:rPr lang="en-US" dirty="0"/>
              <a:t>Meaning “in name only”  </a:t>
            </a:r>
          </a:p>
          <a:p>
            <a:pPr lvl="2"/>
            <a:r>
              <a:rPr lang="en-US" dirty="0"/>
              <a:t>Categories with no natural order</a:t>
            </a:r>
          </a:p>
          <a:p>
            <a:pPr lvl="2"/>
            <a:r>
              <a:rPr lang="en-US" dirty="0"/>
              <a:t>Just different names with no ranking</a:t>
            </a:r>
          </a:p>
          <a:p>
            <a:pPr lvl="1"/>
            <a:r>
              <a:rPr lang="en-US" dirty="0"/>
              <a:t>Ordinal </a:t>
            </a:r>
          </a:p>
          <a:p>
            <a:pPr lvl="2"/>
            <a:r>
              <a:rPr lang="en-US" dirty="0"/>
              <a:t>Categories with a natural ranking</a:t>
            </a:r>
          </a:p>
          <a:p>
            <a:pPr lvl="2"/>
            <a:r>
              <a:rPr lang="en-US" dirty="0"/>
              <a:t>Exact differences between ranks is unknown</a:t>
            </a:r>
          </a:p>
          <a:p>
            <a:pPr lvl="2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48F5D-EE04-B97A-24CF-0512854743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29928" y="3096768"/>
            <a:ext cx="2279904" cy="341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70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3133-357A-9CB7-1FA8-00A9E3E5A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 vs. Ordinal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686B7-724A-A07D-2BD2-7ABA3351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3531"/>
            <a:ext cx="10515600" cy="117546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nominal for categories with no intrinsic order (just different names).</a:t>
            </a:r>
          </a:p>
          <a:p>
            <a:r>
              <a:rPr lang="en-US" dirty="0"/>
              <a:t>Use ordinal for categories that can be ranked.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200E28-1F91-3124-E7A1-658C99574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477692"/>
              </p:ext>
            </p:extLst>
          </p:nvPr>
        </p:nvGraphicFramePr>
        <p:xfrm>
          <a:off x="2106676" y="3730750"/>
          <a:ext cx="7759931" cy="2668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52849A-04F5-99DE-DF95-2FD53D5B352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8788" y="3617144"/>
            <a:ext cx="1897888" cy="2846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3C25F4-01A8-1254-C052-1C79AB958E30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66607" y="3420132"/>
            <a:ext cx="2160570" cy="324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28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83CDE-C275-EC15-8F09-8DDDFD9F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75747-86A4-ED51-225A-CE3B6E9D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variables encode magnitude. Two further subtypes from Stevens’ scale theory:</a:t>
            </a:r>
          </a:p>
          <a:p>
            <a:pPr lvl="1"/>
            <a:r>
              <a:rPr lang="en-US" dirty="0"/>
              <a:t>Interval scale: differences are meaningful but ratios are not. Temperature in °C is interval — 20°C is not "twice as hot" as 10°C.</a:t>
            </a:r>
          </a:p>
          <a:p>
            <a:pPr lvl="1"/>
            <a:r>
              <a:rPr lang="en-US" dirty="0"/>
              <a:t>Ratio scale: has a true zero, so ratios are meaningful. Height, weight, income — 0 means none. Most numerical data in practice is ratio scale.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941EB-264F-43BE-149B-02837643C8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7392" y="3226161"/>
            <a:ext cx="3531616" cy="35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311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13AC6-B953-D39E-20A6-DC6B7413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Numerical Data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42FF70AF-5C62-BB29-F827-E0E20BB5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99" y="2560751"/>
            <a:ext cx="3883207" cy="2399988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F320001B-2C1A-99E3-AA63-470725FEBC89}"/>
              </a:ext>
            </a:extLst>
          </p:cNvPr>
          <p:cNvSpPr/>
          <p:nvPr/>
        </p:nvSpPr>
        <p:spPr>
          <a:xfrm>
            <a:off x="335224" y="5140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Height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A68618BD-E8A7-2671-AA65-CF46901FA36F}"/>
              </a:ext>
            </a:extLst>
          </p:cNvPr>
          <p:cNvSpPr/>
          <p:nvPr/>
        </p:nvSpPr>
        <p:spPr>
          <a:xfrm>
            <a:off x="335224" y="563054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Measured in centimeters or inches</a:t>
            </a:r>
            <a:endParaRPr lang="en-US" sz="1750" dirty="0">
              <a:latin typeface="Aptos" panose="020B0004020202020204" pitchFamily="34" charset="0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F4FA160B-BDA1-060B-AF38-A68633167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396" y="2560751"/>
            <a:ext cx="3883207" cy="2399988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9E6703C0-3F72-3EA4-7E49-CED504670F00}"/>
              </a:ext>
            </a:extLst>
          </p:cNvPr>
          <p:cNvSpPr/>
          <p:nvPr/>
        </p:nvSpPr>
        <p:spPr>
          <a:xfrm>
            <a:off x="4149160" y="50702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Test Scores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AC907438-1CF9-0999-4E69-BF9889CE70BC}"/>
              </a:ext>
            </a:extLst>
          </p:cNvPr>
          <p:cNvSpPr/>
          <p:nvPr/>
        </p:nvSpPr>
        <p:spPr>
          <a:xfrm>
            <a:off x="4149160" y="556070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Points or percentages earned on assessments</a:t>
            </a:r>
            <a:endParaRPr lang="en-US" sz="1750" dirty="0">
              <a:latin typeface="Aptos" panose="020B0004020202020204" pitchFamily="34" charset="0"/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89E7E5EA-25F9-AC28-038C-01C532FDE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457" y="2546084"/>
            <a:ext cx="3883207" cy="2399988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D654398F-BCD0-15AB-5D0B-47E79BAD723E}"/>
              </a:ext>
            </a:extLst>
          </p:cNvPr>
          <p:cNvSpPr/>
          <p:nvPr/>
        </p:nvSpPr>
        <p:spPr>
          <a:xfrm>
            <a:off x="8260377" y="51865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Time</a:t>
            </a:r>
            <a:endParaRPr lang="en-US" sz="2200" dirty="0">
              <a:latin typeface="Aptos" panose="020B0004020202020204" pitchFamily="34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F5E8C107-6AF4-B2BD-3BB8-D34E67C7C8F6}"/>
              </a:ext>
            </a:extLst>
          </p:cNvPr>
          <p:cNvSpPr/>
          <p:nvPr/>
        </p:nvSpPr>
        <p:spPr>
          <a:xfrm>
            <a:off x="8260377" y="563054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Duration measured in seconds, minutes, hours</a:t>
            </a:r>
            <a:endParaRPr lang="en-US" sz="175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39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1FA4-EF61-0757-BF87-66968F63E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390" y="621751"/>
            <a:ext cx="10515600" cy="1325563"/>
          </a:xfrm>
        </p:spPr>
        <p:txBody>
          <a:bodyPr/>
          <a:lstStyle/>
          <a:p>
            <a:r>
              <a:rPr lang="en-US" dirty="0"/>
              <a:t>Numerical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0034-F234-FA5C-AE88-7A9341C1D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390" y="1772747"/>
            <a:ext cx="7586472" cy="3572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Numerical data can be further broken down into two subtypes:</a:t>
            </a:r>
          </a:p>
          <a:p>
            <a:pPr lvl="1"/>
            <a:r>
              <a:rPr lang="en-US" dirty="0"/>
              <a:t>Discrete: can only take specific, separated values, usually whole numbers. </a:t>
            </a:r>
          </a:p>
          <a:p>
            <a:pPr lvl="2"/>
            <a:r>
              <a:rPr lang="en-US" dirty="0"/>
              <a:t>Number of students in class</a:t>
            </a:r>
          </a:p>
          <a:p>
            <a:pPr lvl="2"/>
            <a:r>
              <a:rPr lang="en-US" dirty="0"/>
              <a:t>Number of pets (you can’t have 2.5 pets)</a:t>
            </a:r>
          </a:p>
          <a:p>
            <a:pPr lvl="1"/>
            <a:r>
              <a:rPr lang="en-US" dirty="0"/>
              <a:t>Continuous: can take any value in a continuous range.</a:t>
            </a:r>
          </a:p>
          <a:p>
            <a:pPr lvl="2"/>
            <a:r>
              <a:rPr lang="en-US" dirty="0"/>
              <a:t>Height (your height may be 1.6345215… cm)</a:t>
            </a:r>
          </a:p>
          <a:p>
            <a:pPr lvl="2"/>
            <a:r>
              <a:rPr lang="en-US" dirty="0"/>
              <a:t>Time duration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5A3908-9CAA-4ABA-9A41-3B93D24B78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9862" y="1772746"/>
            <a:ext cx="3572912" cy="3572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3ACD24-85DF-8DB7-771C-816AB1E444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99359" y="5273933"/>
            <a:ext cx="2257705" cy="1293907"/>
          </a:xfrm>
          <a:prstGeom prst="rect">
            <a:avLst/>
          </a:prstGeom>
        </p:spPr>
      </p:pic>
      <p:pic>
        <p:nvPicPr>
          <p:cNvPr id="6" name="Picture 2" descr="Generated image">
            <a:extLst>
              <a:ext uri="{FF2B5EF4-FFF2-40B4-BE49-F238E27FC236}">
                <a16:creationId xmlns:a16="http://schemas.microsoft.com/office/drawing/2014/main" id="{E0CC9276-20E0-3524-86B1-0A0E98786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59933" y="5294194"/>
            <a:ext cx="3026756" cy="120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511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1C02-5C57-1106-60E1-B0102AED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0F53-EC52-526F-F242-A19CDFBD8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Student ID number (like 1001, 1002, … assigned as an identifier)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6E396D8-D9F6-EF43-11CF-436BC5CF2B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517" y="2991702"/>
            <a:ext cx="2883271" cy="288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52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BBCF0-943F-D97A-9C60-F17E47C9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9CBA-69C9-871D-1AC7-43C66FEF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B6AB4-B3D5-9907-BD3F-81700B04C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Student ID number (like 1001, 1002, … assigned as an identifier)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28BE59F-7E91-3610-3C92-FE9FE66CBB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517" y="2991702"/>
            <a:ext cx="2883271" cy="288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18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E217-00EE-F453-9BA5-9EB9EA8F8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1015-68A7-D400-281F-3B79EFF5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318F8-CD27-AC18-5EC9-43C3785AF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Grade Level (Freshman, Sophomore, Junior, Senior)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A83D0F98-0058-7B28-97AD-F9B440A9C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24928" y="3247381"/>
            <a:ext cx="4045014" cy="274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2417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84D0-A82B-5CFF-9B7D-1CA452BA0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88FA-E1B8-0EF8-959A-6DE74A7C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86A5B-5C3C-B53A-F2E2-3A11E1783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Grade Level (Freshman, Sophomore, Junior, Senior)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5" name="Picture 2" descr="Generated image">
            <a:extLst>
              <a:ext uri="{FF2B5EF4-FFF2-40B4-BE49-F238E27FC236}">
                <a16:creationId xmlns:a16="http://schemas.microsoft.com/office/drawing/2014/main" id="{D2BD7D48-B94A-B1CE-C181-3B68F5D710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424928" y="3247381"/>
            <a:ext cx="4045014" cy="2748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62871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C3F8-92A8-C4CF-0D4D-37F7BAEA7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610-3BFF-59C7-84CD-203EA94D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97B33-C5E0-EA73-9DB6-144956BC6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GPA (Grade Point Average on a scale, e.g., 0.0 to 4.0, which can have decimals)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DCE6B4-5512-9318-929D-0662406FD9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6032" y="330708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01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AFDD5-C24F-6B53-B0E1-1AB65B9F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619AA-91CF-AB1B-E143-37B61C42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0B673-B629-A98B-01E9-AD17CA3ED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GPA (Grade Point Average on a scale, e.g., 0.0 to 4.0, which can have decimals)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Continuous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2C873-47B0-6238-43FB-D9BC5F66C9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6032" y="330708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47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E05F0-F79D-F27C-A5D6-C8C0D4B9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B96D0-D14B-BE1D-2564-DB225AED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3E06-1A8A-1D2D-A46C-A01A3EB78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Classes Enrolled (number of classes the student is taking this semester)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3A75A7-0BEE-B525-291C-21EE095AC5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1248" y="2801113"/>
            <a:ext cx="228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242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CF974-1C21-DD4D-8E82-E08E98968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E1F7-EBD6-FCFD-6DCE-92AEF8DF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85F82-E556-B411-126A-CF02867F1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Classes Enrolled (number of classes the student is taking this semester)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1D3B3-A83E-2F57-CEA1-10D0E41E7E4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61248" y="2801113"/>
            <a:ext cx="228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772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6E8EA-D2D6-76BC-C41E-448DBE13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BEE2-6B0D-3E00-D433-925D1A53A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AC9BA-92CB-13D3-375A-42961FFF4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Favorite Sports Team (text response, e.g., “Chicago Bulls”)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4" name="Picture 2" descr="Generated image">
            <a:extLst>
              <a:ext uri="{FF2B5EF4-FFF2-40B4-BE49-F238E27FC236}">
                <a16:creationId xmlns:a16="http://schemas.microsoft.com/office/drawing/2014/main" id="{4CE217FC-E13F-1546-B144-16DCD7314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8090" y="2932175"/>
            <a:ext cx="3532909" cy="35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854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5E2DF-F330-08BE-DA6F-0AE737A0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AB80-233B-2270-F43D-A4A967661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E1F8C-8133-DCD4-87FB-C2C22AF9C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289"/>
            <a:ext cx="8431086" cy="3925824"/>
          </a:xfrm>
        </p:spPr>
        <p:txBody>
          <a:bodyPr>
            <a:normAutofit/>
          </a:bodyPr>
          <a:lstStyle/>
          <a:p>
            <a:r>
              <a:rPr lang="en-US" dirty="0"/>
              <a:t>Favorite Sports Team (text response, e.g., “Chicago Bulls”)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Nominal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Ordinal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Discrete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Continuous</a:t>
            </a:r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69C48479-8153-7537-03E4-7C45037B1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8090" y="2932175"/>
            <a:ext cx="3532909" cy="353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444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8446-3DE1-3A2F-6A16-D957D841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Types Matter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B1CF0E-38BE-44AF-54B5-17EF4F79F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797702"/>
              </p:ext>
            </p:extLst>
          </p:nvPr>
        </p:nvGraphicFramePr>
        <p:xfrm>
          <a:off x="838200" y="2603500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WhyMatter Text"/>
          <p:cNvSpPr>
            <a:spLocks noGrp="1"/>
          </p:cNvSpPr>
          <p:nvPr/>
        </p:nvSpPr>
        <p:spPr>
          <a:xfrm>
            <a:off x="457200" y="1600200"/>
            <a:ext cx="11354400" cy="4743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000" b="1" dirty="0"/>
              <a:t>Data type determines what you can legitimately do with a variable.</a:t>
            </a:r>
          </a:p>
          <a:p>
            <a:r>
              <a:rPr lang="en-US" sz="1800" dirty="0"/>
              <a:t>Statistical validity: Mean and standard deviation only make sense for numerical data. Applying them to ordinal data (e.g., averaging survey ratings) produces a number that looks meaningful but may not be.</a:t>
            </a:r>
          </a:p>
          <a:p>
            <a:r>
              <a:rPr lang="en-US" sz="1800" dirty="0"/>
              <a:t>Visualization choice: Categorical → bar chart, pie chart, frequency table. Numerical → histogram, box plot, scatter plot. Wrong chart for wrong type = misleading graphic.</a:t>
            </a:r>
          </a:p>
          <a:p>
            <a:r>
              <a:rPr lang="en-US" sz="1800" dirty="0"/>
              <a:t>Algorithm requirements: Many machine learning models require numerical input. Categorical variables must be encoded (one-hot encoding, label encoding) before modeling.</a:t>
            </a:r>
          </a:p>
          <a:p>
            <a:r>
              <a:rPr lang="en-US" sz="1800" dirty="0"/>
              <a:t>Storage efficiency: Storing a categorical variable as a string wastes memory. In pandas, declaring dtype=’category’ can reduce memory by 50–90% for variables with few unique values.</a:t>
            </a:r>
          </a:p>
          <a:p>
            <a:r>
              <a:rPr lang="en-US" sz="1800" dirty="0"/>
              <a:t>Data detective rule: Before any analysis, always inspect dtypes. A zip code stored as int64 looks numerical but is nominal — computing its mean is nonsense.</a:t>
            </a:r>
          </a:p>
        </p:txBody>
      </p:sp>
    </p:spTree>
    <p:extLst>
      <p:ext uri="{BB962C8B-B14F-4D97-AF65-F5344CB8AC3E}">
        <p14:creationId xmlns:p14="http://schemas.microsoft.com/office/powerpoint/2010/main" val="1898396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900D-B8EE-E753-767E-3AA318F7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Wrap-up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2CE9DF-6BA7-30C6-D136-90C7FF09E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307776"/>
              </p:ext>
            </p:extLst>
          </p:nvPr>
        </p:nvGraphicFramePr>
        <p:xfrm>
          <a:off x="713232" y="2097834"/>
          <a:ext cx="10765536" cy="423318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15480">
                  <a:extLst>
                    <a:ext uri="{9D8B030D-6E8A-4147-A177-3AD203B41FA5}">
                      <a16:colId xmlns:a16="http://schemas.microsoft.com/office/drawing/2014/main" val="4067529836"/>
                    </a:ext>
                  </a:extLst>
                </a:gridCol>
                <a:gridCol w="1233737">
                  <a:extLst>
                    <a:ext uri="{9D8B030D-6E8A-4147-A177-3AD203B41FA5}">
                      <a16:colId xmlns:a16="http://schemas.microsoft.com/office/drawing/2014/main" val="2735915104"/>
                    </a:ext>
                  </a:extLst>
                </a:gridCol>
                <a:gridCol w="5745652">
                  <a:extLst>
                    <a:ext uri="{9D8B030D-6E8A-4147-A177-3AD203B41FA5}">
                      <a16:colId xmlns:a16="http://schemas.microsoft.com/office/drawing/2014/main" val="1825909988"/>
                    </a:ext>
                  </a:extLst>
                </a:gridCol>
                <a:gridCol w="2570667">
                  <a:extLst>
                    <a:ext uri="{9D8B030D-6E8A-4147-A177-3AD203B41FA5}">
                      <a16:colId xmlns:a16="http://schemas.microsoft.com/office/drawing/2014/main" val="1583585318"/>
                    </a:ext>
                  </a:extLst>
                </a:gridCol>
              </a:tblGrid>
              <a:tr h="57431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Data Type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Definition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Examples / Explanation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extLst>
                  <a:ext uri="{0D108BD9-81ED-4DB2-BD59-A6C34878D82A}">
                    <a16:rowId xmlns:a16="http://schemas.microsoft.com/office/drawing/2014/main" val="269295083"/>
                  </a:ext>
                </a:extLst>
              </a:tr>
              <a:tr h="891176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Categorical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Nominal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Classifies data into distinct categories based on a characteristic. Cannot be ordered or measured quantitatively.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Gender, eye color, types of fruit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extLst>
                  <a:ext uri="{0D108BD9-81ED-4DB2-BD59-A6C34878D82A}">
                    <a16:rowId xmlns:a16="http://schemas.microsoft.com/office/drawing/2014/main" val="1903781348"/>
                  </a:ext>
                </a:extLst>
              </a:tr>
              <a:tr h="8614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Ordinal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Ranks data in a specific order (e.g., from high to low). No defined interval between ranks.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Education levels (e.g., high school &lt; college &lt; graduate)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extLst>
                  <a:ext uri="{0D108BD9-81ED-4DB2-BD59-A6C34878D82A}">
                    <a16:rowId xmlns:a16="http://schemas.microsoft.com/office/drawing/2014/main" val="637810719"/>
                  </a:ext>
                </a:extLst>
              </a:tr>
              <a:tr h="722843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>
                          <a:effectLst/>
                        </a:rPr>
                        <a:t>Numerical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vert="vert27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Discrete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Quantitative data with countable values.  No or minimal fractional values.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Number of children in a school, number of text message received in a day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extLst>
                  <a:ext uri="{0D108BD9-81ED-4DB2-BD59-A6C34878D82A}">
                    <a16:rowId xmlns:a16="http://schemas.microsoft.com/office/drawing/2014/main" val="26583408"/>
                  </a:ext>
                </a:extLst>
              </a:tr>
              <a:tr h="80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Continuous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Quantitative data with infinitely divisible values.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Height, weight, time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0" marR="6890" marT="6890" marB="0" anchor="b"/>
                </a:tc>
                <a:extLst>
                  <a:ext uri="{0D108BD9-81ED-4DB2-BD59-A6C34878D82A}">
                    <a16:rowId xmlns:a16="http://schemas.microsoft.com/office/drawing/2014/main" val="424664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4072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6A4340-2656-FBD2-7545-72E6FD09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6205C-39A5-CD70-8705-84B7569C9B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E0612-108A-73DD-737E-7D1C935CBD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Formats and Structures: Organizing the Clues</a:t>
            </a:r>
          </a:p>
        </p:txBody>
      </p:sp>
    </p:spTree>
    <p:extLst>
      <p:ext uri="{BB962C8B-B14F-4D97-AF65-F5344CB8AC3E}">
        <p14:creationId xmlns:p14="http://schemas.microsoft.com/office/powerpoint/2010/main" val="38931880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280A7-8BCB-F308-C92B-9F9C17E3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Formats and Structures: Organizing the Clues</a:t>
            </a: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4F44DC73-AB8C-7CCD-1BEA-62C013072A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6484257"/>
              </p:ext>
            </p:extLst>
          </p:nvPr>
        </p:nvGraphicFramePr>
        <p:xfrm>
          <a:off x="515874" y="2741728"/>
          <a:ext cx="3483102" cy="2237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6622">
                  <a:extLst>
                    <a:ext uri="{9D8B030D-6E8A-4147-A177-3AD203B41FA5}">
                      <a16:colId xmlns:a16="http://schemas.microsoft.com/office/drawing/2014/main" val="2087137946"/>
                    </a:ext>
                  </a:extLst>
                </a:gridCol>
                <a:gridCol w="749455">
                  <a:extLst>
                    <a:ext uri="{9D8B030D-6E8A-4147-A177-3AD203B41FA5}">
                      <a16:colId xmlns:a16="http://schemas.microsoft.com/office/drawing/2014/main" val="3156583261"/>
                    </a:ext>
                  </a:extLst>
                </a:gridCol>
                <a:gridCol w="1567025">
                  <a:extLst>
                    <a:ext uri="{9D8B030D-6E8A-4147-A177-3AD203B41FA5}">
                      <a16:colId xmlns:a16="http://schemas.microsoft.com/office/drawing/2014/main" val="419098998"/>
                    </a:ext>
                  </a:extLst>
                </a:gridCol>
              </a:tblGrid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Name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Age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Favorite Subject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8456613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Alice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Math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7504531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Bob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15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History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9533276"/>
                  </a:ext>
                </a:extLst>
              </a:tr>
              <a:tr h="51807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Carmen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14</a:t>
                      </a:r>
                      <a:endParaRPr lang="en-US" sz="20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Science</a:t>
                      </a:r>
                      <a:endParaRPr lang="en-US" sz="20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2960"/>
                  </a:ext>
                </a:extLst>
              </a:tr>
            </a:tbl>
          </a:graphicData>
        </a:graphic>
      </p:graphicFrame>
      <p:pic>
        <p:nvPicPr>
          <p:cNvPr id="7" name="Content Placeholder 6" descr="A close-up of a document  AI-generated content may be incorrect.">
            <a:extLst>
              <a:ext uri="{FF2B5EF4-FFF2-40B4-BE49-F238E27FC236}">
                <a16:creationId xmlns:a16="http://schemas.microsoft.com/office/drawing/2014/main" id="{06A20394-135E-2686-7177-1462AEEE9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514" r="12225" b="16581"/>
          <a:stretch/>
        </p:blipFill>
        <p:spPr>
          <a:xfrm>
            <a:off x="4169664" y="2741728"/>
            <a:ext cx="4194050" cy="22883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2605D-EFC6-CD72-E03E-4CAE95DB29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5988" y="2412878"/>
            <a:ext cx="2729992" cy="27299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CE1C78-91CE-C497-6273-BC1E456045C7}"/>
              </a:ext>
            </a:extLst>
          </p:cNvPr>
          <p:cNvSpPr txBox="1"/>
          <p:nvPr/>
        </p:nvSpPr>
        <p:spPr>
          <a:xfrm>
            <a:off x="838200" y="5297235"/>
            <a:ext cx="2093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Tables</a:t>
            </a:r>
          </a:p>
          <a:p>
            <a:r>
              <a:rPr lang="en-US" dirty="0"/>
              <a:t>Organizes data into rows and columns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3BB54-9BF0-4CC6-9344-B36395C5B920}"/>
              </a:ext>
            </a:extLst>
          </p:cNvPr>
          <p:cNvSpPr txBox="1"/>
          <p:nvPr/>
        </p:nvSpPr>
        <p:spPr>
          <a:xfrm>
            <a:off x="4835104" y="5297235"/>
            <a:ext cx="3150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Spreadsheets</a:t>
            </a:r>
          </a:p>
          <a:p>
            <a:r>
              <a:rPr lang="en-US" dirty="0"/>
              <a:t>A file that allows organizing and manipulation tables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D485E-7BD4-0A66-AC8A-A5D760696210}"/>
              </a:ext>
            </a:extLst>
          </p:cNvPr>
          <p:cNvSpPr txBox="1"/>
          <p:nvPr/>
        </p:nvSpPr>
        <p:spPr>
          <a:xfrm>
            <a:off x="9260683" y="5297235"/>
            <a:ext cx="2495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Database</a:t>
            </a:r>
          </a:p>
          <a:p>
            <a:r>
              <a:rPr lang="en-US" dirty="0"/>
              <a:t>A structured collection of data</a:t>
            </a:r>
          </a:p>
        </p:txBody>
      </p:sp>
    </p:spTree>
    <p:extLst>
      <p:ext uri="{BB962C8B-B14F-4D97-AF65-F5344CB8AC3E}">
        <p14:creationId xmlns:p14="http://schemas.microsoft.com/office/powerpoint/2010/main" val="10970396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A54D1-DAC1-BF87-8909-9B5E2AC1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CF913-44D3-1963-3044-E7649B98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tabular format or tabular data. </a:t>
            </a:r>
          </a:p>
          <a:p>
            <a:r>
              <a:rPr lang="en-US" dirty="0"/>
              <a:t>Each row represents one observation and each column a variable.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A8B212-6F91-3E5F-1A90-EB033D124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471065"/>
              </p:ext>
            </p:extLst>
          </p:nvPr>
        </p:nvGraphicFramePr>
        <p:xfrm>
          <a:off x="2462784" y="3790316"/>
          <a:ext cx="7266432" cy="19685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22144">
                  <a:extLst>
                    <a:ext uri="{9D8B030D-6E8A-4147-A177-3AD203B41FA5}">
                      <a16:colId xmlns:a16="http://schemas.microsoft.com/office/drawing/2014/main" val="2492649919"/>
                    </a:ext>
                  </a:extLst>
                </a:gridCol>
                <a:gridCol w="2971351">
                  <a:extLst>
                    <a:ext uri="{9D8B030D-6E8A-4147-A177-3AD203B41FA5}">
                      <a16:colId xmlns:a16="http://schemas.microsoft.com/office/drawing/2014/main" val="1581411228"/>
                    </a:ext>
                  </a:extLst>
                </a:gridCol>
                <a:gridCol w="1872937">
                  <a:extLst>
                    <a:ext uri="{9D8B030D-6E8A-4147-A177-3AD203B41FA5}">
                      <a16:colId xmlns:a16="http://schemas.microsoft.com/office/drawing/2014/main" val="3081985415"/>
                    </a:ext>
                  </a:extLst>
                </a:gridCol>
              </a:tblGrid>
              <a:tr h="492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Student ID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Classes Enrolled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GPA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1633987"/>
                  </a:ext>
                </a:extLst>
              </a:tr>
              <a:tr h="492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1001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3.4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0692117"/>
                  </a:ext>
                </a:extLst>
              </a:tr>
              <a:tr h="492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1002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2.9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2582609"/>
                  </a:ext>
                </a:extLst>
              </a:tr>
              <a:tr h="4921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>
                          <a:effectLst/>
                        </a:rPr>
                        <a:t>1003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800" u="none" strike="noStrike" dirty="0">
                          <a:effectLst/>
                        </a:rPr>
                        <a:t>3.8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1347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8176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4E21-2335-A481-6A8D-17B6B9D5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643B7-95A0-D81A-DB21-E5C8A0C63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5519"/>
            <a:ext cx="7367016" cy="402336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spreadsheet is a file that allows you to organize and manipulate tables of data.</a:t>
            </a:r>
          </a:p>
          <a:p>
            <a:r>
              <a:rPr lang="en-US" dirty="0"/>
              <a:t>Some examples:</a:t>
            </a:r>
          </a:p>
          <a:p>
            <a:pPr lvl="1"/>
            <a:r>
              <a:rPr lang="en-US" dirty="0"/>
              <a:t>Microsoft Excel</a:t>
            </a:r>
          </a:p>
          <a:p>
            <a:pPr lvl="1"/>
            <a:r>
              <a:rPr lang="en-US" dirty="0"/>
              <a:t>Google Sheets</a:t>
            </a:r>
          </a:p>
          <a:p>
            <a:pPr lvl="1"/>
            <a:r>
              <a:rPr lang="en-US" dirty="0"/>
              <a:t>LibreOffice Calc</a:t>
            </a:r>
          </a:p>
          <a:p>
            <a:pPr lvl="1"/>
            <a:r>
              <a:rPr lang="en-US" dirty="0"/>
              <a:t>Apple Numbers  </a:t>
            </a:r>
          </a:p>
          <a:p>
            <a:r>
              <a:rPr lang="en-US" dirty="0"/>
              <a:t>Allows having multiple sheets (tabs).</a:t>
            </a:r>
          </a:p>
          <a:p>
            <a:r>
              <a:rPr lang="en-US" dirty="0"/>
              <a:t>User-friendly, easy to edit, apply formulas and make charts.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FE4DC-D6F6-7058-52C8-E5256907FA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5216" y="2137876"/>
            <a:ext cx="3621024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493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BAAD-182F-2DDB-238B-1E1C3459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Spreadsheets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DA3EE-E3C4-DE45-B6B4-217C50236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Spreadsheets can include extra features beyond raw data, such as formulas, formatting. </a:t>
            </a:r>
          </a:p>
          <a:p>
            <a:r>
              <a:rPr lang="en-US" dirty="0"/>
              <a:t>For pure data storage and seamless transfer to another software, a simpler format is often used: </a:t>
            </a:r>
            <a:r>
              <a:rPr lang="en-US" b="1" dirty="0"/>
              <a:t>CSV (Comma-Separated Values) and Text Files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54121-0939-ED51-38BB-94C5741D7AB5}"/>
              </a:ext>
            </a:extLst>
          </p:cNvPr>
          <p:cNvSpPr txBox="1"/>
          <p:nvPr/>
        </p:nvSpPr>
        <p:spPr>
          <a:xfrm>
            <a:off x="6273293" y="4918385"/>
            <a:ext cx="426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StudentID,ClassesEnrolled,GPA</a:t>
            </a:r>
            <a:endParaRPr lang="en-US" dirty="0"/>
          </a:p>
          <a:p>
            <a:r>
              <a:rPr lang="en-US" dirty="0"/>
              <a:t>1001,3,3.4</a:t>
            </a:r>
          </a:p>
          <a:p>
            <a:r>
              <a:rPr lang="en-US" dirty="0"/>
              <a:t>1002,4,2.9</a:t>
            </a:r>
          </a:p>
          <a:p>
            <a:r>
              <a:rPr lang="en-US" dirty="0"/>
              <a:t>1003,2,3.8</a:t>
            </a:r>
          </a:p>
        </p:txBody>
      </p:sp>
      <p:pic>
        <p:nvPicPr>
          <p:cNvPr id="7" name="Picture 6" descr="A screenshot of a spreadsheet  AI-generated content may be incorrect.">
            <a:extLst>
              <a:ext uri="{FF2B5EF4-FFF2-40B4-BE49-F238E27FC236}">
                <a16:creationId xmlns:a16="http://schemas.microsoft.com/office/drawing/2014/main" id="{4D5AEB90-C416-DD68-6404-CE62542DC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1" y="4918385"/>
            <a:ext cx="2768600" cy="1181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757DA-2D9C-276E-8466-44768F2026D8}"/>
              </a:ext>
            </a:extLst>
          </p:cNvPr>
          <p:cNvSpPr txBox="1"/>
          <p:nvPr/>
        </p:nvSpPr>
        <p:spPr>
          <a:xfrm>
            <a:off x="1685589" y="6176962"/>
            <a:ext cx="1835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spreadsheet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45A89E-AB16-6538-F2DD-346AE2D3C3D5}"/>
              </a:ext>
            </a:extLst>
          </p:cNvPr>
          <p:cNvSpPr txBox="1"/>
          <p:nvPr/>
        </p:nvSpPr>
        <p:spPr>
          <a:xfrm>
            <a:off x="7236099" y="6099485"/>
            <a:ext cx="1720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a CSV format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802FA9AE-904A-42CE-99D1-978D866E2A5E}"/>
              </a:ext>
            </a:extLst>
          </p:cNvPr>
          <p:cNvSpPr/>
          <p:nvPr/>
        </p:nvSpPr>
        <p:spPr>
          <a:xfrm>
            <a:off x="4425696" y="5413248"/>
            <a:ext cx="1670304" cy="3413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085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1BB8-F440-28FC-3D3B-9B41F8FE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Spreadsheets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B3761-59B5-0A2F-6002-F8535F2F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9354312" cy="395524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Formal description of CSV: a text file format that uses commas to separate values, and newlines to separate records.</a:t>
            </a:r>
          </a:p>
          <a:p>
            <a:r>
              <a:rPr lang="en-US" dirty="0"/>
              <a:t>There are also other formats, such as TSV (tab-separated values).</a:t>
            </a:r>
          </a:p>
          <a:p>
            <a:r>
              <a:rPr lang="en-US" dirty="0"/>
              <a:t>In TSV, instead of comma, each variable is separated by tab.</a:t>
            </a:r>
          </a:p>
          <a:p>
            <a:r>
              <a:rPr lang="en-US" dirty="0"/>
              <a:t>Main goals of CSV and TSV:</a:t>
            </a:r>
          </a:p>
          <a:p>
            <a:pPr lvl="1"/>
            <a:r>
              <a:rPr lang="en-US" dirty="0"/>
              <a:t>Portable table data </a:t>
            </a:r>
            <a:r>
              <a:rPr lang="en-US" dirty="0" err="1"/>
              <a:t>stroge</a:t>
            </a:r>
            <a:endParaRPr lang="en-US" dirty="0"/>
          </a:p>
          <a:p>
            <a:pPr lvl="1"/>
            <a:r>
              <a:rPr lang="en-US" dirty="0"/>
              <a:t>Universal compatibility, can be accessed by almost any data software</a:t>
            </a:r>
          </a:p>
          <a:p>
            <a:pPr lvl="1"/>
            <a:r>
              <a:rPr lang="en-US" dirty="0"/>
              <a:t>Simple, don’t carry text format or formulas, requires less storage</a:t>
            </a:r>
          </a:p>
          <a:p>
            <a:pPr lvl="1"/>
            <a:r>
              <a:rPr lang="en-US" dirty="0"/>
              <a:t>Simple, don’t carry Macros and possible viruses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9C779-C376-1DA6-5BEA-D4F676765BA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09632" y="2485348"/>
            <a:ext cx="2182368" cy="327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034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B8AFB-8B97-5520-37BA-F3B3F204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SQL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EAAE-119F-9696-C2AD-4C68F2D91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3329"/>
            <a:ext cx="7574280" cy="43281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Structured collection of data, often organizes data into multiple tables. </a:t>
            </a:r>
          </a:p>
          <a:p>
            <a:pPr lvl="1"/>
            <a:r>
              <a:rPr lang="en-US" dirty="0"/>
              <a:t>Such as one for product, one for customer orders. </a:t>
            </a:r>
          </a:p>
          <a:p>
            <a:r>
              <a:rPr lang="en-US" dirty="0"/>
              <a:t>SQL is the most common language to interact with database. </a:t>
            </a:r>
          </a:p>
          <a:p>
            <a:r>
              <a:rPr lang="en-US" dirty="0"/>
              <a:t>Difference between a database and spreadsheet is that the data lives in a database engine and you retrieve it by querying.</a:t>
            </a:r>
          </a:p>
          <a:p>
            <a:r>
              <a:rPr lang="en-US" dirty="0"/>
              <a:t>Querying </a:t>
            </a:r>
            <a:r>
              <a:rPr lang="en-US" dirty="0">
                <a:sym typeface="Wingdings" pitchFamily="2" charset="2"/>
              </a:rPr>
              <a:t> asking for certain columns or filtering rows.</a:t>
            </a:r>
          </a:p>
          <a:p>
            <a:r>
              <a:rPr lang="en-US" dirty="0">
                <a:sym typeface="Wingdings" pitchFamily="2" charset="2"/>
              </a:rPr>
              <a:t>Multiple people can work with it simultaneously.</a:t>
            </a:r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9E485AB-E48A-5876-3D34-89917D5B29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80704" y="1402080"/>
            <a:ext cx="3340608" cy="5010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DE2D56-FFB1-F612-A3A3-78DDDC6DA3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114" y="91396"/>
            <a:ext cx="1428172" cy="13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663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44D2-F326-AB6F-9FAE-F87709A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598935"/>
            <a:ext cx="10515600" cy="1325563"/>
          </a:xfrm>
        </p:spPr>
        <p:txBody>
          <a:bodyPr/>
          <a:lstStyle/>
          <a:p>
            <a:r>
              <a:rPr lang="en-US" dirty="0"/>
              <a:t>Other Data Formats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1D7D2-92A4-2B47-FFE3-BF04B57D70C7}"/>
              </a:ext>
            </a:extLst>
          </p:cNvPr>
          <p:cNvSpPr txBox="1"/>
          <p:nvPr/>
        </p:nvSpPr>
        <p:spPr>
          <a:xfrm>
            <a:off x="569519" y="5807493"/>
            <a:ext cx="2966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JSON</a:t>
            </a:r>
          </a:p>
          <a:p>
            <a:r>
              <a:rPr lang="en-US" dirty="0"/>
              <a:t>JavaScript Object Notation - common for web data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20232-9E73-8F46-3351-3B155BF51D97}"/>
              </a:ext>
            </a:extLst>
          </p:cNvPr>
          <p:cNvSpPr txBox="1"/>
          <p:nvPr/>
        </p:nvSpPr>
        <p:spPr>
          <a:xfrm>
            <a:off x="694944" y="1621732"/>
            <a:ext cx="2450592" cy="4185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{</a:t>
            </a:r>
          </a:p>
          <a:p>
            <a:r>
              <a:rPr lang="en-US" sz="1400" dirty="0"/>
              <a:t>  "students":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StudentID</a:t>
            </a:r>
            <a:r>
              <a:rPr lang="en-US" sz="1400" dirty="0"/>
              <a:t>": 1001,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ClassesEnrolled</a:t>
            </a:r>
            <a:r>
              <a:rPr lang="en-US" sz="1400" dirty="0"/>
              <a:t>": 3,</a:t>
            </a:r>
          </a:p>
          <a:p>
            <a:r>
              <a:rPr lang="en-US" sz="1400" dirty="0"/>
              <a:t>      "GPA": 3.4</a:t>
            </a:r>
          </a:p>
          <a:p>
            <a:r>
              <a:rPr lang="en-US" sz="1400" dirty="0"/>
              <a:t>    },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StudentID</a:t>
            </a:r>
            <a:r>
              <a:rPr lang="en-US" sz="1400" dirty="0"/>
              <a:t>": 1002,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ClassesEnrolled</a:t>
            </a:r>
            <a:r>
              <a:rPr lang="en-US" sz="1400" dirty="0"/>
              <a:t>": 4,</a:t>
            </a:r>
          </a:p>
          <a:p>
            <a:r>
              <a:rPr lang="en-US" sz="1400" dirty="0"/>
              <a:t>      "GPA": 2.9</a:t>
            </a:r>
          </a:p>
          <a:p>
            <a:r>
              <a:rPr lang="en-US" sz="1400" dirty="0"/>
              <a:t>    },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StudentID</a:t>
            </a:r>
            <a:r>
              <a:rPr lang="en-US" sz="1400" dirty="0"/>
              <a:t>": 1003,</a:t>
            </a:r>
          </a:p>
          <a:p>
            <a:r>
              <a:rPr lang="en-US" sz="1400" dirty="0"/>
              <a:t>      "</a:t>
            </a:r>
            <a:r>
              <a:rPr lang="en-US" sz="1400" dirty="0" err="1"/>
              <a:t>ClassesEnrolled</a:t>
            </a:r>
            <a:r>
              <a:rPr lang="en-US" sz="1400" dirty="0"/>
              <a:t>": 2,</a:t>
            </a:r>
          </a:p>
          <a:p>
            <a:r>
              <a:rPr lang="en-US" sz="1400" dirty="0"/>
              <a:t>      "GPA": 3.8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451AE-CC6D-3797-C574-48D8EACA393A}"/>
              </a:ext>
            </a:extLst>
          </p:cNvPr>
          <p:cNvSpPr txBox="1"/>
          <p:nvPr/>
        </p:nvSpPr>
        <p:spPr>
          <a:xfrm>
            <a:off x="8147761" y="1837175"/>
            <a:ext cx="3556559" cy="37548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&lt;Students&gt;</a:t>
            </a:r>
          </a:p>
          <a:p>
            <a:r>
              <a:rPr lang="en-US" sz="1400" dirty="0"/>
              <a:t>  &lt;Student&gt;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StudentID</a:t>
            </a:r>
            <a:r>
              <a:rPr lang="en-US" sz="1400" dirty="0"/>
              <a:t>&gt;1001&lt;/</a:t>
            </a:r>
            <a:r>
              <a:rPr lang="en-US" sz="1400" dirty="0" err="1"/>
              <a:t>StudentID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ClassesEnrolled</a:t>
            </a:r>
            <a:r>
              <a:rPr lang="en-US" sz="1400" dirty="0"/>
              <a:t>&gt;3&lt;/</a:t>
            </a:r>
            <a:r>
              <a:rPr lang="en-US" sz="1400" dirty="0" err="1"/>
              <a:t>ClassesEnrolled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&lt;GPA&gt;3.4&lt;/GPA&gt;</a:t>
            </a:r>
          </a:p>
          <a:p>
            <a:r>
              <a:rPr lang="en-US" sz="1400" dirty="0"/>
              <a:t>  &lt;/Student&gt;</a:t>
            </a:r>
          </a:p>
          <a:p>
            <a:r>
              <a:rPr lang="en-US" sz="1400" dirty="0"/>
              <a:t>  &lt;Student&gt;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StudentID</a:t>
            </a:r>
            <a:r>
              <a:rPr lang="en-US" sz="1400" dirty="0"/>
              <a:t>&gt;1002&lt;/</a:t>
            </a:r>
            <a:r>
              <a:rPr lang="en-US" sz="1400" dirty="0" err="1"/>
              <a:t>StudentID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ClassesEnrolled</a:t>
            </a:r>
            <a:r>
              <a:rPr lang="en-US" sz="1400" dirty="0"/>
              <a:t>&gt;4&lt;/</a:t>
            </a:r>
            <a:r>
              <a:rPr lang="en-US" sz="1400" dirty="0" err="1"/>
              <a:t>ClassesEnrolled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&lt;GPA&gt;2.9&lt;/GPA&gt;</a:t>
            </a:r>
          </a:p>
          <a:p>
            <a:r>
              <a:rPr lang="en-US" sz="1400" dirty="0"/>
              <a:t>  &lt;/Student&gt;</a:t>
            </a:r>
          </a:p>
          <a:p>
            <a:r>
              <a:rPr lang="en-US" sz="1400" dirty="0"/>
              <a:t>  &lt;Student&gt;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StudentID</a:t>
            </a:r>
            <a:r>
              <a:rPr lang="en-US" sz="1400" dirty="0"/>
              <a:t>&gt;1003&lt;/</a:t>
            </a:r>
            <a:r>
              <a:rPr lang="en-US" sz="1400" dirty="0" err="1"/>
              <a:t>StudentID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</a:t>
            </a:r>
            <a:r>
              <a:rPr lang="en-US" sz="1400" dirty="0" err="1"/>
              <a:t>ClassesEnrolled</a:t>
            </a:r>
            <a:r>
              <a:rPr lang="en-US" sz="1400" dirty="0"/>
              <a:t>&gt;2&lt;/</a:t>
            </a:r>
            <a:r>
              <a:rPr lang="en-US" sz="1400" dirty="0" err="1"/>
              <a:t>ClassesEnrolled</a:t>
            </a:r>
            <a:r>
              <a:rPr lang="en-US" sz="1400" dirty="0"/>
              <a:t>&gt;</a:t>
            </a:r>
          </a:p>
          <a:p>
            <a:r>
              <a:rPr lang="en-US" sz="1400" dirty="0"/>
              <a:t>    &lt;GPA&gt;3.8&lt;/GPA&gt;</a:t>
            </a:r>
          </a:p>
          <a:p>
            <a:r>
              <a:rPr lang="en-US" sz="1400" dirty="0"/>
              <a:t>  &lt;/Student&gt;</a:t>
            </a:r>
          </a:p>
          <a:p>
            <a:r>
              <a:rPr lang="en-US" sz="1400" dirty="0"/>
              <a:t>&lt;/Students&gt;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084C4-AFC3-2E77-7EDE-EB7F67DBD793}"/>
              </a:ext>
            </a:extLst>
          </p:cNvPr>
          <p:cNvSpPr txBox="1"/>
          <p:nvPr/>
        </p:nvSpPr>
        <p:spPr>
          <a:xfrm>
            <a:off x="8147761" y="5658900"/>
            <a:ext cx="3474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XML</a:t>
            </a:r>
          </a:p>
          <a:p>
            <a:r>
              <a:rPr lang="en-US" dirty="0"/>
              <a:t>Extensible Markup Language - structured data format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B3B97-4805-DDBE-AD84-14230F3A5274}"/>
              </a:ext>
            </a:extLst>
          </p:cNvPr>
          <p:cNvSpPr txBox="1"/>
          <p:nvPr/>
        </p:nvSpPr>
        <p:spPr>
          <a:xfrm>
            <a:off x="3561816" y="1917387"/>
            <a:ext cx="41696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JSON or XML often used for data interchange on the web or storing nested data.</a:t>
            </a:r>
          </a:p>
        </p:txBody>
      </p:sp>
      <p:pic>
        <p:nvPicPr>
          <p:cNvPr id="12" name="Picture 11" descr="A screenshot of a spreadsheet  AI-generated content may be incorrect.">
            <a:extLst>
              <a:ext uri="{FF2B5EF4-FFF2-40B4-BE49-F238E27FC236}">
                <a16:creationId xmlns:a16="http://schemas.microsoft.com/office/drawing/2014/main" id="{7AA1019F-0D97-4699-A6FC-911466065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1960" y="4974139"/>
            <a:ext cx="3360290" cy="1433518"/>
          </a:xfrm>
          <a:prstGeom prst="rect">
            <a:avLst/>
          </a:prstGeom>
        </p:spPr>
      </p:pic>
      <p:sp>
        <p:nvSpPr>
          <p:cNvPr id="13" name="Right Arrow 12">
            <a:extLst>
              <a:ext uri="{FF2B5EF4-FFF2-40B4-BE49-F238E27FC236}">
                <a16:creationId xmlns:a16="http://schemas.microsoft.com/office/drawing/2014/main" id="{AC61FC2D-3C40-E921-495C-D49A66A1981A}"/>
              </a:ext>
            </a:extLst>
          </p:cNvPr>
          <p:cNvSpPr/>
          <p:nvPr/>
        </p:nvSpPr>
        <p:spPr>
          <a:xfrm rot="2384498">
            <a:off x="3149740" y="4323114"/>
            <a:ext cx="890016" cy="367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1D14F32F-550F-9D86-747D-67A20CAB83CE}"/>
              </a:ext>
            </a:extLst>
          </p:cNvPr>
          <p:cNvSpPr/>
          <p:nvPr/>
        </p:nvSpPr>
        <p:spPr>
          <a:xfrm rot="19262079" flipH="1">
            <a:off x="7197757" y="4314421"/>
            <a:ext cx="927467" cy="367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004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B0E11-77EC-4EF9-8B8F-107C66858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Formats Matter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5F1C99-B85C-8DCC-B63C-1E4E952DFF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752691"/>
              </p:ext>
            </p:extLst>
          </p:nvPr>
        </p:nvGraphicFramePr>
        <p:xfrm>
          <a:off x="632841" y="2251450"/>
          <a:ext cx="10926318" cy="411930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831435">
                  <a:extLst>
                    <a:ext uri="{9D8B030D-6E8A-4147-A177-3AD203B41FA5}">
                      <a16:colId xmlns:a16="http://schemas.microsoft.com/office/drawing/2014/main" val="922962506"/>
                    </a:ext>
                  </a:extLst>
                </a:gridCol>
                <a:gridCol w="4765580">
                  <a:extLst>
                    <a:ext uri="{9D8B030D-6E8A-4147-A177-3AD203B41FA5}">
                      <a16:colId xmlns:a16="http://schemas.microsoft.com/office/drawing/2014/main" val="2961763840"/>
                    </a:ext>
                  </a:extLst>
                </a:gridCol>
                <a:gridCol w="4329303">
                  <a:extLst>
                    <a:ext uri="{9D8B030D-6E8A-4147-A177-3AD203B41FA5}">
                      <a16:colId xmlns:a16="http://schemas.microsoft.com/office/drawing/2014/main" val="2510720370"/>
                    </a:ext>
                  </a:extLst>
                </a:gridCol>
              </a:tblGrid>
              <a:tr h="423609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Data Format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Strengths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Limitations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5442269"/>
                  </a:ext>
                </a:extLst>
              </a:tr>
              <a:tr h="9001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Excel / Spreadsheets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Easy for humans to enter &amp; read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Great for small-to-medium datasets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Quick manual analysis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Poor for automated processing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Doesn’t scale to very large datasets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4129999734"/>
                  </a:ext>
                </a:extLst>
              </a:tr>
              <a:tr h="9001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CSV / TSV (text files)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Language-agnostic interchange format 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Handles fairly large data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Simple and portable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All-text so huge files can be cumbersome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No schema or data integrity checks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681957153"/>
                  </a:ext>
                </a:extLst>
              </a:tr>
              <a:tr h="61959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Databases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Efficient with very large datasets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Complex querying &amp; filtering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Concurrent access &amp; integrity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Requires DB setup &amp; SQL knowledge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Overkill for simple/small datasets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567830442"/>
                  </a:ext>
                </a:extLst>
              </a:tr>
              <a:tr h="9001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Others (JSON / XML)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Supports hierarchical/complex structures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Ideal for web data interchange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Must parse before analysis </a:t>
                      </a:r>
                    </a:p>
                    <a:p>
                      <a:pPr marL="342900" indent="-34290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Verbose (esp. XML)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982565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4444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6E06E-08DC-B932-6CD2-7D9099E0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Metadata: Data 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C96B9-2492-BBBE-6C84-5853C358B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a data dictionary. </a:t>
            </a:r>
          </a:p>
          <a:p>
            <a:r>
              <a:rPr lang="en-US" dirty="0"/>
              <a:t>Explains each variable and possible values.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94A402-DAB3-A672-3FA0-0CC135E23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230342"/>
              </p:ext>
            </p:extLst>
          </p:nvPr>
        </p:nvGraphicFramePr>
        <p:xfrm>
          <a:off x="5657088" y="4134874"/>
          <a:ext cx="6278880" cy="18669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69720">
                  <a:extLst>
                    <a:ext uri="{9D8B030D-6E8A-4147-A177-3AD203B41FA5}">
                      <a16:colId xmlns:a16="http://schemas.microsoft.com/office/drawing/2014/main" val="158089689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3702052201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661467496"/>
                    </a:ext>
                  </a:extLst>
                </a:gridCol>
                <a:gridCol w="1569720">
                  <a:extLst>
                    <a:ext uri="{9D8B030D-6E8A-4147-A177-3AD203B41FA5}">
                      <a16:colId xmlns:a16="http://schemas.microsoft.com/office/drawing/2014/main" val="41465289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Field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Type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Description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Allowed values / Range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095453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StudentID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Integer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Unique identifier for each student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Any positive integer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9938455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ClassesEnrolled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Integer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Number of classes the student is taking this semester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0, 1, 2, …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940589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GPA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Continuous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Grade Point Average on a 0.0–4.0 scale (allowing decimals)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0.0 – 4.0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9734102"/>
                  </a:ext>
                </a:extLst>
              </a:tr>
            </a:tbl>
          </a:graphicData>
        </a:graphic>
      </p:graphicFrame>
      <p:pic>
        <p:nvPicPr>
          <p:cNvPr id="5" name="Picture 4" descr="A screenshot of a spreadsheet  AI-generated content may be incorrect.">
            <a:extLst>
              <a:ext uri="{FF2B5EF4-FFF2-40B4-BE49-F238E27FC236}">
                <a16:creationId xmlns:a16="http://schemas.microsoft.com/office/drawing/2014/main" id="{74F71827-B510-1338-693A-1A7531178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283" y="4319540"/>
            <a:ext cx="3360290" cy="143351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C38F7A-CD2C-0361-1FDC-6D93FAE71A6B}"/>
              </a:ext>
            </a:extLst>
          </p:cNvPr>
          <p:cNvSpPr txBox="1"/>
          <p:nvPr/>
        </p:nvSpPr>
        <p:spPr>
          <a:xfrm>
            <a:off x="1865376" y="5817108"/>
            <a:ext cx="1217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329D15-E338-212A-4D0B-6317A093439B}"/>
              </a:ext>
            </a:extLst>
          </p:cNvPr>
          <p:cNvSpPr txBox="1"/>
          <p:nvPr/>
        </p:nvSpPr>
        <p:spPr>
          <a:xfrm>
            <a:off x="8228424" y="6001774"/>
            <a:ext cx="1136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Metadata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E5FB8A20-FF6B-9AC9-10D9-40EB3948B610}"/>
              </a:ext>
            </a:extLst>
          </p:cNvPr>
          <p:cNvSpPr/>
          <p:nvPr/>
        </p:nvSpPr>
        <p:spPr>
          <a:xfrm>
            <a:off x="4596384" y="5036299"/>
            <a:ext cx="865632" cy="2550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0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47F4-59DD-DC66-D1E6-E768571A3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Metadata: Data About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DF7F0-9B35-7E9E-1C7D-A5F9F69E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248" y="2291970"/>
            <a:ext cx="3644900" cy="227406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Good data comes with metadata.</a:t>
            </a:r>
          </a:p>
          <a:p>
            <a:r>
              <a:rPr lang="en-US" dirty="0"/>
              <a:t>If you’re creating your own dataset, take notes about each variable – that’s metadata that will help you or others later.</a:t>
            </a:r>
          </a:p>
          <a:p>
            <a:endParaRPr lang="en-US" dirty="0"/>
          </a:p>
        </p:txBody>
      </p:sp>
      <p:pic>
        <p:nvPicPr>
          <p:cNvPr id="7" name="Picture 6" descr="A screenshot of a computer  AI-generated content may be incorrect.">
            <a:extLst>
              <a:ext uri="{FF2B5EF4-FFF2-40B4-BE49-F238E27FC236}">
                <a16:creationId xmlns:a16="http://schemas.microsoft.com/office/drawing/2014/main" id="{F7AF59C5-367D-AA36-42B3-F2C5E3F5B7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9822" y="2162070"/>
            <a:ext cx="5629910" cy="1821135"/>
          </a:xfrm>
          <a:prstGeom prst="rect">
            <a:avLst/>
          </a:prstGeom>
        </p:spPr>
      </p:pic>
      <p:pic>
        <p:nvPicPr>
          <p:cNvPr id="9" name="Picture 8" descr="A screenshot of a computer  AI-generated content may be incorrect.">
            <a:extLst>
              <a:ext uri="{FF2B5EF4-FFF2-40B4-BE49-F238E27FC236}">
                <a16:creationId xmlns:a16="http://schemas.microsoft.com/office/drawing/2014/main" id="{84387A29-E883-CE0D-B20B-0E85064A2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7554" y="4566032"/>
            <a:ext cx="9014446" cy="1961227"/>
          </a:xfrm>
          <a:prstGeom prst="rect">
            <a:avLst/>
          </a:prstGeom>
        </p:spPr>
      </p:pic>
      <p:sp>
        <p:nvSpPr>
          <p:cNvPr id="12" name="Down Arrow 11">
            <a:extLst>
              <a:ext uri="{FF2B5EF4-FFF2-40B4-BE49-F238E27FC236}">
                <a16:creationId xmlns:a16="http://schemas.microsoft.com/office/drawing/2014/main" id="{5E7D4275-EF43-CEF2-72D4-B09DFA102C68}"/>
              </a:ext>
            </a:extLst>
          </p:cNvPr>
          <p:cNvSpPr/>
          <p:nvPr/>
        </p:nvSpPr>
        <p:spPr>
          <a:xfrm>
            <a:off x="7684777" y="3983205"/>
            <a:ext cx="496055" cy="58282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CB3EFC-19B1-A213-B11D-C8BA391D944D}"/>
              </a:ext>
            </a:extLst>
          </p:cNvPr>
          <p:cNvSpPr txBox="1"/>
          <p:nvPr/>
        </p:nvSpPr>
        <p:spPr>
          <a:xfrm>
            <a:off x="7116673" y="6488668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8387531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65717-9258-6401-C869-6F1717E4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2F07-08E8-7A31-2F39-FB7A98079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receive an email with an attachment “</a:t>
            </a:r>
            <a:r>
              <a:rPr lang="en-US" dirty="0" err="1"/>
              <a:t>data.xlsx</a:t>
            </a:r>
            <a:r>
              <a:rPr lang="en-US" dirty="0"/>
              <a:t>” which opens in Excel showing rows and columns. What can we call to this?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0E75B-9533-606F-4931-8D76E6E2335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0" y="3429000"/>
            <a:ext cx="4599432" cy="30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3685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CB6C5F-23FF-7EC7-7D03-35727A72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6323-5FE7-CA7B-9FCC-D7130D2D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B6802-2F37-48FE-5E13-9F54369C8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receive an email with an attachment “</a:t>
            </a:r>
            <a:r>
              <a:rPr lang="en-US" dirty="0" err="1"/>
              <a:t>data.xlsx</a:t>
            </a:r>
            <a:r>
              <a:rPr lang="en-US" dirty="0"/>
              <a:t>” which opens in Excel showing rows and columns. What can we call to this?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Excel spreadsheet file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246A73-2C9D-6192-4151-24E1646667C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7000" y="3429000"/>
            <a:ext cx="4599432" cy="306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1005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4B6646-867F-A884-BF2C-E542BA1D6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97C7-0CCF-CD58-1933-D0714352D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7D158-0EBD-369C-A36F-1D87623D5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4953000" cy="3572911"/>
          </a:xfrm>
        </p:spPr>
        <p:txBody>
          <a:bodyPr/>
          <a:lstStyle/>
          <a:p>
            <a:r>
              <a:rPr lang="en-US" dirty="0"/>
              <a:t>A website allows you to download “COVID19_cases.csv” which when opened in a text editor shows comma-separated values. How can you identify this?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28267-4FAD-279C-1F85-294BACDE39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696" y="2486522"/>
            <a:ext cx="5711952" cy="38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950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7A66B6-DB94-910A-FB64-42831348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33B89-7213-A2C6-9E49-7C3B8204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4CA9D-33E1-A8DA-4352-B35D4525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4953000" cy="3572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website allows you to download “COVID19_cases.csv” which when opened in a text editor shows comma-separated values. How can you identify this?</a:t>
            </a:r>
          </a:p>
          <a:p>
            <a:r>
              <a:rPr lang="en-US" dirty="0">
                <a:solidFill>
                  <a:srgbClr val="FF0000"/>
                </a:solidFill>
              </a:rPr>
              <a:t>That’s a CSV text file (comma-separated values).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31647-5B38-A46E-38DD-210DEA09960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696" y="2486522"/>
            <a:ext cx="5711952" cy="380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561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657378A-D3B6-7745-193A-F71FB1B9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2108B-F92F-5CAB-5AB0-2EF8A1C0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880A-9FDE-4408-B6B4-81F45C38F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6562344" cy="3572911"/>
          </a:xfrm>
        </p:spPr>
        <p:txBody>
          <a:bodyPr/>
          <a:lstStyle/>
          <a:p>
            <a:r>
              <a:rPr lang="en-US" dirty="0"/>
              <a:t>Your school’s student records are stored in a system where you can query information but not directly open a file; an IT staff exports a report for you. Can you identify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B33FE-76A5-2C36-4B81-1FFB918902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528" y="2283990"/>
            <a:ext cx="4298696" cy="42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6730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4EA6CE-B519-F05A-4985-423E3B838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770B-4E7A-2FE2-E8C5-30CEB9F3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C5E29-B4B6-58C9-A0A7-32974980A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6562344" cy="3723597"/>
          </a:xfrm>
        </p:spPr>
        <p:txBody>
          <a:bodyPr>
            <a:normAutofit/>
          </a:bodyPr>
          <a:lstStyle/>
          <a:p>
            <a:r>
              <a:rPr lang="en-US" dirty="0"/>
              <a:t>Your school’s student records are stored in a system where you can query information but not directly open a file; an IT staff exports a report for you. Can you identify this?</a:t>
            </a:r>
          </a:p>
          <a:p>
            <a:r>
              <a:rPr lang="en-US" dirty="0">
                <a:solidFill>
                  <a:srgbClr val="FF0000"/>
                </a:solidFill>
              </a:rPr>
              <a:t>That implies a database, they likely ran a query and exported a report, probably as a CSV or PDF for you, but the main storage is a database.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6ACDA0-8E67-3731-DA5C-AA01DCEF2A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3528" y="2283990"/>
            <a:ext cx="4298696" cy="42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261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F85752-1478-106A-6BBA-A198F7D00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0C14-45D6-940C-CFCB-57A36635D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7822D-D860-4A4F-98D0-8E500B152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 text file with a bunch of { "name": "Alice", "age": 14, ... } entries and curly braces, etc. Can you identify this?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FDDA2-D005-8BF7-2192-7C6C096A82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4942" y="4557014"/>
            <a:ext cx="2038858" cy="20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645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1E9CE4C-4BC5-B17B-82C6-DC237E157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64C4C-F9EF-09BC-F0ED-776A3CE14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A84A-304E-323F-BD36-15BC3050C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a text file with a bunch of { "name": "Alice", "age": 14, ... } entries and curly braces, etc. Can you identify this?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That looks like JSON format commonly used for data with keys and values.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5ADD5-46E4-AC63-5724-B197BDA3FD7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14942" y="4557014"/>
            <a:ext cx="2038858" cy="20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427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E3AB-73B4-1B3E-8C75-7C4292FC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D803-DA87-BFC9-5755-907025F4CA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34AE4-1CD0-9479-6C6D-B0CA6BF32B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Summary Statistics: Describing Data with Numbers</a:t>
            </a:r>
          </a:p>
        </p:txBody>
      </p:sp>
    </p:spTree>
    <p:extLst>
      <p:ext uri="{BB962C8B-B14F-4D97-AF65-F5344CB8AC3E}">
        <p14:creationId xmlns:p14="http://schemas.microsoft.com/office/powerpoint/2010/main" val="7136730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C195-DE2A-DE32-B923-627413EC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Statistics: Describing Data with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BF828-01D5-B528-B8A6-CBBC22E9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3038856" cy="3572911"/>
          </a:xfrm>
        </p:spPr>
        <p:txBody>
          <a:bodyPr/>
          <a:lstStyle/>
          <a:p>
            <a:r>
              <a:rPr lang="en-US" dirty="0"/>
              <a:t>Summary statistics compress a dataset into a few numbers. Two key dimensions: central tendency (where is the middle?) and dispersion (how spread out?). These are descriptive statistics — Chapter 9 extends this to inferential statistics, where we use sample statistics to estimate unknown population parameters.</a:t>
            </a:r>
          </a:p>
          <a:p>
            <a:endParaRPr lang="en-US" dirty="0"/>
          </a:p>
        </p:txBody>
      </p:sp>
      <p:graphicFrame>
        <p:nvGraphicFramePr>
          <p:cNvPr id="4" name="Content Placeholder 8">
            <a:extLst>
              <a:ext uri="{FF2B5EF4-FFF2-40B4-BE49-F238E27FC236}">
                <a16:creationId xmlns:a16="http://schemas.microsoft.com/office/drawing/2014/main" id="{D53F228F-6C95-1245-5F6F-D101C16B2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6744753"/>
              </p:ext>
            </p:extLst>
          </p:nvPr>
        </p:nvGraphicFramePr>
        <p:xfrm>
          <a:off x="2109216" y="2774295"/>
          <a:ext cx="11073384" cy="3582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4399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CC7F9-D8EE-EE34-C488-2FD330D6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865E-4CCC-4DD5-DD87-4CAD8B253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04051"/>
                <a:ext cx="7050024" cy="389428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Also called average. </a:t>
                </a:r>
              </a:p>
              <a:p>
                <a:r>
                  <a:rPr lang="en-US" dirty="0"/>
                  <a:t>Sum up all the values and then divide by the number of values.</a:t>
                </a:r>
              </a:p>
              <a:p>
                <a:r>
                  <a:rPr lang="en-US" dirty="0"/>
                  <a:t>Let’s calculate the average score for the 10 students on the table. </a:t>
                </a:r>
              </a:p>
              <a:p>
                <a:r>
                  <a:rPr lang="en-US" dirty="0"/>
                  <a:t>Sum of scores = 7 + 8 + 5 + 10 + 9 + 6 + 8 + 7 + 8 + 5 = 73.</a:t>
                </a:r>
              </a:p>
              <a:p>
                <a:r>
                  <a:rPr lang="en-US" dirty="0"/>
                  <a:t>There are n = 10 students.</a:t>
                </a:r>
              </a:p>
              <a:p>
                <a:r>
                  <a:rPr lang="en-US" dirty="0"/>
                  <a:t>Mean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= 73/10 = 7.3.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42865E-4CCC-4DD5-DD87-4CAD8B253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04051"/>
                <a:ext cx="7050024" cy="3894285"/>
              </a:xfrm>
              <a:blipFill>
                <a:blip r:embed="rId2"/>
                <a:stretch>
                  <a:fillRect l="-1439" t="-2922" r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5D361A-907D-2C22-62C8-E2A6A607E070}"/>
                  </a:ext>
                </a:extLst>
              </p:cNvPr>
              <p:cNvSpPr txBox="1"/>
              <p:nvPr/>
            </p:nvSpPr>
            <p:spPr>
              <a:xfrm>
                <a:off x="6364224" y="1268444"/>
                <a:ext cx="4706112" cy="986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2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+… 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5D361A-907D-2C22-62C8-E2A6A607E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224" y="1268444"/>
                <a:ext cx="4706112" cy="986873"/>
              </a:xfrm>
              <a:prstGeom prst="rect">
                <a:avLst/>
              </a:prstGeom>
              <a:blipFill>
                <a:blip r:embed="rId3"/>
                <a:stretch>
                  <a:fillRect t="-6329" b="-3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9FFBDF7-BFE0-8E82-4915-CF9BBD1CB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883946"/>
              </p:ext>
            </p:extLst>
          </p:nvPr>
        </p:nvGraphicFramePr>
        <p:xfrm>
          <a:off x="8595360" y="2604051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19475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2E39-B7D5-353A-82B7-DC65769A7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D126C-4D52-2DAE-AB05-C4BC94CBB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8037576" cy="3572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Middle value of the dataset.</a:t>
            </a:r>
          </a:p>
          <a:p>
            <a:r>
              <a:rPr lang="en-US" dirty="0"/>
              <a:t>Especially useful when there are outliers in the data.</a:t>
            </a:r>
          </a:p>
          <a:p>
            <a:r>
              <a:rPr lang="en-US" dirty="0"/>
              <a:t>To find the median: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Sort the data.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n is odd, median = value at position (n+1)/2 (when sorted in ascending order).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If n is even, median = average of values at positions n/2 and (n/2 + 1).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DA94B1-0DC6-8C98-513B-7BF639477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689271"/>
              </p:ext>
            </p:extLst>
          </p:nvPr>
        </p:nvGraphicFramePr>
        <p:xfrm>
          <a:off x="9237472" y="2424663"/>
          <a:ext cx="2223008" cy="35729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9548">
                  <a:extLst>
                    <a:ext uri="{9D8B030D-6E8A-4147-A177-3AD203B41FA5}">
                      <a16:colId xmlns:a16="http://schemas.microsoft.com/office/drawing/2014/main" val="1615789873"/>
                    </a:ext>
                  </a:extLst>
                </a:gridCol>
                <a:gridCol w="1093460">
                  <a:extLst>
                    <a:ext uri="{9D8B030D-6E8A-4147-A177-3AD203B41FA5}">
                      <a16:colId xmlns:a16="http://schemas.microsoft.com/office/drawing/2014/main" val="1606264580"/>
                    </a:ext>
                  </a:extLst>
                </a:gridCol>
              </a:tblGrid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Score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84304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5427710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18308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Fiona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508342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Hannah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06749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Alice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966242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188945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0206468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9056931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2889442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09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93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34A4-D3E8-8FB4-EFC3-6285F784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D69F-2D78-69E7-CFC8-D657BA39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AEE54-10D4-C3EF-3413-004C30EB1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8037576" cy="3572911"/>
          </a:xfrm>
        </p:spPr>
        <p:txBody>
          <a:bodyPr>
            <a:normAutofit/>
          </a:bodyPr>
          <a:lstStyle/>
          <a:p>
            <a:r>
              <a:rPr lang="en-US" dirty="0"/>
              <a:t>n=10 is even.</a:t>
            </a:r>
          </a:p>
          <a:p>
            <a:r>
              <a:rPr lang="en-US" dirty="0"/>
              <a:t>The middle two positions are 5th and 6</a:t>
            </a:r>
            <a:r>
              <a:rPr lang="en-US" baseline="30000" dirty="0"/>
              <a:t>th</a:t>
            </a:r>
            <a:r>
              <a:rPr lang="en-US" dirty="0"/>
              <a:t>.</a:t>
            </a:r>
          </a:p>
          <a:p>
            <a:r>
              <a:rPr lang="en-US" dirty="0"/>
              <a:t>Median = (7 + 8) / 2 = 7.5.</a:t>
            </a:r>
          </a:p>
          <a:p>
            <a:r>
              <a:rPr lang="en-US" dirty="0"/>
              <a:t>Half of the students scored 7.5 or below, and half scored 7.5 or above. 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17F895-8036-A9AA-128E-FD8381B79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303430"/>
              </p:ext>
            </p:extLst>
          </p:nvPr>
        </p:nvGraphicFramePr>
        <p:xfrm>
          <a:off x="9237472" y="2424663"/>
          <a:ext cx="2223008" cy="357291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29548">
                  <a:extLst>
                    <a:ext uri="{9D8B030D-6E8A-4147-A177-3AD203B41FA5}">
                      <a16:colId xmlns:a16="http://schemas.microsoft.com/office/drawing/2014/main" val="1615789873"/>
                    </a:ext>
                  </a:extLst>
                </a:gridCol>
                <a:gridCol w="1093460">
                  <a:extLst>
                    <a:ext uri="{9D8B030D-6E8A-4147-A177-3AD203B41FA5}">
                      <a16:colId xmlns:a16="http://schemas.microsoft.com/office/drawing/2014/main" val="1606264580"/>
                    </a:ext>
                  </a:extLst>
                </a:gridCol>
              </a:tblGrid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Score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84304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55427710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18308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Fiona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508342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Hannah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9067493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Alice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9662424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solidFill>
                            <a:srgbClr val="FF0000"/>
                          </a:solidFill>
                          <a:effectLst/>
                        </a:rPr>
                        <a:t>Isaac</a:t>
                      </a:r>
                      <a:endParaRPr lang="en-US" sz="2000" b="1" i="0" u="none" strike="noStrike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en-US" sz="2000" b="1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91889455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30206468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19056931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2889442"/>
                  </a:ext>
                </a:extLst>
              </a:tr>
              <a:tr h="32481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009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3740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847F-7498-BCF9-5791-C7D9CFE2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FE94-C57E-16E3-487B-5DDBC0E21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720" y="1820991"/>
            <a:ext cx="5510784" cy="4531041"/>
          </a:xfrm>
        </p:spPr>
        <p:txBody>
          <a:bodyPr/>
          <a:lstStyle/>
          <a:p>
            <a:r>
              <a:rPr lang="en-US" dirty="0"/>
              <a:t>The most frequently occurring value in the dataset.</a:t>
            </a:r>
          </a:p>
          <a:p>
            <a:r>
              <a:rPr lang="en-US" dirty="0"/>
              <a:t>It’s possible to have:</a:t>
            </a:r>
          </a:p>
          <a:p>
            <a:pPr lvl="1"/>
            <a:r>
              <a:rPr lang="en-US" dirty="0"/>
              <a:t>bi-modal or multi-modal - if multiple values tie for highest frequency </a:t>
            </a:r>
          </a:p>
          <a:p>
            <a:pPr lvl="1"/>
            <a:r>
              <a:rPr lang="en-US" dirty="0"/>
              <a:t>no mode - every value occurs equally </a:t>
            </a:r>
          </a:p>
          <a:p>
            <a:r>
              <a:rPr lang="en-US" dirty="0"/>
              <a:t>On the table, the most frequent score is 8, therefore the mode is 8.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4681E5-CB36-B4C7-8E6B-75CA67C57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229657"/>
              </p:ext>
            </p:extLst>
          </p:nvPr>
        </p:nvGraphicFramePr>
        <p:xfrm>
          <a:off x="420624" y="2224434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Ethan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DCCBEF-6C0A-D77D-A8EC-5B3CDE2B79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437064"/>
              </p:ext>
            </p:extLst>
          </p:nvPr>
        </p:nvGraphicFramePr>
        <p:xfrm>
          <a:off x="3721608" y="3333200"/>
          <a:ext cx="2572512" cy="220027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86256">
                  <a:extLst>
                    <a:ext uri="{9D8B030D-6E8A-4147-A177-3AD203B41FA5}">
                      <a16:colId xmlns:a16="http://schemas.microsoft.com/office/drawing/2014/main" val="528132877"/>
                    </a:ext>
                  </a:extLst>
                </a:gridCol>
                <a:gridCol w="1286256">
                  <a:extLst>
                    <a:ext uri="{9D8B030D-6E8A-4147-A177-3AD203B41FA5}">
                      <a16:colId xmlns:a16="http://schemas.microsoft.com/office/drawing/2014/main" val="3627173292"/>
                    </a:ext>
                  </a:extLst>
                </a:gridCol>
              </a:tblGrid>
              <a:tr h="15941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Frequency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81333009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79445782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3731786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7939087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0630823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0124398"/>
                  </a:ext>
                </a:extLst>
              </a:tr>
              <a:tr h="21071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40723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6E2619-BADB-F9E1-3F1F-845D5D776616}"/>
              </a:ext>
            </a:extLst>
          </p:cNvPr>
          <p:cNvSpPr txBox="1"/>
          <p:nvPr/>
        </p:nvSpPr>
        <p:spPr>
          <a:xfrm>
            <a:off x="1107694" y="6182930"/>
            <a:ext cx="712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61504-AF86-9901-C285-25181E3532E1}"/>
              </a:ext>
            </a:extLst>
          </p:cNvPr>
          <p:cNvSpPr txBox="1"/>
          <p:nvPr/>
        </p:nvSpPr>
        <p:spPr>
          <a:xfrm>
            <a:off x="3987670" y="5609755"/>
            <a:ext cx="1806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Table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07409E0B-DA96-DFA0-17ED-47D05F83711F}"/>
              </a:ext>
            </a:extLst>
          </p:cNvPr>
          <p:cNvSpPr/>
          <p:nvPr/>
        </p:nvSpPr>
        <p:spPr>
          <a:xfrm>
            <a:off x="2731008" y="4011168"/>
            <a:ext cx="853440" cy="329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992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3CD4C5-1533-FE05-5E0B-AB0D9FAD06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2235274"/>
              </p:ext>
            </p:extLst>
          </p:nvPr>
        </p:nvGraphicFramePr>
        <p:xfrm>
          <a:off x="708521" y="1585804"/>
          <a:ext cx="10774958" cy="447883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23597">
                  <a:extLst>
                    <a:ext uri="{9D8B030D-6E8A-4147-A177-3AD203B41FA5}">
                      <a16:colId xmlns:a16="http://schemas.microsoft.com/office/drawing/2014/main" val="2682944366"/>
                    </a:ext>
                  </a:extLst>
                </a:gridCol>
                <a:gridCol w="4535794">
                  <a:extLst>
                    <a:ext uri="{9D8B030D-6E8A-4147-A177-3AD203B41FA5}">
                      <a16:colId xmlns:a16="http://schemas.microsoft.com/office/drawing/2014/main" val="153760401"/>
                    </a:ext>
                  </a:extLst>
                </a:gridCol>
                <a:gridCol w="5015567">
                  <a:extLst>
                    <a:ext uri="{9D8B030D-6E8A-4147-A177-3AD203B41FA5}">
                      <a16:colId xmlns:a16="http://schemas.microsoft.com/office/drawing/2014/main" val="2006938435"/>
                    </a:ext>
                  </a:extLst>
                </a:gridCol>
              </a:tblGrid>
              <a:tr h="30608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Measure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Strengths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Weaknesses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148501961"/>
                  </a:ext>
                </a:extLst>
              </a:tr>
              <a:tr h="131285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Mean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Uses all data points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Familiar to most people.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Works well for symmetric distributions.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Useful for further statistical analysis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Sensitive to outliers.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Can be misleading for skewed data.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May not represent a “typical” value.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Not applicable to categorical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346530080"/>
                  </a:ext>
                </a:extLst>
              </a:tr>
              <a:tr h="1359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Median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Not affected by outliers.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Better for skewed distributions.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Represents the “middle” observation.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Works for ordinal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Ignores specific values (just uses position).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Less familiar to some people.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Less useful for further statistical analysis.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Not applicable to nominal data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543532062"/>
                  </a:ext>
                </a:extLst>
              </a:tr>
              <a:tr h="149263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Mode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Shows the most common value.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Works for categorical data.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Not affected by outliers.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Useful for identifying peaks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May not exist if all values are unique.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Multiple modes possible. 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Can be unstable in small samples.</a:t>
                      </a:r>
                    </a:p>
                    <a:p>
                      <a:pPr marL="171450" indent="-171450" algn="l" fontAlgn="b">
                        <a:buFont typeface="Arial" panose="020B0604020202020204" pitchFamily="34" charset="0"/>
                        <a:buChar char="•"/>
                      </a:pPr>
                      <a:r>
                        <a:rPr lang="en-US" sz="2000" u="none" strike="noStrike" dirty="0">
                          <a:effectLst/>
                        </a:rPr>
                        <a:t>Less useful for further analysis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2584176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1863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FB57-27C9-11FB-3660-95FC27B9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0DB5C-47AF-398A-632A-58BDE9D86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8159496" cy="3572911"/>
          </a:xfrm>
        </p:spPr>
        <p:txBody>
          <a:bodyPr/>
          <a:lstStyle/>
          <a:p>
            <a:r>
              <a:rPr lang="en-US" dirty="0"/>
              <a:t>The range measures the spread of the data by taking the difference between the maximum and minimum values. </a:t>
            </a:r>
          </a:p>
          <a:p>
            <a:r>
              <a:rPr lang="en-US" dirty="0"/>
              <a:t>It’s a very simple measure of variability.</a:t>
            </a:r>
          </a:p>
          <a:p>
            <a:r>
              <a:rPr lang="en-US" dirty="0"/>
              <a:t>Min score is 5, max score is 10.</a:t>
            </a:r>
          </a:p>
          <a:p>
            <a:r>
              <a:rPr lang="en-US" dirty="0"/>
              <a:t>Range is 10 – 5 =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001231-7683-F939-BA1F-4EBE1BAE8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506176"/>
              </p:ext>
            </p:extLst>
          </p:nvPr>
        </p:nvGraphicFramePr>
        <p:xfrm>
          <a:off x="9272016" y="2548229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Carlos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Ethan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0624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263C7-F655-14C5-680D-4B3F93A5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E04D9-C581-9908-7164-AE68AF821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341066" cy="3572911"/>
          </a:xfrm>
        </p:spPr>
        <p:txBody>
          <a:bodyPr/>
          <a:lstStyle/>
          <a:p>
            <a:r>
              <a:rPr lang="en-US" dirty="0"/>
              <a:t>Standard deviation (σ for population, s for sample) measures average distance from the mean. Its square is the variance (σ²). Variance is additive for independent variables — a property used extensively in statistics and ML.</a:t>
            </a:r>
          </a:p>
          <a:p>
            <a:r>
              <a:rPr lang="en-US" dirty="0"/>
              <a:t>Low SD: data clustered tightly around the mean — high precision, low variability. Coefficient of variation (CV = SD/mean) is useful for comparing spread across different scales.</a:t>
            </a:r>
          </a:p>
          <a:p>
            <a:r>
              <a:rPr lang="en-US" dirty="0"/>
              <a:t>High SD: data spread widely — signals heterogeneity in the sample. In a normal distribution, SD defines the empirical 68-95-99.7 rule.</a:t>
            </a:r>
          </a:p>
          <a:p>
            <a:endParaRPr lang="en-US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444F1E-F8A0-4EBA-603D-EB2713A4C00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0602" y="1177372"/>
            <a:ext cx="3470163" cy="520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410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F7793-1242-1E46-4ABE-7A10440E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B387-59F4-5AAB-8C80-395004954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424256" cy="3572911"/>
          </a:xfrm>
        </p:spPr>
        <p:txBody>
          <a:bodyPr>
            <a:normAutofit/>
          </a:bodyPr>
          <a:lstStyle/>
          <a:p>
            <a:r>
              <a:rPr lang="en-US" dirty="0"/>
              <a:t>How to calculate the standard deviation</a:t>
            </a:r>
          </a:p>
          <a:p>
            <a:pPr lvl="1"/>
            <a:r>
              <a:rPr lang="en-US" dirty="0"/>
              <a:t>Calculate how far each data point is from the mean.</a:t>
            </a:r>
          </a:p>
          <a:p>
            <a:pPr lvl="1"/>
            <a:r>
              <a:rPr lang="en-US" dirty="0"/>
              <a:t>Square those distances (to avoid negative differences canceling out).</a:t>
            </a:r>
          </a:p>
          <a:p>
            <a:pPr lvl="1"/>
            <a:r>
              <a:rPr lang="en-US" dirty="0"/>
              <a:t>Take the average of those squared distances (that gives a quantity called the variance).</a:t>
            </a:r>
          </a:p>
          <a:p>
            <a:pPr lvl="1"/>
            <a:r>
              <a:rPr lang="en-US" dirty="0"/>
              <a:t>Then take the square root of that average (that gives the standard deviation).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4E138-F3A1-2326-4772-11F6ADE5F4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2456" y="2424663"/>
            <a:ext cx="3469081" cy="3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43033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F958F-A91B-F137-7A8F-A54CCDD2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Deviation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43F0-E3B2-B016-ACF9-89695F9AD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s: sample standard deviation</a:t>
            </a:r>
          </a:p>
          <a:p>
            <a:r>
              <a:rPr lang="en-US" dirty="0"/>
              <a:t>∑: sum symbol (add up the terms)</a:t>
            </a:r>
          </a:p>
          <a:p>
            <a:r>
              <a:rPr lang="en-US" dirty="0" err="1"/>
              <a:t>i</a:t>
            </a:r>
            <a:r>
              <a:rPr lang="en-US" dirty="0"/>
              <a:t>=1 to n: index from 1 to sample size</a:t>
            </a:r>
          </a:p>
          <a:p>
            <a:r>
              <a:rPr lang="en-US" dirty="0"/>
              <a:t>𝑥_𝑖​: score for student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dirty="0"/>
              <a:t>𝑥 ̅: sample mean</a:t>
            </a:r>
          </a:p>
          <a:p>
            <a:r>
              <a:rPr lang="en-US" dirty="0"/>
              <a:t>n: sample size</a:t>
            </a:r>
          </a:p>
          <a:p>
            <a:endParaRPr lang="en-US" dirty="0"/>
          </a:p>
          <a:p>
            <a:r>
              <a:rPr lang="en-US" dirty="0"/>
              <a:t>The next slide will show how we can use standard deviation for normal distribution.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6CDB99-32DE-C6CD-114B-2CD1CFD3003C}"/>
                  </a:ext>
                </a:extLst>
              </p:cNvPr>
              <p:cNvSpPr txBox="1"/>
              <p:nvPr/>
            </p:nvSpPr>
            <p:spPr>
              <a:xfrm>
                <a:off x="6739856" y="3370030"/>
                <a:ext cx="4613944" cy="1729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36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3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3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3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3600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36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3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36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96CDB99-32DE-C6CD-114B-2CD1CFD3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9856" y="3370030"/>
                <a:ext cx="4613944" cy="1729191"/>
              </a:xfrm>
              <a:prstGeom prst="rect">
                <a:avLst/>
              </a:prstGeom>
              <a:blipFill>
                <a:blip r:embed="rId2"/>
                <a:stretch>
                  <a:fillRect t="-35036" b="-3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1681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AE74-8159-7493-09C4-BC351AFF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Normal Distribution and the Empirical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3EAA5-C991-99C7-925C-2AE1B292C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3364684" cy="3572911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Many natural measurements approximate a normal distribution. The empirical rule lets you interpret SD in practical terms: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68%</a:t>
            </a:r>
            <a:r>
              <a:rPr lang="en-US" dirty="0"/>
              <a:t> within ±1 SD — the "typical" range. If your score is within 1 SD of the mean, you are in the majority.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27%</a:t>
            </a:r>
            <a:r>
              <a:rPr lang="en-US" dirty="0"/>
              <a:t> between ±1 and ±2 SD — notable but not extreme. A data point here is unusual but not rare.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5%</a:t>
            </a:r>
            <a:r>
              <a:rPr lang="en-US" dirty="0"/>
              <a:t> beyond ±2 SD — these are statistical outliers by conventional definition. In quality control, values beyond ±3 SD (0.3%) trigger investigation.</a:t>
            </a:r>
          </a:p>
        </p:txBody>
      </p:sp>
      <p:pic>
        <p:nvPicPr>
          <p:cNvPr id="5" name="Picture 4" descr="A graph with numbers and a line  AI-generated content may be incorrect.">
            <a:extLst>
              <a:ext uri="{FF2B5EF4-FFF2-40B4-BE49-F238E27FC236}">
                <a16:creationId xmlns:a16="http://schemas.microsoft.com/office/drawing/2014/main" id="{8216B3EF-151B-B7AD-122F-FCB5BBE7BD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82318" y="2155306"/>
            <a:ext cx="72136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6684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74EE-49D2-77FE-9E9C-37B164BB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2B38C-14EC-C3CE-7326-B802581F3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2098" y="2604051"/>
            <a:ext cx="7771701" cy="3572911"/>
          </a:xfrm>
        </p:spPr>
        <p:txBody>
          <a:bodyPr/>
          <a:lstStyle/>
          <a:p>
            <a:r>
              <a:rPr lang="en-US" dirty="0"/>
              <a:t>Let’s calculate the standard deviation of the table on the left.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270499-39F3-9AB5-94E1-8F436C2BD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954882"/>
              </p:ext>
            </p:extLst>
          </p:nvPr>
        </p:nvGraphicFramePr>
        <p:xfrm>
          <a:off x="838200" y="2505397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7739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271169-51DE-0B5B-F26B-B19A5251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40B4-7744-3BFB-02DE-290E300D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69357-5DDA-6139-E86F-C62D0DD32B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82098" y="2604051"/>
                <a:ext cx="7771701" cy="3572911"/>
              </a:xfrm>
            </p:spPr>
            <p:txBody>
              <a:bodyPr/>
              <a:lstStyle/>
              <a:p>
                <a:r>
                  <a:rPr lang="en-US" dirty="0"/>
                  <a:t>First calculate the mean.</a:t>
                </a:r>
              </a:p>
              <a:p>
                <a:r>
                  <a:rPr lang="en-US" dirty="0"/>
                  <a:t>Which we already did!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 = 73/10 = 7.3.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469357-5DDA-6139-E86F-C62D0DD32B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82098" y="2604051"/>
                <a:ext cx="7771701" cy="3572911"/>
              </a:xfrm>
              <a:blipFill>
                <a:blip r:embed="rId2"/>
                <a:stretch>
                  <a:fillRect l="-1471" t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F2AEB4-B0CF-8339-051D-76F1CC9AF5A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505397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91184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01DB17A-219B-B526-D402-16000D9A9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6FF0-33FC-71E7-2BD1-7279DBC2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8EE15-FE8A-81F1-70EC-6CA4897A1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5439" y="2604051"/>
            <a:ext cx="7268360" cy="3572911"/>
          </a:xfrm>
        </p:spPr>
        <p:txBody>
          <a:bodyPr/>
          <a:lstStyle/>
          <a:p>
            <a:r>
              <a:rPr lang="en-US" dirty="0"/>
              <a:t>Second, calculate how far each data point is from the mean.</a:t>
            </a:r>
          </a:p>
          <a:p>
            <a:r>
              <a:rPr lang="en-US" dirty="0"/>
              <a:t>Which means, calculate “score – mean” for each score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6575F2-A165-5DFC-A663-3288997D5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977889"/>
              </p:ext>
            </p:extLst>
          </p:nvPr>
        </p:nvGraphicFramePr>
        <p:xfrm>
          <a:off x="838200" y="2505397"/>
          <a:ext cx="3247240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6628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870053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  <a:gridCol w="1280559">
                  <a:extLst>
                    <a:ext uri="{9D8B030D-6E8A-4147-A177-3AD203B41FA5}">
                      <a16:colId xmlns:a16="http://schemas.microsoft.com/office/drawing/2014/main" val="394980238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Clr>
                          <a:srgbClr val="000000"/>
                        </a:buClr>
                        <a:buSzPts val="1200"/>
                        <a:buFont typeface="Aptos Narrow" panose="020B0004020202020204" pitchFamily="34" charset="0"/>
                        <a:buChar char="-"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-1.3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-0.3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02674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FA9FE2C-3BAE-E35B-3AE0-E741086E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37547-FB00-1BEA-314D-BD79D59CE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BE74A-A740-858B-9774-D09F25223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583" y="2604051"/>
            <a:ext cx="4483216" cy="3572911"/>
          </a:xfrm>
        </p:spPr>
        <p:txBody>
          <a:bodyPr/>
          <a:lstStyle/>
          <a:p>
            <a:r>
              <a:rPr lang="en-US" dirty="0"/>
              <a:t>Third, square those distances!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765011-F65D-615B-5B65-CBB81E0B3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80729"/>
              </p:ext>
            </p:extLst>
          </p:nvPr>
        </p:nvGraphicFramePr>
        <p:xfrm>
          <a:off x="838199" y="2505397"/>
          <a:ext cx="5604545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57415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6958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  <a:gridCol w="1307817">
                  <a:extLst>
                    <a:ext uri="{9D8B030D-6E8A-4147-A177-3AD203B41FA5}">
                      <a16:colId xmlns:a16="http://schemas.microsoft.com/office/drawing/2014/main" val="3949802389"/>
                    </a:ext>
                  </a:extLst>
                </a:gridCol>
                <a:gridCol w="1862355">
                  <a:extLst>
                    <a:ext uri="{9D8B030D-6E8A-4147-A177-3AD203B41FA5}">
                      <a16:colId xmlns:a16="http://schemas.microsoft.com/office/drawing/2014/main" val="4007913790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 Difference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Clr>
                          <a:srgbClr val="000000"/>
                        </a:buClr>
                        <a:buSzPts val="1200"/>
                        <a:buFont typeface="Aptos Narrow" panose="020B0004020202020204" pitchFamily="34" charset="0"/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-1.3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-0.3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Julia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214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AC3BAE-7A38-EDC8-B5EC-669DF9F8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D314-1CCA-A54F-AEE2-32838A83A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A8A6C-A29C-F04D-798F-5EE003EC2B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70583" y="2604051"/>
                <a:ext cx="4483216" cy="3572911"/>
              </a:xfrm>
            </p:spPr>
            <p:txBody>
              <a:bodyPr/>
              <a:lstStyle/>
              <a:p>
                <a:pPr marL="228600" lvl="1">
                  <a:spcBef>
                    <a:spcPts val="1000"/>
                  </a:spcBef>
                </a:pPr>
                <a:r>
                  <a:rPr lang="en-US" dirty="0"/>
                  <a:t>Fourth; take the average of those squared distances.</a:t>
                </a:r>
              </a:p>
              <a:p>
                <a:pPr marL="685800" lvl="2">
                  <a:spcBef>
                    <a:spcPts val="1000"/>
                  </a:spcBef>
                </a:pPr>
                <a:r>
                  <a:rPr lang="en-US" dirty="0"/>
                  <a:t>24.1/10 = 2.41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en-US" dirty="0"/>
                  <a:t>Fifth; take the square root of that average.</a:t>
                </a:r>
              </a:p>
              <a:p>
                <a:pPr marL="685800" lvl="2">
                  <a:spcBef>
                    <a:spcPts val="1000"/>
                  </a:spcBef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2.41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1.55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FA8A6C-A29C-F04D-798F-5EE003EC2B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70583" y="2604051"/>
                <a:ext cx="4483216" cy="3572911"/>
              </a:xfrm>
              <a:blipFill>
                <a:blip r:embed="rId2"/>
                <a:stretch>
                  <a:fillRect l="-1695" t="-2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F4496-BAEE-683A-5A85-0582ABBA8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548068"/>
              </p:ext>
            </p:extLst>
          </p:nvPr>
        </p:nvGraphicFramePr>
        <p:xfrm>
          <a:off x="838199" y="2505397"/>
          <a:ext cx="5604545" cy="4112964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1357415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6958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  <a:gridCol w="1307817">
                  <a:extLst>
                    <a:ext uri="{9D8B030D-6E8A-4147-A177-3AD203B41FA5}">
                      <a16:colId xmlns:a16="http://schemas.microsoft.com/office/drawing/2014/main" val="3949802389"/>
                    </a:ext>
                  </a:extLst>
                </a:gridCol>
                <a:gridCol w="1862355">
                  <a:extLst>
                    <a:ext uri="{9D8B030D-6E8A-4147-A177-3AD203B41FA5}">
                      <a16:colId xmlns:a16="http://schemas.microsoft.com/office/drawing/2014/main" val="4007913790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 Difference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Clr>
                          <a:srgbClr val="000000"/>
                        </a:buClr>
                        <a:buSzPts val="1200"/>
                        <a:buFont typeface="Aptos Narrow" panose="020B0004020202020204" pitchFamily="34" charset="0"/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-0.3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2.7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-1.3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-0.3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-2.3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3801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16264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F9F92-0B77-77B1-6F99-1026AF52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Exercise-5 - What does 1.55 mean?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8860D-B02A-C47D-ABD2-0079BDD2C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Many students’ scores tend to be within about 1.55 points of the mean (7.3). </a:t>
            </a:r>
          </a:p>
          <a:p>
            <a:r>
              <a:rPr lang="en-US" dirty="0"/>
              <a:t>We can check</a:t>
            </a:r>
          </a:p>
          <a:p>
            <a:pPr lvl="1"/>
            <a:r>
              <a:rPr lang="en-US" dirty="0"/>
              <a:t>1 standard deviation above the mean is ~8.85, 1 below is ~5.75. </a:t>
            </a:r>
          </a:p>
          <a:p>
            <a:pPr lvl="1"/>
            <a:r>
              <a:rPr lang="en-US" dirty="0"/>
              <a:t>Most scores (except maybe the 10 and one of the 5s) are in the range 5.75 to 8.85. </a:t>
            </a:r>
          </a:p>
          <a:p>
            <a:pPr lvl="1"/>
            <a:r>
              <a:rPr lang="en-US" dirty="0"/>
              <a:t>Standard deviation gives a sense of typical deviation; 2 standard deviations (~3.10) would cover a broader range ~4.20 to 10.40 which actually includes all scores here (since lowest was 5, highest 10).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589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2A999-6070-83E6-FD8B-A2D9B925D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Deviation – Quick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CE51-58B8-11A6-09AC-ECD409454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Bessel’s Correction: why sample SD divides by n−1 instead of n.</a:t>
            </a:r>
          </a:p>
          <a:p>
            <a:r>
              <a:rPr lang="en-US" dirty="0"/>
              <a:t>When estimating a population SD from a sample, dividing by n systematically underestimates the true spread (because the sample mean is already optimized to minimize deviations). Dividing by n−1 corrects for this bias — the "1" accounts for the one degree of freedom used estimating the mean.</a:t>
            </a:r>
          </a:p>
          <a:p>
            <a:r>
              <a:rPr lang="en-US" dirty="0"/>
              <a:t>When n is large (say, n &gt; 30), the difference is negligible. At n=5 it is substantial: n−1=4 inflates SD by 12%.</a:t>
            </a:r>
          </a:p>
          <a:p>
            <a:r>
              <a:rPr lang="en-US" dirty="0"/>
              <a:t>Python stats.stdev() and R sd() both use n−1 by default. Use stats.pstdev() / R sd(x)*sqrt((n-1)/n) for population SD.</a:t>
            </a:r>
          </a:p>
          <a:p>
            <a:r>
              <a:rPr lang="en-US" dirty="0"/>
              <a:t>Convention for this course: use n by hand for simplicity; always note which formula when reporting results.</a:t>
            </a:r>
          </a:p>
        </p:txBody>
      </p:sp>
    </p:spTree>
    <p:extLst>
      <p:ext uri="{BB962C8B-B14F-4D97-AF65-F5344CB8AC3E}">
        <p14:creationId xmlns:p14="http://schemas.microsoft.com/office/powerpoint/2010/main" val="25708404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C64F-9DF6-9290-35BA-40965B1DD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20B44-7FFA-C842-18CD-4E379C902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758" y="2604051"/>
            <a:ext cx="8426041" cy="3572911"/>
          </a:xfrm>
        </p:spPr>
        <p:txBody>
          <a:bodyPr/>
          <a:lstStyle/>
          <a:p>
            <a:r>
              <a:rPr lang="en-US" dirty="0"/>
              <a:t>The table on the left provides data on the time (in minutes) 5 friends spent on a quiz.</a:t>
            </a:r>
          </a:p>
          <a:p>
            <a:r>
              <a:rPr lang="en-US" dirty="0"/>
              <a:t>Calculate, mean, median, mode, range and standard deviation!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40F79FC-BE22-0F77-DF50-46580C212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6830823"/>
              </p:ext>
            </p:extLst>
          </p:nvPr>
        </p:nvGraphicFramePr>
        <p:xfrm>
          <a:off x="838199" y="2604051"/>
          <a:ext cx="1779166" cy="188595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89583">
                  <a:extLst>
                    <a:ext uri="{9D8B030D-6E8A-4147-A177-3AD203B41FA5}">
                      <a16:colId xmlns:a16="http://schemas.microsoft.com/office/drawing/2014/main" val="123000011"/>
                    </a:ext>
                  </a:extLst>
                </a:gridCol>
                <a:gridCol w="889583">
                  <a:extLst>
                    <a:ext uri="{9D8B030D-6E8A-4147-A177-3AD203B41FA5}">
                      <a16:colId xmlns:a16="http://schemas.microsoft.com/office/drawing/2014/main" val="9285091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2803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41632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6333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83084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75164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1072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71902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DC9587-57E0-DF92-C902-1FCB9BD5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24FAE-1801-E703-1F68-F6774DC5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91AE5-7EBD-6732-A354-72A49F28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7758" y="2604051"/>
            <a:ext cx="8426041" cy="3572911"/>
          </a:xfrm>
        </p:spPr>
        <p:txBody>
          <a:bodyPr/>
          <a:lstStyle/>
          <a:p>
            <a:r>
              <a:rPr lang="en-US" dirty="0"/>
              <a:t>Mean: (12+9+15+10+14)/5 = 60/5 = 12 minutes</a:t>
            </a:r>
          </a:p>
          <a:p>
            <a:r>
              <a:rPr lang="en-US" dirty="0"/>
              <a:t>Median:</a:t>
            </a:r>
          </a:p>
          <a:p>
            <a:pPr lvl="1"/>
            <a:r>
              <a:rPr lang="en-US" dirty="0"/>
              <a:t>First sort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 sort [9, 10, 12, 14, 15]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middle value is 12. </a:t>
            </a:r>
          </a:p>
          <a:p>
            <a:r>
              <a:rPr lang="en-US" dirty="0"/>
              <a:t>Mode: no mode – all values occurred once, or you could say all are equally frequent</a:t>
            </a:r>
          </a:p>
          <a:p>
            <a:r>
              <a:rPr lang="en-US" dirty="0"/>
              <a:t>Range:</a:t>
            </a:r>
          </a:p>
          <a:p>
            <a:pPr lvl="1"/>
            <a:r>
              <a:rPr lang="en-US" dirty="0"/>
              <a:t>Max: 15, Min: 9</a:t>
            </a:r>
          </a:p>
          <a:p>
            <a:pPr lvl="1"/>
            <a:r>
              <a:rPr lang="en-US" dirty="0"/>
              <a:t>Range: 15 – 9 = 6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168EBBF-798B-0C0B-CA3C-408963AFE9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7734013"/>
              </p:ext>
            </p:extLst>
          </p:nvPr>
        </p:nvGraphicFramePr>
        <p:xfrm>
          <a:off x="838199" y="2604051"/>
          <a:ext cx="1779166" cy="2200275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889583">
                  <a:extLst>
                    <a:ext uri="{9D8B030D-6E8A-4147-A177-3AD203B41FA5}">
                      <a16:colId xmlns:a16="http://schemas.microsoft.com/office/drawing/2014/main" val="123000011"/>
                    </a:ext>
                  </a:extLst>
                </a:gridCol>
                <a:gridCol w="889583">
                  <a:extLst>
                    <a:ext uri="{9D8B030D-6E8A-4147-A177-3AD203B41FA5}">
                      <a16:colId xmlns:a16="http://schemas.microsoft.com/office/drawing/2014/main" val="928509101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2803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41632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6333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83084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75164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10726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8980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95922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775492-FE0B-E433-2A66-2C3C9ADEC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7D1E-5FAC-DB6B-B121-BFC49B3F4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Your Understanding - 2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2BCB2-B214-C9A1-2E51-439ADC2191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78011" y="2604051"/>
                <a:ext cx="5875787" cy="3572911"/>
              </a:xfrm>
            </p:spPr>
            <p:txBody>
              <a:bodyPr/>
              <a:lstStyle/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Difference: Value – Mean (12 minutes)</a:t>
                </a:r>
              </a:p>
              <a:p>
                <a:pPr lvl="1"/>
                <a:r>
                  <a:rPr lang="en-US" dirty="0"/>
                  <a:t>Squares; take the square of differences</a:t>
                </a:r>
              </a:p>
              <a:p>
                <a:pPr lvl="1"/>
                <a:r>
                  <a:rPr lang="en-US" dirty="0"/>
                  <a:t>Sum square differences: 26</a:t>
                </a:r>
              </a:p>
              <a:p>
                <a:pPr lvl="1"/>
                <a:r>
                  <a:rPr lang="en-US" dirty="0"/>
                  <a:t>Divide by the sample size; 26/5 = 5.2</a:t>
                </a:r>
              </a:p>
              <a:p>
                <a:pPr lvl="1"/>
                <a:r>
                  <a:rPr lang="en-US" dirty="0"/>
                  <a:t>Get the square root: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5.2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~ 2.28 minutes.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2BCB2-B214-C9A1-2E51-439ADC219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78011" y="2604051"/>
                <a:ext cx="5875787" cy="3572911"/>
              </a:xfrm>
              <a:blipFill>
                <a:blip r:embed="rId2"/>
                <a:stretch>
                  <a:fillRect l="-1944" t="-2827" r="-8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CC80961-D09D-3C4B-5482-5A65A0511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473766"/>
              </p:ext>
            </p:extLst>
          </p:nvPr>
        </p:nvGraphicFramePr>
        <p:xfrm>
          <a:off x="838196" y="2604051"/>
          <a:ext cx="4547535" cy="2200275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881547">
                  <a:extLst>
                    <a:ext uri="{9D8B030D-6E8A-4147-A177-3AD203B41FA5}">
                      <a16:colId xmlns:a16="http://schemas.microsoft.com/office/drawing/2014/main" val="123000011"/>
                    </a:ext>
                  </a:extLst>
                </a:gridCol>
                <a:gridCol w="687897">
                  <a:extLst>
                    <a:ext uri="{9D8B030D-6E8A-4147-A177-3AD203B41FA5}">
                      <a16:colId xmlns:a16="http://schemas.microsoft.com/office/drawing/2014/main" val="928509101"/>
                    </a:ext>
                  </a:extLst>
                </a:gridCol>
                <a:gridCol w="1325461">
                  <a:extLst>
                    <a:ext uri="{9D8B030D-6E8A-4147-A177-3AD203B41FA5}">
                      <a16:colId xmlns:a16="http://schemas.microsoft.com/office/drawing/2014/main" val="1811693270"/>
                    </a:ext>
                  </a:extLst>
                </a:gridCol>
                <a:gridCol w="1652630">
                  <a:extLst>
                    <a:ext uri="{9D8B030D-6E8A-4147-A177-3AD203B41FA5}">
                      <a16:colId xmlns:a16="http://schemas.microsoft.com/office/drawing/2014/main" val="52369692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Difference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 Difference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28036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1416322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6333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83084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751646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6107269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8980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4518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B4C6-D6C6-5675-2197-2F2458B6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Statistics: Tools of the Trade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4B0ABFD-7FCF-94A9-0F5E-2F4A5826F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24" y="2670337"/>
            <a:ext cx="3465513" cy="214183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B97634-C54E-9FBD-FB75-A7F6739D8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0768" y="2553738"/>
            <a:ext cx="2193429" cy="2556122"/>
          </a:xfrm>
          <a:prstGeom prst="rect">
            <a:avLst/>
          </a:prstGeom>
        </p:spPr>
      </p:pic>
      <p:pic>
        <p:nvPicPr>
          <p:cNvPr id="7" name="Picture 6" descr="A computer screen shot of a program code  AI-generated content may be incorrect.">
            <a:extLst>
              <a:ext uri="{FF2B5EF4-FFF2-40B4-BE49-F238E27FC236}">
                <a16:creationId xmlns:a16="http://schemas.microsoft.com/office/drawing/2014/main" id="{B958E801-1DCE-DB3B-5E61-0A020DD5C9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8628" y="2670337"/>
            <a:ext cx="3425309" cy="19980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169A43-0C71-F5F4-7E9E-BDCBFF161B4E}"/>
              </a:ext>
            </a:extLst>
          </p:cNvPr>
          <p:cNvSpPr txBox="1"/>
          <p:nvPr/>
        </p:nvSpPr>
        <p:spPr>
          <a:xfrm>
            <a:off x="560824" y="5008477"/>
            <a:ext cx="34655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Calculators</a:t>
            </a:r>
          </a:p>
          <a:p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scientific calculators have built-in statistical functions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26C54-1DA9-8C7E-9C1B-D53CD770B3AB}"/>
              </a:ext>
            </a:extLst>
          </p:cNvPr>
          <p:cNvSpPr txBox="1"/>
          <p:nvPr/>
        </p:nvSpPr>
        <p:spPr>
          <a:xfrm>
            <a:off x="4370475" y="5238935"/>
            <a:ext cx="3305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Spreadsheets</a:t>
            </a:r>
          </a:p>
          <a:p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and Google Sheets have functions like AVERAGE, MEDIAN, MODE, STDEV</a:t>
            </a:r>
            <a:endParaRPr lang="en-US" sz="1800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0464E-35F6-3D15-E285-EC631A551598}"/>
              </a:ext>
            </a:extLst>
          </p:cNvPr>
          <p:cNvSpPr txBox="1"/>
          <p:nvPr/>
        </p:nvSpPr>
        <p:spPr>
          <a:xfrm>
            <a:off x="8019875" y="5109860"/>
            <a:ext cx="3531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Programming</a:t>
            </a:r>
          </a:p>
          <a:p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 like Python and R offer powerful statistical capabilities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6698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4B2D-2171-7856-F955-C178021A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 R</a:t>
            </a:r>
          </a:p>
        </p:txBody>
      </p:sp>
      <p:pic>
        <p:nvPicPr>
          <p:cNvPr id="7" name="Content Placeholder 6" descr="A screenshot of a computer code  AI-generated content may be incorrect.">
            <a:extLst>
              <a:ext uri="{FF2B5EF4-FFF2-40B4-BE49-F238E27FC236}">
                <a16:creationId xmlns:a16="http://schemas.microsoft.com/office/drawing/2014/main" id="{73527977-2842-72E2-CA81-075C34CD3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50922" y="3033865"/>
            <a:ext cx="4835641" cy="2346044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38297C-C3F2-84F0-E1AA-C8C3B6389037}"/>
              </a:ext>
            </a:extLst>
          </p:cNvPr>
          <p:cNvSpPr txBox="1"/>
          <p:nvPr/>
        </p:nvSpPr>
        <p:spPr>
          <a:xfrm>
            <a:off x="505437" y="2418903"/>
            <a:ext cx="6094602" cy="393954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 &lt;- c(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mean(scores)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median(scores)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Mode isn't a built-in function because mode() means something else in R (data type).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To get the statistical mode, we can do a little trick: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tbl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table(scores)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.numeric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(names(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tbl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)[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which.max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tbl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)])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get value with max frequency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range_vals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range(scores)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gives min and max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data_range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range_vals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 -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range_vals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2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sd_val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sd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  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by default, </a:t>
            </a:r>
            <a:r>
              <a:rPr lang="en-US" sz="12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sd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 in R uses sample standard deviation (n-1 in </a:t>
            </a:r>
            <a:r>
              <a:rPr lang="en-US" sz="12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denom</a:t>
            </a:r>
            <a:r>
              <a:rPr lang="en-US" sz="12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(paste(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"Mean:"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(paste(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"Median:"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(paste(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"Mode:"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(paste(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"Range:"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data_range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2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(paste(</a:t>
            </a:r>
            <a:r>
              <a:rPr lang="en-US" sz="12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"Standard Deviation:"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sd_val</a:t>
            </a:r>
            <a:r>
              <a:rPr lang="en-US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64720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50BC-DA58-E914-5D2D-D6A7E57F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Exercise-0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533FD7-EF20-98C9-759F-D13D0B07A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</p:txBody>
      </p:sp>
    </p:spTree>
    <p:extLst>
      <p:ext uri="{BB962C8B-B14F-4D97-AF65-F5344CB8AC3E}">
        <p14:creationId xmlns:p14="http://schemas.microsoft.com/office/powerpoint/2010/main" val="39580488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47C1E-7D05-AF98-7C06-002B36FD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A659-88AB-4CB8-C90C-729235399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Exercise-1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90B352-261A-944C-9140-4582E048A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mean number of books read by 6 students?</a:t>
            </a:r>
          </a:p>
        </p:txBody>
      </p:sp>
    </p:spTree>
    <p:extLst>
      <p:ext uri="{BB962C8B-B14F-4D97-AF65-F5344CB8AC3E}">
        <p14:creationId xmlns:p14="http://schemas.microsoft.com/office/powerpoint/2010/main" val="30886939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DFB7-C663-2779-A0EA-2C6B22A6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9D9F-E8D0-D32E-5098-2EA15B6B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FC7BAE-B8CB-1964-DDE1-3EE53C5DCB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Here is the number of books read by 6 students over the summer;</a:t>
                </a:r>
              </a:p>
              <a:p>
                <a:pPr lvl="1"/>
                <a:r>
                  <a:rPr lang="en-US" dirty="0"/>
                  <a:t>3, 0, 11, 4, 7, 5 </a:t>
                </a:r>
              </a:p>
              <a:p>
                <a:r>
                  <a:rPr lang="en-US" dirty="0"/>
                  <a:t>What is the mean number of books read by 6 students?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Mean: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3+0+11+4+7+5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3FC7BAE-B8CB-1964-DDE1-3EE53C5DCB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8020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3885C-A944-B65B-981D-6208F6C7F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B609-58F2-3B3A-2532-1F3C5E730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0BF6CB-1819-0044-46F4-73E726FA3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median number of books read by six students?</a:t>
            </a:r>
          </a:p>
        </p:txBody>
      </p:sp>
    </p:spTree>
    <p:extLst>
      <p:ext uri="{BB962C8B-B14F-4D97-AF65-F5344CB8AC3E}">
        <p14:creationId xmlns:p14="http://schemas.microsoft.com/office/powerpoint/2010/main" val="30687939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1B555-5E6C-D75D-6C1D-7134F55A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A043-0202-920E-028C-3D80281B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Exercise-2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695A-CEDB-EB8C-ADA0-559842771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median number of books read by six students?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Since n=6 and it’s even, take 3rd and 4th values which are 4 and 5, median = 4.5.</a:t>
            </a:r>
          </a:p>
        </p:txBody>
      </p:sp>
    </p:spTree>
    <p:extLst>
      <p:ext uri="{BB962C8B-B14F-4D97-AF65-F5344CB8AC3E}">
        <p14:creationId xmlns:p14="http://schemas.microsoft.com/office/powerpoint/2010/main" val="135455949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A4253-7287-0BF5-93CF-34B90542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F6060-2ED4-1AF8-BE6E-2360F4B4D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Exercise-3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42D97-E61C-7518-4F14-9E85451F6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mode of the number of books read by six students?</a:t>
            </a:r>
          </a:p>
        </p:txBody>
      </p:sp>
    </p:spTree>
    <p:extLst>
      <p:ext uri="{BB962C8B-B14F-4D97-AF65-F5344CB8AC3E}">
        <p14:creationId xmlns:p14="http://schemas.microsoft.com/office/powerpoint/2010/main" val="156466339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B777F-0E35-A426-C8B9-A873C879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4C62-B950-3E55-E929-4DC1A917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Exercise-3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0E9FF51-1631-88CC-F607-8326A408E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mode of the number of books read by six students?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Mode = none (all values appear only once).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61766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10FE0-F139-125F-7C10-FADAB320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97DA-CDD1-FBA8-3381-88FC9C950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Exercise-4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2E53281-C8DE-76E0-2B82-A7DF481D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range?</a:t>
            </a:r>
          </a:p>
        </p:txBody>
      </p:sp>
    </p:spTree>
    <p:extLst>
      <p:ext uri="{BB962C8B-B14F-4D97-AF65-F5344CB8AC3E}">
        <p14:creationId xmlns:p14="http://schemas.microsoft.com/office/powerpoint/2010/main" val="29958856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2F6E0-8115-800D-4DF0-0D628BB7D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89C7-90D3-A917-7BA9-1F3CBFFE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Exercise-4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72162D7-F031-C8AF-DA5B-C8206345E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range?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Range = 11 - 0 = 11.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8655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1B605-EE99-F06D-5407-19264A6D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28281-1B2A-6A51-C16A-01FF43A4B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D38F10-75CD-7989-3AEC-C3C47EBAB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standard deviation?</a:t>
            </a:r>
          </a:p>
        </p:txBody>
      </p:sp>
    </p:spTree>
    <p:extLst>
      <p:ext uri="{BB962C8B-B14F-4D97-AF65-F5344CB8AC3E}">
        <p14:creationId xmlns:p14="http://schemas.microsoft.com/office/powerpoint/2010/main" val="337862415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0B72-7AB7-D702-8ED1-53F804ED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22744-EF50-5696-6D40-9FB44B9D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Exercise-5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00C832-23E3-CF8B-E416-7735BA6BB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What is the standard deviation?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Differences from mean [ -2, -5, 6, -1, 2, 0 ]; squares [4,25,36,1,4,0]; average = 70/6 ≈ 11.67; std dev ≈ √11.67 ≈ 3.417. </a:t>
            </a:r>
          </a:p>
        </p:txBody>
      </p:sp>
    </p:spTree>
    <p:extLst>
      <p:ext uri="{BB962C8B-B14F-4D97-AF65-F5344CB8AC3E}">
        <p14:creationId xmlns:p14="http://schemas.microsoft.com/office/powerpoint/2010/main" val="119150910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826F-D610-5463-D2CD-F6C18E2B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BCA82-BB87-40AB-22C1-702F7996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505071-76CA-B87F-C393-D7F7CDDDC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Here is the number of books read by 6 students over the summer;</a:t>
            </a:r>
          </a:p>
          <a:p>
            <a:pPr lvl="1"/>
            <a:r>
              <a:rPr lang="en-US" dirty="0"/>
              <a:t>3, 0, 11, 4, 7, 5 </a:t>
            </a:r>
          </a:p>
          <a:p>
            <a:r>
              <a:rPr lang="en-US" dirty="0"/>
              <a:t>Mean = 5</a:t>
            </a:r>
          </a:p>
          <a:p>
            <a:r>
              <a:rPr lang="en-US" dirty="0"/>
              <a:t>Median = 4.5 </a:t>
            </a:r>
          </a:p>
          <a:p>
            <a:r>
              <a:rPr lang="en-US" dirty="0"/>
              <a:t>Mode = None</a:t>
            </a:r>
          </a:p>
          <a:p>
            <a:r>
              <a:rPr lang="en-US" dirty="0"/>
              <a:t>Range = 11</a:t>
            </a:r>
          </a:p>
          <a:p>
            <a:r>
              <a:rPr lang="en-US" dirty="0"/>
              <a:t>Standard deviation = 3.4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How would you interpret this results?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81522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253FB-710A-BD5C-5AF2-F7AC38AF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C895-4535-2B97-02B8-03F058764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973"/>
            <a:ext cx="10515600" cy="38699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Mean and median are relatively close.</a:t>
            </a:r>
          </a:p>
          <a:p>
            <a:r>
              <a:rPr lang="en-US" dirty="0"/>
              <a:t>One student is pulling the mean up a bit above the median (11 books). </a:t>
            </a:r>
          </a:p>
          <a:p>
            <a:r>
              <a:rPr lang="en-US" dirty="0"/>
              <a:t>The range is quite large (0 to 11), showing a big disparity. </a:t>
            </a:r>
          </a:p>
          <a:p>
            <a:r>
              <a:rPr lang="en-US" dirty="0"/>
              <a:t>Standard deviation ~3.4 indicates a fair spread relative to mean 5 (some well below, some well above). </a:t>
            </a:r>
          </a:p>
          <a:p>
            <a:r>
              <a:rPr lang="en-US" dirty="0"/>
              <a:t>The mean might suggest “around 5 books” as typical, but note half the students read 4 or fewer (median 4.5). </a:t>
            </a:r>
          </a:p>
          <a:p>
            <a:r>
              <a:rPr lang="en-US" dirty="0"/>
              <a:t>There is no mode; everyone’s reading count was unique.</a:t>
            </a:r>
          </a:p>
          <a:p>
            <a:r>
              <a:rPr lang="en-US" dirty="0"/>
              <a:t>In this case, the median might be seen as a bit more representative.</a:t>
            </a:r>
          </a:p>
        </p:txBody>
      </p:sp>
    </p:spTree>
    <p:extLst>
      <p:ext uri="{BB962C8B-B14F-4D97-AF65-F5344CB8AC3E}">
        <p14:creationId xmlns:p14="http://schemas.microsoft.com/office/powerpoint/2010/main" val="356239608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5A59D-8E56-C6F4-96B9-3CC4C4C7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10515600" cy="620643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EA2E2-C81F-BE46-F3BA-D0D9E579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030" y="1979190"/>
            <a:ext cx="8766719" cy="55658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Let’s go back to the previous example where we had 10 students and their scores.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C21DDC-5568-FD3B-C671-170E46D18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795937"/>
              </p:ext>
            </p:extLst>
          </p:nvPr>
        </p:nvGraphicFramePr>
        <p:xfrm>
          <a:off x="376806" y="2014693"/>
          <a:ext cx="2173224" cy="377021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1760692603"/>
                    </a:ext>
                  </a:extLst>
                </a:gridCol>
                <a:gridCol w="1075944">
                  <a:extLst>
                    <a:ext uri="{9D8B030D-6E8A-4147-A177-3AD203B41FA5}">
                      <a16:colId xmlns:a16="http://schemas.microsoft.com/office/drawing/2014/main" val="1265188169"/>
                    </a:ext>
                  </a:extLst>
                </a:gridCol>
              </a:tblGrid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Name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Score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178995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Alice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789650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41566847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Carlos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506220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Diana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7499554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Ethan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0916000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Fiona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5166779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George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1618422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Hannah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987861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Isaac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75071965"/>
                  </a:ext>
                </a:extLst>
              </a:tr>
              <a:tr h="34274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Julia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252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BEECD53-09AA-7F02-326F-B6F128824F67}"/>
              </a:ext>
            </a:extLst>
          </p:cNvPr>
          <p:cNvSpPr txBox="1"/>
          <p:nvPr/>
        </p:nvSpPr>
        <p:spPr>
          <a:xfrm>
            <a:off x="2925199" y="2535774"/>
            <a:ext cx="8045042" cy="275947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 = [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6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statistics </a:t>
            </a: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stats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stats.mean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stats.median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stats.mode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      </a:t>
            </a:r>
            <a:r>
              <a:rPr lang="en-US" sz="11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Note: mode() will return one of the modes if there's a tie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pstdev_val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stats.stdev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  </a:t>
            </a:r>
            <a:r>
              <a:rPr lang="en-US" sz="11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Sample standard deviation (divide by n-1)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Alternatively </a:t>
            </a:r>
            <a:r>
              <a:rPr lang="en-US" sz="11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stats.pstdev</a:t>
            </a:r>
            <a:r>
              <a:rPr lang="en-US" sz="11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 for population std dev (divide by n)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data_range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 max(scores) - min(scores)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"Mean:"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"Median:"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median_val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"Mode:"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mode_val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"Range:"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data_range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"Standard Deviation:"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pstdev_val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Content Placeholder 6" descr="A black screen with white text  AI-generated content may be incorrect.">
            <a:extLst>
              <a:ext uri="{FF2B5EF4-FFF2-40B4-BE49-F238E27FC236}">
                <a16:creationId xmlns:a16="http://schemas.microsoft.com/office/drawing/2014/main" id="{707A6CA0-600D-8F9E-7E7B-B5A5C9B8A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5199" y="5437531"/>
            <a:ext cx="4052368" cy="125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090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Pandas?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3600" b="1" dirty="0"/>
              <a:t>pandas is the standard Python library for tabular data analysis — built on top of NumPy arrays for performance.</a:t>
            </a:r>
            <a:endParaRPr lang="en-US" sz="3600" dirty="0"/>
          </a:p>
          <a:p>
            <a:pPr lvl="0"/>
            <a:r>
              <a:rPr lang="en-US" sz="3600" dirty="0"/>
              <a:t>Core workflow: load → inspect → clean → transform → analyze → visualize. pandas handles every step.</a:t>
            </a:r>
          </a:p>
          <a:p>
            <a:pPr lvl="0"/>
            <a:r>
              <a:rPr lang="en-US" sz="3600" dirty="0"/>
              <a:t>Main data structures:</a:t>
            </a:r>
          </a:p>
          <a:p>
            <a:pPr lvl="1"/>
            <a:r>
              <a:rPr lang="en-US" sz="3200" b="1" dirty="0"/>
              <a:t>Series</a:t>
            </a:r>
            <a:r>
              <a:rPr lang="en-US" sz="3200" dirty="0"/>
              <a:t>: 1D labeled array. Each column of a DataFrame is a Series. Supports vectorized operations.</a:t>
            </a:r>
          </a:p>
          <a:p>
            <a:pPr lvl="1"/>
            <a:r>
              <a:rPr lang="en-US" sz="3200" b="1" dirty="0" err="1"/>
              <a:t>DataFrame</a:t>
            </a:r>
            <a:r>
              <a:rPr lang="en-US" sz="3200" dirty="0"/>
              <a:t>: 2D labeled table. Rows have an index, columns have names. The workhorse of data analysis in Python.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8A21-1FDC-7A30-8972-BEF2CF169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Installing &amp; Importing Pandas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22642-2331-04B1-5B78-DCECB03B7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import pandas as pd</a:t>
            </a:r>
          </a:p>
          <a:p>
            <a:r>
              <a:rPr lang="en-US" dirty="0"/>
              <a:t>pd is the universal alias — all pandas documentation uses it. Install once: pip install pandas. pandas ships with Anaconda.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13857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AA50-B7DB-A101-9B93-649BCE96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Creating a Series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7B728-0F9B-A200-B1D3-9B8EE4E97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Series</a:t>
            </a:r>
            <a:r>
              <a:rPr lang="en-US" dirty="0"/>
              <a:t> is like a list with labels.</a:t>
            </a:r>
          </a:p>
          <a:p>
            <a:pPr marL="0" indent="0">
              <a:buNone/>
            </a:pPr>
            <a:r>
              <a:rPr lang="en-US" dirty="0"/>
              <a:t>	import pandas as pd</a:t>
            </a:r>
          </a:p>
          <a:p>
            <a:pPr marL="0" indent="0">
              <a:buNone/>
            </a:pPr>
            <a:r>
              <a:rPr lang="en-US" dirty="0"/>
              <a:t>	colors = </a:t>
            </a:r>
            <a:r>
              <a:rPr lang="en-US" dirty="0" err="1"/>
              <a:t>pd.Series</a:t>
            </a:r>
            <a:r>
              <a:rPr lang="en-US" dirty="0"/>
              <a:t>(["Red", "Blue", "Green"])</a:t>
            </a:r>
          </a:p>
          <a:p>
            <a:pPr marL="0" indent="0">
              <a:buNone/>
            </a:pPr>
            <a:r>
              <a:rPr lang="en-US" dirty="0"/>
              <a:t>	print(colors)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9375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BA84-F0B4-466C-5548-0F78A79D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5BB4-FC32-21BE-1DF1-F3FBE6B87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</a:t>
            </a:r>
            <a:r>
              <a:rPr lang="en-US" b="1" dirty="0" err="1"/>
              <a:t>DataFrame</a:t>
            </a:r>
            <a:r>
              <a:rPr lang="en-US" dirty="0"/>
              <a:t> is like a table with rows and columns:</a:t>
            </a:r>
          </a:p>
          <a:p>
            <a:pPr marL="0" indent="0">
              <a:buNone/>
            </a:pPr>
            <a:r>
              <a:rPr lang="en-US" dirty="0"/>
              <a:t>	import pandas as pd</a:t>
            </a:r>
          </a:p>
          <a:p>
            <a:pPr marL="0" indent="0">
              <a:buNone/>
            </a:pPr>
            <a:r>
              <a:rPr lang="en-US" dirty="0"/>
              <a:t>	data = {</a:t>
            </a:r>
          </a:p>
          <a:p>
            <a:pPr marL="0" indent="0">
              <a:buNone/>
            </a:pPr>
            <a:r>
              <a:rPr lang="en-US" dirty="0"/>
              <a:t>	    "Name": ["Alice", "Bob", "Charlie"],</a:t>
            </a:r>
          </a:p>
          <a:p>
            <a:pPr marL="0" indent="0">
              <a:buNone/>
            </a:pPr>
            <a:r>
              <a:rPr lang="en-US" dirty="0"/>
              <a:t>	    "Age": [14, 15, 16],</a:t>
            </a:r>
          </a:p>
          <a:p>
            <a:pPr marL="0" indent="0">
              <a:buNone/>
            </a:pPr>
            <a:r>
              <a:rPr lang="en-US" dirty="0"/>
              <a:t>	    "Favorite Color": ["Blue", "Green", "Red"]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pd.DataFrame</a:t>
            </a:r>
            <a:r>
              <a:rPr lang="en-US" dirty="0"/>
              <a:t>(data)</a:t>
            </a:r>
          </a:p>
          <a:p>
            <a:pPr marL="0" indent="0">
              <a:buNone/>
            </a:pPr>
            <a:r>
              <a:rPr lang="en-US" dirty="0"/>
              <a:t>	print(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33557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D86D-F2A1-6F98-1A2F-94A2E43A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Viewing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5F60-870C-C3D4-A3DA-726452775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Essential DataFrame inspection commands — always run these first when loading new data: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df.head</a:t>
            </a:r>
            <a:r>
              <a:rPr lang="en-US" dirty="0"/>
              <a:t>(10) # first 10 rows — pass n to control how many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df.tail</a:t>
            </a:r>
            <a:r>
              <a:rPr lang="en-US" dirty="0"/>
              <a:t>()   # last 5 rows
	df.shape        # (rows, columns) as a tuple
	df.dtypes       # data type of every column
	df.describe()   # count/mean/std/min/quartiles/max for numerical cols
	df.info()       # column names, dtypes, non-null counts,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70992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E7FA-9DCF-270F-4824-09D7DB679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 CSV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C63E-5F47-3B7C-61DB-BD8784220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14575"/>
            <a:ext cx="10515600" cy="3862387"/>
          </a:xfrm>
        </p:spPr>
        <p:txBody>
          <a:bodyPr/>
          <a:lstStyle/>
          <a:p>
            <a:r>
              <a:rPr lang="en-US" dirty="0"/>
              <a:t>pd.read_csv() is the entry point for most real-world data. Key parameters: </a:t>
            </a:r>
            <a:r>
              <a:rPr lang="en-US" dirty="0" err="1"/>
              <a:t>read_csv</a:t>
            </a:r>
            <a:r>
              <a:rPr lang="en-US" dirty="0"/>
              <a:t>sep="," (or "\t" for TSV), header=0, index_col, usecols, dtype, parse_dates, na_values.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After loading: immediately run df.shape, df.dtypes, df.head(), df.describe() to understand what you have. Your </a:t>
            </a:r>
            <a:r>
              <a:rPr lang="en-US" dirty="0" err="1"/>
              <a:t>Jupyter</a:t>
            </a:r>
            <a:r>
              <a:rPr lang="en-US" dirty="0"/>
              <a:t> notebook should be in the same folder as “</a:t>
            </a:r>
            <a:r>
              <a:rPr lang="en-US" dirty="0" err="1"/>
              <a:t>car_data.csv</a:t>
            </a:r>
            <a:r>
              <a:rPr lang="en-US" dirty="0"/>
              <a:t>” or provide the full path. Use pathlib.Path for cross-platform compatibility.</a:t>
            </a:r>
          </a:p>
        </p:txBody>
      </p:sp>
      <p:pic>
        <p:nvPicPr>
          <p:cNvPr id="5" name="Picture 4" descr="A close up of a logo  AI-generated content may be incorrect.">
            <a:extLst>
              <a:ext uri="{FF2B5EF4-FFF2-40B4-BE49-F238E27FC236}">
                <a16:creationId xmlns:a16="http://schemas.microsoft.com/office/drawing/2014/main" id="{3EF6FA7D-FB60-43C1-D731-F6557B057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5900" y="3640138"/>
            <a:ext cx="58801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85198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C3209-8D9D-DA9C-9AA2-883FE42C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25" y="798017"/>
            <a:ext cx="6572075" cy="1325563"/>
          </a:xfrm>
        </p:spPr>
        <p:txBody>
          <a:bodyPr/>
          <a:lstStyle/>
          <a:p>
            <a:r>
              <a:rPr lang="en-US" dirty="0"/>
              <a:t>What We've Learned Today!</a:t>
            </a: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5F82EBD0-80B7-5E71-22DB-C0756B3D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Shape 1">
            <a:extLst>
              <a:ext uri="{FF2B5EF4-FFF2-40B4-BE49-F238E27FC236}">
                <a16:creationId xmlns:a16="http://schemas.microsoft.com/office/drawing/2014/main" id="{96648C60-03DD-3007-6341-AF62B0A6D59B}"/>
              </a:ext>
            </a:extLst>
          </p:cNvPr>
          <p:cNvSpPr/>
          <p:nvPr/>
        </p:nvSpPr>
        <p:spPr>
          <a:xfrm>
            <a:off x="5308353" y="2573349"/>
            <a:ext cx="45719" cy="3739102"/>
          </a:xfrm>
          <a:prstGeom prst="roundRect">
            <a:avLst>
              <a:gd name="adj" fmla="val 312558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C34254C-06B6-A9C4-AE85-00CA21E7A527}"/>
              </a:ext>
            </a:extLst>
          </p:cNvPr>
          <p:cNvSpPr/>
          <p:nvPr/>
        </p:nvSpPr>
        <p:spPr>
          <a:xfrm>
            <a:off x="5515897" y="2383444"/>
            <a:ext cx="567035" cy="25400"/>
          </a:xfrm>
          <a:prstGeom prst="roundRect">
            <a:avLst>
              <a:gd name="adj" fmla="val 312558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B3B0B67C-EA2F-4621-6F87-2BAFC00DCFAD}"/>
              </a:ext>
            </a:extLst>
          </p:cNvPr>
          <p:cNvSpPr/>
          <p:nvPr/>
        </p:nvSpPr>
        <p:spPr>
          <a:xfrm>
            <a:off x="5116046" y="2183518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A71CF3B-6B7F-8F5C-171C-9CE655F56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938" y="2218940"/>
            <a:ext cx="283468" cy="354409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9FA77BB-4DF9-4EE9-715D-ACC79C5D7166}"/>
              </a:ext>
            </a:extLst>
          </p:cNvPr>
          <p:cNvSpPr/>
          <p:nvPr/>
        </p:nvSpPr>
        <p:spPr>
          <a:xfrm>
            <a:off x="6273730" y="224840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Types</a:t>
            </a:r>
            <a:endParaRPr lang="en-US" sz="1833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09703B7D-F6B0-640C-2A54-6D1A6C9B79A1}"/>
              </a:ext>
            </a:extLst>
          </p:cNvPr>
          <p:cNvSpPr/>
          <p:nvPr/>
        </p:nvSpPr>
        <p:spPr>
          <a:xfrm>
            <a:off x="6273730" y="2657090"/>
            <a:ext cx="5139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Categorical (nominal/ordinal) and numerical (discrete/continuous)</a:t>
            </a:r>
            <a:endParaRPr lang="en-US" sz="1458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5CAD907-C083-BECA-1C31-8015ACB00673}"/>
              </a:ext>
            </a:extLst>
          </p:cNvPr>
          <p:cNvSpPr/>
          <p:nvPr/>
        </p:nvSpPr>
        <p:spPr>
          <a:xfrm>
            <a:off x="5515897" y="3428362"/>
            <a:ext cx="567035" cy="25400"/>
          </a:xfrm>
          <a:prstGeom prst="roundRect">
            <a:avLst>
              <a:gd name="adj" fmla="val 312558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A0A06845-235B-C799-90CF-924E5DFF4133}"/>
              </a:ext>
            </a:extLst>
          </p:cNvPr>
          <p:cNvSpPr/>
          <p:nvPr/>
        </p:nvSpPr>
        <p:spPr>
          <a:xfrm>
            <a:off x="5116046" y="3228436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EF180982-974C-13BE-485D-F32866DD9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938" y="3263857"/>
            <a:ext cx="283468" cy="354409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A47D9F25-6B0C-227A-BA21-B0938FD5BAF0}"/>
              </a:ext>
            </a:extLst>
          </p:cNvPr>
          <p:cNvSpPr/>
          <p:nvPr/>
        </p:nvSpPr>
        <p:spPr>
          <a:xfrm>
            <a:off x="6273730" y="329332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Formats</a:t>
            </a:r>
            <a:endParaRPr lang="en-US" sz="1833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C2292E61-9631-C698-C0DF-AD7F86CBAB44}"/>
              </a:ext>
            </a:extLst>
          </p:cNvPr>
          <p:cNvSpPr/>
          <p:nvPr/>
        </p:nvSpPr>
        <p:spPr>
          <a:xfrm>
            <a:off x="6273730" y="3702007"/>
            <a:ext cx="5139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Tables, spreadsheets, CSV files, and databases</a:t>
            </a:r>
            <a:endParaRPr lang="en-US" sz="1458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C594D25E-3F81-2344-6107-9330D9141EE4}"/>
              </a:ext>
            </a:extLst>
          </p:cNvPr>
          <p:cNvSpPr/>
          <p:nvPr/>
        </p:nvSpPr>
        <p:spPr>
          <a:xfrm>
            <a:off x="5515897" y="4582375"/>
            <a:ext cx="567035" cy="25400"/>
          </a:xfrm>
          <a:prstGeom prst="roundRect">
            <a:avLst>
              <a:gd name="adj" fmla="val 312558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38EE57EA-2BE5-224F-A6B2-9294BFA4785F}"/>
              </a:ext>
            </a:extLst>
          </p:cNvPr>
          <p:cNvSpPr/>
          <p:nvPr/>
        </p:nvSpPr>
        <p:spPr>
          <a:xfrm>
            <a:off x="5116046" y="4382449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E75F9EC3-D0F1-F537-5079-2E9D210DE9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938" y="4417870"/>
            <a:ext cx="283468" cy="354409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78FD258B-B62D-87E5-6DC2-762063693B09}"/>
              </a:ext>
            </a:extLst>
          </p:cNvPr>
          <p:cNvSpPr/>
          <p:nvPr/>
        </p:nvSpPr>
        <p:spPr>
          <a:xfrm>
            <a:off x="6273730" y="444733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Summary Statistics</a:t>
            </a:r>
            <a:endParaRPr lang="en-US" sz="1833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D433F0A-5B17-94EC-50F0-E0CDB49B1BF6}"/>
              </a:ext>
            </a:extLst>
          </p:cNvPr>
          <p:cNvSpPr/>
          <p:nvPr/>
        </p:nvSpPr>
        <p:spPr>
          <a:xfrm>
            <a:off x="6273730" y="4856020"/>
            <a:ext cx="5139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Mean, median, mode, range, and standard deviation</a:t>
            </a:r>
            <a:endParaRPr lang="en-US" sz="1458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BFEC90F5-756C-9191-B7F5-BC0AE5F6D8F0}"/>
              </a:ext>
            </a:extLst>
          </p:cNvPr>
          <p:cNvSpPr/>
          <p:nvPr/>
        </p:nvSpPr>
        <p:spPr>
          <a:xfrm>
            <a:off x="5515897" y="5736388"/>
            <a:ext cx="567035" cy="25400"/>
          </a:xfrm>
          <a:prstGeom prst="roundRect">
            <a:avLst>
              <a:gd name="adj" fmla="val 312558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0D2697D0-79A0-8D4A-CD49-AAD638548D6D}"/>
              </a:ext>
            </a:extLst>
          </p:cNvPr>
          <p:cNvSpPr/>
          <p:nvPr/>
        </p:nvSpPr>
        <p:spPr>
          <a:xfrm>
            <a:off x="5116046" y="553646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52859DBF-B366-D0EE-B48D-95F2BD7C11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6938" y="5571884"/>
            <a:ext cx="283468" cy="354409"/>
          </a:xfrm>
          <a:prstGeom prst="rect">
            <a:avLst/>
          </a:prstGeom>
        </p:spPr>
      </p:pic>
      <p:sp>
        <p:nvSpPr>
          <p:cNvPr id="24" name="Text 16">
            <a:extLst>
              <a:ext uri="{FF2B5EF4-FFF2-40B4-BE49-F238E27FC236}">
                <a16:creationId xmlns:a16="http://schemas.microsoft.com/office/drawing/2014/main" id="{6FDE1DE2-D7E9-26FB-D049-71B753638813}"/>
              </a:ext>
            </a:extLst>
          </p:cNvPr>
          <p:cNvSpPr/>
          <p:nvPr/>
        </p:nvSpPr>
        <p:spPr>
          <a:xfrm>
            <a:off x="6273730" y="560135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Calculation Tools</a:t>
            </a:r>
            <a:endParaRPr lang="en-US" sz="1833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B9BD58C5-3B7F-F084-7535-00D2C1922020}"/>
              </a:ext>
            </a:extLst>
          </p:cNvPr>
          <p:cNvSpPr/>
          <p:nvPr/>
        </p:nvSpPr>
        <p:spPr>
          <a:xfrm>
            <a:off x="6273730" y="6010034"/>
            <a:ext cx="5139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hand, calculators, spreadsheets, and programming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241836264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B728F3E-91A6-15E0-4144-0ADE1FA8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877"/>
            <a:ext cx="10515600" cy="1325563"/>
          </a:xfrm>
        </p:spPr>
        <p:txBody>
          <a:bodyPr/>
          <a:lstStyle/>
          <a:p>
            <a:r>
              <a:rPr lang="en-US" dirty="0"/>
              <a:t>What we have learned so far!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1301FC-A37A-38A3-6EE8-39AF72924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910759"/>
              </p:ext>
            </p:extLst>
          </p:nvPr>
        </p:nvGraphicFramePr>
        <p:xfrm>
          <a:off x="548640" y="1672234"/>
          <a:ext cx="11094720" cy="48556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03738">
                  <a:extLst>
                    <a:ext uri="{9D8B030D-6E8A-4147-A177-3AD203B41FA5}">
                      <a16:colId xmlns:a16="http://schemas.microsoft.com/office/drawing/2014/main" val="2360216728"/>
                    </a:ext>
                  </a:extLst>
                </a:gridCol>
                <a:gridCol w="8790982">
                  <a:extLst>
                    <a:ext uri="{9D8B030D-6E8A-4147-A177-3AD203B41FA5}">
                      <a16:colId xmlns:a16="http://schemas.microsoft.com/office/drawing/2014/main" val="599459895"/>
                    </a:ext>
                  </a:extLst>
                </a:gridCol>
              </a:tblGrid>
              <a:tr h="263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Term</a:t>
                      </a:r>
                      <a:endParaRPr lang="en-US" sz="1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Definition</a:t>
                      </a:r>
                      <a:endParaRPr lang="en-US" sz="1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2097534103"/>
                  </a:ext>
                </a:extLst>
              </a:tr>
              <a:tr h="263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Facts, figures, or information collected about something, often in the form of numbers or text.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3737954671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Dataset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An organized collection of data, usually presented in tabular form (rows = observations, columns = variables).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4276060704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Observation (Case)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 single data point or record in a dataset, corresponding to one entity or individual, providing values for all variables.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452999878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characteristic or attribute that can vary between observations, represented by a column in a dataset.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1500316325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Categorical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variable that represents categories or groups (qualitative). Arithmetic operations don’t apply.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2716825758"/>
                  </a:ext>
                </a:extLst>
              </a:tr>
              <a:tr h="2634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Nominal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categorical variable with no inherent order among categories.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3490523802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Ordinal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categorical variable with a clear order or ranking to categories, but uneven or unknown spacing between them.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3793732886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Numerical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variable that represents a quantity (quantitative). Values are numeric and arithmetic operations make sense.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1684462877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Discrete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 numerical variable that can only take specific values (often integers or counts). No intermediate values between those specifics.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3679541614"/>
                  </a:ext>
                </a:extLst>
              </a:tr>
              <a:tr h="437862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Continuous Variable</a:t>
                      </a:r>
                      <a:endParaRPr lang="en-US" sz="1400" b="0" i="0" u="none" strike="noStrike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 numerical variable that can take any value in a range. Values can be infinitely fine-grained in theory (limited by measurement precision).</a:t>
                      </a:r>
                      <a:endParaRPr lang="en-US" sz="14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3599733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754758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1337-5F51-3E0C-2B98-718CF8C4D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92923DE5-9C0A-9929-5EDE-64F05F93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7877"/>
            <a:ext cx="10515600" cy="1325563"/>
          </a:xfrm>
        </p:spPr>
        <p:txBody>
          <a:bodyPr/>
          <a:lstStyle/>
          <a:p>
            <a:r>
              <a:rPr lang="en-US" dirty="0"/>
              <a:t>What we have learned so far!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CB07B5-9488-A1F1-097B-11ACB261A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837730"/>
              </p:ext>
            </p:extLst>
          </p:nvPr>
        </p:nvGraphicFramePr>
        <p:xfrm>
          <a:off x="409303" y="1843853"/>
          <a:ext cx="11094720" cy="451675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7406">
                  <a:extLst>
                    <a:ext uri="{9D8B030D-6E8A-4147-A177-3AD203B41FA5}">
                      <a16:colId xmlns:a16="http://schemas.microsoft.com/office/drawing/2014/main" val="2360216728"/>
                    </a:ext>
                  </a:extLst>
                </a:gridCol>
                <a:gridCol w="8447314">
                  <a:extLst>
                    <a:ext uri="{9D8B030D-6E8A-4147-A177-3AD203B41FA5}">
                      <a16:colId xmlns:a16="http://schemas.microsoft.com/office/drawing/2014/main" val="5994598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Term</a:t>
                      </a:r>
                      <a:endParaRPr lang="en-US" sz="1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1205" marR="4561" marT="14630" marB="109723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" panose="020B0004020202020204" pitchFamily="34" charset="0"/>
                        </a:rPr>
                        <a:t>Definition</a:t>
                      </a:r>
                      <a:endParaRPr lang="en-US" sz="14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51205" marR="4561" marT="14630" marB="109723" anchor="ctr"/>
                </a:tc>
                <a:extLst>
                  <a:ext uri="{0D108BD9-81ED-4DB2-BD59-A6C34878D82A}">
                    <a16:rowId xmlns:a16="http://schemas.microsoft.com/office/drawing/2014/main" val="20975341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Spreadsheet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 file or application (like Excel or Google Sheets) for organizing data in tables, often allowing formulas and easy data entry/viewing.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7954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CSV (Comma-Separated Values)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 plain text file format for tabular data where each row is on a new line and values are separated by commas.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60454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Database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 system for storing large or complex data, often in multiple tables with relationships. Typically accessed via queries (SQL).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299987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Mean (Average)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The sum of all numeric values divided by the number of values by the sample size. Represents the central tendency.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003163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middle value in a sorted list of numbers (or average of two middle values if the list length is even)​.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168257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most frequently occurring value in a dataset​. A dataset may have one mode, multiple modes, or none (if all values are unique).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905238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Range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difference between the maximum and minimum values in a dataset​. Indicates the total spread.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37328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Standard Deviation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 measure of how spread out numbers are around the mean, defined as the square root of the variance (average of squared deviations from mean)​.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844628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Critical Thinking (in data)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The practice of objectively analyzing and evaluating information (data) to form a judgment. Involves curiosity (questioning) and skepticism (verification).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95416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 Detective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 metaphor for someone who uses critical thinking to investigate data, searching for clues (patterns, anomalies) and verifying facts to uncover the truth.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99733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37946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D1CD-024C-AD00-019F-5BA6832BC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 in Your Data Journey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312AB35-D080-F6EA-FC6A-7C35BA4932FB}"/>
              </a:ext>
            </a:extLst>
          </p:cNvPr>
          <p:cNvSpPr/>
          <p:nvPr/>
        </p:nvSpPr>
        <p:spPr>
          <a:xfrm>
            <a:off x="484781" y="2339876"/>
            <a:ext cx="1811437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02929F7-E884-6F93-D275-00741D1B54EF}"/>
              </a:ext>
            </a:extLst>
          </p:cNvPr>
          <p:cNvSpPr/>
          <p:nvPr/>
        </p:nvSpPr>
        <p:spPr>
          <a:xfrm>
            <a:off x="1257596" y="2718296"/>
            <a:ext cx="265807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33"/>
              </a:lnSpc>
            </a:pPr>
            <a:r>
              <a:rPr lang="en-US" sz="2083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083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49F9AB-F7B3-9A9E-8A2F-A2A53960ABE6}"/>
              </a:ext>
            </a:extLst>
          </p:cNvPr>
          <p:cNvSpPr/>
          <p:nvPr/>
        </p:nvSpPr>
        <p:spPr>
          <a:xfrm>
            <a:off x="2485230" y="252888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Data Visualization</a:t>
            </a:r>
            <a:endParaRPr lang="en-US" sz="1833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9C31D4E-11DD-B34D-3BAF-532B72AB29B5}"/>
              </a:ext>
            </a:extLst>
          </p:cNvPr>
          <p:cNvSpPr/>
          <p:nvPr/>
        </p:nvSpPr>
        <p:spPr>
          <a:xfrm>
            <a:off x="2485231" y="2937570"/>
            <a:ext cx="43429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Chapter 8 (EDA): histograms, box plots, scatter plots with matplotlib and seaborn</a:t>
            </a:r>
            <a:endParaRPr lang="en-US" sz="1458" dirty="0">
              <a:latin typeface="Aptos" panose="020B0004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808C876-85F5-70F2-F38C-7A90D8B9DA8A}"/>
              </a:ext>
            </a:extLst>
          </p:cNvPr>
          <p:cNvSpPr/>
          <p:nvPr/>
        </p:nvSpPr>
        <p:spPr>
          <a:xfrm>
            <a:off x="2390674" y="3416300"/>
            <a:ext cx="8868668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>
              <a:latin typeface="Aptos" panose="020B0004020202020204" pitchFamily="34" charset="0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88BBCB9-9ED8-A7A8-6851-3DBB032D8E34}"/>
              </a:ext>
            </a:extLst>
          </p:cNvPr>
          <p:cNvSpPr/>
          <p:nvPr/>
        </p:nvSpPr>
        <p:spPr>
          <a:xfrm>
            <a:off x="484782" y="3523457"/>
            <a:ext cx="3622973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>
              <a:latin typeface="Aptos" panose="020B0004020202020204" pitchFamily="34" charset="0"/>
            </a:endParaRPr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A9607CC7-7164-3BF9-144B-844B6B935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364" y="3901877"/>
            <a:ext cx="265807" cy="33218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ED182556-7ED0-B577-EC12-2D10886A01CA}"/>
              </a:ext>
            </a:extLst>
          </p:cNvPr>
          <p:cNvSpPr/>
          <p:nvPr/>
        </p:nvSpPr>
        <p:spPr>
          <a:xfrm>
            <a:off x="4296766" y="3712468"/>
            <a:ext cx="35230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Relationships Between Variables</a:t>
            </a:r>
            <a:endParaRPr lang="en-US" sz="1833" dirty="0">
              <a:latin typeface="Aptos" panose="020B00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DE45A61-C520-95F9-ECAA-D726CFC5C364}"/>
              </a:ext>
            </a:extLst>
          </p:cNvPr>
          <p:cNvSpPr/>
          <p:nvPr/>
        </p:nvSpPr>
        <p:spPr>
          <a:xfrm>
            <a:off x="4296766" y="4121150"/>
            <a:ext cx="465395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Chapter 8: correlation matrices, scatter plot matrices, and identifying confounders</a:t>
            </a:r>
            <a:endParaRPr lang="en-US" sz="1458" dirty="0">
              <a:latin typeface="Aptos" panose="020B0004020202020204" pitchFamily="34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338AD1E-19E8-A128-14EE-CF6674D854D9}"/>
              </a:ext>
            </a:extLst>
          </p:cNvPr>
          <p:cNvSpPr/>
          <p:nvPr/>
        </p:nvSpPr>
        <p:spPr>
          <a:xfrm>
            <a:off x="4202210" y="4599881"/>
            <a:ext cx="7057132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1500">
              <a:latin typeface="Aptos" panose="020B0004020202020204" pitchFamily="34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240B891A-8C09-A65E-24A7-C4312F080742}"/>
              </a:ext>
            </a:extLst>
          </p:cNvPr>
          <p:cNvSpPr/>
          <p:nvPr/>
        </p:nvSpPr>
        <p:spPr>
          <a:xfrm>
            <a:off x="484782" y="4707037"/>
            <a:ext cx="5434508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>
              <a:latin typeface="Aptos" panose="020B0004020202020204" pitchFamily="34" charset="0"/>
            </a:endParaRP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F430E585-0F8B-B898-C9B7-29544C5D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132" y="5085458"/>
            <a:ext cx="265807" cy="332184"/>
          </a:xfrm>
          <a:prstGeom prst="rect">
            <a:avLst/>
          </a:prstGeom>
        </p:spPr>
      </p:pic>
      <p:sp>
        <p:nvSpPr>
          <p:cNvPr id="16" name="Text 11">
            <a:extLst>
              <a:ext uri="{FF2B5EF4-FFF2-40B4-BE49-F238E27FC236}">
                <a16:creationId xmlns:a16="http://schemas.microsoft.com/office/drawing/2014/main" id="{9865205C-5D38-F146-E2C6-869C8EAD25E0}"/>
              </a:ext>
            </a:extLst>
          </p:cNvPr>
          <p:cNvSpPr/>
          <p:nvPr/>
        </p:nvSpPr>
        <p:spPr>
          <a:xfrm>
            <a:off x="6108302" y="489604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Statistical Inference</a:t>
            </a:r>
            <a:endParaRPr lang="en-US" sz="1833" dirty="0">
              <a:latin typeface="Aptos" panose="020B00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9B36E35-5413-0E01-8ECF-81A7D7E2221D}"/>
              </a:ext>
            </a:extLst>
          </p:cNvPr>
          <p:cNvSpPr/>
          <p:nvPr/>
        </p:nvSpPr>
        <p:spPr>
          <a:xfrm>
            <a:off x="6108302" y="5304731"/>
            <a:ext cx="451018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Chapter 9: confidence intervals, hypothesis testing, and p-values</a:t>
            </a:r>
            <a:endParaRPr lang="en-US" sz="1458" dirty="0">
              <a:latin typeface="Aptos" panose="020B00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B2E2353-0E66-1914-147C-1CB174444815}"/>
              </a:ext>
            </a:extLst>
          </p:cNvPr>
          <p:cNvSpPr/>
          <p:nvPr/>
        </p:nvSpPr>
        <p:spPr>
          <a:xfrm>
            <a:off x="484782" y="6008787"/>
            <a:ext cx="1086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Next up: Chapter 3 introduces R as a complementary tool, then Chapter 5 digs into how data is collected — the source of most real-world data quality problems.</a:t>
            </a:r>
            <a:endParaRPr lang="en-US" sz="1458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808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3193-FA3B-0EC6-3E0A-FD87E85A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07DBD-DFF0-F017-28B4-3AC4AD3D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954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6E36-D77B-4571-0D49-279CEA9039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2: Data 101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FACA9-5D53-36EB-3144-6ED2595B9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Coding Agents for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1630037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Pandas + Coding Agent: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Combining pandas with a coding agent supercharges exploratory analysis:</a:t>
            </a:r>
          </a:p>
          <a:p>
            <a:r>
              <a:rPr lang="en-US" sz="1800" dirty="0"/>
              <a:t>1. You describe the dataset and your question in plain language.</a:t>
            </a:r>
          </a:p>
          <a:p>
            <a:r>
              <a:rPr lang="en-US" sz="1800" dirty="0"/>
              <a:t>2. The agent writes pandas code: load → inspect dtypes → compute stats → plot.</a:t>
            </a:r>
          </a:p>
          <a:p>
            <a:r>
              <a:rPr lang="en-US" sz="1800" dirty="0"/>
              <a:t>3. You verify the output — do the dtypes make sense? Are there unexpected nulls?</a:t>
            </a:r>
          </a:p>
          <a:p>
            <a:r>
              <a:rPr lang="en-US" sz="1800" dirty="0"/>
              <a:t>4. You iterate: "Now filter to only rows where GPA &gt; 3.0 and recompute the mean."</a:t>
            </a:r>
          </a:p>
          <a:p>
            <a:r>
              <a:rPr lang="en-US" sz="1800" b="1" dirty="0"/>
              <a:t>Key principle: the agent handles syntax, you handle analytical judgment.</a:t>
            </a:r>
          </a:p>
          <a:p>
            <a:r>
              <a:rPr lang="en-US" sz="1800" dirty="0"/>
              <a:t>Always run df.dtypes and df.describe() first — a good agent will do this automatically; a great analyst checks the output critically.</a:t>
            </a:r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Prompting for Data Type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Weak prompt vs. strong prompt for data type work:</a:t>
            </a:r>
          </a:p>
          <a:p>
            <a:r>
              <a:rPr lang="en-US" sz="1800" dirty="0"/>
              <a:t>Weak: "Analyze this CSV." → Agent may apply wrong statistics to categorical columns.</a:t>
            </a:r>
          </a:p>
          <a:p>
            <a:r>
              <a:rPr lang="en-US" sz="1800" dirty="0"/>
              <a:t>Strong: "Load students.csv. For each column, identify whether it is nominal, ordinal, discrete, or continuous. Flag any columns that appear numerical but should be treated as categorical (e.g., IDs, zip codes)."</a:t>
            </a:r>
          </a:p>
          <a:p>
            <a:r>
              <a:rPr lang="en-US" sz="1800" b="1" dirty="0"/>
              <a:t>Follow-up prompts to deepen the analysis:</a:t>
            </a:r>
          </a:p>
          <a:p>
            <a:r>
              <a:rPr lang="en-US" sz="1800" dirty="0"/>
              <a:t>"Which columns have more than 10% missing values? How should each be handled given its data type?"</a:t>
            </a:r>
          </a:p>
          <a:p>
            <a:r>
              <a:rPr lang="en-US" sz="1800" dirty="0"/>
              <a:t>"For each numerical column, compute mean, median, and SD. Where mean and median differ by more than 10%, flag as potentially skewed."</a:t>
            </a:r>
          </a:p>
          <a:p>
            <a:r>
              <a:rPr lang="en-US" sz="1800" dirty="0"/>
              <a:t>"Produce a frequency table and bar chart for each categorical column."</a:t>
            </a:r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Hands-On: Agent-Assisted EDA Sprint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Activity (pairs, 20 minutes) — use the provided students_survey.csv:</a:t>
            </a:r>
          </a:p>
          <a:p>
            <a:r>
              <a:rPr lang="en-US" sz="1800" dirty="0"/>
              <a:t>Step 1 — Inspect: Prompt the agent to load the file, show df.head(), df.shape, df.dtypes, and df.describe(). Identify any type mismatches.</a:t>
            </a:r>
          </a:p>
          <a:p>
            <a:r>
              <a:rPr lang="en-US" sz="1800" dirty="0"/>
              <a:t>Step 2 — Type audit: For each column, classify the data type. Flag any columns the agent assigned the wrong dtype and explain why.</a:t>
            </a:r>
          </a:p>
          <a:p>
            <a:r>
              <a:rPr lang="en-US" sz="1800" dirty="0"/>
              <a:t>Step 3 — Stats: Prompt for mean, median, and SD on all numerical columns. Identify the column with the highest coefficient of variation (CV = SD/mean).</a:t>
            </a:r>
          </a:p>
          <a:p>
            <a:r>
              <a:rPr lang="en-US" sz="1800" dirty="0"/>
              <a:t>Step 4 — Challenge the output: Ask the agent "Is the mean or the median a better measure of center for each column, and why?"</a:t>
            </a:r>
          </a:p>
          <a:p>
            <a:r>
              <a:rPr lang="en-US" sz="1800" b="1" dirty="0"/>
              <a:t>Present: which column was most surprising, and what did the agent miss that you caught?</a:t>
            </a:r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AF37-BC61-CD9A-4C08-3C3CB029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Chapter 2 Summary: What You Can Do Now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943AD-41B0-AD40-B09F-DE55F25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Analytical skills:</a:t>
            </a:r>
          </a:p>
          <a:p>
            <a:r>
              <a:rPr lang="en-US" sz="1800" dirty="0"/>
              <a:t>✓ Classify any variable as nominal, ordinal, discrete, or continuous and explain which statistical operations are valid.</a:t>
            </a:r>
          </a:p>
          <a:p>
            <a:r>
              <a:rPr lang="en-US" sz="1800" dirty="0"/>
              <a:t>✓ Compute and interpret mean, median, mode, range, and standard deviation — including when each measure misleads.</a:t>
            </a:r>
          </a:p>
          <a:p>
            <a:r>
              <a:rPr lang="en-US" sz="1800" dirty="0"/>
              <a:t>✓ Apply Bessel’s correction and distinguish population SD from sample SD.</a:t>
            </a:r>
          </a:p>
          <a:p>
            <a:r>
              <a:rPr lang="en-US" sz="1800" b="1" dirty="0"/>
              <a:t>Technical skills:</a:t>
            </a:r>
          </a:p>
          <a:p>
            <a:r>
              <a:rPr lang="en-US" sz="1800" dirty="0"/>
              <a:t>✓ Load a CSV with pandas, inspect dtypes and shape, and compute descriptive statistics with df.describe().</a:t>
            </a:r>
          </a:p>
          <a:p>
            <a:r>
              <a:rPr lang="en-US" sz="1800" dirty="0"/>
              <a:t>✓ Write Python list/dict/loop code and handle type casting and errors.</a:t>
            </a:r>
          </a:p>
          <a:p>
            <a:r>
              <a:rPr lang="en-US" sz="1800" dirty="0"/>
              <a:t>✓ Direct a coding agent to perform a full data type audit and descriptive statistics report, then critically evaluate its output.</a:t>
            </a:r>
          </a:p>
        </p:txBody>
      </p:sp>
    </p:spTree>
    <p:extLst>
      <p:ext uri="{BB962C8B-B14F-4D97-AF65-F5344CB8AC3E}">
        <p14:creationId xmlns:p14="http://schemas.microsoft.com/office/powerpoint/2010/main" val="1999623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EFCA8B4-5B3D-6E49-8EE8-A83365623860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5987</TotalTime>
  <Words>8311</Words>
  <Application>Microsoft Office PowerPoint</Application>
  <PresentationFormat>Widescreen</PresentationFormat>
  <Paragraphs>1242</Paragraphs>
  <Slides>120</Slides>
  <Notes>4</Notes>
  <HiddenSlides>38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31" baseType="lpstr">
      <vt:lpstr>Aptos</vt:lpstr>
      <vt:lpstr>Aptos Display</vt:lpstr>
      <vt:lpstr>Aptos Narrow</vt:lpstr>
      <vt:lpstr>Arial</vt:lpstr>
      <vt:lpstr>Cambria Math</vt:lpstr>
      <vt:lpstr>Consolas</vt:lpstr>
      <vt:lpstr>Inter</vt:lpstr>
      <vt:lpstr>Playfair Display Bold</vt:lpstr>
      <vt:lpstr>Times New Roman</vt:lpstr>
      <vt:lpstr>Wingdings</vt:lpstr>
      <vt:lpstr>Office Theme</vt:lpstr>
      <vt:lpstr>Day 2: Introduction to Python – Data Analysis in Python </vt:lpstr>
      <vt:lpstr>Install Anaconda (Python + Jupyter) </vt:lpstr>
      <vt:lpstr>Launch Jupyter Notebook </vt:lpstr>
      <vt:lpstr>What is Jupyter Notebook? </vt:lpstr>
      <vt:lpstr>Navigating the Jupyter Notebook Interface</vt:lpstr>
      <vt:lpstr>Navigating the Jupyter Notebook Interface</vt:lpstr>
      <vt:lpstr>PowerPoint Presentation</vt:lpstr>
      <vt:lpstr>What is a variable?</vt:lpstr>
      <vt:lpstr>Data Types</vt:lpstr>
      <vt:lpstr>Printing</vt:lpstr>
      <vt:lpstr>String Formatting (3 Ways)</vt:lpstr>
      <vt:lpstr>User Input</vt:lpstr>
      <vt:lpstr>Python Fundamentals: Mini Exercises</vt:lpstr>
      <vt:lpstr>Lists – A Collection of Items</vt:lpstr>
      <vt:lpstr>Accessing List Items</vt:lpstr>
      <vt:lpstr>Adding and Changing List Items</vt:lpstr>
      <vt:lpstr> Loops – Doing Things Repeatedly</vt:lpstr>
      <vt:lpstr>If Statements</vt:lpstr>
      <vt:lpstr>Lists, Loops &amp; Conditionals: Mini Challenge</vt:lpstr>
      <vt:lpstr>What is a Dictionary?</vt:lpstr>
      <vt:lpstr>Accessing Dictionary Values</vt:lpstr>
      <vt:lpstr>Adding and Updating Values</vt:lpstr>
      <vt:lpstr>Loops with Dictionaries</vt:lpstr>
      <vt:lpstr>Day 2: Data 101: Types, Formats, and Basic Statistics</vt:lpstr>
      <vt:lpstr>Data 101</vt:lpstr>
      <vt:lpstr>Data 101: Learning Objectives</vt:lpstr>
      <vt:lpstr>Chapter 2</vt:lpstr>
      <vt:lpstr>Types of Data: Categorical vs. Numerical</vt:lpstr>
      <vt:lpstr>Categorical Data</vt:lpstr>
      <vt:lpstr>Examples of Categorical Data</vt:lpstr>
      <vt:lpstr>Categorical Data</vt:lpstr>
      <vt:lpstr>Nominal vs. Ordinal</vt:lpstr>
      <vt:lpstr>Numerical Data</vt:lpstr>
      <vt:lpstr>Examples of Numerical Data</vt:lpstr>
      <vt:lpstr>Numerical Data</vt:lpstr>
      <vt:lpstr>Check Your Understanding - 1</vt:lpstr>
      <vt:lpstr>Check Your Understanding - 1</vt:lpstr>
      <vt:lpstr>Check Your Understanding - 2</vt:lpstr>
      <vt:lpstr>Check Your Understanding - 2</vt:lpstr>
      <vt:lpstr>Check Your Understanding - 3</vt:lpstr>
      <vt:lpstr>Check Your Understanding - 3</vt:lpstr>
      <vt:lpstr>Check Your Understanding - 4</vt:lpstr>
      <vt:lpstr>Check Your Understanding - 4</vt:lpstr>
      <vt:lpstr>Check Your Understanding - 5</vt:lpstr>
      <vt:lpstr>Check Your Understanding - 5</vt:lpstr>
      <vt:lpstr>Why Data Types Matter</vt:lpstr>
      <vt:lpstr>Quick Wrap-up</vt:lpstr>
      <vt:lpstr>Chapter 2</vt:lpstr>
      <vt:lpstr>Data Formats and Structures: Organizing the Clues</vt:lpstr>
      <vt:lpstr>Tables</vt:lpstr>
      <vt:lpstr>Spreadsheets</vt:lpstr>
      <vt:lpstr>Spreadsheets - 2</vt:lpstr>
      <vt:lpstr>Spreadsheets - 3</vt:lpstr>
      <vt:lpstr>Databases and SQL Tables</vt:lpstr>
      <vt:lpstr>Other Data Formats</vt:lpstr>
      <vt:lpstr>Why Formats Matter</vt:lpstr>
      <vt:lpstr>Metadata: Data About Data</vt:lpstr>
      <vt:lpstr>Metadata: Data About Data</vt:lpstr>
      <vt:lpstr>Check Your Understanding - 1</vt:lpstr>
      <vt:lpstr>Check Your Understanding - 1</vt:lpstr>
      <vt:lpstr>Check Your Understanding - 2</vt:lpstr>
      <vt:lpstr>Check Your Understanding - 2</vt:lpstr>
      <vt:lpstr>Check Your Understanding - 3</vt:lpstr>
      <vt:lpstr>Check Your Understanding - 3</vt:lpstr>
      <vt:lpstr>Check Your Understanding - 4</vt:lpstr>
      <vt:lpstr>Check Your Understanding - 4</vt:lpstr>
      <vt:lpstr>Chapter 2</vt:lpstr>
      <vt:lpstr>Summary Statistics: Describing Data with Numbers</vt:lpstr>
      <vt:lpstr>Mean</vt:lpstr>
      <vt:lpstr>Median</vt:lpstr>
      <vt:lpstr>Median</vt:lpstr>
      <vt:lpstr>Mode</vt:lpstr>
      <vt:lpstr>PowerPoint Presentation</vt:lpstr>
      <vt:lpstr>Range</vt:lpstr>
      <vt:lpstr>Standard Deviation</vt:lpstr>
      <vt:lpstr>Standard Deviation</vt:lpstr>
      <vt:lpstr>Standard Deviation</vt:lpstr>
      <vt:lpstr>The Normal Distribution and the Empirical Rule</vt:lpstr>
      <vt:lpstr>Exercise-0</vt:lpstr>
      <vt:lpstr>Exercise-1</vt:lpstr>
      <vt:lpstr>Exercise-2</vt:lpstr>
      <vt:lpstr>Exercise-3</vt:lpstr>
      <vt:lpstr>Exercise-4</vt:lpstr>
      <vt:lpstr>Exercise-5 - What does 1.55 mean? </vt:lpstr>
      <vt:lpstr>Standard Deviation – Quick Note</vt:lpstr>
      <vt:lpstr>Check Your Understanding</vt:lpstr>
      <vt:lpstr>Check Your Understanding - 1</vt:lpstr>
      <vt:lpstr>Check Your Understanding - 2</vt:lpstr>
      <vt:lpstr>Computing Statistics: Tools of the Trade</vt:lpstr>
      <vt:lpstr>Example in R</vt:lpstr>
      <vt:lpstr>Exercise-0</vt:lpstr>
      <vt:lpstr>Exercise-1</vt:lpstr>
      <vt:lpstr>Exercise-1</vt:lpstr>
      <vt:lpstr>Exercise-2</vt:lpstr>
      <vt:lpstr>Exercise-2</vt:lpstr>
      <vt:lpstr>Exercise-3</vt:lpstr>
      <vt:lpstr>Exercise-3</vt:lpstr>
      <vt:lpstr>Exercise-4</vt:lpstr>
      <vt:lpstr>Exercise-4</vt:lpstr>
      <vt:lpstr>Exercise-5</vt:lpstr>
      <vt:lpstr>Exercise-5</vt:lpstr>
      <vt:lpstr>Exercise-6</vt:lpstr>
      <vt:lpstr>Exercise-6</vt:lpstr>
      <vt:lpstr>Example in Python</vt:lpstr>
      <vt:lpstr>What is Pandas?</vt:lpstr>
      <vt:lpstr>Installing &amp; Importing Pandas</vt:lpstr>
      <vt:lpstr>Creating a Series</vt:lpstr>
      <vt:lpstr>Creating a DataFrame</vt:lpstr>
      <vt:lpstr>Viewing Data</vt:lpstr>
      <vt:lpstr>Reading a CSV </vt:lpstr>
      <vt:lpstr>What We've Learned Today!</vt:lpstr>
      <vt:lpstr>What we have learned so far!</vt:lpstr>
      <vt:lpstr>What we have learned so far!</vt:lpstr>
      <vt:lpstr>Next Steps in Your Data Journey</vt:lpstr>
      <vt:lpstr>PowerPoint Presentation</vt:lpstr>
      <vt:lpstr>Chapter 2: Data 101</vt:lpstr>
      <vt:lpstr>Pandas + Coding Agent: Workflow</vt:lpstr>
      <vt:lpstr>Prompting for Data Type Analysis</vt:lpstr>
      <vt:lpstr>Hands-On: Agent-Assisted EDA Sprint</vt:lpstr>
      <vt:lpstr>Chapter 2 Summary: What You Can Do Now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Yin</dc:creator>
  <cp:lastModifiedBy>Burhan Ogut</cp:lastModifiedBy>
  <cp:revision>32</cp:revision>
  <dcterms:created xsi:type="dcterms:W3CDTF">2025-04-09T18:08:05Z</dcterms:created>
  <dcterms:modified xsi:type="dcterms:W3CDTF">2026-04-19T22:40:24Z</dcterms:modified>
</cp:coreProperties>
</file>