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542" r:id="rId2"/>
    <p:sldId id="543" r:id="rId3"/>
    <p:sldId id="544" r:id="rId4"/>
    <p:sldId id="545" r:id="rId5"/>
    <p:sldId id="546" r:id="rId6"/>
    <p:sldId id="547" r:id="rId7"/>
    <p:sldId id="548" r:id="rId8"/>
    <p:sldId id="549" r:id="rId9"/>
    <p:sldId id="550" r:id="rId10"/>
    <p:sldId id="551" r:id="rId11"/>
    <p:sldId id="552" r:id="rId12"/>
    <p:sldId id="553" r:id="rId13"/>
    <p:sldId id="554" r:id="rId14"/>
    <p:sldId id="555" r:id="rId15"/>
    <p:sldId id="556" r:id="rId16"/>
    <p:sldId id="557" r:id="rId17"/>
    <p:sldId id="558" r:id="rId18"/>
    <p:sldId id="559" r:id="rId19"/>
    <p:sldId id="560" r:id="rId20"/>
    <p:sldId id="561" r:id="rId21"/>
    <p:sldId id="562" r:id="rId22"/>
    <p:sldId id="563" r:id="rId23"/>
    <p:sldId id="564" r:id="rId24"/>
    <p:sldId id="565" r:id="rId25"/>
    <p:sldId id="566" r:id="rId26"/>
    <p:sldId id="567" r:id="rId27"/>
    <p:sldId id="568" r:id="rId28"/>
    <p:sldId id="569" r:id="rId29"/>
    <p:sldId id="570" r:id="rId30"/>
    <p:sldId id="571" r:id="rId31"/>
    <p:sldId id="572" r:id="rId32"/>
    <p:sldId id="573" r:id="rId33"/>
    <p:sldId id="574" r:id="rId34"/>
    <p:sldId id="575" r:id="rId35"/>
    <p:sldId id="576" r:id="rId36"/>
    <p:sldId id="577" r:id="rId37"/>
    <p:sldId id="578" r:id="rId38"/>
    <p:sldId id="579" r:id="rId39"/>
    <p:sldId id="580" r:id="rId40"/>
    <p:sldId id="581" r:id="rId41"/>
    <p:sldId id="582" r:id="rId42"/>
    <p:sldId id="583" r:id="rId43"/>
    <p:sldId id="584" r:id="rId44"/>
    <p:sldId id="585" r:id="rId45"/>
    <p:sldId id="586" r:id="rId46"/>
    <p:sldId id="587" r:id="rId47"/>
    <p:sldId id="588" r:id="rId48"/>
    <p:sldId id="589" r:id="rId49"/>
    <p:sldId id="590" r:id="rId50"/>
    <p:sldId id="591" r:id="rId51"/>
    <p:sldId id="592" r:id="rId52"/>
    <p:sldId id="593" r:id="rId53"/>
    <p:sldId id="594" r:id="rId54"/>
    <p:sldId id="595" r:id="rId55"/>
    <p:sldId id="596" r:id="rId56"/>
    <p:sldId id="597" r:id="rId57"/>
    <p:sldId id="598" r:id="rId58"/>
    <p:sldId id="599" r:id="rId59"/>
    <p:sldId id="600" r:id="rId60"/>
    <p:sldId id="601" r:id="rId61"/>
    <p:sldId id="602" r:id="rId62"/>
    <p:sldId id="603" r:id="rId63"/>
    <p:sldId id="604" r:id="rId64"/>
    <p:sldId id="605" r:id="rId65"/>
    <p:sldId id="606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1429"/>
  </p:normalViewPr>
  <p:slideViewPr>
    <p:cSldViewPr snapToGrid="0">
      <p:cViewPr varScale="1">
        <p:scale>
          <a:sx n="45" d="100"/>
          <a:sy n="45" d="100"/>
        </p:scale>
        <p:origin x="3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C9A10-BFBE-F901-7106-FA7F8515A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41B39B-F769-A35B-05E8-5558C30C46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299E8-3D95-2316-1DA2-E03D6467D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15BB-2C79-5B42-BFB7-E9459B20B3D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9698F-C8ED-F287-5EEC-C09382B86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8767F-6A55-ECBB-CC74-748EF25C0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C208-92C5-8C40-B589-B091B022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701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68884-DEC7-8545-20D7-D57ED7BCF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9E1B3-3BDB-8BA9-FD6A-6E74DACF0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81854-3F17-9053-C75C-94008556D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15BB-2C79-5B42-BFB7-E9459B20B3D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1B21C-4B83-3C1F-ABB8-00B3C8A95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EB26C-752D-D388-DB7E-158D7159B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C208-92C5-8C40-B589-B091B022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24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C5E2B-E9A0-6643-7AA5-2709F17F2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ED0B2-10F7-9D7A-C33F-DE171A8BB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3C355-A109-04F0-9BF4-6BAFFEF5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15BB-2C79-5B42-BFB7-E9459B20B3D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BEFE2-587C-B9AD-D065-F1DDA14FB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8D432-F54C-E072-0228-267ED6915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C208-92C5-8C40-B589-B091B022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42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C2BB3-2387-821D-C05D-88CF61FA3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9045F-BDC9-0ABC-F711-C39A888CD7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341E7-042E-33C4-2C25-A76A6F371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C921EF-C2F6-57D2-8F98-ECBE82022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15BB-2C79-5B42-BFB7-E9459B20B3D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76FC0-8AA3-2223-9E6D-D978B26BC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2586F-B352-F606-D9FE-859158042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C208-92C5-8C40-B589-B091B022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221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D6ECF-F34F-110A-26DF-04260524A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64F3A-7C2F-9FB9-80D2-E25B09BCD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7A9223-4964-315F-5D0B-CBBE1FC8C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44DCE5-D43E-B6B3-A961-F356DCB373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958F36-F757-8ED0-A5C1-556A154B7E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3F91A9-4136-33FD-9144-6D6F9EF3C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15BB-2C79-5B42-BFB7-E9459B20B3D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00C3FC-0F91-DD02-DBF0-38DF46CA4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57BBF4-C13E-F475-62B0-32DEF09BC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C208-92C5-8C40-B589-B091B022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815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83890-069C-2F69-F5A5-F7ACC2BAA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EB65F-B689-7783-25AE-20E8B37A6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15BB-2C79-5B42-BFB7-E9459B20B3D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4C4E58-4ECE-D7C0-630A-72A806FE8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1E83D8-E9C3-4F27-12F2-769E54678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C208-92C5-8C40-B589-B091B022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453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3D5399-EA2E-4594-CBED-F2F8964B1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15BB-2C79-5B42-BFB7-E9459B20B3D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882749-56B0-8C29-BC58-7BF3150E2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D4A27-5DF8-9A50-CF8C-572FAB758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C208-92C5-8C40-B589-B091B022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86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8B2BA-35F7-50DD-FDD6-CA6A561FF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5277A-2D04-FA93-E012-2C61D8B5F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F95D4-4CB7-47B6-C874-B05E9C50BC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818F3-9CA3-F232-29E7-2BAF01605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15BB-2C79-5B42-BFB7-E9459B20B3D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B611F3-2806-7761-ABD0-4151703C8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D36E7-8186-9456-23EC-980979E11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C208-92C5-8C40-B589-B091B022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833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02106-B3DD-81B4-15CA-E9A20F6BF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D86FBE-91AF-ABA6-4E77-3AA18C1351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6F88CB-5E93-45FD-7500-DB1CA3EC52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80757-8382-B152-CB52-98A3C18D7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15BB-2C79-5B42-BFB7-E9459B20B3D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1BEB33-8E64-284C-1599-82CC61178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1284C-26AC-4169-E33B-FA589CABF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C208-92C5-8C40-B589-B091B022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48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95CF2-D6C5-D783-6221-B72C06BAE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C510EF-5273-2CDB-E438-763E7277B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792E0-4A54-A15E-5F11-AA8B5364F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15BB-2C79-5B42-BFB7-E9459B20B3D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E66BA-DEEE-4978-CE40-6104F08BD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2792B-573F-DA1A-A2EC-7BBBAE944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C208-92C5-8C40-B589-B091B022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710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492146-E661-129A-ABEF-778BC41034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A3D1F6-BABF-3A13-8990-9E305B95D1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7F885-89A0-45AB-2E5A-1133521B8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A15BB-2C79-5B42-BFB7-E9459B20B3D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CD4B6-BE43-1A4A-2E14-1BE33FF66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AA0EC-4FA3-B588-39DE-65E502AFD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C208-92C5-8C40-B589-B091B022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0604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7038" y="1277"/>
            <a:ext cx="2564962" cy="586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788" y="6486580"/>
            <a:ext cx="3389313" cy="166688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3787"/>
            <a:ext cx="2844801" cy="36512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689466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58409E-8598-1F07-FC7F-BE7DEB1F0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0738A-FC21-3366-2975-43EB8902D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A0950-7068-2029-5D23-8BEB089BC3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3A15BB-2C79-5B42-BFB7-E9459B20B3D1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FB4B4-FC8D-2DAE-40F9-D962E5AEB6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2ABBC-C265-758F-3B80-A1111504EE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CAC208-92C5-8C40-B589-B091B022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55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7" name="RESEARCH METHODS…"/>
          <p:cNvSpPr txBox="1"/>
          <p:nvPr/>
        </p:nvSpPr>
        <p:spPr>
          <a:xfrm>
            <a:off x="853752" y="1470895"/>
            <a:ext cx="10191636" cy="2580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099" rIns="38099">
            <a:spAutoFit/>
          </a:bodyPr>
          <a:lstStyle/>
          <a:p>
            <a:pPr algn="ctr">
              <a:lnSpc>
                <a:spcPct val="90000"/>
              </a:lnSpc>
              <a:defRPr sz="6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5000"/>
              <a:t>RESEARCH METHODS</a:t>
            </a:r>
          </a:p>
          <a:p>
            <a:pPr algn="ctr">
              <a:lnSpc>
                <a:spcPct val="90000"/>
              </a:lnSpc>
              <a:defRPr sz="6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5000"/>
          </a:p>
          <a:p>
            <a:pPr algn="ctr">
              <a:lnSpc>
                <a:spcPct val="90000"/>
              </a:lnSpc>
              <a:defRPr sz="6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5000"/>
              <a:t>DAY 7</a:t>
            </a:r>
          </a:p>
          <a:p>
            <a:pPr algn="ctr" defTabSz="380985">
              <a:defRPr sz="1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333"/>
          </a:p>
          <a:p>
            <a:pPr algn="ctr" defTabSz="380985">
              <a:defRPr sz="1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333"/>
          </a:p>
        </p:txBody>
      </p:sp>
      <p:sp>
        <p:nvSpPr>
          <p:cNvPr id="3658" name="Rectangle"/>
          <p:cNvSpPr/>
          <p:nvPr/>
        </p:nvSpPr>
        <p:spPr>
          <a:xfrm>
            <a:off x="-62743" y="-81"/>
            <a:ext cx="9701771" cy="58674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0" name="Text 0"/>
          <p:cNvSpPr txBox="1"/>
          <p:nvPr/>
        </p:nvSpPr>
        <p:spPr>
          <a:xfrm>
            <a:off x="599916" y="1417096"/>
            <a:ext cx="6297018" cy="661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55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4583"/>
              <a:t>Welcome to Day 7! </a:t>
            </a:r>
          </a:p>
        </p:txBody>
      </p:sp>
      <p:sp>
        <p:nvSpPr>
          <p:cNvPr id="3661" name="Text 1"/>
          <p:cNvSpPr txBox="1"/>
          <p:nvPr/>
        </p:nvSpPr>
        <p:spPr>
          <a:xfrm>
            <a:off x="618675" y="3130659"/>
            <a:ext cx="8450722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</p:txBody>
      </p:sp>
      <p:sp>
        <p:nvSpPr>
          <p:cNvPr id="3662" name="Shape 2"/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3663" name="Text 0"/>
          <p:cNvSpPr txBox="1"/>
          <p:nvPr/>
        </p:nvSpPr>
        <p:spPr>
          <a:xfrm>
            <a:off x="643287" y="2271579"/>
            <a:ext cx="19035660" cy="3841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4583"/>
              </a:lnSpc>
              <a:defRPr sz="4400" b="1">
                <a:solidFill>
                  <a:srgbClr val="D7AA48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Let’s continue to explore the world of data analysis.</a:t>
            </a:r>
          </a:p>
          <a:p>
            <a:pPr marL="490155" indent="-490155">
              <a:lnSpc>
                <a:spcPct val="120000"/>
              </a:lnSpc>
              <a:buSzPct val="100000"/>
              <a:buChar char="-"/>
              <a:defRPr sz="3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750"/>
              <a:t>Descriptive statistics: Describe &amp; summarize data</a:t>
            </a:r>
          </a:p>
          <a:p>
            <a:pPr marL="490155" indent="-490155">
              <a:lnSpc>
                <a:spcPct val="120000"/>
              </a:lnSpc>
              <a:buSzPct val="100000"/>
              <a:buChar char="-"/>
              <a:defRPr sz="3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750"/>
              <a:t>Inferential statistics: Go beyond summary and “infer” conclusions</a:t>
            </a:r>
          </a:p>
          <a:p>
            <a:pPr>
              <a:lnSpc>
                <a:spcPct val="120000"/>
              </a:lnSpc>
              <a:defRPr sz="3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750"/>
              <a:t>Note: You already know most of this from Data Detectives sessions! </a:t>
            </a:r>
          </a:p>
          <a:p>
            <a:pPr>
              <a:lnSpc>
                <a:spcPts val="4583"/>
              </a:lnSpc>
              <a:defRPr sz="4400" b="1">
                <a:solidFill>
                  <a:srgbClr val="D7AA48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 </a:t>
            </a:r>
          </a:p>
          <a:p>
            <a:pPr>
              <a:lnSpc>
                <a:spcPts val="4583"/>
              </a:lnSpc>
              <a:defRPr sz="4400" b="1">
                <a:solidFill>
                  <a:srgbClr val="D7AA48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Then we will reflect on advanced details of reviewing the literature &amp; academic writing. </a:t>
            </a:r>
          </a:p>
          <a:p>
            <a:pPr>
              <a:lnSpc>
                <a:spcPts val="4583"/>
              </a:lnSpc>
              <a:defRPr sz="4400" b="1">
                <a:solidFill>
                  <a:srgbClr val="D7AA48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  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5" name="Google Shape;407;p15" descr="Google Shape;407;p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4048539" cy="6072809"/>
          </a:xfrm>
          <a:prstGeom prst="rect">
            <a:avLst/>
          </a:prstGeom>
          <a:ln w="12700">
            <a:miter lim="400000"/>
          </a:ln>
        </p:spPr>
      </p:pic>
      <p:sp>
        <p:nvSpPr>
          <p:cNvPr id="3666" name="Google Shape;408;p15"/>
          <p:cNvSpPr txBox="1"/>
          <p:nvPr/>
        </p:nvSpPr>
        <p:spPr>
          <a:xfrm>
            <a:off x="4451613" y="530125"/>
            <a:ext cx="6297018" cy="1340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4719"/>
              </a:lnSpc>
              <a:defRPr sz="4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3667"/>
              <a:t>Descriptive Statistics: Summarizing Data</a:t>
            </a:r>
          </a:p>
        </p:txBody>
      </p:sp>
      <p:pic>
        <p:nvPicPr>
          <p:cNvPr id="3667" name="Google Shape;409;p15" descr="Google Shape;409;p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613" y="1994892"/>
            <a:ext cx="472481" cy="472481"/>
          </a:xfrm>
          <a:prstGeom prst="rect">
            <a:avLst/>
          </a:prstGeom>
          <a:ln w="12700">
            <a:miter lim="400000"/>
          </a:ln>
        </p:spPr>
      </p:pic>
      <p:sp>
        <p:nvSpPr>
          <p:cNvPr id="3668" name="Google Shape;410;p15"/>
          <p:cNvSpPr txBox="1"/>
          <p:nvPr/>
        </p:nvSpPr>
        <p:spPr>
          <a:xfrm>
            <a:off x="4451613" y="2656384"/>
            <a:ext cx="1941513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Mean (Average)</a:t>
            </a:r>
          </a:p>
        </p:txBody>
      </p:sp>
      <p:sp>
        <p:nvSpPr>
          <p:cNvPr id="3669" name="Google Shape;411;p15"/>
          <p:cNvSpPr txBox="1"/>
          <p:nvPr/>
        </p:nvSpPr>
        <p:spPr>
          <a:xfrm>
            <a:off x="4451613" y="3065066"/>
            <a:ext cx="1941513" cy="1025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S______ of all values divided by n________ of values.</a:t>
            </a:r>
          </a:p>
        </p:txBody>
      </p:sp>
      <p:pic>
        <p:nvPicPr>
          <p:cNvPr id="3670" name="Google Shape;412;p15" descr="Google Shape;412;p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366" y="1994892"/>
            <a:ext cx="472481" cy="472481"/>
          </a:xfrm>
          <a:prstGeom prst="rect">
            <a:avLst/>
          </a:prstGeom>
          <a:ln w="12700">
            <a:miter lim="400000"/>
          </a:ln>
        </p:spPr>
      </p:pic>
      <p:sp>
        <p:nvSpPr>
          <p:cNvPr id="3671" name="Google Shape;413;p15"/>
          <p:cNvSpPr txBox="1"/>
          <p:nvPr/>
        </p:nvSpPr>
        <p:spPr>
          <a:xfrm>
            <a:off x="6629366" y="2656384"/>
            <a:ext cx="1941513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Median</a:t>
            </a:r>
          </a:p>
        </p:txBody>
      </p:sp>
      <p:sp>
        <p:nvSpPr>
          <p:cNvPr id="3672" name="Google Shape;414;p15"/>
          <p:cNvSpPr txBox="1"/>
          <p:nvPr/>
        </p:nvSpPr>
        <p:spPr>
          <a:xfrm>
            <a:off x="6629366" y="3065066"/>
            <a:ext cx="1941513" cy="1025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M_______ value when data is ordered from smallest to largest.</a:t>
            </a:r>
          </a:p>
        </p:txBody>
      </p:sp>
      <p:pic>
        <p:nvPicPr>
          <p:cNvPr id="3673" name="Google Shape;415;p15" descr="Google Shape;415;p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7117" y="1994892"/>
            <a:ext cx="472481" cy="472481"/>
          </a:xfrm>
          <a:prstGeom prst="rect">
            <a:avLst/>
          </a:prstGeom>
          <a:ln w="12700">
            <a:miter lim="400000"/>
          </a:ln>
        </p:spPr>
      </p:pic>
      <p:sp>
        <p:nvSpPr>
          <p:cNvPr id="3674" name="Google Shape;416;p15"/>
          <p:cNvSpPr txBox="1"/>
          <p:nvPr/>
        </p:nvSpPr>
        <p:spPr>
          <a:xfrm>
            <a:off x="8807117" y="2656384"/>
            <a:ext cx="1941513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Mode</a:t>
            </a:r>
          </a:p>
        </p:txBody>
      </p:sp>
      <p:sp>
        <p:nvSpPr>
          <p:cNvPr id="3675" name="Google Shape;417;p15"/>
          <p:cNvSpPr txBox="1"/>
          <p:nvPr/>
        </p:nvSpPr>
        <p:spPr>
          <a:xfrm>
            <a:off x="8807117" y="3065066"/>
            <a:ext cx="1941513" cy="670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Most f________ occurring value in the dataset.</a:t>
            </a:r>
          </a:p>
        </p:txBody>
      </p:sp>
      <p:pic>
        <p:nvPicPr>
          <p:cNvPr id="3676" name="Google Shape;418;p15" descr="Google Shape;418;p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1613" y="4350345"/>
            <a:ext cx="472481" cy="472481"/>
          </a:xfrm>
          <a:prstGeom prst="rect">
            <a:avLst/>
          </a:prstGeom>
          <a:ln w="12700">
            <a:miter lim="400000"/>
          </a:ln>
        </p:spPr>
      </p:pic>
      <p:sp>
        <p:nvSpPr>
          <p:cNvPr id="3677" name="Google Shape;419;p15"/>
          <p:cNvSpPr txBox="1"/>
          <p:nvPr/>
        </p:nvSpPr>
        <p:spPr>
          <a:xfrm>
            <a:off x="4451613" y="5011836"/>
            <a:ext cx="1941513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Range</a:t>
            </a:r>
          </a:p>
        </p:txBody>
      </p:sp>
      <p:sp>
        <p:nvSpPr>
          <p:cNvPr id="3678" name="Google Shape;420;p15"/>
          <p:cNvSpPr txBox="1"/>
          <p:nvPr/>
        </p:nvSpPr>
        <p:spPr>
          <a:xfrm>
            <a:off x="4451613" y="5420520"/>
            <a:ext cx="4579745" cy="314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Difference between l_______ and s________ values.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0" name="Google Shape;407;p15" descr="Google Shape;407;p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4048539" cy="6072809"/>
          </a:xfrm>
          <a:prstGeom prst="rect">
            <a:avLst/>
          </a:prstGeom>
          <a:ln w="12700">
            <a:miter lim="400000"/>
          </a:ln>
        </p:spPr>
      </p:pic>
      <p:sp>
        <p:nvSpPr>
          <p:cNvPr id="3681" name="Google Shape;408;p15"/>
          <p:cNvSpPr txBox="1"/>
          <p:nvPr/>
        </p:nvSpPr>
        <p:spPr>
          <a:xfrm>
            <a:off x="4451613" y="530125"/>
            <a:ext cx="6297018" cy="1340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4719"/>
              </a:lnSpc>
              <a:defRPr sz="4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3667"/>
              <a:t>Descriptive Statistics: Summarizing Data</a:t>
            </a:r>
          </a:p>
        </p:txBody>
      </p:sp>
      <p:pic>
        <p:nvPicPr>
          <p:cNvPr id="3682" name="Google Shape;409;p15" descr="Google Shape;409;p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613" y="1994892"/>
            <a:ext cx="472481" cy="472481"/>
          </a:xfrm>
          <a:prstGeom prst="rect">
            <a:avLst/>
          </a:prstGeom>
          <a:ln w="12700">
            <a:miter lim="400000"/>
          </a:ln>
        </p:spPr>
      </p:pic>
      <p:sp>
        <p:nvSpPr>
          <p:cNvPr id="3683" name="Google Shape;410;p15"/>
          <p:cNvSpPr txBox="1"/>
          <p:nvPr/>
        </p:nvSpPr>
        <p:spPr>
          <a:xfrm>
            <a:off x="4451613" y="2656384"/>
            <a:ext cx="1941513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Mean (Average)</a:t>
            </a:r>
          </a:p>
        </p:txBody>
      </p:sp>
      <p:sp>
        <p:nvSpPr>
          <p:cNvPr id="3684" name="Google Shape;411;p15"/>
          <p:cNvSpPr txBox="1"/>
          <p:nvPr/>
        </p:nvSpPr>
        <p:spPr>
          <a:xfrm>
            <a:off x="4451613" y="3065066"/>
            <a:ext cx="1941513" cy="670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Sum of all values divided by number of values.</a:t>
            </a:r>
          </a:p>
        </p:txBody>
      </p:sp>
      <p:pic>
        <p:nvPicPr>
          <p:cNvPr id="3685" name="Google Shape;412;p15" descr="Google Shape;412;p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366" y="1994892"/>
            <a:ext cx="472481" cy="472481"/>
          </a:xfrm>
          <a:prstGeom prst="rect">
            <a:avLst/>
          </a:prstGeom>
          <a:ln w="12700">
            <a:miter lim="400000"/>
          </a:ln>
        </p:spPr>
      </p:pic>
      <p:sp>
        <p:nvSpPr>
          <p:cNvPr id="3686" name="Google Shape;413;p15"/>
          <p:cNvSpPr txBox="1"/>
          <p:nvPr/>
        </p:nvSpPr>
        <p:spPr>
          <a:xfrm>
            <a:off x="6629366" y="2656384"/>
            <a:ext cx="1941513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Median</a:t>
            </a:r>
          </a:p>
        </p:txBody>
      </p:sp>
      <p:sp>
        <p:nvSpPr>
          <p:cNvPr id="3687" name="Google Shape;414;p15"/>
          <p:cNvSpPr txBox="1"/>
          <p:nvPr/>
        </p:nvSpPr>
        <p:spPr>
          <a:xfrm>
            <a:off x="6629366" y="3065066"/>
            <a:ext cx="1941513" cy="1025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Middle value when data is ordered from smallest to largest.</a:t>
            </a:r>
          </a:p>
        </p:txBody>
      </p:sp>
      <p:pic>
        <p:nvPicPr>
          <p:cNvPr id="3688" name="Google Shape;415;p15" descr="Google Shape;415;p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7117" y="1994892"/>
            <a:ext cx="472481" cy="472481"/>
          </a:xfrm>
          <a:prstGeom prst="rect">
            <a:avLst/>
          </a:prstGeom>
          <a:ln w="12700">
            <a:miter lim="400000"/>
          </a:ln>
        </p:spPr>
      </p:pic>
      <p:sp>
        <p:nvSpPr>
          <p:cNvPr id="3689" name="Google Shape;416;p15"/>
          <p:cNvSpPr txBox="1"/>
          <p:nvPr/>
        </p:nvSpPr>
        <p:spPr>
          <a:xfrm>
            <a:off x="8807117" y="2656384"/>
            <a:ext cx="1941513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Mode</a:t>
            </a:r>
          </a:p>
        </p:txBody>
      </p:sp>
      <p:sp>
        <p:nvSpPr>
          <p:cNvPr id="3690" name="Google Shape;417;p15"/>
          <p:cNvSpPr txBox="1"/>
          <p:nvPr/>
        </p:nvSpPr>
        <p:spPr>
          <a:xfrm>
            <a:off x="8807117" y="3065066"/>
            <a:ext cx="1941513" cy="670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Most frequently occurring value in the dataset.</a:t>
            </a:r>
          </a:p>
        </p:txBody>
      </p:sp>
      <p:pic>
        <p:nvPicPr>
          <p:cNvPr id="3691" name="Google Shape;418;p15" descr="Google Shape;418;p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1613" y="4350345"/>
            <a:ext cx="472481" cy="472481"/>
          </a:xfrm>
          <a:prstGeom prst="rect">
            <a:avLst/>
          </a:prstGeom>
          <a:ln w="12700">
            <a:miter lim="400000"/>
          </a:ln>
        </p:spPr>
      </p:pic>
      <p:sp>
        <p:nvSpPr>
          <p:cNvPr id="3692" name="Google Shape;419;p15"/>
          <p:cNvSpPr txBox="1"/>
          <p:nvPr/>
        </p:nvSpPr>
        <p:spPr>
          <a:xfrm>
            <a:off x="4451613" y="5011836"/>
            <a:ext cx="1941513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Range</a:t>
            </a:r>
          </a:p>
        </p:txBody>
      </p:sp>
      <p:sp>
        <p:nvSpPr>
          <p:cNvPr id="3693" name="Google Shape;420;p15"/>
          <p:cNvSpPr txBox="1"/>
          <p:nvPr/>
        </p:nvSpPr>
        <p:spPr>
          <a:xfrm>
            <a:off x="4451613" y="5420520"/>
            <a:ext cx="4579745" cy="314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Difference between largest and smallest values.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5" name="Google Shape;506;p20" descr="Google Shape;506;p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12591" cy="6168887"/>
          </a:xfrm>
          <a:prstGeom prst="rect">
            <a:avLst/>
          </a:prstGeom>
          <a:ln w="12700">
            <a:miter lim="400000"/>
          </a:ln>
        </p:spPr>
      </p:pic>
      <p:sp>
        <p:nvSpPr>
          <p:cNvPr id="3696" name="Google Shape;507;p20"/>
          <p:cNvSpPr txBox="1"/>
          <p:nvPr/>
        </p:nvSpPr>
        <p:spPr>
          <a:xfrm>
            <a:off x="5032832" y="1196374"/>
            <a:ext cx="6959502" cy="592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301"/>
              </a:lnSpc>
              <a:defRPr sz="41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3417"/>
              <a:t>Outliers: Values That Stand Out</a:t>
            </a:r>
          </a:p>
        </p:txBody>
      </p:sp>
      <p:sp>
        <p:nvSpPr>
          <p:cNvPr id="3697" name="Google Shape;508;p20"/>
          <p:cNvSpPr/>
          <p:nvPr/>
        </p:nvSpPr>
        <p:spPr>
          <a:xfrm>
            <a:off x="5189538" y="1986823"/>
            <a:ext cx="396975" cy="396975"/>
          </a:xfrm>
          <a:prstGeom prst="roundRect">
            <a:avLst>
              <a:gd name="adj" fmla="val 18668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pic>
        <p:nvPicPr>
          <p:cNvPr id="3698" name="Google Shape;509;p20" descr="Google Shape;509;p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5666" y="2019862"/>
            <a:ext cx="264618" cy="330796"/>
          </a:xfrm>
          <a:prstGeom prst="rect">
            <a:avLst/>
          </a:prstGeom>
          <a:ln w="12700">
            <a:miter lim="400000"/>
          </a:ln>
        </p:spPr>
      </p:pic>
      <p:sp>
        <p:nvSpPr>
          <p:cNvPr id="3699" name="Google Shape;510;p20"/>
          <p:cNvSpPr txBox="1"/>
          <p:nvPr/>
        </p:nvSpPr>
        <p:spPr>
          <a:xfrm>
            <a:off x="5762923" y="2005111"/>
            <a:ext cx="2205534" cy="295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3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917"/>
              <a:t>What Are Outliers?</a:t>
            </a:r>
          </a:p>
        </p:txBody>
      </p:sp>
      <p:sp>
        <p:nvSpPr>
          <p:cNvPr id="3700" name="Google Shape;511;p20"/>
          <p:cNvSpPr txBox="1"/>
          <p:nvPr/>
        </p:nvSpPr>
        <p:spPr>
          <a:xfrm>
            <a:off x="5762923" y="2386509"/>
            <a:ext cx="5811541" cy="295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Data points much h___ or l____ than most other values.</a:t>
            </a:r>
          </a:p>
        </p:txBody>
      </p:sp>
      <p:sp>
        <p:nvSpPr>
          <p:cNvPr id="3701" name="Google Shape;512;p20"/>
          <p:cNvSpPr/>
          <p:nvPr/>
        </p:nvSpPr>
        <p:spPr>
          <a:xfrm>
            <a:off x="5189538" y="3159092"/>
            <a:ext cx="396975" cy="396975"/>
          </a:xfrm>
          <a:prstGeom prst="roundRect">
            <a:avLst>
              <a:gd name="adj" fmla="val 18668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pic>
        <p:nvPicPr>
          <p:cNvPr id="3702" name="Google Shape;513;p20" descr="Google Shape;513;p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666" y="3192132"/>
            <a:ext cx="264618" cy="330796"/>
          </a:xfrm>
          <a:prstGeom prst="rect">
            <a:avLst/>
          </a:prstGeom>
          <a:ln w="12700">
            <a:miter lim="400000"/>
          </a:ln>
        </p:spPr>
      </p:pic>
      <p:sp>
        <p:nvSpPr>
          <p:cNvPr id="3703" name="Google Shape;514;p20"/>
          <p:cNvSpPr txBox="1"/>
          <p:nvPr/>
        </p:nvSpPr>
        <p:spPr>
          <a:xfrm>
            <a:off x="5762923" y="3209131"/>
            <a:ext cx="2205534" cy="295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3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917"/>
              <a:t>Why They Matter</a:t>
            </a:r>
          </a:p>
        </p:txBody>
      </p:sp>
      <p:sp>
        <p:nvSpPr>
          <p:cNvPr id="3704" name="Google Shape;515;p20"/>
          <p:cNvSpPr txBox="1"/>
          <p:nvPr/>
        </p:nvSpPr>
        <p:spPr>
          <a:xfrm>
            <a:off x="5762923" y="3537611"/>
            <a:ext cx="5811541" cy="590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Can significantly affect the m_______ but have less impact on the m_______.</a:t>
            </a:r>
          </a:p>
        </p:txBody>
      </p:sp>
      <p:sp>
        <p:nvSpPr>
          <p:cNvPr id="3705" name="Google Shape;516;p20"/>
          <p:cNvSpPr/>
          <p:nvPr/>
        </p:nvSpPr>
        <p:spPr>
          <a:xfrm>
            <a:off x="5189538" y="4373694"/>
            <a:ext cx="396975" cy="396975"/>
          </a:xfrm>
          <a:prstGeom prst="roundRect">
            <a:avLst>
              <a:gd name="adj" fmla="val 18668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pic>
        <p:nvPicPr>
          <p:cNvPr id="3706" name="Google Shape;517;p20" descr="Google Shape;517;p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5666" y="4406735"/>
            <a:ext cx="264618" cy="330796"/>
          </a:xfrm>
          <a:prstGeom prst="rect">
            <a:avLst/>
          </a:prstGeom>
          <a:ln w="12700">
            <a:miter lim="400000"/>
          </a:ln>
        </p:spPr>
      </p:pic>
      <p:sp>
        <p:nvSpPr>
          <p:cNvPr id="3707" name="Google Shape;518;p20"/>
          <p:cNvSpPr txBox="1"/>
          <p:nvPr/>
        </p:nvSpPr>
        <p:spPr>
          <a:xfrm>
            <a:off x="5762923" y="4360234"/>
            <a:ext cx="3267383" cy="295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3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917"/>
              <a:t>Identifying Outliers</a:t>
            </a:r>
          </a:p>
        </p:txBody>
      </p:sp>
      <p:sp>
        <p:nvSpPr>
          <p:cNvPr id="3708" name="Google Shape;519;p20"/>
          <p:cNvSpPr txBox="1"/>
          <p:nvPr/>
        </p:nvSpPr>
        <p:spPr>
          <a:xfrm>
            <a:off x="5762923" y="4725756"/>
            <a:ext cx="5811541" cy="295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Look for values f__ from the g_____l pattern of data.</a:t>
            </a:r>
          </a:p>
        </p:txBody>
      </p:sp>
      <p:sp>
        <p:nvSpPr>
          <p:cNvPr id="3709" name="Google Shape;520;p20"/>
          <p:cNvSpPr/>
          <p:nvPr/>
        </p:nvSpPr>
        <p:spPr>
          <a:xfrm>
            <a:off x="5189538" y="5366047"/>
            <a:ext cx="396975" cy="396975"/>
          </a:xfrm>
          <a:prstGeom prst="roundRect">
            <a:avLst>
              <a:gd name="adj" fmla="val 18668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pic>
        <p:nvPicPr>
          <p:cNvPr id="3710" name="Google Shape;521;p20" descr="Google Shape;521;p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5666" y="5399087"/>
            <a:ext cx="264618" cy="330796"/>
          </a:xfrm>
          <a:prstGeom prst="rect">
            <a:avLst/>
          </a:prstGeom>
          <a:ln w="12700">
            <a:miter lim="400000"/>
          </a:ln>
        </p:spPr>
      </p:pic>
      <p:sp>
        <p:nvSpPr>
          <p:cNvPr id="3711" name="Google Shape;522;p20"/>
          <p:cNvSpPr txBox="1"/>
          <p:nvPr/>
        </p:nvSpPr>
        <p:spPr>
          <a:xfrm>
            <a:off x="5762923" y="5342004"/>
            <a:ext cx="2205534" cy="295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3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917"/>
              <a:t>Handling Outliers</a:t>
            </a:r>
          </a:p>
        </p:txBody>
      </p:sp>
      <p:sp>
        <p:nvSpPr>
          <p:cNvPr id="3712" name="Google Shape;523;p20"/>
          <p:cNvSpPr txBox="1"/>
          <p:nvPr/>
        </p:nvSpPr>
        <p:spPr>
          <a:xfrm>
            <a:off x="5762923" y="5659900"/>
            <a:ext cx="5811541" cy="590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Investigate w__ they exist before deciding whether to i_______ them.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4" name="Google Shape;506;p20" descr="Google Shape;506;p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12591" cy="6168887"/>
          </a:xfrm>
          <a:prstGeom prst="rect">
            <a:avLst/>
          </a:prstGeom>
          <a:ln w="12700">
            <a:miter lim="400000"/>
          </a:ln>
        </p:spPr>
      </p:pic>
      <p:sp>
        <p:nvSpPr>
          <p:cNvPr id="3715" name="Google Shape;507;p20"/>
          <p:cNvSpPr txBox="1"/>
          <p:nvPr/>
        </p:nvSpPr>
        <p:spPr>
          <a:xfrm>
            <a:off x="5032832" y="1196374"/>
            <a:ext cx="6959502" cy="592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301"/>
              </a:lnSpc>
              <a:defRPr sz="41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3417"/>
              <a:t>Outliers: Values That Stand Out</a:t>
            </a:r>
          </a:p>
        </p:txBody>
      </p:sp>
      <p:sp>
        <p:nvSpPr>
          <p:cNvPr id="3716" name="Google Shape;508;p20"/>
          <p:cNvSpPr/>
          <p:nvPr/>
        </p:nvSpPr>
        <p:spPr>
          <a:xfrm>
            <a:off x="5189538" y="1986823"/>
            <a:ext cx="396975" cy="396975"/>
          </a:xfrm>
          <a:prstGeom prst="roundRect">
            <a:avLst>
              <a:gd name="adj" fmla="val 18668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pic>
        <p:nvPicPr>
          <p:cNvPr id="3717" name="Google Shape;509;p20" descr="Google Shape;509;p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5666" y="2019862"/>
            <a:ext cx="264618" cy="330796"/>
          </a:xfrm>
          <a:prstGeom prst="rect">
            <a:avLst/>
          </a:prstGeom>
          <a:ln w="12700">
            <a:miter lim="400000"/>
          </a:ln>
        </p:spPr>
      </p:pic>
      <p:sp>
        <p:nvSpPr>
          <p:cNvPr id="3718" name="Google Shape;510;p20"/>
          <p:cNvSpPr txBox="1"/>
          <p:nvPr/>
        </p:nvSpPr>
        <p:spPr>
          <a:xfrm>
            <a:off x="5762923" y="2005111"/>
            <a:ext cx="2205534" cy="295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3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917"/>
              <a:t>What Are Outliers?</a:t>
            </a:r>
          </a:p>
        </p:txBody>
      </p:sp>
      <p:sp>
        <p:nvSpPr>
          <p:cNvPr id="3719" name="Google Shape;511;p20"/>
          <p:cNvSpPr txBox="1"/>
          <p:nvPr/>
        </p:nvSpPr>
        <p:spPr>
          <a:xfrm>
            <a:off x="5762923" y="2386509"/>
            <a:ext cx="5811541" cy="295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Data points much higher or lower than most other values.</a:t>
            </a:r>
          </a:p>
        </p:txBody>
      </p:sp>
      <p:sp>
        <p:nvSpPr>
          <p:cNvPr id="3720" name="Google Shape;512;p20"/>
          <p:cNvSpPr/>
          <p:nvPr/>
        </p:nvSpPr>
        <p:spPr>
          <a:xfrm>
            <a:off x="5189538" y="3159092"/>
            <a:ext cx="396975" cy="396975"/>
          </a:xfrm>
          <a:prstGeom prst="roundRect">
            <a:avLst>
              <a:gd name="adj" fmla="val 18668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pic>
        <p:nvPicPr>
          <p:cNvPr id="3721" name="Google Shape;513;p20" descr="Google Shape;513;p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666" y="3192132"/>
            <a:ext cx="264618" cy="330796"/>
          </a:xfrm>
          <a:prstGeom prst="rect">
            <a:avLst/>
          </a:prstGeom>
          <a:ln w="12700">
            <a:miter lim="400000"/>
          </a:ln>
        </p:spPr>
      </p:pic>
      <p:sp>
        <p:nvSpPr>
          <p:cNvPr id="3722" name="Google Shape;514;p20"/>
          <p:cNvSpPr txBox="1"/>
          <p:nvPr/>
        </p:nvSpPr>
        <p:spPr>
          <a:xfrm>
            <a:off x="5762923" y="3209131"/>
            <a:ext cx="2205534" cy="295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3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917"/>
              <a:t>Why They Matter</a:t>
            </a:r>
          </a:p>
        </p:txBody>
      </p:sp>
      <p:sp>
        <p:nvSpPr>
          <p:cNvPr id="3723" name="Google Shape;515;p20"/>
          <p:cNvSpPr txBox="1"/>
          <p:nvPr/>
        </p:nvSpPr>
        <p:spPr>
          <a:xfrm>
            <a:off x="5762923" y="3537611"/>
            <a:ext cx="5811541" cy="590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Can significantly affect the mean but have less impact on the median.</a:t>
            </a:r>
          </a:p>
        </p:txBody>
      </p:sp>
      <p:sp>
        <p:nvSpPr>
          <p:cNvPr id="3724" name="Google Shape;516;p20"/>
          <p:cNvSpPr/>
          <p:nvPr/>
        </p:nvSpPr>
        <p:spPr>
          <a:xfrm>
            <a:off x="5189538" y="4373694"/>
            <a:ext cx="396975" cy="396975"/>
          </a:xfrm>
          <a:prstGeom prst="roundRect">
            <a:avLst>
              <a:gd name="adj" fmla="val 18668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pic>
        <p:nvPicPr>
          <p:cNvPr id="3725" name="Google Shape;517;p20" descr="Google Shape;517;p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5666" y="4406735"/>
            <a:ext cx="264618" cy="330796"/>
          </a:xfrm>
          <a:prstGeom prst="rect">
            <a:avLst/>
          </a:prstGeom>
          <a:ln w="12700">
            <a:miter lim="400000"/>
          </a:ln>
        </p:spPr>
      </p:pic>
      <p:sp>
        <p:nvSpPr>
          <p:cNvPr id="3726" name="Google Shape;518;p20"/>
          <p:cNvSpPr txBox="1"/>
          <p:nvPr/>
        </p:nvSpPr>
        <p:spPr>
          <a:xfrm>
            <a:off x="5762923" y="4360234"/>
            <a:ext cx="3267383" cy="295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3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917"/>
              <a:t>Identifying Outliers</a:t>
            </a:r>
          </a:p>
        </p:txBody>
      </p:sp>
      <p:sp>
        <p:nvSpPr>
          <p:cNvPr id="3727" name="Google Shape;519;p20"/>
          <p:cNvSpPr txBox="1"/>
          <p:nvPr/>
        </p:nvSpPr>
        <p:spPr>
          <a:xfrm>
            <a:off x="5762923" y="4725756"/>
            <a:ext cx="5811541" cy="295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Look for values far from the general pattern of data.</a:t>
            </a:r>
          </a:p>
        </p:txBody>
      </p:sp>
      <p:sp>
        <p:nvSpPr>
          <p:cNvPr id="3728" name="Google Shape;520;p20"/>
          <p:cNvSpPr/>
          <p:nvPr/>
        </p:nvSpPr>
        <p:spPr>
          <a:xfrm>
            <a:off x="5189538" y="5366047"/>
            <a:ext cx="396975" cy="396975"/>
          </a:xfrm>
          <a:prstGeom prst="roundRect">
            <a:avLst>
              <a:gd name="adj" fmla="val 18668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pic>
        <p:nvPicPr>
          <p:cNvPr id="3729" name="Google Shape;521;p20" descr="Google Shape;521;p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5666" y="5399087"/>
            <a:ext cx="264618" cy="330796"/>
          </a:xfrm>
          <a:prstGeom prst="rect">
            <a:avLst/>
          </a:prstGeom>
          <a:ln w="12700">
            <a:miter lim="400000"/>
          </a:ln>
        </p:spPr>
      </p:pic>
      <p:sp>
        <p:nvSpPr>
          <p:cNvPr id="3730" name="Google Shape;522;p20"/>
          <p:cNvSpPr txBox="1"/>
          <p:nvPr/>
        </p:nvSpPr>
        <p:spPr>
          <a:xfrm>
            <a:off x="5762923" y="5342004"/>
            <a:ext cx="2205534" cy="295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3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917"/>
              <a:t>Handling Outliers</a:t>
            </a:r>
          </a:p>
        </p:txBody>
      </p:sp>
      <p:sp>
        <p:nvSpPr>
          <p:cNvPr id="3731" name="Google Shape;523;p20"/>
          <p:cNvSpPr txBox="1"/>
          <p:nvPr/>
        </p:nvSpPr>
        <p:spPr>
          <a:xfrm>
            <a:off x="5762923" y="5659900"/>
            <a:ext cx="5811541" cy="590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Investigate why they exist before deciding whether to include them.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3" name="Google Shape;529;p21"/>
          <p:cNvSpPr txBox="1"/>
          <p:nvPr/>
        </p:nvSpPr>
        <p:spPr>
          <a:xfrm>
            <a:off x="619159" y="1523922"/>
            <a:ext cx="9322014" cy="635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4719"/>
              </a:lnSpc>
              <a:defRPr sz="4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3667"/>
              <a:t>Descriptive Statistics Example</a:t>
            </a:r>
          </a:p>
        </p:txBody>
      </p:sp>
      <p:sp>
        <p:nvSpPr>
          <p:cNvPr id="3734" name="Google Shape;530;p21"/>
          <p:cNvSpPr txBox="1"/>
          <p:nvPr/>
        </p:nvSpPr>
        <p:spPr>
          <a:xfrm>
            <a:off x="661491" y="2560934"/>
            <a:ext cx="3670069" cy="360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2083"/>
              <a:t>Quiz Scores Dataset</a:t>
            </a:r>
          </a:p>
        </p:txBody>
      </p:sp>
      <p:sp>
        <p:nvSpPr>
          <p:cNvPr id="3735" name="Google Shape;531;p21"/>
          <p:cNvSpPr txBox="1"/>
          <p:nvPr/>
        </p:nvSpPr>
        <p:spPr>
          <a:xfrm>
            <a:off x="661491" y="3045222"/>
            <a:ext cx="5203926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{4, 7, 8, 9, 9, 10, 10, 10}</a:t>
            </a:r>
          </a:p>
        </p:txBody>
      </p:sp>
      <p:sp>
        <p:nvSpPr>
          <p:cNvPr id="3736" name="Google Shape;532;p21"/>
          <p:cNvSpPr txBox="1"/>
          <p:nvPr/>
        </p:nvSpPr>
        <p:spPr>
          <a:xfrm>
            <a:off x="661491" y="3517701"/>
            <a:ext cx="5203926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62857"/>
              </a:lnSpc>
              <a:buClr>
                <a:srgbClr val="000000"/>
              </a:buClr>
              <a:buSzPts val="2500"/>
              <a:buFont typeface="Helvetica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Mean =</a:t>
            </a:r>
          </a:p>
        </p:txBody>
      </p:sp>
      <p:sp>
        <p:nvSpPr>
          <p:cNvPr id="3737" name="Google Shape;533;p21"/>
          <p:cNvSpPr txBox="1"/>
          <p:nvPr/>
        </p:nvSpPr>
        <p:spPr>
          <a:xfrm>
            <a:off x="661491" y="3886201"/>
            <a:ext cx="5203926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62857"/>
              </a:lnSpc>
              <a:buClr>
                <a:srgbClr val="000000"/>
              </a:buClr>
              <a:buSzPts val="2500"/>
              <a:buFont typeface="Helvetica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Median =</a:t>
            </a:r>
          </a:p>
        </p:txBody>
      </p:sp>
      <p:sp>
        <p:nvSpPr>
          <p:cNvPr id="3738" name="Google Shape;534;p21"/>
          <p:cNvSpPr txBox="1"/>
          <p:nvPr/>
        </p:nvSpPr>
        <p:spPr>
          <a:xfrm>
            <a:off x="661491" y="4254698"/>
            <a:ext cx="5203926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62857"/>
              </a:lnSpc>
              <a:buClr>
                <a:srgbClr val="000000"/>
              </a:buClr>
              <a:buSzPts val="2500"/>
              <a:buFont typeface="Helvetica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Mode =</a:t>
            </a:r>
          </a:p>
        </p:txBody>
      </p:sp>
      <p:sp>
        <p:nvSpPr>
          <p:cNvPr id="3739" name="Google Shape;535;p21"/>
          <p:cNvSpPr txBox="1"/>
          <p:nvPr/>
        </p:nvSpPr>
        <p:spPr>
          <a:xfrm>
            <a:off x="661491" y="4623197"/>
            <a:ext cx="5203926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62857"/>
              </a:lnSpc>
              <a:buClr>
                <a:srgbClr val="000000"/>
              </a:buClr>
              <a:buSzPts val="2500"/>
              <a:buFont typeface="Helvetica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Range =</a:t>
            </a:r>
          </a:p>
        </p:txBody>
      </p:sp>
      <p:sp>
        <p:nvSpPr>
          <p:cNvPr id="3740" name="Google Shape;536;p21"/>
          <p:cNvSpPr txBox="1"/>
          <p:nvPr/>
        </p:nvSpPr>
        <p:spPr>
          <a:xfrm>
            <a:off x="661491" y="4991695"/>
            <a:ext cx="5203926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62857"/>
              </a:lnSpc>
              <a:buClr>
                <a:srgbClr val="000000"/>
              </a:buClr>
              <a:buSzPts val="2500"/>
              <a:buFont typeface="Helvetica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Possible outlier: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2" name="Google Shape;529;p21"/>
          <p:cNvSpPr txBox="1"/>
          <p:nvPr/>
        </p:nvSpPr>
        <p:spPr>
          <a:xfrm>
            <a:off x="619159" y="1523922"/>
            <a:ext cx="9322014" cy="635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4719"/>
              </a:lnSpc>
              <a:defRPr sz="4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3667"/>
              <a:t>Descriptive Statistics Example</a:t>
            </a:r>
          </a:p>
        </p:txBody>
      </p:sp>
      <p:sp>
        <p:nvSpPr>
          <p:cNvPr id="3743" name="Google Shape;530;p21"/>
          <p:cNvSpPr txBox="1"/>
          <p:nvPr/>
        </p:nvSpPr>
        <p:spPr>
          <a:xfrm>
            <a:off x="661491" y="2560934"/>
            <a:ext cx="3670069" cy="360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2083"/>
              <a:t>Quiz Scores Dataset</a:t>
            </a:r>
          </a:p>
        </p:txBody>
      </p:sp>
      <p:sp>
        <p:nvSpPr>
          <p:cNvPr id="3744" name="Google Shape;531;p21"/>
          <p:cNvSpPr txBox="1"/>
          <p:nvPr/>
        </p:nvSpPr>
        <p:spPr>
          <a:xfrm>
            <a:off x="661491" y="3045222"/>
            <a:ext cx="5203926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{4, 7, 8, 9, 9, 10, 10, 10}</a:t>
            </a:r>
          </a:p>
        </p:txBody>
      </p:sp>
      <p:sp>
        <p:nvSpPr>
          <p:cNvPr id="3745" name="Google Shape;532;p21"/>
          <p:cNvSpPr txBox="1"/>
          <p:nvPr/>
        </p:nvSpPr>
        <p:spPr>
          <a:xfrm>
            <a:off x="661491" y="3517701"/>
            <a:ext cx="5203926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62857"/>
              </a:lnSpc>
              <a:buClr>
                <a:srgbClr val="000000"/>
              </a:buClr>
              <a:buSzPts val="2500"/>
              <a:buFont typeface="Helvetica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Mean = 8.375</a:t>
            </a:r>
          </a:p>
        </p:txBody>
      </p:sp>
      <p:sp>
        <p:nvSpPr>
          <p:cNvPr id="3746" name="Google Shape;533;p21"/>
          <p:cNvSpPr txBox="1"/>
          <p:nvPr/>
        </p:nvSpPr>
        <p:spPr>
          <a:xfrm>
            <a:off x="661491" y="3886201"/>
            <a:ext cx="5203926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62857"/>
              </a:lnSpc>
              <a:buClr>
                <a:srgbClr val="000000"/>
              </a:buClr>
              <a:buSzPts val="2500"/>
              <a:buFont typeface="Helvetica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Median = 9</a:t>
            </a:r>
          </a:p>
        </p:txBody>
      </p:sp>
      <p:sp>
        <p:nvSpPr>
          <p:cNvPr id="3747" name="Google Shape;534;p21"/>
          <p:cNvSpPr txBox="1"/>
          <p:nvPr/>
        </p:nvSpPr>
        <p:spPr>
          <a:xfrm>
            <a:off x="661491" y="4254698"/>
            <a:ext cx="5203926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62857"/>
              </a:lnSpc>
              <a:buClr>
                <a:srgbClr val="000000"/>
              </a:buClr>
              <a:buSzPts val="2500"/>
              <a:buFont typeface="Helvetica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Mode = 10</a:t>
            </a:r>
          </a:p>
        </p:txBody>
      </p:sp>
      <p:sp>
        <p:nvSpPr>
          <p:cNvPr id="3748" name="Google Shape;535;p21"/>
          <p:cNvSpPr txBox="1"/>
          <p:nvPr/>
        </p:nvSpPr>
        <p:spPr>
          <a:xfrm>
            <a:off x="661491" y="4623197"/>
            <a:ext cx="5203926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62857"/>
              </a:lnSpc>
              <a:buClr>
                <a:srgbClr val="000000"/>
              </a:buClr>
              <a:buSzPts val="2500"/>
              <a:buFont typeface="Helvetica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Range = 6</a:t>
            </a:r>
          </a:p>
        </p:txBody>
      </p:sp>
      <p:sp>
        <p:nvSpPr>
          <p:cNvPr id="3749" name="Google Shape;536;p21"/>
          <p:cNvSpPr txBox="1"/>
          <p:nvPr/>
        </p:nvSpPr>
        <p:spPr>
          <a:xfrm>
            <a:off x="661491" y="4991695"/>
            <a:ext cx="5203926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62857"/>
              </a:lnSpc>
              <a:buClr>
                <a:srgbClr val="000000"/>
              </a:buClr>
              <a:buSzPts val="2500"/>
              <a:buFont typeface="Helvetica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Possible outlier: 4</a:t>
            </a:r>
          </a:p>
        </p:txBody>
      </p:sp>
      <p:sp>
        <p:nvSpPr>
          <p:cNvPr id="3750" name="Google Shape;537;p21"/>
          <p:cNvSpPr txBox="1"/>
          <p:nvPr/>
        </p:nvSpPr>
        <p:spPr>
          <a:xfrm>
            <a:off x="6149319" y="2991737"/>
            <a:ext cx="2362697" cy="360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2083"/>
              <a:t>What This Tells Us</a:t>
            </a:r>
          </a:p>
        </p:txBody>
      </p:sp>
      <p:sp>
        <p:nvSpPr>
          <p:cNvPr id="3751" name="Google Shape;538;p21"/>
          <p:cNvSpPr txBox="1"/>
          <p:nvPr/>
        </p:nvSpPr>
        <p:spPr>
          <a:xfrm>
            <a:off x="5761433" y="3479139"/>
            <a:ext cx="5203925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62857"/>
              </a:lnSpc>
              <a:buClr>
                <a:srgbClr val="000000"/>
              </a:buClr>
              <a:buSzPts val="2500"/>
              <a:buFont typeface="Helvetica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Average performance around 8-9 points</a:t>
            </a:r>
          </a:p>
        </p:txBody>
      </p:sp>
      <p:sp>
        <p:nvSpPr>
          <p:cNvPr id="3752" name="Google Shape;539;p21"/>
          <p:cNvSpPr txBox="1"/>
          <p:nvPr/>
        </p:nvSpPr>
        <p:spPr>
          <a:xfrm>
            <a:off x="5761433" y="3847636"/>
            <a:ext cx="5203925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62857"/>
              </a:lnSpc>
              <a:buClr>
                <a:srgbClr val="000000"/>
              </a:buClr>
              <a:buSzPts val="2500"/>
              <a:buFont typeface="Helvetica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Half scored 9 or above</a:t>
            </a:r>
          </a:p>
        </p:txBody>
      </p:sp>
      <p:sp>
        <p:nvSpPr>
          <p:cNvPr id="3753" name="Google Shape;540;p21"/>
          <p:cNvSpPr txBox="1"/>
          <p:nvPr/>
        </p:nvSpPr>
        <p:spPr>
          <a:xfrm>
            <a:off x="5761433" y="4216136"/>
            <a:ext cx="5203925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62857"/>
              </a:lnSpc>
              <a:buClr>
                <a:srgbClr val="000000"/>
              </a:buClr>
              <a:buSzPts val="2500"/>
              <a:buFont typeface="Helvetica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Most common score was perfect (10)</a:t>
            </a:r>
          </a:p>
        </p:txBody>
      </p:sp>
      <p:sp>
        <p:nvSpPr>
          <p:cNvPr id="3754" name="Google Shape;541;p21"/>
          <p:cNvSpPr txBox="1"/>
          <p:nvPr/>
        </p:nvSpPr>
        <p:spPr>
          <a:xfrm>
            <a:off x="5761433" y="4584635"/>
            <a:ext cx="5203925" cy="641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buClr>
                <a:srgbClr val="000000"/>
              </a:buClr>
              <a:buSzPts val="2500"/>
              <a:buFont typeface="Helvetica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Moderate spread between highest and lowest</a:t>
            </a:r>
          </a:p>
        </p:txBody>
      </p:sp>
      <p:sp>
        <p:nvSpPr>
          <p:cNvPr id="3755" name="Google Shape;542;p21"/>
          <p:cNvSpPr txBox="1"/>
          <p:nvPr/>
        </p:nvSpPr>
        <p:spPr>
          <a:xfrm>
            <a:off x="5761433" y="5282351"/>
            <a:ext cx="5203925" cy="641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buClr>
                <a:srgbClr val="000000"/>
              </a:buClr>
              <a:buSzPts val="2500"/>
              <a:buFont typeface="Helvetica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One student struggled significantly more than others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3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3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5" grpId="0" animBg="1" advAuto="0"/>
      <p:bldP spid="3746" grpId="0" animBg="1" advAuto="0"/>
      <p:bldP spid="3747" grpId="0" animBg="1" advAuto="0"/>
      <p:bldP spid="3748" grpId="0" animBg="1" advAuto="0"/>
      <p:bldP spid="3749" grpId="0" animBg="1" advAuto="0"/>
      <p:bldP spid="3751" grpId="0" animBg="1" advAuto="0"/>
      <p:bldP spid="3752" grpId="0" animBg="1" advAuto="0"/>
      <p:bldP spid="3753" grpId="0" animBg="1" advAuto="0"/>
      <p:bldP spid="3754" grpId="0" animBg="1" advAuto="0"/>
      <p:bldP spid="3755" grpId="0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7" name="Google Shape;548;p22"/>
          <p:cNvSpPr txBox="1"/>
          <p:nvPr/>
        </p:nvSpPr>
        <p:spPr>
          <a:xfrm>
            <a:off x="661491" y="1042591"/>
            <a:ext cx="9447793" cy="635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4719"/>
              </a:lnSpc>
              <a:defRPr sz="4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3667"/>
              <a:t>Identifying Trends and Patterns</a:t>
            </a:r>
          </a:p>
        </p:txBody>
      </p:sp>
      <p:sp>
        <p:nvSpPr>
          <p:cNvPr id="3758" name="Google Shape;549;p22"/>
          <p:cNvSpPr txBox="1"/>
          <p:nvPr/>
        </p:nvSpPr>
        <p:spPr>
          <a:xfrm>
            <a:off x="1547713" y="2384624"/>
            <a:ext cx="236269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2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2000"/>
              <a:t>Trends Over Time</a:t>
            </a:r>
          </a:p>
        </p:txBody>
      </p:sp>
      <p:sp>
        <p:nvSpPr>
          <p:cNvPr id="3759" name="Google Shape;550;p22"/>
          <p:cNvSpPr txBox="1"/>
          <p:nvPr/>
        </p:nvSpPr>
        <p:spPr>
          <a:xfrm>
            <a:off x="661492" y="2793306"/>
            <a:ext cx="3248919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Upward, downward, or flat direction of change.</a:t>
            </a:r>
          </a:p>
        </p:txBody>
      </p:sp>
      <p:pic>
        <p:nvPicPr>
          <p:cNvPr id="3760" name="Google Shape;551;p22" descr="Google Shape;551;p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877" y="2011264"/>
            <a:ext cx="3804147" cy="38041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61" name="Google Shape;552;p22" descr="Google Shape;552;p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943" y="2647157"/>
            <a:ext cx="282774" cy="353518"/>
          </a:xfrm>
          <a:prstGeom prst="rect">
            <a:avLst/>
          </a:prstGeom>
          <a:ln w="12700">
            <a:miter lim="400000"/>
          </a:ln>
        </p:spPr>
      </p:pic>
      <p:sp>
        <p:nvSpPr>
          <p:cNvPr id="3762" name="Google Shape;553;p22"/>
          <p:cNvSpPr txBox="1"/>
          <p:nvPr/>
        </p:nvSpPr>
        <p:spPr>
          <a:xfrm>
            <a:off x="952714" y="4596938"/>
            <a:ext cx="3090648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2000"/>
              <a:t>Patterns in Categories</a:t>
            </a:r>
          </a:p>
        </p:txBody>
      </p:sp>
      <p:pic>
        <p:nvPicPr>
          <p:cNvPr id="3763" name="Google Shape;555;p22" descr="Google Shape;555;p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877" y="2011264"/>
            <a:ext cx="3804147" cy="38041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64" name="Google Shape;556;p22" descr="Google Shape;556;p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3837" y="2970906"/>
            <a:ext cx="282774" cy="353518"/>
          </a:xfrm>
          <a:prstGeom prst="rect">
            <a:avLst/>
          </a:prstGeom>
          <a:ln w="12700">
            <a:miter lim="400000"/>
          </a:ln>
        </p:spPr>
      </p:pic>
      <p:sp>
        <p:nvSpPr>
          <p:cNvPr id="3765" name="Google Shape;557;p22"/>
          <p:cNvSpPr txBox="1"/>
          <p:nvPr/>
        </p:nvSpPr>
        <p:spPr>
          <a:xfrm>
            <a:off x="8380359" y="2291491"/>
            <a:ext cx="355408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2000"/>
              <a:t>Cycles and Seasonality</a:t>
            </a:r>
          </a:p>
        </p:txBody>
      </p:sp>
      <p:sp>
        <p:nvSpPr>
          <p:cNvPr id="3766" name="Google Shape;558;p22"/>
          <p:cNvSpPr txBox="1"/>
          <p:nvPr/>
        </p:nvSpPr>
        <p:spPr>
          <a:xfrm>
            <a:off x="8380361" y="2742505"/>
            <a:ext cx="3249018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Repeating patterns at regular intervals.</a:t>
            </a:r>
          </a:p>
        </p:txBody>
      </p:sp>
      <p:pic>
        <p:nvPicPr>
          <p:cNvPr id="3767" name="Google Shape;559;p22" descr="Google Shape;559;p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3877" y="2011264"/>
            <a:ext cx="3804147" cy="38041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68" name="Google Shape;560;p22" descr="Google Shape;560;p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086" y="4825802"/>
            <a:ext cx="282774" cy="353518"/>
          </a:xfrm>
          <a:prstGeom prst="rect">
            <a:avLst/>
          </a:prstGeom>
          <a:ln w="12700">
            <a:miter lim="400000"/>
          </a:ln>
        </p:spPr>
      </p:pic>
      <p:sp>
        <p:nvSpPr>
          <p:cNvPr id="3769" name="Google Shape;561;p22"/>
          <p:cNvSpPr txBox="1"/>
          <p:nvPr/>
        </p:nvSpPr>
        <p:spPr>
          <a:xfrm>
            <a:off x="8622479" y="4491303"/>
            <a:ext cx="236269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2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2000"/>
              <a:t>Clusters and Gaps</a:t>
            </a:r>
          </a:p>
        </p:txBody>
      </p:sp>
      <p:pic>
        <p:nvPicPr>
          <p:cNvPr id="3770" name="Google Shape;563;p22" descr="Google Shape;563;p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3877" y="2011264"/>
            <a:ext cx="3804147" cy="38041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71" name="Google Shape;564;p22" descr="Google Shape;564;p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5192" y="4502050"/>
            <a:ext cx="282774" cy="35351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3" name="Google Shape;570;p23"/>
          <p:cNvSpPr txBox="1"/>
          <p:nvPr/>
        </p:nvSpPr>
        <p:spPr>
          <a:xfrm>
            <a:off x="446782" y="351035"/>
            <a:ext cx="3191670" cy="433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30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2500"/>
              <a:t>Trends Over Time</a:t>
            </a:r>
          </a:p>
        </p:txBody>
      </p:sp>
      <p:pic>
        <p:nvPicPr>
          <p:cNvPr id="3774" name="Google Shape;571;p23" descr="Google Shape;571;p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765" y="1005283"/>
            <a:ext cx="8604453" cy="4818462"/>
          </a:xfrm>
          <a:prstGeom prst="rect">
            <a:avLst/>
          </a:prstGeom>
          <a:ln w="12700">
            <a:miter lim="400000"/>
          </a:ln>
        </p:spPr>
      </p:pic>
      <p:sp>
        <p:nvSpPr>
          <p:cNvPr id="3775" name="Google Shape;570;p23"/>
          <p:cNvSpPr txBox="1"/>
          <p:nvPr/>
        </p:nvSpPr>
        <p:spPr>
          <a:xfrm>
            <a:off x="1421348" y="1473808"/>
            <a:ext cx="3077408" cy="259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500"/>
              <a:t>Temperature in Celcius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7" name="Google Shape;570;p23"/>
          <p:cNvSpPr txBox="1"/>
          <p:nvPr/>
        </p:nvSpPr>
        <p:spPr>
          <a:xfrm>
            <a:off x="446782" y="351035"/>
            <a:ext cx="3191670" cy="433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30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2500"/>
              <a:t>Trends Over Time</a:t>
            </a:r>
          </a:p>
        </p:txBody>
      </p:sp>
      <p:pic>
        <p:nvPicPr>
          <p:cNvPr id="3778" name="Google Shape;571;p23" descr="Google Shape;571;p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765" y="1005283"/>
            <a:ext cx="8604453" cy="4818462"/>
          </a:xfrm>
          <a:prstGeom prst="rect">
            <a:avLst/>
          </a:prstGeom>
          <a:ln w="12700">
            <a:miter lim="400000"/>
          </a:ln>
        </p:spPr>
      </p:pic>
      <p:sp>
        <p:nvSpPr>
          <p:cNvPr id="3779" name="Google Shape;572;p23"/>
          <p:cNvSpPr txBox="1"/>
          <p:nvPr/>
        </p:nvSpPr>
        <p:spPr>
          <a:xfrm>
            <a:off x="446781" y="1128141"/>
            <a:ext cx="2839759" cy="3949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333"/>
              <a:t>This temperature </a:t>
            </a:r>
          </a:p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333"/>
              <a:t>chart shows a clear </a:t>
            </a:r>
          </a:p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333"/>
              <a:t>seasonal cycle – </a:t>
            </a:r>
          </a:p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333"/>
              <a:t>temperatures rise in </a:t>
            </a:r>
          </a:p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333"/>
              <a:t>spring, peak in </a:t>
            </a:r>
          </a:p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333"/>
              <a:t>summer, then </a:t>
            </a:r>
          </a:p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333"/>
              <a:t>fall in autumn and </a:t>
            </a:r>
          </a:p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333"/>
              <a:t>winter. This </a:t>
            </a:r>
          </a:p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333"/>
              <a:t>cyclical </a:t>
            </a:r>
          </a:p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333"/>
              <a:t>pattern repeats </a:t>
            </a:r>
          </a:p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333"/>
              <a:t>annually.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1" name="Google Shape;548;p22"/>
          <p:cNvSpPr txBox="1"/>
          <p:nvPr/>
        </p:nvSpPr>
        <p:spPr>
          <a:xfrm>
            <a:off x="661491" y="1042591"/>
            <a:ext cx="9447793" cy="635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4719"/>
              </a:lnSpc>
              <a:defRPr sz="4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3667"/>
              <a:t>Identifying Trends and Patterns</a:t>
            </a:r>
          </a:p>
        </p:txBody>
      </p:sp>
      <p:sp>
        <p:nvSpPr>
          <p:cNvPr id="3782" name="Google Shape;549;p22"/>
          <p:cNvSpPr txBox="1"/>
          <p:nvPr/>
        </p:nvSpPr>
        <p:spPr>
          <a:xfrm>
            <a:off x="1547713" y="2384624"/>
            <a:ext cx="236269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2400" b="1">
                <a:solidFill>
                  <a:srgbClr val="A7A7A7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2000"/>
              <a:t>Trends Over Time</a:t>
            </a:r>
          </a:p>
        </p:txBody>
      </p:sp>
      <p:sp>
        <p:nvSpPr>
          <p:cNvPr id="3783" name="Google Shape;550;p22"/>
          <p:cNvSpPr txBox="1"/>
          <p:nvPr/>
        </p:nvSpPr>
        <p:spPr>
          <a:xfrm>
            <a:off x="661492" y="2793306"/>
            <a:ext cx="3248919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2400">
                <a:solidFill>
                  <a:srgbClr val="A7A7A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Upward, downward, or flat direction of change.</a:t>
            </a:r>
          </a:p>
        </p:txBody>
      </p:sp>
      <p:pic>
        <p:nvPicPr>
          <p:cNvPr id="3784" name="Google Shape;551;p22" descr="Google Shape;551;p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877" y="2011264"/>
            <a:ext cx="3804147" cy="38041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85" name="Google Shape;552;p22" descr="Google Shape;552;p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943" y="2647157"/>
            <a:ext cx="282774" cy="353518"/>
          </a:xfrm>
          <a:prstGeom prst="rect">
            <a:avLst/>
          </a:prstGeom>
          <a:ln w="12700">
            <a:miter lim="400000"/>
          </a:ln>
        </p:spPr>
      </p:pic>
      <p:sp>
        <p:nvSpPr>
          <p:cNvPr id="3786" name="Google Shape;553;p22"/>
          <p:cNvSpPr txBox="1"/>
          <p:nvPr/>
        </p:nvSpPr>
        <p:spPr>
          <a:xfrm>
            <a:off x="952714" y="4596938"/>
            <a:ext cx="3090648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2000"/>
              <a:t>Patterns in Categories</a:t>
            </a:r>
          </a:p>
        </p:txBody>
      </p:sp>
      <p:sp>
        <p:nvSpPr>
          <p:cNvPr id="3787" name="Google Shape;554;p22"/>
          <p:cNvSpPr txBox="1"/>
          <p:nvPr/>
        </p:nvSpPr>
        <p:spPr>
          <a:xfrm>
            <a:off x="952716" y="5097265"/>
            <a:ext cx="3249018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Consistent relationships between different categories.</a:t>
            </a:r>
          </a:p>
        </p:txBody>
      </p:sp>
      <p:pic>
        <p:nvPicPr>
          <p:cNvPr id="3788" name="Google Shape;555;p22" descr="Google Shape;555;p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877" y="2011264"/>
            <a:ext cx="3804147" cy="38041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89" name="Google Shape;556;p22" descr="Google Shape;556;p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3837" y="2970906"/>
            <a:ext cx="282774" cy="353518"/>
          </a:xfrm>
          <a:prstGeom prst="rect">
            <a:avLst/>
          </a:prstGeom>
          <a:ln w="12700">
            <a:miter lim="400000"/>
          </a:ln>
        </p:spPr>
      </p:pic>
      <p:sp>
        <p:nvSpPr>
          <p:cNvPr id="3790" name="Google Shape;557;p22"/>
          <p:cNvSpPr txBox="1"/>
          <p:nvPr/>
        </p:nvSpPr>
        <p:spPr>
          <a:xfrm>
            <a:off x="8380359" y="2291491"/>
            <a:ext cx="355408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rgbClr val="A7A7A7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2000"/>
              <a:t>Cycles and Seasonality</a:t>
            </a:r>
          </a:p>
        </p:txBody>
      </p:sp>
      <p:sp>
        <p:nvSpPr>
          <p:cNvPr id="3791" name="Google Shape;558;p22"/>
          <p:cNvSpPr txBox="1"/>
          <p:nvPr/>
        </p:nvSpPr>
        <p:spPr>
          <a:xfrm>
            <a:off x="8380361" y="2742505"/>
            <a:ext cx="3249018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rgbClr val="A7A7A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Repeating patterns at regular intervals.</a:t>
            </a:r>
          </a:p>
        </p:txBody>
      </p:sp>
      <p:pic>
        <p:nvPicPr>
          <p:cNvPr id="3792" name="Google Shape;559;p22" descr="Google Shape;559;p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3877" y="2011264"/>
            <a:ext cx="3804147" cy="38041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93" name="Google Shape;560;p22" descr="Google Shape;560;p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086" y="4825802"/>
            <a:ext cx="282774" cy="353518"/>
          </a:xfrm>
          <a:prstGeom prst="rect">
            <a:avLst/>
          </a:prstGeom>
          <a:ln w="12700">
            <a:miter lim="400000"/>
          </a:ln>
        </p:spPr>
      </p:pic>
      <p:sp>
        <p:nvSpPr>
          <p:cNvPr id="3794" name="Google Shape;561;p22"/>
          <p:cNvSpPr txBox="1"/>
          <p:nvPr/>
        </p:nvSpPr>
        <p:spPr>
          <a:xfrm>
            <a:off x="8622479" y="4491303"/>
            <a:ext cx="236269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2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2000"/>
              <a:t>Clusters and Gaps</a:t>
            </a:r>
          </a:p>
        </p:txBody>
      </p:sp>
      <p:pic>
        <p:nvPicPr>
          <p:cNvPr id="3795" name="Google Shape;563;p22" descr="Google Shape;563;p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3877" y="2011264"/>
            <a:ext cx="3804147" cy="38041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96" name="Google Shape;564;p22" descr="Google Shape;564;p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5192" y="4502050"/>
            <a:ext cx="282774" cy="35351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8" name="Google Shape;578;p24"/>
          <p:cNvSpPr txBox="1"/>
          <p:nvPr/>
        </p:nvSpPr>
        <p:spPr>
          <a:xfrm>
            <a:off x="446782" y="351035"/>
            <a:ext cx="3248323" cy="914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30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2500"/>
              <a:t>Patterns in Categories</a:t>
            </a:r>
          </a:p>
        </p:txBody>
      </p:sp>
      <p:pic>
        <p:nvPicPr>
          <p:cNvPr id="3799" name="Google Shape;579;p24" descr="Google Shape;579;p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357" y="1005284"/>
            <a:ext cx="8809862" cy="4634783"/>
          </a:xfrm>
          <a:prstGeom prst="rect">
            <a:avLst/>
          </a:prstGeom>
          <a:ln w="12700">
            <a:miter lim="400000"/>
          </a:ln>
        </p:spPr>
      </p:pic>
      <p:sp>
        <p:nvSpPr>
          <p:cNvPr id="3800" name="Google Shape;580;p24"/>
          <p:cNvSpPr/>
          <p:nvPr/>
        </p:nvSpPr>
        <p:spPr>
          <a:xfrm>
            <a:off x="3273723" y="6949280"/>
            <a:ext cx="127596" cy="127596"/>
          </a:xfrm>
          <a:prstGeom prst="roundRect">
            <a:avLst>
              <a:gd name="adj" fmla="val 11944"/>
            </a:avLst>
          </a:prstGeom>
          <a:solidFill>
            <a:srgbClr val="00314D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3801" name="Google Shape;581;p24"/>
          <p:cNvSpPr txBox="1"/>
          <p:nvPr/>
        </p:nvSpPr>
        <p:spPr>
          <a:xfrm>
            <a:off x="3452119" y="6949280"/>
            <a:ext cx="676078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000"/>
              <a:t>2021 Users</a:t>
            </a:r>
          </a:p>
        </p:txBody>
      </p:sp>
      <p:sp>
        <p:nvSpPr>
          <p:cNvPr id="3802" name="Google Shape;582;p24"/>
          <p:cNvSpPr/>
          <p:nvPr/>
        </p:nvSpPr>
        <p:spPr>
          <a:xfrm>
            <a:off x="5655766" y="6949280"/>
            <a:ext cx="127596" cy="127596"/>
          </a:xfrm>
          <a:prstGeom prst="roundRect">
            <a:avLst>
              <a:gd name="adj" fmla="val 11944"/>
            </a:avLst>
          </a:prstGeom>
          <a:solidFill>
            <a:srgbClr val="00517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3803" name="Google Shape;583;p24"/>
          <p:cNvSpPr txBox="1"/>
          <p:nvPr/>
        </p:nvSpPr>
        <p:spPr>
          <a:xfrm>
            <a:off x="5834162" y="6949280"/>
            <a:ext cx="701973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000"/>
              <a:t>2022 Users</a:t>
            </a:r>
          </a:p>
        </p:txBody>
      </p:sp>
      <p:sp>
        <p:nvSpPr>
          <p:cNvPr id="3804" name="Google Shape;584;p24"/>
          <p:cNvSpPr/>
          <p:nvPr/>
        </p:nvSpPr>
        <p:spPr>
          <a:xfrm>
            <a:off x="8063707" y="6949280"/>
            <a:ext cx="127596" cy="127596"/>
          </a:xfrm>
          <a:prstGeom prst="roundRect">
            <a:avLst>
              <a:gd name="adj" fmla="val 11944"/>
            </a:avLst>
          </a:prstGeom>
          <a:solidFill>
            <a:srgbClr val="0071A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3805" name="Google Shape;585;p24"/>
          <p:cNvSpPr txBox="1"/>
          <p:nvPr/>
        </p:nvSpPr>
        <p:spPr>
          <a:xfrm>
            <a:off x="8242101" y="6949280"/>
            <a:ext cx="70296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000"/>
              <a:t>2023 Users</a:t>
            </a:r>
          </a:p>
        </p:txBody>
      </p:sp>
      <p:sp>
        <p:nvSpPr>
          <p:cNvPr id="3806" name="Google Shape;586;p24"/>
          <p:cNvSpPr txBox="1"/>
          <p:nvPr/>
        </p:nvSpPr>
        <p:spPr>
          <a:xfrm>
            <a:off x="641727" y="5899769"/>
            <a:ext cx="11298437" cy="8309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90000"/>
              </a:lnSpc>
              <a:defRPr sz="2400">
                <a:latin typeface="Inter"/>
                <a:ea typeface="Inter"/>
                <a:cs typeface="Inter"/>
                <a:sym typeface="Inter"/>
              </a:defRPr>
            </a:pPr>
            <a:r>
              <a:rPr sz="2000"/>
              <a:t>This chart shows patterns in social media usage over three years. </a:t>
            </a:r>
          </a:p>
          <a:p>
            <a:pPr>
              <a:lnSpc>
                <a:spcPct val="90000"/>
              </a:lnSpc>
              <a:defRPr sz="2400">
                <a:latin typeface="Inter"/>
                <a:ea typeface="Inter"/>
                <a:cs typeface="Inter"/>
                <a:sym typeface="Inter"/>
              </a:defRPr>
            </a:pPr>
            <a:r>
              <a:rPr sz="2000"/>
              <a:t>Platform A is _______, Platform B is _________, Platform C shows steady _________, and </a:t>
            </a:r>
          </a:p>
          <a:p>
            <a:pPr>
              <a:lnSpc>
                <a:spcPct val="90000"/>
              </a:lnSpc>
              <a:defRPr sz="2400">
                <a:latin typeface="Inter"/>
                <a:ea typeface="Inter"/>
                <a:cs typeface="Inter"/>
                <a:sym typeface="Inter"/>
              </a:defRPr>
            </a:pPr>
            <a:r>
              <a:rPr sz="2000"/>
              <a:t>Platform D is ______________.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8" name="Google Shape;578;p24"/>
          <p:cNvSpPr txBox="1"/>
          <p:nvPr/>
        </p:nvSpPr>
        <p:spPr>
          <a:xfrm>
            <a:off x="446782" y="351035"/>
            <a:ext cx="3248323" cy="914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30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2500"/>
              <a:t>Patterns in Categories</a:t>
            </a:r>
          </a:p>
        </p:txBody>
      </p:sp>
      <p:pic>
        <p:nvPicPr>
          <p:cNvPr id="3809" name="Google Shape;579;p24" descr="Google Shape;579;p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357" y="1005284"/>
            <a:ext cx="8809862" cy="4634783"/>
          </a:xfrm>
          <a:prstGeom prst="rect">
            <a:avLst/>
          </a:prstGeom>
          <a:ln w="12700">
            <a:miter lim="400000"/>
          </a:ln>
        </p:spPr>
      </p:pic>
      <p:sp>
        <p:nvSpPr>
          <p:cNvPr id="3810" name="Google Shape;580;p24"/>
          <p:cNvSpPr/>
          <p:nvPr/>
        </p:nvSpPr>
        <p:spPr>
          <a:xfrm>
            <a:off x="3273723" y="6949280"/>
            <a:ext cx="127596" cy="127596"/>
          </a:xfrm>
          <a:prstGeom prst="roundRect">
            <a:avLst>
              <a:gd name="adj" fmla="val 11944"/>
            </a:avLst>
          </a:prstGeom>
          <a:solidFill>
            <a:srgbClr val="00314D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3811" name="Google Shape;581;p24"/>
          <p:cNvSpPr txBox="1"/>
          <p:nvPr/>
        </p:nvSpPr>
        <p:spPr>
          <a:xfrm>
            <a:off x="3452119" y="6949280"/>
            <a:ext cx="676078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000"/>
              <a:t>2021 Users</a:t>
            </a:r>
          </a:p>
        </p:txBody>
      </p:sp>
      <p:sp>
        <p:nvSpPr>
          <p:cNvPr id="3812" name="Google Shape;582;p24"/>
          <p:cNvSpPr/>
          <p:nvPr/>
        </p:nvSpPr>
        <p:spPr>
          <a:xfrm>
            <a:off x="5655766" y="6949280"/>
            <a:ext cx="127596" cy="127596"/>
          </a:xfrm>
          <a:prstGeom prst="roundRect">
            <a:avLst>
              <a:gd name="adj" fmla="val 11944"/>
            </a:avLst>
          </a:prstGeom>
          <a:solidFill>
            <a:srgbClr val="00517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3813" name="Google Shape;583;p24"/>
          <p:cNvSpPr txBox="1"/>
          <p:nvPr/>
        </p:nvSpPr>
        <p:spPr>
          <a:xfrm>
            <a:off x="5834162" y="6949280"/>
            <a:ext cx="701973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000"/>
              <a:t>2022 Users</a:t>
            </a:r>
          </a:p>
        </p:txBody>
      </p:sp>
      <p:sp>
        <p:nvSpPr>
          <p:cNvPr id="3814" name="Google Shape;584;p24"/>
          <p:cNvSpPr/>
          <p:nvPr/>
        </p:nvSpPr>
        <p:spPr>
          <a:xfrm>
            <a:off x="8063707" y="6949280"/>
            <a:ext cx="127596" cy="127596"/>
          </a:xfrm>
          <a:prstGeom prst="roundRect">
            <a:avLst>
              <a:gd name="adj" fmla="val 11944"/>
            </a:avLst>
          </a:prstGeom>
          <a:solidFill>
            <a:srgbClr val="0071A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3815" name="Google Shape;585;p24"/>
          <p:cNvSpPr txBox="1"/>
          <p:nvPr/>
        </p:nvSpPr>
        <p:spPr>
          <a:xfrm>
            <a:off x="8242101" y="6949280"/>
            <a:ext cx="70296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000"/>
              <a:t>2023 Users</a:t>
            </a:r>
          </a:p>
        </p:txBody>
      </p:sp>
      <p:sp>
        <p:nvSpPr>
          <p:cNvPr id="3816" name="Google Shape;586;p24"/>
          <p:cNvSpPr txBox="1"/>
          <p:nvPr/>
        </p:nvSpPr>
        <p:spPr>
          <a:xfrm>
            <a:off x="641727" y="5899769"/>
            <a:ext cx="11298437" cy="8309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90000"/>
              </a:lnSpc>
              <a:defRPr sz="2400">
                <a:latin typeface="Inter"/>
                <a:ea typeface="Inter"/>
                <a:cs typeface="Inter"/>
                <a:sym typeface="Inter"/>
              </a:defRPr>
            </a:pPr>
            <a:r>
              <a:rPr sz="2000"/>
              <a:t>This chart shows patterns in social media usage over three years. </a:t>
            </a:r>
          </a:p>
          <a:p>
            <a:pPr>
              <a:lnSpc>
                <a:spcPct val="90000"/>
              </a:lnSpc>
              <a:defRPr sz="2400">
                <a:latin typeface="Inter"/>
                <a:ea typeface="Inter"/>
                <a:cs typeface="Inter"/>
                <a:sym typeface="Inter"/>
              </a:defRPr>
            </a:pPr>
            <a:r>
              <a:rPr sz="2000"/>
              <a:t>Platform A is declining, Platform B is growing rapidly, Platform C shows steady growth, and </a:t>
            </a:r>
          </a:p>
          <a:p>
            <a:pPr>
              <a:lnSpc>
                <a:spcPct val="90000"/>
              </a:lnSpc>
              <a:defRPr sz="2400">
                <a:latin typeface="Inter"/>
                <a:ea typeface="Inter"/>
                <a:cs typeface="Inter"/>
                <a:sym typeface="Inter"/>
              </a:defRPr>
            </a:pPr>
            <a:r>
              <a:rPr sz="2000"/>
              <a:t>Platform D is disappearing.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8" name="Google Shape;548;p22"/>
          <p:cNvSpPr txBox="1"/>
          <p:nvPr/>
        </p:nvSpPr>
        <p:spPr>
          <a:xfrm>
            <a:off x="661491" y="1042591"/>
            <a:ext cx="9447793" cy="635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4719"/>
              </a:lnSpc>
              <a:defRPr sz="4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3667"/>
              <a:t>Identifying Trends and Patterns</a:t>
            </a:r>
          </a:p>
        </p:txBody>
      </p:sp>
      <p:sp>
        <p:nvSpPr>
          <p:cNvPr id="3819" name="Google Shape;549;p22"/>
          <p:cNvSpPr txBox="1"/>
          <p:nvPr/>
        </p:nvSpPr>
        <p:spPr>
          <a:xfrm>
            <a:off x="1547713" y="2384624"/>
            <a:ext cx="236269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2400" b="1">
                <a:solidFill>
                  <a:srgbClr val="A7A7A7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2000"/>
              <a:t>Trends Over Time</a:t>
            </a:r>
          </a:p>
        </p:txBody>
      </p:sp>
      <p:sp>
        <p:nvSpPr>
          <p:cNvPr id="3820" name="Google Shape;550;p22"/>
          <p:cNvSpPr txBox="1"/>
          <p:nvPr/>
        </p:nvSpPr>
        <p:spPr>
          <a:xfrm>
            <a:off x="661492" y="2793306"/>
            <a:ext cx="3248919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2400">
                <a:solidFill>
                  <a:srgbClr val="A7A7A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Upward, downward, or flat direction of change.</a:t>
            </a:r>
          </a:p>
        </p:txBody>
      </p:sp>
      <p:pic>
        <p:nvPicPr>
          <p:cNvPr id="3821" name="Google Shape;551;p22" descr="Google Shape;551;p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877" y="2011264"/>
            <a:ext cx="3804147" cy="38041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822" name="Google Shape;552;p22" descr="Google Shape;552;p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943" y="2647157"/>
            <a:ext cx="282774" cy="353518"/>
          </a:xfrm>
          <a:prstGeom prst="rect">
            <a:avLst/>
          </a:prstGeom>
          <a:ln w="12700">
            <a:miter lim="400000"/>
          </a:ln>
        </p:spPr>
      </p:pic>
      <p:sp>
        <p:nvSpPr>
          <p:cNvPr id="3823" name="Google Shape;553;p22"/>
          <p:cNvSpPr txBox="1"/>
          <p:nvPr/>
        </p:nvSpPr>
        <p:spPr>
          <a:xfrm>
            <a:off x="952714" y="4596938"/>
            <a:ext cx="3090648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rgbClr val="A7A7A7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2000"/>
              <a:t>Patterns in Categories</a:t>
            </a:r>
          </a:p>
        </p:txBody>
      </p:sp>
      <p:sp>
        <p:nvSpPr>
          <p:cNvPr id="3824" name="Google Shape;554;p22"/>
          <p:cNvSpPr txBox="1"/>
          <p:nvPr/>
        </p:nvSpPr>
        <p:spPr>
          <a:xfrm>
            <a:off x="952716" y="5097265"/>
            <a:ext cx="3249018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rgbClr val="A7A7A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Consistent relationships between different categories.</a:t>
            </a:r>
          </a:p>
        </p:txBody>
      </p:sp>
      <p:pic>
        <p:nvPicPr>
          <p:cNvPr id="3825" name="Google Shape;555;p22" descr="Google Shape;555;p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877" y="2011264"/>
            <a:ext cx="3804147" cy="38041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826" name="Google Shape;556;p22" descr="Google Shape;556;p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3837" y="2970906"/>
            <a:ext cx="282774" cy="353518"/>
          </a:xfrm>
          <a:prstGeom prst="rect">
            <a:avLst/>
          </a:prstGeom>
          <a:ln w="12700">
            <a:miter lim="400000"/>
          </a:ln>
        </p:spPr>
      </p:pic>
      <p:sp>
        <p:nvSpPr>
          <p:cNvPr id="3827" name="Google Shape;557;p22"/>
          <p:cNvSpPr txBox="1"/>
          <p:nvPr/>
        </p:nvSpPr>
        <p:spPr>
          <a:xfrm>
            <a:off x="8380359" y="2291491"/>
            <a:ext cx="355408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rgbClr val="A7A7A7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2000"/>
              <a:t>Cycles and Seasonality</a:t>
            </a:r>
          </a:p>
        </p:txBody>
      </p:sp>
      <p:sp>
        <p:nvSpPr>
          <p:cNvPr id="3828" name="Google Shape;558;p22"/>
          <p:cNvSpPr txBox="1"/>
          <p:nvPr/>
        </p:nvSpPr>
        <p:spPr>
          <a:xfrm>
            <a:off x="8380361" y="2742505"/>
            <a:ext cx="3249018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rgbClr val="A7A7A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Repeating patterns at regular intervals.</a:t>
            </a:r>
          </a:p>
        </p:txBody>
      </p:sp>
      <p:pic>
        <p:nvPicPr>
          <p:cNvPr id="3829" name="Google Shape;559;p22" descr="Google Shape;559;p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3877" y="2011264"/>
            <a:ext cx="3804147" cy="38041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830" name="Google Shape;560;p22" descr="Google Shape;560;p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086" y="4825802"/>
            <a:ext cx="282774" cy="353518"/>
          </a:xfrm>
          <a:prstGeom prst="rect">
            <a:avLst/>
          </a:prstGeom>
          <a:ln w="12700">
            <a:miter lim="400000"/>
          </a:ln>
        </p:spPr>
      </p:pic>
      <p:sp>
        <p:nvSpPr>
          <p:cNvPr id="3831" name="Google Shape;561;p22"/>
          <p:cNvSpPr txBox="1"/>
          <p:nvPr/>
        </p:nvSpPr>
        <p:spPr>
          <a:xfrm>
            <a:off x="8622479" y="4491303"/>
            <a:ext cx="236269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2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2000"/>
              <a:t>Clusters and Gaps</a:t>
            </a:r>
          </a:p>
        </p:txBody>
      </p:sp>
      <p:sp>
        <p:nvSpPr>
          <p:cNvPr id="3832" name="Google Shape;562;p22"/>
          <p:cNvSpPr txBox="1"/>
          <p:nvPr/>
        </p:nvSpPr>
        <p:spPr>
          <a:xfrm>
            <a:off x="7736259" y="4899985"/>
            <a:ext cx="3248919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Groups of similar values or areas with no data.</a:t>
            </a:r>
          </a:p>
        </p:txBody>
      </p:sp>
      <p:pic>
        <p:nvPicPr>
          <p:cNvPr id="3833" name="Google Shape;563;p22" descr="Google Shape;563;p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3877" y="2011264"/>
            <a:ext cx="3804147" cy="38041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834" name="Google Shape;564;p22" descr="Google Shape;564;p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5192" y="4502050"/>
            <a:ext cx="282774" cy="35351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6" name="Google Shape;592;p25"/>
          <p:cNvSpPr txBox="1"/>
          <p:nvPr/>
        </p:nvSpPr>
        <p:spPr>
          <a:xfrm>
            <a:off x="661492" y="1044674"/>
            <a:ext cx="4725492" cy="635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4719"/>
              </a:lnSpc>
              <a:defRPr sz="4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3667"/>
              <a:t>Clusters and Gaps</a:t>
            </a:r>
          </a:p>
        </p:txBody>
      </p:sp>
      <p:sp>
        <p:nvSpPr>
          <p:cNvPr id="3837" name="Google Shape;593;p25"/>
          <p:cNvSpPr txBox="1"/>
          <p:nvPr/>
        </p:nvSpPr>
        <p:spPr>
          <a:xfrm>
            <a:off x="661491" y="2107804"/>
            <a:ext cx="2362698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What to Look For</a:t>
            </a:r>
          </a:p>
        </p:txBody>
      </p:sp>
      <p:sp>
        <p:nvSpPr>
          <p:cNvPr id="3838" name="Google Shape;594;p25"/>
          <p:cNvSpPr txBox="1"/>
          <p:nvPr/>
        </p:nvSpPr>
        <p:spPr>
          <a:xfrm>
            <a:off x="661491" y="2592090"/>
            <a:ext cx="5203926" cy="9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Clusters show where many data points bunch together, indicating common ranges or typical combinations.</a:t>
            </a:r>
          </a:p>
        </p:txBody>
      </p:sp>
      <p:sp>
        <p:nvSpPr>
          <p:cNvPr id="3839" name="Google Shape;595;p25"/>
          <p:cNvSpPr txBox="1"/>
          <p:nvPr/>
        </p:nvSpPr>
        <p:spPr>
          <a:xfrm>
            <a:off x="661491" y="3831125"/>
            <a:ext cx="5203926" cy="641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Gaps show ranges with few or no data points, revealing what might be rare or impossible.</a:t>
            </a:r>
          </a:p>
        </p:txBody>
      </p:sp>
      <p:sp>
        <p:nvSpPr>
          <p:cNvPr id="3840" name="Google Shape;596;p25"/>
          <p:cNvSpPr txBox="1"/>
          <p:nvPr/>
        </p:nvSpPr>
        <p:spPr>
          <a:xfrm>
            <a:off x="661491" y="5070161"/>
            <a:ext cx="5203926" cy="641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Both help identify natural groupings in your data.</a:t>
            </a:r>
          </a:p>
        </p:txBody>
      </p:sp>
      <p:pic>
        <p:nvPicPr>
          <p:cNvPr id="3841" name="Google Shape;597;p25" descr="Google Shape;597;p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933" y="2131418"/>
            <a:ext cx="5203925" cy="34692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3" name="Google Shape;603;p26"/>
          <p:cNvSpPr txBox="1"/>
          <p:nvPr/>
        </p:nvSpPr>
        <p:spPr>
          <a:xfrm>
            <a:off x="661492" y="695523"/>
            <a:ext cx="6485335" cy="635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4719"/>
              </a:lnSpc>
              <a:defRPr sz="4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3667"/>
              <a:t>Why Finding Patterns Matters</a:t>
            </a:r>
          </a:p>
        </p:txBody>
      </p:sp>
      <p:pic>
        <p:nvPicPr>
          <p:cNvPr id="3844" name="Google Shape;604;p26" descr="Google Shape;604;p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192" y="1664196"/>
            <a:ext cx="1345010" cy="1089125"/>
          </a:xfrm>
          <a:prstGeom prst="rect">
            <a:avLst/>
          </a:prstGeom>
          <a:ln w="12700">
            <a:miter lim="400000"/>
          </a:ln>
        </p:spPr>
      </p:pic>
      <p:pic>
        <p:nvPicPr>
          <p:cNvPr id="3845" name="Google Shape;605;p26" descr="Google Shape;605;p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5744" y="2177553"/>
            <a:ext cx="265808" cy="332185"/>
          </a:xfrm>
          <a:prstGeom prst="rect">
            <a:avLst/>
          </a:prstGeom>
          <a:ln w="12700">
            <a:miter lim="400000"/>
          </a:ln>
        </p:spPr>
      </p:pic>
      <p:sp>
        <p:nvSpPr>
          <p:cNvPr id="3846" name="Google Shape;606;p26"/>
          <p:cNvSpPr txBox="1"/>
          <p:nvPr/>
        </p:nvSpPr>
        <p:spPr>
          <a:xfrm>
            <a:off x="4240212" y="1853207"/>
            <a:ext cx="2362698" cy="333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6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2167"/>
              <a:t>Make Predictions</a:t>
            </a:r>
          </a:p>
        </p:txBody>
      </p:sp>
      <p:sp>
        <p:nvSpPr>
          <p:cNvPr id="3847" name="Google Shape;607;p26"/>
          <p:cNvSpPr txBox="1"/>
          <p:nvPr/>
        </p:nvSpPr>
        <p:spPr>
          <a:xfrm>
            <a:off x="4240212" y="2261890"/>
            <a:ext cx="6353332" cy="333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167"/>
              <a:t>Forecast future outcomes based on past patterns</a:t>
            </a:r>
          </a:p>
        </p:txBody>
      </p:sp>
      <p:sp>
        <p:nvSpPr>
          <p:cNvPr id="3848" name="Google Shape;608;p26"/>
          <p:cNvSpPr/>
          <p:nvPr/>
        </p:nvSpPr>
        <p:spPr>
          <a:xfrm>
            <a:off x="4098429" y="2764234"/>
            <a:ext cx="7384853" cy="12701"/>
          </a:xfrm>
          <a:prstGeom prst="roundRect">
            <a:avLst>
              <a:gd name="adj" fmla="val 50000"/>
            </a:avLst>
          </a:prstGeom>
          <a:solidFill>
            <a:srgbClr val="B2D3E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2600">
                <a:latin typeface="Arial"/>
                <a:ea typeface="Arial"/>
                <a:cs typeface="Arial"/>
                <a:sym typeface="Arial"/>
              </a:defRPr>
            </a:pPr>
            <a:endParaRPr sz="2167"/>
          </a:p>
        </p:txBody>
      </p:sp>
      <p:pic>
        <p:nvPicPr>
          <p:cNvPr id="3849" name="Google Shape;609;p26" descr="Google Shape;609;p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3686" y="2800548"/>
            <a:ext cx="2690019" cy="1089125"/>
          </a:xfrm>
          <a:prstGeom prst="rect">
            <a:avLst/>
          </a:prstGeom>
          <a:ln w="12700">
            <a:miter lim="400000"/>
          </a:ln>
        </p:spPr>
      </p:pic>
      <p:pic>
        <p:nvPicPr>
          <p:cNvPr id="3850" name="Google Shape;610;p26" descr="Google Shape;610;p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5744" y="3178968"/>
            <a:ext cx="265808" cy="332185"/>
          </a:xfrm>
          <a:prstGeom prst="rect">
            <a:avLst/>
          </a:prstGeom>
          <a:ln w="12700">
            <a:miter lim="400000"/>
          </a:ln>
        </p:spPr>
      </p:pic>
      <p:sp>
        <p:nvSpPr>
          <p:cNvPr id="3851" name="Google Shape;611;p26"/>
          <p:cNvSpPr txBox="1"/>
          <p:nvPr/>
        </p:nvSpPr>
        <p:spPr>
          <a:xfrm>
            <a:off x="4912717" y="2989560"/>
            <a:ext cx="2362697" cy="333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6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2167"/>
              <a:t>Inform Decisions</a:t>
            </a:r>
          </a:p>
        </p:txBody>
      </p:sp>
      <p:sp>
        <p:nvSpPr>
          <p:cNvPr id="3852" name="Google Shape;612;p26"/>
          <p:cNvSpPr txBox="1"/>
          <p:nvPr/>
        </p:nvSpPr>
        <p:spPr>
          <a:xfrm>
            <a:off x="4912717" y="3398243"/>
            <a:ext cx="5220227" cy="333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167"/>
              <a:t>Use data trends to guide choices</a:t>
            </a:r>
          </a:p>
        </p:txBody>
      </p:sp>
      <p:sp>
        <p:nvSpPr>
          <p:cNvPr id="3853" name="Google Shape;613;p26"/>
          <p:cNvSpPr/>
          <p:nvPr/>
        </p:nvSpPr>
        <p:spPr>
          <a:xfrm>
            <a:off x="4770933" y="3900586"/>
            <a:ext cx="6712348" cy="12701"/>
          </a:xfrm>
          <a:prstGeom prst="roundRect">
            <a:avLst>
              <a:gd name="adj" fmla="val 50000"/>
            </a:avLst>
          </a:prstGeom>
          <a:solidFill>
            <a:srgbClr val="B2D3E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2600">
                <a:latin typeface="Arial"/>
                <a:ea typeface="Arial"/>
                <a:cs typeface="Arial"/>
                <a:sym typeface="Arial"/>
              </a:defRPr>
            </a:pPr>
            <a:endParaRPr sz="2167"/>
          </a:p>
        </p:txBody>
      </p:sp>
      <p:pic>
        <p:nvPicPr>
          <p:cNvPr id="3854" name="Google Shape;614;p26" descr="Google Shape;614;p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1181" y="3936901"/>
            <a:ext cx="4035029" cy="1089125"/>
          </a:xfrm>
          <a:prstGeom prst="rect">
            <a:avLst/>
          </a:prstGeom>
          <a:ln w="12700">
            <a:miter lim="400000"/>
          </a:ln>
        </p:spPr>
      </p:pic>
      <p:pic>
        <p:nvPicPr>
          <p:cNvPr id="3855" name="Google Shape;615;p26" descr="Google Shape;615;p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5744" y="4315321"/>
            <a:ext cx="265808" cy="332185"/>
          </a:xfrm>
          <a:prstGeom prst="rect">
            <a:avLst/>
          </a:prstGeom>
          <a:ln w="12700">
            <a:miter lim="400000"/>
          </a:ln>
        </p:spPr>
      </p:pic>
      <p:sp>
        <p:nvSpPr>
          <p:cNvPr id="3856" name="Google Shape;616;p26"/>
          <p:cNvSpPr txBox="1"/>
          <p:nvPr/>
        </p:nvSpPr>
        <p:spPr>
          <a:xfrm>
            <a:off x="5585222" y="4125913"/>
            <a:ext cx="3781307" cy="333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6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2167"/>
              <a:t>Discover Relationships</a:t>
            </a:r>
          </a:p>
        </p:txBody>
      </p:sp>
      <p:sp>
        <p:nvSpPr>
          <p:cNvPr id="3857" name="Google Shape;617;p26"/>
          <p:cNvSpPr txBox="1"/>
          <p:nvPr/>
        </p:nvSpPr>
        <p:spPr>
          <a:xfrm>
            <a:off x="5585222" y="4534594"/>
            <a:ext cx="5617146" cy="333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167"/>
              <a:t>Identify connections between variables</a:t>
            </a:r>
          </a:p>
        </p:txBody>
      </p:sp>
      <p:sp>
        <p:nvSpPr>
          <p:cNvPr id="3858" name="Google Shape;618;p26"/>
          <p:cNvSpPr/>
          <p:nvPr/>
        </p:nvSpPr>
        <p:spPr>
          <a:xfrm>
            <a:off x="5443439" y="5036940"/>
            <a:ext cx="6039843" cy="12701"/>
          </a:xfrm>
          <a:prstGeom prst="roundRect">
            <a:avLst>
              <a:gd name="adj" fmla="val 50000"/>
            </a:avLst>
          </a:prstGeom>
          <a:solidFill>
            <a:srgbClr val="B2D3E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2600">
                <a:latin typeface="Arial"/>
                <a:ea typeface="Arial"/>
                <a:cs typeface="Arial"/>
                <a:sym typeface="Arial"/>
              </a:defRPr>
            </a:pPr>
            <a:endParaRPr sz="2167"/>
          </a:p>
        </p:txBody>
      </p:sp>
      <p:pic>
        <p:nvPicPr>
          <p:cNvPr id="3859" name="Google Shape;619;p26" descr="Google Shape;619;p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579" y="5073253"/>
            <a:ext cx="5380138" cy="1089125"/>
          </a:xfrm>
          <a:prstGeom prst="rect">
            <a:avLst/>
          </a:prstGeom>
          <a:ln w="12700">
            <a:miter lim="400000"/>
          </a:ln>
        </p:spPr>
      </p:pic>
      <p:pic>
        <p:nvPicPr>
          <p:cNvPr id="3860" name="Google Shape;620;p26" descr="Google Shape;620;p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45644" y="5451673"/>
            <a:ext cx="265808" cy="332185"/>
          </a:xfrm>
          <a:prstGeom prst="rect">
            <a:avLst/>
          </a:prstGeom>
          <a:ln w="12700">
            <a:miter lim="400000"/>
          </a:ln>
        </p:spPr>
      </p:pic>
      <p:sp>
        <p:nvSpPr>
          <p:cNvPr id="3861" name="Google Shape;621;p26"/>
          <p:cNvSpPr txBox="1"/>
          <p:nvPr/>
        </p:nvSpPr>
        <p:spPr>
          <a:xfrm>
            <a:off x="6257726" y="5262265"/>
            <a:ext cx="4411268" cy="333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6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2167"/>
              <a:t>Understand Complex Systems</a:t>
            </a:r>
          </a:p>
        </p:txBody>
      </p:sp>
      <p:sp>
        <p:nvSpPr>
          <p:cNvPr id="3862" name="Google Shape;622;p26"/>
          <p:cNvSpPr txBox="1"/>
          <p:nvPr/>
        </p:nvSpPr>
        <p:spPr>
          <a:xfrm>
            <a:off x="6257726" y="5670946"/>
            <a:ext cx="4850663" cy="333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167"/>
              <a:t>See how different factors interact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4" name="Google Shape;628;p27"/>
          <p:cNvSpPr txBox="1"/>
          <p:nvPr/>
        </p:nvSpPr>
        <p:spPr>
          <a:xfrm>
            <a:off x="661492" y="1492944"/>
            <a:ext cx="8550346" cy="635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4719"/>
              </a:lnSpc>
              <a:defRPr sz="4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3667"/>
              <a:t>Correlation vs. Causation</a:t>
            </a:r>
          </a:p>
        </p:txBody>
      </p:sp>
      <p:sp>
        <p:nvSpPr>
          <p:cNvPr id="3865" name="Google Shape;629;p27"/>
          <p:cNvSpPr txBox="1"/>
          <p:nvPr/>
        </p:nvSpPr>
        <p:spPr>
          <a:xfrm>
            <a:off x="661491" y="2556073"/>
            <a:ext cx="2362698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Correlation</a:t>
            </a:r>
          </a:p>
        </p:txBody>
      </p:sp>
      <p:sp>
        <p:nvSpPr>
          <p:cNvPr id="3866" name="Google Shape;630;p27"/>
          <p:cNvSpPr txBox="1"/>
          <p:nvPr/>
        </p:nvSpPr>
        <p:spPr>
          <a:xfrm>
            <a:off x="661491" y="3040360"/>
            <a:ext cx="5203926" cy="507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When two variables change together - as one increases or decreases, so does the other.</a:t>
            </a:r>
          </a:p>
        </p:txBody>
      </p:sp>
      <p:sp>
        <p:nvSpPr>
          <p:cNvPr id="3867" name="Google Shape;631;p27"/>
          <p:cNvSpPr txBox="1"/>
          <p:nvPr/>
        </p:nvSpPr>
        <p:spPr>
          <a:xfrm>
            <a:off x="661491" y="3815259"/>
            <a:ext cx="5203926" cy="507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Example: Ice cream sales and sunburns both increase on hot days.</a:t>
            </a:r>
          </a:p>
        </p:txBody>
      </p:sp>
      <p:sp>
        <p:nvSpPr>
          <p:cNvPr id="3868" name="Google Shape;632;p27"/>
          <p:cNvSpPr txBox="1"/>
          <p:nvPr/>
        </p:nvSpPr>
        <p:spPr>
          <a:xfrm>
            <a:off x="661491" y="4590156"/>
            <a:ext cx="5203926" cy="507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Just because things happen together doesn't mean one causes the other!</a:t>
            </a:r>
          </a:p>
        </p:txBody>
      </p:sp>
      <p:sp>
        <p:nvSpPr>
          <p:cNvPr id="3869" name="Google Shape;633;p27"/>
          <p:cNvSpPr txBox="1"/>
          <p:nvPr/>
        </p:nvSpPr>
        <p:spPr>
          <a:xfrm>
            <a:off x="6332933" y="2556073"/>
            <a:ext cx="2362697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Causation</a:t>
            </a:r>
          </a:p>
        </p:txBody>
      </p:sp>
      <p:sp>
        <p:nvSpPr>
          <p:cNvPr id="3870" name="Google Shape;634;p27"/>
          <p:cNvSpPr txBox="1"/>
          <p:nvPr/>
        </p:nvSpPr>
        <p:spPr>
          <a:xfrm>
            <a:off x="6332933" y="3040360"/>
            <a:ext cx="5203925" cy="507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When one event directly results from another - changing one variable produces a change in the other.</a:t>
            </a:r>
          </a:p>
        </p:txBody>
      </p:sp>
      <p:sp>
        <p:nvSpPr>
          <p:cNvPr id="3871" name="Google Shape;635;p27"/>
          <p:cNvSpPr txBox="1"/>
          <p:nvPr/>
        </p:nvSpPr>
        <p:spPr>
          <a:xfrm>
            <a:off x="6332933" y="4042668"/>
            <a:ext cx="5203925" cy="507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Example: Pushing the gas pedal causes a car to speed up.</a:t>
            </a:r>
          </a:p>
        </p:txBody>
      </p:sp>
      <p:sp>
        <p:nvSpPr>
          <p:cNvPr id="3872" name="Google Shape;636;p27"/>
          <p:cNvSpPr txBox="1"/>
          <p:nvPr/>
        </p:nvSpPr>
        <p:spPr>
          <a:xfrm>
            <a:off x="6332933" y="4797325"/>
            <a:ext cx="5203925" cy="507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Proving causation usually requires controlled experiments.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4" name="Google Shape;642;p28" descr="Google Shape;642;p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875" name="Google Shape;643;p28"/>
          <p:cNvSpPr txBox="1"/>
          <p:nvPr/>
        </p:nvSpPr>
        <p:spPr>
          <a:xfrm>
            <a:off x="661492" y="899021"/>
            <a:ext cx="6297018" cy="1340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4719"/>
              </a:lnSpc>
              <a:defRPr sz="4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3667"/>
              <a:t>Spurious Correlations: Coincidence, Not Causation</a:t>
            </a:r>
          </a:p>
        </p:txBody>
      </p:sp>
      <p:sp>
        <p:nvSpPr>
          <p:cNvPr id="3876" name="Google Shape;644;p28"/>
          <p:cNvSpPr/>
          <p:nvPr/>
        </p:nvSpPr>
        <p:spPr>
          <a:xfrm>
            <a:off x="661492" y="2363787"/>
            <a:ext cx="3054053" cy="2001937"/>
          </a:xfrm>
          <a:prstGeom prst="roundRect">
            <a:avLst>
              <a:gd name="adj" fmla="val 3966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3877" name="Google Shape;645;p28"/>
          <p:cNvSpPr txBox="1"/>
          <p:nvPr/>
        </p:nvSpPr>
        <p:spPr>
          <a:xfrm>
            <a:off x="856853" y="2559150"/>
            <a:ext cx="2663330" cy="67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Ice Cream and Shark Attacks</a:t>
            </a:r>
          </a:p>
        </p:txBody>
      </p:sp>
      <p:sp>
        <p:nvSpPr>
          <p:cNvPr id="3878" name="Google Shape;646;p28"/>
          <p:cNvSpPr txBox="1"/>
          <p:nvPr/>
        </p:nvSpPr>
        <p:spPr>
          <a:xfrm>
            <a:off x="856853" y="3263107"/>
            <a:ext cx="2663330" cy="1025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Both increase in summer, but buying ice cream doesn't attract sharks!</a:t>
            </a:r>
          </a:p>
        </p:txBody>
      </p:sp>
      <p:sp>
        <p:nvSpPr>
          <p:cNvPr id="3879" name="Google Shape;647;p28"/>
          <p:cNvSpPr/>
          <p:nvPr/>
        </p:nvSpPr>
        <p:spPr>
          <a:xfrm>
            <a:off x="3904556" y="2363787"/>
            <a:ext cx="3054053" cy="2001937"/>
          </a:xfrm>
          <a:prstGeom prst="roundRect">
            <a:avLst>
              <a:gd name="adj" fmla="val 3966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3880" name="Google Shape;648;p28"/>
          <p:cNvSpPr txBox="1"/>
          <p:nvPr/>
        </p:nvSpPr>
        <p:spPr>
          <a:xfrm>
            <a:off x="4099917" y="2559150"/>
            <a:ext cx="2663330" cy="67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Backpack Weight and Math Scores</a:t>
            </a:r>
          </a:p>
        </p:txBody>
      </p:sp>
      <p:sp>
        <p:nvSpPr>
          <p:cNvPr id="3881" name="Google Shape;649;p28"/>
          <p:cNvSpPr txBox="1"/>
          <p:nvPr/>
        </p:nvSpPr>
        <p:spPr>
          <a:xfrm>
            <a:off x="4099917" y="3263107"/>
            <a:ext cx="2663330" cy="1025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Heavier backpacks correlate with better scores, but weight doesn't cause learning.</a:t>
            </a:r>
          </a:p>
        </p:txBody>
      </p:sp>
      <p:sp>
        <p:nvSpPr>
          <p:cNvPr id="3882" name="Google Shape;650;p28"/>
          <p:cNvSpPr/>
          <p:nvPr/>
        </p:nvSpPr>
        <p:spPr>
          <a:xfrm>
            <a:off x="661492" y="4554736"/>
            <a:ext cx="6297018" cy="1404243"/>
          </a:xfrm>
          <a:prstGeom prst="roundRect">
            <a:avLst>
              <a:gd name="adj" fmla="val 5654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3883" name="Google Shape;651;p28"/>
          <p:cNvSpPr txBox="1"/>
          <p:nvPr/>
        </p:nvSpPr>
        <p:spPr>
          <a:xfrm>
            <a:off x="856853" y="4750098"/>
            <a:ext cx="2362698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Hidden Variables</a:t>
            </a:r>
          </a:p>
        </p:txBody>
      </p:sp>
      <p:sp>
        <p:nvSpPr>
          <p:cNvPr id="3884" name="Google Shape;652;p28"/>
          <p:cNvSpPr txBox="1"/>
          <p:nvPr/>
        </p:nvSpPr>
        <p:spPr>
          <a:xfrm>
            <a:off x="856854" y="5158781"/>
            <a:ext cx="5906293" cy="670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Often a third factor (like summer weather or study habits) explains both variables.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6" name="Google Shape;658;p29" descr="Google Shape;658;p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887" name="Google Shape;659;p29"/>
          <p:cNvSpPr txBox="1"/>
          <p:nvPr/>
        </p:nvSpPr>
        <p:spPr>
          <a:xfrm>
            <a:off x="661491" y="738088"/>
            <a:ext cx="5098059" cy="635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4719"/>
              </a:lnSpc>
              <a:defRPr sz="4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3667"/>
              <a:t>Determining Causation</a:t>
            </a:r>
          </a:p>
        </p:txBody>
      </p:sp>
      <p:sp>
        <p:nvSpPr>
          <p:cNvPr id="3888" name="Google Shape;660;p29"/>
          <p:cNvSpPr/>
          <p:nvPr/>
        </p:nvSpPr>
        <p:spPr>
          <a:xfrm>
            <a:off x="661492" y="1612206"/>
            <a:ext cx="141685" cy="1013519"/>
          </a:xfrm>
          <a:prstGeom prst="roundRect">
            <a:avLst>
              <a:gd name="adj" fmla="val 50000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3889" name="Google Shape;661;p29"/>
          <p:cNvSpPr txBox="1"/>
          <p:nvPr/>
        </p:nvSpPr>
        <p:spPr>
          <a:xfrm>
            <a:off x="1086645" y="1612206"/>
            <a:ext cx="4671029" cy="269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750"/>
              <a:t>Conduct Controlled Experiments</a:t>
            </a:r>
          </a:p>
        </p:txBody>
      </p:sp>
      <p:sp>
        <p:nvSpPr>
          <p:cNvPr id="3890" name="Google Shape;662;p29"/>
          <p:cNvSpPr txBox="1"/>
          <p:nvPr/>
        </p:nvSpPr>
        <p:spPr>
          <a:xfrm>
            <a:off x="1086643" y="2020887"/>
            <a:ext cx="5871867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Randomly assign subjects to treatment and control groups, keeping everything else the same.</a:t>
            </a:r>
          </a:p>
        </p:txBody>
      </p:sp>
      <p:sp>
        <p:nvSpPr>
          <p:cNvPr id="3891" name="Google Shape;663;p29"/>
          <p:cNvSpPr/>
          <p:nvPr/>
        </p:nvSpPr>
        <p:spPr>
          <a:xfrm>
            <a:off x="944959" y="2814737"/>
            <a:ext cx="141685" cy="1013520"/>
          </a:xfrm>
          <a:prstGeom prst="roundRect">
            <a:avLst>
              <a:gd name="adj" fmla="val 50000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3892" name="Google Shape;664;p29"/>
          <p:cNvSpPr txBox="1"/>
          <p:nvPr/>
        </p:nvSpPr>
        <p:spPr>
          <a:xfrm>
            <a:off x="1370111" y="2814737"/>
            <a:ext cx="2562128" cy="269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750"/>
              <a:t>Apply Critical Thinking</a:t>
            </a:r>
          </a:p>
        </p:txBody>
      </p:sp>
      <p:sp>
        <p:nvSpPr>
          <p:cNvPr id="3893" name="Google Shape;665;p29"/>
          <p:cNvSpPr txBox="1"/>
          <p:nvPr/>
        </p:nvSpPr>
        <p:spPr>
          <a:xfrm>
            <a:off x="1370111" y="3223419"/>
            <a:ext cx="5588398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Ask if there's a logical reason one variable could influence the other.</a:t>
            </a:r>
          </a:p>
        </p:txBody>
      </p:sp>
      <p:sp>
        <p:nvSpPr>
          <p:cNvPr id="3894" name="Google Shape;666;p29"/>
          <p:cNvSpPr/>
          <p:nvPr/>
        </p:nvSpPr>
        <p:spPr>
          <a:xfrm>
            <a:off x="1228527" y="4017268"/>
            <a:ext cx="141685" cy="711102"/>
          </a:xfrm>
          <a:prstGeom prst="roundRect">
            <a:avLst>
              <a:gd name="adj" fmla="val 50000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3895" name="Google Shape;667;p29"/>
          <p:cNvSpPr txBox="1"/>
          <p:nvPr/>
        </p:nvSpPr>
        <p:spPr>
          <a:xfrm>
            <a:off x="1653679" y="4017268"/>
            <a:ext cx="4153453" cy="269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750"/>
              <a:t>Consider Reverse Causation</a:t>
            </a:r>
          </a:p>
        </p:txBody>
      </p:sp>
      <p:sp>
        <p:nvSpPr>
          <p:cNvPr id="3896" name="Google Shape;668;p29"/>
          <p:cNvSpPr txBox="1"/>
          <p:nvPr/>
        </p:nvSpPr>
        <p:spPr>
          <a:xfrm>
            <a:off x="1653679" y="4425950"/>
            <a:ext cx="5304831" cy="269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Could B actually be causing A instead of A causing B?</a:t>
            </a:r>
          </a:p>
        </p:txBody>
      </p:sp>
      <p:sp>
        <p:nvSpPr>
          <p:cNvPr id="3897" name="Google Shape;669;p29"/>
          <p:cNvSpPr/>
          <p:nvPr/>
        </p:nvSpPr>
        <p:spPr>
          <a:xfrm>
            <a:off x="1512094" y="4917380"/>
            <a:ext cx="141685" cy="1013520"/>
          </a:xfrm>
          <a:prstGeom prst="roundRect">
            <a:avLst>
              <a:gd name="adj" fmla="val 50000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3898" name="Google Shape;670;p29"/>
          <p:cNvSpPr txBox="1"/>
          <p:nvPr/>
        </p:nvSpPr>
        <p:spPr>
          <a:xfrm>
            <a:off x="1937245" y="4917380"/>
            <a:ext cx="3788798" cy="269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750"/>
              <a:t>Look for Third Factors</a:t>
            </a:r>
          </a:p>
        </p:txBody>
      </p:sp>
      <p:sp>
        <p:nvSpPr>
          <p:cNvPr id="3899" name="Google Shape;671;p29"/>
          <p:cNvSpPr txBox="1"/>
          <p:nvPr/>
        </p:nvSpPr>
        <p:spPr>
          <a:xfrm>
            <a:off x="1937246" y="5326063"/>
            <a:ext cx="5021264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Could both variables be influenced by something else entirely?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" name="Google Shape;692;p31"/>
          <p:cNvSpPr txBox="1"/>
          <p:nvPr/>
        </p:nvSpPr>
        <p:spPr>
          <a:xfrm>
            <a:off x="661492" y="1492944"/>
            <a:ext cx="10869018" cy="635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4719"/>
              </a:lnSpc>
              <a:defRPr sz="4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3667"/>
              <a:t>Inferential Statistics: Beyond Description</a:t>
            </a:r>
          </a:p>
        </p:txBody>
      </p:sp>
      <p:sp>
        <p:nvSpPr>
          <p:cNvPr id="3902" name="Google Shape;693;p31"/>
          <p:cNvSpPr txBox="1"/>
          <p:nvPr/>
        </p:nvSpPr>
        <p:spPr>
          <a:xfrm>
            <a:off x="661492" y="2556073"/>
            <a:ext cx="4296193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What Is Inferential Statistics?</a:t>
            </a:r>
          </a:p>
        </p:txBody>
      </p:sp>
      <p:sp>
        <p:nvSpPr>
          <p:cNvPr id="3903" name="Google Shape;694;p31"/>
          <p:cNvSpPr txBox="1"/>
          <p:nvPr/>
        </p:nvSpPr>
        <p:spPr>
          <a:xfrm>
            <a:off x="661491" y="3040359"/>
            <a:ext cx="5203926" cy="590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Making conclusions that go beyond just describing your data.</a:t>
            </a:r>
          </a:p>
        </p:txBody>
      </p:sp>
      <p:sp>
        <p:nvSpPr>
          <p:cNvPr id="3904" name="Google Shape;695;p31"/>
          <p:cNvSpPr txBox="1"/>
          <p:nvPr/>
        </p:nvSpPr>
        <p:spPr>
          <a:xfrm>
            <a:off x="661491" y="3815259"/>
            <a:ext cx="5203926" cy="590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Helps determine if patterns are meaningful or just random chance.</a:t>
            </a:r>
          </a:p>
        </p:txBody>
      </p:sp>
      <p:sp>
        <p:nvSpPr>
          <p:cNvPr id="3905" name="Google Shape;696;p31"/>
          <p:cNvSpPr txBox="1"/>
          <p:nvPr/>
        </p:nvSpPr>
        <p:spPr>
          <a:xfrm>
            <a:off x="661491" y="4590156"/>
            <a:ext cx="5203926" cy="590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Uses probability to test hypotheses and make predictions.</a:t>
            </a:r>
          </a:p>
        </p:txBody>
      </p:sp>
      <p:sp>
        <p:nvSpPr>
          <p:cNvPr id="3906" name="Google Shape;697;p31"/>
          <p:cNvSpPr txBox="1"/>
          <p:nvPr/>
        </p:nvSpPr>
        <p:spPr>
          <a:xfrm>
            <a:off x="6332933" y="2556073"/>
            <a:ext cx="2362697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Example Question</a:t>
            </a:r>
          </a:p>
        </p:txBody>
      </p:sp>
      <p:sp>
        <p:nvSpPr>
          <p:cNvPr id="3907" name="Google Shape;698;p31"/>
          <p:cNvSpPr txBox="1"/>
          <p:nvPr/>
        </p:nvSpPr>
        <p:spPr>
          <a:xfrm>
            <a:off x="6332933" y="3040359"/>
            <a:ext cx="5203925" cy="590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You try a new study technique and your test score improves.</a:t>
            </a:r>
          </a:p>
        </p:txBody>
      </p:sp>
      <p:sp>
        <p:nvSpPr>
          <p:cNvPr id="3908" name="Google Shape;699;p31"/>
          <p:cNvSpPr txBox="1"/>
          <p:nvPr/>
        </p:nvSpPr>
        <p:spPr>
          <a:xfrm>
            <a:off x="6332933" y="3815259"/>
            <a:ext cx="5203925" cy="590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Was the technique effective, or did you just happen to get an easier test?</a:t>
            </a:r>
          </a:p>
        </p:txBody>
      </p:sp>
      <p:sp>
        <p:nvSpPr>
          <p:cNvPr id="3909" name="Google Shape;700;p31"/>
          <p:cNvSpPr txBox="1"/>
          <p:nvPr/>
        </p:nvSpPr>
        <p:spPr>
          <a:xfrm>
            <a:off x="6332933" y="4590156"/>
            <a:ext cx="5203925" cy="590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Inferential statistics helps answer this by measuring how likely the improvement was due to chance.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6" grpId="0" animBg="1" advAuto="0"/>
      <p:bldP spid="3907" grpId="0" animBg="1" advAuto="0"/>
      <p:bldP spid="3908" grpId="0" animBg="1" advAuto="0"/>
      <p:bldP spid="3909" grpId="0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1" name="Google Shape;706;p32" descr="Google Shape;706;p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08175" cy="6162262"/>
          </a:xfrm>
          <a:prstGeom prst="rect">
            <a:avLst/>
          </a:prstGeom>
          <a:ln w="12700">
            <a:miter lim="400000"/>
          </a:ln>
        </p:spPr>
      </p:pic>
      <p:sp>
        <p:nvSpPr>
          <p:cNvPr id="3912" name="Google Shape;707;p32"/>
          <p:cNvSpPr txBox="1"/>
          <p:nvPr/>
        </p:nvSpPr>
        <p:spPr>
          <a:xfrm>
            <a:off x="4756413" y="993912"/>
            <a:ext cx="7159308" cy="619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8571"/>
              </a:lnSpc>
              <a:defRPr sz="35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2917"/>
              <a:t>Hypotheses: Making Testable Claims</a:t>
            </a:r>
          </a:p>
        </p:txBody>
      </p:sp>
      <p:sp>
        <p:nvSpPr>
          <p:cNvPr id="3913" name="Google Shape;708;p32"/>
          <p:cNvSpPr/>
          <p:nvPr/>
        </p:nvSpPr>
        <p:spPr>
          <a:xfrm>
            <a:off x="4756413" y="1795636"/>
            <a:ext cx="3054053" cy="2727326"/>
          </a:xfrm>
          <a:prstGeom prst="roundRect">
            <a:avLst>
              <a:gd name="adj" fmla="val 2911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 sz="2200">
                <a:latin typeface="Arial"/>
                <a:ea typeface="Arial"/>
                <a:cs typeface="Arial"/>
                <a:sym typeface="Arial"/>
              </a:defRPr>
            </a:pPr>
            <a:endParaRPr sz="1833"/>
          </a:p>
        </p:txBody>
      </p:sp>
      <p:sp>
        <p:nvSpPr>
          <p:cNvPr id="3914" name="Google Shape;709;p32"/>
          <p:cNvSpPr txBox="1"/>
          <p:nvPr/>
        </p:nvSpPr>
        <p:spPr>
          <a:xfrm>
            <a:off x="4951774" y="1990997"/>
            <a:ext cx="2362697" cy="282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Null Hypothesis (H₀)</a:t>
            </a:r>
          </a:p>
        </p:txBody>
      </p:sp>
      <p:sp>
        <p:nvSpPr>
          <p:cNvPr id="3915" name="Google Shape;710;p32"/>
          <p:cNvSpPr txBox="1"/>
          <p:nvPr/>
        </p:nvSpPr>
        <p:spPr>
          <a:xfrm>
            <a:off x="4951774" y="2399679"/>
            <a:ext cx="2663330" cy="846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Claims nothing special is happening or there is no effect.</a:t>
            </a:r>
          </a:p>
        </p:txBody>
      </p:sp>
      <p:sp>
        <p:nvSpPr>
          <p:cNvPr id="3916" name="Google Shape;711;p32"/>
          <p:cNvSpPr txBox="1"/>
          <p:nvPr/>
        </p:nvSpPr>
        <p:spPr>
          <a:xfrm>
            <a:off x="4951774" y="3420342"/>
            <a:ext cx="2663330" cy="846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Example: "The new studying technique has no effect on scores."</a:t>
            </a:r>
          </a:p>
        </p:txBody>
      </p:sp>
      <p:sp>
        <p:nvSpPr>
          <p:cNvPr id="3917" name="Google Shape;712;p32"/>
          <p:cNvSpPr/>
          <p:nvPr/>
        </p:nvSpPr>
        <p:spPr>
          <a:xfrm>
            <a:off x="7999477" y="1795636"/>
            <a:ext cx="3054053" cy="2727326"/>
          </a:xfrm>
          <a:prstGeom prst="roundRect">
            <a:avLst>
              <a:gd name="adj" fmla="val 2911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 sz="2200">
                <a:latin typeface="Arial"/>
                <a:ea typeface="Arial"/>
                <a:cs typeface="Arial"/>
                <a:sym typeface="Arial"/>
              </a:defRPr>
            </a:pPr>
            <a:endParaRPr sz="1833"/>
          </a:p>
        </p:txBody>
      </p:sp>
      <p:sp>
        <p:nvSpPr>
          <p:cNvPr id="3918" name="Google Shape;713;p32"/>
          <p:cNvSpPr txBox="1"/>
          <p:nvPr/>
        </p:nvSpPr>
        <p:spPr>
          <a:xfrm>
            <a:off x="8194838" y="1990997"/>
            <a:ext cx="2663330" cy="564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Alternative Hypothesis (H₁)</a:t>
            </a:r>
          </a:p>
        </p:txBody>
      </p:sp>
      <p:sp>
        <p:nvSpPr>
          <p:cNvPr id="3919" name="Google Shape;714;p32"/>
          <p:cNvSpPr txBox="1"/>
          <p:nvPr/>
        </p:nvSpPr>
        <p:spPr>
          <a:xfrm>
            <a:off x="8194838" y="2694954"/>
            <a:ext cx="2663330" cy="564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What you're trying to find evidence for.</a:t>
            </a:r>
          </a:p>
        </p:txBody>
      </p:sp>
      <p:sp>
        <p:nvSpPr>
          <p:cNvPr id="3920" name="Google Shape;715;p32"/>
          <p:cNvSpPr txBox="1"/>
          <p:nvPr/>
        </p:nvSpPr>
        <p:spPr>
          <a:xfrm>
            <a:off x="8194838" y="3413198"/>
            <a:ext cx="2663330" cy="846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Example: "The new studying technique improves scores."</a:t>
            </a:r>
          </a:p>
        </p:txBody>
      </p:sp>
      <p:sp>
        <p:nvSpPr>
          <p:cNvPr id="3921" name="Google Shape;716;p32"/>
          <p:cNvSpPr/>
          <p:nvPr/>
        </p:nvSpPr>
        <p:spPr>
          <a:xfrm>
            <a:off x="4756413" y="4711972"/>
            <a:ext cx="6297018" cy="1404244"/>
          </a:xfrm>
          <a:prstGeom prst="roundRect">
            <a:avLst>
              <a:gd name="adj" fmla="val 5654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 sz="2200">
                <a:latin typeface="Arial"/>
                <a:ea typeface="Arial"/>
                <a:cs typeface="Arial"/>
                <a:sym typeface="Arial"/>
              </a:defRPr>
            </a:pPr>
            <a:endParaRPr sz="1833"/>
          </a:p>
        </p:txBody>
      </p:sp>
      <p:sp>
        <p:nvSpPr>
          <p:cNvPr id="3922" name="Google Shape;717;p32"/>
          <p:cNvSpPr txBox="1"/>
          <p:nvPr/>
        </p:nvSpPr>
        <p:spPr>
          <a:xfrm>
            <a:off x="4951774" y="4907335"/>
            <a:ext cx="2362697" cy="282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Testing Process</a:t>
            </a:r>
          </a:p>
        </p:txBody>
      </p:sp>
      <p:sp>
        <p:nvSpPr>
          <p:cNvPr id="3923" name="Google Shape;718;p32"/>
          <p:cNvSpPr txBox="1"/>
          <p:nvPr/>
        </p:nvSpPr>
        <p:spPr>
          <a:xfrm>
            <a:off x="4951775" y="5316016"/>
            <a:ext cx="5906294" cy="564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Collect data and analyze whether it supports the alternative or is consistent with the null.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5" name="Google Shape;724;p33"/>
          <p:cNvSpPr txBox="1"/>
          <p:nvPr/>
        </p:nvSpPr>
        <p:spPr>
          <a:xfrm>
            <a:off x="661492" y="1407914"/>
            <a:ext cx="8665900" cy="635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4719"/>
              </a:lnSpc>
              <a:defRPr sz="4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3667"/>
              <a:t>P-Values: Measuring Probability</a:t>
            </a:r>
          </a:p>
        </p:txBody>
      </p:sp>
      <p:sp>
        <p:nvSpPr>
          <p:cNvPr id="3926" name="Google Shape;725;p33"/>
          <p:cNvSpPr txBox="1"/>
          <p:nvPr/>
        </p:nvSpPr>
        <p:spPr>
          <a:xfrm>
            <a:off x="661491" y="2471043"/>
            <a:ext cx="2362698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What Is a P-Value?</a:t>
            </a:r>
          </a:p>
        </p:txBody>
      </p:sp>
      <p:sp>
        <p:nvSpPr>
          <p:cNvPr id="3927" name="Google Shape;726;p33"/>
          <p:cNvSpPr txBox="1"/>
          <p:nvPr/>
        </p:nvSpPr>
        <p:spPr>
          <a:xfrm>
            <a:off x="661491" y="2955330"/>
            <a:ext cx="5203926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A number describing how likely your data would occur by r________ chance if the null hypothesis were true.</a:t>
            </a:r>
          </a:p>
        </p:txBody>
      </p:sp>
      <p:sp>
        <p:nvSpPr>
          <p:cNvPr id="3928" name="Google Shape;727;p33"/>
          <p:cNvSpPr txBox="1"/>
          <p:nvPr/>
        </p:nvSpPr>
        <p:spPr>
          <a:xfrm>
            <a:off x="661491" y="3956976"/>
            <a:ext cx="5203926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Small p-value (typically below 0.__) suggests the result is unlikely due to chance.</a:t>
            </a:r>
          </a:p>
        </p:txBody>
      </p:sp>
      <p:sp>
        <p:nvSpPr>
          <p:cNvPr id="3929" name="Google Shape;728;p33"/>
          <p:cNvSpPr txBox="1"/>
          <p:nvPr/>
        </p:nvSpPr>
        <p:spPr>
          <a:xfrm>
            <a:off x="661491" y="4731874"/>
            <a:ext cx="5203926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Large p-value suggests the result could easily happen by chance.</a:t>
            </a:r>
          </a:p>
        </p:txBody>
      </p:sp>
      <p:sp>
        <p:nvSpPr>
          <p:cNvPr id="3930" name="Google Shape;729;p33"/>
          <p:cNvSpPr txBox="1"/>
          <p:nvPr/>
        </p:nvSpPr>
        <p:spPr>
          <a:xfrm>
            <a:off x="6332933" y="2471043"/>
            <a:ext cx="2362697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Coin Flip Example</a:t>
            </a:r>
          </a:p>
        </p:txBody>
      </p:sp>
      <p:sp>
        <p:nvSpPr>
          <p:cNvPr id="3931" name="Google Shape;730;p33"/>
          <p:cNvSpPr txBox="1"/>
          <p:nvPr/>
        </p:nvSpPr>
        <p:spPr>
          <a:xfrm>
            <a:off x="6332933" y="2955329"/>
            <a:ext cx="5203925" cy="269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Null hypothesis: Coin is fair (50% heads)</a:t>
            </a:r>
          </a:p>
        </p:txBody>
      </p:sp>
      <p:sp>
        <p:nvSpPr>
          <p:cNvPr id="3932" name="Google Shape;731;p33"/>
          <p:cNvSpPr txBox="1"/>
          <p:nvPr/>
        </p:nvSpPr>
        <p:spPr>
          <a:xfrm>
            <a:off x="6332933" y="3427809"/>
            <a:ext cx="5203925" cy="269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You flip 50 times and get 40 heads</a:t>
            </a:r>
          </a:p>
        </p:txBody>
      </p:sp>
      <p:sp>
        <p:nvSpPr>
          <p:cNvPr id="3933" name="Google Shape;732;p33"/>
          <p:cNvSpPr txBox="1"/>
          <p:nvPr/>
        </p:nvSpPr>
        <p:spPr>
          <a:xfrm>
            <a:off x="6332933" y="3900289"/>
            <a:ext cx="5203925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P-value would be very small because this outcome is unlikely with a fair coin</a:t>
            </a:r>
          </a:p>
        </p:txBody>
      </p:sp>
      <p:sp>
        <p:nvSpPr>
          <p:cNvPr id="3934" name="Google Shape;733;p33"/>
          <p:cNvSpPr txBox="1"/>
          <p:nvPr/>
        </p:nvSpPr>
        <p:spPr>
          <a:xfrm>
            <a:off x="6332933" y="4675188"/>
            <a:ext cx="5203925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Conclusion: Reject null hypothesis, coin is probably biased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6" name="Google Shape;724;p33"/>
          <p:cNvSpPr txBox="1"/>
          <p:nvPr/>
        </p:nvSpPr>
        <p:spPr>
          <a:xfrm>
            <a:off x="661492" y="1407914"/>
            <a:ext cx="8665900" cy="635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4719"/>
              </a:lnSpc>
              <a:defRPr sz="4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3667"/>
              <a:t>P-Values: Measuring Probability</a:t>
            </a:r>
          </a:p>
        </p:txBody>
      </p:sp>
      <p:sp>
        <p:nvSpPr>
          <p:cNvPr id="3937" name="Google Shape;725;p33"/>
          <p:cNvSpPr txBox="1"/>
          <p:nvPr/>
        </p:nvSpPr>
        <p:spPr>
          <a:xfrm>
            <a:off x="661491" y="2471043"/>
            <a:ext cx="2362698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What Is a P-Value?</a:t>
            </a:r>
          </a:p>
        </p:txBody>
      </p:sp>
      <p:sp>
        <p:nvSpPr>
          <p:cNvPr id="3938" name="Google Shape;726;p33"/>
          <p:cNvSpPr txBox="1"/>
          <p:nvPr/>
        </p:nvSpPr>
        <p:spPr>
          <a:xfrm>
            <a:off x="661491" y="2955330"/>
            <a:ext cx="5203926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A number describing how likely your data would occur by random chance if the null hypothesis were true.</a:t>
            </a:r>
          </a:p>
        </p:txBody>
      </p:sp>
      <p:sp>
        <p:nvSpPr>
          <p:cNvPr id="3939" name="Google Shape;727;p33"/>
          <p:cNvSpPr txBox="1"/>
          <p:nvPr/>
        </p:nvSpPr>
        <p:spPr>
          <a:xfrm>
            <a:off x="661491" y="3956976"/>
            <a:ext cx="5203926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Small p-value (typically below 0.05) suggests the result is unlikely due to chance.</a:t>
            </a:r>
          </a:p>
        </p:txBody>
      </p:sp>
      <p:sp>
        <p:nvSpPr>
          <p:cNvPr id="3940" name="Google Shape;728;p33"/>
          <p:cNvSpPr txBox="1"/>
          <p:nvPr/>
        </p:nvSpPr>
        <p:spPr>
          <a:xfrm>
            <a:off x="661491" y="4731874"/>
            <a:ext cx="5203926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Large p-value suggests the result could easily happen by chance.</a:t>
            </a:r>
          </a:p>
        </p:txBody>
      </p:sp>
      <p:sp>
        <p:nvSpPr>
          <p:cNvPr id="3941" name="Google Shape;729;p33"/>
          <p:cNvSpPr txBox="1"/>
          <p:nvPr/>
        </p:nvSpPr>
        <p:spPr>
          <a:xfrm>
            <a:off x="6332933" y="2471043"/>
            <a:ext cx="2362697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Coin Flip Example</a:t>
            </a:r>
          </a:p>
        </p:txBody>
      </p:sp>
      <p:sp>
        <p:nvSpPr>
          <p:cNvPr id="3942" name="Google Shape;730;p33"/>
          <p:cNvSpPr txBox="1"/>
          <p:nvPr/>
        </p:nvSpPr>
        <p:spPr>
          <a:xfrm>
            <a:off x="6332933" y="2955329"/>
            <a:ext cx="5203925" cy="269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Null hypothesis: Coin is fair (50% heads)</a:t>
            </a:r>
          </a:p>
        </p:txBody>
      </p:sp>
      <p:sp>
        <p:nvSpPr>
          <p:cNvPr id="3943" name="Google Shape;731;p33"/>
          <p:cNvSpPr txBox="1"/>
          <p:nvPr/>
        </p:nvSpPr>
        <p:spPr>
          <a:xfrm>
            <a:off x="6332933" y="3427809"/>
            <a:ext cx="5203925" cy="269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You flip 50 times and get 40 heads</a:t>
            </a:r>
          </a:p>
        </p:txBody>
      </p:sp>
      <p:sp>
        <p:nvSpPr>
          <p:cNvPr id="3944" name="Google Shape;732;p33"/>
          <p:cNvSpPr txBox="1"/>
          <p:nvPr/>
        </p:nvSpPr>
        <p:spPr>
          <a:xfrm>
            <a:off x="6332933" y="3900289"/>
            <a:ext cx="5203925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P-value would be very small because this outcome is unlikely with a fair coin</a:t>
            </a:r>
          </a:p>
        </p:txBody>
      </p:sp>
      <p:sp>
        <p:nvSpPr>
          <p:cNvPr id="3945" name="Google Shape;733;p33"/>
          <p:cNvSpPr txBox="1"/>
          <p:nvPr/>
        </p:nvSpPr>
        <p:spPr>
          <a:xfrm>
            <a:off x="6332933" y="4675188"/>
            <a:ext cx="5203925" cy="53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Conclusion: Reject null hypothesis, coin is probably biased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7" name="Google Shape;739;p34"/>
          <p:cNvSpPr txBox="1"/>
          <p:nvPr/>
        </p:nvSpPr>
        <p:spPr>
          <a:xfrm>
            <a:off x="661492" y="624680"/>
            <a:ext cx="6953719" cy="635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4719"/>
              </a:lnSpc>
              <a:defRPr sz="4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3667"/>
              <a:t>Statistical Significance</a:t>
            </a:r>
          </a:p>
        </p:txBody>
      </p:sp>
      <p:sp>
        <p:nvSpPr>
          <p:cNvPr id="3948" name="Google Shape;740;p34"/>
          <p:cNvSpPr/>
          <p:nvPr/>
        </p:nvSpPr>
        <p:spPr>
          <a:xfrm>
            <a:off x="661492" y="1593353"/>
            <a:ext cx="1358603" cy="1089125"/>
          </a:xfrm>
          <a:prstGeom prst="roundRect">
            <a:avLst>
              <a:gd name="adj" fmla="val 7289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pic>
        <p:nvPicPr>
          <p:cNvPr id="3949" name="Google Shape;741;p34" descr="Google Shape;741;p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888" y="1971774"/>
            <a:ext cx="265808" cy="332185"/>
          </a:xfrm>
          <a:prstGeom prst="rect">
            <a:avLst/>
          </a:prstGeom>
          <a:ln w="12700">
            <a:miter lim="400000"/>
          </a:ln>
        </p:spPr>
      </p:pic>
      <p:sp>
        <p:nvSpPr>
          <p:cNvPr id="3950" name="Google Shape;742;p34"/>
          <p:cNvSpPr txBox="1"/>
          <p:nvPr/>
        </p:nvSpPr>
        <p:spPr>
          <a:xfrm>
            <a:off x="2209105" y="1782366"/>
            <a:ext cx="4296371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Set threshold (usually 0.05)</a:t>
            </a:r>
          </a:p>
        </p:txBody>
      </p:sp>
      <p:sp>
        <p:nvSpPr>
          <p:cNvPr id="3951" name="Google Shape;743;p34"/>
          <p:cNvSpPr txBox="1"/>
          <p:nvPr/>
        </p:nvSpPr>
        <p:spPr>
          <a:xfrm>
            <a:off x="2209105" y="2191047"/>
            <a:ext cx="4208463" cy="314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Decide significance level before analyzing data</a:t>
            </a:r>
          </a:p>
        </p:txBody>
      </p:sp>
      <p:sp>
        <p:nvSpPr>
          <p:cNvPr id="3952" name="Google Shape;744;p34"/>
          <p:cNvSpPr/>
          <p:nvPr/>
        </p:nvSpPr>
        <p:spPr>
          <a:xfrm>
            <a:off x="2114550" y="2669778"/>
            <a:ext cx="9321503" cy="12701"/>
          </a:xfrm>
          <a:prstGeom prst="roundRect">
            <a:avLst>
              <a:gd name="adj" fmla="val 50000"/>
            </a:avLst>
          </a:prstGeom>
          <a:solidFill>
            <a:srgbClr val="B2D3E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3953" name="Google Shape;745;p34"/>
          <p:cNvSpPr/>
          <p:nvPr/>
        </p:nvSpPr>
        <p:spPr>
          <a:xfrm>
            <a:off x="661492" y="2776934"/>
            <a:ext cx="2717205" cy="1089125"/>
          </a:xfrm>
          <a:prstGeom prst="roundRect">
            <a:avLst>
              <a:gd name="adj" fmla="val 7289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pic>
        <p:nvPicPr>
          <p:cNvPr id="3954" name="Google Shape;746;p34" descr="Google Shape;746;p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140" y="3155354"/>
            <a:ext cx="265808" cy="332185"/>
          </a:xfrm>
          <a:prstGeom prst="rect">
            <a:avLst/>
          </a:prstGeom>
          <a:ln w="12700">
            <a:miter lim="400000"/>
          </a:ln>
        </p:spPr>
      </p:pic>
      <p:sp>
        <p:nvSpPr>
          <p:cNvPr id="3955" name="Google Shape;747;p34"/>
          <p:cNvSpPr txBox="1"/>
          <p:nvPr/>
        </p:nvSpPr>
        <p:spPr>
          <a:xfrm>
            <a:off x="3567707" y="2965946"/>
            <a:ext cx="2362697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Calculate p-value</a:t>
            </a:r>
          </a:p>
        </p:txBody>
      </p:sp>
      <p:sp>
        <p:nvSpPr>
          <p:cNvPr id="3956" name="Google Shape;748;p34"/>
          <p:cNvSpPr txBox="1"/>
          <p:nvPr/>
        </p:nvSpPr>
        <p:spPr>
          <a:xfrm>
            <a:off x="3567708" y="3374628"/>
            <a:ext cx="4776491" cy="314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Determine probability of results under null hypothesis</a:t>
            </a:r>
          </a:p>
        </p:txBody>
      </p:sp>
      <p:sp>
        <p:nvSpPr>
          <p:cNvPr id="3957" name="Google Shape;749;p34"/>
          <p:cNvSpPr/>
          <p:nvPr/>
        </p:nvSpPr>
        <p:spPr>
          <a:xfrm>
            <a:off x="3473152" y="3853359"/>
            <a:ext cx="7962902" cy="12701"/>
          </a:xfrm>
          <a:prstGeom prst="roundRect">
            <a:avLst>
              <a:gd name="adj" fmla="val 50000"/>
            </a:avLst>
          </a:prstGeom>
          <a:solidFill>
            <a:srgbClr val="B2D3E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3958" name="Google Shape;750;p34"/>
          <p:cNvSpPr/>
          <p:nvPr/>
        </p:nvSpPr>
        <p:spPr>
          <a:xfrm>
            <a:off x="661492" y="3960515"/>
            <a:ext cx="4075808" cy="1089125"/>
          </a:xfrm>
          <a:prstGeom prst="roundRect">
            <a:avLst>
              <a:gd name="adj" fmla="val 7289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pic>
        <p:nvPicPr>
          <p:cNvPr id="3959" name="Google Shape;751;p34" descr="Google Shape;751;p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6491" y="4338935"/>
            <a:ext cx="265808" cy="332185"/>
          </a:xfrm>
          <a:prstGeom prst="rect">
            <a:avLst/>
          </a:prstGeom>
          <a:ln w="12700">
            <a:miter lim="400000"/>
          </a:ln>
        </p:spPr>
      </p:pic>
      <p:sp>
        <p:nvSpPr>
          <p:cNvPr id="3960" name="Google Shape;752;p34"/>
          <p:cNvSpPr txBox="1"/>
          <p:nvPr/>
        </p:nvSpPr>
        <p:spPr>
          <a:xfrm>
            <a:off x="4926310" y="4149527"/>
            <a:ext cx="3869370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Compare to threshold</a:t>
            </a:r>
          </a:p>
        </p:txBody>
      </p:sp>
      <p:sp>
        <p:nvSpPr>
          <p:cNvPr id="3961" name="Google Shape;753;p34"/>
          <p:cNvSpPr txBox="1"/>
          <p:nvPr/>
        </p:nvSpPr>
        <p:spPr>
          <a:xfrm>
            <a:off x="4926310" y="4558208"/>
            <a:ext cx="3744616" cy="314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If p &lt; 0.05, result is statistically significant</a:t>
            </a:r>
          </a:p>
        </p:txBody>
      </p:sp>
      <p:sp>
        <p:nvSpPr>
          <p:cNvPr id="3962" name="Google Shape;754;p34"/>
          <p:cNvSpPr/>
          <p:nvPr/>
        </p:nvSpPr>
        <p:spPr>
          <a:xfrm>
            <a:off x="4831755" y="5036940"/>
            <a:ext cx="6604298" cy="12701"/>
          </a:xfrm>
          <a:prstGeom prst="roundRect">
            <a:avLst>
              <a:gd name="adj" fmla="val 50000"/>
            </a:avLst>
          </a:prstGeom>
          <a:solidFill>
            <a:srgbClr val="B2D3E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3963" name="Google Shape;755;p34"/>
          <p:cNvSpPr/>
          <p:nvPr/>
        </p:nvSpPr>
        <p:spPr>
          <a:xfrm>
            <a:off x="661492" y="5144094"/>
            <a:ext cx="5434508" cy="1089125"/>
          </a:xfrm>
          <a:prstGeom prst="roundRect">
            <a:avLst>
              <a:gd name="adj" fmla="val 7289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pic>
        <p:nvPicPr>
          <p:cNvPr id="3964" name="Google Shape;756;p34" descr="Google Shape;756;p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5843" y="5522515"/>
            <a:ext cx="265808" cy="332185"/>
          </a:xfrm>
          <a:prstGeom prst="rect">
            <a:avLst/>
          </a:prstGeom>
          <a:ln w="12700">
            <a:miter lim="400000"/>
          </a:ln>
        </p:spPr>
      </p:pic>
      <p:sp>
        <p:nvSpPr>
          <p:cNvPr id="3965" name="Google Shape;757;p34"/>
          <p:cNvSpPr txBox="1"/>
          <p:nvPr/>
        </p:nvSpPr>
        <p:spPr>
          <a:xfrm>
            <a:off x="6285012" y="5333106"/>
            <a:ext cx="2362697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Draw conclusion</a:t>
            </a:r>
          </a:p>
        </p:txBody>
      </p:sp>
      <p:sp>
        <p:nvSpPr>
          <p:cNvPr id="3966" name="Google Shape;758;p34"/>
          <p:cNvSpPr txBox="1"/>
          <p:nvPr/>
        </p:nvSpPr>
        <p:spPr>
          <a:xfrm>
            <a:off x="6285012" y="5741789"/>
            <a:ext cx="4793755" cy="314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Significant results suggest real effect, not just chance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8" name="Google Shape;764;p35"/>
          <p:cNvSpPr txBox="1"/>
          <p:nvPr/>
        </p:nvSpPr>
        <p:spPr>
          <a:xfrm>
            <a:off x="661491" y="1025326"/>
            <a:ext cx="7280483" cy="635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4719"/>
              </a:lnSpc>
              <a:defRPr sz="4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3667"/>
              <a:t>Teaching Methods Example</a:t>
            </a:r>
          </a:p>
        </p:txBody>
      </p:sp>
      <p:sp>
        <p:nvSpPr>
          <p:cNvPr id="3969" name="Google Shape;765;p35"/>
          <p:cNvSpPr txBox="1"/>
          <p:nvPr/>
        </p:nvSpPr>
        <p:spPr>
          <a:xfrm>
            <a:off x="661491" y="2088456"/>
            <a:ext cx="2362698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The Scenario</a:t>
            </a:r>
          </a:p>
        </p:txBody>
      </p:sp>
      <p:sp>
        <p:nvSpPr>
          <p:cNvPr id="3970" name="Google Shape;766;p35"/>
          <p:cNvSpPr txBox="1"/>
          <p:nvPr/>
        </p:nvSpPr>
        <p:spPr>
          <a:xfrm>
            <a:off x="661491" y="2572743"/>
            <a:ext cx="5203926" cy="590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Two teaching methods compared with 30 students each.</a:t>
            </a:r>
          </a:p>
        </p:txBody>
      </p:sp>
      <p:sp>
        <p:nvSpPr>
          <p:cNvPr id="3971" name="Google Shape;767;p35"/>
          <p:cNvSpPr txBox="1"/>
          <p:nvPr/>
        </p:nvSpPr>
        <p:spPr>
          <a:xfrm>
            <a:off x="661491" y="3479011"/>
            <a:ext cx="5203926" cy="590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Method A's students scored 5 points higher on average than Method B's.</a:t>
            </a:r>
          </a:p>
        </p:txBody>
      </p:sp>
      <p:sp>
        <p:nvSpPr>
          <p:cNvPr id="3972" name="Google Shape;768;p35"/>
          <p:cNvSpPr txBox="1"/>
          <p:nvPr/>
        </p:nvSpPr>
        <p:spPr>
          <a:xfrm>
            <a:off x="661491" y="4253910"/>
            <a:ext cx="5203926" cy="590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Question: Is this difference meaningful or just random variation?</a:t>
            </a:r>
          </a:p>
        </p:txBody>
      </p:sp>
      <p:sp>
        <p:nvSpPr>
          <p:cNvPr id="3973" name="Google Shape;769;p35"/>
          <p:cNvSpPr txBox="1"/>
          <p:nvPr/>
        </p:nvSpPr>
        <p:spPr>
          <a:xfrm>
            <a:off x="6332933" y="2088456"/>
            <a:ext cx="2362697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Statistical Analysis</a:t>
            </a:r>
          </a:p>
        </p:txBody>
      </p:sp>
      <p:sp>
        <p:nvSpPr>
          <p:cNvPr id="3974" name="Google Shape;770;p35"/>
          <p:cNvSpPr txBox="1"/>
          <p:nvPr/>
        </p:nvSpPr>
        <p:spPr>
          <a:xfrm>
            <a:off x="6332933" y="2572743"/>
            <a:ext cx="5203925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2500">
                <a:solidFill>
                  <a:srgbClr val="94219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If p-value = 0.01:</a:t>
            </a:r>
          </a:p>
        </p:txBody>
      </p:sp>
      <p:sp>
        <p:nvSpPr>
          <p:cNvPr id="3975" name="Google Shape;771;p35"/>
          <p:cNvSpPr txBox="1"/>
          <p:nvPr/>
        </p:nvSpPr>
        <p:spPr>
          <a:xfrm>
            <a:off x="6332933" y="3045222"/>
            <a:ext cx="5203925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62857"/>
              </a:lnSpc>
              <a:buClr>
                <a:srgbClr val="000000"/>
              </a:buClr>
              <a:buSzPts val="2500"/>
              <a:buFont typeface="Helvetica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B_____ 0.05 threshold</a:t>
            </a:r>
          </a:p>
        </p:txBody>
      </p:sp>
      <p:sp>
        <p:nvSpPr>
          <p:cNvPr id="3976" name="Google Shape;772;p35"/>
          <p:cNvSpPr txBox="1"/>
          <p:nvPr/>
        </p:nvSpPr>
        <p:spPr>
          <a:xfrm>
            <a:off x="6332933" y="3413720"/>
            <a:ext cx="5203925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62857"/>
              </a:lnSpc>
              <a:buClr>
                <a:srgbClr val="000000"/>
              </a:buClr>
              <a:buSzPts val="2500"/>
              <a:buFont typeface="Helvetica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Statistically s_______ difference</a:t>
            </a:r>
          </a:p>
        </p:txBody>
      </p:sp>
      <p:sp>
        <p:nvSpPr>
          <p:cNvPr id="3977" name="Google Shape;773;p35"/>
          <p:cNvSpPr txBox="1"/>
          <p:nvPr/>
        </p:nvSpPr>
        <p:spPr>
          <a:xfrm>
            <a:off x="6332933" y="3782219"/>
            <a:ext cx="5203925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62857"/>
              </a:lnSpc>
              <a:buClr>
                <a:srgbClr val="000000"/>
              </a:buClr>
              <a:buSzPts val="2500"/>
              <a:buFont typeface="Helvetica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Method likely made real impact</a:t>
            </a:r>
          </a:p>
        </p:txBody>
      </p:sp>
      <p:sp>
        <p:nvSpPr>
          <p:cNvPr id="3978" name="Google Shape;774;p35"/>
          <p:cNvSpPr txBox="1"/>
          <p:nvPr/>
        </p:nvSpPr>
        <p:spPr>
          <a:xfrm>
            <a:off x="6332933" y="4254698"/>
            <a:ext cx="5203925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25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If p-value = 0.3:</a:t>
            </a:r>
          </a:p>
        </p:txBody>
      </p:sp>
      <p:sp>
        <p:nvSpPr>
          <p:cNvPr id="3979" name="Google Shape;775;p35"/>
          <p:cNvSpPr txBox="1"/>
          <p:nvPr/>
        </p:nvSpPr>
        <p:spPr>
          <a:xfrm>
            <a:off x="6332933" y="4727178"/>
            <a:ext cx="5203925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62857"/>
              </a:lnSpc>
              <a:buClr>
                <a:srgbClr val="000000"/>
              </a:buClr>
              <a:buSzPts val="2500"/>
              <a:buFont typeface="Helvetica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A_____ 0.05 threshold</a:t>
            </a:r>
          </a:p>
        </p:txBody>
      </p:sp>
      <p:sp>
        <p:nvSpPr>
          <p:cNvPr id="3980" name="Google Shape;776;p35"/>
          <p:cNvSpPr txBox="1"/>
          <p:nvPr/>
        </p:nvSpPr>
        <p:spPr>
          <a:xfrm>
            <a:off x="6332933" y="5095677"/>
            <a:ext cx="5203925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62857"/>
              </a:lnSpc>
              <a:buClr>
                <a:srgbClr val="000000"/>
              </a:buClr>
              <a:buSzPts val="2500"/>
              <a:buFont typeface="Helvetica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N__ statistically significant</a:t>
            </a:r>
          </a:p>
        </p:txBody>
      </p:sp>
      <p:sp>
        <p:nvSpPr>
          <p:cNvPr id="3981" name="Google Shape;777;p35"/>
          <p:cNvSpPr txBox="1"/>
          <p:nvPr/>
        </p:nvSpPr>
        <p:spPr>
          <a:xfrm>
            <a:off x="6332933" y="5464175"/>
            <a:ext cx="5203925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62857"/>
              </a:lnSpc>
              <a:buClr>
                <a:srgbClr val="000000"/>
              </a:buClr>
              <a:buSzPts val="2500"/>
              <a:buFont typeface="Helvetica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Difference might just be l____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" grpId="0" animBg="1" advAuto="0"/>
      <p:bldP spid="3974" grpId="0" animBg="1" advAuto="0"/>
      <p:bldP spid="3975" grpId="0" animBg="1" advAuto="0"/>
      <p:bldP spid="3976" grpId="0" animBg="1" advAuto="0"/>
      <p:bldP spid="3977" grpId="0" animBg="1" advAuto="0"/>
      <p:bldP spid="3978" grpId="0" animBg="1" advAuto="0"/>
      <p:bldP spid="3979" grpId="0" animBg="1" advAuto="0"/>
      <p:bldP spid="3980" grpId="0" animBg="1" advAuto="0"/>
      <p:bldP spid="3981" grpId="0" animBg="1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" name="Google Shape;764;p35"/>
          <p:cNvSpPr txBox="1"/>
          <p:nvPr/>
        </p:nvSpPr>
        <p:spPr>
          <a:xfrm>
            <a:off x="661491" y="1025326"/>
            <a:ext cx="7280483" cy="635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4719"/>
              </a:lnSpc>
              <a:defRPr sz="4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3667"/>
              <a:t>Teaching Methods Example</a:t>
            </a:r>
          </a:p>
        </p:txBody>
      </p:sp>
      <p:sp>
        <p:nvSpPr>
          <p:cNvPr id="3984" name="Google Shape;765;p35"/>
          <p:cNvSpPr txBox="1"/>
          <p:nvPr/>
        </p:nvSpPr>
        <p:spPr>
          <a:xfrm>
            <a:off x="661491" y="2088456"/>
            <a:ext cx="2362698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The Scenario</a:t>
            </a:r>
          </a:p>
        </p:txBody>
      </p:sp>
      <p:sp>
        <p:nvSpPr>
          <p:cNvPr id="3985" name="Google Shape;766;p35"/>
          <p:cNvSpPr txBox="1"/>
          <p:nvPr/>
        </p:nvSpPr>
        <p:spPr>
          <a:xfrm>
            <a:off x="661491" y="2572743"/>
            <a:ext cx="5203926" cy="590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Two teaching methods compared with 30 students each.</a:t>
            </a:r>
          </a:p>
        </p:txBody>
      </p:sp>
      <p:sp>
        <p:nvSpPr>
          <p:cNvPr id="3986" name="Google Shape;767;p35"/>
          <p:cNvSpPr txBox="1"/>
          <p:nvPr/>
        </p:nvSpPr>
        <p:spPr>
          <a:xfrm>
            <a:off x="661491" y="3479011"/>
            <a:ext cx="5203926" cy="590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Method A's students scored 5 points higher on average than Method B's.</a:t>
            </a:r>
          </a:p>
        </p:txBody>
      </p:sp>
      <p:sp>
        <p:nvSpPr>
          <p:cNvPr id="3987" name="Google Shape;768;p35"/>
          <p:cNvSpPr txBox="1"/>
          <p:nvPr/>
        </p:nvSpPr>
        <p:spPr>
          <a:xfrm>
            <a:off x="661491" y="4253910"/>
            <a:ext cx="5203926" cy="590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Question: Is this difference meaningful or just random variation?</a:t>
            </a:r>
          </a:p>
        </p:txBody>
      </p:sp>
      <p:sp>
        <p:nvSpPr>
          <p:cNvPr id="3988" name="Google Shape;769;p35"/>
          <p:cNvSpPr txBox="1"/>
          <p:nvPr/>
        </p:nvSpPr>
        <p:spPr>
          <a:xfrm>
            <a:off x="6332933" y="2088456"/>
            <a:ext cx="2362697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Statistical Analysis</a:t>
            </a:r>
          </a:p>
        </p:txBody>
      </p:sp>
      <p:sp>
        <p:nvSpPr>
          <p:cNvPr id="3989" name="Google Shape;770;p35"/>
          <p:cNvSpPr txBox="1"/>
          <p:nvPr/>
        </p:nvSpPr>
        <p:spPr>
          <a:xfrm>
            <a:off x="6332933" y="2572743"/>
            <a:ext cx="5203925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If p-value = 0.01:</a:t>
            </a:r>
          </a:p>
        </p:txBody>
      </p:sp>
      <p:sp>
        <p:nvSpPr>
          <p:cNvPr id="3990" name="Google Shape;771;p35"/>
          <p:cNvSpPr txBox="1"/>
          <p:nvPr/>
        </p:nvSpPr>
        <p:spPr>
          <a:xfrm>
            <a:off x="6332933" y="3045222"/>
            <a:ext cx="5203925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62857"/>
              </a:lnSpc>
              <a:buClr>
                <a:srgbClr val="000000"/>
              </a:buClr>
              <a:buSzPts val="2500"/>
              <a:buFont typeface="Helvetica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Below 0.05 threshold</a:t>
            </a:r>
          </a:p>
        </p:txBody>
      </p:sp>
      <p:sp>
        <p:nvSpPr>
          <p:cNvPr id="3991" name="Google Shape;772;p35"/>
          <p:cNvSpPr txBox="1"/>
          <p:nvPr/>
        </p:nvSpPr>
        <p:spPr>
          <a:xfrm>
            <a:off x="6332933" y="3413720"/>
            <a:ext cx="5203925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62857"/>
              </a:lnSpc>
              <a:buClr>
                <a:srgbClr val="000000"/>
              </a:buClr>
              <a:buSzPts val="2500"/>
              <a:buFont typeface="Helvetica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Statistically significant difference</a:t>
            </a:r>
          </a:p>
        </p:txBody>
      </p:sp>
      <p:sp>
        <p:nvSpPr>
          <p:cNvPr id="3992" name="Google Shape;773;p35"/>
          <p:cNvSpPr txBox="1"/>
          <p:nvPr/>
        </p:nvSpPr>
        <p:spPr>
          <a:xfrm>
            <a:off x="6332933" y="3782219"/>
            <a:ext cx="5203925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62857"/>
              </a:lnSpc>
              <a:buClr>
                <a:srgbClr val="000000"/>
              </a:buClr>
              <a:buSzPts val="2500"/>
              <a:buFont typeface="Helvetica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Method likely made real impact</a:t>
            </a:r>
          </a:p>
        </p:txBody>
      </p:sp>
      <p:sp>
        <p:nvSpPr>
          <p:cNvPr id="3993" name="Google Shape;774;p35"/>
          <p:cNvSpPr txBox="1"/>
          <p:nvPr/>
        </p:nvSpPr>
        <p:spPr>
          <a:xfrm>
            <a:off x="6332933" y="4254698"/>
            <a:ext cx="5203925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If p-value = 0.3:</a:t>
            </a:r>
          </a:p>
        </p:txBody>
      </p:sp>
      <p:sp>
        <p:nvSpPr>
          <p:cNvPr id="3994" name="Google Shape;775;p35"/>
          <p:cNvSpPr txBox="1"/>
          <p:nvPr/>
        </p:nvSpPr>
        <p:spPr>
          <a:xfrm>
            <a:off x="6332933" y="4727178"/>
            <a:ext cx="5203925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62857"/>
              </a:lnSpc>
              <a:buClr>
                <a:srgbClr val="000000"/>
              </a:buClr>
              <a:buSzPts val="2500"/>
              <a:buFont typeface="Helvetica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Above 0.05 threshold</a:t>
            </a:r>
          </a:p>
        </p:txBody>
      </p:sp>
      <p:sp>
        <p:nvSpPr>
          <p:cNvPr id="3995" name="Google Shape;776;p35"/>
          <p:cNvSpPr txBox="1"/>
          <p:nvPr/>
        </p:nvSpPr>
        <p:spPr>
          <a:xfrm>
            <a:off x="6332933" y="5095677"/>
            <a:ext cx="5203925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62857"/>
              </a:lnSpc>
              <a:buClr>
                <a:srgbClr val="000000"/>
              </a:buClr>
              <a:buSzPts val="2500"/>
              <a:buFont typeface="Helvetica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Not statistically significant</a:t>
            </a:r>
          </a:p>
        </p:txBody>
      </p:sp>
      <p:sp>
        <p:nvSpPr>
          <p:cNvPr id="3996" name="Google Shape;777;p35"/>
          <p:cNvSpPr txBox="1"/>
          <p:nvPr/>
        </p:nvSpPr>
        <p:spPr>
          <a:xfrm>
            <a:off x="6332933" y="5464175"/>
            <a:ext cx="5203925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62857"/>
              </a:lnSpc>
              <a:buClr>
                <a:srgbClr val="000000"/>
              </a:buClr>
              <a:buSzPts val="2500"/>
              <a:buFont typeface="Helvetica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Difference might just be luck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8" name="Text 0"/>
          <p:cNvSpPr txBox="1"/>
          <p:nvPr/>
        </p:nvSpPr>
        <p:spPr>
          <a:xfrm>
            <a:off x="4071790" y="2441133"/>
            <a:ext cx="7413889" cy="487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8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PARTS OF A RESEARCH REPORT</a:t>
            </a:r>
          </a:p>
        </p:txBody>
      </p:sp>
      <p:pic>
        <p:nvPicPr>
          <p:cNvPr id="399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6336"/>
            <a:ext cx="3681109" cy="5521664"/>
          </a:xfrm>
          <a:prstGeom prst="rect">
            <a:avLst/>
          </a:prstGeom>
          <a:ln w="12700">
            <a:miter lim="400000"/>
          </a:ln>
        </p:spPr>
      </p:pic>
      <p:sp>
        <p:nvSpPr>
          <p:cNvPr id="4000" name="Text 0"/>
          <p:cNvSpPr txBox="1"/>
          <p:nvPr/>
        </p:nvSpPr>
        <p:spPr>
          <a:xfrm>
            <a:off x="4124585" y="1605050"/>
            <a:ext cx="3973845" cy="487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800"/>
              </a:lnSpc>
              <a:defRPr sz="4400" b="1">
                <a:solidFill>
                  <a:srgbClr val="D7AA48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SHIFTING FOCUS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2" name="Text 0"/>
          <p:cNvSpPr txBox="1"/>
          <p:nvPr/>
        </p:nvSpPr>
        <p:spPr>
          <a:xfrm>
            <a:off x="4102577" y="1579072"/>
            <a:ext cx="3872855" cy="487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8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Literature Review</a:t>
            </a:r>
          </a:p>
        </p:txBody>
      </p:sp>
      <p:pic>
        <p:nvPicPr>
          <p:cNvPr id="4003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6336"/>
            <a:ext cx="3681109" cy="5521664"/>
          </a:xfrm>
          <a:prstGeom prst="rect">
            <a:avLst/>
          </a:prstGeom>
          <a:ln w="12700">
            <a:miter lim="400000"/>
          </a:ln>
        </p:spPr>
      </p:pic>
      <p:sp>
        <p:nvSpPr>
          <p:cNvPr id="4004" name="Refresher"/>
          <p:cNvSpPr txBox="1"/>
          <p:nvPr/>
        </p:nvSpPr>
        <p:spPr>
          <a:xfrm>
            <a:off x="-3791" y="-165798"/>
            <a:ext cx="4293467" cy="6456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099" rIns="38099">
            <a:spAutoFit/>
          </a:bodyPr>
          <a:lstStyle>
            <a:lvl1pPr>
              <a:lnSpc>
                <a:spcPts val="5100"/>
              </a:lnSpc>
              <a:defRPr sz="2600" b="1" i="1">
                <a:solidFill>
                  <a:srgbClr val="FF93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167"/>
              <a:t>Refresher     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6" name="Text 0"/>
          <p:cNvSpPr txBox="1"/>
          <p:nvPr/>
        </p:nvSpPr>
        <p:spPr>
          <a:xfrm>
            <a:off x="607971" y="1402937"/>
            <a:ext cx="9468450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What is a Literature Review? </a:t>
            </a:r>
          </a:p>
        </p:txBody>
      </p:sp>
      <p:sp>
        <p:nvSpPr>
          <p:cNvPr id="4007" name="Text 1"/>
          <p:cNvSpPr txBox="1"/>
          <p:nvPr/>
        </p:nvSpPr>
        <p:spPr>
          <a:xfrm>
            <a:off x="618675" y="2548575"/>
            <a:ext cx="10954650" cy="2067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700">
                <a:latin typeface="Inter"/>
                <a:ea typeface="Inter"/>
                <a:cs typeface="Inter"/>
                <a:sym typeface="Inter"/>
              </a:defRPr>
            </a:pPr>
            <a:r>
              <a:rPr sz="2250"/>
              <a:t>A literature review is a summary and analysis of what has already been written on a topic.</a:t>
            </a:r>
            <a:br>
              <a:rPr sz="2250"/>
            </a:br>
            <a:endParaRPr sz="2250"/>
          </a:p>
          <a:p>
            <a:pPr>
              <a:lnSpc>
                <a:spcPts val="2333"/>
              </a:lnSpc>
              <a:defRPr sz="2700">
                <a:latin typeface="Inter"/>
                <a:ea typeface="Inter"/>
                <a:cs typeface="Inter"/>
                <a:sym typeface="Inter"/>
              </a:defRPr>
            </a:pPr>
            <a:r>
              <a:rPr sz="2250"/>
              <a:t>It helps you: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700">
                <a:latin typeface="Inter"/>
                <a:ea typeface="Inter"/>
                <a:cs typeface="Inter"/>
                <a:sym typeface="Inter"/>
              </a:defRPr>
            </a:pPr>
            <a:r>
              <a:rPr sz="2250"/>
              <a:t>Understand what’s already known,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700">
                <a:latin typeface="Inter"/>
                <a:ea typeface="Inter"/>
                <a:cs typeface="Inter"/>
                <a:sym typeface="Inter"/>
              </a:defRPr>
            </a:pPr>
            <a:r>
              <a:rPr sz="2250"/>
              <a:t>See where there are gaps or debates,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700">
                <a:latin typeface="Inter"/>
                <a:ea typeface="Inter"/>
                <a:cs typeface="Inter"/>
                <a:sym typeface="Inter"/>
              </a:defRPr>
            </a:pPr>
            <a:r>
              <a:rPr sz="2250"/>
              <a:t>Avoid repeating others’ work,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700">
                <a:latin typeface="Inter"/>
                <a:ea typeface="Inter"/>
                <a:cs typeface="Inter"/>
                <a:sym typeface="Inter"/>
              </a:defRPr>
            </a:pPr>
            <a:r>
              <a:rPr sz="2250"/>
              <a:t>And build a strong foundation for your own research.</a:t>
            </a:r>
          </a:p>
        </p:txBody>
      </p:sp>
      <p:sp>
        <p:nvSpPr>
          <p:cNvPr id="4008" name="Shape 2"/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4009" name="Refresher"/>
          <p:cNvSpPr txBox="1"/>
          <p:nvPr/>
        </p:nvSpPr>
        <p:spPr>
          <a:xfrm>
            <a:off x="-3791" y="-165798"/>
            <a:ext cx="4293467" cy="6456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099" rIns="38099">
            <a:spAutoFit/>
          </a:bodyPr>
          <a:lstStyle>
            <a:lvl1pPr>
              <a:lnSpc>
                <a:spcPts val="5100"/>
              </a:lnSpc>
              <a:defRPr sz="2600" b="1" i="1">
                <a:solidFill>
                  <a:srgbClr val="FF93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167"/>
              <a:t>Refresher    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7" grpId="0" animBg="1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1" name="Text 0"/>
          <p:cNvSpPr txBox="1"/>
          <p:nvPr/>
        </p:nvSpPr>
        <p:spPr>
          <a:xfrm>
            <a:off x="607971" y="1402937"/>
            <a:ext cx="9468450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How to Conduct a Lit Review</a:t>
            </a:r>
          </a:p>
        </p:txBody>
      </p:sp>
      <p:sp>
        <p:nvSpPr>
          <p:cNvPr id="4012" name="Text 1"/>
          <p:cNvSpPr txBox="1"/>
          <p:nvPr/>
        </p:nvSpPr>
        <p:spPr>
          <a:xfrm>
            <a:off x="618675" y="2287591"/>
            <a:ext cx="10954650" cy="471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Step 1: Clarify Your Topic or Research Question</a:t>
            </a:r>
          </a:p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Step 2: Search for Reliable Sources</a:t>
            </a:r>
          </a:p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Step 3: Skim and Select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Read abstracts first to decide if the source is relevant.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Choose a mix of recent, relevant, and diverse perspectives.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Aim for at least 5–10 solid sources (depending on assignment length).</a:t>
            </a:r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Step 4: Take Notes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Write down the main point of each source.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Note how it relates to your topic, and any key quotes or data.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Use color coding or a chart to organize themes or arguments.</a:t>
            </a:r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</p:txBody>
      </p:sp>
      <p:sp>
        <p:nvSpPr>
          <p:cNvPr id="4013" name="Shape 2"/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4014" name="Refresher"/>
          <p:cNvSpPr txBox="1"/>
          <p:nvPr/>
        </p:nvSpPr>
        <p:spPr>
          <a:xfrm>
            <a:off x="-3791" y="-165798"/>
            <a:ext cx="4293467" cy="6456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099" rIns="38099">
            <a:spAutoFit/>
          </a:bodyPr>
          <a:lstStyle>
            <a:lvl1pPr>
              <a:lnSpc>
                <a:spcPts val="5100"/>
              </a:lnSpc>
              <a:defRPr sz="2600" b="1" i="1">
                <a:solidFill>
                  <a:srgbClr val="FF93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167"/>
              <a:t>Refresher     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6" name="Text 0"/>
          <p:cNvSpPr txBox="1"/>
          <p:nvPr/>
        </p:nvSpPr>
        <p:spPr>
          <a:xfrm>
            <a:off x="607971" y="1402937"/>
            <a:ext cx="9468450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How to Conduct a Lit Review</a:t>
            </a:r>
          </a:p>
        </p:txBody>
      </p:sp>
      <p:sp>
        <p:nvSpPr>
          <p:cNvPr id="4017" name="Text 1"/>
          <p:cNvSpPr txBox="1"/>
          <p:nvPr/>
        </p:nvSpPr>
        <p:spPr>
          <a:xfrm>
            <a:off x="618675" y="2287591"/>
            <a:ext cx="10954650" cy="23596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Step 5: Group by Themes or Ideas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Don’t stop at summarizing each article one by one.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Instead, group your notes by common ______, ___________, or _______.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Ask: What do these sources have in common? How do they differ?</a:t>
            </a:r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Step 6: Start Writing</a:t>
            </a:r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Step 7: Cite Everything</a:t>
            </a:r>
          </a:p>
        </p:txBody>
      </p:sp>
      <p:sp>
        <p:nvSpPr>
          <p:cNvPr id="4018" name="Shape 2"/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4019" name="Refresher"/>
          <p:cNvSpPr txBox="1"/>
          <p:nvPr/>
        </p:nvSpPr>
        <p:spPr>
          <a:xfrm>
            <a:off x="-3791" y="-165798"/>
            <a:ext cx="4293467" cy="6456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099" rIns="38099">
            <a:spAutoFit/>
          </a:bodyPr>
          <a:lstStyle>
            <a:lvl1pPr>
              <a:lnSpc>
                <a:spcPts val="5100"/>
              </a:lnSpc>
              <a:defRPr sz="2600" b="1" i="1">
                <a:solidFill>
                  <a:srgbClr val="FF93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167"/>
              <a:t>Refresher     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1" name="Text 0"/>
          <p:cNvSpPr txBox="1"/>
          <p:nvPr/>
        </p:nvSpPr>
        <p:spPr>
          <a:xfrm>
            <a:off x="607971" y="1402937"/>
            <a:ext cx="9468450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How to Conduct a Lit Review</a:t>
            </a:r>
          </a:p>
        </p:txBody>
      </p:sp>
      <p:sp>
        <p:nvSpPr>
          <p:cNvPr id="4022" name="Text 1"/>
          <p:cNvSpPr txBox="1"/>
          <p:nvPr/>
        </p:nvSpPr>
        <p:spPr>
          <a:xfrm>
            <a:off x="618675" y="2287591"/>
            <a:ext cx="10954650" cy="23596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Step 5: Group by Themes or Ideas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Don’t stop at summarizing each article one by one.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Instead, group your notes by common themes, disagreements, or trends.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Ask: What do these sources have in common? How do they differ?</a:t>
            </a:r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Step 6: Start Writing</a:t>
            </a:r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Step 7: Cite Everything</a:t>
            </a:r>
          </a:p>
        </p:txBody>
      </p:sp>
      <p:sp>
        <p:nvSpPr>
          <p:cNvPr id="4023" name="Shape 2"/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4024" name="Refresher"/>
          <p:cNvSpPr txBox="1"/>
          <p:nvPr/>
        </p:nvSpPr>
        <p:spPr>
          <a:xfrm>
            <a:off x="-3791" y="-165798"/>
            <a:ext cx="4293467" cy="6456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099" rIns="38099">
            <a:spAutoFit/>
          </a:bodyPr>
          <a:lstStyle>
            <a:lvl1pPr>
              <a:lnSpc>
                <a:spcPts val="5100"/>
              </a:lnSpc>
              <a:defRPr sz="2600" b="1" i="1">
                <a:solidFill>
                  <a:srgbClr val="FF93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167"/>
              <a:t>Refresher     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6" name="Text 0"/>
          <p:cNvSpPr txBox="1"/>
          <p:nvPr/>
        </p:nvSpPr>
        <p:spPr>
          <a:xfrm>
            <a:off x="607971" y="1402937"/>
            <a:ext cx="9468450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How to Write a Literature Review</a:t>
            </a:r>
          </a:p>
        </p:txBody>
      </p:sp>
      <p:sp>
        <p:nvSpPr>
          <p:cNvPr id="4027" name="Text 1"/>
          <p:cNvSpPr txBox="1"/>
          <p:nvPr/>
        </p:nvSpPr>
        <p:spPr>
          <a:xfrm>
            <a:off x="618675" y="2287591"/>
            <a:ext cx="10954650" cy="342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167"/>
              <a:t>Let’s remember that this is an academic writing. </a:t>
            </a:r>
          </a:p>
        </p:txBody>
      </p:sp>
      <p:sp>
        <p:nvSpPr>
          <p:cNvPr id="4028" name="Shape 2"/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0" name="Image 0" descr="Image 0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2000" cy="2138958"/>
          </a:xfrm>
          <a:prstGeom prst="rect">
            <a:avLst/>
          </a:prstGeom>
          <a:ln w="12700">
            <a:miter lim="400000"/>
          </a:ln>
        </p:spPr>
      </p:pic>
      <p:sp>
        <p:nvSpPr>
          <p:cNvPr id="4031" name="Text 0"/>
          <p:cNvSpPr txBox="1"/>
          <p:nvPr/>
        </p:nvSpPr>
        <p:spPr>
          <a:xfrm>
            <a:off x="598884" y="2744787"/>
            <a:ext cx="6658874" cy="577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000"/>
              </a:lnSpc>
              <a:defRPr sz="4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333"/>
              <a:t>Academic Writing Characteristics</a:t>
            </a:r>
          </a:p>
        </p:txBody>
      </p:sp>
      <p:sp>
        <p:nvSpPr>
          <p:cNvPr id="4032" name="Shape 1"/>
          <p:cNvSpPr/>
          <p:nvPr/>
        </p:nvSpPr>
        <p:spPr>
          <a:xfrm>
            <a:off x="598884" y="3536156"/>
            <a:ext cx="5411591" cy="1272482"/>
          </a:xfrm>
          <a:prstGeom prst="roundRect">
            <a:avLst>
              <a:gd name="adj" fmla="val 5648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4033" name="Text 2"/>
          <p:cNvSpPr txBox="1"/>
          <p:nvPr/>
        </p:nvSpPr>
        <p:spPr>
          <a:xfrm>
            <a:off x="776286" y="3713560"/>
            <a:ext cx="1267976" cy="288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Formal Tone</a:t>
            </a:r>
          </a:p>
        </p:txBody>
      </p:sp>
      <p:sp>
        <p:nvSpPr>
          <p:cNvPr id="4034" name="Text 3"/>
          <p:cNvSpPr txBox="1"/>
          <p:nvPr/>
        </p:nvSpPr>
        <p:spPr>
          <a:xfrm>
            <a:off x="776287" y="4083546"/>
            <a:ext cx="5056783" cy="606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333"/>
              <a:t>Professional language without slang or contractions. "A survey was conducted" rather than "I asked my friends."</a:t>
            </a:r>
          </a:p>
        </p:txBody>
      </p:sp>
      <p:sp>
        <p:nvSpPr>
          <p:cNvPr id="4035" name="Shape 4"/>
          <p:cNvSpPr/>
          <p:nvPr/>
        </p:nvSpPr>
        <p:spPr>
          <a:xfrm>
            <a:off x="6181526" y="3536156"/>
            <a:ext cx="5411590" cy="1272482"/>
          </a:xfrm>
          <a:prstGeom prst="roundRect">
            <a:avLst>
              <a:gd name="adj" fmla="val 5648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4036" name="Text 5"/>
          <p:cNvSpPr txBox="1"/>
          <p:nvPr/>
        </p:nvSpPr>
        <p:spPr>
          <a:xfrm>
            <a:off x="6358929" y="3713560"/>
            <a:ext cx="1562928" cy="288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Objective Focus</a:t>
            </a:r>
          </a:p>
        </p:txBody>
      </p:sp>
      <p:sp>
        <p:nvSpPr>
          <p:cNvPr id="4037" name="Text 6"/>
          <p:cNvSpPr txBox="1"/>
          <p:nvPr/>
        </p:nvSpPr>
        <p:spPr>
          <a:xfrm>
            <a:off x="6358929" y="4083546"/>
            <a:ext cx="5056783" cy="606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333"/>
              <a:t>Emphasizes evidence over opinion. "The data suggest..." instead of "I think..."</a:t>
            </a:r>
          </a:p>
        </p:txBody>
      </p:sp>
      <p:sp>
        <p:nvSpPr>
          <p:cNvPr id="4038" name="Shape 7"/>
          <p:cNvSpPr/>
          <p:nvPr/>
        </p:nvSpPr>
        <p:spPr>
          <a:xfrm>
            <a:off x="598884" y="4979689"/>
            <a:ext cx="5411591" cy="1272482"/>
          </a:xfrm>
          <a:prstGeom prst="roundRect">
            <a:avLst>
              <a:gd name="adj" fmla="val 5648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4039" name="Text 8"/>
          <p:cNvSpPr txBox="1"/>
          <p:nvPr/>
        </p:nvSpPr>
        <p:spPr>
          <a:xfrm>
            <a:off x="776287" y="5157094"/>
            <a:ext cx="1631857" cy="288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Thorough Detail</a:t>
            </a:r>
          </a:p>
        </p:txBody>
      </p:sp>
      <p:sp>
        <p:nvSpPr>
          <p:cNvPr id="4040" name="Text 9"/>
          <p:cNvSpPr txBox="1"/>
          <p:nvPr/>
        </p:nvSpPr>
        <p:spPr>
          <a:xfrm>
            <a:off x="776287" y="5527080"/>
            <a:ext cx="5056783" cy="606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333"/>
              <a:t>Provides enough information for others to replicate your work or evaluate your methods.</a:t>
            </a:r>
          </a:p>
        </p:txBody>
      </p:sp>
      <p:sp>
        <p:nvSpPr>
          <p:cNvPr id="4041" name="Shape 10"/>
          <p:cNvSpPr/>
          <p:nvPr/>
        </p:nvSpPr>
        <p:spPr>
          <a:xfrm>
            <a:off x="6181526" y="4979689"/>
            <a:ext cx="5411590" cy="1272482"/>
          </a:xfrm>
          <a:prstGeom prst="roundRect">
            <a:avLst>
              <a:gd name="adj" fmla="val 5648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4042" name="Text 11"/>
          <p:cNvSpPr txBox="1"/>
          <p:nvPr/>
        </p:nvSpPr>
        <p:spPr>
          <a:xfrm>
            <a:off x="6358930" y="5157094"/>
            <a:ext cx="1638269" cy="288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Proper Citations</a:t>
            </a:r>
          </a:p>
        </p:txBody>
      </p:sp>
      <p:sp>
        <p:nvSpPr>
          <p:cNvPr id="4043" name="Text 12"/>
          <p:cNvSpPr txBox="1"/>
          <p:nvPr/>
        </p:nvSpPr>
        <p:spPr>
          <a:xfrm>
            <a:off x="6358929" y="5527079"/>
            <a:ext cx="5056783" cy="606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333"/>
              <a:t>Acknowledges all sources using standard formats like APA, MLA, or Chicago style.</a:t>
            </a: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5" name="Text 0"/>
          <p:cNvSpPr txBox="1"/>
          <p:nvPr/>
        </p:nvSpPr>
        <p:spPr>
          <a:xfrm>
            <a:off x="470319" y="556033"/>
            <a:ext cx="6032101" cy="487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8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Literature Review Template</a:t>
            </a:r>
          </a:p>
        </p:txBody>
      </p:sp>
      <p:sp>
        <p:nvSpPr>
          <p:cNvPr id="4046" name="Begin with a short introduction:…"/>
          <p:cNvSpPr txBox="1"/>
          <p:nvPr/>
        </p:nvSpPr>
        <p:spPr>
          <a:xfrm>
            <a:off x="4149249" y="1791161"/>
            <a:ext cx="7313946" cy="4221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099" rIns="38099">
            <a:spAutoFit/>
          </a:bodyPr>
          <a:lstStyle/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 b="1"/>
              <a:t>Begin with a short introduction: </a:t>
            </a:r>
          </a:p>
          <a:p>
            <a:pPr marL="534715" lvl="1" indent="-217228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What is your topic? </a:t>
            </a:r>
          </a:p>
          <a:p>
            <a:pPr marL="534715" lvl="1" indent="-217228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Why is it important?</a:t>
            </a:r>
          </a:p>
          <a:p>
            <a:pPr marL="534715" lvl="1" indent="-217228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Give the broad context of the problem. </a:t>
            </a:r>
            <a:endParaRPr sz="1917" b="1"/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 b="1"/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 b="1"/>
              <a:t>Body: </a:t>
            </a:r>
          </a:p>
          <a:p>
            <a:pPr marL="534715" lvl="1" indent="-217228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Share what other studies have found. </a:t>
            </a:r>
          </a:p>
          <a:p>
            <a:pPr marL="534715" lvl="1" indent="-217228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Organize the body by themes, not by author.</a:t>
            </a:r>
            <a:endParaRPr sz="1917" b="1"/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 b="1"/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 b="1"/>
              <a:t>End with a summary: </a:t>
            </a:r>
          </a:p>
          <a:p>
            <a:pPr marL="534715" lvl="1" indent="-217228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Summarize what was found. </a:t>
            </a:r>
          </a:p>
          <a:p>
            <a:pPr marL="534715" lvl="1" indent="-217228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Clarify how your project connects to past research.</a:t>
            </a:r>
          </a:p>
          <a:p>
            <a:pPr marL="534715" lvl="1" indent="-217228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Name the patterns you noticed in the literature. </a:t>
            </a:r>
          </a:p>
          <a:p>
            <a:pPr marL="534715" lvl="1" indent="-217228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Identify the gaps and/or questions remain to be explored.</a:t>
            </a:r>
          </a:p>
        </p:txBody>
      </p:sp>
      <p:pic>
        <p:nvPicPr>
          <p:cNvPr id="4047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6336"/>
            <a:ext cx="3681109" cy="55216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9" name="Text 0"/>
          <p:cNvSpPr txBox="1"/>
          <p:nvPr/>
        </p:nvSpPr>
        <p:spPr>
          <a:xfrm>
            <a:off x="607971" y="1402937"/>
            <a:ext cx="9468450" cy="1340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How to Synthesize Multiple Sources in a Lit Review</a:t>
            </a:r>
          </a:p>
        </p:txBody>
      </p:sp>
      <p:sp>
        <p:nvSpPr>
          <p:cNvPr id="4050" name="Text 1"/>
          <p:cNvSpPr txBox="1"/>
          <p:nvPr/>
        </p:nvSpPr>
        <p:spPr>
          <a:xfrm>
            <a:off x="618675" y="3130658"/>
            <a:ext cx="10954650" cy="1474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What does synthesis mean?</a:t>
            </a:r>
          </a:p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A good lit review is more than just summarizing what you found.</a:t>
            </a:r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It means combining ideas from different sources to see </a:t>
            </a:r>
            <a:r>
              <a:rPr sz="2167" b="1"/>
              <a:t>how they relate to each other,</a:t>
            </a:r>
            <a:r>
              <a:rPr sz="2167"/>
              <a:t> not just what each one says.</a:t>
            </a:r>
          </a:p>
        </p:txBody>
      </p:sp>
      <p:sp>
        <p:nvSpPr>
          <p:cNvPr id="4051" name="Shape 2"/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3" name="Text 0"/>
          <p:cNvSpPr txBox="1"/>
          <p:nvPr/>
        </p:nvSpPr>
        <p:spPr>
          <a:xfrm>
            <a:off x="607971" y="1402937"/>
            <a:ext cx="9468450" cy="1340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How to Synthesize Multiple Sources in a Lit Review</a:t>
            </a:r>
          </a:p>
        </p:txBody>
      </p:sp>
      <p:sp>
        <p:nvSpPr>
          <p:cNvPr id="4054" name="Text 1"/>
          <p:cNvSpPr txBox="1"/>
          <p:nvPr/>
        </p:nvSpPr>
        <p:spPr>
          <a:xfrm>
            <a:off x="618676" y="2918992"/>
            <a:ext cx="10691889" cy="3232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200" b="1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Look for Connections</a:t>
            </a:r>
          </a:p>
          <a:p>
            <a:pPr>
              <a:lnSpc>
                <a:spcPts val="2333"/>
              </a:lnSpc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Ask yourself:</a:t>
            </a:r>
          </a:p>
          <a:p>
            <a:pPr marL="183808" indent="-183808">
              <a:lnSpc>
                <a:spcPts val="2333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Do the authors agree or disagree?</a:t>
            </a:r>
          </a:p>
          <a:p>
            <a:pPr marL="183808" indent="-183808">
              <a:lnSpc>
                <a:spcPts val="2333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Are they studying the same issue from different perspectives?</a:t>
            </a:r>
          </a:p>
          <a:p>
            <a:pPr marL="183808" indent="-183808">
              <a:lnSpc>
                <a:spcPts val="2333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Does one source support, expand on, or challenge another?</a:t>
            </a:r>
          </a:p>
          <a:p>
            <a:pPr>
              <a:lnSpc>
                <a:spcPts val="2333"/>
              </a:lnSpc>
              <a:defRPr sz="2200">
                <a:latin typeface="Inter"/>
                <a:ea typeface="Inter"/>
                <a:cs typeface="Inter"/>
                <a:sym typeface="Inter"/>
              </a:defRPr>
            </a:pPr>
            <a:endParaRPr sz="1833"/>
          </a:p>
          <a:p>
            <a:pPr>
              <a:lnSpc>
                <a:spcPts val="2333"/>
              </a:lnSpc>
              <a:defRPr sz="2200" b="1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Group Ideas, Not Authors</a:t>
            </a:r>
          </a:p>
          <a:p>
            <a:pPr>
              <a:lnSpc>
                <a:spcPts val="2333"/>
              </a:lnSpc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Don’t organize your review by author: “Smith says..., then Jones says...”</a:t>
            </a:r>
          </a:p>
          <a:p>
            <a:pPr>
              <a:lnSpc>
                <a:spcPts val="2333"/>
              </a:lnSpc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Instead, </a:t>
            </a:r>
            <a:r>
              <a:rPr sz="1833" b="1"/>
              <a:t>organize by theme, issue, or trend</a:t>
            </a:r>
            <a:r>
              <a:rPr sz="1833"/>
              <a:t>:</a:t>
            </a:r>
          </a:p>
          <a:p>
            <a:pPr>
              <a:lnSpc>
                <a:spcPts val="2333"/>
              </a:lnSpc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For example: “Many studies agree that social media affects attention span (Smith, 2021; Lee, 2020), but a few challenge this idea (Gomez, 2022).”</a:t>
            </a:r>
          </a:p>
        </p:txBody>
      </p:sp>
      <p:sp>
        <p:nvSpPr>
          <p:cNvPr id="4055" name="Shape 2"/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7" name="Text 0"/>
          <p:cNvSpPr txBox="1"/>
          <p:nvPr/>
        </p:nvSpPr>
        <p:spPr>
          <a:xfrm>
            <a:off x="607971" y="1402937"/>
            <a:ext cx="9468450" cy="1340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How to Synthesize Multiple Sources in a Lit Review</a:t>
            </a:r>
          </a:p>
        </p:txBody>
      </p:sp>
      <p:sp>
        <p:nvSpPr>
          <p:cNvPr id="4058" name="Text 1"/>
          <p:cNvSpPr txBox="1"/>
          <p:nvPr/>
        </p:nvSpPr>
        <p:spPr>
          <a:xfrm>
            <a:off x="618675" y="2993075"/>
            <a:ext cx="10835275" cy="3232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200" b="1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Use Comparative Language</a:t>
            </a:r>
          </a:p>
          <a:p>
            <a:pPr>
              <a:lnSpc>
                <a:spcPts val="2333"/>
              </a:lnSpc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Helpful phrases: “Similarly…”  “In contrast…”  “Building on…”. “While some researchers argue..., others suggest…”.   “There is a general consensus that…”</a:t>
            </a:r>
          </a:p>
          <a:p>
            <a:pPr>
              <a:lnSpc>
                <a:spcPts val="2333"/>
              </a:lnSpc>
              <a:defRPr sz="2200">
                <a:latin typeface="Inter"/>
                <a:ea typeface="Inter"/>
                <a:cs typeface="Inter"/>
                <a:sym typeface="Inter"/>
              </a:defRPr>
            </a:pPr>
            <a:endParaRPr sz="1833"/>
          </a:p>
          <a:p>
            <a:pPr>
              <a:lnSpc>
                <a:spcPts val="2333"/>
              </a:lnSpc>
              <a:defRPr sz="2200" b="1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Highlight Gaps or Conflicts</a:t>
            </a:r>
          </a:p>
          <a:p>
            <a:pPr>
              <a:lnSpc>
                <a:spcPts val="2333"/>
              </a:lnSpc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Point out where sources disagree or where more research is needed.</a:t>
            </a:r>
          </a:p>
          <a:p>
            <a:pPr>
              <a:lnSpc>
                <a:spcPts val="2333"/>
              </a:lnSpc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Example: “While most studies link sleep to better memory, few explore how this differs by age group.”</a:t>
            </a:r>
          </a:p>
          <a:p>
            <a:pPr>
              <a:lnSpc>
                <a:spcPts val="2333"/>
              </a:lnSpc>
              <a:defRPr sz="2200">
                <a:latin typeface="Inter"/>
                <a:ea typeface="Inter"/>
                <a:cs typeface="Inter"/>
                <a:sym typeface="Inter"/>
              </a:defRPr>
            </a:pPr>
            <a:endParaRPr sz="1833"/>
          </a:p>
          <a:p>
            <a:pPr>
              <a:lnSpc>
                <a:spcPts val="2333"/>
              </a:lnSpc>
              <a:defRPr sz="2200" b="1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End With a Big Picture</a:t>
            </a:r>
          </a:p>
          <a:p>
            <a:pPr>
              <a:lnSpc>
                <a:spcPts val="2333"/>
              </a:lnSpc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What have you learned from all the sources combined? What patterns, debates, or gaps have you noticed? This sets the stage for your own research question.</a:t>
            </a:r>
          </a:p>
        </p:txBody>
      </p:sp>
      <p:sp>
        <p:nvSpPr>
          <p:cNvPr id="4059" name="Shape 2"/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1" name="Text 0"/>
          <p:cNvSpPr txBox="1"/>
          <p:nvPr/>
        </p:nvSpPr>
        <p:spPr>
          <a:xfrm>
            <a:off x="607971" y="1402937"/>
            <a:ext cx="9468450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Importance of giving reference</a:t>
            </a:r>
          </a:p>
        </p:txBody>
      </p:sp>
      <p:sp>
        <p:nvSpPr>
          <p:cNvPr id="4062" name="Text 1"/>
          <p:cNvSpPr txBox="1"/>
          <p:nvPr/>
        </p:nvSpPr>
        <p:spPr>
          <a:xfrm>
            <a:off x="546982" y="2548575"/>
            <a:ext cx="10835276" cy="116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200" b="1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Why Do We Cite?</a:t>
            </a:r>
          </a:p>
          <a:p>
            <a:pPr>
              <a:lnSpc>
                <a:spcPts val="2333"/>
              </a:lnSpc>
              <a:defRPr sz="2200">
                <a:latin typeface="Inter"/>
                <a:ea typeface="Inter"/>
                <a:cs typeface="Inter"/>
                <a:sym typeface="Inter"/>
              </a:defRPr>
            </a:pPr>
            <a:endParaRPr sz="1833"/>
          </a:p>
          <a:p>
            <a:pPr>
              <a:lnSpc>
                <a:spcPts val="2333"/>
              </a:lnSpc>
              <a:defRPr sz="2200" b="1">
                <a:latin typeface="Inter"/>
                <a:ea typeface="Inter"/>
                <a:cs typeface="Inter"/>
                <a:sym typeface="Inter"/>
              </a:defRPr>
            </a:pPr>
            <a:br>
              <a:rPr sz="1833"/>
            </a:br>
            <a:endParaRPr sz="1833"/>
          </a:p>
        </p:txBody>
      </p:sp>
      <p:sp>
        <p:nvSpPr>
          <p:cNvPr id="4063" name="Refresher"/>
          <p:cNvSpPr txBox="1"/>
          <p:nvPr/>
        </p:nvSpPr>
        <p:spPr>
          <a:xfrm>
            <a:off x="-3791" y="-165798"/>
            <a:ext cx="4293467" cy="6456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099" rIns="38099">
            <a:spAutoFit/>
          </a:bodyPr>
          <a:lstStyle>
            <a:lvl1pPr>
              <a:lnSpc>
                <a:spcPts val="5100"/>
              </a:lnSpc>
              <a:defRPr sz="2600" b="1" i="1">
                <a:solidFill>
                  <a:srgbClr val="FF93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167"/>
              <a:t>Refresher     </a:t>
            </a: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" name="Text 0"/>
          <p:cNvSpPr txBox="1"/>
          <p:nvPr/>
        </p:nvSpPr>
        <p:spPr>
          <a:xfrm>
            <a:off x="607971" y="1402937"/>
            <a:ext cx="9468450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Importance of giving reference</a:t>
            </a:r>
          </a:p>
        </p:txBody>
      </p:sp>
      <p:sp>
        <p:nvSpPr>
          <p:cNvPr id="4066" name="Text 1"/>
          <p:cNvSpPr txBox="1"/>
          <p:nvPr/>
        </p:nvSpPr>
        <p:spPr>
          <a:xfrm>
            <a:off x="546982" y="2548575"/>
            <a:ext cx="10835276" cy="116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200" b="1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Why Do We Cite?</a:t>
            </a:r>
          </a:p>
          <a:p>
            <a:pPr>
              <a:lnSpc>
                <a:spcPts val="2333"/>
              </a:lnSpc>
              <a:defRPr sz="2200" b="1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Citing your sources means giving credit to the original authors of the ideas, words, or data you use in your work.</a:t>
            </a:r>
          </a:p>
          <a:p>
            <a:pPr>
              <a:lnSpc>
                <a:spcPts val="2333"/>
              </a:lnSpc>
              <a:defRPr sz="2200" b="1">
                <a:latin typeface="Inter"/>
                <a:ea typeface="Inter"/>
                <a:cs typeface="Inter"/>
                <a:sym typeface="Inter"/>
              </a:defRPr>
            </a:pPr>
            <a:br>
              <a:rPr sz="1833"/>
            </a:br>
            <a:r>
              <a:rPr sz="1833"/>
              <a:t>We cite to:</a:t>
            </a:r>
          </a:p>
        </p:txBody>
      </p:sp>
      <p:sp>
        <p:nvSpPr>
          <p:cNvPr id="4067" name="Refresher"/>
          <p:cNvSpPr txBox="1"/>
          <p:nvPr/>
        </p:nvSpPr>
        <p:spPr>
          <a:xfrm>
            <a:off x="-3791" y="-165798"/>
            <a:ext cx="4293467" cy="6456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099" rIns="38099">
            <a:spAutoFit/>
          </a:bodyPr>
          <a:lstStyle>
            <a:lvl1pPr>
              <a:lnSpc>
                <a:spcPts val="5100"/>
              </a:lnSpc>
              <a:defRPr sz="2600" b="1" i="1">
                <a:solidFill>
                  <a:srgbClr val="FF93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167"/>
              <a:t>Refresher     </a:t>
            </a: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9" name="Text 0"/>
          <p:cNvSpPr txBox="1"/>
          <p:nvPr/>
        </p:nvSpPr>
        <p:spPr>
          <a:xfrm>
            <a:off x="607971" y="1402937"/>
            <a:ext cx="9468450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Importance of giving reference</a:t>
            </a:r>
          </a:p>
        </p:txBody>
      </p:sp>
      <p:sp>
        <p:nvSpPr>
          <p:cNvPr id="4070" name="Text 1"/>
          <p:cNvSpPr txBox="1"/>
          <p:nvPr/>
        </p:nvSpPr>
        <p:spPr>
          <a:xfrm>
            <a:off x="546982" y="2548575"/>
            <a:ext cx="10835276" cy="2052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200" b="1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Why Do We Cite?</a:t>
            </a:r>
          </a:p>
          <a:p>
            <a:pPr>
              <a:lnSpc>
                <a:spcPts val="2333"/>
              </a:lnSpc>
              <a:defRPr sz="2200" b="1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Citing your sources means giving credit to the original authors of the ideas, words, or data you use in your work.</a:t>
            </a:r>
          </a:p>
          <a:p>
            <a:pPr>
              <a:lnSpc>
                <a:spcPts val="2333"/>
              </a:lnSpc>
              <a:defRPr sz="2200" b="1">
                <a:latin typeface="Inter"/>
                <a:ea typeface="Inter"/>
                <a:cs typeface="Inter"/>
                <a:sym typeface="Inter"/>
              </a:defRPr>
            </a:pPr>
            <a:br>
              <a:rPr sz="1833"/>
            </a:br>
            <a:r>
              <a:rPr sz="1833"/>
              <a:t>We cite to:</a:t>
            </a:r>
          </a:p>
          <a:p>
            <a:pPr marL="183808" indent="-183808">
              <a:lnSpc>
                <a:spcPts val="2333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Avoid plagiarism (taking credit for someone else's work),</a:t>
            </a:r>
          </a:p>
          <a:p>
            <a:pPr marL="183808" indent="-183808">
              <a:lnSpc>
                <a:spcPts val="2333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Show where your information came from, and</a:t>
            </a:r>
          </a:p>
          <a:p>
            <a:pPr marL="183808" indent="-183808">
              <a:lnSpc>
                <a:spcPts val="2333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Help others find those sources if they want to learn more.</a:t>
            </a:r>
          </a:p>
        </p:txBody>
      </p:sp>
      <p:sp>
        <p:nvSpPr>
          <p:cNvPr id="4071" name="Refresher"/>
          <p:cNvSpPr txBox="1"/>
          <p:nvPr/>
        </p:nvSpPr>
        <p:spPr>
          <a:xfrm>
            <a:off x="-3791" y="-165798"/>
            <a:ext cx="4293467" cy="6456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099" rIns="38099">
            <a:spAutoFit/>
          </a:bodyPr>
          <a:lstStyle>
            <a:lvl1pPr>
              <a:lnSpc>
                <a:spcPts val="5100"/>
              </a:lnSpc>
              <a:defRPr sz="2600" b="1" i="1">
                <a:solidFill>
                  <a:srgbClr val="FF93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167"/>
              <a:t>Refresher     </a:t>
            </a: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3" name="Text 0"/>
          <p:cNvSpPr txBox="1"/>
          <p:nvPr/>
        </p:nvSpPr>
        <p:spPr>
          <a:xfrm>
            <a:off x="607971" y="1402937"/>
            <a:ext cx="9468450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What to Cite? What not to Cite? </a:t>
            </a:r>
          </a:p>
        </p:txBody>
      </p:sp>
      <p:sp>
        <p:nvSpPr>
          <p:cNvPr id="4074" name="Refresher"/>
          <p:cNvSpPr txBox="1"/>
          <p:nvPr/>
        </p:nvSpPr>
        <p:spPr>
          <a:xfrm>
            <a:off x="-3791" y="-165798"/>
            <a:ext cx="4293467" cy="6456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099" rIns="38099">
            <a:spAutoFit/>
          </a:bodyPr>
          <a:lstStyle>
            <a:lvl1pPr>
              <a:lnSpc>
                <a:spcPts val="5100"/>
              </a:lnSpc>
              <a:defRPr sz="2600" b="1" i="1">
                <a:solidFill>
                  <a:srgbClr val="FF93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167"/>
              <a:t>Refresher     </a:t>
            </a: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6" name="Text 0"/>
          <p:cNvSpPr txBox="1"/>
          <p:nvPr/>
        </p:nvSpPr>
        <p:spPr>
          <a:xfrm>
            <a:off x="607971" y="1402937"/>
            <a:ext cx="9468450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What to Cite? What not to Cite? </a:t>
            </a:r>
          </a:p>
        </p:txBody>
      </p:sp>
      <p:sp>
        <p:nvSpPr>
          <p:cNvPr id="4077" name="Text 1"/>
          <p:cNvSpPr txBox="1"/>
          <p:nvPr/>
        </p:nvSpPr>
        <p:spPr>
          <a:xfrm>
            <a:off x="546982" y="2548576"/>
            <a:ext cx="10835276" cy="26429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200" b="1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You should cite:</a:t>
            </a:r>
          </a:p>
          <a:p>
            <a:pPr marL="183808" indent="-183808">
              <a:lnSpc>
                <a:spcPts val="2333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Direct quotes (even short ones),</a:t>
            </a:r>
          </a:p>
          <a:p>
            <a:pPr marL="183808" indent="-183808">
              <a:lnSpc>
                <a:spcPts val="2333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Paraphrased ideas (putting someone else’s idea into your own words),</a:t>
            </a:r>
          </a:p>
          <a:p>
            <a:pPr marL="183808" indent="-183808">
              <a:lnSpc>
                <a:spcPts val="2333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Statistics or data,</a:t>
            </a:r>
          </a:p>
          <a:p>
            <a:pPr marL="183808" indent="-183808">
              <a:lnSpc>
                <a:spcPts val="2333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Images, charts, or graphics you didn’t create.</a:t>
            </a:r>
          </a:p>
          <a:p>
            <a:pPr>
              <a:lnSpc>
                <a:spcPts val="2333"/>
              </a:lnSpc>
              <a:defRPr sz="2200">
                <a:latin typeface="Inter"/>
                <a:ea typeface="Inter"/>
                <a:cs typeface="Inter"/>
                <a:sym typeface="Inter"/>
              </a:defRPr>
            </a:pPr>
            <a:endParaRPr sz="1833"/>
          </a:p>
          <a:p>
            <a:pPr>
              <a:lnSpc>
                <a:spcPts val="2333"/>
              </a:lnSpc>
              <a:defRPr sz="2200" b="1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You do not need to cite:</a:t>
            </a:r>
          </a:p>
          <a:p>
            <a:pPr marL="183808" indent="-183808">
              <a:lnSpc>
                <a:spcPts val="2333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Common knowledge (e.g., “Water freezes at 0°C”),</a:t>
            </a:r>
          </a:p>
          <a:p>
            <a:pPr marL="183808" indent="-183808">
              <a:lnSpc>
                <a:spcPts val="2333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Your own original thoughts.</a:t>
            </a:r>
          </a:p>
        </p:txBody>
      </p:sp>
      <p:sp>
        <p:nvSpPr>
          <p:cNvPr id="4078" name="Refresher"/>
          <p:cNvSpPr txBox="1"/>
          <p:nvPr/>
        </p:nvSpPr>
        <p:spPr>
          <a:xfrm>
            <a:off x="-3791" y="-165798"/>
            <a:ext cx="4293467" cy="6456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099" rIns="38099">
            <a:spAutoFit/>
          </a:bodyPr>
          <a:lstStyle>
            <a:lvl1pPr>
              <a:lnSpc>
                <a:spcPts val="5100"/>
              </a:lnSpc>
              <a:defRPr sz="2600" b="1" i="1">
                <a:solidFill>
                  <a:srgbClr val="FF93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167"/>
              <a:t>Refresher     </a:t>
            </a: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0" name="Text 0"/>
          <p:cNvSpPr txBox="1"/>
          <p:nvPr/>
        </p:nvSpPr>
        <p:spPr>
          <a:xfrm>
            <a:off x="607971" y="1402937"/>
            <a:ext cx="9468450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How to Cite?</a:t>
            </a:r>
          </a:p>
        </p:txBody>
      </p:sp>
      <p:sp>
        <p:nvSpPr>
          <p:cNvPr id="4081" name="Text 1"/>
          <p:cNvSpPr txBox="1"/>
          <p:nvPr/>
        </p:nvSpPr>
        <p:spPr>
          <a:xfrm>
            <a:off x="546982" y="2252242"/>
            <a:ext cx="10835276" cy="3500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There are different citation styles (APA, MLA, Chicago), but the basic idea is the same:</a:t>
            </a:r>
          </a:p>
          <a:p>
            <a:pPr>
              <a:lnSpc>
                <a:spcPts val="2333"/>
              </a:lnSpc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You include the </a:t>
            </a:r>
            <a:r>
              <a:rPr sz="1833" b="1"/>
              <a:t>author’s name, date</a:t>
            </a:r>
            <a:r>
              <a:rPr sz="1833"/>
              <a:t>, and sometimes the </a:t>
            </a:r>
            <a:r>
              <a:rPr sz="1833" b="1"/>
              <a:t>page number</a:t>
            </a:r>
            <a:r>
              <a:rPr sz="1833"/>
              <a:t> in your text, and then list the full details at the end of your work.</a:t>
            </a:r>
          </a:p>
          <a:p>
            <a:pPr>
              <a:lnSpc>
                <a:spcPts val="2333"/>
              </a:lnSpc>
              <a:defRPr sz="2200">
                <a:latin typeface="Inter"/>
                <a:ea typeface="Inter"/>
                <a:cs typeface="Inter"/>
                <a:sym typeface="Inter"/>
              </a:defRPr>
            </a:pPr>
            <a:endParaRPr sz="1833"/>
          </a:p>
          <a:p>
            <a:pPr>
              <a:lnSpc>
                <a:spcPts val="2333"/>
              </a:lnSpc>
              <a:defRPr sz="2200" b="1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Example in APA Style:</a:t>
            </a:r>
          </a:p>
          <a:p>
            <a:pPr marL="183808" indent="-183808">
              <a:lnSpc>
                <a:spcPts val="2333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 i="1"/>
              <a:t>In-text citation</a:t>
            </a:r>
            <a:r>
              <a:rPr sz="1833"/>
              <a:t>:  "Teens who sleep less are more likely to report symptoms of depression" (Williams, 2021, p. 45).</a:t>
            </a:r>
          </a:p>
          <a:p>
            <a:pPr marL="183808" indent="-183808">
              <a:lnSpc>
                <a:spcPts val="2333"/>
              </a:lnSpc>
              <a:buSzPct val="100000"/>
              <a:buChar char="•"/>
              <a:defRPr sz="2200">
                <a:latin typeface="Inter"/>
                <a:ea typeface="Inter"/>
                <a:cs typeface="Inter"/>
                <a:sym typeface="Inter"/>
              </a:defRPr>
            </a:pPr>
            <a:r>
              <a:rPr sz="1833" i="1"/>
              <a:t>Works Cited/References page:</a:t>
            </a:r>
            <a:r>
              <a:rPr sz="1833"/>
              <a:t> Williams, A. (2021). The Science of Teen Sleep. TeenHealth Publishing.</a:t>
            </a:r>
          </a:p>
          <a:p>
            <a:pPr>
              <a:lnSpc>
                <a:spcPts val="2333"/>
              </a:lnSpc>
              <a:defRPr sz="2200">
                <a:latin typeface="Inter"/>
                <a:ea typeface="Inter"/>
                <a:cs typeface="Inter"/>
                <a:sym typeface="Inter"/>
              </a:defRPr>
            </a:pPr>
            <a:endParaRPr sz="1833"/>
          </a:p>
          <a:p>
            <a:pPr>
              <a:lnSpc>
                <a:spcPts val="2333"/>
              </a:lnSpc>
              <a:defRPr sz="2200" b="1">
                <a:latin typeface="Inter"/>
                <a:ea typeface="Inter"/>
                <a:cs typeface="Inter"/>
                <a:sym typeface="Inter"/>
              </a:defRPr>
            </a:pPr>
            <a:r>
              <a:rPr sz="1833"/>
              <a:t>When citing online resources, instead of writing just a link, include full source info:</a:t>
            </a:r>
          </a:p>
          <a:p>
            <a:pPr defTabSz="380985"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1833"/>
              <a:t>Not this: https://example.com/article</a:t>
            </a:r>
          </a:p>
          <a:p>
            <a:pPr defTabSz="380985"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1833"/>
              <a:t>Do this: Smith, J. (2022). </a:t>
            </a:r>
            <a:r>
              <a:rPr sz="1833" i="1"/>
              <a:t>Climate change and food security</a:t>
            </a:r>
            <a:r>
              <a:rPr sz="1833"/>
              <a:t>. National Environmental Journal. https://example.com/article</a:t>
            </a: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3" name="Text 0"/>
          <p:cNvSpPr txBox="1"/>
          <p:nvPr/>
        </p:nvSpPr>
        <p:spPr>
          <a:xfrm>
            <a:off x="607971" y="1402937"/>
            <a:ext cx="9468450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Tips for Citations</a:t>
            </a:r>
          </a:p>
        </p:txBody>
      </p:sp>
      <p:sp>
        <p:nvSpPr>
          <p:cNvPr id="4084" name="Text 1"/>
          <p:cNvSpPr txBox="1"/>
          <p:nvPr/>
        </p:nvSpPr>
        <p:spPr>
          <a:xfrm>
            <a:off x="546982" y="2167575"/>
            <a:ext cx="10835276" cy="4654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83808" indent="-183808">
              <a:buSzPct val="100000"/>
              <a:buChar char="•"/>
              <a:defRPr sz="2400">
                <a:latin typeface="Inter"/>
                <a:ea typeface="Inter"/>
                <a:cs typeface="Inter"/>
                <a:sym typeface="Inter"/>
              </a:defRPr>
            </a:pPr>
            <a:r>
              <a:rPr sz="2000" b="1"/>
              <a:t>Keep track </a:t>
            </a:r>
            <a:r>
              <a:rPr sz="2000"/>
              <a:t>of your sources as you research (write down author, title, date, and link).</a:t>
            </a:r>
          </a:p>
          <a:p>
            <a:pPr marL="183808" indent="-183808">
              <a:buSzPct val="100000"/>
              <a:buChar char="•"/>
              <a:defRPr sz="2400">
                <a:latin typeface="Inter"/>
                <a:ea typeface="Inter"/>
                <a:cs typeface="Inter"/>
                <a:sym typeface="Inter"/>
              </a:defRPr>
            </a:pPr>
            <a:r>
              <a:rPr sz="2000"/>
              <a:t>Don’t wait until the end to cite; </a:t>
            </a:r>
            <a:r>
              <a:rPr sz="2000" b="1"/>
              <a:t>build it in as you go</a:t>
            </a:r>
            <a:r>
              <a:rPr sz="2000"/>
              <a:t>.</a:t>
            </a:r>
          </a:p>
          <a:p>
            <a:pPr marL="183808" indent="-183808">
              <a:buSzPct val="100000"/>
              <a:buChar char="•"/>
              <a:defRPr sz="2400">
                <a:latin typeface="Inter"/>
                <a:ea typeface="Inter"/>
                <a:cs typeface="Inter"/>
                <a:sym typeface="Inter"/>
              </a:defRPr>
            </a:pPr>
            <a:r>
              <a:rPr sz="2000"/>
              <a:t>Use </a:t>
            </a:r>
            <a:r>
              <a:rPr sz="2000" b="1"/>
              <a:t>citation tools</a:t>
            </a:r>
            <a:r>
              <a:rPr sz="2000"/>
              <a:t> (like EasyBib, Zotero, or built-in Google Docs citation feature) to help format correctly.</a:t>
            </a:r>
          </a:p>
          <a:p>
            <a:pPr marL="183808" indent="-183808">
              <a:buSzPct val="100000"/>
              <a:buChar char="•"/>
              <a:defRPr sz="2400">
                <a:latin typeface="Inter"/>
                <a:ea typeface="Inter"/>
                <a:cs typeface="Inter"/>
                <a:sym typeface="Inter"/>
              </a:defRPr>
            </a:pPr>
            <a:r>
              <a:rPr sz="2000"/>
              <a:t>Always double-check your citations with your </a:t>
            </a:r>
            <a:r>
              <a:rPr sz="2000" b="1"/>
              <a:t>teacher’s required style guide</a:t>
            </a:r>
            <a:r>
              <a:rPr sz="2000"/>
              <a:t>.</a:t>
            </a:r>
          </a:p>
          <a:p>
            <a:pPr>
              <a:defRPr sz="2400">
                <a:latin typeface="Inter"/>
                <a:ea typeface="Inter"/>
                <a:cs typeface="Inter"/>
                <a:sym typeface="Inter"/>
              </a:defRPr>
            </a:pPr>
            <a:endParaRPr sz="2000"/>
          </a:p>
          <a:p>
            <a:pPr>
              <a:defRPr sz="2400">
                <a:latin typeface="Inter"/>
                <a:ea typeface="Inter"/>
                <a:cs typeface="Inter"/>
                <a:sym typeface="Inter"/>
              </a:defRPr>
            </a:pPr>
            <a:endParaRPr sz="2000"/>
          </a:p>
          <a:p>
            <a:pPr>
              <a:defRPr sz="4300" b="1">
                <a:latin typeface="Inter"/>
                <a:ea typeface="Inter"/>
                <a:cs typeface="Inter"/>
                <a:sym typeface="Inter"/>
              </a:defRPr>
            </a:pPr>
            <a:r>
              <a:rPr sz="3583"/>
              <a:t>Closing Thought</a:t>
            </a:r>
          </a:p>
          <a:p>
            <a:pPr>
              <a:defRPr sz="3600" b="1">
                <a:latin typeface="Inter"/>
                <a:ea typeface="Inter"/>
                <a:cs typeface="Inter"/>
                <a:sym typeface="Inter"/>
              </a:defRPr>
            </a:pPr>
            <a:endParaRPr sz="3000"/>
          </a:p>
          <a:p>
            <a:pPr defTabSz="380985">
              <a:spcBef>
                <a:spcPts val="1000"/>
              </a:spcBef>
              <a:defRPr sz="2500">
                <a:latin typeface="Arial"/>
                <a:ea typeface="Arial"/>
                <a:cs typeface="Arial"/>
                <a:sym typeface="Arial"/>
              </a:defRPr>
            </a:pPr>
            <a:r>
              <a:rPr sz="2083" b="1"/>
              <a:t>Citing is part of being a trustworthy researcher.</a:t>
            </a:r>
            <a:r>
              <a:rPr sz="2083"/>
              <a:t> It shows you're respectful of other people’s work and serious about your own.</a:t>
            </a:r>
          </a:p>
          <a:p>
            <a:pPr defTabSz="380985">
              <a:spcBef>
                <a:spcPts val="10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endParaRPr sz="1000"/>
          </a:p>
          <a:p>
            <a:pPr defTabSz="380985">
              <a:spcBef>
                <a:spcPts val="1000"/>
              </a:spcBef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endParaRPr sz="2000"/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6" name="Text"/>
          <p:cNvSpPr txBox="1"/>
          <p:nvPr/>
        </p:nvSpPr>
        <p:spPr>
          <a:xfrm>
            <a:off x="6036734" y="3316816"/>
            <a:ext cx="10900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099" rIns="38099">
            <a:spAutoFit/>
          </a:bodyPr>
          <a:lstStyle>
            <a:lvl1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sz="1000"/>
              <a:t> </a:t>
            </a:r>
          </a:p>
        </p:txBody>
      </p:sp>
      <p:sp>
        <p:nvSpPr>
          <p:cNvPr id="4087" name="Text 0"/>
          <p:cNvSpPr txBox="1"/>
          <p:nvPr/>
        </p:nvSpPr>
        <p:spPr>
          <a:xfrm>
            <a:off x="661491" y="1734045"/>
            <a:ext cx="6498333" cy="2318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Let’s look into your Literature Review slides</a:t>
            </a:r>
          </a:p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3667"/>
          </a:p>
          <a:p>
            <a:pPr>
              <a:lnSpc>
                <a:spcPts val="4583"/>
              </a:lnSpc>
              <a:defRPr sz="44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Team-up! </a:t>
            </a: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9" name="Text 0"/>
          <p:cNvSpPr txBox="1"/>
          <p:nvPr/>
        </p:nvSpPr>
        <p:spPr>
          <a:xfrm>
            <a:off x="661492" y="545486"/>
            <a:ext cx="10869017" cy="613533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Presentation outline</a:t>
            </a:r>
          </a:p>
          <a:p>
            <a:pPr>
              <a:lnSpc>
                <a:spcPct val="110000"/>
              </a:lnSpc>
              <a:defRPr sz="1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917"/>
          </a:p>
          <a:p>
            <a:pPr marL="560894" indent="-560894">
              <a:lnSpc>
                <a:spcPct val="110000"/>
              </a:lnSpc>
              <a:buSzPct val="100000"/>
              <a:buAutoNum type="arabicParenBoth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Title Slide: Introduce yourself and the project by naming the title, presenters, date of presentation, the Institutions at which the study is conducted. Add logos if you can. 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Topic Slide: Name your global challenge, define it (cite your source), state why this is important (cite your sources)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Literature Review Slide: What do you know about this issue based on your literature review? Have a couple statements arranged by ideas / themes. Cite your sources. 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Research Question Slide: Name your research questions(s) and if possible hypothesis 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Methods Slide: State that your work is secondary research. Introduce your data source (including the year data was collected) &amp; sample (including its size and key characteristics). Name key variables. Name the tools you used to analyze data.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Results Slides: </a:t>
            </a:r>
          </a:p>
          <a:p>
            <a:pPr>
              <a:lnSpc>
                <a:spcPct val="1100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- First share descriptive statistics for each key variable (mean, median, mode, range)</a:t>
            </a:r>
          </a:p>
          <a:p>
            <a:pPr>
              <a:lnSpc>
                <a:spcPct val="1100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- Provide numbers, graphs, tables.. as suitable. This can be multiple slides. 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 startAt="7"/>
              <a:defRPr sz="2400" b="1">
                <a:solidFill>
                  <a:srgbClr val="919191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Discussion: How you interpret what you have found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 startAt="7"/>
              <a:defRPr sz="2400" b="1">
                <a:solidFill>
                  <a:srgbClr val="919191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Conclusion: Final words and good-bye 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 startAt="7"/>
              <a:defRPr sz="2400" b="1">
                <a:solidFill>
                  <a:srgbClr val="919191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References: List your references. Be consistent with the style. </a:t>
            </a:r>
          </a:p>
        </p:txBody>
      </p:sp>
      <p:sp>
        <p:nvSpPr>
          <p:cNvPr id="4090" name="Shape 2"/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2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5380" y="700690"/>
            <a:ext cx="3935541" cy="5903311"/>
          </a:xfrm>
          <a:prstGeom prst="rect">
            <a:avLst/>
          </a:prstGeom>
          <a:ln w="12700">
            <a:miter lim="400000"/>
          </a:ln>
        </p:spPr>
      </p:pic>
      <p:sp>
        <p:nvSpPr>
          <p:cNvPr id="4093" name="Text 0"/>
          <p:cNvSpPr txBox="1"/>
          <p:nvPr/>
        </p:nvSpPr>
        <p:spPr>
          <a:xfrm>
            <a:off x="661492" y="1043087"/>
            <a:ext cx="5232202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Homework - Teamwork</a:t>
            </a:r>
          </a:p>
        </p:txBody>
      </p:sp>
      <p:sp>
        <p:nvSpPr>
          <p:cNvPr id="4094" name="Shape 1"/>
          <p:cNvSpPr/>
          <p:nvPr/>
        </p:nvSpPr>
        <p:spPr>
          <a:xfrm>
            <a:off x="492158" y="1793879"/>
            <a:ext cx="6843855" cy="1894006"/>
          </a:xfrm>
          <a:prstGeom prst="roundRect">
            <a:avLst>
              <a:gd name="adj" fmla="val 4204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4095" name="Text 2"/>
          <p:cNvSpPr txBox="1"/>
          <p:nvPr/>
        </p:nvSpPr>
        <p:spPr>
          <a:xfrm>
            <a:off x="856853" y="1951341"/>
            <a:ext cx="5148571" cy="1159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5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833"/>
          </a:p>
          <a:p>
            <a:pPr marL="183808" indent="-183808">
              <a:lnSpc>
                <a:spcPts val="2250"/>
              </a:lnSpc>
              <a:buSzPct val="100000"/>
              <a:buChar char="•"/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1833"/>
              <a:t>Continue adding to your presentation slides</a:t>
            </a:r>
          </a:p>
          <a:p>
            <a:pPr>
              <a:lnSpc>
                <a:spcPts val="225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833"/>
          </a:p>
          <a:p>
            <a:pPr marL="183808" indent="-183808">
              <a:lnSpc>
                <a:spcPts val="2250"/>
              </a:lnSpc>
              <a:buSzPct val="100000"/>
              <a:buChar char="•"/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1833"/>
              <a:t>Incorporate your results to your PowerPoint</a:t>
            </a:r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"/>
          <p:cNvSpPr/>
          <p:nvPr/>
        </p:nvSpPr>
        <p:spPr>
          <a:xfrm>
            <a:off x="10278766" y="-63446"/>
            <a:ext cx="1058334" cy="698489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4098" name="Rectangle"/>
          <p:cNvSpPr/>
          <p:nvPr/>
        </p:nvSpPr>
        <p:spPr>
          <a:xfrm>
            <a:off x="8310266" y="120000"/>
            <a:ext cx="1058334" cy="698489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4099" name="Rectangle"/>
          <p:cNvSpPr/>
          <p:nvPr/>
        </p:nvSpPr>
        <p:spPr>
          <a:xfrm>
            <a:off x="6341766" y="-63446"/>
            <a:ext cx="1058334" cy="698489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4100" name="Rectangle"/>
          <p:cNvSpPr/>
          <p:nvPr/>
        </p:nvSpPr>
        <p:spPr>
          <a:xfrm>
            <a:off x="4474788" y="-63446"/>
            <a:ext cx="1058334" cy="698489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4101" name="Rectangle"/>
          <p:cNvSpPr/>
          <p:nvPr/>
        </p:nvSpPr>
        <p:spPr>
          <a:xfrm>
            <a:off x="2607811" y="-63446"/>
            <a:ext cx="1058334" cy="698489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4102" name="Rectangle"/>
          <p:cNvSpPr/>
          <p:nvPr/>
        </p:nvSpPr>
        <p:spPr>
          <a:xfrm>
            <a:off x="740833" y="-63446"/>
            <a:ext cx="1058333" cy="698489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4103" name="EXTRA SLIDES FOR DAY 7"/>
          <p:cNvSpPr txBox="1"/>
          <p:nvPr/>
        </p:nvSpPr>
        <p:spPr>
          <a:xfrm>
            <a:off x="81618" y="1146599"/>
            <a:ext cx="12028765" cy="1111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099" rIns="38099">
            <a:spAutoFit/>
          </a:bodyPr>
          <a:lstStyle/>
          <a:p>
            <a:pPr algn="ctr">
              <a:lnSpc>
                <a:spcPct val="90000"/>
              </a:lnSpc>
              <a:defRPr sz="4400">
                <a:latin typeface="Aptos Display"/>
                <a:ea typeface="Aptos Display"/>
                <a:cs typeface="Aptos Display"/>
                <a:sym typeface="Aptos Display"/>
              </a:defRPr>
            </a:pPr>
            <a:endParaRPr sz="3667"/>
          </a:p>
          <a:p>
            <a:pPr algn="ctr">
              <a:lnSpc>
                <a:spcPct val="90000"/>
              </a:lnSpc>
              <a:defRPr sz="4400"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rPr sz="3667" b="1"/>
              <a:t>EXTRA SLIDES FOR DAY 7</a:t>
            </a:r>
          </a:p>
        </p:txBody>
      </p:sp>
      <p:sp>
        <p:nvSpPr>
          <p:cNvPr id="4104" name="Rectangle"/>
          <p:cNvSpPr/>
          <p:nvPr/>
        </p:nvSpPr>
        <p:spPr>
          <a:xfrm>
            <a:off x="-155850" y="6147566"/>
            <a:ext cx="12503701" cy="7488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4105" name="Rectangle"/>
          <p:cNvSpPr/>
          <p:nvPr/>
        </p:nvSpPr>
        <p:spPr>
          <a:xfrm>
            <a:off x="-11851" y="-58595"/>
            <a:ext cx="12215701" cy="7488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7" name="Google Shape;783;p36" descr="Google Shape;783;p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30261" cy="6195393"/>
          </a:xfrm>
          <a:prstGeom prst="rect">
            <a:avLst/>
          </a:prstGeom>
          <a:ln w="12700">
            <a:miter lim="400000"/>
          </a:ln>
        </p:spPr>
      </p:pic>
      <p:sp>
        <p:nvSpPr>
          <p:cNvPr id="4108" name="Google Shape;784;p36"/>
          <p:cNvSpPr txBox="1"/>
          <p:nvPr/>
        </p:nvSpPr>
        <p:spPr>
          <a:xfrm>
            <a:off x="5165229" y="1108869"/>
            <a:ext cx="6433543" cy="562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7058"/>
              </a:lnSpc>
              <a:defRPr sz="3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2833"/>
              <a:t>Comparing Two Groups: The t-Test</a:t>
            </a:r>
          </a:p>
        </p:txBody>
      </p:sp>
      <p:sp>
        <p:nvSpPr>
          <p:cNvPr id="4109" name="Google Shape;785;p36"/>
          <p:cNvSpPr/>
          <p:nvPr/>
        </p:nvSpPr>
        <p:spPr>
          <a:xfrm>
            <a:off x="5165229" y="2049264"/>
            <a:ext cx="381398" cy="381398"/>
          </a:xfrm>
          <a:prstGeom prst="roundRect">
            <a:avLst>
              <a:gd name="adj" fmla="val 18667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pic>
        <p:nvPicPr>
          <p:cNvPr id="4110" name="Google Shape;786;p36" descr="Google Shape;786;p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829" y="2081064"/>
            <a:ext cx="254199" cy="317798"/>
          </a:xfrm>
          <a:prstGeom prst="rect">
            <a:avLst/>
          </a:prstGeom>
          <a:ln w="12700">
            <a:miter lim="400000"/>
          </a:ln>
        </p:spPr>
      </p:pic>
      <p:sp>
        <p:nvSpPr>
          <p:cNvPr id="4111" name="Google Shape;787;p36"/>
          <p:cNvSpPr txBox="1"/>
          <p:nvPr/>
        </p:nvSpPr>
        <p:spPr>
          <a:xfrm>
            <a:off x="5716091" y="2107506"/>
            <a:ext cx="2118918" cy="288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0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667"/>
              <a:t>Purpose</a:t>
            </a:r>
          </a:p>
        </p:txBody>
      </p:sp>
      <p:sp>
        <p:nvSpPr>
          <p:cNvPr id="4112" name="Google Shape;788;p36"/>
          <p:cNvSpPr txBox="1"/>
          <p:nvPr/>
        </p:nvSpPr>
        <p:spPr>
          <a:xfrm>
            <a:off x="5716091" y="2474120"/>
            <a:ext cx="5882680" cy="289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9375"/>
              </a:lnSpc>
              <a:defRPr sz="1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333"/>
              <a:t>Compares means of two groups to see if they're significantly different.</a:t>
            </a:r>
          </a:p>
        </p:txBody>
      </p:sp>
      <p:sp>
        <p:nvSpPr>
          <p:cNvPr id="4113" name="Google Shape;789;p36"/>
          <p:cNvSpPr/>
          <p:nvPr/>
        </p:nvSpPr>
        <p:spPr>
          <a:xfrm>
            <a:off x="5165229" y="3084414"/>
            <a:ext cx="381398" cy="381398"/>
          </a:xfrm>
          <a:prstGeom prst="roundRect">
            <a:avLst>
              <a:gd name="adj" fmla="val 18667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pic>
        <p:nvPicPr>
          <p:cNvPr id="4114" name="Google Shape;790;p36" descr="Google Shape;790;p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8829" y="3116213"/>
            <a:ext cx="254199" cy="317798"/>
          </a:xfrm>
          <a:prstGeom prst="rect">
            <a:avLst/>
          </a:prstGeom>
          <a:ln w="12700">
            <a:miter lim="400000"/>
          </a:ln>
        </p:spPr>
      </p:pic>
      <p:sp>
        <p:nvSpPr>
          <p:cNvPr id="4115" name="Google Shape;791;p36"/>
          <p:cNvSpPr txBox="1"/>
          <p:nvPr/>
        </p:nvSpPr>
        <p:spPr>
          <a:xfrm>
            <a:off x="5716091" y="3142655"/>
            <a:ext cx="2118918" cy="288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0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667"/>
              <a:t>Calculation Factors</a:t>
            </a:r>
          </a:p>
        </p:txBody>
      </p:sp>
      <p:sp>
        <p:nvSpPr>
          <p:cNvPr id="4116" name="Google Shape;792;p36"/>
          <p:cNvSpPr txBox="1"/>
          <p:nvPr/>
        </p:nvSpPr>
        <p:spPr>
          <a:xfrm>
            <a:off x="5716091" y="3509269"/>
            <a:ext cx="5882680" cy="289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9375"/>
              </a:lnSpc>
              <a:defRPr sz="1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333"/>
              <a:t>Considers difference between means, variability within groups, and sample size.</a:t>
            </a:r>
          </a:p>
        </p:txBody>
      </p:sp>
      <p:sp>
        <p:nvSpPr>
          <p:cNvPr id="4117" name="Google Shape;793;p36"/>
          <p:cNvSpPr/>
          <p:nvPr/>
        </p:nvSpPr>
        <p:spPr>
          <a:xfrm>
            <a:off x="5165229" y="4390826"/>
            <a:ext cx="381398" cy="381398"/>
          </a:xfrm>
          <a:prstGeom prst="roundRect">
            <a:avLst>
              <a:gd name="adj" fmla="val 18667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pic>
        <p:nvPicPr>
          <p:cNvPr id="4118" name="Google Shape;794;p36" descr="Google Shape;794;p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8829" y="4422625"/>
            <a:ext cx="254199" cy="317798"/>
          </a:xfrm>
          <a:prstGeom prst="rect">
            <a:avLst/>
          </a:prstGeom>
          <a:ln w="12700">
            <a:miter lim="400000"/>
          </a:ln>
        </p:spPr>
      </p:pic>
      <p:sp>
        <p:nvSpPr>
          <p:cNvPr id="4119" name="Google Shape;795;p36"/>
          <p:cNvSpPr txBox="1"/>
          <p:nvPr/>
        </p:nvSpPr>
        <p:spPr>
          <a:xfrm>
            <a:off x="5716091" y="4449068"/>
            <a:ext cx="2118918" cy="288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0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667"/>
              <a:t>Results</a:t>
            </a:r>
          </a:p>
        </p:txBody>
      </p:sp>
      <p:sp>
        <p:nvSpPr>
          <p:cNvPr id="4120" name="Google Shape;796;p36"/>
          <p:cNvSpPr txBox="1"/>
          <p:nvPr/>
        </p:nvSpPr>
        <p:spPr>
          <a:xfrm>
            <a:off x="5716091" y="4815681"/>
            <a:ext cx="5882680" cy="289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9375"/>
              </a:lnSpc>
              <a:defRPr sz="1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333"/>
              <a:t>Produces t-statistic and p-value to determine significance.</a:t>
            </a:r>
          </a:p>
        </p:txBody>
      </p:sp>
      <p:sp>
        <p:nvSpPr>
          <p:cNvPr id="4121" name="Google Shape;797;p36"/>
          <p:cNvSpPr/>
          <p:nvPr/>
        </p:nvSpPr>
        <p:spPr>
          <a:xfrm>
            <a:off x="5165229" y="5425975"/>
            <a:ext cx="381398" cy="381398"/>
          </a:xfrm>
          <a:prstGeom prst="roundRect">
            <a:avLst>
              <a:gd name="adj" fmla="val 18667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pic>
        <p:nvPicPr>
          <p:cNvPr id="4122" name="Google Shape;798;p36" descr="Google Shape;798;p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8829" y="5457774"/>
            <a:ext cx="254199" cy="317798"/>
          </a:xfrm>
          <a:prstGeom prst="rect">
            <a:avLst/>
          </a:prstGeom>
          <a:ln w="12700">
            <a:miter lim="400000"/>
          </a:ln>
        </p:spPr>
      </p:pic>
      <p:sp>
        <p:nvSpPr>
          <p:cNvPr id="4123" name="Google Shape;799;p36"/>
          <p:cNvSpPr txBox="1"/>
          <p:nvPr/>
        </p:nvSpPr>
        <p:spPr>
          <a:xfrm>
            <a:off x="5716091" y="5484218"/>
            <a:ext cx="2118918" cy="288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0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667"/>
              <a:t>Common Uses</a:t>
            </a:r>
          </a:p>
        </p:txBody>
      </p:sp>
      <p:sp>
        <p:nvSpPr>
          <p:cNvPr id="4124" name="Google Shape;800;p36"/>
          <p:cNvSpPr txBox="1"/>
          <p:nvPr/>
        </p:nvSpPr>
        <p:spPr>
          <a:xfrm>
            <a:off x="5716091" y="5850831"/>
            <a:ext cx="5882680" cy="289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9375"/>
              </a:lnSpc>
              <a:defRPr sz="1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333"/>
              <a:t>Testing new methods, comparing treatments, evaluating interventions.</a:t>
            </a:r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" name="Google Shape;806;p37"/>
          <p:cNvSpPr txBox="1"/>
          <p:nvPr/>
        </p:nvSpPr>
        <p:spPr>
          <a:xfrm>
            <a:off x="565844" y="444598"/>
            <a:ext cx="7872245" cy="548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38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3167"/>
              <a:t>t-Test Example: Learning App Study</a:t>
            </a:r>
          </a:p>
        </p:txBody>
      </p:sp>
      <p:sp>
        <p:nvSpPr>
          <p:cNvPr id="4127" name="Google Shape;807;p37"/>
          <p:cNvSpPr txBox="1"/>
          <p:nvPr/>
        </p:nvSpPr>
        <p:spPr>
          <a:xfrm>
            <a:off x="565844" y="1353938"/>
            <a:ext cx="2020888" cy="272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3684"/>
              </a:lnSpc>
              <a:defRPr sz="19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583"/>
              <a:t>The Scenario</a:t>
            </a:r>
          </a:p>
        </p:txBody>
      </p:sp>
      <p:sp>
        <p:nvSpPr>
          <p:cNvPr id="4128" name="Google Shape;808;p37"/>
          <p:cNvSpPr txBox="1"/>
          <p:nvPr/>
        </p:nvSpPr>
        <p:spPr>
          <a:xfrm>
            <a:off x="565844" y="1768177"/>
            <a:ext cx="5333008" cy="282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Class A tried a new learning app for a month.</a:t>
            </a:r>
          </a:p>
        </p:txBody>
      </p:sp>
      <p:sp>
        <p:nvSpPr>
          <p:cNvPr id="4129" name="Google Shape;809;p37"/>
          <p:cNvSpPr txBox="1"/>
          <p:nvPr/>
        </p:nvSpPr>
        <p:spPr>
          <a:xfrm>
            <a:off x="565844" y="2172196"/>
            <a:ext cx="5333008" cy="282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Class B used traditional homework.</a:t>
            </a:r>
          </a:p>
        </p:txBody>
      </p:sp>
      <p:sp>
        <p:nvSpPr>
          <p:cNvPr id="4130" name="Google Shape;810;p37"/>
          <p:cNvSpPr txBox="1"/>
          <p:nvPr/>
        </p:nvSpPr>
        <p:spPr>
          <a:xfrm>
            <a:off x="565844" y="2576216"/>
            <a:ext cx="5333008" cy="282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Class A mean score: 85</a:t>
            </a:r>
          </a:p>
        </p:txBody>
      </p:sp>
      <p:sp>
        <p:nvSpPr>
          <p:cNvPr id="4131" name="Google Shape;811;p37"/>
          <p:cNvSpPr txBox="1"/>
          <p:nvPr/>
        </p:nvSpPr>
        <p:spPr>
          <a:xfrm>
            <a:off x="565844" y="2980234"/>
            <a:ext cx="5333008" cy="282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Class B mean score: 80</a:t>
            </a:r>
          </a:p>
        </p:txBody>
      </p:sp>
      <p:sp>
        <p:nvSpPr>
          <p:cNvPr id="4132" name="Google Shape;812;p37"/>
          <p:cNvSpPr txBox="1"/>
          <p:nvPr/>
        </p:nvSpPr>
        <p:spPr>
          <a:xfrm>
            <a:off x="565845" y="3384252"/>
            <a:ext cx="4749504" cy="564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Question: Is the 5-point difference due to the app or just chance?</a:t>
            </a:r>
          </a:p>
        </p:txBody>
      </p:sp>
      <p:pic>
        <p:nvPicPr>
          <p:cNvPr id="4133" name="Google Shape;813;p37" descr="Google Shape;813;p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8532" y="1154974"/>
            <a:ext cx="6318293" cy="4212157"/>
          </a:xfrm>
          <a:prstGeom prst="rect">
            <a:avLst/>
          </a:prstGeom>
          <a:ln w="12700">
            <a:miter lim="400000"/>
          </a:ln>
        </p:spPr>
      </p:pic>
      <p:sp>
        <p:nvSpPr>
          <p:cNvPr id="4134" name="Google Shape;814;p37"/>
          <p:cNvSpPr txBox="1"/>
          <p:nvPr/>
        </p:nvSpPr>
        <p:spPr>
          <a:xfrm>
            <a:off x="965674" y="4192290"/>
            <a:ext cx="5333008" cy="282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t-statistic: 3.59</a:t>
            </a:r>
          </a:p>
        </p:txBody>
      </p:sp>
      <p:sp>
        <p:nvSpPr>
          <p:cNvPr id="4135" name="Google Shape;815;p37"/>
          <p:cNvSpPr txBox="1"/>
          <p:nvPr/>
        </p:nvSpPr>
        <p:spPr>
          <a:xfrm>
            <a:off x="965674" y="4596308"/>
            <a:ext cx="5333008" cy="282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p-value: 0.0009</a:t>
            </a:r>
          </a:p>
        </p:txBody>
      </p:sp>
      <p:sp>
        <p:nvSpPr>
          <p:cNvPr id="4136" name="Google Shape;816;p37"/>
          <p:cNvSpPr txBox="1"/>
          <p:nvPr/>
        </p:nvSpPr>
        <p:spPr>
          <a:xfrm>
            <a:off x="965674" y="5000328"/>
            <a:ext cx="5333008" cy="282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Result: Statistically significant (p &lt; 0.05)</a:t>
            </a:r>
          </a:p>
        </p:txBody>
      </p:sp>
      <p:sp>
        <p:nvSpPr>
          <p:cNvPr id="4137" name="Google Shape;817;p37"/>
          <p:cNvSpPr txBox="1"/>
          <p:nvPr/>
        </p:nvSpPr>
        <p:spPr>
          <a:xfrm>
            <a:off x="965674" y="5404346"/>
            <a:ext cx="5333008" cy="564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Conclusion: The app likely had a positive effect on scores.</a:t>
            </a:r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9" name="Google Shape;823;p38"/>
          <p:cNvSpPr txBox="1"/>
          <p:nvPr/>
        </p:nvSpPr>
        <p:spPr>
          <a:xfrm>
            <a:off x="643036" y="505221"/>
            <a:ext cx="9113145" cy="624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581"/>
              </a:lnSpc>
              <a:defRPr sz="43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3583"/>
              <a:t>Regression Analysis: Finding Relationships</a:t>
            </a:r>
          </a:p>
        </p:txBody>
      </p:sp>
      <p:sp>
        <p:nvSpPr>
          <p:cNvPr id="4140" name="Google Shape;824;p38"/>
          <p:cNvSpPr txBox="1"/>
          <p:nvPr/>
        </p:nvSpPr>
        <p:spPr>
          <a:xfrm>
            <a:off x="600663" y="2066705"/>
            <a:ext cx="2296817" cy="305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581"/>
              </a:lnSpc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750"/>
              <a:t>What Is Regression?</a:t>
            </a:r>
          </a:p>
        </p:txBody>
      </p:sp>
      <p:sp>
        <p:nvSpPr>
          <p:cNvPr id="4141" name="Google Shape;825;p38"/>
          <p:cNvSpPr txBox="1"/>
          <p:nvPr/>
        </p:nvSpPr>
        <p:spPr>
          <a:xfrm>
            <a:off x="586541" y="2651325"/>
            <a:ext cx="5228829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A method to model or predict one variable based on another.</a:t>
            </a:r>
          </a:p>
        </p:txBody>
      </p:sp>
      <p:sp>
        <p:nvSpPr>
          <p:cNvPr id="4142" name="Google Shape;826;p38"/>
          <p:cNvSpPr txBox="1"/>
          <p:nvPr/>
        </p:nvSpPr>
        <p:spPr>
          <a:xfrm>
            <a:off x="586541" y="3404594"/>
            <a:ext cx="5228829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Finds the "line of best fit" through data points.</a:t>
            </a:r>
          </a:p>
        </p:txBody>
      </p:sp>
      <p:sp>
        <p:nvSpPr>
          <p:cNvPr id="4143" name="Google Shape;827;p38"/>
          <p:cNvSpPr txBox="1"/>
          <p:nvPr/>
        </p:nvSpPr>
        <p:spPr>
          <a:xfrm>
            <a:off x="586541" y="3863878"/>
            <a:ext cx="5228829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Quantifies the relationship between variables.</a:t>
            </a:r>
          </a:p>
        </p:txBody>
      </p:sp>
      <p:pic>
        <p:nvPicPr>
          <p:cNvPr id="4144" name="Google Shape;828;p38" descr="Google Shape;828;p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485" y="1561604"/>
            <a:ext cx="5752873" cy="3835213"/>
          </a:xfrm>
          <a:prstGeom prst="rect">
            <a:avLst/>
          </a:prstGeom>
          <a:ln w="12700">
            <a:miter lim="400000"/>
          </a:ln>
        </p:spPr>
      </p:pic>
      <p:sp>
        <p:nvSpPr>
          <p:cNvPr id="4145" name="Google Shape;829;p38"/>
          <p:cNvSpPr txBox="1"/>
          <p:nvPr/>
        </p:nvSpPr>
        <p:spPr>
          <a:xfrm>
            <a:off x="586541" y="4397090"/>
            <a:ext cx="5228829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Example: Predicting test scores based on study hours.</a:t>
            </a:r>
          </a:p>
        </p:txBody>
      </p:sp>
      <p:sp>
        <p:nvSpPr>
          <p:cNvPr id="4146" name="Google Shape;830;p38"/>
          <p:cNvSpPr txBox="1"/>
          <p:nvPr/>
        </p:nvSpPr>
        <p:spPr>
          <a:xfrm>
            <a:off x="586541" y="5237220"/>
            <a:ext cx="5228829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The upward slope shows more study time relates to higher scores.</a:t>
            </a:r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8" name="Google Shape;836;p39" descr="Google Shape;836;p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194314" cy="6291470"/>
          </a:xfrm>
          <a:prstGeom prst="rect">
            <a:avLst/>
          </a:prstGeom>
          <a:ln w="12700">
            <a:miter lim="400000"/>
          </a:ln>
        </p:spPr>
      </p:pic>
      <p:sp>
        <p:nvSpPr>
          <p:cNvPr id="4149" name="Google Shape;837;p39"/>
          <p:cNvSpPr txBox="1"/>
          <p:nvPr/>
        </p:nvSpPr>
        <p:spPr>
          <a:xfrm>
            <a:off x="4576068" y="750837"/>
            <a:ext cx="6040240" cy="615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3235"/>
              </a:lnSpc>
              <a:defRPr sz="3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2833"/>
              <a:t>Linear Regression Equation</a:t>
            </a:r>
          </a:p>
        </p:txBody>
      </p:sp>
      <p:pic>
        <p:nvPicPr>
          <p:cNvPr id="4150" name="Google Shape;838;p39" descr="Google Shape;838;p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491" y="1469132"/>
            <a:ext cx="945059" cy="1134071"/>
          </a:xfrm>
          <a:prstGeom prst="rect">
            <a:avLst/>
          </a:prstGeom>
          <a:ln w="12700">
            <a:miter lim="400000"/>
          </a:ln>
        </p:spPr>
      </p:pic>
      <p:sp>
        <p:nvSpPr>
          <p:cNvPr id="4151" name="Google Shape;839;p39"/>
          <p:cNvSpPr txBox="1"/>
          <p:nvPr/>
        </p:nvSpPr>
        <p:spPr>
          <a:xfrm>
            <a:off x="6462018" y="1658144"/>
            <a:ext cx="2362697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The Formula</a:t>
            </a:r>
          </a:p>
        </p:txBody>
      </p:sp>
      <p:sp>
        <p:nvSpPr>
          <p:cNvPr id="4152" name="Google Shape;840;p39"/>
          <p:cNvSpPr txBox="1"/>
          <p:nvPr/>
        </p:nvSpPr>
        <p:spPr>
          <a:xfrm>
            <a:off x="6462018" y="2066826"/>
            <a:ext cx="5068492" cy="314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Y = a + bX</a:t>
            </a:r>
          </a:p>
        </p:txBody>
      </p:sp>
      <p:pic>
        <p:nvPicPr>
          <p:cNvPr id="4153" name="Google Shape;841;p39" descr="Google Shape;841;p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491" y="2603203"/>
            <a:ext cx="945059" cy="1134071"/>
          </a:xfrm>
          <a:prstGeom prst="rect">
            <a:avLst/>
          </a:prstGeom>
          <a:ln w="12700">
            <a:miter lim="400000"/>
          </a:ln>
        </p:spPr>
      </p:pic>
      <p:sp>
        <p:nvSpPr>
          <p:cNvPr id="4154" name="Google Shape;842;p39"/>
          <p:cNvSpPr txBox="1"/>
          <p:nvPr/>
        </p:nvSpPr>
        <p:spPr>
          <a:xfrm>
            <a:off x="6462018" y="2792214"/>
            <a:ext cx="2362697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The Variables</a:t>
            </a:r>
          </a:p>
        </p:txBody>
      </p:sp>
      <p:sp>
        <p:nvSpPr>
          <p:cNvPr id="4155" name="Google Shape;843;p39"/>
          <p:cNvSpPr txBox="1"/>
          <p:nvPr/>
        </p:nvSpPr>
        <p:spPr>
          <a:xfrm>
            <a:off x="6462018" y="3200896"/>
            <a:ext cx="5068492" cy="314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Y is the predicted value, X is the independent variable</a:t>
            </a:r>
          </a:p>
        </p:txBody>
      </p:sp>
      <p:pic>
        <p:nvPicPr>
          <p:cNvPr id="4156" name="Google Shape;844;p39" descr="Google Shape;844;p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491" y="3737273"/>
            <a:ext cx="945059" cy="1134071"/>
          </a:xfrm>
          <a:prstGeom prst="rect">
            <a:avLst/>
          </a:prstGeom>
          <a:ln w="12700">
            <a:miter lim="400000"/>
          </a:ln>
        </p:spPr>
      </p:pic>
      <p:sp>
        <p:nvSpPr>
          <p:cNvPr id="4157" name="Google Shape;845;p39"/>
          <p:cNvSpPr txBox="1"/>
          <p:nvPr/>
        </p:nvSpPr>
        <p:spPr>
          <a:xfrm>
            <a:off x="6462018" y="3926284"/>
            <a:ext cx="2362697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The Intercept</a:t>
            </a:r>
          </a:p>
        </p:txBody>
      </p:sp>
      <p:sp>
        <p:nvSpPr>
          <p:cNvPr id="4158" name="Google Shape;846;p39"/>
          <p:cNvSpPr txBox="1"/>
          <p:nvPr/>
        </p:nvSpPr>
        <p:spPr>
          <a:xfrm>
            <a:off x="6462018" y="4334966"/>
            <a:ext cx="5068492" cy="314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a is where the line crosses the y-axis (Y when X=0)</a:t>
            </a:r>
          </a:p>
        </p:txBody>
      </p:sp>
      <p:pic>
        <p:nvPicPr>
          <p:cNvPr id="4159" name="Google Shape;847;p39" descr="Google Shape;847;p3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3491" y="4871344"/>
            <a:ext cx="945059" cy="1391544"/>
          </a:xfrm>
          <a:prstGeom prst="rect">
            <a:avLst/>
          </a:prstGeom>
          <a:ln w="12700">
            <a:miter lim="400000"/>
          </a:ln>
        </p:spPr>
      </p:pic>
      <p:sp>
        <p:nvSpPr>
          <p:cNvPr id="4160" name="Google Shape;848;p39"/>
          <p:cNvSpPr txBox="1"/>
          <p:nvPr/>
        </p:nvSpPr>
        <p:spPr>
          <a:xfrm>
            <a:off x="6462018" y="5060354"/>
            <a:ext cx="2362697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The Slope</a:t>
            </a:r>
          </a:p>
        </p:txBody>
      </p:sp>
      <p:sp>
        <p:nvSpPr>
          <p:cNvPr id="4161" name="Google Shape;849;p39"/>
          <p:cNvSpPr txBox="1"/>
          <p:nvPr/>
        </p:nvSpPr>
        <p:spPr>
          <a:xfrm>
            <a:off x="6462018" y="5469037"/>
            <a:ext cx="5068492" cy="314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b shows how much Y changes when X increases by one unit</a:t>
            </a:r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3" name="Google Shape;855;p40"/>
          <p:cNvSpPr txBox="1"/>
          <p:nvPr/>
        </p:nvSpPr>
        <p:spPr>
          <a:xfrm>
            <a:off x="402630" y="316309"/>
            <a:ext cx="7593682" cy="387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4074"/>
              </a:lnSpc>
              <a:defRPr sz="27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2250"/>
              <a:t>Regression Example: Study Hours vs. Test Scores</a:t>
            </a:r>
          </a:p>
        </p:txBody>
      </p:sp>
      <p:pic>
        <p:nvPicPr>
          <p:cNvPr id="4164" name="Google Shape;856;p40" descr="Google Shape;856;p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844" y="905868"/>
            <a:ext cx="8933528" cy="4731896"/>
          </a:xfrm>
          <a:prstGeom prst="rect">
            <a:avLst/>
          </a:prstGeom>
          <a:ln w="12700">
            <a:miter lim="400000"/>
          </a:ln>
        </p:spPr>
      </p:pic>
      <p:sp>
        <p:nvSpPr>
          <p:cNvPr id="4165" name="Google Shape;857;p40"/>
          <p:cNvSpPr/>
          <p:nvPr/>
        </p:nvSpPr>
        <p:spPr>
          <a:xfrm>
            <a:off x="5192910" y="6937177"/>
            <a:ext cx="114995" cy="114995"/>
          </a:xfrm>
          <a:prstGeom prst="roundRect">
            <a:avLst>
              <a:gd name="adj" fmla="val 13253"/>
            </a:avLst>
          </a:prstGeom>
          <a:solidFill>
            <a:srgbClr val="00314D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4166" name="Google Shape;858;p40"/>
          <p:cNvSpPr txBox="1"/>
          <p:nvPr/>
        </p:nvSpPr>
        <p:spPr>
          <a:xfrm>
            <a:off x="5358706" y="6937177"/>
            <a:ext cx="673795" cy="128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833"/>
              <a:t>Study Hours</a:t>
            </a:r>
          </a:p>
        </p:txBody>
      </p:sp>
      <p:sp>
        <p:nvSpPr>
          <p:cNvPr id="4167" name="Google Shape;859;p40"/>
          <p:cNvSpPr/>
          <p:nvPr/>
        </p:nvSpPr>
        <p:spPr>
          <a:xfrm>
            <a:off x="6159501" y="6937177"/>
            <a:ext cx="114994" cy="114995"/>
          </a:xfrm>
          <a:prstGeom prst="roundRect">
            <a:avLst>
              <a:gd name="adj" fmla="val 13253"/>
            </a:avLst>
          </a:prstGeom>
          <a:solidFill>
            <a:srgbClr val="006196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4168" name="Google Shape;860;p40"/>
          <p:cNvSpPr txBox="1"/>
          <p:nvPr/>
        </p:nvSpPr>
        <p:spPr>
          <a:xfrm>
            <a:off x="6325293" y="6937177"/>
            <a:ext cx="579835" cy="128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833"/>
              <a:t>Test Score</a:t>
            </a:r>
          </a:p>
        </p:txBody>
      </p:sp>
      <p:sp>
        <p:nvSpPr>
          <p:cNvPr id="4169" name="Google Shape;861;p40"/>
          <p:cNvSpPr txBox="1"/>
          <p:nvPr/>
        </p:nvSpPr>
        <p:spPr>
          <a:xfrm>
            <a:off x="402629" y="5510051"/>
            <a:ext cx="11386742" cy="3129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1904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Regression equation: Score = 50 + 5*(Hours)</a:t>
            </a:r>
          </a:p>
        </p:txBody>
      </p:sp>
      <p:sp>
        <p:nvSpPr>
          <p:cNvPr id="4170" name="Google Shape;862;p40"/>
          <p:cNvSpPr txBox="1"/>
          <p:nvPr/>
        </p:nvSpPr>
        <p:spPr>
          <a:xfrm>
            <a:off x="402629" y="5823582"/>
            <a:ext cx="11386742" cy="3129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1904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Interpretation: Each additional hour studied is associated with an increase of 5 points on the test, on average.</a:t>
            </a:r>
          </a:p>
        </p:txBody>
      </p:sp>
      <p:sp>
        <p:nvSpPr>
          <p:cNvPr id="4171" name="Google Shape;863;p40"/>
          <p:cNvSpPr txBox="1"/>
          <p:nvPr/>
        </p:nvSpPr>
        <p:spPr>
          <a:xfrm>
            <a:off x="402629" y="6137113"/>
            <a:ext cx="11386742" cy="3129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1904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Prediction: A student studying 8 hours would score about 50 + 5*8 = 90 points.</a:t>
            </a:r>
          </a:p>
        </p:txBody>
      </p:sp>
      <p:sp>
        <p:nvSpPr>
          <p:cNvPr id="4172" name="Google Shape;840;p39"/>
          <p:cNvSpPr txBox="1"/>
          <p:nvPr/>
        </p:nvSpPr>
        <p:spPr>
          <a:xfrm>
            <a:off x="577196" y="1747713"/>
            <a:ext cx="5068492" cy="462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2500" b="1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Y = a + bX</a:t>
            </a:r>
          </a:p>
        </p:txBody>
      </p:sp>
      <p:sp>
        <p:nvSpPr>
          <p:cNvPr id="4173" name="Google Shape;840;p39"/>
          <p:cNvSpPr txBox="1"/>
          <p:nvPr/>
        </p:nvSpPr>
        <p:spPr>
          <a:xfrm>
            <a:off x="495316" y="2313444"/>
            <a:ext cx="5068492" cy="1229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62857"/>
              </a:lnSpc>
              <a:defRPr sz="19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sz="1583"/>
              <a:t>Predicted Value = </a:t>
            </a:r>
          </a:p>
          <a:p>
            <a:pPr>
              <a:lnSpc>
                <a:spcPct val="162857"/>
              </a:lnSpc>
              <a:defRPr sz="1900">
                <a:solidFill>
                  <a:srgbClr val="9417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sz="1583"/>
              <a:t>Intercept  + slope x IV</a:t>
            </a:r>
          </a:p>
          <a:p>
            <a:pPr>
              <a:lnSpc>
                <a:spcPct val="162857"/>
              </a:lnSpc>
              <a:defRPr sz="1200">
                <a:latin typeface="Inter"/>
                <a:ea typeface="Inter"/>
                <a:cs typeface="Inter"/>
                <a:sym typeface="Inter"/>
              </a:defRPr>
            </a:pPr>
            <a:r>
              <a:rPr sz="1000"/>
              <a:t>Intercept: what Y is when X is 0</a:t>
            </a:r>
          </a:p>
          <a:p>
            <a:pPr>
              <a:lnSpc>
                <a:spcPct val="162857"/>
              </a:lnSpc>
              <a:defRPr sz="1000">
                <a:latin typeface="Inter"/>
                <a:ea typeface="Inter"/>
                <a:cs typeface="Inter"/>
                <a:sym typeface="Inter"/>
              </a:defRPr>
            </a:pPr>
            <a:r>
              <a:rPr sz="833"/>
              <a:t>Slope: how much Y changes when X increases by one unit</a:t>
            </a:r>
          </a:p>
        </p:txBody>
      </p:sp>
      <p:sp>
        <p:nvSpPr>
          <p:cNvPr id="4174" name="X - Study Hour"/>
          <p:cNvSpPr txBox="1"/>
          <p:nvPr/>
        </p:nvSpPr>
        <p:spPr>
          <a:xfrm>
            <a:off x="10028371" y="5503485"/>
            <a:ext cx="1670327" cy="554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099" rIns="38099">
            <a:spAutoFit/>
          </a:bodyPr>
          <a:lstStyle>
            <a:lvl1pPr>
              <a:lnSpc>
                <a:spcPct val="162857"/>
              </a:lnSpc>
              <a:defRPr sz="2500" b="1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X - Study Hour</a:t>
            </a:r>
          </a:p>
        </p:txBody>
      </p:sp>
      <p:sp>
        <p:nvSpPr>
          <p:cNvPr id="4175" name="Y - Test Score"/>
          <p:cNvSpPr txBox="1"/>
          <p:nvPr/>
        </p:nvSpPr>
        <p:spPr>
          <a:xfrm>
            <a:off x="2723999" y="1214593"/>
            <a:ext cx="1529327" cy="554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099" rIns="38099">
            <a:spAutoFit/>
          </a:bodyPr>
          <a:lstStyle>
            <a:lvl1pPr>
              <a:lnSpc>
                <a:spcPct val="162857"/>
              </a:lnSpc>
              <a:defRPr sz="2500" b="1">
                <a:solidFill>
                  <a:srgbClr val="00549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Y - Test Score</a:t>
            </a:r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7" name="Google Shape;869;p41" descr="Google Shape;869;p41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2000" cy="2362697"/>
          </a:xfrm>
          <a:prstGeom prst="rect">
            <a:avLst/>
          </a:prstGeom>
          <a:ln w="12700">
            <a:miter lim="400000"/>
          </a:ln>
        </p:spPr>
      </p:pic>
      <p:sp>
        <p:nvSpPr>
          <p:cNvPr id="4178" name="Google Shape;870;p41"/>
          <p:cNvSpPr txBox="1"/>
          <p:nvPr/>
        </p:nvSpPr>
        <p:spPr>
          <a:xfrm>
            <a:off x="661492" y="3172321"/>
            <a:ext cx="8685945" cy="635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4719"/>
              </a:lnSpc>
              <a:defRPr sz="4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3667"/>
              <a:t>Important Regression Concepts</a:t>
            </a:r>
          </a:p>
        </p:txBody>
      </p:sp>
      <p:sp>
        <p:nvSpPr>
          <p:cNvPr id="4179" name="Google Shape;871;p41"/>
          <p:cNvSpPr/>
          <p:nvPr/>
        </p:nvSpPr>
        <p:spPr>
          <a:xfrm>
            <a:off x="661492" y="4046438"/>
            <a:ext cx="3496965" cy="2001937"/>
          </a:xfrm>
          <a:prstGeom prst="roundRect">
            <a:avLst>
              <a:gd name="adj" fmla="val 3966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4180" name="Google Shape;872;p41"/>
          <p:cNvSpPr txBox="1"/>
          <p:nvPr/>
        </p:nvSpPr>
        <p:spPr>
          <a:xfrm>
            <a:off x="856853" y="4241799"/>
            <a:ext cx="2362698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Residuals</a:t>
            </a:r>
          </a:p>
        </p:txBody>
      </p:sp>
      <p:sp>
        <p:nvSpPr>
          <p:cNvPr id="4181" name="Google Shape;873;p41"/>
          <p:cNvSpPr txBox="1"/>
          <p:nvPr/>
        </p:nvSpPr>
        <p:spPr>
          <a:xfrm>
            <a:off x="856853" y="4650481"/>
            <a:ext cx="3106243" cy="1025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Differences between actual values and predicted values. Smaller residuals mean better fit.</a:t>
            </a:r>
          </a:p>
        </p:txBody>
      </p:sp>
      <p:sp>
        <p:nvSpPr>
          <p:cNvPr id="4182" name="Google Shape;874;p41"/>
          <p:cNvSpPr/>
          <p:nvPr/>
        </p:nvSpPr>
        <p:spPr>
          <a:xfrm>
            <a:off x="4347468" y="4046438"/>
            <a:ext cx="3496965" cy="2001937"/>
          </a:xfrm>
          <a:prstGeom prst="roundRect">
            <a:avLst>
              <a:gd name="adj" fmla="val 3966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4183" name="Google Shape;875;p41"/>
          <p:cNvSpPr txBox="1"/>
          <p:nvPr/>
        </p:nvSpPr>
        <p:spPr>
          <a:xfrm>
            <a:off x="4542829" y="4241799"/>
            <a:ext cx="2362698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R-squared</a:t>
            </a:r>
          </a:p>
        </p:txBody>
      </p:sp>
      <p:sp>
        <p:nvSpPr>
          <p:cNvPr id="4184" name="Google Shape;876;p41"/>
          <p:cNvSpPr txBox="1"/>
          <p:nvPr/>
        </p:nvSpPr>
        <p:spPr>
          <a:xfrm>
            <a:off x="4542829" y="4650481"/>
            <a:ext cx="3106243" cy="1025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Number between 0 and 1 showing how much variation in Y is explained by X. Higher is better.</a:t>
            </a:r>
          </a:p>
        </p:txBody>
      </p:sp>
      <p:sp>
        <p:nvSpPr>
          <p:cNvPr id="4185" name="Google Shape;877;p41"/>
          <p:cNvSpPr/>
          <p:nvPr/>
        </p:nvSpPr>
        <p:spPr>
          <a:xfrm>
            <a:off x="8033445" y="4046438"/>
            <a:ext cx="3496966" cy="2001937"/>
          </a:xfrm>
          <a:prstGeom prst="roundRect">
            <a:avLst>
              <a:gd name="adj" fmla="val 3966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4186" name="Google Shape;878;p41"/>
          <p:cNvSpPr txBox="1"/>
          <p:nvPr/>
        </p:nvSpPr>
        <p:spPr>
          <a:xfrm>
            <a:off x="8228806" y="4241800"/>
            <a:ext cx="3106243" cy="67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Interpolation vs. Extrapolation</a:t>
            </a:r>
          </a:p>
        </p:txBody>
      </p:sp>
      <p:sp>
        <p:nvSpPr>
          <p:cNvPr id="4187" name="Google Shape;879;p41"/>
          <p:cNvSpPr txBox="1"/>
          <p:nvPr/>
        </p:nvSpPr>
        <p:spPr>
          <a:xfrm>
            <a:off x="8228806" y="4945756"/>
            <a:ext cx="3106243" cy="670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Predicting within observed range (safer) vs. outside that range (riskier).</a:t>
            </a:r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9" name="Google Shape;885;p42" descr="Google Shape;885;p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0521" y="960781"/>
            <a:ext cx="3931479" cy="5897219"/>
          </a:xfrm>
          <a:prstGeom prst="rect">
            <a:avLst/>
          </a:prstGeom>
          <a:ln w="12700">
            <a:miter lim="400000"/>
          </a:ln>
        </p:spPr>
      </p:pic>
      <p:sp>
        <p:nvSpPr>
          <p:cNvPr id="4190" name="Google Shape;886;p42"/>
          <p:cNvSpPr txBox="1"/>
          <p:nvPr/>
        </p:nvSpPr>
        <p:spPr>
          <a:xfrm>
            <a:off x="642541" y="1086247"/>
            <a:ext cx="7470471" cy="624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581"/>
              </a:lnSpc>
              <a:defRPr sz="43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3583"/>
              <a:t>Quasi-Experimental Designs</a:t>
            </a:r>
          </a:p>
        </p:txBody>
      </p:sp>
      <p:sp>
        <p:nvSpPr>
          <p:cNvPr id="4191" name="Google Shape;887;p42"/>
          <p:cNvSpPr txBox="1"/>
          <p:nvPr/>
        </p:nvSpPr>
        <p:spPr>
          <a:xfrm>
            <a:off x="642541" y="1935262"/>
            <a:ext cx="6334918" cy="666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1764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When true experiments aren't possible, researchers use clever statistical designs to approximate experiments using observational data.</a:t>
            </a:r>
          </a:p>
        </p:txBody>
      </p:sp>
      <p:sp>
        <p:nvSpPr>
          <p:cNvPr id="4192" name="Google Shape;888;p42"/>
          <p:cNvSpPr/>
          <p:nvPr/>
        </p:nvSpPr>
        <p:spPr>
          <a:xfrm>
            <a:off x="642541" y="2729111"/>
            <a:ext cx="413048" cy="413048"/>
          </a:xfrm>
          <a:prstGeom prst="roundRect">
            <a:avLst>
              <a:gd name="adj" fmla="val 18667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pic>
        <p:nvPicPr>
          <p:cNvPr id="4193" name="Google Shape;889;p42" descr="Google Shape;889;p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349" y="2763490"/>
            <a:ext cx="275333" cy="344191"/>
          </a:xfrm>
          <a:prstGeom prst="rect">
            <a:avLst/>
          </a:prstGeom>
          <a:ln w="12700">
            <a:miter lim="400000"/>
          </a:ln>
        </p:spPr>
      </p:pic>
      <p:sp>
        <p:nvSpPr>
          <p:cNvPr id="4194" name="Google Shape;890;p42"/>
          <p:cNvSpPr txBox="1"/>
          <p:nvPr/>
        </p:nvSpPr>
        <p:spPr>
          <a:xfrm>
            <a:off x="1239144" y="2792214"/>
            <a:ext cx="2456161" cy="6445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581"/>
              </a:lnSpc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750"/>
              <a:t>Selection Bias Challenge</a:t>
            </a:r>
          </a:p>
        </p:txBody>
      </p:sp>
      <p:sp>
        <p:nvSpPr>
          <p:cNvPr id="4195" name="Google Shape;891;p42"/>
          <p:cNvSpPr txBox="1"/>
          <p:nvPr/>
        </p:nvSpPr>
        <p:spPr>
          <a:xfrm>
            <a:off x="1239144" y="3476030"/>
            <a:ext cx="2456161" cy="1019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1764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Groups receiving treatment may differ in other ways that affect outcomes.</a:t>
            </a:r>
          </a:p>
        </p:txBody>
      </p:sp>
      <p:sp>
        <p:nvSpPr>
          <p:cNvPr id="4196" name="Google Shape;892;p42"/>
          <p:cNvSpPr/>
          <p:nvPr/>
        </p:nvSpPr>
        <p:spPr>
          <a:xfrm>
            <a:off x="3924697" y="2729111"/>
            <a:ext cx="413048" cy="413048"/>
          </a:xfrm>
          <a:prstGeom prst="roundRect">
            <a:avLst>
              <a:gd name="adj" fmla="val 18667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pic>
        <p:nvPicPr>
          <p:cNvPr id="4197" name="Google Shape;893;p42" descr="Google Shape;893;p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3504" y="2763490"/>
            <a:ext cx="275333" cy="344191"/>
          </a:xfrm>
          <a:prstGeom prst="rect">
            <a:avLst/>
          </a:prstGeom>
          <a:ln w="12700">
            <a:miter lim="400000"/>
          </a:ln>
        </p:spPr>
      </p:pic>
      <p:sp>
        <p:nvSpPr>
          <p:cNvPr id="4198" name="Google Shape;894;p42"/>
          <p:cNvSpPr txBox="1"/>
          <p:nvPr/>
        </p:nvSpPr>
        <p:spPr>
          <a:xfrm>
            <a:off x="4521299" y="2792214"/>
            <a:ext cx="2294733" cy="305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581"/>
              </a:lnSpc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750"/>
              <a:t>Goal</a:t>
            </a:r>
          </a:p>
        </p:txBody>
      </p:sp>
      <p:sp>
        <p:nvSpPr>
          <p:cNvPr id="4199" name="Google Shape;895;p42"/>
          <p:cNvSpPr txBox="1"/>
          <p:nvPr/>
        </p:nvSpPr>
        <p:spPr>
          <a:xfrm>
            <a:off x="4521300" y="3189189"/>
            <a:ext cx="2456161" cy="1019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1764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Find ways to estimate cause-and-effect without random assignment.</a:t>
            </a:r>
          </a:p>
        </p:txBody>
      </p:sp>
      <p:sp>
        <p:nvSpPr>
          <p:cNvPr id="4200" name="Google Shape;896;p42"/>
          <p:cNvSpPr/>
          <p:nvPr/>
        </p:nvSpPr>
        <p:spPr>
          <a:xfrm>
            <a:off x="642541" y="4724201"/>
            <a:ext cx="413048" cy="413048"/>
          </a:xfrm>
          <a:prstGeom prst="roundRect">
            <a:avLst>
              <a:gd name="adj" fmla="val 18667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pic>
        <p:nvPicPr>
          <p:cNvPr id="4201" name="Google Shape;897;p42" descr="Google Shape;897;p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349" y="4758581"/>
            <a:ext cx="275333" cy="344191"/>
          </a:xfrm>
          <a:prstGeom prst="rect">
            <a:avLst/>
          </a:prstGeom>
          <a:ln w="12700">
            <a:miter lim="400000"/>
          </a:ln>
        </p:spPr>
      </p:pic>
      <p:sp>
        <p:nvSpPr>
          <p:cNvPr id="4202" name="Google Shape;898;p42"/>
          <p:cNvSpPr txBox="1"/>
          <p:nvPr/>
        </p:nvSpPr>
        <p:spPr>
          <a:xfrm>
            <a:off x="1239144" y="4787305"/>
            <a:ext cx="2294733" cy="305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581"/>
              </a:lnSpc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750"/>
              <a:t>Methods</a:t>
            </a:r>
          </a:p>
        </p:txBody>
      </p:sp>
      <p:sp>
        <p:nvSpPr>
          <p:cNvPr id="4203" name="Google Shape;899;p42"/>
          <p:cNvSpPr txBox="1"/>
          <p:nvPr/>
        </p:nvSpPr>
        <p:spPr>
          <a:xfrm>
            <a:off x="1239144" y="5184279"/>
            <a:ext cx="5738316" cy="3129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1764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Special techniques help address selection bias and isolate treatment effects.</a:t>
            </a:r>
          </a:p>
        </p:txBody>
      </p:sp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5" name="Google Shape;905;p43"/>
          <p:cNvSpPr txBox="1"/>
          <p:nvPr/>
        </p:nvSpPr>
        <p:spPr>
          <a:xfrm>
            <a:off x="627856" y="493315"/>
            <a:ext cx="6631881" cy="606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4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3500"/>
              <a:t>Difference-in-Differences (DID)</a:t>
            </a:r>
          </a:p>
        </p:txBody>
      </p:sp>
      <p:sp>
        <p:nvSpPr>
          <p:cNvPr id="4206" name="Google Shape;906;p43"/>
          <p:cNvSpPr txBox="1"/>
          <p:nvPr/>
        </p:nvSpPr>
        <p:spPr>
          <a:xfrm>
            <a:off x="627855" y="1502370"/>
            <a:ext cx="2242345" cy="301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3809"/>
              </a:lnSpc>
              <a:defRPr sz="21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750"/>
              <a:t>How It Works</a:t>
            </a:r>
          </a:p>
        </p:txBody>
      </p:sp>
      <p:sp>
        <p:nvSpPr>
          <p:cNvPr id="4207" name="Google Shape;907;p43"/>
          <p:cNvSpPr txBox="1"/>
          <p:nvPr/>
        </p:nvSpPr>
        <p:spPr>
          <a:xfrm>
            <a:off x="627856" y="1962050"/>
            <a:ext cx="5249367" cy="633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3636"/>
              </a:lnSpc>
              <a:defRPr sz="1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333"/>
              <a:t>Compare changes over time between a treatment group and a control group.</a:t>
            </a:r>
          </a:p>
        </p:txBody>
      </p:sp>
      <p:sp>
        <p:nvSpPr>
          <p:cNvPr id="4208" name="Google Shape;908;p43"/>
          <p:cNvSpPr txBox="1"/>
          <p:nvPr/>
        </p:nvSpPr>
        <p:spPr>
          <a:xfrm>
            <a:off x="627856" y="2697361"/>
            <a:ext cx="5249367" cy="2974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3636"/>
              </a:lnSpc>
              <a:defRPr sz="1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333"/>
              <a:t>Calculate: (After – Before for Treatment) – (After – Before for Control)</a:t>
            </a:r>
          </a:p>
        </p:txBody>
      </p:sp>
      <p:sp>
        <p:nvSpPr>
          <p:cNvPr id="4209" name="Google Shape;909;p43"/>
          <p:cNvSpPr txBox="1"/>
          <p:nvPr/>
        </p:nvSpPr>
        <p:spPr>
          <a:xfrm>
            <a:off x="627856" y="3432671"/>
            <a:ext cx="5249367" cy="633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3636"/>
              </a:lnSpc>
              <a:defRPr sz="1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333"/>
              <a:t>This removes common factors affecting both groups, isolating the treatment effect.</a:t>
            </a:r>
          </a:p>
        </p:txBody>
      </p:sp>
      <p:pic>
        <p:nvPicPr>
          <p:cNvPr id="4210" name="Google Shape;910;p43" descr="Google Shape;910;p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126" y="1524794"/>
            <a:ext cx="5853013" cy="3901972"/>
          </a:xfrm>
          <a:prstGeom prst="rect">
            <a:avLst/>
          </a:prstGeom>
          <a:ln w="12700">
            <a:miter lim="400000"/>
          </a:ln>
        </p:spPr>
      </p:pic>
      <p:sp>
        <p:nvSpPr>
          <p:cNvPr id="4211" name="Google Shape;911;p43"/>
          <p:cNvSpPr txBox="1"/>
          <p:nvPr/>
        </p:nvSpPr>
        <p:spPr>
          <a:xfrm>
            <a:off x="621506" y="4360707"/>
            <a:ext cx="5249367" cy="2974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3636"/>
              </a:lnSpc>
              <a:defRPr sz="1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333"/>
              <a:t>Group A (with program): 70 → 78 (+8)</a:t>
            </a:r>
          </a:p>
        </p:txBody>
      </p:sp>
      <p:sp>
        <p:nvSpPr>
          <p:cNvPr id="4212" name="Google Shape;912;p43"/>
          <p:cNvSpPr txBox="1"/>
          <p:nvPr/>
        </p:nvSpPr>
        <p:spPr>
          <a:xfrm>
            <a:off x="621506" y="4809076"/>
            <a:ext cx="5249367" cy="2974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3636"/>
              </a:lnSpc>
              <a:defRPr sz="1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333"/>
              <a:t>Group B (no program): 68 → 70 (+2)</a:t>
            </a:r>
          </a:p>
        </p:txBody>
      </p:sp>
      <p:sp>
        <p:nvSpPr>
          <p:cNvPr id="4213" name="Google Shape;913;p43"/>
          <p:cNvSpPr txBox="1"/>
          <p:nvPr/>
        </p:nvSpPr>
        <p:spPr>
          <a:xfrm>
            <a:off x="621506" y="5257446"/>
            <a:ext cx="5249367" cy="2974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3636"/>
              </a:lnSpc>
              <a:defRPr sz="1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333"/>
              <a:t>Difference-in-differences: +8 – +2 = +6 points</a:t>
            </a:r>
          </a:p>
        </p:txBody>
      </p: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5" name="Google Shape;919;p44"/>
          <p:cNvSpPr txBox="1"/>
          <p:nvPr/>
        </p:nvSpPr>
        <p:spPr>
          <a:xfrm>
            <a:off x="574874" y="451644"/>
            <a:ext cx="7208198" cy="552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974"/>
              </a:lnSpc>
              <a:defRPr sz="38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3167"/>
              <a:t>Regression Discontinuity (RD)</a:t>
            </a:r>
          </a:p>
        </p:txBody>
      </p:sp>
      <p:sp>
        <p:nvSpPr>
          <p:cNvPr id="4216" name="Google Shape;920;p44"/>
          <p:cNvSpPr txBox="1"/>
          <p:nvPr/>
        </p:nvSpPr>
        <p:spPr>
          <a:xfrm>
            <a:off x="574873" y="1375469"/>
            <a:ext cx="2053234" cy="276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6314"/>
              </a:lnSpc>
              <a:defRPr sz="19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583"/>
              <a:t>How It Works</a:t>
            </a:r>
          </a:p>
        </p:txBody>
      </p:sp>
      <p:sp>
        <p:nvSpPr>
          <p:cNvPr id="4217" name="Google Shape;921;p44"/>
          <p:cNvSpPr txBox="1"/>
          <p:nvPr/>
        </p:nvSpPr>
        <p:spPr>
          <a:xfrm>
            <a:off x="574874" y="1796256"/>
            <a:ext cx="5320804" cy="270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8064"/>
              </a:lnSpc>
              <a:defRPr sz="1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250"/>
              <a:t>Takes advantage of a sharp cutoff for treatment assignment.</a:t>
            </a:r>
          </a:p>
        </p:txBody>
      </p:sp>
      <p:sp>
        <p:nvSpPr>
          <p:cNvPr id="4218" name="Google Shape;922;p44"/>
          <p:cNvSpPr txBox="1"/>
          <p:nvPr/>
        </p:nvSpPr>
        <p:spPr>
          <a:xfrm>
            <a:off x="574874" y="2206823"/>
            <a:ext cx="5320804" cy="270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8064"/>
              </a:lnSpc>
              <a:defRPr sz="1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250"/>
              <a:t>Compares outcomes for subjects just below and just above the cutoff.</a:t>
            </a:r>
          </a:p>
        </p:txBody>
      </p:sp>
      <p:sp>
        <p:nvSpPr>
          <p:cNvPr id="4219" name="Google Shape;923;p44"/>
          <p:cNvSpPr txBox="1"/>
          <p:nvPr/>
        </p:nvSpPr>
        <p:spPr>
          <a:xfrm>
            <a:off x="574874" y="2880221"/>
            <a:ext cx="5320804" cy="270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8064"/>
              </a:lnSpc>
              <a:defRPr sz="1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250"/>
              <a:t>These subjects should be very similar except for receiving treatment.</a:t>
            </a:r>
          </a:p>
        </p:txBody>
      </p:sp>
      <p:pic>
        <p:nvPicPr>
          <p:cNvPr id="4220" name="Google Shape;924;p44" descr="Google Shape;924;p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673" y="1396007"/>
            <a:ext cx="5889328" cy="3926183"/>
          </a:xfrm>
          <a:prstGeom prst="rect">
            <a:avLst/>
          </a:prstGeom>
          <a:ln w="12700">
            <a:miter lim="400000"/>
          </a:ln>
        </p:spPr>
      </p:pic>
      <p:sp>
        <p:nvSpPr>
          <p:cNvPr id="4221" name="Google Shape;925;p44"/>
          <p:cNvSpPr txBox="1"/>
          <p:nvPr/>
        </p:nvSpPr>
        <p:spPr>
          <a:xfrm>
            <a:off x="574874" y="3749696"/>
            <a:ext cx="5320804" cy="270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8064"/>
              </a:lnSpc>
              <a:defRPr sz="1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250"/>
              <a:t>Example: Students scoring below 50 get special tutoring.</a:t>
            </a:r>
          </a:p>
        </p:txBody>
      </p:sp>
      <p:sp>
        <p:nvSpPr>
          <p:cNvPr id="4222" name="Google Shape;926;p44"/>
          <p:cNvSpPr txBox="1"/>
          <p:nvPr/>
        </p:nvSpPr>
        <p:spPr>
          <a:xfrm>
            <a:off x="574874" y="4160263"/>
            <a:ext cx="5320804" cy="5741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8064"/>
              </a:lnSpc>
              <a:defRPr sz="1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250"/>
              <a:t>Compare students who scored 49 vs. 51 - practically same ability, but different treatment.</a:t>
            </a:r>
          </a:p>
        </p:txBody>
      </p:sp>
      <p:sp>
        <p:nvSpPr>
          <p:cNvPr id="4223" name="Google Shape;927;p44"/>
          <p:cNvSpPr txBox="1"/>
          <p:nvPr/>
        </p:nvSpPr>
        <p:spPr>
          <a:xfrm>
            <a:off x="574874" y="4833660"/>
            <a:ext cx="5320804" cy="270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8064"/>
              </a:lnSpc>
              <a:defRPr sz="1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250"/>
              <a:t>Any jump in outcomes at the cutoff suggests causal effect.</a:t>
            </a:r>
          </a:p>
        </p:txBody>
      </p: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5" name="Google Shape;933;p45" descr="Google Shape;933;p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3286" y="1099931"/>
            <a:ext cx="3838713" cy="5758069"/>
          </a:xfrm>
          <a:prstGeom prst="rect">
            <a:avLst/>
          </a:prstGeom>
          <a:ln w="12700">
            <a:miter lim="400000"/>
          </a:ln>
        </p:spPr>
      </p:pic>
      <p:sp>
        <p:nvSpPr>
          <p:cNvPr id="4226" name="Google Shape;934;p45"/>
          <p:cNvSpPr txBox="1"/>
          <p:nvPr/>
        </p:nvSpPr>
        <p:spPr>
          <a:xfrm>
            <a:off x="661491" y="723801"/>
            <a:ext cx="5883872" cy="635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4719"/>
              </a:lnSpc>
              <a:defRPr sz="4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3667"/>
              <a:t>Instrumental Variables (IV)</a:t>
            </a:r>
          </a:p>
        </p:txBody>
      </p:sp>
      <p:pic>
        <p:nvPicPr>
          <p:cNvPr id="4227" name="Google Shape;935;p45" descr="Google Shape;935;p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92" y="1597918"/>
            <a:ext cx="945059" cy="1134071"/>
          </a:xfrm>
          <a:prstGeom prst="rect">
            <a:avLst/>
          </a:prstGeom>
          <a:ln w="12700">
            <a:miter lim="400000"/>
          </a:ln>
        </p:spPr>
      </p:pic>
      <p:sp>
        <p:nvSpPr>
          <p:cNvPr id="4228" name="Google Shape;936;p45"/>
          <p:cNvSpPr txBox="1"/>
          <p:nvPr/>
        </p:nvSpPr>
        <p:spPr>
          <a:xfrm>
            <a:off x="1890019" y="1786930"/>
            <a:ext cx="2462313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Find an Instrument (Z)</a:t>
            </a:r>
          </a:p>
        </p:txBody>
      </p:sp>
      <p:sp>
        <p:nvSpPr>
          <p:cNvPr id="4229" name="Google Shape;937;p45"/>
          <p:cNvSpPr txBox="1"/>
          <p:nvPr/>
        </p:nvSpPr>
        <p:spPr>
          <a:xfrm>
            <a:off x="1890018" y="2195611"/>
            <a:ext cx="5068493" cy="314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Something that affects X but not Y directly</a:t>
            </a:r>
          </a:p>
        </p:txBody>
      </p:sp>
      <p:pic>
        <p:nvPicPr>
          <p:cNvPr id="4230" name="Google Shape;938;p45" descr="Google Shape;938;p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92" y="2731988"/>
            <a:ext cx="945059" cy="1134071"/>
          </a:xfrm>
          <a:prstGeom prst="rect">
            <a:avLst/>
          </a:prstGeom>
          <a:ln w="12700">
            <a:miter lim="400000"/>
          </a:ln>
        </p:spPr>
      </p:pic>
      <p:sp>
        <p:nvSpPr>
          <p:cNvPr id="4231" name="Google Shape;939;p45"/>
          <p:cNvSpPr txBox="1"/>
          <p:nvPr/>
        </p:nvSpPr>
        <p:spPr>
          <a:xfrm>
            <a:off x="1890018" y="2921000"/>
            <a:ext cx="2362697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Isolate Variation</a:t>
            </a:r>
          </a:p>
        </p:txBody>
      </p:sp>
      <p:sp>
        <p:nvSpPr>
          <p:cNvPr id="4232" name="Google Shape;940;p45"/>
          <p:cNvSpPr txBox="1"/>
          <p:nvPr/>
        </p:nvSpPr>
        <p:spPr>
          <a:xfrm>
            <a:off x="1890018" y="3329682"/>
            <a:ext cx="5068493" cy="314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Use only the variation in X caused by Z</a:t>
            </a:r>
          </a:p>
        </p:txBody>
      </p:sp>
      <p:pic>
        <p:nvPicPr>
          <p:cNvPr id="4233" name="Google Shape;941;p45" descr="Google Shape;941;p4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92" y="3866058"/>
            <a:ext cx="945059" cy="1134071"/>
          </a:xfrm>
          <a:prstGeom prst="rect">
            <a:avLst/>
          </a:prstGeom>
          <a:ln w="12700">
            <a:miter lim="400000"/>
          </a:ln>
        </p:spPr>
      </p:pic>
      <p:sp>
        <p:nvSpPr>
          <p:cNvPr id="4234" name="Google Shape;942;p45"/>
          <p:cNvSpPr txBox="1"/>
          <p:nvPr/>
        </p:nvSpPr>
        <p:spPr>
          <a:xfrm>
            <a:off x="1890018" y="4055069"/>
            <a:ext cx="2362697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Measure Effect</a:t>
            </a:r>
          </a:p>
        </p:txBody>
      </p:sp>
      <p:sp>
        <p:nvSpPr>
          <p:cNvPr id="4235" name="Google Shape;943;p45"/>
          <p:cNvSpPr txBox="1"/>
          <p:nvPr/>
        </p:nvSpPr>
        <p:spPr>
          <a:xfrm>
            <a:off x="1890018" y="4463752"/>
            <a:ext cx="5068493" cy="314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See how this "clean" variation affects Y</a:t>
            </a:r>
          </a:p>
        </p:txBody>
      </p:sp>
      <p:pic>
        <p:nvPicPr>
          <p:cNvPr id="4236" name="Google Shape;944;p45" descr="Google Shape;944;p4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92" y="5000130"/>
            <a:ext cx="945059" cy="1134071"/>
          </a:xfrm>
          <a:prstGeom prst="rect">
            <a:avLst/>
          </a:prstGeom>
          <a:ln w="12700">
            <a:miter lim="400000"/>
          </a:ln>
        </p:spPr>
      </p:pic>
      <p:sp>
        <p:nvSpPr>
          <p:cNvPr id="4237" name="Google Shape;945;p45"/>
          <p:cNvSpPr txBox="1"/>
          <p:nvPr/>
        </p:nvSpPr>
        <p:spPr>
          <a:xfrm>
            <a:off x="1890018" y="5189141"/>
            <a:ext cx="2362697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Draw Conclusions</a:t>
            </a:r>
          </a:p>
        </p:txBody>
      </p:sp>
      <p:sp>
        <p:nvSpPr>
          <p:cNvPr id="4238" name="Google Shape;946;p45"/>
          <p:cNvSpPr txBox="1"/>
          <p:nvPr/>
        </p:nvSpPr>
        <p:spPr>
          <a:xfrm>
            <a:off x="1890018" y="5597822"/>
            <a:ext cx="5068493" cy="314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Estimate causal impact of X on Y</a:t>
            </a:r>
          </a:p>
        </p:txBody>
      </p: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0" name="Google Shape;952;p46"/>
          <p:cNvSpPr txBox="1"/>
          <p:nvPr/>
        </p:nvSpPr>
        <p:spPr>
          <a:xfrm>
            <a:off x="661491" y="1275655"/>
            <a:ext cx="10176389" cy="635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4719"/>
              </a:lnSpc>
              <a:defRPr sz="4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3667"/>
              <a:t>Matching: Creating Comparable Groups</a:t>
            </a:r>
          </a:p>
        </p:txBody>
      </p:sp>
      <p:sp>
        <p:nvSpPr>
          <p:cNvPr id="4241" name="Google Shape;953;p46"/>
          <p:cNvSpPr txBox="1"/>
          <p:nvPr/>
        </p:nvSpPr>
        <p:spPr>
          <a:xfrm>
            <a:off x="661491" y="2338784"/>
            <a:ext cx="2362698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How It Works</a:t>
            </a:r>
          </a:p>
        </p:txBody>
      </p:sp>
      <p:sp>
        <p:nvSpPr>
          <p:cNvPr id="4242" name="Google Shape;954;p46"/>
          <p:cNvSpPr txBox="1"/>
          <p:nvPr/>
        </p:nvSpPr>
        <p:spPr>
          <a:xfrm>
            <a:off x="661491" y="2823071"/>
            <a:ext cx="5203926" cy="314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Match each treated subject with similar non-treated subjects.</a:t>
            </a:r>
          </a:p>
        </p:txBody>
      </p:sp>
      <p:sp>
        <p:nvSpPr>
          <p:cNvPr id="4243" name="Google Shape;955;p46"/>
          <p:cNvSpPr txBox="1"/>
          <p:nvPr/>
        </p:nvSpPr>
        <p:spPr>
          <a:xfrm>
            <a:off x="661491" y="3597969"/>
            <a:ext cx="5203926" cy="314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Compare outcomes between matched pairs.</a:t>
            </a:r>
          </a:p>
        </p:txBody>
      </p:sp>
      <p:sp>
        <p:nvSpPr>
          <p:cNvPr id="4244" name="Google Shape;956;p46"/>
          <p:cNvSpPr txBox="1"/>
          <p:nvPr/>
        </p:nvSpPr>
        <p:spPr>
          <a:xfrm>
            <a:off x="661491" y="4070450"/>
            <a:ext cx="5203926" cy="314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Creates balanced groups as if in an experiment.</a:t>
            </a:r>
          </a:p>
        </p:txBody>
      </p:sp>
      <p:sp>
        <p:nvSpPr>
          <p:cNvPr id="4245" name="Google Shape;957;p46"/>
          <p:cNvSpPr txBox="1"/>
          <p:nvPr/>
        </p:nvSpPr>
        <p:spPr>
          <a:xfrm>
            <a:off x="6332933" y="2338784"/>
            <a:ext cx="2362697" cy="31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833"/>
              <a:t>Example</a:t>
            </a:r>
          </a:p>
        </p:txBody>
      </p:sp>
      <p:sp>
        <p:nvSpPr>
          <p:cNvPr id="4246" name="Google Shape;958;p46"/>
          <p:cNvSpPr txBox="1"/>
          <p:nvPr/>
        </p:nvSpPr>
        <p:spPr>
          <a:xfrm>
            <a:off x="6332933" y="2823071"/>
            <a:ext cx="5203925" cy="314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For each student in tutoring program, find another student with:</a:t>
            </a:r>
          </a:p>
        </p:txBody>
      </p:sp>
      <p:sp>
        <p:nvSpPr>
          <p:cNvPr id="4247" name="Google Shape;959;p46"/>
          <p:cNvSpPr txBox="1"/>
          <p:nvPr/>
        </p:nvSpPr>
        <p:spPr>
          <a:xfrm>
            <a:off x="6332933" y="3597969"/>
            <a:ext cx="5203925" cy="314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62857"/>
              </a:lnSpc>
              <a:buClr>
                <a:srgbClr val="000000"/>
              </a:buClr>
              <a:buSzPts val="1700"/>
              <a:buFont typeface="Helvetica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Similar initial grades</a:t>
            </a:r>
          </a:p>
        </p:txBody>
      </p:sp>
      <p:sp>
        <p:nvSpPr>
          <p:cNvPr id="4248" name="Google Shape;960;p46"/>
          <p:cNvSpPr txBox="1"/>
          <p:nvPr/>
        </p:nvSpPr>
        <p:spPr>
          <a:xfrm>
            <a:off x="6332933" y="3966469"/>
            <a:ext cx="5203925" cy="314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62857"/>
              </a:lnSpc>
              <a:buClr>
                <a:srgbClr val="000000"/>
              </a:buClr>
              <a:buSzPts val="1700"/>
              <a:buFont typeface="Helvetica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Similar background</a:t>
            </a:r>
          </a:p>
        </p:txBody>
      </p:sp>
      <p:sp>
        <p:nvSpPr>
          <p:cNvPr id="4249" name="Google Shape;961;p46"/>
          <p:cNvSpPr txBox="1"/>
          <p:nvPr/>
        </p:nvSpPr>
        <p:spPr>
          <a:xfrm>
            <a:off x="6332933" y="4334966"/>
            <a:ext cx="5203925" cy="314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62857"/>
              </a:lnSpc>
              <a:buClr>
                <a:srgbClr val="000000"/>
              </a:buClr>
              <a:buSzPts val="1700"/>
              <a:buFont typeface="Helvetica"/>
              <a:buChar char="•"/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Similar motivation level</a:t>
            </a:r>
          </a:p>
        </p:txBody>
      </p:sp>
      <p:sp>
        <p:nvSpPr>
          <p:cNvPr id="4250" name="Google Shape;962;p46"/>
          <p:cNvSpPr txBox="1"/>
          <p:nvPr/>
        </p:nvSpPr>
        <p:spPr>
          <a:xfrm>
            <a:off x="6332933" y="4807446"/>
            <a:ext cx="5203925" cy="314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Compare outcomes between matched pairs to estimate tutoring effect.</a:t>
            </a:r>
          </a:p>
        </p:txBody>
      </p: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2" name="Google Shape;968;p47" descr="Google Shape;968;p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867" y="1093303"/>
            <a:ext cx="3843132" cy="5764697"/>
          </a:xfrm>
          <a:prstGeom prst="rect">
            <a:avLst/>
          </a:prstGeom>
          <a:ln w="12700">
            <a:miter lim="400000"/>
          </a:ln>
        </p:spPr>
      </p:pic>
      <p:sp>
        <p:nvSpPr>
          <p:cNvPr id="4253" name="Google Shape;969;p47"/>
          <p:cNvSpPr txBox="1"/>
          <p:nvPr/>
        </p:nvSpPr>
        <p:spPr>
          <a:xfrm>
            <a:off x="602953" y="475158"/>
            <a:ext cx="6414095" cy="12186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4690"/>
              </a:lnSpc>
              <a:defRPr sz="40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3333"/>
              <a:t>Case Study: After-School Tutoring Program</a:t>
            </a:r>
          </a:p>
        </p:txBody>
      </p:sp>
      <p:sp>
        <p:nvSpPr>
          <p:cNvPr id="4254" name="Google Shape;970;p47"/>
          <p:cNvSpPr txBox="1"/>
          <p:nvPr/>
        </p:nvSpPr>
        <p:spPr>
          <a:xfrm>
            <a:off x="602952" y="1896368"/>
            <a:ext cx="3077867" cy="679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53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4416"/>
              <a:t>50</a:t>
            </a:r>
          </a:p>
        </p:txBody>
      </p:sp>
      <p:sp>
        <p:nvSpPr>
          <p:cNvPr id="4255" name="Google Shape;971;p47"/>
          <p:cNvSpPr txBox="1"/>
          <p:nvPr/>
        </p:nvSpPr>
        <p:spPr>
          <a:xfrm>
            <a:off x="1065213" y="2680097"/>
            <a:ext cx="2153345" cy="288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25000"/>
              </a:lnSpc>
              <a:defRPr sz="20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667"/>
              <a:t>Total Students</a:t>
            </a:r>
          </a:p>
        </p:txBody>
      </p:sp>
      <p:sp>
        <p:nvSpPr>
          <p:cNvPr id="4256" name="Google Shape;972;p47"/>
          <p:cNvSpPr txBox="1"/>
          <p:nvPr/>
        </p:nvSpPr>
        <p:spPr>
          <a:xfrm>
            <a:off x="602952" y="3052465"/>
            <a:ext cx="3077867" cy="29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62500"/>
              </a:lnSpc>
              <a:defRPr sz="1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333"/>
              <a:t>9th graders in a high school math class</a:t>
            </a:r>
          </a:p>
        </p:txBody>
      </p:sp>
      <p:sp>
        <p:nvSpPr>
          <p:cNvPr id="4257" name="Google Shape;973;p47"/>
          <p:cNvSpPr txBox="1"/>
          <p:nvPr/>
        </p:nvSpPr>
        <p:spPr>
          <a:xfrm>
            <a:off x="3939182" y="1896368"/>
            <a:ext cx="3077866" cy="679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53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4416"/>
              <a:t>20</a:t>
            </a:r>
          </a:p>
        </p:txBody>
      </p:sp>
      <p:sp>
        <p:nvSpPr>
          <p:cNvPr id="4258" name="Google Shape;974;p47"/>
          <p:cNvSpPr txBox="1"/>
          <p:nvPr/>
        </p:nvSpPr>
        <p:spPr>
          <a:xfrm>
            <a:off x="4401443" y="2680097"/>
            <a:ext cx="2153345" cy="288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25000"/>
              </a:lnSpc>
              <a:defRPr sz="20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667"/>
              <a:t>Tutored Group</a:t>
            </a:r>
          </a:p>
        </p:txBody>
      </p:sp>
      <p:sp>
        <p:nvSpPr>
          <p:cNvPr id="4259" name="Google Shape;975;p47"/>
          <p:cNvSpPr txBox="1"/>
          <p:nvPr/>
        </p:nvSpPr>
        <p:spPr>
          <a:xfrm>
            <a:off x="3939182" y="3052464"/>
            <a:ext cx="3077866" cy="63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62500"/>
              </a:lnSpc>
              <a:defRPr sz="1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333"/>
              <a:t>Students who voluntarily attended after-school tutoring</a:t>
            </a:r>
          </a:p>
        </p:txBody>
      </p:sp>
      <p:sp>
        <p:nvSpPr>
          <p:cNvPr id="4260" name="Google Shape;976;p47"/>
          <p:cNvSpPr txBox="1"/>
          <p:nvPr/>
        </p:nvSpPr>
        <p:spPr>
          <a:xfrm>
            <a:off x="2271019" y="3822065"/>
            <a:ext cx="3077866" cy="679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53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4416"/>
              <a:t>30</a:t>
            </a:r>
          </a:p>
        </p:txBody>
      </p:sp>
      <p:sp>
        <p:nvSpPr>
          <p:cNvPr id="4261" name="Google Shape;977;p47"/>
          <p:cNvSpPr txBox="1"/>
          <p:nvPr/>
        </p:nvSpPr>
        <p:spPr>
          <a:xfrm>
            <a:off x="2733278" y="4605794"/>
            <a:ext cx="2153345" cy="288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25000"/>
              </a:lnSpc>
              <a:defRPr sz="20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667"/>
              <a:t>Non-Tutored Group</a:t>
            </a:r>
          </a:p>
        </p:txBody>
      </p:sp>
      <p:sp>
        <p:nvSpPr>
          <p:cNvPr id="4262" name="Google Shape;978;p47"/>
          <p:cNvSpPr txBox="1"/>
          <p:nvPr/>
        </p:nvSpPr>
        <p:spPr>
          <a:xfrm>
            <a:off x="2271019" y="4978161"/>
            <a:ext cx="3077866" cy="63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62500"/>
              </a:lnSpc>
              <a:defRPr sz="1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333"/>
              <a:t>Students who did not attend the tutoring program</a:t>
            </a:r>
          </a:p>
        </p:txBody>
      </p:sp>
      <p:sp>
        <p:nvSpPr>
          <p:cNvPr id="4263" name="Google Shape;979;p47"/>
          <p:cNvSpPr txBox="1"/>
          <p:nvPr/>
        </p:nvSpPr>
        <p:spPr>
          <a:xfrm>
            <a:off x="602953" y="5722997"/>
            <a:ext cx="6414095" cy="29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500"/>
              </a:lnSpc>
              <a:defRPr sz="1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333"/>
              <a:t>Question: Did the tutoring program help improve math scores?</a:t>
            </a:r>
          </a:p>
        </p:txBody>
      </p:sp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5" name="Google Shape;985;p48"/>
          <p:cNvSpPr txBox="1"/>
          <p:nvPr/>
        </p:nvSpPr>
        <p:spPr>
          <a:xfrm>
            <a:off x="592732" y="466922"/>
            <a:ext cx="6153052" cy="12186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40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3333"/>
              <a:t>Case Study: Data Analysis Steps</a:t>
            </a:r>
          </a:p>
        </p:txBody>
      </p:sp>
      <p:sp>
        <p:nvSpPr>
          <p:cNvPr id="4266" name="Google Shape;986;p48"/>
          <p:cNvSpPr/>
          <p:nvPr/>
        </p:nvSpPr>
        <p:spPr>
          <a:xfrm>
            <a:off x="6086475" y="1334690"/>
            <a:ext cx="19051" cy="5056387"/>
          </a:xfrm>
          <a:prstGeom prst="roundRect">
            <a:avLst>
              <a:gd name="adj" fmla="val 50000"/>
            </a:avLst>
          </a:prstGeom>
          <a:solidFill>
            <a:srgbClr val="B2D3E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4267" name="Google Shape;987;p48"/>
          <p:cNvSpPr/>
          <p:nvPr/>
        </p:nvSpPr>
        <p:spPr>
          <a:xfrm>
            <a:off x="5416550" y="1515666"/>
            <a:ext cx="508001" cy="19051"/>
          </a:xfrm>
          <a:prstGeom prst="roundRect">
            <a:avLst>
              <a:gd name="adj" fmla="val 50000"/>
            </a:avLst>
          </a:prstGeom>
          <a:solidFill>
            <a:srgbClr val="B2D3E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4268" name="Google Shape;988;p48"/>
          <p:cNvSpPr/>
          <p:nvPr/>
        </p:nvSpPr>
        <p:spPr>
          <a:xfrm>
            <a:off x="5905500" y="1334690"/>
            <a:ext cx="381000" cy="381001"/>
          </a:xfrm>
          <a:prstGeom prst="roundRect">
            <a:avLst>
              <a:gd name="adj" fmla="val 18670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pic>
        <p:nvPicPr>
          <p:cNvPr id="4269" name="Google Shape;989;p48" descr="Google Shape;989;p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0" y="1366440"/>
            <a:ext cx="254000" cy="317501"/>
          </a:xfrm>
          <a:prstGeom prst="rect">
            <a:avLst/>
          </a:prstGeom>
          <a:ln w="12700">
            <a:miter lim="400000"/>
          </a:ln>
        </p:spPr>
      </p:pic>
      <p:sp>
        <p:nvSpPr>
          <p:cNvPr id="4270" name="Google Shape;990;p48"/>
          <p:cNvSpPr txBox="1"/>
          <p:nvPr/>
        </p:nvSpPr>
        <p:spPr>
          <a:xfrm>
            <a:off x="3132237" y="1392832"/>
            <a:ext cx="2117032" cy="288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25000"/>
              </a:lnSpc>
              <a:defRPr sz="20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667"/>
              <a:t>Descriptive Analysis</a:t>
            </a:r>
          </a:p>
        </p:txBody>
      </p:sp>
      <p:sp>
        <p:nvSpPr>
          <p:cNvPr id="4271" name="Google Shape;991;p48"/>
          <p:cNvSpPr txBox="1"/>
          <p:nvPr/>
        </p:nvSpPr>
        <p:spPr>
          <a:xfrm>
            <a:off x="592732" y="1759049"/>
            <a:ext cx="4656536" cy="615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59375"/>
              </a:lnSpc>
              <a:defRPr sz="1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333"/>
              <a:t>Calculate means: Tutored group improved 8 points, Non-tutored improved 3 points.</a:t>
            </a:r>
          </a:p>
        </p:txBody>
      </p:sp>
      <p:sp>
        <p:nvSpPr>
          <p:cNvPr id="4272" name="Google Shape;992;p48"/>
          <p:cNvSpPr/>
          <p:nvPr/>
        </p:nvSpPr>
        <p:spPr>
          <a:xfrm>
            <a:off x="6267450" y="2531666"/>
            <a:ext cx="508001" cy="19051"/>
          </a:xfrm>
          <a:prstGeom prst="roundRect">
            <a:avLst>
              <a:gd name="adj" fmla="val 50000"/>
            </a:avLst>
          </a:prstGeom>
          <a:solidFill>
            <a:srgbClr val="B2D3E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4273" name="Google Shape;993;p48"/>
          <p:cNvSpPr/>
          <p:nvPr/>
        </p:nvSpPr>
        <p:spPr>
          <a:xfrm>
            <a:off x="5905500" y="2350690"/>
            <a:ext cx="381000" cy="381001"/>
          </a:xfrm>
          <a:prstGeom prst="roundRect">
            <a:avLst>
              <a:gd name="adj" fmla="val 18670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pic>
        <p:nvPicPr>
          <p:cNvPr id="4274" name="Google Shape;994;p48" descr="Google Shape;994;p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000" y="2382440"/>
            <a:ext cx="254000" cy="317501"/>
          </a:xfrm>
          <a:prstGeom prst="rect">
            <a:avLst/>
          </a:prstGeom>
          <a:ln w="12700">
            <a:miter lim="400000"/>
          </a:ln>
        </p:spPr>
      </p:pic>
      <p:sp>
        <p:nvSpPr>
          <p:cNvPr id="4275" name="Google Shape;995;p48"/>
          <p:cNvSpPr txBox="1"/>
          <p:nvPr/>
        </p:nvSpPr>
        <p:spPr>
          <a:xfrm>
            <a:off x="6942732" y="2408832"/>
            <a:ext cx="2117032" cy="288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0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667"/>
              <a:t>Visualize Data</a:t>
            </a:r>
          </a:p>
        </p:txBody>
      </p:sp>
      <p:sp>
        <p:nvSpPr>
          <p:cNvPr id="4276" name="Google Shape;996;p48"/>
          <p:cNvSpPr txBox="1"/>
          <p:nvPr/>
        </p:nvSpPr>
        <p:spPr>
          <a:xfrm>
            <a:off x="6942733" y="2775050"/>
            <a:ext cx="4656535" cy="289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9375"/>
              </a:lnSpc>
              <a:defRPr sz="1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333"/>
              <a:t>Create bar graphs showing before and after scores for both groups.</a:t>
            </a:r>
          </a:p>
        </p:txBody>
      </p:sp>
      <p:sp>
        <p:nvSpPr>
          <p:cNvPr id="4277" name="Google Shape;997;p48"/>
          <p:cNvSpPr/>
          <p:nvPr/>
        </p:nvSpPr>
        <p:spPr>
          <a:xfrm>
            <a:off x="5416550" y="3407469"/>
            <a:ext cx="508001" cy="19051"/>
          </a:xfrm>
          <a:prstGeom prst="roundRect">
            <a:avLst>
              <a:gd name="adj" fmla="val 50000"/>
            </a:avLst>
          </a:prstGeom>
          <a:solidFill>
            <a:srgbClr val="B2D3E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4278" name="Google Shape;998;p48"/>
          <p:cNvSpPr/>
          <p:nvPr/>
        </p:nvSpPr>
        <p:spPr>
          <a:xfrm>
            <a:off x="5905500" y="3226495"/>
            <a:ext cx="381000" cy="381001"/>
          </a:xfrm>
          <a:prstGeom prst="roundRect">
            <a:avLst>
              <a:gd name="adj" fmla="val 18670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pic>
        <p:nvPicPr>
          <p:cNvPr id="4279" name="Google Shape;999;p48" descr="Google Shape;999;p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000" y="3258245"/>
            <a:ext cx="254000" cy="317501"/>
          </a:xfrm>
          <a:prstGeom prst="rect">
            <a:avLst/>
          </a:prstGeom>
          <a:ln w="12700">
            <a:miter lim="400000"/>
          </a:ln>
        </p:spPr>
      </p:pic>
      <p:sp>
        <p:nvSpPr>
          <p:cNvPr id="4280" name="Google Shape;1000;p48"/>
          <p:cNvSpPr txBox="1"/>
          <p:nvPr/>
        </p:nvSpPr>
        <p:spPr>
          <a:xfrm>
            <a:off x="3132237" y="3284637"/>
            <a:ext cx="2117032" cy="288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25000"/>
              </a:lnSpc>
              <a:defRPr sz="20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667"/>
              <a:t>Inferential Analysis</a:t>
            </a:r>
          </a:p>
        </p:txBody>
      </p:sp>
      <p:sp>
        <p:nvSpPr>
          <p:cNvPr id="4281" name="Google Shape;1001;p48"/>
          <p:cNvSpPr txBox="1"/>
          <p:nvPr/>
        </p:nvSpPr>
        <p:spPr>
          <a:xfrm>
            <a:off x="592732" y="3650854"/>
            <a:ext cx="4656536" cy="615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59375"/>
              </a:lnSpc>
              <a:defRPr sz="1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333"/>
              <a:t>Perform t-test on improvement scores (p=0.02, statistically significant).</a:t>
            </a:r>
          </a:p>
        </p:txBody>
      </p:sp>
      <p:sp>
        <p:nvSpPr>
          <p:cNvPr id="4282" name="Google Shape;1002;p48"/>
          <p:cNvSpPr/>
          <p:nvPr/>
        </p:nvSpPr>
        <p:spPr>
          <a:xfrm>
            <a:off x="6267450" y="4283274"/>
            <a:ext cx="508001" cy="19051"/>
          </a:xfrm>
          <a:prstGeom prst="roundRect">
            <a:avLst>
              <a:gd name="adj" fmla="val 50000"/>
            </a:avLst>
          </a:prstGeom>
          <a:solidFill>
            <a:srgbClr val="B2D3E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4283" name="Google Shape;1003;p48"/>
          <p:cNvSpPr/>
          <p:nvPr/>
        </p:nvSpPr>
        <p:spPr>
          <a:xfrm>
            <a:off x="5905500" y="4102299"/>
            <a:ext cx="381000" cy="381001"/>
          </a:xfrm>
          <a:prstGeom prst="roundRect">
            <a:avLst>
              <a:gd name="adj" fmla="val 18670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pic>
        <p:nvPicPr>
          <p:cNvPr id="4284" name="Google Shape;1004;p48" descr="Google Shape;1004;p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000" y="4134049"/>
            <a:ext cx="254000" cy="317501"/>
          </a:xfrm>
          <a:prstGeom prst="rect">
            <a:avLst/>
          </a:prstGeom>
          <a:ln w="12700">
            <a:miter lim="400000"/>
          </a:ln>
        </p:spPr>
      </p:pic>
      <p:sp>
        <p:nvSpPr>
          <p:cNvPr id="4285" name="Google Shape;1005;p48"/>
          <p:cNvSpPr txBox="1"/>
          <p:nvPr/>
        </p:nvSpPr>
        <p:spPr>
          <a:xfrm>
            <a:off x="6942733" y="4160440"/>
            <a:ext cx="2203153" cy="609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0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667"/>
              <a:t>Address Selection Bias</a:t>
            </a:r>
          </a:p>
        </p:txBody>
      </p:sp>
      <p:sp>
        <p:nvSpPr>
          <p:cNvPr id="4286" name="Google Shape;1006;p48"/>
          <p:cNvSpPr txBox="1"/>
          <p:nvPr/>
        </p:nvSpPr>
        <p:spPr>
          <a:xfrm>
            <a:off x="6942733" y="4526656"/>
            <a:ext cx="4656535" cy="289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9375"/>
              </a:lnSpc>
              <a:defRPr sz="1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333"/>
              <a:t>Use matching to compare similar students from both groups.</a:t>
            </a:r>
          </a:p>
        </p:txBody>
      </p:sp>
      <p:sp>
        <p:nvSpPr>
          <p:cNvPr id="4287" name="Google Shape;1007;p48"/>
          <p:cNvSpPr/>
          <p:nvPr/>
        </p:nvSpPr>
        <p:spPr>
          <a:xfrm>
            <a:off x="5416550" y="5159078"/>
            <a:ext cx="508001" cy="19051"/>
          </a:xfrm>
          <a:prstGeom prst="roundRect">
            <a:avLst>
              <a:gd name="adj" fmla="val 50000"/>
            </a:avLst>
          </a:prstGeom>
          <a:solidFill>
            <a:srgbClr val="B2D3E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4288" name="Google Shape;1008;p48"/>
          <p:cNvSpPr/>
          <p:nvPr/>
        </p:nvSpPr>
        <p:spPr>
          <a:xfrm>
            <a:off x="5905500" y="4978102"/>
            <a:ext cx="381000" cy="381001"/>
          </a:xfrm>
          <a:prstGeom prst="roundRect">
            <a:avLst>
              <a:gd name="adj" fmla="val 18670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pic>
        <p:nvPicPr>
          <p:cNvPr id="4289" name="Google Shape;1009;p48" descr="Google Shape;1009;p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9000" y="5009852"/>
            <a:ext cx="254000" cy="317501"/>
          </a:xfrm>
          <a:prstGeom prst="rect">
            <a:avLst/>
          </a:prstGeom>
          <a:ln w="12700">
            <a:miter lim="400000"/>
          </a:ln>
        </p:spPr>
      </p:pic>
      <p:sp>
        <p:nvSpPr>
          <p:cNvPr id="4290" name="Google Shape;1010;p48"/>
          <p:cNvSpPr txBox="1"/>
          <p:nvPr/>
        </p:nvSpPr>
        <p:spPr>
          <a:xfrm>
            <a:off x="3132237" y="5036244"/>
            <a:ext cx="2117032" cy="288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25000"/>
              </a:lnSpc>
              <a:defRPr sz="20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667"/>
              <a:t>Draw Conclusions</a:t>
            </a:r>
          </a:p>
        </p:txBody>
      </p:sp>
      <p:sp>
        <p:nvSpPr>
          <p:cNvPr id="4291" name="Google Shape;1011;p48"/>
          <p:cNvSpPr txBox="1"/>
          <p:nvPr/>
        </p:nvSpPr>
        <p:spPr>
          <a:xfrm>
            <a:off x="592732" y="5402461"/>
            <a:ext cx="4656536" cy="289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59375"/>
              </a:lnSpc>
              <a:defRPr sz="1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333"/>
              <a:t>Tutoring likely caused a 5-point improvement in math scores.</a:t>
            </a:r>
          </a:p>
        </p:txBody>
      </p:sp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3" name="Google Shape;1017;p49" descr="Google Shape;1017;p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31862" cy="6347792"/>
          </a:xfrm>
          <a:prstGeom prst="rect">
            <a:avLst/>
          </a:prstGeom>
          <a:ln w="12700">
            <a:miter lim="400000"/>
          </a:ln>
        </p:spPr>
      </p:pic>
      <p:sp>
        <p:nvSpPr>
          <p:cNvPr id="4294" name="Google Shape;1018;p49"/>
          <p:cNvSpPr txBox="1"/>
          <p:nvPr/>
        </p:nvSpPr>
        <p:spPr>
          <a:xfrm>
            <a:off x="5175052" y="773510"/>
            <a:ext cx="6413897" cy="1218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8529"/>
              </a:lnSpc>
              <a:defRPr sz="3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2833"/>
              <a:t>Hands-On Activity: Investigating the Digital Divide</a:t>
            </a:r>
          </a:p>
        </p:txBody>
      </p:sp>
      <p:sp>
        <p:nvSpPr>
          <p:cNvPr id="4295" name="Google Shape;1019;p49"/>
          <p:cNvSpPr/>
          <p:nvPr/>
        </p:nvSpPr>
        <p:spPr>
          <a:xfrm>
            <a:off x="5175052" y="2042021"/>
            <a:ext cx="129183" cy="924025"/>
          </a:xfrm>
          <a:prstGeom prst="roundRect">
            <a:avLst>
              <a:gd name="adj" fmla="val 50000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4296" name="Google Shape;1020;p49"/>
          <p:cNvSpPr txBox="1"/>
          <p:nvPr/>
        </p:nvSpPr>
        <p:spPr>
          <a:xfrm>
            <a:off x="5562699" y="2042021"/>
            <a:ext cx="4111997" cy="288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0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667"/>
              <a:t>Choose a Research Question</a:t>
            </a:r>
          </a:p>
        </p:txBody>
      </p:sp>
      <p:sp>
        <p:nvSpPr>
          <p:cNvPr id="4297" name="Google Shape;1021;p49"/>
          <p:cNvSpPr txBox="1"/>
          <p:nvPr/>
        </p:nvSpPr>
        <p:spPr>
          <a:xfrm>
            <a:off x="5562700" y="2414587"/>
            <a:ext cx="6026249" cy="63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500"/>
              </a:lnSpc>
              <a:defRPr sz="1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333"/>
              <a:t>Focus on a specific aspect of internet access and equity (rural vs. urban, income differences, etc.).</a:t>
            </a:r>
          </a:p>
        </p:txBody>
      </p:sp>
      <p:sp>
        <p:nvSpPr>
          <p:cNvPr id="4298" name="Google Shape;1022;p49"/>
          <p:cNvSpPr/>
          <p:nvPr/>
        </p:nvSpPr>
        <p:spPr>
          <a:xfrm>
            <a:off x="5433516" y="3138288"/>
            <a:ext cx="129183" cy="924025"/>
          </a:xfrm>
          <a:prstGeom prst="roundRect">
            <a:avLst>
              <a:gd name="adj" fmla="val 50000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4299" name="Google Shape;1023;p49"/>
          <p:cNvSpPr txBox="1"/>
          <p:nvPr/>
        </p:nvSpPr>
        <p:spPr>
          <a:xfrm>
            <a:off x="5821164" y="3138289"/>
            <a:ext cx="3595068" cy="288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0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667"/>
              <a:t>Visit a Public Data Source</a:t>
            </a:r>
          </a:p>
        </p:txBody>
      </p:sp>
      <p:sp>
        <p:nvSpPr>
          <p:cNvPr id="4300" name="Google Shape;1024;p49"/>
          <p:cNvSpPr txBox="1"/>
          <p:nvPr/>
        </p:nvSpPr>
        <p:spPr>
          <a:xfrm>
            <a:off x="5821163" y="3510855"/>
            <a:ext cx="5767785" cy="29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500"/>
              </a:lnSpc>
              <a:defRPr sz="1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333"/>
              <a:t>Explore data.census.gov, nces.ed.gov, or similar sites to find relevant statistics.</a:t>
            </a:r>
          </a:p>
        </p:txBody>
      </p:sp>
      <p:sp>
        <p:nvSpPr>
          <p:cNvPr id="4301" name="Google Shape;1025;p49"/>
          <p:cNvSpPr/>
          <p:nvPr/>
        </p:nvSpPr>
        <p:spPr>
          <a:xfrm>
            <a:off x="5691981" y="4234557"/>
            <a:ext cx="129183" cy="648296"/>
          </a:xfrm>
          <a:prstGeom prst="roundRect">
            <a:avLst>
              <a:gd name="adj" fmla="val 50000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4302" name="Google Shape;1026;p49"/>
          <p:cNvSpPr txBox="1"/>
          <p:nvPr/>
        </p:nvSpPr>
        <p:spPr>
          <a:xfrm>
            <a:off x="6079629" y="4234557"/>
            <a:ext cx="3595068" cy="288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0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667"/>
              <a:t>Organize and Analyze Data</a:t>
            </a:r>
          </a:p>
        </p:txBody>
      </p:sp>
      <p:sp>
        <p:nvSpPr>
          <p:cNvPr id="4303" name="Google Shape;1027;p49"/>
          <p:cNvSpPr txBox="1"/>
          <p:nvPr/>
        </p:nvSpPr>
        <p:spPr>
          <a:xfrm>
            <a:off x="6079628" y="4607123"/>
            <a:ext cx="5509320" cy="29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500"/>
              </a:lnSpc>
              <a:defRPr sz="1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333"/>
              <a:t>Create tables and graphs to visualize findings and identify patterns.</a:t>
            </a:r>
          </a:p>
        </p:txBody>
      </p:sp>
      <p:sp>
        <p:nvSpPr>
          <p:cNvPr id="4304" name="Google Shape;1028;p49"/>
          <p:cNvSpPr/>
          <p:nvPr/>
        </p:nvSpPr>
        <p:spPr>
          <a:xfrm>
            <a:off x="5950445" y="5055096"/>
            <a:ext cx="129183" cy="924025"/>
          </a:xfrm>
          <a:prstGeom prst="roundRect">
            <a:avLst>
              <a:gd name="adj" fmla="val 50000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4305" name="Google Shape;1029;p49"/>
          <p:cNvSpPr txBox="1"/>
          <p:nvPr/>
        </p:nvSpPr>
        <p:spPr>
          <a:xfrm>
            <a:off x="6338095" y="5055096"/>
            <a:ext cx="2153941" cy="288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0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667"/>
              <a:t>Reflect on Meaning</a:t>
            </a:r>
          </a:p>
        </p:txBody>
      </p:sp>
      <p:sp>
        <p:nvSpPr>
          <p:cNvPr id="4306" name="Google Shape;1030;p49"/>
          <p:cNvSpPr txBox="1"/>
          <p:nvPr/>
        </p:nvSpPr>
        <p:spPr>
          <a:xfrm>
            <a:off x="6338095" y="5427662"/>
            <a:ext cx="5250856" cy="29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500"/>
              </a:lnSpc>
              <a:defRPr sz="1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333"/>
              <a:t>Consider implications for educational opportunity and potential solutions.</a:t>
            </a:r>
          </a:p>
        </p:txBody>
      </p:sp>
    </p:spTree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8" name="Google Shape;1036;p50"/>
          <p:cNvSpPr txBox="1"/>
          <p:nvPr/>
        </p:nvSpPr>
        <p:spPr>
          <a:xfrm>
            <a:off x="421779" y="1102319"/>
            <a:ext cx="3012679" cy="409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6785"/>
              </a:lnSpc>
              <a:defRPr sz="28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2333"/>
              <a:t>Key Takeaways</a:t>
            </a:r>
          </a:p>
        </p:txBody>
      </p:sp>
      <p:pic>
        <p:nvPicPr>
          <p:cNvPr id="4309" name="Google Shape;1037;p50" descr="Google Shape;1037;p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128" y="1799728"/>
            <a:ext cx="2190057" cy="1446015"/>
          </a:xfrm>
          <a:prstGeom prst="rect">
            <a:avLst/>
          </a:prstGeom>
          <a:ln w="12700">
            <a:miter lim="400000"/>
          </a:ln>
        </p:spPr>
      </p:pic>
      <p:pic>
        <p:nvPicPr>
          <p:cNvPr id="4310" name="Google Shape;1038;p50" descr="Google Shape;1038;p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526" y="1799728"/>
            <a:ext cx="2190056" cy="1446015"/>
          </a:xfrm>
          <a:prstGeom prst="rect">
            <a:avLst/>
          </a:prstGeom>
          <a:ln w="12700">
            <a:miter lim="400000"/>
          </a:ln>
        </p:spPr>
      </p:pic>
      <p:pic>
        <p:nvPicPr>
          <p:cNvPr id="4311" name="Google Shape;1039;p50" descr="Google Shape;1039;p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922" y="1799728"/>
            <a:ext cx="2190057" cy="1446015"/>
          </a:xfrm>
          <a:prstGeom prst="rect">
            <a:avLst/>
          </a:prstGeom>
          <a:ln w="12700">
            <a:miter lim="400000"/>
          </a:ln>
        </p:spPr>
      </p:pic>
      <p:pic>
        <p:nvPicPr>
          <p:cNvPr id="4312" name="Google Shape;1040;p50" descr="Google Shape;1040;p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319" y="1799728"/>
            <a:ext cx="2190057" cy="1446015"/>
          </a:xfrm>
          <a:prstGeom prst="rect">
            <a:avLst/>
          </a:prstGeom>
          <a:ln w="12700">
            <a:miter lim="400000"/>
          </a:ln>
        </p:spPr>
      </p:pic>
      <p:pic>
        <p:nvPicPr>
          <p:cNvPr id="4313" name="Google Shape;1041;p50" descr="Google Shape;1041;p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3716" y="1799728"/>
            <a:ext cx="2190057" cy="1446015"/>
          </a:xfrm>
          <a:prstGeom prst="rect">
            <a:avLst/>
          </a:prstGeom>
          <a:ln w="12700">
            <a:miter lim="400000"/>
          </a:ln>
        </p:spPr>
      </p:pic>
      <p:sp>
        <p:nvSpPr>
          <p:cNvPr id="4314" name="Google Shape;1042;p50"/>
          <p:cNvSpPr/>
          <p:nvPr/>
        </p:nvSpPr>
        <p:spPr>
          <a:xfrm>
            <a:off x="421778" y="3461146"/>
            <a:ext cx="271068" cy="271067"/>
          </a:xfrm>
          <a:prstGeom prst="roundRect">
            <a:avLst>
              <a:gd name="adj" fmla="val 18672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4315" name="Google Shape;1043;p50"/>
          <p:cNvSpPr txBox="1"/>
          <p:nvPr/>
        </p:nvSpPr>
        <p:spPr>
          <a:xfrm>
            <a:off x="813295" y="3502521"/>
            <a:ext cx="1506339" cy="202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167"/>
              <a:t>Data Organization</a:t>
            </a:r>
          </a:p>
        </p:txBody>
      </p:sp>
      <p:sp>
        <p:nvSpPr>
          <p:cNvPr id="4316" name="Google Shape;1044;p50"/>
          <p:cNvSpPr txBox="1"/>
          <p:nvPr/>
        </p:nvSpPr>
        <p:spPr>
          <a:xfrm>
            <a:off x="813295" y="3762969"/>
            <a:ext cx="5207398" cy="204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3636"/>
              </a:lnSpc>
              <a:defRPr sz="1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917"/>
              <a:t>Organize data carefully to create a solid foundation for analysis.</a:t>
            </a:r>
          </a:p>
        </p:txBody>
      </p:sp>
      <p:sp>
        <p:nvSpPr>
          <p:cNvPr id="4317" name="Google Shape;1045;p50"/>
          <p:cNvSpPr/>
          <p:nvPr/>
        </p:nvSpPr>
        <p:spPr>
          <a:xfrm>
            <a:off x="6171307" y="3461146"/>
            <a:ext cx="271067" cy="271067"/>
          </a:xfrm>
          <a:prstGeom prst="roundRect">
            <a:avLst>
              <a:gd name="adj" fmla="val 18672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4318" name="Google Shape;1046;p50"/>
          <p:cNvSpPr txBox="1"/>
          <p:nvPr/>
        </p:nvSpPr>
        <p:spPr>
          <a:xfrm>
            <a:off x="6562825" y="3502521"/>
            <a:ext cx="1533129" cy="202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167"/>
              <a:t>Effective Visualization</a:t>
            </a:r>
          </a:p>
        </p:txBody>
      </p:sp>
      <p:sp>
        <p:nvSpPr>
          <p:cNvPr id="4319" name="Google Shape;1047;p50"/>
          <p:cNvSpPr txBox="1"/>
          <p:nvPr/>
        </p:nvSpPr>
        <p:spPr>
          <a:xfrm>
            <a:off x="6562824" y="3762969"/>
            <a:ext cx="5207398" cy="204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3636"/>
              </a:lnSpc>
              <a:defRPr sz="1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917"/>
              <a:t>Choose appropriate visualizations to represent your data clearly.</a:t>
            </a:r>
          </a:p>
        </p:txBody>
      </p:sp>
      <p:sp>
        <p:nvSpPr>
          <p:cNvPr id="4320" name="Google Shape;1048;p50"/>
          <p:cNvSpPr/>
          <p:nvPr/>
        </p:nvSpPr>
        <p:spPr>
          <a:xfrm>
            <a:off x="421778" y="4196854"/>
            <a:ext cx="271068" cy="271067"/>
          </a:xfrm>
          <a:prstGeom prst="roundRect">
            <a:avLst>
              <a:gd name="adj" fmla="val 18672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4321" name="Google Shape;1049;p50"/>
          <p:cNvSpPr txBox="1"/>
          <p:nvPr/>
        </p:nvSpPr>
        <p:spPr>
          <a:xfrm>
            <a:off x="813295" y="4238229"/>
            <a:ext cx="1517353" cy="202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167"/>
              <a:t>Statistical Summaries</a:t>
            </a:r>
          </a:p>
        </p:txBody>
      </p:sp>
      <p:sp>
        <p:nvSpPr>
          <p:cNvPr id="4322" name="Google Shape;1050;p50"/>
          <p:cNvSpPr txBox="1"/>
          <p:nvPr/>
        </p:nvSpPr>
        <p:spPr>
          <a:xfrm>
            <a:off x="813295" y="4498678"/>
            <a:ext cx="5207398" cy="204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3636"/>
              </a:lnSpc>
              <a:defRPr sz="1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917"/>
              <a:t>Use statistics to summarize and understand data patterns.</a:t>
            </a:r>
          </a:p>
        </p:txBody>
      </p:sp>
      <p:sp>
        <p:nvSpPr>
          <p:cNvPr id="4323" name="Google Shape;1051;p50"/>
          <p:cNvSpPr/>
          <p:nvPr/>
        </p:nvSpPr>
        <p:spPr>
          <a:xfrm>
            <a:off x="6171307" y="4196854"/>
            <a:ext cx="271067" cy="271067"/>
          </a:xfrm>
          <a:prstGeom prst="roundRect">
            <a:avLst>
              <a:gd name="adj" fmla="val 18672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4324" name="Google Shape;1052;p50"/>
          <p:cNvSpPr txBox="1"/>
          <p:nvPr/>
        </p:nvSpPr>
        <p:spPr>
          <a:xfrm>
            <a:off x="6562825" y="4238229"/>
            <a:ext cx="1506339" cy="202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167"/>
              <a:t>Pattern Recognition</a:t>
            </a:r>
          </a:p>
        </p:txBody>
      </p:sp>
      <p:sp>
        <p:nvSpPr>
          <p:cNvPr id="4325" name="Google Shape;1053;p50"/>
          <p:cNvSpPr txBox="1"/>
          <p:nvPr/>
        </p:nvSpPr>
        <p:spPr>
          <a:xfrm>
            <a:off x="6562824" y="4498678"/>
            <a:ext cx="5207398" cy="204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3636"/>
              </a:lnSpc>
              <a:defRPr sz="1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917"/>
              <a:t>Identify meaningful patterns that reveal insights within your data.</a:t>
            </a:r>
          </a:p>
        </p:txBody>
      </p:sp>
      <p:sp>
        <p:nvSpPr>
          <p:cNvPr id="4326" name="Google Shape;1054;p50"/>
          <p:cNvSpPr/>
          <p:nvPr/>
        </p:nvSpPr>
        <p:spPr>
          <a:xfrm>
            <a:off x="421778" y="4932560"/>
            <a:ext cx="271068" cy="271067"/>
          </a:xfrm>
          <a:prstGeom prst="roundRect">
            <a:avLst>
              <a:gd name="adj" fmla="val 18672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4327" name="Google Shape;1055;p50"/>
          <p:cNvSpPr txBox="1"/>
          <p:nvPr/>
        </p:nvSpPr>
        <p:spPr>
          <a:xfrm>
            <a:off x="813295" y="4973936"/>
            <a:ext cx="1760738" cy="202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167"/>
              <a:t>Correlation vs. Causation</a:t>
            </a:r>
          </a:p>
        </p:txBody>
      </p:sp>
      <p:sp>
        <p:nvSpPr>
          <p:cNvPr id="4328" name="Google Shape;1056;p50"/>
          <p:cNvSpPr txBox="1"/>
          <p:nvPr/>
        </p:nvSpPr>
        <p:spPr>
          <a:xfrm>
            <a:off x="813295" y="5234384"/>
            <a:ext cx="5207398" cy="204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3636"/>
              </a:lnSpc>
              <a:defRPr sz="1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917"/>
              <a:t>Distinguish between correlation and causation when interpreting relationships.</a:t>
            </a:r>
          </a:p>
        </p:txBody>
      </p:sp>
      <p:sp>
        <p:nvSpPr>
          <p:cNvPr id="4329" name="Google Shape;1057;p50"/>
          <p:cNvSpPr/>
          <p:nvPr/>
        </p:nvSpPr>
        <p:spPr>
          <a:xfrm>
            <a:off x="6171307" y="4932560"/>
            <a:ext cx="271067" cy="271067"/>
          </a:xfrm>
          <a:prstGeom prst="roundRect">
            <a:avLst>
              <a:gd name="adj" fmla="val 18672"/>
            </a:avLst>
          </a:prstGeom>
          <a:solidFill>
            <a:srgbClr val="CCEDFF"/>
          </a:solidFill>
          <a:ln>
            <a:solidFill>
              <a:srgbClr val="B2D3E5"/>
            </a:solidFill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sz="1500"/>
          </a:p>
        </p:txBody>
      </p:sp>
      <p:sp>
        <p:nvSpPr>
          <p:cNvPr id="4330" name="Google Shape;1058;p50"/>
          <p:cNvSpPr txBox="1"/>
          <p:nvPr/>
        </p:nvSpPr>
        <p:spPr>
          <a:xfrm>
            <a:off x="6562825" y="4973936"/>
            <a:ext cx="1506339" cy="202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4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r>
              <a:rPr sz="1167"/>
              <a:t>Testing Hypotheses</a:t>
            </a:r>
          </a:p>
        </p:txBody>
      </p:sp>
      <p:sp>
        <p:nvSpPr>
          <p:cNvPr id="4331" name="Google Shape;1059;p50"/>
          <p:cNvSpPr txBox="1"/>
          <p:nvPr/>
        </p:nvSpPr>
        <p:spPr>
          <a:xfrm>
            <a:off x="6562824" y="5234384"/>
            <a:ext cx="5207398" cy="204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3636"/>
              </a:lnSpc>
              <a:defRPr sz="1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917"/>
              <a:t>Apply inferential methods to test hypotheses and draw reliable conclusions.</a:t>
            </a:r>
          </a:p>
        </p:txBody>
      </p:sp>
      <p:sp>
        <p:nvSpPr>
          <p:cNvPr id="4332" name="Google Shape;1060;p50"/>
          <p:cNvSpPr txBox="1"/>
          <p:nvPr/>
        </p:nvSpPr>
        <p:spPr>
          <a:xfrm>
            <a:off x="421779" y="5562798"/>
            <a:ext cx="11348443" cy="204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3636"/>
              </a:lnSpc>
              <a:defRPr sz="1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917"/>
              <a:t>These skills will help you make sense of information in school and beyond!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4011</Words>
  <Application>Microsoft Macintosh PowerPoint</Application>
  <PresentationFormat>Widescreen</PresentationFormat>
  <Paragraphs>556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Hussain Hadah</dc:creator>
  <cp:lastModifiedBy>Hussain Hadah</cp:lastModifiedBy>
  <cp:revision>1</cp:revision>
  <dcterms:created xsi:type="dcterms:W3CDTF">2026-06-12T13:00:44Z</dcterms:created>
  <dcterms:modified xsi:type="dcterms:W3CDTF">2026-06-12T13:00:58Z</dcterms:modified>
</cp:coreProperties>
</file>