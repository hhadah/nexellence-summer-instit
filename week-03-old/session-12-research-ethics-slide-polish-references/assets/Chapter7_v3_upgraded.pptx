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7" r:id="rId2"/>
    <p:sldId id="260" r:id="rId3"/>
    <p:sldId id="262" r:id="rId4"/>
    <p:sldId id="261" r:id="rId5"/>
    <p:sldId id="263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8" r:id="rId17"/>
    <p:sldId id="279" r:id="rId18"/>
    <p:sldId id="280" r:id="rId19"/>
    <p:sldId id="283" r:id="rId20"/>
    <p:sldId id="281" r:id="rId21"/>
    <p:sldId id="284" r:id="rId22"/>
    <p:sldId id="282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2" r:id="rId40"/>
    <p:sldId id="301" r:id="rId41"/>
    <p:sldId id="306" r:id="rId42"/>
    <p:sldId id="322" r:id="rId43"/>
    <p:sldId id="304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7" r:id="rId53"/>
    <p:sldId id="316" r:id="rId54"/>
    <p:sldId id="318" r:id="rId55"/>
    <p:sldId id="319" r:id="rId56"/>
    <p:sldId id="320" r:id="rId57"/>
    <p:sldId id="321" r:id="rId58"/>
    <p:sldId id="259" r:id="rId59"/>
    <p:sldId id="323" r:id="rId65"/>
    <p:sldId id="324" r:id="rId66"/>
    <p:sldId id="325" r:id="rId67"/>
    <p:sldId id="326" r:id="rId68"/>
    <p:sldId id="327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6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56" autoAdjust="0"/>
    <p:restoredTop sz="71429" autoAdjust="0"/>
  </p:normalViewPr>
  <p:slideViewPr>
    <p:cSldViewPr snapToGrid="0">
      <p:cViewPr varScale="1">
        <p:scale>
          <a:sx n="37" d="100"/>
          <a:sy n="37" d="100"/>
        </p:scale>
        <p:origin x="1408" y="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360A44-083E-2247-8EE4-EF4080EC8F4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 xml:space="preserve">
        <a:bodyPr/>
        <a:lstStyle/>
        <a:p>
          <a:endParaRPr lang="en-US"/>
        </a:p>
      </dgm:t>
    </dgm:pt>
    <dgm:pt modelId="{50B3E9E7-F4F5-7E4C-A621-B63455B2F648}">
      <dgm:prSet/>
      <dgm:spPr/>
      <dgm:t xml:space="preserve">
        <a:bodyPr/>
        <a:lstStyle/>
        <a:p>
          <a:r>
            <a:rPr lang="en-US"/>
            <a:t>Handling Missing Data</a:t>
          </a:r>
        </a:p>
      </dgm:t>
    </dgm:pt>
    <dgm:pt modelId="{0B91E081-1966-2749-8891-2FCB97E00450}" type="parTrans" cxnId="{622D4053-5559-BC4C-A6E3-CCD0EFB15F68}">
      <dgm:prSet/>
      <dgm:spPr/>
      <dgm:t xml:space="preserve">
        <a:bodyPr/>
        <a:lstStyle/>
        <a:p>
          <a:endParaRPr lang="en-US"/>
        </a:p>
      </dgm:t>
    </dgm:pt>
    <dgm:pt modelId="{79B1AB68-55C3-EB4D-92A7-22E00D354FAC}" type="sibTrans" cxnId="{622D4053-5559-BC4C-A6E3-CCD0EFB15F68}">
      <dgm:prSet/>
      <dgm:spPr/>
      <dgm:t xml:space="preserve">
        <a:bodyPr/>
        <a:lstStyle/>
        <a:p>
          <a:endParaRPr lang="en-US"/>
        </a:p>
      </dgm:t>
    </dgm:pt>
    <dgm:pt modelId="{D63BDB43-13B9-B948-9EA1-49164253F85D}">
      <dgm:prSet/>
      <dgm:spPr/>
      <dgm:t xml:space="preserve">
        <a:bodyPr/>
        <a:lstStyle/>
        <a:p>
          <a:r>
            <a:rPr lang="en-US"/>
            <a:t>Detect missing values, decide whether to remove them or fill them in (impute) with sensible values.</a:t>
          </a:r>
        </a:p>
      </dgm:t>
    </dgm:pt>
    <dgm:pt modelId="{66CE3C41-6FCA-354A-ABE1-ACA432FF2061}" type="parTrans" cxnId="{79ED369C-C80E-7C4A-B9EB-B3BA90646A78}">
      <dgm:prSet/>
      <dgm:spPr/>
      <dgm:t xml:space="preserve">
        <a:bodyPr/>
        <a:lstStyle/>
        <a:p>
          <a:endParaRPr lang="en-US"/>
        </a:p>
      </dgm:t>
    </dgm:pt>
    <dgm:pt modelId="{F489B811-1F97-3647-A9B7-6542082E1928}" type="sibTrans" cxnId="{79ED369C-C80E-7C4A-B9EB-B3BA90646A78}">
      <dgm:prSet/>
      <dgm:spPr/>
      <dgm:t xml:space="preserve">
        <a:bodyPr/>
        <a:lstStyle/>
        <a:p>
          <a:endParaRPr lang="en-US"/>
        </a:p>
      </dgm:t>
    </dgm:pt>
    <dgm:pt modelId="{92A99754-2528-BA43-8340-D5DCC62E29F7}">
      <dgm:prSet/>
      <dgm:spPr/>
      <dgm:t xml:space="preserve">
        <a:bodyPr/>
        <a:lstStyle/>
        <a:p>
          <a:r>
            <a:rPr lang="en-US"/>
            <a:t>Identifying and Handling Outliers</a:t>
          </a:r>
        </a:p>
      </dgm:t>
    </dgm:pt>
    <dgm:pt modelId="{23AB28C7-4A3C-B746-8317-2B4D1F186985}" type="parTrans" cxnId="{3CDCDB82-2CDA-2A46-A990-2CF0E48AFAD0}">
      <dgm:prSet/>
      <dgm:spPr/>
      <dgm:t xml:space="preserve">
        <a:bodyPr/>
        <a:lstStyle/>
        <a:p>
          <a:endParaRPr lang="en-US"/>
        </a:p>
      </dgm:t>
    </dgm:pt>
    <dgm:pt modelId="{E1C433AB-9C9D-DD40-BDC2-0F40D382F1EE}" type="sibTrans" cxnId="{3CDCDB82-2CDA-2A46-A990-2CF0E48AFAD0}">
      <dgm:prSet/>
      <dgm:spPr/>
      <dgm:t xml:space="preserve">
        <a:bodyPr/>
        <a:lstStyle/>
        <a:p>
          <a:endParaRPr lang="en-US"/>
        </a:p>
      </dgm:t>
    </dgm:pt>
    <dgm:pt modelId="{0E4468D4-51A7-2745-9E28-93993EB801CA}">
      <dgm:prSet/>
      <dgm:spPr/>
      <dgm:t xml:space="preserve">
        <a:bodyPr/>
        <a:lstStyle/>
        <a:p>
          <a:r>
            <a:rPr lang="en-US"/>
            <a:t>Spot unusual values that don’t fit the pattern and learn what to do about them.</a:t>
          </a:r>
        </a:p>
      </dgm:t>
    </dgm:pt>
    <dgm:pt modelId="{DB797AF8-0775-114A-9F53-2B82E3D8E5B2}" type="parTrans" cxnId="{C868D85B-1B83-0344-9551-7B0673EAC0A2}">
      <dgm:prSet/>
      <dgm:spPr/>
      <dgm:t xml:space="preserve">
        <a:bodyPr/>
        <a:lstStyle/>
        <a:p>
          <a:endParaRPr lang="en-US"/>
        </a:p>
      </dgm:t>
    </dgm:pt>
    <dgm:pt modelId="{EC3EEC0F-773B-F94F-AA89-D0D945E124DC}" type="sibTrans" cxnId="{C868D85B-1B83-0344-9551-7B0673EAC0A2}">
      <dgm:prSet/>
      <dgm:spPr/>
      <dgm:t xml:space="preserve">
        <a:bodyPr/>
        <a:lstStyle/>
        <a:p>
          <a:endParaRPr lang="en-US"/>
        </a:p>
      </dgm:t>
    </dgm:pt>
    <dgm:pt modelId="{C86364E2-73BC-5A45-8D3A-B632B4244925}">
      <dgm:prSet/>
      <dgm:spPr/>
      <dgm:t xml:space="preserve">
        <a:bodyPr/>
        <a:lstStyle/>
        <a:p>
          <a:r>
            <a:rPr lang="en-US"/>
            <a:t>Standardizing Formats</a:t>
          </a:r>
        </a:p>
      </dgm:t>
    </dgm:pt>
    <dgm:pt modelId="{64702D9B-5F52-E240-B921-CEBCAC63BF10}" type="parTrans" cxnId="{C743FFF8-53C1-9040-B55F-DF7845131C0C}">
      <dgm:prSet/>
      <dgm:spPr/>
      <dgm:t xml:space="preserve">
        <a:bodyPr/>
        <a:lstStyle/>
        <a:p>
          <a:endParaRPr lang="en-US"/>
        </a:p>
      </dgm:t>
    </dgm:pt>
    <dgm:pt modelId="{07662DD6-FC2C-454C-9FD0-19D3555124B6}" type="sibTrans" cxnId="{C743FFF8-53C1-9040-B55F-DF7845131C0C}">
      <dgm:prSet/>
      <dgm:spPr/>
      <dgm:t xml:space="preserve">
        <a:bodyPr/>
        <a:lstStyle/>
        <a:p>
          <a:endParaRPr lang="en-US"/>
        </a:p>
      </dgm:t>
    </dgm:pt>
    <dgm:pt modelId="{71DB88E1-919F-2542-B03E-C7FB37DA86DD}">
      <dgm:prSet/>
      <dgm:spPr/>
      <dgm:t xml:space="preserve">
        <a:bodyPr/>
        <a:lstStyle/>
        <a:p>
          <a:r>
            <a:rPr lang="en-US"/>
            <a:t>Make sure data like dates and text entries are consistent (e.g. “Jan 1, 2021” vs “2021-01-01”).</a:t>
          </a:r>
        </a:p>
      </dgm:t>
    </dgm:pt>
    <dgm:pt modelId="{34D4C2C2-E2DA-7A47-9532-420A4458CC42}" type="parTrans" cxnId="{FA154B02-3111-1946-B1F5-47EC3D1CAE29}">
      <dgm:prSet/>
      <dgm:spPr/>
      <dgm:t xml:space="preserve">
        <a:bodyPr/>
        <a:lstStyle/>
        <a:p>
          <a:endParaRPr lang="en-US"/>
        </a:p>
      </dgm:t>
    </dgm:pt>
    <dgm:pt modelId="{9190B5A2-C026-7745-9DB1-EBCAFEB6FF21}" type="sibTrans" cxnId="{FA154B02-3111-1946-B1F5-47EC3D1CAE29}">
      <dgm:prSet/>
      <dgm:spPr/>
      <dgm:t xml:space="preserve">
        <a:bodyPr/>
        <a:lstStyle/>
        <a:p>
          <a:endParaRPr lang="en-US"/>
        </a:p>
      </dgm:t>
    </dgm:pt>
    <dgm:pt modelId="{E43A364F-776B-1A42-BDEA-72C8EB945816}">
      <dgm:prSet/>
      <dgm:spPr/>
      <dgm:t xml:space="preserve">
        <a:bodyPr/>
        <a:lstStyle/>
        <a:p>
          <a:r>
            <a:rPr lang="en-US"/>
            <a:t>Filtering and Combining Data</a:t>
          </a:r>
        </a:p>
      </dgm:t>
    </dgm:pt>
    <dgm:pt modelId="{DFF22926-7E62-6140-91A5-4EE6DCBD323D}" type="parTrans" cxnId="{7965CF4E-9F32-A241-AA26-0966AC3C1A22}">
      <dgm:prSet/>
      <dgm:spPr/>
      <dgm:t xml:space="preserve">
        <a:bodyPr/>
        <a:lstStyle/>
        <a:p>
          <a:endParaRPr lang="en-US"/>
        </a:p>
      </dgm:t>
    </dgm:pt>
    <dgm:pt modelId="{A2971EA7-E0A6-E748-9822-DBEFD0E656C4}" type="sibTrans" cxnId="{7965CF4E-9F32-A241-AA26-0966AC3C1A22}">
      <dgm:prSet/>
      <dgm:spPr/>
      <dgm:t xml:space="preserve">
        <a:bodyPr/>
        <a:lstStyle/>
        <a:p>
          <a:endParaRPr lang="en-US"/>
        </a:p>
      </dgm:t>
    </dgm:pt>
    <dgm:pt modelId="{FB880310-2CC0-8F48-A38B-32CFFF0A90B1}">
      <dgm:prSet/>
      <dgm:spPr/>
      <dgm:t xml:space="preserve">
        <a:bodyPr/>
        <a:lstStyle/>
        <a:p>
          <a:r>
            <a:rPr lang="en-US"/>
            <a:t>Learn to select the subset of data you need and merge data from different sources to enrich your analysis.</a:t>
          </a:r>
        </a:p>
      </dgm:t>
    </dgm:pt>
    <dgm:pt modelId="{85D2780F-018E-DF47-9DFE-90B5D586D7F9}" type="parTrans" cxnId="{A2592980-8293-CD46-8466-60019C541892}">
      <dgm:prSet/>
      <dgm:spPr/>
      <dgm:t xml:space="preserve">
        <a:bodyPr/>
        <a:lstStyle/>
        <a:p>
          <a:endParaRPr lang="en-US"/>
        </a:p>
      </dgm:t>
    </dgm:pt>
    <dgm:pt modelId="{4A559DBC-DB97-F748-8D25-B00501006A6C}" type="sibTrans" cxnId="{A2592980-8293-CD46-8466-60019C541892}">
      <dgm:prSet/>
      <dgm:spPr/>
      <dgm:t xml:space="preserve">
        <a:bodyPr/>
        <a:lstStyle/>
        <a:p>
          <a:endParaRPr lang="en-US"/>
        </a:p>
      </dgm:t>
    </dgm:pt>
    <dgm:pt modelId="{B6E2F780-5A60-BD4C-9F1F-328A39CE2CE9}" type="pres">
      <dgm:prSet presAssocID="{97360A44-083E-2247-8EE4-EF4080EC8F47}" presName="Name0" presStyleCnt="0">
        <dgm:presLayoutVars>
          <dgm:dir/>
          <dgm:animLvl val="lvl"/>
          <dgm:resizeHandles val="exact"/>
        </dgm:presLayoutVars>
      </dgm:prSet>
      <dgm:spPr/>
    </dgm:pt>
    <dgm:pt modelId="{981795AC-71E5-2D47-9A09-785F09091CC2}" type="pres">
      <dgm:prSet presAssocID="{50B3E9E7-F4F5-7E4C-A621-B63455B2F648}" presName="linNode" presStyleCnt="0"/>
      <dgm:spPr/>
    </dgm:pt>
    <dgm:pt modelId="{D9538FD8-F342-9443-8AB1-BD58734BE768}" type="pres">
      <dgm:prSet presAssocID="{50B3E9E7-F4F5-7E4C-A621-B63455B2F648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5ADCB9BD-72D7-6B47-B079-01B8879B12AB}" type="pres">
      <dgm:prSet presAssocID="{50B3E9E7-F4F5-7E4C-A621-B63455B2F648}" presName="descendantText" presStyleLbl="alignAccFollowNode1" presStyleIdx="0" presStyleCnt="4">
        <dgm:presLayoutVars>
          <dgm:bulletEnabled val="1"/>
        </dgm:presLayoutVars>
      </dgm:prSet>
      <dgm:spPr/>
    </dgm:pt>
    <dgm:pt modelId="{81F6A58C-188F-F14D-9CA1-9FB612CECAD0}" type="pres">
      <dgm:prSet presAssocID="{79B1AB68-55C3-EB4D-92A7-22E00D354FAC}" presName="sp" presStyleCnt="0"/>
      <dgm:spPr/>
    </dgm:pt>
    <dgm:pt modelId="{3CE4CA4D-647C-B648-BC93-09D6030AF2C7}" type="pres">
      <dgm:prSet presAssocID="{92A99754-2528-BA43-8340-D5DCC62E29F7}" presName="linNode" presStyleCnt="0"/>
      <dgm:spPr/>
    </dgm:pt>
    <dgm:pt modelId="{3A1C09CC-8A03-DF41-A1C9-073D01B8F0C9}" type="pres">
      <dgm:prSet presAssocID="{92A99754-2528-BA43-8340-D5DCC62E29F7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34D1F557-3A7E-7C45-B830-2CD1A270BDE4}" type="pres">
      <dgm:prSet presAssocID="{92A99754-2528-BA43-8340-D5DCC62E29F7}" presName="descendantText" presStyleLbl="alignAccFollowNode1" presStyleIdx="1" presStyleCnt="4">
        <dgm:presLayoutVars>
          <dgm:bulletEnabled val="1"/>
        </dgm:presLayoutVars>
      </dgm:prSet>
      <dgm:spPr/>
    </dgm:pt>
    <dgm:pt modelId="{797B29BF-DFF6-D141-9D01-575EADD0E765}" type="pres">
      <dgm:prSet presAssocID="{E1C433AB-9C9D-DD40-BDC2-0F40D382F1EE}" presName="sp" presStyleCnt="0"/>
      <dgm:spPr/>
    </dgm:pt>
    <dgm:pt modelId="{CB13A614-1A8B-C847-BECB-6AB716C65140}" type="pres">
      <dgm:prSet presAssocID="{C86364E2-73BC-5A45-8D3A-B632B4244925}" presName="linNode" presStyleCnt="0"/>
      <dgm:spPr/>
    </dgm:pt>
    <dgm:pt modelId="{43DDAB73-FB9A-F54F-AC6B-28C82D3076FE}" type="pres">
      <dgm:prSet presAssocID="{C86364E2-73BC-5A45-8D3A-B632B4244925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1D4FAFCF-68D2-FF42-8C71-DA0FABBF587D}" type="pres">
      <dgm:prSet presAssocID="{C86364E2-73BC-5A45-8D3A-B632B4244925}" presName="descendantText" presStyleLbl="alignAccFollowNode1" presStyleIdx="2" presStyleCnt="4">
        <dgm:presLayoutVars>
          <dgm:bulletEnabled val="1"/>
        </dgm:presLayoutVars>
      </dgm:prSet>
      <dgm:spPr/>
    </dgm:pt>
    <dgm:pt modelId="{2A74083B-E152-894C-9952-5B4C6B4DFF98}" type="pres">
      <dgm:prSet presAssocID="{07662DD6-FC2C-454C-9FD0-19D3555124B6}" presName="sp" presStyleCnt="0"/>
      <dgm:spPr/>
    </dgm:pt>
    <dgm:pt modelId="{EB85363C-629D-2E44-BC24-419D3C0BF464}" type="pres">
      <dgm:prSet presAssocID="{E43A364F-776B-1A42-BDEA-72C8EB945816}" presName="linNode" presStyleCnt="0"/>
      <dgm:spPr/>
    </dgm:pt>
    <dgm:pt modelId="{4209F7D9-AE57-8742-90EC-FF188D04AC5D}" type="pres">
      <dgm:prSet presAssocID="{E43A364F-776B-1A42-BDEA-72C8EB945816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BC430494-A6B6-F64E-8873-5C919399FBD2}" type="pres">
      <dgm:prSet presAssocID="{E43A364F-776B-1A42-BDEA-72C8EB945816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FA154B02-3111-1946-B1F5-47EC3D1CAE29}" srcId="{C86364E2-73BC-5A45-8D3A-B632B4244925}" destId="{71DB88E1-919F-2542-B03E-C7FB37DA86DD}" srcOrd="0" destOrd="0" parTransId="{34D4C2C2-E2DA-7A47-9532-420A4458CC42}" sibTransId="{9190B5A2-C026-7745-9DB1-EBCAFEB6FF21}"/>
    <dgm:cxn modelId="{97B7E50F-1F5C-5F4C-9EAC-825ACE050AB3}" type="presOf" srcId="{D63BDB43-13B9-B948-9EA1-49164253F85D}" destId="{5ADCB9BD-72D7-6B47-B079-01B8879B12AB}" srcOrd="0" destOrd="0" presId="urn:microsoft.com/office/officeart/2005/8/layout/vList5"/>
    <dgm:cxn modelId="{C868D85B-1B83-0344-9551-7B0673EAC0A2}" srcId="{92A99754-2528-BA43-8340-D5DCC62E29F7}" destId="{0E4468D4-51A7-2745-9E28-93993EB801CA}" srcOrd="0" destOrd="0" parTransId="{DB797AF8-0775-114A-9F53-2B82E3D8E5B2}" sibTransId="{EC3EEC0F-773B-F94F-AA89-D0D945E124DC}"/>
    <dgm:cxn modelId="{BE258A4D-BBC0-3740-821F-D479DA3B24A2}" type="presOf" srcId="{50B3E9E7-F4F5-7E4C-A621-B63455B2F648}" destId="{D9538FD8-F342-9443-8AB1-BD58734BE768}" srcOrd="0" destOrd="0" presId="urn:microsoft.com/office/officeart/2005/8/layout/vList5"/>
    <dgm:cxn modelId="{7965CF4E-9F32-A241-AA26-0966AC3C1A22}" srcId="{97360A44-083E-2247-8EE4-EF4080EC8F47}" destId="{E43A364F-776B-1A42-BDEA-72C8EB945816}" srcOrd="3" destOrd="0" parTransId="{DFF22926-7E62-6140-91A5-4EE6DCBD323D}" sibTransId="{A2971EA7-E0A6-E748-9822-DBEFD0E656C4}"/>
    <dgm:cxn modelId="{622D4053-5559-BC4C-A6E3-CCD0EFB15F68}" srcId="{97360A44-083E-2247-8EE4-EF4080EC8F47}" destId="{50B3E9E7-F4F5-7E4C-A621-B63455B2F648}" srcOrd="0" destOrd="0" parTransId="{0B91E081-1966-2749-8891-2FCB97E00450}" sibTransId="{79B1AB68-55C3-EB4D-92A7-22E00D354FAC}"/>
    <dgm:cxn modelId="{A2592980-8293-CD46-8466-60019C541892}" srcId="{E43A364F-776B-1A42-BDEA-72C8EB945816}" destId="{FB880310-2CC0-8F48-A38B-32CFFF0A90B1}" srcOrd="0" destOrd="0" parTransId="{85D2780F-018E-DF47-9DFE-90B5D586D7F9}" sibTransId="{4A559DBC-DB97-F748-8D25-B00501006A6C}"/>
    <dgm:cxn modelId="{3CDCDB82-2CDA-2A46-A990-2CF0E48AFAD0}" srcId="{97360A44-083E-2247-8EE4-EF4080EC8F47}" destId="{92A99754-2528-BA43-8340-D5DCC62E29F7}" srcOrd="1" destOrd="0" parTransId="{23AB28C7-4A3C-B746-8317-2B4D1F186985}" sibTransId="{E1C433AB-9C9D-DD40-BDC2-0F40D382F1EE}"/>
    <dgm:cxn modelId="{1F6F348B-D664-9D4A-B5D2-76BC0E99F738}" type="presOf" srcId="{FB880310-2CC0-8F48-A38B-32CFFF0A90B1}" destId="{BC430494-A6B6-F64E-8873-5C919399FBD2}" srcOrd="0" destOrd="0" presId="urn:microsoft.com/office/officeart/2005/8/layout/vList5"/>
    <dgm:cxn modelId="{1A414E99-BC81-DF4A-9155-F4DC00F9E873}" type="presOf" srcId="{E43A364F-776B-1A42-BDEA-72C8EB945816}" destId="{4209F7D9-AE57-8742-90EC-FF188D04AC5D}" srcOrd="0" destOrd="0" presId="urn:microsoft.com/office/officeart/2005/8/layout/vList5"/>
    <dgm:cxn modelId="{79ED369C-C80E-7C4A-B9EB-B3BA90646A78}" srcId="{50B3E9E7-F4F5-7E4C-A621-B63455B2F648}" destId="{D63BDB43-13B9-B948-9EA1-49164253F85D}" srcOrd="0" destOrd="0" parTransId="{66CE3C41-6FCA-354A-ABE1-ACA432FF2061}" sibTransId="{F489B811-1F97-3647-A9B7-6542082E1928}"/>
    <dgm:cxn modelId="{F693859D-E7C7-484B-BFEC-DEA7E614C9DE}" type="presOf" srcId="{C86364E2-73BC-5A45-8D3A-B632B4244925}" destId="{43DDAB73-FB9A-F54F-AC6B-28C82D3076FE}" srcOrd="0" destOrd="0" presId="urn:microsoft.com/office/officeart/2005/8/layout/vList5"/>
    <dgm:cxn modelId="{7D256BA3-B426-6B43-AB82-7EBC6FD30138}" type="presOf" srcId="{97360A44-083E-2247-8EE4-EF4080EC8F47}" destId="{B6E2F780-5A60-BD4C-9F1F-328A39CE2CE9}" srcOrd="0" destOrd="0" presId="urn:microsoft.com/office/officeart/2005/8/layout/vList5"/>
    <dgm:cxn modelId="{F94AE7CD-4DFD-7343-8F3B-A409CCDF1D66}" type="presOf" srcId="{71DB88E1-919F-2542-B03E-C7FB37DA86DD}" destId="{1D4FAFCF-68D2-FF42-8C71-DA0FABBF587D}" srcOrd="0" destOrd="0" presId="urn:microsoft.com/office/officeart/2005/8/layout/vList5"/>
    <dgm:cxn modelId="{DC27EDD2-DE82-C846-BEE9-40F7EC6F6AE6}" type="presOf" srcId="{0E4468D4-51A7-2745-9E28-93993EB801CA}" destId="{34D1F557-3A7E-7C45-B830-2CD1A270BDE4}" srcOrd="0" destOrd="0" presId="urn:microsoft.com/office/officeart/2005/8/layout/vList5"/>
    <dgm:cxn modelId="{C743FFF8-53C1-9040-B55F-DF7845131C0C}" srcId="{97360A44-083E-2247-8EE4-EF4080EC8F47}" destId="{C86364E2-73BC-5A45-8D3A-B632B4244925}" srcOrd="2" destOrd="0" parTransId="{64702D9B-5F52-E240-B921-CEBCAC63BF10}" sibTransId="{07662DD6-FC2C-454C-9FD0-19D3555124B6}"/>
    <dgm:cxn modelId="{7FC30CFA-74BD-9548-AA70-90470F915300}" type="presOf" srcId="{92A99754-2528-BA43-8340-D5DCC62E29F7}" destId="{3A1C09CC-8A03-DF41-A1C9-073D01B8F0C9}" srcOrd="0" destOrd="0" presId="urn:microsoft.com/office/officeart/2005/8/layout/vList5"/>
    <dgm:cxn modelId="{14A57C53-2FEB-4845-ACE4-AA7F7419666F}" type="presParOf" srcId="{B6E2F780-5A60-BD4C-9F1F-328A39CE2CE9}" destId="{981795AC-71E5-2D47-9A09-785F09091CC2}" srcOrd="0" destOrd="0" presId="urn:microsoft.com/office/officeart/2005/8/layout/vList5"/>
    <dgm:cxn modelId="{2991048A-2586-A94F-816A-1A558D74DC7B}" type="presParOf" srcId="{981795AC-71E5-2D47-9A09-785F09091CC2}" destId="{D9538FD8-F342-9443-8AB1-BD58734BE768}" srcOrd="0" destOrd="0" presId="urn:microsoft.com/office/officeart/2005/8/layout/vList5"/>
    <dgm:cxn modelId="{3024A95B-BC32-AD45-91D8-66C9EB075D61}" type="presParOf" srcId="{981795AC-71E5-2D47-9A09-785F09091CC2}" destId="{5ADCB9BD-72D7-6B47-B079-01B8879B12AB}" srcOrd="1" destOrd="0" presId="urn:microsoft.com/office/officeart/2005/8/layout/vList5"/>
    <dgm:cxn modelId="{6CBC5F55-C0CF-DC42-B75E-D3C387B763DB}" type="presParOf" srcId="{B6E2F780-5A60-BD4C-9F1F-328A39CE2CE9}" destId="{81F6A58C-188F-F14D-9CA1-9FB612CECAD0}" srcOrd="1" destOrd="0" presId="urn:microsoft.com/office/officeart/2005/8/layout/vList5"/>
    <dgm:cxn modelId="{21F72707-0465-564B-A1ED-EB7003A3159C}" type="presParOf" srcId="{B6E2F780-5A60-BD4C-9F1F-328A39CE2CE9}" destId="{3CE4CA4D-647C-B648-BC93-09D6030AF2C7}" srcOrd="2" destOrd="0" presId="urn:microsoft.com/office/officeart/2005/8/layout/vList5"/>
    <dgm:cxn modelId="{208B3E89-D470-324F-94C2-5E279C64B6F8}" type="presParOf" srcId="{3CE4CA4D-647C-B648-BC93-09D6030AF2C7}" destId="{3A1C09CC-8A03-DF41-A1C9-073D01B8F0C9}" srcOrd="0" destOrd="0" presId="urn:microsoft.com/office/officeart/2005/8/layout/vList5"/>
    <dgm:cxn modelId="{313C3A61-3C9B-0042-BA20-440195CFAC78}" type="presParOf" srcId="{3CE4CA4D-647C-B648-BC93-09D6030AF2C7}" destId="{34D1F557-3A7E-7C45-B830-2CD1A270BDE4}" srcOrd="1" destOrd="0" presId="urn:microsoft.com/office/officeart/2005/8/layout/vList5"/>
    <dgm:cxn modelId="{B7822EDA-C7F9-5E4C-879A-CA19265FC57F}" type="presParOf" srcId="{B6E2F780-5A60-BD4C-9F1F-328A39CE2CE9}" destId="{797B29BF-DFF6-D141-9D01-575EADD0E765}" srcOrd="3" destOrd="0" presId="urn:microsoft.com/office/officeart/2005/8/layout/vList5"/>
    <dgm:cxn modelId="{174C9B2B-2CB2-BA44-A08C-9FA32F1C3F7B}" type="presParOf" srcId="{B6E2F780-5A60-BD4C-9F1F-328A39CE2CE9}" destId="{CB13A614-1A8B-C847-BECB-6AB716C65140}" srcOrd="4" destOrd="0" presId="urn:microsoft.com/office/officeart/2005/8/layout/vList5"/>
    <dgm:cxn modelId="{E6EF3592-1AA7-A34F-BA8A-3E023C04716C}" type="presParOf" srcId="{CB13A614-1A8B-C847-BECB-6AB716C65140}" destId="{43DDAB73-FB9A-F54F-AC6B-28C82D3076FE}" srcOrd="0" destOrd="0" presId="urn:microsoft.com/office/officeart/2005/8/layout/vList5"/>
    <dgm:cxn modelId="{796A326B-6D05-B84F-9297-636A28D8C3D6}" type="presParOf" srcId="{CB13A614-1A8B-C847-BECB-6AB716C65140}" destId="{1D4FAFCF-68D2-FF42-8C71-DA0FABBF587D}" srcOrd="1" destOrd="0" presId="urn:microsoft.com/office/officeart/2005/8/layout/vList5"/>
    <dgm:cxn modelId="{03384DCF-AB6E-F64E-BBBE-3CB8FED5F056}" type="presParOf" srcId="{B6E2F780-5A60-BD4C-9F1F-328A39CE2CE9}" destId="{2A74083B-E152-894C-9952-5B4C6B4DFF98}" srcOrd="5" destOrd="0" presId="urn:microsoft.com/office/officeart/2005/8/layout/vList5"/>
    <dgm:cxn modelId="{8BBA2AE1-6435-9D4C-A462-7B2066455DB0}" type="presParOf" srcId="{B6E2F780-5A60-BD4C-9F1F-328A39CE2CE9}" destId="{EB85363C-629D-2E44-BC24-419D3C0BF464}" srcOrd="6" destOrd="0" presId="urn:microsoft.com/office/officeart/2005/8/layout/vList5"/>
    <dgm:cxn modelId="{12D06B9A-8570-1E43-8825-DE75F097D7BA}" type="presParOf" srcId="{EB85363C-629D-2E44-BC24-419D3C0BF464}" destId="{4209F7D9-AE57-8742-90EC-FF188D04AC5D}" srcOrd="0" destOrd="0" presId="urn:microsoft.com/office/officeart/2005/8/layout/vList5"/>
    <dgm:cxn modelId="{1244DD6C-2063-C944-8FF1-797A7E05805F}" type="presParOf" srcId="{EB85363C-629D-2E44-BC24-419D3C0BF464}" destId="{BC430494-A6B6-F64E-8873-5C919399FBD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710820-B407-1D41-9964-2A47712C0FBA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 xml:space="preserve">
        <a:bodyPr/>
        <a:lstStyle/>
        <a:p>
          <a:endParaRPr lang="en-US"/>
        </a:p>
      </dgm:t>
    </dgm:pt>
    <dgm:pt modelId="{9C898089-7DA0-DB48-90AD-E33B16DD0B4C}">
      <dgm:prSet phldrT="[Text]"/>
      <dgm:spPr/>
      <dgm:t xml:space="preserve">
        <a:bodyPr/>
        <a:lstStyle/>
        <a:p>
          <a:pPr>
            <a:buNone/>
          </a:pPr>
          <a:r>
            <a:rPr lang="en-US" dirty="0"/>
            <a:t>Remove Missing Data</a:t>
          </a:r>
        </a:p>
      </dgm:t>
    </dgm:pt>
    <dgm:pt modelId="{A2DA52EC-9CB6-A34A-A472-8F6051427DAD}" type="parTrans" cxnId="{FC216D82-8909-8E41-8CFE-D72123413D46}">
      <dgm:prSet/>
      <dgm:spPr/>
      <dgm:t xml:space="preserve">
        <a:bodyPr/>
        <a:lstStyle/>
        <a:p>
          <a:endParaRPr lang="en-US"/>
        </a:p>
      </dgm:t>
    </dgm:pt>
    <dgm:pt modelId="{8413AAF4-B4DE-354A-9D3C-AC7E16B667C7}" type="sibTrans" cxnId="{FC216D82-8909-8E41-8CFE-D72123413D46}">
      <dgm:prSet/>
      <dgm:spPr/>
      <dgm:t xml:space="preserve">
        <a:bodyPr/>
        <a:lstStyle/>
        <a:p>
          <a:endParaRPr lang="en-US"/>
        </a:p>
      </dgm:t>
    </dgm:pt>
    <dgm:pt modelId="{E9FC515E-C9C8-0048-9357-E5A04DC20D9B}">
      <dgm:prSet phldrT="[Text]"/>
      <dgm:spPr/>
      <dgm:t xml:space="preserve">
        <a:bodyPr/>
        <a:lstStyle/>
        <a:p>
          <a:pPr>
            <a:buNone/>
          </a:pPr>
          <a:r>
            <a:rPr lang="en-US" dirty="0"/>
            <a:t>Impute Missing Data</a:t>
          </a:r>
        </a:p>
      </dgm:t>
    </dgm:pt>
    <dgm:pt modelId="{7991BCCD-A668-204B-9041-0F3F7884B5E2}" type="parTrans" cxnId="{FA8102B9-CDC3-A048-BF4C-DCB7120A14A7}">
      <dgm:prSet/>
      <dgm:spPr/>
      <dgm:t xml:space="preserve">
        <a:bodyPr/>
        <a:lstStyle/>
        <a:p>
          <a:endParaRPr lang="en-US"/>
        </a:p>
      </dgm:t>
    </dgm:pt>
    <dgm:pt modelId="{F5660604-7BDC-9C48-852C-B94851C93B37}" type="sibTrans" cxnId="{FA8102B9-CDC3-A048-BF4C-DCB7120A14A7}">
      <dgm:prSet/>
      <dgm:spPr/>
      <dgm:t xml:space="preserve">
        <a:bodyPr/>
        <a:lstStyle/>
        <a:p>
          <a:endParaRPr lang="en-US"/>
        </a:p>
      </dgm:t>
    </dgm:pt>
    <dgm:pt modelId="{5AA53590-E3E0-B84D-8018-0389A6AD2BD6}">
      <dgm:prSet/>
      <dgm:spPr/>
      <dgm:t xml:space="preserve"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﻿﻿Simple approach</a:t>
          </a:r>
        </a:p>
      </dgm:t>
    </dgm:pt>
    <dgm:pt modelId="{BD8424ED-909B-2D4E-9BDF-664061EBA035}" type="parTrans" cxnId="{7F832EE1-4FF4-0C46-A102-DBFA8CA597C3}">
      <dgm:prSet/>
      <dgm:spPr/>
      <dgm:t xml:space="preserve">
        <a:bodyPr/>
        <a:lstStyle/>
        <a:p>
          <a:endParaRPr lang="en-US"/>
        </a:p>
      </dgm:t>
    </dgm:pt>
    <dgm:pt modelId="{9696F13D-3685-B84F-9E5B-531CCBCA32B6}" type="sibTrans" cxnId="{7F832EE1-4FF4-0C46-A102-DBFA8CA597C3}">
      <dgm:prSet/>
      <dgm:spPr/>
      <dgm:t xml:space="preserve">
        <a:bodyPr/>
        <a:lstStyle/>
        <a:p>
          <a:endParaRPr lang="en-US"/>
        </a:p>
      </dgm:t>
    </dgm:pt>
    <dgm:pt modelId="{3E1819BC-E29D-6240-8C92-415C1E83742F}">
      <dgm:prSet/>
      <dgm:spPr/>
      <dgm:t xml:space="preserve"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﻿﻿Ensures complete data</a:t>
          </a:r>
        </a:p>
      </dgm:t>
    </dgm:pt>
    <dgm:pt modelId="{8A8EEEC6-2CDB-8C4E-A4A4-DE485C139E3F}" type="parTrans" cxnId="{F1E3A52C-74A2-EC43-845A-9DFAD74AF276}">
      <dgm:prSet/>
      <dgm:spPr/>
      <dgm:t xml:space="preserve">
        <a:bodyPr/>
        <a:lstStyle/>
        <a:p>
          <a:endParaRPr lang="en-US"/>
        </a:p>
      </dgm:t>
    </dgm:pt>
    <dgm:pt modelId="{E827CE05-91EA-5141-A1B4-90AA4D50629D}" type="sibTrans" cxnId="{F1E3A52C-74A2-EC43-845A-9DFAD74AF276}">
      <dgm:prSet/>
      <dgm:spPr/>
      <dgm:t xml:space="preserve">
        <a:bodyPr/>
        <a:lstStyle/>
        <a:p>
          <a:endParaRPr lang="en-US"/>
        </a:p>
      </dgm:t>
    </dgm:pt>
    <dgm:pt modelId="{5341C503-7D0A-9248-9D14-12472375FDA9}">
      <dgm:prSet/>
      <dgm:spPr/>
      <dgm:t xml:space="preserve"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﻿﻿Risk: Could lose too much data</a:t>
          </a:r>
        </a:p>
      </dgm:t>
    </dgm:pt>
    <dgm:pt modelId="{F6C214F6-772F-D84A-B65E-78DD338D02A2}" type="parTrans" cxnId="{9B204DBE-357E-394F-B6B4-8E0537918195}">
      <dgm:prSet/>
      <dgm:spPr/>
      <dgm:t xml:space="preserve">
        <a:bodyPr/>
        <a:lstStyle/>
        <a:p>
          <a:endParaRPr lang="en-US"/>
        </a:p>
      </dgm:t>
    </dgm:pt>
    <dgm:pt modelId="{270A1E08-CBA6-6E44-9B36-95D5ABF12EB6}" type="sibTrans" cxnId="{9B204DBE-357E-394F-B6B4-8E0537918195}">
      <dgm:prSet/>
      <dgm:spPr/>
      <dgm:t xml:space="preserve">
        <a:bodyPr/>
        <a:lstStyle/>
        <a:p>
          <a:endParaRPr lang="en-US"/>
        </a:p>
      </dgm:t>
    </dgm:pt>
    <dgm:pt modelId="{E4F7E13F-5893-0540-8D67-3B9D3F03A94A}">
      <dgm:prSet phldrT="[Text]"/>
      <dgm:spPr/>
      <dgm:t xml:space="preserve"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Delete rows with missing values.</a:t>
          </a:r>
        </a:p>
      </dgm:t>
    </dgm:pt>
    <dgm:pt modelId="{C8AE0829-D2A0-D041-8BB6-D5973564BE9F}" type="parTrans" cxnId="{739CDDC8-DC59-BB4F-89CE-7EFDC435E1C6}">
      <dgm:prSet/>
      <dgm:spPr/>
      <dgm:t xml:space="preserve">
        <a:bodyPr/>
        <a:lstStyle/>
        <a:p>
          <a:endParaRPr lang="en-US"/>
        </a:p>
      </dgm:t>
    </dgm:pt>
    <dgm:pt modelId="{C0295406-2765-AC4D-B733-88D1F5119914}" type="sibTrans" cxnId="{739CDDC8-DC59-BB4F-89CE-7EFDC435E1C6}">
      <dgm:prSet/>
      <dgm:spPr/>
      <dgm:t xml:space="preserve">
        <a:bodyPr/>
        <a:lstStyle/>
        <a:p>
          <a:endParaRPr lang="en-US"/>
        </a:p>
      </dgm:t>
    </dgm:pt>
    <dgm:pt modelId="{7554EB97-0655-314F-8860-FE4F4919374F}">
      <dgm:prSet/>
      <dgm:spPr/>
      <dgm:t xml:space="preserve"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Fill in the blanks with estimated values.</a:t>
          </a:r>
        </a:p>
      </dgm:t>
    </dgm:pt>
    <dgm:pt modelId="{F16CD6BE-90E5-6040-A926-7DDD1A68F577}" type="parTrans" cxnId="{881BE683-0E6A-294C-A3C4-D22E8E6E3201}">
      <dgm:prSet/>
      <dgm:spPr/>
      <dgm:t xml:space="preserve">
        <a:bodyPr/>
        <a:lstStyle/>
        <a:p>
          <a:endParaRPr lang="en-US"/>
        </a:p>
      </dgm:t>
    </dgm:pt>
    <dgm:pt modelId="{FB9CCE92-9D5D-FB49-8FDE-AD18D385C2B9}" type="sibTrans" cxnId="{881BE683-0E6A-294C-A3C4-D22E8E6E3201}">
      <dgm:prSet/>
      <dgm:spPr/>
      <dgm:t xml:space="preserve">
        <a:bodyPr/>
        <a:lstStyle/>
        <a:p>
          <a:endParaRPr lang="en-US"/>
        </a:p>
      </dgm:t>
    </dgm:pt>
    <dgm:pt modelId="{3028984E-8F24-A547-ACEF-EE17F433EDF9}">
      <dgm:prSet/>
      <dgm:spPr/>
      <dgm:t xml:space="preserve"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﻿﻿Preserves data quantity</a:t>
          </a:r>
        </a:p>
      </dgm:t>
    </dgm:pt>
    <dgm:pt modelId="{C0799A05-8296-8C4A-8C3D-B77DF2359F24}" type="parTrans" cxnId="{A8AD885B-100B-8640-9EA6-B0A818C55BAD}">
      <dgm:prSet/>
      <dgm:spPr/>
      <dgm:t xml:space="preserve">
        <a:bodyPr/>
        <a:lstStyle/>
        <a:p>
          <a:endParaRPr lang="en-US"/>
        </a:p>
      </dgm:t>
    </dgm:pt>
    <dgm:pt modelId="{1267C12A-6247-004E-AA79-E4C9D5FA9E1F}" type="sibTrans" cxnId="{A8AD885B-100B-8640-9EA6-B0A818C55BAD}">
      <dgm:prSet/>
      <dgm:spPr/>
      <dgm:t xml:space="preserve">
        <a:bodyPr/>
        <a:lstStyle/>
        <a:p>
          <a:endParaRPr lang="en-US"/>
        </a:p>
      </dgm:t>
    </dgm:pt>
    <dgm:pt modelId="{4370A275-FF4C-0448-913D-EEB430D7F063}">
      <dgm:prSet/>
      <dgm:spPr/>
      <dgm:t xml:space="preserve"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﻿﻿Methods: mean, median, mode</a:t>
          </a:r>
        </a:p>
      </dgm:t>
    </dgm:pt>
    <dgm:pt modelId="{17A3C9A6-6D1E-E840-83C8-150A338B98CB}" type="parTrans" cxnId="{78A3F0FB-F44C-4C45-BACA-987465074CF1}">
      <dgm:prSet/>
      <dgm:spPr/>
      <dgm:t xml:space="preserve">
        <a:bodyPr/>
        <a:lstStyle/>
        <a:p>
          <a:endParaRPr lang="en-US"/>
        </a:p>
      </dgm:t>
    </dgm:pt>
    <dgm:pt modelId="{F12763F4-2E29-1546-9B68-CAFCCCED21F7}" type="sibTrans" cxnId="{78A3F0FB-F44C-4C45-BACA-987465074CF1}">
      <dgm:prSet/>
      <dgm:spPr/>
      <dgm:t xml:space="preserve">
        <a:bodyPr/>
        <a:lstStyle/>
        <a:p>
          <a:endParaRPr lang="en-US"/>
        </a:p>
      </dgm:t>
    </dgm:pt>
    <dgm:pt modelId="{98B653EE-CB5C-AD45-ACCE-9BEEAD03B7C5}">
      <dgm:prSet/>
      <dgm:spPr/>
      <dgm:t xml:space="preserve"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﻿﻿Risk: Added values aren't real</a:t>
          </a:r>
        </a:p>
      </dgm:t>
    </dgm:pt>
    <dgm:pt modelId="{278224BE-8AD1-A644-AB8F-8CAAC04E229F}" type="parTrans" cxnId="{5E1365B7-DC70-4F41-8FD7-DB57B31AD291}">
      <dgm:prSet/>
      <dgm:spPr/>
      <dgm:t xml:space="preserve">
        <a:bodyPr/>
        <a:lstStyle/>
        <a:p>
          <a:endParaRPr lang="en-US"/>
        </a:p>
      </dgm:t>
    </dgm:pt>
    <dgm:pt modelId="{11E942FC-875D-ED46-B27E-09BAB8C3B985}" type="sibTrans" cxnId="{5E1365B7-DC70-4F41-8FD7-DB57B31AD291}">
      <dgm:prSet/>
      <dgm:spPr/>
      <dgm:t xml:space="preserve">
        <a:bodyPr/>
        <a:lstStyle/>
        <a:p>
          <a:endParaRPr lang="en-US"/>
        </a:p>
      </dgm:t>
    </dgm:pt>
    <dgm:pt modelId="{E6B796F9-A9A6-C94C-942E-24EBAC5B6D06}" type="pres">
      <dgm:prSet presAssocID="{73710820-B407-1D41-9964-2A47712C0FBA}" presName="Name0" presStyleCnt="0">
        <dgm:presLayoutVars>
          <dgm:dir/>
          <dgm:animLvl val="lvl"/>
          <dgm:resizeHandles val="exact"/>
        </dgm:presLayoutVars>
      </dgm:prSet>
      <dgm:spPr/>
    </dgm:pt>
    <dgm:pt modelId="{23C4DDD6-FA14-1141-9B30-9F1D1E191BCB}" type="pres">
      <dgm:prSet presAssocID="{9C898089-7DA0-DB48-90AD-E33B16DD0B4C}" presName="composite" presStyleCnt="0"/>
      <dgm:spPr/>
    </dgm:pt>
    <dgm:pt modelId="{A42258B4-9F95-0242-9B5F-0C3C9C797AB5}" type="pres">
      <dgm:prSet presAssocID="{9C898089-7DA0-DB48-90AD-E33B16DD0B4C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633F67F4-9BE3-7F47-9EE6-1CF88947C338}" type="pres">
      <dgm:prSet presAssocID="{9C898089-7DA0-DB48-90AD-E33B16DD0B4C}" presName="desTx" presStyleLbl="alignAccFollowNode1" presStyleIdx="0" presStyleCnt="2">
        <dgm:presLayoutVars>
          <dgm:bulletEnabled val="1"/>
        </dgm:presLayoutVars>
      </dgm:prSet>
      <dgm:spPr/>
    </dgm:pt>
    <dgm:pt modelId="{050D53DC-7E8A-9E4B-845B-D38AF23C3B35}" type="pres">
      <dgm:prSet presAssocID="{8413AAF4-B4DE-354A-9D3C-AC7E16B667C7}" presName="space" presStyleCnt="0"/>
      <dgm:spPr/>
    </dgm:pt>
    <dgm:pt modelId="{D068DB72-FF1F-AA49-BB14-4563337ADAB5}" type="pres">
      <dgm:prSet presAssocID="{E9FC515E-C9C8-0048-9357-E5A04DC20D9B}" presName="composite" presStyleCnt="0"/>
      <dgm:spPr/>
    </dgm:pt>
    <dgm:pt modelId="{77717308-6412-E344-BD96-6D08557EEB3F}" type="pres">
      <dgm:prSet presAssocID="{E9FC515E-C9C8-0048-9357-E5A04DC20D9B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9FA54940-D9B7-D44C-9586-C543C35345D4}" type="pres">
      <dgm:prSet presAssocID="{E9FC515E-C9C8-0048-9357-E5A04DC20D9B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2A613C07-4D62-0045-8BE3-5319BF59AB04}" type="presOf" srcId="{98B653EE-CB5C-AD45-ACCE-9BEEAD03B7C5}" destId="{9FA54940-D9B7-D44C-9586-C543C35345D4}" srcOrd="0" destOrd="3" presId="urn:microsoft.com/office/officeart/2005/8/layout/hList1"/>
    <dgm:cxn modelId="{888EFC0D-ECBD-0E4A-A51B-FF40D43DF4BB}" type="presOf" srcId="{4370A275-FF4C-0448-913D-EEB430D7F063}" destId="{9FA54940-D9B7-D44C-9586-C543C35345D4}" srcOrd="0" destOrd="2" presId="urn:microsoft.com/office/officeart/2005/8/layout/hList1"/>
    <dgm:cxn modelId="{B6EE6513-B074-9747-A81A-E0CBC3F23BA3}" type="presOf" srcId="{3028984E-8F24-A547-ACEF-EE17F433EDF9}" destId="{9FA54940-D9B7-D44C-9586-C543C35345D4}" srcOrd="0" destOrd="1" presId="urn:microsoft.com/office/officeart/2005/8/layout/hList1"/>
    <dgm:cxn modelId="{F1E3A52C-74A2-EC43-845A-9DFAD74AF276}" srcId="{9C898089-7DA0-DB48-90AD-E33B16DD0B4C}" destId="{3E1819BC-E29D-6240-8C92-415C1E83742F}" srcOrd="2" destOrd="0" parTransId="{8A8EEEC6-2CDB-8C4E-A4A4-DE485C139E3F}" sibTransId="{E827CE05-91EA-5141-A1B4-90AA4D50629D}"/>
    <dgm:cxn modelId="{A8AD885B-100B-8640-9EA6-B0A818C55BAD}" srcId="{E9FC515E-C9C8-0048-9357-E5A04DC20D9B}" destId="{3028984E-8F24-A547-ACEF-EE17F433EDF9}" srcOrd="1" destOrd="0" parTransId="{C0799A05-8296-8C4A-8C3D-B77DF2359F24}" sibTransId="{1267C12A-6247-004E-AA79-E4C9D5FA9E1F}"/>
    <dgm:cxn modelId="{2D4ADC62-B778-A448-9B5F-2F5DC78F509B}" type="presOf" srcId="{5341C503-7D0A-9248-9D14-12472375FDA9}" destId="{633F67F4-9BE3-7F47-9EE6-1CF88947C338}" srcOrd="0" destOrd="3" presId="urn:microsoft.com/office/officeart/2005/8/layout/hList1"/>
    <dgm:cxn modelId="{5C47E964-A321-BA46-97B0-49B1056D8AF1}" type="presOf" srcId="{3E1819BC-E29D-6240-8C92-415C1E83742F}" destId="{633F67F4-9BE3-7F47-9EE6-1CF88947C338}" srcOrd="0" destOrd="2" presId="urn:microsoft.com/office/officeart/2005/8/layout/hList1"/>
    <dgm:cxn modelId="{4BB53D66-D4EC-AC42-8AC8-FA9AF70EC2A3}" type="presOf" srcId="{73710820-B407-1D41-9964-2A47712C0FBA}" destId="{E6B796F9-A9A6-C94C-942E-24EBAC5B6D06}" srcOrd="0" destOrd="0" presId="urn:microsoft.com/office/officeart/2005/8/layout/hList1"/>
    <dgm:cxn modelId="{25D9A149-6B7A-354C-857D-D3C1AFEFF3FD}" type="presOf" srcId="{5AA53590-E3E0-B84D-8018-0389A6AD2BD6}" destId="{633F67F4-9BE3-7F47-9EE6-1CF88947C338}" srcOrd="0" destOrd="1" presId="urn:microsoft.com/office/officeart/2005/8/layout/hList1"/>
    <dgm:cxn modelId="{1DF70B4C-E7D5-DD43-90CB-8061B5C4BBA6}" type="presOf" srcId="{7554EB97-0655-314F-8860-FE4F4919374F}" destId="{9FA54940-D9B7-D44C-9586-C543C35345D4}" srcOrd="0" destOrd="0" presId="urn:microsoft.com/office/officeart/2005/8/layout/hList1"/>
    <dgm:cxn modelId="{FC216D82-8909-8E41-8CFE-D72123413D46}" srcId="{73710820-B407-1D41-9964-2A47712C0FBA}" destId="{9C898089-7DA0-DB48-90AD-E33B16DD0B4C}" srcOrd="0" destOrd="0" parTransId="{A2DA52EC-9CB6-A34A-A472-8F6051427DAD}" sibTransId="{8413AAF4-B4DE-354A-9D3C-AC7E16B667C7}"/>
    <dgm:cxn modelId="{881BE683-0E6A-294C-A3C4-D22E8E6E3201}" srcId="{E9FC515E-C9C8-0048-9357-E5A04DC20D9B}" destId="{7554EB97-0655-314F-8860-FE4F4919374F}" srcOrd="0" destOrd="0" parTransId="{F16CD6BE-90E5-6040-A926-7DDD1A68F577}" sibTransId="{FB9CCE92-9D5D-FB49-8FDE-AD18D385C2B9}"/>
    <dgm:cxn modelId="{8AEE7292-A2ED-E641-8A87-935806A4B243}" type="presOf" srcId="{9C898089-7DA0-DB48-90AD-E33B16DD0B4C}" destId="{A42258B4-9F95-0242-9B5F-0C3C9C797AB5}" srcOrd="0" destOrd="0" presId="urn:microsoft.com/office/officeart/2005/8/layout/hList1"/>
    <dgm:cxn modelId="{279032B5-8CA4-6848-900E-0D5A6FA2B16E}" type="presOf" srcId="{E9FC515E-C9C8-0048-9357-E5A04DC20D9B}" destId="{77717308-6412-E344-BD96-6D08557EEB3F}" srcOrd="0" destOrd="0" presId="urn:microsoft.com/office/officeart/2005/8/layout/hList1"/>
    <dgm:cxn modelId="{5E1365B7-DC70-4F41-8FD7-DB57B31AD291}" srcId="{E9FC515E-C9C8-0048-9357-E5A04DC20D9B}" destId="{98B653EE-CB5C-AD45-ACCE-9BEEAD03B7C5}" srcOrd="3" destOrd="0" parTransId="{278224BE-8AD1-A644-AB8F-8CAAC04E229F}" sibTransId="{11E942FC-875D-ED46-B27E-09BAB8C3B985}"/>
    <dgm:cxn modelId="{FA8102B9-CDC3-A048-BF4C-DCB7120A14A7}" srcId="{73710820-B407-1D41-9964-2A47712C0FBA}" destId="{E9FC515E-C9C8-0048-9357-E5A04DC20D9B}" srcOrd="1" destOrd="0" parTransId="{7991BCCD-A668-204B-9041-0F3F7884B5E2}" sibTransId="{F5660604-7BDC-9C48-852C-B94851C93B37}"/>
    <dgm:cxn modelId="{9B204DBE-357E-394F-B6B4-8E0537918195}" srcId="{9C898089-7DA0-DB48-90AD-E33B16DD0B4C}" destId="{5341C503-7D0A-9248-9D14-12472375FDA9}" srcOrd="3" destOrd="0" parTransId="{F6C214F6-772F-D84A-B65E-78DD338D02A2}" sibTransId="{270A1E08-CBA6-6E44-9B36-95D5ABF12EB6}"/>
    <dgm:cxn modelId="{739CDDC8-DC59-BB4F-89CE-7EFDC435E1C6}" srcId="{9C898089-7DA0-DB48-90AD-E33B16DD0B4C}" destId="{E4F7E13F-5893-0540-8D67-3B9D3F03A94A}" srcOrd="0" destOrd="0" parTransId="{C8AE0829-D2A0-D041-8BB6-D5973564BE9F}" sibTransId="{C0295406-2765-AC4D-B733-88D1F5119914}"/>
    <dgm:cxn modelId="{7F832EE1-4FF4-0C46-A102-DBFA8CA597C3}" srcId="{9C898089-7DA0-DB48-90AD-E33B16DD0B4C}" destId="{5AA53590-E3E0-B84D-8018-0389A6AD2BD6}" srcOrd="1" destOrd="0" parTransId="{BD8424ED-909B-2D4E-9BDF-664061EBA035}" sibTransId="{9696F13D-3685-B84F-9E5B-531CCBCA32B6}"/>
    <dgm:cxn modelId="{0577C5F9-BED7-864E-82B0-29AF3962E17D}" type="presOf" srcId="{E4F7E13F-5893-0540-8D67-3B9D3F03A94A}" destId="{633F67F4-9BE3-7F47-9EE6-1CF88947C338}" srcOrd="0" destOrd="0" presId="urn:microsoft.com/office/officeart/2005/8/layout/hList1"/>
    <dgm:cxn modelId="{78A3F0FB-F44C-4C45-BACA-987465074CF1}" srcId="{E9FC515E-C9C8-0048-9357-E5A04DC20D9B}" destId="{4370A275-FF4C-0448-913D-EEB430D7F063}" srcOrd="2" destOrd="0" parTransId="{17A3C9A6-6D1E-E840-83C8-150A338B98CB}" sibTransId="{F12763F4-2E29-1546-9B68-CAFCCCED21F7}"/>
    <dgm:cxn modelId="{8A048EEF-FD4D-1A45-8CBC-F41FF36AF294}" type="presParOf" srcId="{E6B796F9-A9A6-C94C-942E-24EBAC5B6D06}" destId="{23C4DDD6-FA14-1141-9B30-9F1D1E191BCB}" srcOrd="0" destOrd="0" presId="urn:microsoft.com/office/officeart/2005/8/layout/hList1"/>
    <dgm:cxn modelId="{62133CA4-CD9D-DC43-A51B-8913B61106D3}" type="presParOf" srcId="{23C4DDD6-FA14-1141-9B30-9F1D1E191BCB}" destId="{A42258B4-9F95-0242-9B5F-0C3C9C797AB5}" srcOrd="0" destOrd="0" presId="urn:microsoft.com/office/officeart/2005/8/layout/hList1"/>
    <dgm:cxn modelId="{DCD86575-7BBE-A343-A6B4-4C0721D15426}" type="presParOf" srcId="{23C4DDD6-FA14-1141-9B30-9F1D1E191BCB}" destId="{633F67F4-9BE3-7F47-9EE6-1CF88947C338}" srcOrd="1" destOrd="0" presId="urn:microsoft.com/office/officeart/2005/8/layout/hList1"/>
    <dgm:cxn modelId="{A49FB647-1DCD-6243-9DDE-56BD5F82A6A1}" type="presParOf" srcId="{E6B796F9-A9A6-C94C-942E-24EBAC5B6D06}" destId="{050D53DC-7E8A-9E4B-845B-D38AF23C3B35}" srcOrd="1" destOrd="0" presId="urn:microsoft.com/office/officeart/2005/8/layout/hList1"/>
    <dgm:cxn modelId="{69E20DFB-325F-7E45-A15B-26F7B187DAE5}" type="presParOf" srcId="{E6B796F9-A9A6-C94C-942E-24EBAC5B6D06}" destId="{D068DB72-FF1F-AA49-BB14-4563337ADAB5}" srcOrd="2" destOrd="0" presId="urn:microsoft.com/office/officeart/2005/8/layout/hList1"/>
    <dgm:cxn modelId="{58C8AB11-E8C5-E04E-8E7A-0AFBF79D05A3}" type="presParOf" srcId="{D068DB72-FF1F-AA49-BB14-4563337ADAB5}" destId="{77717308-6412-E344-BD96-6D08557EEB3F}" srcOrd="0" destOrd="0" presId="urn:microsoft.com/office/officeart/2005/8/layout/hList1"/>
    <dgm:cxn modelId="{44CB025B-645C-6345-9CBF-9C785F0B8D1E}" type="presParOf" srcId="{D068DB72-FF1F-AA49-BB14-4563337ADAB5}" destId="{9FA54940-D9B7-D44C-9586-C543C35345D4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ED1FAF3-97DA-2641-AAF2-1A5523157CA9}" type="doc">
      <dgm:prSet loTypeId="urn:microsoft.com/office/officeart/2008/layout/IncreasingCircleProcess" loCatId="list" qsTypeId="urn:microsoft.com/office/officeart/2005/8/quickstyle/simple1" qsCatId="simple" csTypeId="urn:microsoft.com/office/officeart/2005/8/colors/accent1_2" csCatId="accent1" phldr="1"/>
      <dgm:spPr/>
      <dgm:t xml:space="preserve">
        <a:bodyPr/>
        <a:lstStyle/>
        <a:p>
          <a:endParaRPr lang="en-US"/>
        </a:p>
      </dgm:t>
    </dgm:pt>
    <dgm:pt modelId="{D98475E2-B00B-A44F-9462-D61B11A8A7B0}">
      <dgm:prSet phldrT="[Text]" custT="1"/>
      <dgm:spPr/>
      <dgm:t xml:space="preserve">
        <a:bodyPr/>
        <a:lstStyle/>
        <a:p>
          <a:pPr>
            <a:buNone/>
          </a:pPr>
          <a:r>
            <a:rPr lang="en-US" sz="2000" b="1" dirty="0">
              <a:solidFill>
                <a:srgbClr val="000000"/>
              </a:solidFill>
              <a:latin typeface="Aptos" panose="020B0004020202020204" pitchFamily="34" charset="0"/>
              <a:ea typeface="Playfair Display Bold" pitchFamily="34" charset="-122"/>
              <a:cs typeface="Playfair Display Bold" pitchFamily="34" charset="-120"/>
            </a:rPr>
            <a:t>Find Q1 and Q3</a:t>
          </a:r>
          <a:endParaRPr lang="en-US" sz="2000" dirty="0">
            <a:latin typeface="Aptos" panose="020B0004020202020204" pitchFamily="34" charset="0"/>
          </a:endParaRPr>
        </a:p>
      </dgm:t>
    </dgm:pt>
    <dgm:pt modelId="{70F22641-7937-ED41-944D-AFAA2CB045E5}" type="parTrans" cxnId="{C284756D-4482-4F4C-BEFD-0FEB45D3B532}">
      <dgm:prSet/>
      <dgm:spPr/>
      <dgm:t xml:space="preserve">
        <a:bodyPr/>
        <a:lstStyle/>
        <a:p>
          <a:endParaRPr lang="en-US"/>
        </a:p>
      </dgm:t>
    </dgm:pt>
    <dgm:pt modelId="{30FE69C8-1F21-8745-980F-B0EF1E734FA7}" type="sibTrans" cxnId="{C284756D-4482-4F4C-BEFD-0FEB45D3B532}">
      <dgm:prSet/>
      <dgm:spPr/>
      <dgm:t xml:space="preserve">
        <a:bodyPr/>
        <a:lstStyle/>
        <a:p>
          <a:endParaRPr lang="en-US"/>
        </a:p>
      </dgm:t>
    </dgm:pt>
    <dgm:pt modelId="{23C7C9E4-6BD1-D149-9B7A-10B77B6749C3}">
      <dgm:prSet phldrT="[Text]" custT="1"/>
      <dgm:spPr/>
      <dgm:t xml:space="preserve">
        <a:bodyPr/>
        <a:lstStyle/>
        <a:p>
          <a:pPr>
            <a:buNone/>
          </a:pPr>
          <a:r>
            <a:rPr lang="en-US" sz="2000" dirty="0">
              <a:solidFill>
                <a:srgbClr val="000000"/>
              </a:solidFill>
              <a:latin typeface="Aptos" panose="020B0004020202020204" pitchFamily="34" charset="0"/>
              <a:ea typeface="Inter" pitchFamily="34" charset="-122"/>
              <a:cs typeface="Inter" pitchFamily="34" charset="-120"/>
            </a:rPr>
            <a:t>Calculate the first quartile (25th percentile) and third quartile (75th percentile).</a:t>
          </a:r>
          <a:endParaRPr lang="en-US" sz="2000" dirty="0">
            <a:latin typeface="Aptos" panose="020B0004020202020204" pitchFamily="34" charset="0"/>
          </a:endParaRPr>
        </a:p>
      </dgm:t>
    </dgm:pt>
    <dgm:pt modelId="{A379E6E5-13C8-C943-B809-8D2AE1A4DDEA}" type="parTrans" cxnId="{517089E7-D9BB-3349-9616-C615A1D1FC1B}">
      <dgm:prSet/>
      <dgm:spPr/>
      <dgm:t xml:space="preserve">
        <a:bodyPr/>
        <a:lstStyle/>
        <a:p>
          <a:endParaRPr lang="en-US"/>
        </a:p>
      </dgm:t>
    </dgm:pt>
    <dgm:pt modelId="{05B8C00A-6953-FB44-8835-F34782AEFB9C}" type="sibTrans" cxnId="{517089E7-D9BB-3349-9616-C615A1D1FC1B}">
      <dgm:prSet/>
      <dgm:spPr/>
      <dgm:t xml:space="preserve">
        <a:bodyPr/>
        <a:lstStyle/>
        <a:p>
          <a:endParaRPr lang="en-US"/>
        </a:p>
      </dgm:t>
    </dgm:pt>
    <dgm:pt modelId="{480F574B-1312-B04C-BFED-783CC8D5EEB1}">
      <dgm:prSet phldrT="[Text]" custT="1"/>
      <dgm:spPr/>
      <dgm:t xml:space="preserve">
        <a:bodyPr/>
        <a:lstStyle/>
        <a:p>
          <a:pPr>
            <a:buNone/>
          </a:pPr>
          <a:r>
            <a:rPr lang="en-US" sz="2000" b="1" dirty="0">
              <a:solidFill>
                <a:srgbClr val="000000"/>
              </a:solidFill>
              <a:latin typeface="Aptos" panose="020B0004020202020204" pitchFamily="34" charset="0"/>
              <a:ea typeface="Playfair Display Bold" pitchFamily="34" charset="-122"/>
              <a:cs typeface="Playfair Display Bold" pitchFamily="34" charset="-120"/>
            </a:rPr>
            <a:t>Calculate IQR</a:t>
          </a:r>
          <a:endParaRPr lang="en-US" sz="2000" dirty="0">
            <a:latin typeface="Aptos" panose="020B0004020202020204" pitchFamily="34" charset="0"/>
          </a:endParaRPr>
        </a:p>
      </dgm:t>
    </dgm:pt>
    <dgm:pt modelId="{3542093A-0021-F64E-B7A4-9569A8CE29A4}" type="parTrans" cxnId="{6FBE641A-847C-B549-927D-B2283AC40E0B}">
      <dgm:prSet/>
      <dgm:spPr/>
      <dgm:t xml:space="preserve">
        <a:bodyPr/>
        <a:lstStyle/>
        <a:p>
          <a:endParaRPr lang="en-US"/>
        </a:p>
      </dgm:t>
    </dgm:pt>
    <dgm:pt modelId="{F1A2CBEF-8AB2-9C4E-B19B-3FC0A7800032}" type="sibTrans" cxnId="{6FBE641A-847C-B549-927D-B2283AC40E0B}">
      <dgm:prSet/>
      <dgm:spPr/>
      <dgm:t xml:space="preserve">
        <a:bodyPr/>
        <a:lstStyle/>
        <a:p>
          <a:endParaRPr lang="en-US"/>
        </a:p>
      </dgm:t>
    </dgm:pt>
    <dgm:pt modelId="{48A652AE-A811-9342-865F-3B9001F82C30}">
      <dgm:prSet phldrT="[Text]" custT="1"/>
      <dgm:spPr/>
      <dgm:t xml:space="preserve">
        <a:bodyPr/>
        <a:lstStyle/>
        <a:p>
          <a:pPr>
            <a:buNone/>
          </a:pPr>
          <a:r>
            <a:rPr lang="en-US" sz="2000">
              <a:solidFill>
                <a:srgbClr val="000000"/>
              </a:solidFill>
              <a:latin typeface="Aptos" panose="020B0004020202020204" pitchFamily="34" charset="0"/>
              <a:ea typeface="Inter" pitchFamily="34" charset="-122"/>
              <a:cs typeface="Inter" pitchFamily="34" charset="-120"/>
            </a:rPr>
            <a:t>Interquartile Range = Q3 - Q1</a:t>
          </a:r>
          <a:endParaRPr lang="en-US" sz="2000" dirty="0">
            <a:latin typeface="Aptos" panose="020B0004020202020204" pitchFamily="34" charset="0"/>
          </a:endParaRPr>
        </a:p>
      </dgm:t>
    </dgm:pt>
    <dgm:pt modelId="{B58E883B-BD29-084C-BB4B-13D3DA880872}" type="parTrans" cxnId="{CEC64F0E-E76B-E34A-B3AB-3A75D621D060}">
      <dgm:prSet/>
      <dgm:spPr/>
      <dgm:t xml:space="preserve">
        <a:bodyPr/>
        <a:lstStyle/>
        <a:p>
          <a:endParaRPr lang="en-US"/>
        </a:p>
      </dgm:t>
    </dgm:pt>
    <dgm:pt modelId="{BBE3C7B7-464C-AE47-BC3D-BE731793DA0B}" type="sibTrans" cxnId="{CEC64F0E-E76B-E34A-B3AB-3A75D621D060}">
      <dgm:prSet/>
      <dgm:spPr/>
      <dgm:t xml:space="preserve">
        <a:bodyPr/>
        <a:lstStyle/>
        <a:p>
          <a:endParaRPr lang="en-US"/>
        </a:p>
      </dgm:t>
    </dgm:pt>
    <dgm:pt modelId="{73FCA561-3878-6D42-896E-D0BDFD5D0F36}">
      <dgm:prSet phldrT="[Text]" custT="1"/>
      <dgm:spPr/>
      <dgm:t xml:space="preserve">
        <a:bodyPr/>
        <a:lstStyle/>
        <a:p>
          <a:pPr>
            <a:buNone/>
          </a:pPr>
          <a:r>
            <a:rPr lang="en-US" sz="2000" b="1" dirty="0">
              <a:solidFill>
                <a:srgbClr val="000000"/>
              </a:solidFill>
              <a:latin typeface="Aptos" panose="020B0004020202020204" pitchFamily="34" charset="0"/>
              <a:ea typeface="Playfair Display Bold" pitchFamily="34" charset="-122"/>
              <a:cs typeface="Playfair Display Bold" pitchFamily="34" charset="-120"/>
            </a:rPr>
            <a:t>Set Thresholds</a:t>
          </a:r>
          <a:endParaRPr lang="en-US" sz="2000" dirty="0">
            <a:latin typeface="Aptos" panose="020B0004020202020204" pitchFamily="34" charset="0"/>
          </a:endParaRPr>
        </a:p>
      </dgm:t>
    </dgm:pt>
    <dgm:pt modelId="{03E26F97-DC50-8C46-9E6F-E5EBD5F39B93}" type="parTrans" cxnId="{E7523E8F-1C3A-2648-BCEC-B8B1357FFD54}">
      <dgm:prSet/>
      <dgm:spPr/>
      <dgm:t xml:space="preserve">
        <a:bodyPr/>
        <a:lstStyle/>
        <a:p>
          <a:endParaRPr lang="en-US"/>
        </a:p>
      </dgm:t>
    </dgm:pt>
    <dgm:pt modelId="{AA533108-CC5C-484D-BA5A-137C35836E10}" type="sibTrans" cxnId="{E7523E8F-1C3A-2648-BCEC-B8B1357FFD54}">
      <dgm:prSet/>
      <dgm:spPr/>
      <dgm:t xml:space="preserve">
        <a:bodyPr/>
        <a:lstStyle/>
        <a:p>
          <a:endParaRPr lang="en-US"/>
        </a:p>
      </dgm:t>
    </dgm:pt>
    <dgm:pt modelId="{CAEB1090-A65A-6D4A-9FCC-4F21B8E77839}">
      <dgm:prSet phldrT="[Text]" custT="1"/>
      <dgm:spPr/>
      <dgm:t xml:space="preserve">
        <a:bodyPr/>
        <a:lstStyle/>
        <a:p>
          <a:pPr>
            <a:buNone/>
          </a:pPr>
          <a:r>
            <a:rPr lang="en-US" sz="2000" dirty="0">
              <a:solidFill>
                <a:srgbClr val="000000"/>
              </a:solidFill>
              <a:latin typeface="Aptos" panose="020B0004020202020204" pitchFamily="34" charset="0"/>
              <a:ea typeface="Inter" pitchFamily="34" charset="-122"/>
              <a:cs typeface="Inter" pitchFamily="34" charset="-120"/>
            </a:rPr>
            <a:t>Lower threshold = Q1 - 1.5*IQR</a:t>
          </a:r>
          <a:endParaRPr lang="en-US" sz="2000" dirty="0">
            <a:latin typeface="Aptos" panose="020B0004020202020204" pitchFamily="34" charset="0"/>
          </a:endParaRPr>
        </a:p>
      </dgm:t>
    </dgm:pt>
    <dgm:pt modelId="{5FA0C73E-4887-4B4D-B762-4377EFD1E1BF}" type="parTrans" cxnId="{FCBF667A-C835-6E40-A286-FFCD03299720}">
      <dgm:prSet/>
      <dgm:spPr/>
      <dgm:t xml:space="preserve">
        <a:bodyPr/>
        <a:lstStyle/>
        <a:p>
          <a:endParaRPr lang="en-US"/>
        </a:p>
      </dgm:t>
    </dgm:pt>
    <dgm:pt modelId="{EA898E9F-A0C1-284E-A7EC-B066C0A2E677}" type="sibTrans" cxnId="{FCBF667A-C835-6E40-A286-FFCD03299720}">
      <dgm:prSet/>
      <dgm:spPr/>
      <dgm:t xml:space="preserve">
        <a:bodyPr/>
        <a:lstStyle/>
        <a:p>
          <a:endParaRPr lang="en-US"/>
        </a:p>
      </dgm:t>
    </dgm:pt>
    <dgm:pt modelId="{B68458DE-2B28-1143-8C50-30A817494327}">
      <dgm:prSet phldrT="[Text]" custT="1"/>
      <dgm:spPr/>
      <dgm:t xml:space="preserve">
        <a:bodyPr/>
        <a:lstStyle/>
        <a:p>
          <a:pPr>
            <a:buNone/>
          </a:pPr>
          <a:r>
            <a:rPr lang="en-US" sz="2000" dirty="0">
              <a:solidFill>
                <a:srgbClr val="000000"/>
              </a:solidFill>
              <a:latin typeface="Aptos" panose="020B0004020202020204" pitchFamily="34" charset="0"/>
              <a:ea typeface="Inter" pitchFamily="34" charset="-122"/>
              <a:cs typeface="Inter" pitchFamily="34" charset="-120"/>
            </a:rPr>
            <a:t>Upper threshold = Q3 + 1.5*IQR</a:t>
          </a:r>
          <a:endParaRPr lang="en-US" sz="2000" dirty="0">
            <a:latin typeface="Aptos" panose="020B0004020202020204" pitchFamily="34" charset="0"/>
          </a:endParaRPr>
        </a:p>
      </dgm:t>
    </dgm:pt>
    <dgm:pt modelId="{D36C98FE-1844-B54A-B20F-21BCA1575CAD}" type="parTrans" cxnId="{D3A59B5C-9067-BE4E-B2C6-129EE0B9B9FD}">
      <dgm:prSet/>
      <dgm:spPr/>
      <dgm:t xml:space="preserve">
        <a:bodyPr/>
        <a:lstStyle/>
        <a:p>
          <a:endParaRPr lang="en-US"/>
        </a:p>
      </dgm:t>
    </dgm:pt>
    <dgm:pt modelId="{A4676912-2E14-9B43-A9F3-D2EEF7C65CB5}" type="sibTrans" cxnId="{D3A59B5C-9067-BE4E-B2C6-129EE0B9B9FD}">
      <dgm:prSet/>
      <dgm:spPr/>
      <dgm:t xml:space="preserve">
        <a:bodyPr/>
        <a:lstStyle/>
        <a:p>
          <a:endParaRPr lang="en-US"/>
        </a:p>
      </dgm:t>
    </dgm:pt>
    <dgm:pt modelId="{D7EBE016-AFB8-E744-B545-40FA1011CBD2}">
      <dgm:prSet phldrT="[Text]" custT="1"/>
      <dgm:spPr/>
      <dgm:t xml:space="preserve">
        <a:bodyPr/>
        <a:lstStyle/>
        <a:p>
          <a:pPr>
            <a:buNone/>
          </a:pPr>
          <a:r>
            <a:rPr lang="en-US" sz="2000" b="1" dirty="0">
              <a:solidFill>
                <a:srgbClr val="000000"/>
              </a:solidFill>
              <a:latin typeface="Aptos" panose="020B0004020202020204" pitchFamily="34" charset="0"/>
              <a:ea typeface="Playfair Display Bold" pitchFamily="34" charset="-122"/>
              <a:cs typeface="Playfair Display Bold" pitchFamily="34" charset="-120"/>
            </a:rPr>
            <a:t>Identify Outliers</a:t>
          </a:r>
          <a:endParaRPr lang="en-US" sz="2000" dirty="0">
            <a:latin typeface="Aptos" panose="020B0004020202020204" pitchFamily="34" charset="0"/>
          </a:endParaRPr>
        </a:p>
      </dgm:t>
    </dgm:pt>
    <dgm:pt modelId="{E7A9C76A-5E0C-B243-B728-C0D12DC1C5FF}" type="parTrans" cxnId="{AC89688E-9BC9-184E-AC91-D3B950363DB0}">
      <dgm:prSet/>
      <dgm:spPr/>
      <dgm:t xml:space="preserve">
        <a:bodyPr/>
        <a:lstStyle/>
        <a:p>
          <a:endParaRPr lang="en-US"/>
        </a:p>
      </dgm:t>
    </dgm:pt>
    <dgm:pt modelId="{0DBF27D4-9911-5740-AA07-1272C0CAB194}" type="sibTrans" cxnId="{AC89688E-9BC9-184E-AC91-D3B950363DB0}">
      <dgm:prSet/>
      <dgm:spPr/>
      <dgm:t xml:space="preserve">
        <a:bodyPr/>
        <a:lstStyle/>
        <a:p>
          <a:endParaRPr lang="en-US"/>
        </a:p>
      </dgm:t>
    </dgm:pt>
    <dgm:pt modelId="{ADDD57AB-D3BF-C042-8FEE-87474F24A89E}">
      <dgm:prSet phldrT="[Text]" custT="1"/>
      <dgm:spPr/>
      <dgm:t xml:space="preserve">
        <a:bodyPr/>
        <a:lstStyle/>
        <a:p>
          <a:pPr>
            <a:buNone/>
          </a:pPr>
          <a:r>
            <a:rPr lang="en-US" sz="2000" dirty="0">
              <a:solidFill>
                <a:srgbClr val="000000"/>
              </a:solidFill>
              <a:latin typeface="Aptos" panose="020B0004020202020204" pitchFamily="34" charset="0"/>
              <a:ea typeface="Inter" pitchFamily="34" charset="-122"/>
              <a:cs typeface="Inter" pitchFamily="34" charset="-120"/>
            </a:rPr>
            <a:t>Any value below the lower threshold or above the upper threshold is an outlier.</a:t>
          </a:r>
          <a:endParaRPr lang="en-US" sz="2000" dirty="0">
            <a:latin typeface="Aptos" panose="020B0004020202020204" pitchFamily="34" charset="0"/>
          </a:endParaRPr>
        </a:p>
      </dgm:t>
    </dgm:pt>
    <dgm:pt modelId="{9C3CD090-ED51-FC47-B5F7-2801E8489F8A}" type="parTrans" cxnId="{784791B2-62C7-5C48-8819-F50CBBCB7202}">
      <dgm:prSet/>
      <dgm:spPr/>
      <dgm:t xml:space="preserve">
        <a:bodyPr/>
        <a:lstStyle/>
        <a:p>
          <a:endParaRPr lang="en-US"/>
        </a:p>
      </dgm:t>
    </dgm:pt>
    <dgm:pt modelId="{80F81AEB-65F9-E84A-9213-BDB9F5C1F2AF}" type="sibTrans" cxnId="{784791B2-62C7-5C48-8819-F50CBBCB7202}">
      <dgm:prSet/>
      <dgm:spPr/>
      <dgm:t xml:space="preserve">
        <a:bodyPr/>
        <a:lstStyle/>
        <a:p>
          <a:endParaRPr lang="en-US"/>
        </a:p>
      </dgm:t>
    </dgm:pt>
    <dgm:pt modelId="{CAFFD591-B0FB-9046-9B08-5D727CAFE2FC}" type="pres">
      <dgm:prSet presAssocID="{BED1FAF3-97DA-2641-AAF2-1A5523157CA9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C82DC73F-FA08-BE4D-9246-BB16AD70C355}" type="pres">
      <dgm:prSet presAssocID="{D98475E2-B00B-A44F-9462-D61B11A8A7B0}" presName="composite" presStyleCnt="0"/>
      <dgm:spPr/>
    </dgm:pt>
    <dgm:pt modelId="{E0FCC648-43A4-3A4B-9C41-627960E261D2}" type="pres">
      <dgm:prSet presAssocID="{D98475E2-B00B-A44F-9462-D61B11A8A7B0}" presName="BackAccent" presStyleLbl="bgShp" presStyleIdx="0" presStyleCnt="4"/>
      <dgm:spPr/>
    </dgm:pt>
    <dgm:pt modelId="{CA927404-8786-7F47-8BCA-8D4BBDFFBD8A}" type="pres">
      <dgm:prSet presAssocID="{D98475E2-B00B-A44F-9462-D61B11A8A7B0}" presName="Accent" presStyleLbl="alignNode1" presStyleIdx="0" presStyleCnt="4"/>
      <dgm:spPr/>
    </dgm:pt>
    <dgm:pt modelId="{FBDD2EB4-522D-CE42-85E9-8A1758DFA3E4}" type="pres">
      <dgm:prSet presAssocID="{D98475E2-B00B-A44F-9462-D61B11A8A7B0}" presName="Child" presStyleLbl="revTx" presStyleIdx="0" presStyleCnt="8">
        <dgm:presLayoutVars>
          <dgm:chMax val="0"/>
          <dgm:chPref val="0"/>
          <dgm:bulletEnabled val="1"/>
        </dgm:presLayoutVars>
      </dgm:prSet>
      <dgm:spPr/>
    </dgm:pt>
    <dgm:pt modelId="{636A6152-9E51-8543-976C-787278D882DE}" type="pres">
      <dgm:prSet presAssocID="{D98475E2-B00B-A44F-9462-D61B11A8A7B0}" presName="Parent" presStyleLbl="revTx" presStyleIdx="1" presStyleCnt="8">
        <dgm:presLayoutVars>
          <dgm:chMax val="1"/>
          <dgm:chPref val="1"/>
          <dgm:bulletEnabled val="1"/>
        </dgm:presLayoutVars>
      </dgm:prSet>
      <dgm:spPr/>
    </dgm:pt>
    <dgm:pt modelId="{87DA4F84-E10A-7C4C-89C1-13C3986779A3}" type="pres">
      <dgm:prSet presAssocID="{30FE69C8-1F21-8745-980F-B0EF1E734FA7}" presName="sibTrans" presStyleCnt="0"/>
      <dgm:spPr/>
    </dgm:pt>
    <dgm:pt modelId="{5671E4D8-2A9F-284C-992D-F7DDA85EAA7C}" type="pres">
      <dgm:prSet presAssocID="{480F574B-1312-B04C-BFED-783CC8D5EEB1}" presName="composite" presStyleCnt="0"/>
      <dgm:spPr/>
    </dgm:pt>
    <dgm:pt modelId="{8B8FB50E-1023-3D4B-96A4-9E5B55A71DA2}" type="pres">
      <dgm:prSet presAssocID="{480F574B-1312-B04C-BFED-783CC8D5EEB1}" presName="BackAccent" presStyleLbl="bgShp" presStyleIdx="1" presStyleCnt="4"/>
      <dgm:spPr/>
    </dgm:pt>
    <dgm:pt modelId="{82FD27F6-22A0-3645-9CB4-B8736808334A}" type="pres">
      <dgm:prSet presAssocID="{480F574B-1312-B04C-BFED-783CC8D5EEB1}" presName="Accent" presStyleLbl="alignNode1" presStyleIdx="1" presStyleCnt="4"/>
      <dgm:spPr/>
    </dgm:pt>
    <dgm:pt modelId="{DD3B5AAE-6FCA-E740-A158-E17850A6CDB9}" type="pres">
      <dgm:prSet presAssocID="{480F574B-1312-B04C-BFED-783CC8D5EEB1}" presName="Child" presStyleLbl="revTx" presStyleIdx="2" presStyleCnt="8">
        <dgm:presLayoutVars>
          <dgm:chMax val="0"/>
          <dgm:chPref val="0"/>
          <dgm:bulletEnabled val="1"/>
        </dgm:presLayoutVars>
      </dgm:prSet>
      <dgm:spPr/>
    </dgm:pt>
    <dgm:pt modelId="{5C31CE74-7E61-A74F-B2EF-FC763780A722}" type="pres">
      <dgm:prSet presAssocID="{480F574B-1312-B04C-BFED-783CC8D5EEB1}" presName="Parent" presStyleLbl="revTx" presStyleIdx="3" presStyleCnt="8">
        <dgm:presLayoutVars>
          <dgm:chMax val="1"/>
          <dgm:chPref val="1"/>
          <dgm:bulletEnabled val="1"/>
        </dgm:presLayoutVars>
      </dgm:prSet>
      <dgm:spPr/>
    </dgm:pt>
    <dgm:pt modelId="{39F65C87-3EA4-9444-AB36-9C55EA83B3A0}" type="pres">
      <dgm:prSet presAssocID="{F1A2CBEF-8AB2-9C4E-B19B-3FC0A7800032}" presName="sibTrans" presStyleCnt="0"/>
      <dgm:spPr/>
    </dgm:pt>
    <dgm:pt modelId="{78CE4E55-0B0B-C848-BA83-4BD3C3789B24}" type="pres">
      <dgm:prSet presAssocID="{73FCA561-3878-6D42-896E-D0BDFD5D0F36}" presName="composite" presStyleCnt="0"/>
      <dgm:spPr/>
    </dgm:pt>
    <dgm:pt modelId="{CE3BD18D-EF4D-D347-911A-6FDF4BA97687}" type="pres">
      <dgm:prSet presAssocID="{73FCA561-3878-6D42-896E-D0BDFD5D0F36}" presName="BackAccent" presStyleLbl="bgShp" presStyleIdx="2" presStyleCnt="4"/>
      <dgm:spPr/>
    </dgm:pt>
    <dgm:pt modelId="{E8556498-6F0C-E640-81C8-65B02FC1CFFC}" type="pres">
      <dgm:prSet presAssocID="{73FCA561-3878-6D42-896E-D0BDFD5D0F36}" presName="Accent" presStyleLbl="alignNode1" presStyleIdx="2" presStyleCnt="4"/>
      <dgm:spPr/>
    </dgm:pt>
    <dgm:pt modelId="{EB88CD9E-7A60-E644-8787-C940C6ABE079}" type="pres">
      <dgm:prSet presAssocID="{73FCA561-3878-6D42-896E-D0BDFD5D0F36}" presName="Child" presStyleLbl="revTx" presStyleIdx="4" presStyleCnt="8">
        <dgm:presLayoutVars>
          <dgm:chMax val="0"/>
          <dgm:chPref val="0"/>
          <dgm:bulletEnabled val="1"/>
        </dgm:presLayoutVars>
      </dgm:prSet>
      <dgm:spPr/>
    </dgm:pt>
    <dgm:pt modelId="{AA060C83-6A2E-6743-952B-B607F728D6B9}" type="pres">
      <dgm:prSet presAssocID="{73FCA561-3878-6D42-896E-D0BDFD5D0F36}" presName="Parent" presStyleLbl="revTx" presStyleIdx="5" presStyleCnt="8">
        <dgm:presLayoutVars>
          <dgm:chMax val="1"/>
          <dgm:chPref val="1"/>
          <dgm:bulletEnabled val="1"/>
        </dgm:presLayoutVars>
      </dgm:prSet>
      <dgm:spPr/>
    </dgm:pt>
    <dgm:pt modelId="{E110E6CA-9DD2-F14D-9955-215ACF0D89EC}" type="pres">
      <dgm:prSet presAssocID="{AA533108-CC5C-484D-BA5A-137C35836E10}" presName="sibTrans" presStyleCnt="0"/>
      <dgm:spPr/>
    </dgm:pt>
    <dgm:pt modelId="{F6E4BA67-0EB8-BC45-BDE8-8674CEDB64D8}" type="pres">
      <dgm:prSet presAssocID="{D7EBE016-AFB8-E744-B545-40FA1011CBD2}" presName="composite" presStyleCnt="0"/>
      <dgm:spPr/>
    </dgm:pt>
    <dgm:pt modelId="{630A9F0F-94A9-B344-9AFD-5B42A3AAA36F}" type="pres">
      <dgm:prSet presAssocID="{D7EBE016-AFB8-E744-B545-40FA1011CBD2}" presName="BackAccent" presStyleLbl="bgShp" presStyleIdx="3" presStyleCnt="4"/>
      <dgm:spPr/>
    </dgm:pt>
    <dgm:pt modelId="{09184531-91D4-3946-BCA0-82A7AED7EE24}" type="pres">
      <dgm:prSet presAssocID="{D7EBE016-AFB8-E744-B545-40FA1011CBD2}" presName="Accent" presStyleLbl="alignNode1" presStyleIdx="3" presStyleCnt="4"/>
      <dgm:spPr/>
    </dgm:pt>
    <dgm:pt modelId="{B21B2269-26C7-CA4E-BCE0-EB8303EB4301}" type="pres">
      <dgm:prSet presAssocID="{D7EBE016-AFB8-E744-B545-40FA1011CBD2}" presName="Child" presStyleLbl="revTx" presStyleIdx="6" presStyleCnt="8">
        <dgm:presLayoutVars>
          <dgm:chMax val="0"/>
          <dgm:chPref val="0"/>
          <dgm:bulletEnabled val="1"/>
        </dgm:presLayoutVars>
      </dgm:prSet>
      <dgm:spPr/>
    </dgm:pt>
    <dgm:pt modelId="{38B99498-49ED-8544-934B-86065AB28D3E}" type="pres">
      <dgm:prSet presAssocID="{D7EBE016-AFB8-E744-B545-40FA1011CBD2}" presName="Parent" presStyleLbl="revTx" presStyleIdx="7" presStyleCnt="8">
        <dgm:presLayoutVars>
          <dgm:chMax val="1"/>
          <dgm:chPref val="1"/>
          <dgm:bulletEnabled val="1"/>
        </dgm:presLayoutVars>
      </dgm:prSet>
      <dgm:spPr/>
    </dgm:pt>
  </dgm:ptLst>
  <dgm:cxnLst>
    <dgm:cxn modelId="{CEC64F0E-E76B-E34A-B3AB-3A75D621D060}" srcId="{480F574B-1312-B04C-BFED-783CC8D5EEB1}" destId="{48A652AE-A811-9342-865F-3B9001F82C30}" srcOrd="0" destOrd="0" parTransId="{B58E883B-BD29-084C-BB4B-13D3DA880872}" sibTransId="{BBE3C7B7-464C-AE47-BC3D-BE731793DA0B}"/>
    <dgm:cxn modelId="{6FBE641A-847C-B549-927D-B2283AC40E0B}" srcId="{BED1FAF3-97DA-2641-AAF2-1A5523157CA9}" destId="{480F574B-1312-B04C-BFED-783CC8D5EEB1}" srcOrd="1" destOrd="0" parTransId="{3542093A-0021-F64E-B7A4-9569A8CE29A4}" sibTransId="{F1A2CBEF-8AB2-9C4E-B19B-3FC0A7800032}"/>
    <dgm:cxn modelId="{D3A59B5C-9067-BE4E-B2C6-129EE0B9B9FD}" srcId="{73FCA561-3878-6D42-896E-D0BDFD5D0F36}" destId="{B68458DE-2B28-1143-8C50-30A817494327}" srcOrd="1" destOrd="0" parTransId="{D36C98FE-1844-B54A-B20F-21BCA1575CAD}" sibTransId="{A4676912-2E14-9B43-A9F3-D2EEF7C65CB5}"/>
    <dgm:cxn modelId="{AD2B5365-0CB4-2542-85A4-189AFA88BC91}" type="presOf" srcId="{D98475E2-B00B-A44F-9462-D61B11A8A7B0}" destId="{636A6152-9E51-8543-976C-787278D882DE}" srcOrd="0" destOrd="0" presId="urn:microsoft.com/office/officeart/2008/layout/IncreasingCircleProcess"/>
    <dgm:cxn modelId="{C284756D-4482-4F4C-BEFD-0FEB45D3B532}" srcId="{BED1FAF3-97DA-2641-AAF2-1A5523157CA9}" destId="{D98475E2-B00B-A44F-9462-D61B11A8A7B0}" srcOrd="0" destOrd="0" parTransId="{70F22641-7937-ED41-944D-AFAA2CB045E5}" sibTransId="{30FE69C8-1F21-8745-980F-B0EF1E734FA7}"/>
    <dgm:cxn modelId="{9E150F56-22D3-AC48-9B73-67D37DB5EE0D}" type="presOf" srcId="{48A652AE-A811-9342-865F-3B9001F82C30}" destId="{DD3B5AAE-6FCA-E740-A158-E17850A6CDB9}" srcOrd="0" destOrd="0" presId="urn:microsoft.com/office/officeart/2008/layout/IncreasingCircleProcess"/>
    <dgm:cxn modelId="{FCBF667A-C835-6E40-A286-FFCD03299720}" srcId="{73FCA561-3878-6D42-896E-D0BDFD5D0F36}" destId="{CAEB1090-A65A-6D4A-9FCC-4F21B8E77839}" srcOrd="0" destOrd="0" parTransId="{5FA0C73E-4887-4B4D-B762-4377EFD1E1BF}" sibTransId="{EA898E9F-A0C1-284E-A7EC-B066C0A2E677}"/>
    <dgm:cxn modelId="{488D5A7E-01FA-5645-BB51-8394D61D65F3}" type="presOf" srcId="{23C7C9E4-6BD1-D149-9B7A-10B77B6749C3}" destId="{FBDD2EB4-522D-CE42-85E9-8A1758DFA3E4}" srcOrd="0" destOrd="0" presId="urn:microsoft.com/office/officeart/2008/layout/IncreasingCircleProcess"/>
    <dgm:cxn modelId="{B664AF85-93C5-AA46-A93C-A196DB693188}" type="presOf" srcId="{CAEB1090-A65A-6D4A-9FCC-4F21B8E77839}" destId="{EB88CD9E-7A60-E644-8787-C940C6ABE079}" srcOrd="0" destOrd="0" presId="urn:microsoft.com/office/officeart/2008/layout/IncreasingCircleProcess"/>
    <dgm:cxn modelId="{AC89688E-9BC9-184E-AC91-D3B950363DB0}" srcId="{BED1FAF3-97DA-2641-AAF2-1A5523157CA9}" destId="{D7EBE016-AFB8-E744-B545-40FA1011CBD2}" srcOrd="3" destOrd="0" parTransId="{E7A9C76A-5E0C-B243-B728-C0D12DC1C5FF}" sibTransId="{0DBF27D4-9911-5740-AA07-1272C0CAB194}"/>
    <dgm:cxn modelId="{E7523E8F-1C3A-2648-BCEC-B8B1357FFD54}" srcId="{BED1FAF3-97DA-2641-AAF2-1A5523157CA9}" destId="{73FCA561-3878-6D42-896E-D0BDFD5D0F36}" srcOrd="2" destOrd="0" parTransId="{03E26F97-DC50-8C46-9E6F-E5EBD5F39B93}" sibTransId="{AA533108-CC5C-484D-BA5A-137C35836E10}"/>
    <dgm:cxn modelId="{784791B2-62C7-5C48-8819-F50CBBCB7202}" srcId="{D7EBE016-AFB8-E744-B545-40FA1011CBD2}" destId="{ADDD57AB-D3BF-C042-8FEE-87474F24A89E}" srcOrd="0" destOrd="0" parTransId="{9C3CD090-ED51-FC47-B5F7-2801E8489F8A}" sibTransId="{80F81AEB-65F9-E84A-9213-BDB9F5C1F2AF}"/>
    <dgm:cxn modelId="{E112D1C3-A983-7C41-A94F-90B1DDF281AC}" type="presOf" srcId="{BED1FAF3-97DA-2641-AAF2-1A5523157CA9}" destId="{CAFFD591-B0FB-9046-9B08-5D727CAFE2FC}" srcOrd="0" destOrd="0" presId="urn:microsoft.com/office/officeart/2008/layout/IncreasingCircleProcess"/>
    <dgm:cxn modelId="{F08C78D3-4AC8-6449-822F-45B3A45445D9}" type="presOf" srcId="{D7EBE016-AFB8-E744-B545-40FA1011CBD2}" destId="{38B99498-49ED-8544-934B-86065AB28D3E}" srcOrd="0" destOrd="0" presId="urn:microsoft.com/office/officeart/2008/layout/IncreasingCircleProcess"/>
    <dgm:cxn modelId="{2EDCB9D9-BA8B-C646-827B-04918FD7DD1E}" type="presOf" srcId="{B68458DE-2B28-1143-8C50-30A817494327}" destId="{EB88CD9E-7A60-E644-8787-C940C6ABE079}" srcOrd="0" destOrd="1" presId="urn:microsoft.com/office/officeart/2008/layout/IncreasingCircleProcess"/>
    <dgm:cxn modelId="{517089E7-D9BB-3349-9616-C615A1D1FC1B}" srcId="{D98475E2-B00B-A44F-9462-D61B11A8A7B0}" destId="{23C7C9E4-6BD1-D149-9B7A-10B77B6749C3}" srcOrd="0" destOrd="0" parTransId="{A379E6E5-13C8-C943-B809-8D2AE1A4DDEA}" sibTransId="{05B8C00A-6953-FB44-8835-F34782AEFB9C}"/>
    <dgm:cxn modelId="{2408EEEC-A1FE-9647-9F57-FD4590ADC073}" type="presOf" srcId="{73FCA561-3878-6D42-896E-D0BDFD5D0F36}" destId="{AA060C83-6A2E-6743-952B-B607F728D6B9}" srcOrd="0" destOrd="0" presId="urn:microsoft.com/office/officeart/2008/layout/IncreasingCircleProcess"/>
    <dgm:cxn modelId="{3A864AED-BCE2-674E-AB27-7580A4A82332}" type="presOf" srcId="{480F574B-1312-B04C-BFED-783CC8D5EEB1}" destId="{5C31CE74-7E61-A74F-B2EF-FC763780A722}" srcOrd="0" destOrd="0" presId="urn:microsoft.com/office/officeart/2008/layout/IncreasingCircleProcess"/>
    <dgm:cxn modelId="{38314EF8-1D96-AF46-9C8D-3C91BC69A3E0}" type="presOf" srcId="{ADDD57AB-D3BF-C042-8FEE-87474F24A89E}" destId="{B21B2269-26C7-CA4E-BCE0-EB8303EB4301}" srcOrd="0" destOrd="0" presId="urn:microsoft.com/office/officeart/2008/layout/IncreasingCircleProcess"/>
    <dgm:cxn modelId="{3D24F382-6DA8-BA4B-BBCE-B10C5F29291E}" type="presParOf" srcId="{CAFFD591-B0FB-9046-9B08-5D727CAFE2FC}" destId="{C82DC73F-FA08-BE4D-9246-BB16AD70C355}" srcOrd="0" destOrd="0" presId="urn:microsoft.com/office/officeart/2008/layout/IncreasingCircleProcess"/>
    <dgm:cxn modelId="{65213518-59C9-A54F-9713-1A7ABD96C57E}" type="presParOf" srcId="{C82DC73F-FA08-BE4D-9246-BB16AD70C355}" destId="{E0FCC648-43A4-3A4B-9C41-627960E261D2}" srcOrd="0" destOrd="0" presId="urn:microsoft.com/office/officeart/2008/layout/IncreasingCircleProcess"/>
    <dgm:cxn modelId="{7211465D-058C-3044-ACB4-0387F40D082E}" type="presParOf" srcId="{C82DC73F-FA08-BE4D-9246-BB16AD70C355}" destId="{CA927404-8786-7F47-8BCA-8D4BBDFFBD8A}" srcOrd="1" destOrd="0" presId="urn:microsoft.com/office/officeart/2008/layout/IncreasingCircleProcess"/>
    <dgm:cxn modelId="{67C0119F-4742-2D47-A5D0-C0ABD1FBE289}" type="presParOf" srcId="{C82DC73F-FA08-BE4D-9246-BB16AD70C355}" destId="{FBDD2EB4-522D-CE42-85E9-8A1758DFA3E4}" srcOrd="2" destOrd="0" presId="urn:microsoft.com/office/officeart/2008/layout/IncreasingCircleProcess"/>
    <dgm:cxn modelId="{BA3910A9-B514-7541-AF96-A654783D6AA6}" type="presParOf" srcId="{C82DC73F-FA08-BE4D-9246-BB16AD70C355}" destId="{636A6152-9E51-8543-976C-787278D882DE}" srcOrd="3" destOrd="0" presId="urn:microsoft.com/office/officeart/2008/layout/IncreasingCircleProcess"/>
    <dgm:cxn modelId="{412C1B56-CEF1-A143-B5A7-1FE9A589321C}" type="presParOf" srcId="{CAFFD591-B0FB-9046-9B08-5D727CAFE2FC}" destId="{87DA4F84-E10A-7C4C-89C1-13C3986779A3}" srcOrd="1" destOrd="0" presId="urn:microsoft.com/office/officeart/2008/layout/IncreasingCircleProcess"/>
    <dgm:cxn modelId="{7C2A57E5-BFCF-1043-B19E-ECC34F5EE034}" type="presParOf" srcId="{CAFFD591-B0FB-9046-9B08-5D727CAFE2FC}" destId="{5671E4D8-2A9F-284C-992D-F7DDA85EAA7C}" srcOrd="2" destOrd="0" presId="urn:microsoft.com/office/officeart/2008/layout/IncreasingCircleProcess"/>
    <dgm:cxn modelId="{64B8932E-14C6-4C46-A7B7-C60BD5D2CB47}" type="presParOf" srcId="{5671E4D8-2A9F-284C-992D-F7DDA85EAA7C}" destId="{8B8FB50E-1023-3D4B-96A4-9E5B55A71DA2}" srcOrd="0" destOrd="0" presId="urn:microsoft.com/office/officeart/2008/layout/IncreasingCircleProcess"/>
    <dgm:cxn modelId="{7A177500-5DDE-134C-B049-1CC1D57B169E}" type="presParOf" srcId="{5671E4D8-2A9F-284C-992D-F7DDA85EAA7C}" destId="{82FD27F6-22A0-3645-9CB4-B8736808334A}" srcOrd="1" destOrd="0" presId="urn:microsoft.com/office/officeart/2008/layout/IncreasingCircleProcess"/>
    <dgm:cxn modelId="{8307418A-DD70-9A46-BCE5-BEBFEDB86DDC}" type="presParOf" srcId="{5671E4D8-2A9F-284C-992D-F7DDA85EAA7C}" destId="{DD3B5AAE-6FCA-E740-A158-E17850A6CDB9}" srcOrd="2" destOrd="0" presId="urn:microsoft.com/office/officeart/2008/layout/IncreasingCircleProcess"/>
    <dgm:cxn modelId="{72449E78-DAD7-C946-8545-FD0790309370}" type="presParOf" srcId="{5671E4D8-2A9F-284C-992D-F7DDA85EAA7C}" destId="{5C31CE74-7E61-A74F-B2EF-FC763780A722}" srcOrd="3" destOrd="0" presId="urn:microsoft.com/office/officeart/2008/layout/IncreasingCircleProcess"/>
    <dgm:cxn modelId="{33929D6A-D5F1-C445-B322-645FA0E22FA7}" type="presParOf" srcId="{CAFFD591-B0FB-9046-9B08-5D727CAFE2FC}" destId="{39F65C87-3EA4-9444-AB36-9C55EA83B3A0}" srcOrd="3" destOrd="0" presId="urn:microsoft.com/office/officeart/2008/layout/IncreasingCircleProcess"/>
    <dgm:cxn modelId="{57551B82-CCD0-E94F-AEC0-D38C9FCE6CCA}" type="presParOf" srcId="{CAFFD591-B0FB-9046-9B08-5D727CAFE2FC}" destId="{78CE4E55-0B0B-C848-BA83-4BD3C3789B24}" srcOrd="4" destOrd="0" presId="urn:microsoft.com/office/officeart/2008/layout/IncreasingCircleProcess"/>
    <dgm:cxn modelId="{1440313C-5CAC-3B44-9B6A-101663D51D9F}" type="presParOf" srcId="{78CE4E55-0B0B-C848-BA83-4BD3C3789B24}" destId="{CE3BD18D-EF4D-D347-911A-6FDF4BA97687}" srcOrd="0" destOrd="0" presId="urn:microsoft.com/office/officeart/2008/layout/IncreasingCircleProcess"/>
    <dgm:cxn modelId="{16460ED4-7E32-8A4B-8042-737CEC5EF521}" type="presParOf" srcId="{78CE4E55-0B0B-C848-BA83-4BD3C3789B24}" destId="{E8556498-6F0C-E640-81C8-65B02FC1CFFC}" srcOrd="1" destOrd="0" presId="urn:microsoft.com/office/officeart/2008/layout/IncreasingCircleProcess"/>
    <dgm:cxn modelId="{284624A2-CB55-7F4B-BACD-578362DEF439}" type="presParOf" srcId="{78CE4E55-0B0B-C848-BA83-4BD3C3789B24}" destId="{EB88CD9E-7A60-E644-8787-C940C6ABE079}" srcOrd="2" destOrd="0" presId="urn:microsoft.com/office/officeart/2008/layout/IncreasingCircleProcess"/>
    <dgm:cxn modelId="{94F9B889-F191-0140-9899-2452000E2A48}" type="presParOf" srcId="{78CE4E55-0B0B-C848-BA83-4BD3C3789B24}" destId="{AA060C83-6A2E-6743-952B-B607F728D6B9}" srcOrd="3" destOrd="0" presId="urn:microsoft.com/office/officeart/2008/layout/IncreasingCircleProcess"/>
    <dgm:cxn modelId="{8279B02A-78AF-8D4F-99BC-59E15D9E9A6A}" type="presParOf" srcId="{CAFFD591-B0FB-9046-9B08-5D727CAFE2FC}" destId="{E110E6CA-9DD2-F14D-9955-215ACF0D89EC}" srcOrd="5" destOrd="0" presId="urn:microsoft.com/office/officeart/2008/layout/IncreasingCircleProcess"/>
    <dgm:cxn modelId="{0AFBC218-D6B6-C64F-8446-E8B98E25C967}" type="presParOf" srcId="{CAFFD591-B0FB-9046-9B08-5D727CAFE2FC}" destId="{F6E4BA67-0EB8-BC45-BDE8-8674CEDB64D8}" srcOrd="6" destOrd="0" presId="urn:microsoft.com/office/officeart/2008/layout/IncreasingCircleProcess"/>
    <dgm:cxn modelId="{01932068-BA25-E447-A16B-852E826B2B62}" type="presParOf" srcId="{F6E4BA67-0EB8-BC45-BDE8-8674CEDB64D8}" destId="{630A9F0F-94A9-B344-9AFD-5B42A3AAA36F}" srcOrd="0" destOrd="0" presId="urn:microsoft.com/office/officeart/2008/layout/IncreasingCircleProcess"/>
    <dgm:cxn modelId="{9125E3F2-1BEC-3440-9E27-1C3EC0E06D8C}" type="presParOf" srcId="{F6E4BA67-0EB8-BC45-BDE8-8674CEDB64D8}" destId="{09184531-91D4-3946-BCA0-82A7AED7EE24}" srcOrd="1" destOrd="0" presId="urn:microsoft.com/office/officeart/2008/layout/IncreasingCircleProcess"/>
    <dgm:cxn modelId="{543BDBB5-8306-6E40-A14A-765CBCC1B93C}" type="presParOf" srcId="{F6E4BA67-0EB8-BC45-BDE8-8674CEDB64D8}" destId="{B21B2269-26C7-CA4E-BCE0-EB8303EB4301}" srcOrd="2" destOrd="0" presId="urn:microsoft.com/office/officeart/2008/layout/IncreasingCircleProcess"/>
    <dgm:cxn modelId="{36469963-E23C-2B45-AB30-4FE324B89896}" type="presParOf" srcId="{F6E4BA67-0EB8-BC45-BDE8-8674CEDB64D8}" destId="{38B99498-49ED-8544-934B-86065AB28D3E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29DFFD5-22EC-0248-AE9B-6CB4DDA46994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 xml:space="preserve">
        <a:bodyPr/>
        <a:lstStyle/>
        <a:p>
          <a:endParaRPr lang="en-US"/>
        </a:p>
      </dgm:t>
    </dgm:pt>
    <dgm:pt modelId="{2AF28E79-D556-4E43-8AE8-8D0B2FF43164}">
      <dgm:prSet phldrT="[Text]"/>
      <dgm:spPr/>
      <dgm:t xml:space="preserve">
        <a:bodyPr/>
        <a:lstStyle/>
        <a:p>
          <a:pPr>
            <a:buNone/>
          </a:pPr>
          <a:r>
            <a:rPr lang="en-US" dirty="0"/>
            <a:t>The Problem</a:t>
          </a:r>
        </a:p>
      </dgm:t>
    </dgm:pt>
    <dgm:pt modelId="{138899D6-AA04-BD47-815A-C4A32FC86651}" type="parTrans" cxnId="{99FCDDBA-E028-F941-95CF-F899E49BE131}">
      <dgm:prSet/>
      <dgm:spPr/>
      <dgm:t xml:space="preserve">
        <a:bodyPr/>
        <a:lstStyle/>
        <a:p>
          <a:endParaRPr lang="en-US"/>
        </a:p>
      </dgm:t>
    </dgm:pt>
    <dgm:pt modelId="{5E4A457F-1C7D-654E-A734-A42E52D9B3B5}" type="sibTrans" cxnId="{99FCDDBA-E028-F941-95CF-F899E49BE131}">
      <dgm:prSet/>
      <dgm:spPr/>
      <dgm:t xml:space="preserve">
        <a:bodyPr/>
        <a:lstStyle/>
        <a:p>
          <a:endParaRPr lang="en-US"/>
        </a:p>
      </dgm:t>
    </dgm:pt>
    <dgm:pt modelId="{3B0384F7-A8BE-E54A-91B4-E84439213405}">
      <dgm:prSet phldrT="[Text]"/>
      <dgm:spPr/>
      <dgm:t xml:space="preserve">
        <a:bodyPr/>
        <a:lstStyle/>
        <a:p>
          <a:pPr>
            <a:buNone/>
          </a:pPr>
          <a:r>
            <a:rPr lang="en-US" dirty="0"/>
            <a:t>The Solution</a:t>
          </a:r>
        </a:p>
      </dgm:t>
    </dgm:pt>
    <dgm:pt modelId="{E3EE2BE6-CA26-4848-990B-95E84390E2C3}" type="parTrans" cxnId="{D2940D93-ADF9-6A4A-A2B2-D44087D0B6C6}">
      <dgm:prSet/>
      <dgm:spPr/>
      <dgm:t xml:space="preserve">
        <a:bodyPr/>
        <a:lstStyle/>
        <a:p>
          <a:endParaRPr lang="en-US"/>
        </a:p>
      </dgm:t>
    </dgm:pt>
    <dgm:pt modelId="{772C99AA-F001-D840-B115-57E601E29577}" type="sibTrans" cxnId="{D2940D93-ADF9-6A4A-A2B2-D44087D0B6C6}">
      <dgm:prSet/>
      <dgm:spPr/>
      <dgm:t xml:space="preserve">
        <a:bodyPr/>
        <a:lstStyle/>
        <a:p>
          <a:endParaRPr lang="en-US"/>
        </a:p>
      </dgm:t>
    </dgm:pt>
    <dgm:pt modelId="{69D8355A-13A3-7A45-AEA0-945868C4338D}">
      <dgm:prSet/>
      <dgm:spPr/>
      <dgm:t xml:space="preserve">
        <a:bodyPr/>
        <a:lstStyle/>
        <a:p>
          <a:pPr>
            <a:buFont typeface="Arial" panose="020B0604020202020204" pitchFamily="34" charset="0"/>
            <a:buNone/>
          </a:pPr>
          <a:r>
            <a:rPr lang="en-US" dirty="0"/>
            <a:t>Dates can be written in many different formats:</a:t>
          </a:r>
        </a:p>
      </dgm:t>
    </dgm:pt>
    <dgm:pt modelId="{76489319-05FE-B842-850B-EFE865EBB60A}" type="parTrans" cxnId="{EA6050B0-22BF-7340-BF72-18175DBF24E2}">
      <dgm:prSet/>
      <dgm:spPr/>
      <dgm:t xml:space="preserve">
        <a:bodyPr/>
        <a:lstStyle/>
        <a:p>
          <a:endParaRPr lang="en-US"/>
        </a:p>
      </dgm:t>
    </dgm:pt>
    <dgm:pt modelId="{75584AC5-1416-2040-8AA7-6F4E3CA5E679}" type="sibTrans" cxnId="{EA6050B0-22BF-7340-BF72-18175DBF24E2}">
      <dgm:prSet/>
      <dgm:spPr/>
      <dgm:t xml:space="preserve">
        <a:bodyPr/>
        <a:lstStyle/>
        <a:p>
          <a:endParaRPr lang="en-US"/>
        </a:p>
      </dgm:t>
    </dgm:pt>
    <dgm:pt modelId="{5E4607D7-661C-7443-B65B-7CB5D7BE36F2}">
      <dgm:prSet/>
      <dgm:spPr/>
      <dgm:t xml:space="preserve"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﻿﻿MM/DD/YYYY (US style)</a:t>
          </a:r>
        </a:p>
      </dgm:t>
    </dgm:pt>
    <dgm:pt modelId="{6D33B31C-57CE-F84D-9C9A-E4EDFFCAF3AE}" type="parTrans" cxnId="{05099F76-90A5-A947-98BC-A604BAE53D8C}">
      <dgm:prSet/>
      <dgm:spPr/>
      <dgm:t xml:space="preserve">
        <a:bodyPr/>
        <a:lstStyle/>
        <a:p>
          <a:endParaRPr lang="en-US"/>
        </a:p>
      </dgm:t>
    </dgm:pt>
    <dgm:pt modelId="{81A3298D-8C70-0D48-AE26-0489F59B7BA1}" type="sibTrans" cxnId="{05099F76-90A5-A947-98BC-A604BAE53D8C}">
      <dgm:prSet/>
      <dgm:spPr/>
      <dgm:t xml:space="preserve">
        <a:bodyPr/>
        <a:lstStyle/>
        <a:p>
          <a:endParaRPr lang="en-US"/>
        </a:p>
      </dgm:t>
    </dgm:pt>
    <dgm:pt modelId="{0CA2808C-6911-CD41-9BB3-990346ED23D9}">
      <dgm:prSet/>
      <dgm:spPr/>
      <dgm:t xml:space="preserve"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﻿﻿DD/MM/YYYY (European style)</a:t>
          </a:r>
        </a:p>
      </dgm:t>
    </dgm:pt>
    <dgm:pt modelId="{02D4649A-8318-7041-9F24-DD61AC0D815D}" type="parTrans" cxnId="{1EBA2FDC-B666-FB4F-9695-50934DC0DB22}">
      <dgm:prSet/>
      <dgm:spPr/>
      <dgm:t xml:space="preserve">
        <a:bodyPr/>
        <a:lstStyle/>
        <a:p>
          <a:endParaRPr lang="en-US"/>
        </a:p>
      </dgm:t>
    </dgm:pt>
    <dgm:pt modelId="{783F19BC-F4D7-B74C-AC39-612199EBCBB8}" type="sibTrans" cxnId="{1EBA2FDC-B666-FB4F-9695-50934DC0DB22}">
      <dgm:prSet/>
      <dgm:spPr/>
      <dgm:t xml:space="preserve">
        <a:bodyPr/>
        <a:lstStyle/>
        <a:p>
          <a:endParaRPr lang="en-US"/>
        </a:p>
      </dgm:t>
    </dgm:pt>
    <dgm:pt modelId="{27C141A3-F556-0646-9C3E-173B2AF340C4}">
      <dgm:prSet/>
      <dgm:spPr/>
      <dgm:t xml:space="preserve"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﻿﻿YYYY-MM-DD (ISO standard)</a:t>
          </a:r>
        </a:p>
      </dgm:t>
    </dgm:pt>
    <dgm:pt modelId="{CF87F3D0-F656-F64C-B73C-A6E72E47F6B3}" type="parTrans" cxnId="{13AE4D5D-81F4-A849-93FC-437A4379234F}">
      <dgm:prSet/>
      <dgm:spPr/>
      <dgm:t xml:space="preserve">
        <a:bodyPr/>
        <a:lstStyle/>
        <a:p>
          <a:endParaRPr lang="en-US"/>
        </a:p>
      </dgm:t>
    </dgm:pt>
    <dgm:pt modelId="{045A12B2-2860-B54C-8A90-C7A8129FE5C5}" type="sibTrans" cxnId="{13AE4D5D-81F4-A849-93FC-437A4379234F}">
      <dgm:prSet/>
      <dgm:spPr/>
      <dgm:t xml:space="preserve">
        <a:bodyPr/>
        <a:lstStyle/>
        <a:p>
          <a:endParaRPr lang="en-US"/>
        </a:p>
      </dgm:t>
    </dgm:pt>
    <dgm:pt modelId="{06C63807-256E-7D4F-BEA5-DEAA0027139A}">
      <dgm:prSet/>
      <dgm:spPr/>
      <dgm:t xml:space="preserve"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﻿﻿"January 1, 2023" (text format)</a:t>
          </a:r>
        </a:p>
      </dgm:t>
    </dgm:pt>
    <dgm:pt modelId="{9EC19B73-E075-D240-9F48-CB0271F9B1D0}" type="parTrans" cxnId="{1803D47F-C20A-B749-AC43-328336FA7ECF}">
      <dgm:prSet/>
      <dgm:spPr/>
      <dgm:t xml:space="preserve">
        <a:bodyPr/>
        <a:lstStyle/>
        <a:p>
          <a:endParaRPr lang="en-US"/>
        </a:p>
      </dgm:t>
    </dgm:pt>
    <dgm:pt modelId="{CC01346E-F303-A74C-BA7B-81D3BDAE3704}" type="sibTrans" cxnId="{1803D47F-C20A-B749-AC43-328336FA7ECF}">
      <dgm:prSet/>
      <dgm:spPr/>
      <dgm:t xml:space="preserve">
        <a:bodyPr/>
        <a:lstStyle/>
        <a:p>
          <a:endParaRPr lang="en-US"/>
        </a:p>
      </dgm:t>
    </dgm:pt>
    <dgm:pt modelId="{ED27811E-9898-3341-96B0-219D06876FA9}">
      <dgm:prSet/>
      <dgm:spPr/>
      <dgm:t xml:space="preserve"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Convert all dates to a standard date data type that computers recognize.</a:t>
          </a:r>
        </a:p>
      </dgm:t>
    </dgm:pt>
    <dgm:pt modelId="{49B8EADF-AD2A-BC43-A9A2-E994F8DB7190}" type="parTrans" cxnId="{506CA878-F5F2-2042-8EDA-A8370E477A3B}">
      <dgm:prSet/>
      <dgm:spPr/>
      <dgm:t xml:space="preserve">
        <a:bodyPr/>
        <a:lstStyle/>
        <a:p>
          <a:endParaRPr lang="en-US"/>
        </a:p>
      </dgm:t>
    </dgm:pt>
    <dgm:pt modelId="{3512202B-D389-6C4C-8488-0BCED8DB663D}" type="sibTrans" cxnId="{506CA878-F5F2-2042-8EDA-A8370E477A3B}">
      <dgm:prSet/>
      <dgm:spPr/>
      <dgm:t xml:space="preserve">
        <a:bodyPr/>
        <a:lstStyle/>
        <a:p>
          <a:endParaRPr lang="en-US"/>
        </a:p>
      </dgm:t>
    </dgm:pt>
    <dgm:pt modelId="{123E1B46-F31E-3145-9FE1-D23544CCD587}">
      <dgm:prSet/>
      <dgm:spPr/>
      <dgm:t xml:space="preserve">
        <a:bodyPr/>
        <a:lstStyle/>
        <a:p>
          <a:r>
            <a:rPr lang="en-US" dirty="0"/>
            <a:t>This allows proper sorting, filtering, and calculations with dates.</a:t>
          </a:r>
        </a:p>
      </dgm:t>
    </dgm:pt>
    <dgm:pt modelId="{C0CDE902-5A44-6345-8F03-D56E8ECAF64E}" type="parTrans" cxnId="{B990C99D-02E9-3D4C-9B08-D752644002F6}">
      <dgm:prSet/>
      <dgm:spPr/>
      <dgm:t xml:space="preserve">
        <a:bodyPr/>
        <a:lstStyle/>
        <a:p>
          <a:endParaRPr lang="en-US"/>
        </a:p>
      </dgm:t>
    </dgm:pt>
    <dgm:pt modelId="{C1610580-7D76-4048-9951-0DAE96B971D1}" type="sibTrans" cxnId="{B990C99D-02E9-3D4C-9B08-D752644002F6}">
      <dgm:prSet/>
      <dgm:spPr/>
      <dgm:t xml:space="preserve">
        <a:bodyPr/>
        <a:lstStyle/>
        <a:p>
          <a:endParaRPr lang="en-US"/>
        </a:p>
      </dgm:t>
    </dgm:pt>
    <dgm:pt modelId="{83C211D5-9CF6-9C4F-A87B-23EA144367E7}" type="pres">
      <dgm:prSet presAssocID="{829DFFD5-22EC-0248-AE9B-6CB4DDA46994}" presName="Name0" presStyleCnt="0">
        <dgm:presLayoutVars>
          <dgm:dir/>
          <dgm:animLvl val="lvl"/>
          <dgm:resizeHandles val="exact"/>
        </dgm:presLayoutVars>
      </dgm:prSet>
      <dgm:spPr/>
    </dgm:pt>
    <dgm:pt modelId="{80CB0286-7549-9C4E-83C4-0E48002FF4EF}" type="pres">
      <dgm:prSet presAssocID="{2AF28E79-D556-4E43-8AE8-8D0B2FF43164}" presName="composite" presStyleCnt="0"/>
      <dgm:spPr/>
    </dgm:pt>
    <dgm:pt modelId="{CE15149F-8A0F-E34C-905E-09A0655B909F}" type="pres">
      <dgm:prSet presAssocID="{2AF28E79-D556-4E43-8AE8-8D0B2FF43164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6A856ABF-4386-D946-B06B-24BBC3F7BC7C}" type="pres">
      <dgm:prSet presAssocID="{2AF28E79-D556-4E43-8AE8-8D0B2FF43164}" presName="desTx" presStyleLbl="alignAccFollowNode1" presStyleIdx="0" presStyleCnt="2">
        <dgm:presLayoutVars>
          <dgm:bulletEnabled val="1"/>
        </dgm:presLayoutVars>
      </dgm:prSet>
      <dgm:spPr/>
    </dgm:pt>
    <dgm:pt modelId="{3CEFAE3A-295C-314B-9AA0-279AC4BF900D}" type="pres">
      <dgm:prSet presAssocID="{5E4A457F-1C7D-654E-A734-A42E52D9B3B5}" presName="space" presStyleCnt="0"/>
      <dgm:spPr/>
    </dgm:pt>
    <dgm:pt modelId="{A27A1179-C34D-C644-BF21-96A1831481F8}" type="pres">
      <dgm:prSet presAssocID="{3B0384F7-A8BE-E54A-91B4-E84439213405}" presName="composite" presStyleCnt="0"/>
      <dgm:spPr/>
    </dgm:pt>
    <dgm:pt modelId="{D31640A4-D279-D044-A0E2-FFB1B931954D}" type="pres">
      <dgm:prSet presAssocID="{3B0384F7-A8BE-E54A-91B4-E8443921340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01C21C05-6BE2-744A-831D-FE0F499970BC}" type="pres">
      <dgm:prSet presAssocID="{3B0384F7-A8BE-E54A-91B4-E84439213405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6799AF17-AD48-2F4D-B9AB-3E77C1C2E977}" type="presOf" srcId="{5E4607D7-661C-7443-B65B-7CB5D7BE36F2}" destId="{6A856ABF-4386-D946-B06B-24BBC3F7BC7C}" srcOrd="0" destOrd="1" presId="urn:microsoft.com/office/officeart/2005/8/layout/hList1"/>
    <dgm:cxn modelId="{D35E5C1B-A8C8-8646-BAA8-AAD5B4541A97}" type="presOf" srcId="{27C141A3-F556-0646-9C3E-173B2AF340C4}" destId="{6A856ABF-4386-D946-B06B-24BBC3F7BC7C}" srcOrd="0" destOrd="3" presId="urn:microsoft.com/office/officeart/2005/8/layout/hList1"/>
    <dgm:cxn modelId="{31D0C11C-B00A-4D40-B853-5133112E191E}" type="presOf" srcId="{0CA2808C-6911-CD41-9BB3-990346ED23D9}" destId="{6A856ABF-4386-D946-B06B-24BBC3F7BC7C}" srcOrd="0" destOrd="2" presId="urn:microsoft.com/office/officeart/2005/8/layout/hList1"/>
    <dgm:cxn modelId="{73D7EF32-4625-5E4D-BECD-C701C4071599}" type="presOf" srcId="{3B0384F7-A8BE-E54A-91B4-E84439213405}" destId="{D31640A4-D279-D044-A0E2-FFB1B931954D}" srcOrd="0" destOrd="0" presId="urn:microsoft.com/office/officeart/2005/8/layout/hList1"/>
    <dgm:cxn modelId="{6098E85B-D63E-B348-8A1B-B060C21A13FD}" type="presOf" srcId="{ED27811E-9898-3341-96B0-219D06876FA9}" destId="{01C21C05-6BE2-744A-831D-FE0F499970BC}" srcOrd="0" destOrd="0" presId="urn:microsoft.com/office/officeart/2005/8/layout/hList1"/>
    <dgm:cxn modelId="{13AE4D5D-81F4-A849-93FC-437A4379234F}" srcId="{2AF28E79-D556-4E43-8AE8-8D0B2FF43164}" destId="{27C141A3-F556-0646-9C3E-173B2AF340C4}" srcOrd="3" destOrd="0" parTransId="{CF87F3D0-F656-F64C-B73C-A6E72E47F6B3}" sibTransId="{045A12B2-2860-B54C-8A90-C7A8129FE5C5}"/>
    <dgm:cxn modelId="{05099F76-90A5-A947-98BC-A604BAE53D8C}" srcId="{2AF28E79-D556-4E43-8AE8-8D0B2FF43164}" destId="{5E4607D7-661C-7443-B65B-7CB5D7BE36F2}" srcOrd="1" destOrd="0" parTransId="{6D33B31C-57CE-F84D-9C9A-E4EDFFCAF3AE}" sibTransId="{81A3298D-8C70-0D48-AE26-0489F59B7BA1}"/>
    <dgm:cxn modelId="{16B93777-E145-374B-9008-8F885A7963DE}" type="presOf" srcId="{123E1B46-F31E-3145-9FE1-D23544CCD587}" destId="{01C21C05-6BE2-744A-831D-FE0F499970BC}" srcOrd="0" destOrd="1" presId="urn:microsoft.com/office/officeart/2005/8/layout/hList1"/>
    <dgm:cxn modelId="{8D157758-A65D-0A4C-948E-D88FD1DB245C}" type="presOf" srcId="{69D8355A-13A3-7A45-AEA0-945868C4338D}" destId="{6A856ABF-4386-D946-B06B-24BBC3F7BC7C}" srcOrd="0" destOrd="0" presId="urn:microsoft.com/office/officeart/2005/8/layout/hList1"/>
    <dgm:cxn modelId="{506CA878-F5F2-2042-8EDA-A8370E477A3B}" srcId="{3B0384F7-A8BE-E54A-91B4-E84439213405}" destId="{ED27811E-9898-3341-96B0-219D06876FA9}" srcOrd="0" destOrd="0" parTransId="{49B8EADF-AD2A-BC43-A9A2-E994F8DB7190}" sibTransId="{3512202B-D389-6C4C-8488-0BCED8DB663D}"/>
    <dgm:cxn modelId="{1803D47F-C20A-B749-AC43-328336FA7ECF}" srcId="{2AF28E79-D556-4E43-8AE8-8D0B2FF43164}" destId="{06C63807-256E-7D4F-BEA5-DEAA0027139A}" srcOrd="4" destOrd="0" parTransId="{9EC19B73-E075-D240-9F48-CB0271F9B1D0}" sibTransId="{CC01346E-F303-A74C-BA7B-81D3BDAE3704}"/>
    <dgm:cxn modelId="{B8990680-3B32-214A-87BC-257680242327}" type="presOf" srcId="{2AF28E79-D556-4E43-8AE8-8D0B2FF43164}" destId="{CE15149F-8A0F-E34C-905E-09A0655B909F}" srcOrd="0" destOrd="0" presId="urn:microsoft.com/office/officeart/2005/8/layout/hList1"/>
    <dgm:cxn modelId="{BD514A88-F981-B848-823C-78BF81337894}" type="presOf" srcId="{06C63807-256E-7D4F-BEA5-DEAA0027139A}" destId="{6A856ABF-4386-D946-B06B-24BBC3F7BC7C}" srcOrd="0" destOrd="4" presId="urn:microsoft.com/office/officeart/2005/8/layout/hList1"/>
    <dgm:cxn modelId="{D2940D93-ADF9-6A4A-A2B2-D44087D0B6C6}" srcId="{829DFFD5-22EC-0248-AE9B-6CB4DDA46994}" destId="{3B0384F7-A8BE-E54A-91B4-E84439213405}" srcOrd="1" destOrd="0" parTransId="{E3EE2BE6-CA26-4848-990B-95E84390E2C3}" sibTransId="{772C99AA-F001-D840-B115-57E601E29577}"/>
    <dgm:cxn modelId="{B990C99D-02E9-3D4C-9B08-D752644002F6}" srcId="{3B0384F7-A8BE-E54A-91B4-E84439213405}" destId="{123E1B46-F31E-3145-9FE1-D23544CCD587}" srcOrd="1" destOrd="0" parTransId="{C0CDE902-5A44-6345-8F03-D56E8ECAF64E}" sibTransId="{C1610580-7D76-4048-9951-0DAE96B971D1}"/>
    <dgm:cxn modelId="{EA6050B0-22BF-7340-BF72-18175DBF24E2}" srcId="{2AF28E79-D556-4E43-8AE8-8D0B2FF43164}" destId="{69D8355A-13A3-7A45-AEA0-945868C4338D}" srcOrd="0" destOrd="0" parTransId="{76489319-05FE-B842-850B-EFE865EBB60A}" sibTransId="{75584AC5-1416-2040-8AA7-6F4E3CA5E679}"/>
    <dgm:cxn modelId="{99FCDDBA-E028-F941-95CF-F899E49BE131}" srcId="{829DFFD5-22EC-0248-AE9B-6CB4DDA46994}" destId="{2AF28E79-D556-4E43-8AE8-8D0B2FF43164}" srcOrd="0" destOrd="0" parTransId="{138899D6-AA04-BD47-815A-C4A32FC86651}" sibTransId="{5E4A457F-1C7D-654E-A734-A42E52D9B3B5}"/>
    <dgm:cxn modelId="{31A5F8CE-34DC-064C-B7D7-0F62C6C5B220}" type="presOf" srcId="{829DFFD5-22EC-0248-AE9B-6CB4DDA46994}" destId="{83C211D5-9CF6-9C4F-A87B-23EA144367E7}" srcOrd="0" destOrd="0" presId="urn:microsoft.com/office/officeart/2005/8/layout/hList1"/>
    <dgm:cxn modelId="{1EBA2FDC-B666-FB4F-9695-50934DC0DB22}" srcId="{2AF28E79-D556-4E43-8AE8-8D0B2FF43164}" destId="{0CA2808C-6911-CD41-9BB3-990346ED23D9}" srcOrd="2" destOrd="0" parTransId="{02D4649A-8318-7041-9F24-DD61AC0D815D}" sibTransId="{783F19BC-F4D7-B74C-AC39-612199EBCBB8}"/>
    <dgm:cxn modelId="{FF287ED8-EA2A-CD4B-A69B-DF4D83B2C1C8}" type="presParOf" srcId="{83C211D5-9CF6-9C4F-A87B-23EA144367E7}" destId="{80CB0286-7549-9C4E-83C4-0E48002FF4EF}" srcOrd="0" destOrd="0" presId="urn:microsoft.com/office/officeart/2005/8/layout/hList1"/>
    <dgm:cxn modelId="{A5F3298F-2256-744D-8BD8-F600C822F506}" type="presParOf" srcId="{80CB0286-7549-9C4E-83C4-0E48002FF4EF}" destId="{CE15149F-8A0F-E34C-905E-09A0655B909F}" srcOrd="0" destOrd="0" presId="urn:microsoft.com/office/officeart/2005/8/layout/hList1"/>
    <dgm:cxn modelId="{CB35DF60-18C9-7745-AF79-9247D6233FB5}" type="presParOf" srcId="{80CB0286-7549-9C4E-83C4-0E48002FF4EF}" destId="{6A856ABF-4386-D946-B06B-24BBC3F7BC7C}" srcOrd="1" destOrd="0" presId="urn:microsoft.com/office/officeart/2005/8/layout/hList1"/>
    <dgm:cxn modelId="{2D9EA709-52DB-DA46-8FD0-019E201AA0D2}" type="presParOf" srcId="{83C211D5-9CF6-9C4F-A87B-23EA144367E7}" destId="{3CEFAE3A-295C-314B-9AA0-279AC4BF900D}" srcOrd="1" destOrd="0" presId="urn:microsoft.com/office/officeart/2005/8/layout/hList1"/>
    <dgm:cxn modelId="{2D0E7574-8F74-7744-947A-7A6004847846}" type="presParOf" srcId="{83C211D5-9CF6-9C4F-A87B-23EA144367E7}" destId="{A27A1179-C34D-C644-BF21-96A1831481F8}" srcOrd="2" destOrd="0" presId="urn:microsoft.com/office/officeart/2005/8/layout/hList1"/>
    <dgm:cxn modelId="{D37D04C4-C583-EA4A-B66C-0EA58577B693}" type="presParOf" srcId="{A27A1179-C34D-C644-BF21-96A1831481F8}" destId="{D31640A4-D279-D044-A0E2-FFB1B931954D}" srcOrd="0" destOrd="0" presId="urn:microsoft.com/office/officeart/2005/8/layout/hList1"/>
    <dgm:cxn modelId="{E98DB9E8-40A5-A245-A523-40F955EA7863}" type="presParOf" srcId="{A27A1179-C34D-C644-BF21-96A1831481F8}" destId="{01C21C05-6BE2-744A-831D-FE0F499970B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DCB9BD-72D7-6B47-B079-01B8879B12AB}">
      <dsp:nvSpPr>
        <dsp:cNvPr id="0" name=""/>
        <dsp:cNvSpPr/>
      </dsp:nvSpPr>
      <dsp:spPr>
        <a:xfrm rot="5400000">
          <a:off x="6806575" y="-2933163"/>
          <a:ext cx="688064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Detect missing values, decide whether to remove them or fill them in (impute) with sensible values.</a:t>
          </a:r>
        </a:p>
      </dsp:txBody>
      <dsp:txXfrm rot="-5400000">
        <a:off x="3785616" y="121385"/>
        <a:ext cx="6696395" cy="620886"/>
      </dsp:txXfrm>
    </dsp:sp>
    <dsp:sp modelId="{D9538FD8-F342-9443-8AB1-BD58734BE768}">
      <dsp:nvSpPr>
        <dsp:cNvPr id="0" name=""/>
        <dsp:cNvSpPr/>
      </dsp:nvSpPr>
      <dsp:spPr>
        <a:xfrm>
          <a:off x="0" y="1788"/>
          <a:ext cx="3785616" cy="860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Handling Missing Data</a:t>
          </a:r>
        </a:p>
      </dsp:txBody>
      <dsp:txXfrm>
        <a:off x="41986" y="43774"/>
        <a:ext cx="3701644" cy="776108"/>
      </dsp:txXfrm>
    </dsp:sp>
    <dsp:sp modelId="{34D1F557-3A7E-7C45-B830-2CD1A270BDE4}">
      <dsp:nvSpPr>
        <dsp:cNvPr id="0" name=""/>
        <dsp:cNvSpPr/>
      </dsp:nvSpPr>
      <dsp:spPr>
        <a:xfrm rot="5400000">
          <a:off x="6806575" y="-2030078"/>
          <a:ext cx="688064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Spot unusual values that don’t fit the pattern and learn what to do about them.</a:t>
          </a:r>
        </a:p>
      </dsp:txBody>
      <dsp:txXfrm rot="-5400000">
        <a:off x="3785616" y="1024470"/>
        <a:ext cx="6696395" cy="620886"/>
      </dsp:txXfrm>
    </dsp:sp>
    <dsp:sp modelId="{3A1C09CC-8A03-DF41-A1C9-073D01B8F0C9}">
      <dsp:nvSpPr>
        <dsp:cNvPr id="0" name=""/>
        <dsp:cNvSpPr/>
      </dsp:nvSpPr>
      <dsp:spPr>
        <a:xfrm>
          <a:off x="0" y="904872"/>
          <a:ext cx="3785616" cy="860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Identifying and Handling Outliers</a:t>
          </a:r>
        </a:p>
      </dsp:txBody>
      <dsp:txXfrm>
        <a:off x="41986" y="946858"/>
        <a:ext cx="3701644" cy="776108"/>
      </dsp:txXfrm>
    </dsp:sp>
    <dsp:sp modelId="{1D4FAFCF-68D2-FF42-8C71-DA0FABBF587D}">
      <dsp:nvSpPr>
        <dsp:cNvPr id="0" name=""/>
        <dsp:cNvSpPr/>
      </dsp:nvSpPr>
      <dsp:spPr>
        <a:xfrm rot="5400000">
          <a:off x="6806575" y="-1126994"/>
          <a:ext cx="688064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Make sure data like dates and text entries are consistent (e.g. “Jan 1, 2021” vs “2021-01-01”).</a:t>
          </a:r>
        </a:p>
      </dsp:txBody>
      <dsp:txXfrm rot="-5400000">
        <a:off x="3785616" y="1927554"/>
        <a:ext cx="6696395" cy="620886"/>
      </dsp:txXfrm>
    </dsp:sp>
    <dsp:sp modelId="{43DDAB73-FB9A-F54F-AC6B-28C82D3076FE}">
      <dsp:nvSpPr>
        <dsp:cNvPr id="0" name=""/>
        <dsp:cNvSpPr/>
      </dsp:nvSpPr>
      <dsp:spPr>
        <a:xfrm>
          <a:off x="0" y="1807957"/>
          <a:ext cx="3785616" cy="860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Standardizing Formats</a:t>
          </a:r>
        </a:p>
      </dsp:txBody>
      <dsp:txXfrm>
        <a:off x="41986" y="1849943"/>
        <a:ext cx="3701644" cy="776108"/>
      </dsp:txXfrm>
    </dsp:sp>
    <dsp:sp modelId="{BC430494-A6B6-F64E-8873-5C919399FBD2}">
      <dsp:nvSpPr>
        <dsp:cNvPr id="0" name=""/>
        <dsp:cNvSpPr/>
      </dsp:nvSpPr>
      <dsp:spPr>
        <a:xfrm rot="5400000">
          <a:off x="6806575" y="-223909"/>
          <a:ext cx="688064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Learn to select the subset of data you need and merge data from different sources to enrich your analysis.</a:t>
          </a:r>
        </a:p>
      </dsp:txBody>
      <dsp:txXfrm rot="-5400000">
        <a:off x="3785616" y="2830639"/>
        <a:ext cx="6696395" cy="620886"/>
      </dsp:txXfrm>
    </dsp:sp>
    <dsp:sp modelId="{4209F7D9-AE57-8742-90EC-FF188D04AC5D}">
      <dsp:nvSpPr>
        <dsp:cNvPr id="0" name=""/>
        <dsp:cNvSpPr/>
      </dsp:nvSpPr>
      <dsp:spPr>
        <a:xfrm>
          <a:off x="0" y="2711042"/>
          <a:ext cx="3785616" cy="860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Filtering and Combining Data</a:t>
          </a:r>
        </a:p>
      </dsp:txBody>
      <dsp:txXfrm>
        <a:off x="41986" y="2753028"/>
        <a:ext cx="3701644" cy="7761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2258B4-9F95-0242-9B5F-0C3C9C797AB5}">
      <dsp:nvSpPr>
        <dsp:cNvPr id="0" name=""/>
        <dsp:cNvSpPr/>
      </dsp:nvSpPr>
      <dsp:spPr>
        <a:xfrm>
          <a:off x="51" y="20616"/>
          <a:ext cx="4913783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Remove Missing Data</a:t>
          </a:r>
        </a:p>
      </dsp:txBody>
      <dsp:txXfrm>
        <a:off x="51" y="20616"/>
        <a:ext cx="4913783" cy="748800"/>
      </dsp:txXfrm>
    </dsp:sp>
    <dsp:sp modelId="{633F67F4-9BE3-7F47-9EE6-1CF88947C338}">
      <dsp:nvSpPr>
        <dsp:cNvPr id="0" name=""/>
        <dsp:cNvSpPr/>
      </dsp:nvSpPr>
      <dsp:spPr>
        <a:xfrm>
          <a:off x="51" y="769416"/>
          <a:ext cx="4913783" cy="278343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600" kern="1200" dirty="0"/>
            <a:t>Delete rows with missing values.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600" kern="1200" dirty="0"/>
            <a:t>﻿﻿Simple approach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600" kern="1200" dirty="0"/>
            <a:t>﻿﻿Ensures complete data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600" kern="1200" dirty="0"/>
            <a:t>﻿﻿Risk: Could lose too much data</a:t>
          </a:r>
        </a:p>
      </dsp:txBody>
      <dsp:txXfrm>
        <a:off x="51" y="769416"/>
        <a:ext cx="4913783" cy="2783430"/>
      </dsp:txXfrm>
    </dsp:sp>
    <dsp:sp modelId="{77717308-6412-E344-BD96-6D08557EEB3F}">
      <dsp:nvSpPr>
        <dsp:cNvPr id="0" name=""/>
        <dsp:cNvSpPr/>
      </dsp:nvSpPr>
      <dsp:spPr>
        <a:xfrm>
          <a:off x="5601764" y="20616"/>
          <a:ext cx="4913783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Impute Missing Data</a:t>
          </a:r>
        </a:p>
      </dsp:txBody>
      <dsp:txXfrm>
        <a:off x="5601764" y="20616"/>
        <a:ext cx="4913783" cy="748800"/>
      </dsp:txXfrm>
    </dsp:sp>
    <dsp:sp modelId="{9FA54940-D9B7-D44C-9586-C543C35345D4}">
      <dsp:nvSpPr>
        <dsp:cNvPr id="0" name=""/>
        <dsp:cNvSpPr/>
      </dsp:nvSpPr>
      <dsp:spPr>
        <a:xfrm>
          <a:off x="5601764" y="769416"/>
          <a:ext cx="4913783" cy="278343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600" kern="1200" dirty="0"/>
            <a:t>Fill in the blanks with estimated values.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600" kern="1200" dirty="0"/>
            <a:t>﻿﻿Preserves data quantity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600" kern="1200" dirty="0"/>
            <a:t>﻿﻿Methods: mean, median, mode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600" kern="1200" dirty="0"/>
            <a:t>﻿﻿Risk: Added values aren't real</a:t>
          </a:r>
        </a:p>
      </dsp:txBody>
      <dsp:txXfrm>
        <a:off x="5601764" y="769416"/>
        <a:ext cx="4913783" cy="27834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FCC648-43A4-3A4B-9C41-627960E261D2}">
      <dsp:nvSpPr>
        <dsp:cNvPr id="0" name=""/>
        <dsp:cNvSpPr/>
      </dsp:nvSpPr>
      <dsp:spPr>
        <a:xfrm>
          <a:off x="3622" y="0"/>
          <a:ext cx="607712" cy="6077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927404-8786-7F47-8BCA-8D4BBDFFBD8A}">
      <dsp:nvSpPr>
        <dsp:cNvPr id="0" name=""/>
        <dsp:cNvSpPr/>
      </dsp:nvSpPr>
      <dsp:spPr>
        <a:xfrm>
          <a:off x="64394" y="60771"/>
          <a:ext cx="486169" cy="486169"/>
        </a:xfrm>
        <a:prstGeom prst="chord">
          <a:avLst>
            <a:gd name="adj1" fmla="val 18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DD2EB4-522D-CE42-85E9-8A1758DFA3E4}">
      <dsp:nvSpPr>
        <dsp:cNvPr id="0" name=""/>
        <dsp:cNvSpPr/>
      </dsp:nvSpPr>
      <dsp:spPr>
        <a:xfrm>
          <a:off x="737941" y="607712"/>
          <a:ext cx="1797814" cy="255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000000"/>
              </a:solidFill>
              <a:latin typeface="Aptos" panose="020B0004020202020204" pitchFamily="34" charset="0"/>
              <a:ea typeface="Inter" pitchFamily="34" charset="-122"/>
              <a:cs typeface="Inter" pitchFamily="34" charset="-120"/>
            </a:rPr>
            <a:t>Calculate the first quartile (25th percentile) and third quartile (75th percentile).</a:t>
          </a:r>
          <a:endParaRPr lang="en-US" sz="2000" kern="1200" dirty="0">
            <a:latin typeface="Aptos" panose="020B0004020202020204" pitchFamily="34" charset="0"/>
          </a:endParaRPr>
        </a:p>
      </dsp:txBody>
      <dsp:txXfrm>
        <a:off x="737941" y="607712"/>
        <a:ext cx="1797814" cy="2557454"/>
      </dsp:txXfrm>
    </dsp:sp>
    <dsp:sp modelId="{636A6152-9E51-8543-976C-787278D882DE}">
      <dsp:nvSpPr>
        <dsp:cNvPr id="0" name=""/>
        <dsp:cNvSpPr/>
      </dsp:nvSpPr>
      <dsp:spPr>
        <a:xfrm>
          <a:off x="737941" y="0"/>
          <a:ext cx="1797814" cy="607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0000"/>
              </a:solidFill>
              <a:latin typeface="Aptos" panose="020B0004020202020204" pitchFamily="34" charset="0"/>
              <a:ea typeface="Playfair Display Bold" pitchFamily="34" charset="-122"/>
              <a:cs typeface="Playfair Display Bold" pitchFamily="34" charset="-120"/>
            </a:rPr>
            <a:t>Find Q1 and Q3</a:t>
          </a:r>
          <a:endParaRPr lang="en-US" sz="2000" kern="1200" dirty="0">
            <a:latin typeface="Aptos" panose="020B0004020202020204" pitchFamily="34" charset="0"/>
          </a:endParaRPr>
        </a:p>
      </dsp:txBody>
      <dsp:txXfrm>
        <a:off x="737941" y="0"/>
        <a:ext cx="1797814" cy="607712"/>
      </dsp:txXfrm>
    </dsp:sp>
    <dsp:sp modelId="{8B8FB50E-1023-3D4B-96A4-9E5B55A71DA2}">
      <dsp:nvSpPr>
        <dsp:cNvPr id="0" name=""/>
        <dsp:cNvSpPr/>
      </dsp:nvSpPr>
      <dsp:spPr>
        <a:xfrm>
          <a:off x="2662363" y="0"/>
          <a:ext cx="607712" cy="6077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FD27F6-22A0-3645-9CB4-B8736808334A}">
      <dsp:nvSpPr>
        <dsp:cNvPr id="0" name=""/>
        <dsp:cNvSpPr/>
      </dsp:nvSpPr>
      <dsp:spPr>
        <a:xfrm>
          <a:off x="2723134" y="60771"/>
          <a:ext cx="486169" cy="486169"/>
        </a:xfrm>
        <a:prstGeom prst="chord">
          <a:avLst>
            <a:gd name="adj1" fmla="val 0"/>
            <a:gd name="adj2" fmla="val 10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B5AAE-6FCA-E740-A158-E17850A6CDB9}">
      <dsp:nvSpPr>
        <dsp:cNvPr id="0" name=""/>
        <dsp:cNvSpPr/>
      </dsp:nvSpPr>
      <dsp:spPr>
        <a:xfrm>
          <a:off x="3396681" y="607712"/>
          <a:ext cx="1797814" cy="255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solidFill>
                <a:srgbClr val="000000"/>
              </a:solidFill>
              <a:latin typeface="Aptos" panose="020B0004020202020204" pitchFamily="34" charset="0"/>
              <a:ea typeface="Inter" pitchFamily="34" charset="-122"/>
              <a:cs typeface="Inter" pitchFamily="34" charset="-120"/>
            </a:rPr>
            <a:t>Interquartile Range = Q3 - Q1</a:t>
          </a:r>
          <a:endParaRPr lang="en-US" sz="2000" kern="1200" dirty="0">
            <a:latin typeface="Aptos" panose="020B0004020202020204" pitchFamily="34" charset="0"/>
          </a:endParaRPr>
        </a:p>
      </dsp:txBody>
      <dsp:txXfrm>
        <a:off x="3396681" y="607712"/>
        <a:ext cx="1797814" cy="2557454"/>
      </dsp:txXfrm>
    </dsp:sp>
    <dsp:sp modelId="{5C31CE74-7E61-A74F-B2EF-FC763780A722}">
      <dsp:nvSpPr>
        <dsp:cNvPr id="0" name=""/>
        <dsp:cNvSpPr/>
      </dsp:nvSpPr>
      <dsp:spPr>
        <a:xfrm>
          <a:off x="3396681" y="0"/>
          <a:ext cx="1797814" cy="607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0000"/>
              </a:solidFill>
              <a:latin typeface="Aptos" panose="020B0004020202020204" pitchFamily="34" charset="0"/>
              <a:ea typeface="Playfair Display Bold" pitchFamily="34" charset="-122"/>
              <a:cs typeface="Playfair Display Bold" pitchFamily="34" charset="-120"/>
            </a:rPr>
            <a:t>Calculate IQR</a:t>
          </a:r>
          <a:endParaRPr lang="en-US" sz="2000" kern="1200" dirty="0">
            <a:latin typeface="Aptos" panose="020B0004020202020204" pitchFamily="34" charset="0"/>
          </a:endParaRPr>
        </a:p>
      </dsp:txBody>
      <dsp:txXfrm>
        <a:off x="3396681" y="0"/>
        <a:ext cx="1797814" cy="607712"/>
      </dsp:txXfrm>
    </dsp:sp>
    <dsp:sp modelId="{CE3BD18D-EF4D-D347-911A-6FDF4BA97687}">
      <dsp:nvSpPr>
        <dsp:cNvPr id="0" name=""/>
        <dsp:cNvSpPr/>
      </dsp:nvSpPr>
      <dsp:spPr>
        <a:xfrm>
          <a:off x="5321103" y="0"/>
          <a:ext cx="607712" cy="6077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556498-6F0C-E640-81C8-65B02FC1CFFC}">
      <dsp:nvSpPr>
        <dsp:cNvPr id="0" name=""/>
        <dsp:cNvSpPr/>
      </dsp:nvSpPr>
      <dsp:spPr>
        <a:xfrm>
          <a:off x="5381874" y="60771"/>
          <a:ext cx="486169" cy="486169"/>
        </a:xfrm>
        <a:prstGeom prst="chord">
          <a:avLst>
            <a:gd name="adj1" fmla="val 19800000"/>
            <a:gd name="adj2" fmla="val 126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88CD9E-7A60-E644-8787-C940C6ABE079}">
      <dsp:nvSpPr>
        <dsp:cNvPr id="0" name=""/>
        <dsp:cNvSpPr/>
      </dsp:nvSpPr>
      <dsp:spPr>
        <a:xfrm>
          <a:off x="6055422" y="607712"/>
          <a:ext cx="1797814" cy="255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000000"/>
              </a:solidFill>
              <a:latin typeface="Aptos" panose="020B0004020202020204" pitchFamily="34" charset="0"/>
              <a:ea typeface="Inter" pitchFamily="34" charset="-122"/>
              <a:cs typeface="Inter" pitchFamily="34" charset="-120"/>
            </a:rPr>
            <a:t>Lower threshold = Q1 - 1.5*IQR</a:t>
          </a:r>
          <a:endParaRPr lang="en-US" sz="2000" kern="1200" dirty="0">
            <a:latin typeface="Aptos" panose="020B0004020202020204" pitchFamily="34" charset="0"/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000000"/>
              </a:solidFill>
              <a:latin typeface="Aptos" panose="020B0004020202020204" pitchFamily="34" charset="0"/>
              <a:ea typeface="Inter" pitchFamily="34" charset="-122"/>
              <a:cs typeface="Inter" pitchFamily="34" charset="-120"/>
            </a:rPr>
            <a:t>Upper threshold = Q3 + 1.5*IQR</a:t>
          </a:r>
          <a:endParaRPr lang="en-US" sz="2000" kern="1200" dirty="0">
            <a:latin typeface="Aptos" panose="020B0004020202020204" pitchFamily="34" charset="0"/>
          </a:endParaRPr>
        </a:p>
      </dsp:txBody>
      <dsp:txXfrm>
        <a:off x="6055422" y="607712"/>
        <a:ext cx="1797814" cy="2557454"/>
      </dsp:txXfrm>
    </dsp:sp>
    <dsp:sp modelId="{AA060C83-6A2E-6743-952B-B607F728D6B9}">
      <dsp:nvSpPr>
        <dsp:cNvPr id="0" name=""/>
        <dsp:cNvSpPr/>
      </dsp:nvSpPr>
      <dsp:spPr>
        <a:xfrm>
          <a:off x="6055422" y="0"/>
          <a:ext cx="1797814" cy="607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0000"/>
              </a:solidFill>
              <a:latin typeface="Aptos" panose="020B0004020202020204" pitchFamily="34" charset="0"/>
              <a:ea typeface="Playfair Display Bold" pitchFamily="34" charset="-122"/>
              <a:cs typeface="Playfair Display Bold" pitchFamily="34" charset="-120"/>
            </a:rPr>
            <a:t>Set Thresholds</a:t>
          </a:r>
          <a:endParaRPr lang="en-US" sz="2000" kern="1200" dirty="0">
            <a:latin typeface="Aptos" panose="020B0004020202020204" pitchFamily="34" charset="0"/>
          </a:endParaRPr>
        </a:p>
      </dsp:txBody>
      <dsp:txXfrm>
        <a:off x="6055422" y="0"/>
        <a:ext cx="1797814" cy="607712"/>
      </dsp:txXfrm>
    </dsp:sp>
    <dsp:sp modelId="{630A9F0F-94A9-B344-9AFD-5B42A3AAA36F}">
      <dsp:nvSpPr>
        <dsp:cNvPr id="0" name=""/>
        <dsp:cNvSpPr/>
      </dsp:nvSpPr>
      <dsp:spPr>
        <a:xfrm>
          <a:off x="7979843" y="0"/>
          <a:ext cx="607712" cy="607712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184531-91D4-3946-BCA0-82A7AED7EE24}">
      <dsp:nvSpPr>
        <dsp:cNvPr id="0" name=""/>
        <dsp:cNvSpPr/>
      </dsp:nvSpPr>
      <dsp:spPr>
        <a:xfrm>
          <a:off x="8040614" y="60771"/>
          <a:ext cx="486169" cy="486169"/>
        </a:xfrm>
        <a:prstGeom prst="chord">
          <a:avLst>
            <a:gd name="adj1" fmla="val 162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1B2269-26C7-CA4E-BCE0-EB8303EB4301}">
      <dsp:nvSpPr>
        <dsp:cNvPr id="0" name=""/>
        <dsp:cNvSpPr/>
      </dsp:nvSpPr>
      <dsp:spPr>
        <a:xfrm>
          <a:off x="8714162" y="607712"/>
          <a:ext cx="1797814" cy="255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000000"/>
              </a:solidFill>
              <a:latin typeface="Aptos" panose="020B0004020202020204" pitchFamily="34" charset="0"/>
              <a:ea typeface="Inter" pitchFamily="34" charset="-122"/>
              <a:cs typeface="Inter" pitchFamily="34" charset="-120"/>
            </a:rPr>
            <a:t>Any value below the lower threshold or above the upper threshold is an outlier.</a:t>
          </a:r>
          <a:endParaRPr lang="en-US" sz="2000" kern="1200" dirty="0">
            <a:latin typeface="Aptos" panose="020B0004020202020204" pitchFamily="34" charset="0"/>
          </a:endParaRPr>
        </a:p>
      </dsp:txBody>
      <dsp:txXfrm>
        <a:off x="8714162" y="607712"/>
        <a:ext cx="1797814" cy="2557454"/>
      </dsp:txXfrm>
    </dsp:sp>
    <dsp:sp modelId="{38B99498-49ED-8544-934B-86065AB28D3E}">
      <dsp:nvSpPr>
        <dsp:cNvPr id="0" name=""/>
        <dsp:cNvSpPr/>
      </dsp:nvSpPr>
      <dsp:spPr>
        <a:xfrm>
          <a:off x="8714162" y="0"/>
          <a:ext cx="1797814" cy="6077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b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0000"/>
              </a:solidFill>
              <a:latin typeface="Aptos" panose="020B0004020202020204" pitchFamily="34" charset="0"/>
              <a:ea typeface="Playfair Display Bold" pitchFamily="34" charset="-122"/>
              <a:cs typeface="Playfair Display Bold" pitchFamily="34" charset="-120"/>
            </a:rPr>
            <a:t>Identify Outliers</a:t>
          </a:r>
          <a:endParaRPr lang="en-US" sz="2000" kern="1200" dirty="0">
            <a:latin typeface="Aptos" panose="020B0004020202020204" pitchFamily="34" charset="0"/>
          </a:endParaRPr>
        </a:p>
      </dsp:txBody>
      <dsp:txXfrm>
        <a:off x="8714162" y="0"/>
        <a:ext cx="1797814" cy="6077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15149F-8A0F-E34C-905E-09A0655B909F}">
      <dsp:nvSpPr>
        <dsp:cNvPr id="0" name=""/>
        <dsp:cNvSpPr/>
      </dsp:nvSpPr>
      <dsp:spPr>
        <a:xfrm>
          <a:off x="51" y="54231"/>
          <a:ext cx="4913783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The Problem</a:t>
          </a:r>
        </a:p>
      </dsp:txBody>
      <dsp:txXfrm>
        <a:off x="51" y="54231"/>
        <a:ext cx="4913783" cy="720000"/>
      </dsp:txXfrm>
    </dsp:sp>
    <dsp:sp modelId="{6A856ABF-4386-D946-B06B-24BBC3F7BC7C}">
      <dsp:nvSpPr>
        <dsp:cNvPr id="0" name=""/>
        <dsp:cNvSpPr/>
      </dsp:nvSpPr>
      <dsp:spPr>
        <a:xfrm>
          <a:off x="51" y="774231"/>
          <a:ext cx="4913783" cy="2745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US" sz="2500" kern="1200" dirty="0"/>
            <a:t>Dates can be written in many different formats: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500" kern="1200" dirty="0"/>
            <a:t>﻿﻿MM/DD/YYYY (US style)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500" kern="1200" dirty="0"/>
            <a:t>﻿﻿DD/MM/YYYY (European style)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500" kern="1200" dirty="0"/>
            <a:t>﻿﻿YYYY-MM-DD (ISO standard)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500" kern="1200" dirty="0"/>
            <a:t>﻿﻿"January 1, 2023" (text format)</a:t>
          </a:r>
        </a:p>
      </dsp:txBody>
      <dsp:txXfrm>
        <a:off x="51" y="774231"/>
        <a:ext cx="4913783" cy="2745000"/>
      </dsp:txXfrm>
    </dsp:sp>
    <dsp:sp modelId="{D31640A4-D279-D044-A0E2-FFB1B931954D}">
      <dsp:nvSpPr>
        <dsp:cNvPr id="0" name=""/>
        <dsp:cNvSpPr/>
      </dsp:nvSpPr>
      <dsp:spPr>
        <a:xfrm>
          <a:off x="5601764" y="54231"/>
          <a:ext cx="4913783" cy="720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01600" rIns="177800" bIns="1016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The Solution</a:t>
          </a:r>
        </a:p>
      </dsp:txBody>
      <dsp:txXfrm>
        <a:off x="5601764" y="54231"/>
        <a:ext cx="4913783" cy="720000"/>
      </dsp:txXfrm>
    </dsp:sp>
    <dsp:sp modelId="{01C21C05-6BE2-744A-831D-FE0F499970BC}">
      <dsp:nvSpPr>
        <dsp:cNvPr id="0" name=""/>
        <dsp:cNvSpPr/>
      </dsp:nvSpPr>
      <dsp:spPr>
        <a:xfrm>
          <a:off x="5601764" y="774231"/>
          <a:ext cx="4913783" cy="2745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77800" bIns="200025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500" kern="1200" dirty="0"/>
            <a:t>Convert all dates to a standard date data type that computers recognize.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dirty="0"/>
            <a:t>This allows proper sorting, filtering, and calculations with dates.</a:t>
          </a:r>
        </a:p>
      </dsp:txBody>
      <dsp:txXfrm>
        <a:off x="5601764" y="774231"/>
        <a:ext cx="4913783" cy="274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3146E-F6A3-455D-A8F7-7C094566E42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67100-4AF5-4440-9AA8-F24E6DD39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729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79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71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40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877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10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62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047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88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439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867100-4AF5-4440-9AA8-F24E6DD39EB4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548108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CF46D04F-A2E9-9037-5671-AE76970CC35D}"/>
              </a:ext>
            </a:extLst>
          </p:cNvPr>
          <p:cNvSpPr/>
          <p:nvPr userDrawn="1"/>
        </p:nvSpPr>
        <p:spPr>
          <a:xfrm>
            <a:off x="65675" y="3778845"/>
            <a:ext cx="3849574" cy="2942629"/>
          </a:xfrm>
          <a:prstGeom prst="rtTriangle">
            <a:avLst/>
          </a:prstGeom>
          <a:solidFill>
            <a:srgbClr val="0026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8C0CB8-D0C2-1404-F91A-420744DD2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4EACBD-CAF3-E652-16CC-1B0FAD472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0A456-AC01-F904-F218-7B4540D7D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8589DF-59BF-4BA7-8495-56F0F1B65344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4CB47-B3B7-6135-DE12-0C6A78EA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E3DA9-A3A9-44B9-1EE5-DEE572AFB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71BE6C-6E5B-8994-D6FC-7B0CF7008156}"/>
              </a:ext>
            </a:extLst>
          </p:cNvPr>
          <p:cNvSpPr/>
          <p:nvPr userDrawn="1"/>
        </p:nvSpPr>
        <p:spPr>
          <a:xfrm rot="2253748">
            <a:off x="-395637" y="5046769"/>
            <a:ext cx="5087528" cy="134460"/>
          </a:xfrm>
          <a:prstGeom prst="rect">
            <a:avLst/>
          </a:prstGeom>
          <a:solidFill>
            <a:srgbClr val="0026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377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228F5-7EB8-E462-7F02-DEC7DD59D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8FE9F-8043-0471-3245-103B67027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662F2-0F81-38B4-96ED-B28DF9DDA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059D3-130F-CB1C-C4BD-AB74DE5C8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01768-0D49-C454-6289-60FB4C0A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453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005EB2AA-5849-99F5-8BFB-632AC33BE750}"/>
              </a:ext>
            </a:extLst>
          </p:cNvPr>
          <p:cNvSpPr/>
          <p:nvPr userDrawn="1"/>
        </p:nvSpPr>
        <p:spPr>
          <a:xfrm>
            <a:off x="65675" y="4703350"/>
            <a:ext cx="3000849" cy="2018124"/>
          </a:xfrm>
          <a:prstGeom prst="rtTriangle">
            <a:avLst/>
          </a:prstGeom>
          <a:solidFill>
            <a:srgbClr val="0026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A21169-83DD-8851-E599-FEA45E149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1774" y="1709738"/>
            <a:ext cx="9715675" cy="23570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FA66E-E2F5-038E-BF7C-F544B7844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7242" y="4289092"/>
            <a:ext cx="9670207" cy="136907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E55D8-8CBA-9F43-B01D-D7082DC96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8589DF-59BF-4BA7-8495-56F0F1B65344}" type="datetimeFigureOut">
              <a:rPr lang="en-US" smtClean="0"/>
              <a:pPr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051CF-3BF6-AF09-6011-B52C3C683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034DF-802E-7327-8627-9511A495E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31E67B-A6F8-DF75-FF70-FDB89861438B}"/>
              </a:ext>
            </a:extLst>
          </p:cNvPr>
          <p:cNvSpPr/>
          <p:nvPr userDrawn="1"/>
        </p:nvSpPr>
        <p:spPr>
          <a:xfrm rot="2037324">
            <a:off x="-227242" y="5530392"/>
            <a:ext cx="3899903" cy="111444"/>
          </a:xfrm>
          <a:prstGeom prst="rect">
            <a:avLst/>
          </a:prstGeom>
          <a:solidFill>
            <a:srgbClr val="0026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67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70E4A-4368-4C69-3C64-37AFD71E5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0C132-4FE6-22EA-BAA6-8CA300CAE8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67368-3DE6-C552-433F-568EC0B61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D78C7-6BC7-56DC-CA02-5C90A7A9C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2F206C-92E1-28B7-AB9E-7FD2BB751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92DCA-BE48-5290-3278-3EC28D13C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019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12AE3-93B7-61C1-B756-59838E053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E1FB3-F727-DBA4-FBA9-234073858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1F2CAC-BACD-7BE3-43DD-71043AC67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B31440-2DA2-FA84-9167-5FC181DCAF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78932E-9F32-AA7A-2F1E-17F50265BE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7CD880-75C8-7990-30C3-51E10FE87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DEF02E-78D7-F804-7839-C3354BF3F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95FA79-FDE3-8906-39A3-A5C937F08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75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978E-2D2F-D341-2FA9-7D6D8ABF6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C267CD-2EC9-4F23-858C-B85DCE903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25F275-AA05-AA90-BFF9-94CFF080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E8933A-5A98-47C0-0FDC-35C9BCEA3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17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3A021B-9E90-5F87-7450-DC7257801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7CC1AD-0010-A189-0E43-BE96BA395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2B049-6B92-60D9-D26F-9C4603F93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92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D372C-E996-AF0C-1FE4-F8CE41D2C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2E048-3033-FD5E-D3EE-710DA0B00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110ED7-5C65-0E15-895B-7C830D74A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0457B-797B-C6DE-EC6A-CB73EB260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0F16C-84B6-9D3E-10C7-4B359FD7B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A5764-25FE-49B4-7825-61267D9E5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350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FA7B5-D51E-0EBA-DA75-9E1B86392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0D8D80-69D5-682D-6788-8F3A452533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C84A4-2F9F-DC4F-74C1-19F1EB3CF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980B86-C717-EA60-2269-392FD0F72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58424-657A-53FD-0817-B7752742B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5CE37-62D2-1E15-6CB6-04D76FAE4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120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B41E0-17E7-2015-B9F8-B897CA63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8C2268-93A1-B778-5028-5783DE4D4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89D27-0D85-8C7B-142A-74403B21F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06D02-609F-7F78-2288-E43B0E23B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58CFA-4B7F-0DBD-C99B-E464A43A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9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A441BA-3638-2B1C-D3CA-F862A6C030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156893"/>
            <a:ext cx="2628900" cy="502007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7DF25-5E8D-D4BD-6759-5EB82BA5A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AFB57-7D5C-F3CC-330C-934B10E41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589DF-59BF-4BA7-8495-56F0F1B6534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FCFFC-8250-D8A0-8181-3ECD823B9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CBCFC-BE45-2CEE-8C2D-480BF7B68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083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22430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5988B7-8CA8-8706-C4A7-E1290D2D7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91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97779-7EE0-B5F0-D625-DCEDCF087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04051"/>
            <a:ext cx="10515600" cy="3572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6A9E4-6456-C2F9-73BB-C32B468DEA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8589DF-59BF-4BA7-8495-56F0F1B65344}" type="datetimeFigureOut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F09A6-E403-39ED-FCDD-D2B49BE77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All Rights Reserved @Nexellence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1CF5F-1237-1539-FFB2-2128023A2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3C485-DB5A-4C7E-867A-4FFBAFD4DD2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logo of a company  AI-generated content may be incorrect.">
            <a:extLst>
              <a:ext uri="{FF2B5EF4-FFF2-40B4-BE49-F238E27FC236}">
                <a16:creationId xmlns:a16="http://schemas.microsoft.com/office/drawing/2014/main" id="{625393FF-C7FE-64BE-F32C-440050D74E51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9383" y="86258"/>
            <a:ext cx="3138446" cy="71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82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?>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?>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?>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?>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5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7.xml.rels><?xml version="1.0" encoding="UTF-8"?>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38.xml.rels><?xml version="1.0" encoding="UTF-8"?>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?>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?><Relationships xmlns="http://schemas.openxmlformats.org/package/2006/relationships"><Relationship Id="rId3" Type="http://schemas.openxmlformats.org/officeDocument/2006/relationships/hyperlink" Target="https://eramossomosyseremos.blogspot.com/2013/09/" TargetMode="External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_rels/slide46.xml.rels><?xml version="1.0" encoding="UTF-8"?>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7.xml.rels><?xml version="1.0" encoding="UTF-8"?>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8.xml.rels><?xml version="1.0" encoding="UTF-8"?>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9.xml.rels><?xml version="1.0" encoding="UTF-8"?>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?>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1.xml.rels><?xml version="1.0" encoding="UTF-8"?>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?>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54.xml.rels><?xml version="1.0" encoding="UTF-8"?>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?>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57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535" y="1196791"/>
            <a:ext cx="10442944" cy="2387600"/>
          </a:xfrm>
        </p:spPr>
        <p:txBody>
          <a:bodyPr>
            <a:normAutofit/>
          </a:bodyPr>
          <a:lstStyle/>
          <a:p>
            <a:r>
              <a:rPr lang="en-US" dirty="0"/>
              <a:t>Chapter</a:t>
            </a:r>
            <a:r>
              <a:rPr dirty="0"/>
              <a:t xml:space="preserve"> </a:t>
            </a:r>
            <a:r>
              <a:rPr lang="en-US" dirty="0"/>
              <a:t>7: Data Wrangling in Action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231758"/>
            <a:ext cx="9144000" cy="1026042"/>
          </a:xfr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ives"/>
          <p:cNvSpPr>
            <a:spLocks noGrp="1"/>
          </p:cNvSpPr>
          <p:nvPr/>
        </p:nvSpPr>
        <p:spPr>
          <a:xfrm>
            <a:off x="457200" y="228600"/>
            <a:ext cx="11354400" cy="61716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1800" b="1" dirty="0"/>
              <a:t>By the end of this chapter you will be able to:</a:t>
            </a:r>
          </a:p>
          <a:p>
            <a:r>
              <a:rPr lang="en-US" sz="1700" dirty="0"/>
              <a:t>1. Detect, evaluate, and handle missing values using listwise deletion and mean/median imputation — and explain which method is appropriate given the missingness type (MCAR vs. MNAR).</a:t>
            </a:r>
          </a:p>
          <a:p>
            <a:r>
              <a:rPr lang="en-US" sz="1700" dirty="0"/>
              <a:t>2. Apply the IQR method to detect outliers programmatically in both Python and R, and choose from four evidence-based handling strategies.</a:t>
            </a:r>
          </a:p>
          <a:p>
            <a:r>
              <a:rPr lang="en-US" sz="1700" dirty="0"/>
              <a:t>3. Standardize date formats and text inconsistencies using pd.to_datetime(), str.strip(), and regex replacement.</a:t>
            </a:r>
          </a:p>
          <a:p>
            <a:r>
              <a:rPr lang="en-US" sz="1700" dirty="0"/>
              <a:t>4. Filter, select, and reshape DataFrames using boolean indexing, .query(), and column selection.</a:t>
            </a:r>
          </a:p>
          <a:p>
            <a:r>
              <a:rPr lang="en-US" sz="1700" dirty="0"/>
              <a:t>5. Combine datasets using all four join types (inner, left, right, full) and vertical concatenation (append/bind_rows).</a:t>
            </a:r>
          </a:p>
          <a:p>
            <a:r>
              <a:rPr lang="en-US" sz="1700" dirty="0"/>
              <a:t>6. Apply the 8-step data cleaning checklist to a real messy dataset and document every decision in a cleaning log.</a:t>
            </a:r>
          </a:p>
        </p:txBody>
      </p:sp>
    </p:spTree>
    <p:extLst>
      <p:ext uri="{BB962C8B-B14F-4D97-AF65-F5344CB8AC3E}">
        <p14:creationId xmlns:p14="http://schemas.microsoft.com/office/powerpoint/2010/main" val="4053270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BF128-1D03-7907-1E69-D6875C0C5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Detecting Missing Values - R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9F2B9-F3B6-62DD-0375-374CB143E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2"/>
            <a:ext cx="10515600" cy="98758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 xml:space="preserve">In R, </a:t>
            </a:r>
            <a:r>
              <a:rPr lang="en-US" dirty="0" err="1"/>
              <a:t>is.na</a:t>
            </a:r>
            <a:r>
              <a:rPr lang="en-US" dirty="0"/>
              <a:t>() returns TRUE for missing (NA) values and FALSE otherwise</a:t>
            </a:r>
          </a:p>
          <a:p>
            <a:r>
              <a:rPr lang="en-US" dirty="0"/>
              <a:t>Summing the result counts the total NAs, since TRUE = 1 and FALSE = 0 in 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0F0EFA-25D6-2E6F-AC17-B2C8D6D2DDBE}"/>
              </a:ext>
            </a:extLst>
          </p:cNvPr>
          <p:cNvSpPr txBox="1"/>
          <p:nvPr/>
        </p:nvSpPr>
        <p:spPr>
          <a:xfrm>
            <a:off x="981075" y="3611405"/>
            <a:ext cx="72223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Create a sample vector of scores with some NAs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scores &lt;- c(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88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92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NA, 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75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90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NA, 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85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Check which elements are NA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is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.na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(scores)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[1] FALSE FALSE TRUE FALSE FALSE TRUE FALSE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Count how many NAs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sum(</a:t>
            </a:r>
            <a:r>
              <a:rPr lang="en-U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is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.na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(scores))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[1] 2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788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6E4B-F1B9-D771-A82D-C8527A87D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Missing Values -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70507-2147-B2ED-62B7-ECCB9332D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0" y="2604051"/>
            <a:ext cx="4495800" cy="3572911"/>
          </a:xfrm>
        </p:spPr>
        <p:txBody>
          <a:bodyPr/>
          <a:lstStyle/>
          <a:p>
            <a:r>
              <a:rPr lang="en-US" dirty="0"/>
              <a:t xml:space="preserve">In Python’s pandas, </a:t>
            </a:r>
            <a:r>
              <a:rPr lang="en-US" dirty="0" err="1"/>
              <a:t>isnull</a:t>
            </a:r>
            <a:r>
              <a:rPr lang="en-US" dirty="0"/>
              <a:t xml:space="preserve">() (or equivalently </a:t>
            </a:r>
            <a:r>
              <a:rPr lang="en-US" dirty="0" err="1"/>
              <a:t>isna</a:t>
            </a:r>
            <a:r>
              <a:rPr lang="en-US" dirty="0"/>
              <a:t xml:space="preserve">()) returns a Series of </a:t>
            </a:r>
            <a:r>
              <a:rPr lang="en-US" dirty="0" err="1"/>
              <a:t>booleans</a:t>
            </a:r>
            <a:r>
              <a:rPr lang="en-US" dirty="0"/>
              <a:t xml:space="preserve"> indicating missing values. </a:t>
            </a:r>
          </a:p>
          <a:p>
            <a:r>
              <a:rPr lang="en-US" dirty="0"/>
              <a:t xml:space="preserve">We then use .sum() to count the True values.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50543D-A242-7BA0-D48A-9F8A69455C3D}"/>
              </a:ext>
            </a:extLst>
          </p:cNvPr>
          <p:cNvSpPr txBox="1"/>
          <p:nvPr/>
        </p:nvSpPr>
        <p:spPr>
          <a:xfrm>
            <a:off x="488158" y="2210574"/>
            <a:ext cx="10208417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pandas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pd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# Create a pandas Series of scores with some </a:t>
            </a:r>
            <a:r>
              <a:rPr lang="en-US" sz="16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NaN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values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scores =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pd.</a:t>
            </a:r>
            <a:r>
              <a:rPr lang="en-US" sz="16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Series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([</a:t>
            </a:r>
            <a:r>
              <a:rPr lang="en-US" sz="16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88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6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92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None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6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75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6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90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6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None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6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85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])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Check which entries are null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scores.isnull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0    False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1    False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2     True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3    False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4    False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5     True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6    False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# </a:t>
            </a:r>
            <a:r>
              <a:rPr lang="en-US" sz="16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dtype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bool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Count how many null values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scores.isnull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().sum()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2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886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A9B09-111F-1D17-8714-5909EA809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Missing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57F5C-EA19-100A-307A-46282E3AC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Listwise deletion (complete-case analysis): removes any row containing at least one missing value. Simple and guaranteed complete data — but valid only if data is MCAR (Missing Completely At Random).</a:t>
            </a:r>
          </a:p>
          <a:p>
            <a:r>
              <a:rPr lang="en-US" dirty="0"/>
              <a:t>Advanced: dropna(thresh=k) keeps rows with at least k non-null values — useful when you can tolerate some missingness. dropna(subset=[’col’]) targets specific columns only.</a:t>
            </a:r>
          </a:p>
          <a:p>
            <a:r>
              <a:rPr lang="en-US" dirty="0"/>
              <a:t>Simple and guarantees no missing values remain</a:t>
            </a:r>
          </a:p>
          <a:p>
            <a:r>
              <a:rPr lang="en-US" dirty="0"/>
              <a:t>Downside: if lots of data is missing, you lose a lot of cases</a:t>
            </a:r>
          </a:p>
          <a:p>
            <a:r>
              <a:rPr lang="en-US" dirty="0"/>
              <a:t>Critical: if missingness is MNAR (e.g., low scorers more likely to skip), listwise deletion inflates the apparent average. Always check whether completers differ from non-completers before deleting rows.</a:t>
            </a:r>
          </a:p>
        </p:txBody>
      </p:sp>
    </p:spTree>
    <p:extLst>
      <p:ext uri="{BB962C8B-B14F-4D97-AF65-F5344CB8AC3E}">
        <p14:creationId xmlns:p14="http://schemas.microsoft.com/office/powerpoint/2010/main" val="4182564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08FDD-67EF-FAFB-8D18-1F8ADEB5B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Ways to Handle Missing 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653436-39F3-58AE-AE02-81044A04BA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556086"/>
              </p:ext>
            </p:extLst>
          </p:nvPr>
        </p:nvGraphicFramePr>
        <p:xfrm>
          <a:off x="838200" y="2603500"/>
          <a:ext cx="10515600" cy="3573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5852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247D7-3A48-7872-5755-499A4F57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Missing Data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64B04-15D9-C44A-7066-CC96A3CDF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 xml:space="preserve">The </a:t>
            </a:r>
            <a:r>
              <a:rPr lang="en-US" dirty="0" err="1"/>
              <a:t>drop_na</a:t>
            </a:r>
            <a:r>
              <a:rPr lang="en-US" dirty="0"/>
              <a:t xml:space="preserve"> function in </a:t>
            </a:r>
            <a:r>
              <a:rPr lang="en-US" dirty="0" err="1"/>
              <a:t>tidyr</a:t>
            </a:r>
            <a:r>
              <a:rPr lang="en-US" dirty="0"/>
              <a:t xml:space="preserve"> package removes any rows with NA values.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71BCC3-3417-6629-D7C7-9F02B8F50C25}"/>
              </a:ext>
            </a:extLst>
          </p:cNvPr>
          <p:cNvSpPr txBox="1"/>
          <p:nvPr/>
        </p:nvSpPr>
        <p:spPr>
          <a:xfrm>
            <a:off x="838200" y="3814555"/>
            <a:ext cx="8720138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Install.packages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("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tidyr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")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# If you don’t already installed it </a:t>
            </a: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library(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tidyr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# Suppose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is a data frame with some NAs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clean_df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&lt;-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drop_na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# This will drop any rows of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that contain NA in any column.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648DBE-FCF4-54B2-95F8-86D3BDF1953E}"/>
              </a:ext>
            </a:extLst>
          </p:cNvPr>
          <p:cNvSpPr txBox="1"/>
          <p:nvPr/>
        </p:nvSpPr>
        <p:spPr>
          <a:xfrm>
            <a:off x="838200" y="5987018"/>
            <a:ext cx="872013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clean_df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&lt;-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na.omit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19014D-CE41-3A8A-7433-48E43827B091}"/>
              </a:ext>
            </a:extLst>
          </p:cNvPr>
          <p:cNvSpPr txBox="1"/>
          <p:nvPr/>
        </p:nvSpPr>
        <p:spPr>
          <a:xfrm>
            <a:off x="838200" y="3450501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0EAB1D-F266-6CD4-B371-826A8BB885B7}"/>
              </a:ext>
            </a:extLst>
          </p:cNvPr>
          <p:cNvSpPr txBox="1"/>
          <p:nvPr/>
        </p:nvSpPr>
        <p:spPr>
          <a:xfrm>
            <a:off x="838199" y="5617686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 2</a:t>
            </a:r>
          </a:p>
        </p:txBody>
      </p:sp>
    </p:spTree>
    <p:extLst>
      <p:ext uri="{BB962C8B-B14F-4D97-AF65-F5344CB8AC3E}">
        <p14:creationId xmlns:p14="http://schemas.microsoft.com/office/powerpoint/2010/main" val="4133606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298EA-4CDB-53FF-5D0B-7ED8227F2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Missing Data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7561B-22F9-F043-0B2E-223AB7A7D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 xml:space="preserve">Pandas provides the </a:t>
            </a:r>
            <a:r>
              <a:rPr lang="en-US" dirty="0" err="1"/>
              <a:t>dropna</a:t>
            </a:r>
            <a:r>
              <a:rPr lang="en-US" dirty="0"/>
              <a:t xml:space="preserve">() method for </a:t>
            </a:r>
            <a:r>
              <a:rPr lang="en-US" dirty="0" err="1"/>
              <a:t>DataFrames</a:t>
            </a:r>
            <a:r>
              <a:rPr lang="en-US" dirty="0"/>
              <a:t>.</a:t>
            </a:r>
          </a:p>
          <a:p>
            <a:r>
              <a:rPr lang="en-US" dirty="0" err="1"/>
              <a:t>df.dropna</a:t>
            </a:r>
            <a:r>
              <a:rPr lang="en-US" dirty="0"/>
              <a:t>(how='all') would drop only rows that are completely empty</a:t>
            </a:r>
          </a:p>
          <a:p>
            <a:r>
              <a:rPr lang="en-US" dirty="0" err="1"/>
              <a:t>df.dropna</a:t>
            </a:r>
            <a:r>
              <a:rPr lang="en-US" dirty="0"/>
              <a:t xml:space="preserve">(subset=['col1','col2']) would drop rows missing data in specific columns of interest.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C55DAF-7DD2-2EA2-FF8A-0542DD9119CC}"/>
              </a:ext>
            </a:extLst>
          </p:cNvPr>
          <p:cNvSpPr txBox="1"/>
          <p:nvPr/>
        </p:nvSpPr>
        <p:spPr>
          <a:xfrm>
            <a:off x="838200" y="5057775"/>
            <a:ext cx="83510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# Assume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is a pandas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DataFrame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with some missing values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clean_df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df.dropna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# By default, this drops any row with any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NaN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in it.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728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EBCAE-A273-233C-713D-9FFB6AC6F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Do It!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8EB57-6B8E-E186-FE2B-EC4605158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 xml:space="preserve">Read the </a:t>
            </a:r>
            <a:r>
              <a:rPr lang="en-US" dirty="0" err="1"/>
              <a:t>students_scores.csv</a:t>
            </a:r>
            <a:r>
              <a:rPr lang="en-US" dirty="0"/>
              <a:t xml:space="preserve"> data</a:t>
            </a:r>
          </a:p>
          <a:p>
            <a:r>
              <a:rPr lang="en-US" dirty="0"/>
              <a:t>Check the dimensions of the data</a:t>
            </a:r>
          </a:p>
          <a:p>
            <a:r>
              <a:rPr lang="en-US" dirty="0"/>
              <a:t>Remove missing students</a:t>
            </a:r>
          </a:p>
          <a:p>
            <a:r>
              <a:rPr lang="en-US" dirty="0"/>
              <a:t>Check the dimensions again</a:t>
            </a:r>
          </a:p>
          <a:p>
            <a:r>
              <a:rPr lang="en-US" dirty="0"/>
              <a:t>How many rows did you lose?</a:t>
            </a:r>
          </a:p>
        </p:txBody>
      </p:sp>
    </p:spTree>
    <p:extLst>
      <p:ext uri="{BB962C8B-B14F-4D97-AF65-F5344CB8AC3E}">
        <p14:creationId xmlns:p14="http://schemas.microsoft.com/office/powerpoint/2010/main" val="2374112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1AE60-0A31-23AF-98CC-E0D9556FD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</a:t>
            </a:r>
          </a:p>
        </p:txBody>
      </p:sp>
      <p:pic>
        <p:nvPicPr>
          <p:cNvPr id="5" name="Content Placeholder 4" descr="A close-up of a computer code  AI-generated content may be incorrect.">
            <a:extLst>
              <a:ext uri="{FF2B5EF4-FFF2-40B4-BE49-F238E27FC236}">
                <a16:creationId xmlns:a16="http://schemas.microsoft.com/office/drawing/2014/main" id="{BDB0E508-0011-30CC-E176-971D9F51A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3104674"/>
            <a:ext cx="4660900" cy="16256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5F9D3C-6A00-B3C5-37A9-8BA13ED76611}"/>
              </a:ext>
            </a:extLst>
          </p:cNvPr>
          <p:cNvSpPr txBox="1"/>
          <p:nvPr/>
        </p:nvSpPr>
        <p:spPr>
          <a:xfrm>
            <a:off x="838200" y="3178810"/>
            <a:ext cx="61007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df</a:t>
            </a:r>
            <a:r>
              <a:rPr lang="en-US" dirty="0"/>
              <a:t xml:space="preserve"> &lt;- </a:t>
            </a:r>
            <a:r>
              <a:rPr lang="en-US" dirty="0" err="1"/>
              <a:t>read.csv</a:t>
            </a:r>
            <a:r>
              <a:rPr lang="en-US" dirty="0"/>
              <a:t>("</a:t>
            </a:r>
            <a:r>
              <a:rPr lang="en-US" dirty="0" err="1"/>
              <a:t>students_scores.csv</a:t>
            </a:r>
            <a:r>
              <a:rPr lang="en-US" dirty="0"/>
              <a:t>")</a:t>
            </a:r>
          </a:p>
          <a:p>
            <a:r>
              <a:rPr lang="en-US" dirty="0"/>
              <a:t>dim(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df_clean</a:t>
            </a:r>
            <a:r>
              <a:rPr lang="en-US" dirty="0"/>
              <a:t xml:space="preserve"> &lt;- </a:t>
            </a:r>
            <a:r>
              <a:rPr lang="en-US" dirty="0" err="1"/>
              <a:t>na.omit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r>
              <a:rPr lang="en-US" dirty="0"/>
              <a:t>dim(</a:t>
            </a:r>
            <a:r>
              <a:rPr lang="en-US" dirty="0" err="1"/>
              <a:t>df_clean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62110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2ECCC-7CBC-6CB7-96E1-F75F3CF64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0AFC13-56A1-7D64-8022-695E001B5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79988" y="2604051"/>
            <a:ext cx="6832600" cy="411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B12896-CBA9-723F-E083-DCE5562FCD29}"/>
              </a:ext>
            </a:extLst>
          </p:cNvPr>
          <p:cNvSpPr txBox="1"/>
          <p:nvPr/>
        </p:nvSpPr>
        <p:spPr>
          <a:xfrm>
            <a:off x="592931" y="2828835"/>
            <a:ext cx="61007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pandas as pd</a:t>
            </a:r>
          </a:p>
          <a:p>
            <a:endParaRPr lang="en-US" dirty="0"/>
          </a:p>
          <a:p>
            <a:r>
              <a:rPr lang="en-US" dirty="0" err="1"/>
              <a:t>df</a:t>
            </a:r>
            <a:r>
              <a:rPr lang="en-US" dirty="0"/>
              <a:t xml:space="preserve"> = </a:t>
            </a:r>
            <a:r>
              <a:rPr lang="en-US" dirty="0" err="1"/>
              <a:t>pd.read_csv</a:t>
            </a:r>
            <a:r>
              <a:rPr lang="en-US" dirty="0"/>
              <a:t>("</a:t>
            </a:r>
            <a:r>
              <a:rPr lang="en-US" dirty="0" err="1"/>
              <a:t>students_scores.csv</a:t>
            </a:r>
            <a:r>
              <a:rPr lang="en-US" dirty="0"/>
              <a:t>")</a:t>
            </a:r>
          </a:p>
          <a:p>
            <a:r>
              <a:rPr lang="en-US" dirty="0" err="1"/>
              <a:t>df.shape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df_clean</a:t>
            </a:r>
            <a:r>
              <a:rPr lang="en-US" dirty="0"/>
              <a:t xml:space="preserve"> = </a:t>
            </a:r>
            <a:r>
              <a:rPr lang="en-US" dirty="0" err="1"/>
              <a:t>df.dropna</a:t>
            </a:r>
            <a:r>
              <a:rPr lang="en-US" dirty="0"/>
              <a:t>()</a:t>
            </a:r>
          </a:p>
          <a:p>
            <a:r>
              <a:rPr lang="en-US" dirty="0" err="1"/>
              <a:t>df_clean.shape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174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F5B7E-CE06-20DC-026F-48BFACECD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Imputing Missing Data (Filling in the Blanks)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3F647-BAEC-BE40-C1E1-97ABCD79B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Imputation</a:t>
            </a:r>
            <a:r>
              <a:rPr lang="en-US" dirty="0"/>
              <a:t>replaces missing values with estimates — but every method makes assumptions. Mean imputation reduces variance and inflates correlations. Choose method based on why data is missing (MCAR/MAR/MNAR).</a:t>
            </a:r>
          </a:p>
          <a:p>
            <a:r>
              <a:rPr lang="en-US" dirty="0"/>
              <a:t>Strategies from simple to advanced:</a:t>
            </a:r>
          </a:p>
          <a:p>
            <a:pPr lvl="1"/>
            <a:r>
              <a:rPr lang="en-US" dirty="0"/>
              <a:t>Use a static value (e.g., 0 or “Unknown”)</a:t>
            </a:r>
          </a:p>
          <a:p>
            <a:pPr lvl="1"/>
            <a:r>
              <a:rPr lang="en-US" dirty="0"/>
              <a:t>Fill with the mean or median (for numeric data)</a:t>
            </a:r>
          </a:p>
          <a:p>
            <a:pPr lvl="1"/>
            <a:r>
              <a:rPr lang="en-US" dirty="0"/>
              <a:t>For time-series: use forward fill (last value) or backward fill (next value)</a:t>
            </a:r>
          </a:p>
          <a:p>
            <a:r>
              <a:rPr lang="en-US" dirty="0"/>
              <a:t>MCAR data: mean/median imputation is defensible. MAR data: regression imputation or KNN imputation (fill with average of k nearest neighbors). MNAR data: no simple fix — document and report the limitation.</a:t>
            </a:r>
          </a:p>
          <a:p>
            <a:r>
              <a:rPr lang="en-US" dirty="0"/>
              <a:t>Mean imputation warning: replacing 20% of a variable with its mean artificially shrinks the standard deviation and inflates correlations with other variables. Always report the imputation method and percentage imputed.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892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1B4AD-9830-D5E7-3DA6-ADB4F29C7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175"/>
            <a:ext cx="10515600" cy="1325563"/>
          </a:xfrm>
        </p:spPr>
        <p:txBody>
          <a:bodyPr/>
          <a:lstStyle/>
          <a:p>
            <a:r>
              <a:rPr lang="en-US" dirty="0"/>
              <a:t>Let’s Practice with 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50F260-E354-4216-0E2E-E48BC30CC212}"/>
              </a:ext>
            </a:extLst>
          </p:cNvPr>
          <p:cNvSpPr txBox="1"/>
          <p:nvPr/>
        </p:nvSpPr>
        <p:spPr>
          <a:xfrm>
            <a:off x="838200" y="2224638"/>
            <a:ext cx="11194257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scores &lt;- c(</a:t>
            </a:r>
            <a:r>
              <a:rPr lang="en-US" dirty="0">
                <a:solidFill>
                  <a:srgbClr val="00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88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dirty="0">
                <a:solidFill>
                  <a:srgbClr val="00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92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NA, </a:t>
            </a:r>
            <a:r>
              <a:rPr lang="en-US" dirty="0">
                <a:solidFill>
                  <a:srgbClr val="00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75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dirty="0">
                <a:solidFill>
                  <a:srgbClr val="00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90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NA, </a:t>
            </a:r>
            <a:r>
              <a:rPr lang="en-US" dirty="0">
                <a:solidFill>
                  <a:srgbClr val="00666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85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1800" dirty="0">
              <a:solidFill>
                <a:srgbClr val="008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Calculate mean of scores, excluding NA (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na.rm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TRUE to remove NAs in calculation)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mean_score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&lt;- mean(scores,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na.rm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TRUE)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mean_score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[1] 86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Replace NA values with the mean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scores_filled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&lt;-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ifelse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is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.na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(scores),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mean_score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scores)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scores_filled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[1] 88.0 92.0 86.0 75.0 90.0 86.0 85.0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0D7067-91FE-5B95-2552-C8AF31518F20}"/>
              </a:ext>
            </a:extLst>
          </p:cNvPr>
          <p:cNvSpPr txBox="1"/>
          <p:nvPr/>
        </p:nvSpPr>
        <p:spPr>
          <a:xfrm>
            <a:off x="838200" y="1855306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7B716E-FB7B-DC82-E4FB-9E676E118714}"/>
              </a:ext>
            </a:extLst>
          </p:cNvPr>
          <p:cNvSpPr txBox="1"/>
          <p:nvPr/>
        </p:nvSpPr>
        <p:spPr>
          <a:xfrm>
            <a:off x="838200" y="5978659"/>
            <a:ext cx="610076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library(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tidyr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scores_filled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&lt;-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replace_na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(scores,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mean_score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92233B-5DBC-BF56-1064-13DD55A74039}"/>
              </a:ext>
            </a:extLst>
          </p:cNvPr>
          <p:cNvSpPr txBox="1"/>
          <p:nvPr/>
        </p:nvSpPr>
        <p:spPr>
          <a:xfrm>
            <a:off x="838200" y="5609327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 2</a:t>
            </a:r>
          </a:p>
        </p:txBody>
      </p:sp>
    </p:spTree>
    <p:extLst>
      <p:ext uri="{BB962C8B-B14F-4D97-AF65-F5344CB8AC3E}">
        <p14:creationId xmlns:p14="http://schemas.microsoft.com/office/powerpoint/2010/main" val="2093848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7058B-7B9C-B08C-CD50-96BF63CB0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0475"/>
            <a:ext cx="10515600" cy="1325563"/>
          </a:xfrm>
        </p:spPr>
        <p:txBody>
          <a:bodyPr/>
          <a:lstStyle/>
          <a:p>
            <a:r>
              <a:rPr lang="en-US" dirty="0"/>
              <a:t>Let’s Practice with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8FF39-477C-7E6F-2FDC-4045CC41CB18}"/>
              </a:ext>
            </a:extLst>
          </p:cNvPr>
          <p:cNvSpPr txBox="1"/>
          <p:nvPr/>
        </p:nvSpPr>
        <p:spPr>
          <a:xfrm>
            <a:off x="838200" y="1685405"/>
            <a:ext cx="893683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scores = </a:t>
            </a:r>
            <a:r>
              <a:rPr lang="en-US" dirty="0" err="1"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pd.Series</a:t>
            </a:r>
            <a:r>
              <a:rPr lang="en-US" dirty="0"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([88, 92, None, 75, 90, None, 85])</a:t>
            </a: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# Calculate mean of the scores (ignoring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NaN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by default)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mean_score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scores.mean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mean_score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86.0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# Fill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NaN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values with the mean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scores_filled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scores.fillna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mean_score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scores_filled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0    88.0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1    92.0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2    86.0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3    75.0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4    90.0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5    86.0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6    85.0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#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dtype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float64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165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CF1D7-7E65-697B-A549-9A463F4FD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and Handling Outliers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F57F87F7-D993-28AF-CA73-F218DB19DC8B}"/>
              </a:ext>
            </a:extLst>
          </p:cNvPr>
          <p:cNvSpPr/>
          <p:nvPr/>
        </p:nvSpPr>
        <p:spPr>
          <a:xfrm>
            <a:off x="838200" y="2574627"/>
            <a:ext cx="3054053" cy="2009081"/>
          </a:xfrm>
          <a:prstGeom prst="roundRect">
            <a:avLst>
              <a:gd name="adj" fmla="val 3952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7D57E0F-1F73-732E-ABCF-73393870CE7A}"/>
              </a:ext>
            </a:extLst>
          </p:cNvPr>
          <p:cNvSpPr/>
          <p:nvPr/>
        </p:nvSpPr>
        <p:spPr>
          <a:xfrm>
            <a:off x="1033562" y="2769988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What Are Outliers?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F38FC7-FA43-FFC5-2054-DD103EF9B776}"/>
              </a:ext>
            </a:extLst>
          </p:cNvPr>
          <p:cNvSpPr/>
          <p:nvPr/>
        </p:nvSpPr>
        <p:spPr>
          <a:xfrm>
            <a:off x="1033562" y="3178670"/>
            <a:ext cx="266332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Values that deviate markedly from the rest of the distribution. Important: outliers are not inherently wrong — they may be legitimate extreme values (record-breaking athlete), data errors (typo), or evidence of a completely different process.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26C2E1F-8938-6CE6-F2EB-12438A04D873}"/>
              </a:ext>
            </a:extLst>
          </p:cNvPr>
          <p:cNvSpPr/>
          <p:nvPr/>
        </p:nvSpPr>
        <p:spPr>
          <a:xfrm>
            <a:off x="4081264" y="2574627"/>
            <a:ext cx="3054053" cy="2009081"/>
          </a:xfrm>
          <a:prstGeom prst="roundRect">
            <a:avLst>
              <a:gd name="adj" fmla="val 3952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D23080A-77F7-8919-A6F9-83CC571DE317}"/>
              </a:ext>
            </a:extLst>
          </p:cNvPr>
          <p:cNvSpPr/>
          <p:nvPr/>
        </p:nvSpPr>
        <p:spPr>
          <a:xfrm>
            <a:off x="4276626" y="2769988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Examples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C39D09C-0501-7C43-24BE-2BE50D546820}"/>
              </a:ext>
            </a:extLst>
          </p:cNvPr>
          <p:cNvSpPr/>
          <p:nvPr/>
        </p:nvSpPr>
        <p:spPr>
          <a:xfrm>
            <a:off x="4276626" y="3178670"/>
            <a:ext cx="266332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A student's height recorded as 300 cm or a survey response of "50" on a scale of 1-5.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D29B2D1-864B-E3CE-67D6-B98BBC11BA72}"/>
              </a:ext>
            </a:extLst>
          </p:cNvPr>
          <p:cNvSpPr/>
          <p:nvPr/>
        </p:nvSpPr>
        <p:spPr>
          <a:xfrm>
            <a:off x="838200" y="4772719"/>
            <a:ext cx="6297018" cy="1404243"/>
          </a:xfrm>
          <a:prstGeom prst="roundRect">
            <a:avLst>
              <a:gd name="adj" fmla="val 5654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7D9755F-1B0A-0CE9-2B36-DD855BF4EF32}"/>
              </a:ext>
            </a:extLst>
          </p:cNvPr>
          <p:cNvSpPr/>
          <p:nvPr/>
        </p:nvSpPr>
        <p:spPr>
          <a:xfrm>
            <a:off x="1033562" y="4968080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Why They Matter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5103C39-1E5A-A5B0-5D3D-D9B527FDADCB}"/>
              </a:ext>
            </a:extLst>
          </p:cNvPr>
          <p:cNvSpPr/>
          <p:nvPr/>
        </p:nvSpPr>
        <p:spPr>
          <a:xfrm>
            <a:off x="1033562" y="5376763"/>
            <a:ext cx="59062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Effect on statistics: a single outlier can shift the mean by several standard deviations while leaving the median unchanged. This is why comparing mean and median is an outlier diagnostic — divergence signals potential outliers.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1745A18A-273A-3042-AD3F-886806605CB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3924" y="1514473"/>
            <a:ext cx="3419475" cy="51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821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410FF-8043-AFA6-A0B5-A79F684E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Counts as an Outlier? – The IQR Method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D9EE7CA-C694-6144-C4A6-AC8BAD53ED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8237094"/>
              </p:ext>
            </p:extLst>
          </p:nvPr>
        </p:nvGraphicFramePr>
        <p:xfrm>
          <a:off x="838200" y="2603500"/>
          <a:ext cx="10515600" cy="3573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268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7D2A2-6A2E-7116-1A3E-9C55E04C1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2042"/>
            <a:ext cx="10515600" cy="1325563"/>
          </a:xfrm>
        </p:spPr>
        <p:txBody>
          <a:bodyPr/>
          <a:lstStyle/>
          <a:p>
            <a:r>
              <a:rPr lang="en-US" dirty="0"/>
              <a:t>Let’s Practice with 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BE39DF-138F-2E96-E50F-6661F22BB1E2}"/>
              </a:ext>
            </a:extLst>
          </p:cNvPr>
          <p:cNvSpPr txBox="1"/>
          <p:nvPr/>
        </p:nvSpPr>
        <p:spPr>
          <a:xfrm>
            <a:off x="207169" y="1367605"/>
            <a:ext cx="9636919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Sample data: homework minutes for a class of students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&lt;- c(</a:t>
            </a:r>
            <a:r>
              <a:rPr lang="en-US" sz="16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120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6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90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6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100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6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95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6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110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6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105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6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115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6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300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summary(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# Min. 1st Qu.  Median    Mean 3rd Qu.    Max. 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# 90    95      105      129.4   115     300 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Calculate Q1, Q3, and IQR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Q1 &lt;- quantile(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6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0.25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Q3 &lt;- quantile(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6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0.75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IQR_val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&lt;- IQR(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) 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which is Q3 - Q1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Q1; Q3;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IQR_val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Q1 = 95, Q3 = 115, IQR = 20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Determine the outlier thresholds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lower_thresh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&lt;- Q1 - </a:t>
            </a:r>
            <a:r>
              <a:rPr lang="en-US" sz="16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1.5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IQR_val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95 - 30 = 65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upper_thresh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&lt;- Q3 + </a:t>
            </a:r>
            <a:r>
              <a:rPr lang="en-US" sz="16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1.5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*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IQR_val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 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115 + 30 = 145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lower_thresh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upper_thresh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# </a:t>
            </a:r>
            <a:r>
              <a:rPr lang="en-US" sz="16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lower_thresh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65, </a:t>
            </a:r>
            <a:r>
              <a:rPr lang="en-US" sz="16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upper_thresh</a:t>
            </a: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145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Find values outside these thresholds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lower_thresh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|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&gt; </a:t>
            </a:r>
            <a:r>
              <a:rPr lang="en-US" sz="1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upper_thresh</a:t>
            </a:r>
            <a:r>
              <a:rPr lang="en-US" sz="1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[1] 300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5A384F-1C74-4583-FAF6-F422059869FD}"/>
              </a:ext>
            </a:extLst>
          </p:cNvPr>
          <p:cNvSpPr txBox="1"/>
          <p:nvPr/>
        </p:nvSpPr>
        <p:spPr>
          <a:xfrm>
            <a:off x="6943725" y="2339304"/>
            <a:ext cx="482917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 the example, Q1 = 95 and Q3 = 115, so the IQR (interquartile range) is 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Outlier thresholds: below 65 or above 145 minutes (using 1.5 × IQR rule)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Most values fall within 65–145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One value, 300 minutes, is flagged as an outlier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This could be a data entry error or a very unusual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40433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4724-B8AC-0140-85ED-463E610C4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Practice with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138906-45AB-75D4-3C62-C1DFB25EE098}"/>
              </a:ext>
            </a:extLst>
          </p:cNvPr>
          <p:cNvSpPr txBox="1"/>
          <p:nvPr/>
        </p:nvSpPr>
        <p:spPr>
          <a:xfrm>
            <a:off x="838200" y="2725178"/>
            <a:ext cx="1084897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import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numpy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np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np.array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([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120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90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100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95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110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105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115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300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Q1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np.percentile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25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Q3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np.percentile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75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IQR_val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Q3 - Q1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lower_thresh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Q1 - 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1.5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*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IQR_val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upper_thresh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Q3 + 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1.5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*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IQR_val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outliers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lower_thresh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 |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&gt;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upper_thresh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)]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(Q1, Q3,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IQR_val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lower_thresh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upper_thresh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outliers)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95.0 115.0 20.0 65.0 145.0 [300]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383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BB447-6963-0793-D9CB-6FEA317CB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692" y="482456"/>
            <a:ext cx="10515600" cy="1325563"/>
          </a:xfrm>
        </p:spPr>
        <p:txBody>
          <a:bodyPr/>
          <a:lstStyle/>
          <a:p>
            <a:r>
              <a:rPr lang="en-US" dirty="0"/>
              <a:t>Handling Outliers: Four Strategies</a:t>
            </a:r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013DA165-05B2-25CC-4C22-3322B45CA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69" y="2177410"/>
            <a:ext cx="413246" cy="413246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1441BFE3-E2E1-4F6D-7852-E09334924553}"/>
              </a:ext>
            </a:extLst>
          </p:cNvPr>
          <p:cNvSpPr/>
          <p:nvPr/>
        </p:nvSpPr>
        <p:spPr>
          <a:xfrm>
            <a:off x="1128613" y="2246665"/>
            <a:ext cx="1437978" cy="258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Investigate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51CB2727-13BE-689E-D80B-77D9021B4374}"/>
              </a:ext>
            </a:extLst>
          </p:cNvPr>
          <p:cNvSpPr/>
          <p:nvPr/>
        </p:nvSpPr>
        <p:spPr>
          <a:xfrm>
            <a:off x="1128612" y="2604051"/>
            <a:ext cx="1644601" cy="1322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Always investigate first: compare the outlier to the source data or domain knowledge. Is Age=300 physically impossible? Is Sales=$50M plausible given other context? The answer determines the correct strategy.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C49C371D-CD56-CDD5-875A-31B4FC330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781" y="2177410"/>
            <a:ext cx="413246" cy="413246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6A4C50D4-3773-E008-2008-5BD8E678336F}"/>
              </a:ext>
            </a:extLst>
          </p:cNvPr>
          <p:cNvSpPr/>
          <p:nvPr/>
        </p:nvSpPr>
        <p:spPr>
          <a:xfrm>
            <a:off x="3680325" y="2246665"/>
            <a:ext cx="1437978" cy="258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Remove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4651B3E-16A6-8C32-670A-07B9A0E78AEF}"/>
              </a:ext>
            </a:extLst>
          </p:cNvPr>
          <p:cNvSpPr/>
          <p:nvPr/>
        </p:nvSpPr>
        <p:spPr>
          <a:xfrm>
            <a:off x="3680325" y="2604051"/>
            <a:ext cx="1437978" cy="105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Remove only if confirmed data errors. Removing legitimate extreme values biases your analysis — the very student with 300 minutes of homework is the most interesting data point.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6FAEB2CF-65B7-E88E-2C2A-AEE03B25D7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6870" y="2177410"/>
            <a:ext cx="413246" cy="413246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BA2E85BE-F24A-F922-0E66-61B3A9E8212C}"/>
              </a:ext>
            </a:extLst>
          </p:cNvPr>
          <p:cNvSpPr/>
          <p:nvPr/>
        </p:nvSpPr>
        <p:spPr>
          <a:xfrm>
            <a:off x="6017722" y="2246665"/>
            <a:ext cx="1437978" cy="258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Replace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F017D058-FEE2-FCB8-9B53-257920CE8A0A}"/>
              </a:ext>
            </a:extLst>
          </p:cNvPr>
          <p:cNvSpPr/>
          <p:nvPr/>
        </p:nvSpPr>
        <p:spPr>
          <a:xfrm>
            <a:off x="6017722" y="2604051"/>
            <a:ext cx="1597516" cy="105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Winsorizing (capping): replace values above the 95th percentile with the 95th percentile value instead of removing them. Preserves the observation while limiting its influence: df["col"].clip(upper=df["col"].quantile(0.95))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22817CB9-CC7D-FBD0-0FF1-DCCDF03481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9968" y="4784581"/>
            <a:ext cx="413246" cy="413246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B70A8EE8-E74A-90C2-C5B8-DB3A6A4CC5EB}"/>
              </a:ext>
            </a:extLst>
          </p:cNvPr>
          <p:cNvSpPr/>
          <p:nvPr/>
        </p:nvSpPr>
        <p:spPr>
          <a:xfrm>
            <a:off x="2991227" y="4784581"/>
            <a:ext cx="2614712" cy="7747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00"/>
              </a:lnSpc>
            </a:pPr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Keep but Use Robust Methods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965DA078-A745-A74C-B27E-79A30A9591A7}"/>
              </a:ext>
            </a:extLst>
          </p:cNvPr>
          <p:cNvSpPr/>
          <p:nvPr/>
        </p:nvSpPr>
        <p:spPr>
          <a:xfrm>
            <a:off x="2991228" y="5535910"/>
            <a:ext cx="2614711" cy="1322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42"/>
              </a:lnSpc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Sensitivity analysis: run the analysis both with and without the outlier. If conclusions change dramatically, the outlier is influential — report both results and let the reader decide.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E64A92FD-9119-9D2F-F50B-0E60435F525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34104" y="1993504"/>
            <a:ext cx="2976562" cy="446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637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55AA0-B7FA-6228-A8D3-772971B07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0437"/>
            <a:ext cx="10515600" cy="1325563"/>
          </a:xfrm>
        </p:spPr>
        <p:txBody>
          <a:bodyPr/>
          <a:lstStyle/>
          <a:p>
            <a:r>
              <a:rPr lang="en-US" dirty="0"/>
              <a:t>Remove the Outlier with 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77EE41-AED8-9304-84C0-6536B7AA7062}"/>
              </a:ext>
            </a:extLst>
          </p:cNvPr>
          <p:cNvSpPr txBox="1"/>
          <p:nvPr/>
        </p:nvSpPr>
        <p:spPr>
          <a:xfrm>
            <a:off x="838200" y="2075407"/>
            <a:ext cx="9694069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Remove outliers from the vector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homework_no_outliers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&lt;-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&gt;=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lower_thresh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&amp;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upper_thresh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homework_no_outliers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[1] 120 90 100 95 110 105 115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mean(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[1] 129.375  (with the outlier)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mean(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homework_no_outliers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[1] 105.0    (without the outlier)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337319-2AFF-D825-D1FF-43F2116EE95D}"/>
              </a:ext>
            </a:extLst>
          </p:cNvPr>
          <p:cNvSpPr txBox="1"/>
          <p:nvPr/>
        </p:nvSpPr>
        <p:spPr>
          <a:xfrm>
            <a:off x="838200" y="1696000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A09E96-8F19-27D9-579B-F3348217C1E9}"/>
              </a:ext>
            </a:extLst>
          </p:cNvPr>
          <p:cNvSpPr txBox="1"/>
          <p:nvPr/>
        </p:nvSpPr>
        <p:spPr>
          <a:xfrm>
            <a:off x="838200" y="5841232"/>
            <a:ext cx="997743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library(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dplyr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df_clean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&lt;-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%&gt;% filter(minutes &gt;=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lower_thresh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&amp; minutes &lt;=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upper_thresh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FF0D12-51EC-78B3-80EA-485153B1D92C}"/>
              </a:ext>
            </a:extLst>
          </p:cNvPr>
          <p:cNvSpPr txBox="1"/>
          <p:nvPr/>
        </p:nvSpPr>
        <p:spPr>
          <a:xfrm>
            <a:off x="733425" y="5523766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 2</a:t>
            </a:r>
          </a:p>
        </p:txBody>
      </p:sp>
    </p:spTree>
    <p:extLst>
      <p:ext uri="{BB962C8B-B14F-4D97-AF65-F5344CB8AC3E}">
        <p14:creationId xmlns:p14="http://schemas.microsoft.com/office/powerpoint/2010/main" val="350647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2B42E-4A41-0AFE-F5AC-5DCE2F65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the Outlier with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2A9D54-9B7F-2184-B004-6672B16D58D1}"/>
              </a:ext>
            </a:extLst>
          </p:cNvPr>
          <p:cNvSpPr txBox="1"/>
          <p:nvPr/>
        </p:nvSpPr>
        <p:spPr>
          <a:xfrm>
            <a:off x="838200" y="2619579"/>
            <a:ext cx="1077753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# Filter the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numpy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array for values within [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lower_thresh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upper_thresh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homework_no_outliers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&gt;=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lower_thresh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 &amp;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upper_thresh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)]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homework_no_outliers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[120  90 100  95 110 105 115]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import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pandas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pd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pd.</a:t>
            </a:r>
            <a:r>
              <a:rPr lang="en-US" sz="18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DataFrame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({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'minutes'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homework_minutes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df_clean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'minutes'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] &gt;=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lower_thresh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 &amp;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'minutes'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] &lt;=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upper_thresh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)]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df_clean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'minutes'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].mean()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105.0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8443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92" y="979091"/>
            <a:ext cx="6297018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solidFill>
                  <a:srgbClr val="000000"/>
                </a:solidFill>
                <a:ea typeface="Playfair Display Bold" pitchFamily="34" charset="-122"/>
                <a:cs typeface="Playfair Display Bold" pitchFamily="34" charset="-120"/>
              </a:rPr>
              <a:t>Standardizing Formats: Why It Matters</a:t>
            </a:r>
            <a:endParaRPr lang="en-US" sz="3708" dirty="0"/>
          </a:p>
        </p:txBody>
      </p:sp>
      <p:sp>
        <p:nvSpPr>
          <p:cNvPr id="4" name="Shape 1"/>
          <p:cNvSpPr/>
          <p:nvPr/>
        </p:nvSpPr>
        <p:spPr>
          <a:xfrm>
            <a:off x="661491" y="2443857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383" y="2479279"/>
            <a:ext cx="283468" cy="3544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5755" y="2508746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000000"/>
                </a:solidFill>
                <a:ea typeface="Playfair Display Bold" pitchFamily="34" charset="-122"/>
                <a:cs typeface="Playfair Display Bold" pitchFamily="34" charset="-120"/>
              </a:rPr>
              <a:t>Date Format Issues</a:t>
            </a:r>
            <a:endParaRPr lang="en-US" sz="1833" dirty="0"/>
          </a:p>
        </p:txBody>
      </p:sp>
      <p:sp>
        <p:nvSpPr>
          <p:cNvPr id="7" name="Text 3"/>
          <p:cNvSpPr/>
          <p:nvPr/>
        </p:nvSpPr>
        <p:spPr>
          <a:xfrm>
            <a:off x="1275755" y="2917428"/>
            <a:ext cx="2416175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"2025-12-31" vs "12/31/2025" vs "31-Dec-2025" - all the same date!</a:t>
            </a:r>
            <a:endParaRPr lang="en-US" sz="1458" dirty="0"/>
          </a:p>
        </p:txBody>
      </p:sp>
      <p:sp>
        <p:nvSpPr>
          <p:cNvPr id="8" name="Shape 4"/>
          <p:cNvSpPr/>
          <p:nvPr/>
        </p:nvSpPr>
        <p:spPr>
          <a:xfrm>
            <a:off x="3928169" y="2443857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9062" y="2479279"/>
            <a:ext cx="283468" cy="3544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42433" y="2508746"/>
            <a:ext cx="241617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000000"/>
                </a:solidFill>
                <a:ea typeface="Playfair Display Bold" pitchFamily="34" charset="-122"/>
                <a:cs typeface="Playfair Display Bold" pitchFamily="34" charset="-120"/>
              </a:rPr>
              <a:t>Text Consistency Problems</a:t>
            </a:r>
            <a:endParaRPr lang="en-US" sz="1833" dirty="0"/>
          </a:p>
        </p:txBody>
      </p:sp>
      <p:sp>
        <p:nvSpPr>
          <p:cNvPr id="11" name="Text 6"/>
          <p:cNvSpPr/>
          <p:nvPr/>
        </p:nvSpPr>
        <p:spPr>
          <a:xfrm>
            <a:off x="4542433" y="3212703"/>
            <a:ext cx="241617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"USA" vs "U.S.A." vs "United States" - all referring to the same country!</a:t>
            </a:r>
            <a:endParaRPr lang="en-US" sz="1458" dirty="0"/>
          </a:p>
        </p:txBody>
      </p:sp>
      <p:sp>
        <p:nvSpPr>
          <p:cNvPr id="12" name="Shape 7"/>
          <p:cNvSpPr/>
          <p:nvPr/>
        </p:nvSpPr>
        <p:spPr>
          <a:xfrm>
            <a:off x="661491" y="4800402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150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383" y="4835823"/>
            <a:ext cx="283468" cy="35440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55" y="4865291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000000"/>
                </a:solidFill>
                <a:ea typeface="Playfair Display Bold" pitchFamily="34" charset="-122"/>
                <a:cs typeface="Playfair Display Bold" pitchFamily="34" charset="-120"/>
              </a:rPr>
              <a:t>The Consequences</a:t>
            </a:r>
            <a:endParaRPr lang="en-US" sz="1833" dirty="0"/>
          </a:p>
        </p:txBody>
      </p:sp>
      <p:sp>
        <p:nvSpPr>
          <p:cNvPr id="15" name="Text 9"/>
          <p:cNvSpPr/>
          <p:nvPr/>
        </p:nvSpPr>
        <p:spPr>
          <a:xfrm>
            <a:off x="1275756" y="5273973"/>
            <a:ext cx="568275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Inconsistent formats prevent matching, combining, and analyzing data correctly.</a:t>
            </a:r>
            <a:endParaRPr lang="en-US" sz="1458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782C0-9AD7-045C-73A4-ECFA23D73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Standardizing Formats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9A04A622-32F4-891D-ED4D-AC755820F1A8}"/>
              </a:ext>
            </a:extLst>
          </p:cNvPr>
          <p:cNvSpPr/>
          <p:nvPr/>
        </p:nvSpPr>
        <p:spPr>
          <a:xfrm>
            <a:off x="675779" y="2601020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898CAD6A-A011-197C-4737-F8081C084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71" y="2636442"/>
            <a:ext cx="283468" cy="354409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645D5C49-6C8C-6312-9BDF-4DCBA17B44E6}"/>
              </a:ext>
            </a:extLst>
          </p:cNvPr>
          <p:cNvSpPr/>
          <p:nvPr/>
        </p:nvSpPr>
        <p:spPr>
          <a:xfrm>
            <a:off x="1290043" y="2665909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Date Format Issues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95913B1-7EE6-8478-2FF7-81831CC673B0}"/>
              </a:ext>
            </a:extLst>
          </p:cNvPr>
          <p:cNvSpPr/>
          <p:nvPr/>
        </p:nvSpPr>
        <p:spPr>
          <a:xfrm>
            <a:off x="1290043" y="3074591"/>
            <a:ext cx="3324820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"2025-12-31" vs "12/31/2025" vs "31-Dec-2025" - all the same date!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ED66E55-6C6C-A4BD-D585-BBC5A0F00369}"/>
              </a:ext>
            </a:extLst>
          </p:cNvPr>
          <p:cNvSpPr/>
          <p:nvPr/>
        </p:nvSpPr>
        <p:spPr>
          <a:xfrm>
            <a:off x="5764809" y="2596808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406F5775-082F-2DE7-A6C2-DC24DF94E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702" y="2632230"/>
            <a:ext cx="283468" cy="354409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5345F347-4B78-EA66-E47B-40F27C97A16D}"/>
              </a:ext>
            </a:extLst>
          </p:cNvPr>
          <p:cNvSpPr/>
          <p:nvPr/>
        </p:nvSpPr>
        <p:spPr>
          <a:xfrm>
            <a:off x="6379073" y="2661697"/>
            <a:ext cx="37364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Text Consistency Problems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A5EB80D-53F7-A831-5662-52B77B98A34D}"/>
              </a:ext>
            </a:extLst>
          </p:cNvPr>
          <p:cNvSpPr/>
          <p:nvPr/>
        </p:nvSpPr>
        <p:spPr>
          <a:xfrm>
            <a:off x="6379073" y="3365654"/>
            <a:ext cx="35078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"USA" vs "U.S.A." vs "United States" - all referring to the same country!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8E317EA5-FE9D-2765-F6E8-C19FB8C58EBD}"/>
              </a:ext>
            </a:extLst>
          </p:cNvPr>
          <p:cNvSpPr/>
          <p:nvPr/>
        </p:nvSpPr>
        <p:spPr>
          <a:xfrm>
            <a:off x="675779" y="4957565"/>
            <a:ext cx="425252" cy="425252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E35B55C2-963E-4B28-CFD6-BBCEC3ED0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71" y="4992986"/>
            <a:ext cx="283468" cy="354409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68AB6B78-28D4-CE9F-E2A2-53EA20AFBE34}"/>
              </a:ext>
            </a:extLst>
          </p:cNvPr>
          <p:cNvSpPr/>
          <p:nvPr/>
        </p:nvSpPr>
        <p:spPr>
          <a:xfrm>
            <a:off x="1290043" y="5022454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The Consequences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DF79A898-F2F4-A274-381E-79D7AED40005}"/>
              </a:ext>
            </a:extLst>
          </p:cNvPr>
          <p:cNvSpPr/>
          <p:nvPr/>
        </p:nvSpPr>
        <p:spPr>
          <a:xfrm>
            <a:off x="1290044" y="5431136"/>
            <a:ext cx="568275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Inconsistent formats prevent matching, combining, and analyzing data correctly.</a:t>
            </a:r>
            <a:endParaRPr lang="en-US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544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E5313-A1FB-A677-F9ED-B94F6CF31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Date Formats: The Time Traveler's Dilemma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CDDE6CD-A1FF-210B-0422-A38F7975A1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4239490"/>
              </p:ext>
            </p:extLst>
          </p:nvPr>
        </p:nvGraphicFramePr>
        <p:xfrm>
          <a:off x="838200" y="2603500"/>
          <a:ext cx="10515600" cy="3573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004781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DC008-4B09-3BFD-76D8-88E44861F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 Dates with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655DC-0A6D-B93F-7B55-0808BD62D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 xml:space="preserve">The </a:t>
            </a:r>
            <a:r>
              <a:rPr lang="en-US" i="1" dirty="0" err="1"/>
              <a:t>lubridate</a:t>
            </a:r>
            <a:r>
              <a:rPr lang="en-US" dirty="0"/>
              <a:t xml:space="preserve"> package (part of the </a:t>
            </a:r>
            <a:r>
              <a:rPr lang="en-US" dirty="0" err="1"/>
              <a:t>tidyverse</a:t>
            </a:r>
            <a:r>
              <a:rPr lang="en-US" dirty="0"/>
              <a:t xml:space="preserve">) is very handy for date parsing. </a:t>
            </a:r>
          </a:p>
          <a:p>
            <a:r>
              <a:rPr lang="en-US" dirty="0"/>
              <a:t>First, install the package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9CFE1D-8D73-1BFC-AAD3-1EFA03855604}"/>
              </a:ext>
            </a:extLst>
          </p:cNvPr>
          <p:cNvSpPr txBox="1"/>
          <p:nvPr/>
        </p:nvSpPr>
        <p:spPr>
          <a:xfrm>
            <a:off x="5267325" y="3429000"/>
            <a:ext cx="40481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nstall.packages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lubridate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) </a:t>
            </a: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library(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lubridate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62CA1C-F1BE-04DE-649C-A968C705DB1A}"/>
              </a:ext>
            </a:extLst>
          </p:cNvPr>
          <p:cNvSpPr txBox="1"/>
          <p:nvPr/>
        </p:nvSpPr>
        <p:spPr>
          <a:xfrm>
            <a:off x="938213" y="4261783"/>
            <a:ext cx="107203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dates &lt;- c(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"01/05/2022"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"2022-01-06"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"Jan 7 2022"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These are "January 5, 2022", "January 6, 2022", "January 7, 2022" in different formats.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parsed_dates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&lt;-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mdy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(dates[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])  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#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mdy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for month-day-year format like "01/05/2022"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parsed_dates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&lt;- c(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parsed_dates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ymd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(dates[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2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])) 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#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ymd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for year-month-day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parsed_dates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&lt;- c(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parsed_dates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mdy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(dates[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3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])) 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#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mdy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for Jan 7 2022.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parsed_dates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[1] "2022-01-05" "2022-01-06" "2022-01-07"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215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43B2D-497A-8B8D-0FA1-D2DAE1DF7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 Dates with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A34ACF-DF43-52A2-E5FC-61B0B7FBAD64}"/>
              </a:ext>
            </a:extLst>
          </p:cNvPr>
          <p:cNvSpPr txBox="1"/>
          <p:nvPr/>
        </p:nvSpPr>
        <p:spPr>
          <a:xfrm>
            <a:off x="952499" y="3596238"/>
            <a:ext cx="77628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import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pandas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pd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dates = [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"01/05/2022"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"2022-01-06"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"Jan 7 2022"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parsed_dates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pd.to_datetime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(d)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d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dates]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parsed_dates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[Timestamp('2022-01-05 00:00:00'),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 Timestamp('2022-01-06 00:00:00'),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 Timestamp('2022-01-07 00:00:00')]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5402F32-B8E5-DDF8-1748-79421F4BB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10515600" cy="992187"/>
          </a:xfrm>
        </p:spPr>
        <p:txBody>
          <a:bodyPr/>
          <a:lstStyle/>
          <a:p>
            <a:r>
              <a:rPr lang="en-US" dirty="0"/>
              <a:t xml:space="preserve">Pandas recognized all three formats and converted them to Timestamp objects </a:t>
            </a:r>
          </a:p>
        </p:txBody>
      </p:sp>
    </p:spTree>
    <p:extLst>
      <p:ext uri="{BB962C8B-B14F-4D97-AF65-F5344CB8AC3E}">
        <p14:creationId xmlns:p14="http://schemas.microsoft.com/office/powerpoint/2010/main" val="13325349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9043A-BC74-F270-5FAB-AF60163AC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Consistency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35C22E6-5B14-F6C2-F73D-F0483C2D1F8D}"/>
              </a:ext>
            </a:extLst>
          </p:cNvPr>
          <p:cNvSpPr/>
          <p:nvPr/>
        </p:nvSpPr>
        <p:spPr>
          <a:xfrm>
            <a:off x="693777" y="2385344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52EFAD3-CAA5-4697-9B7B-377D2BB4A16E}"/>
              </a:ext>
            </a:extLst>
          </p:cNvPr>
          <p:cNvSpPr/>
          <p:nvPr/>
        </p:nvSpPr>
        <p:spPr>
          <a:xfrm>
            <a:off x="928211" y="26197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Case Consistency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719BDE-E390-E88E-EFD4-8200F8F889B2}"/>
              </a:ext>
            </a:extLst>
          </p:cNvPr>
          <p:cNvSpPr/>
          <p:nvPr/>
        </p:nvSpPr>
        <p:spPr>
          <a:xfrm>
            <a:off x="928211" y="3110197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Convert text to consistent case (upper, lower, or title case).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C7D0928-7E42-A8F5-772B-56143B9902DD}"/>
              </a:ext>
            </a:extLst>
          </p:cNvPr>
          <p:cNvSpPr/>
          <p:nvPr/>
        </p:nvSpPr>
        <p:spPr>
          <a:xfrm>
            <a:off x="4585454" y="2385344"/>
            <a:ext cx="3887034" cy="2047994"/>
          </a:xfrm>
          <a:prstGeom prst="roundRect">
            <a:avLst>
              <a:gd name="adj" fmla="val 4652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5D178CC-9EAD-D7B3-B919-7CD6474F0D6B}"/>
              </a:ext>
            </a:extLst>
          </p:cNvPr>
          <p:cNvSpPr/>
          <p:nvPr/>
        </p:nvSpPr>
        <p:spPr>
          <a:xfrm>
            <a:off x="4819888" y="26197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Remove Extra Spaces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E7F978D-7441-1C26-8FB6-8D620A1540FE}"/>
              </a:ext>
            </a:extLst>
          </p:cNvPr>
          <p:cNvSpPr/>
          <p:nvPr/>
        </p:nvSpPr>
        <p:spPr>
          <a:xfrm>
            <a:off x="4819888" y="3110197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Trim leading and trailing whitespace that can cause mismatches.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065ECED-C634-E1D0-0C98-9443629E9811}"/>
              </a:ext>
            </a:extLst>
          </p:cNvPr>
          <p:cNvSpPr/>
          <p:nvPr/>
        </p:nvSpPr>
        <p:spPr>
          <a:xfrm>
            <a:off x="693777" y="4660152"/>
            <a:ext cx="7778711" cy="1685092"/>
          </a:xfrm>
          <a:prstGeom prst="roundRect">
            <a:avLst>
              <a:gd name="adj" fmla="val 5654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556CE33-1931-B395-513D-3139E199786F}"/>
              </a:ext>
            </a:extLst>
          </p:cNvPr>
          <p:cNvSpPr/>
          <p:nvPr/>
        </p:nvSpPr>
        <p:spPr>
          <a:xfrm>
            <a:off x="928211" y="4894586"/>
            <a:ext cx="29831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Standardize Synonyms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4833045-3EB0-9D3F-0FB4-823B7F1724A1}"/>
              </a:ext>
            </a:extLst>
          </p:cNvPr>
          <p:cNvSpPr/>
          <p:nvPr/>
        </p:nvSpPr>
        <p:spPr>
          <a:xfrm>
            <a:off x="928211" y="5385005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Map variations like "NYC," "New York City," and "New York, NY" to one standard form.</a:t>
            </a:r>
            <a:endParaRPr lang="en-US" sz="2000" dirty="0">
              <a:latin typeface="Aptos" panose="020B0004020202020204" pitchFamily="34" charset="0"/>
            </a:endParaRPr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7440C0E0-4E36-E165-DFAD-E72850F381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88708" y="2385344"/>
            <a:ext cx="2639933" cy="395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8498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DDB5-8628-9925-CB90-5994CCA6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6974"/>
            <a:ext cx="10515600" cy="1325563"/>
          </a:xfrm>
        </p:spPr>
        <p:txBody>
          <a:bodyPr/>
          <a:lstStyle/>
          <a:p>
            <a:r>
              <a:rPr lang="en-US" dirty="0"/>
              <a:t>Text Standardization with 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B137E-7BEA-4D6B-6FCC-41D403097B2A}"/>
              </a:ext>
            </a:extLst>
          </p:cNvPr>
          <p:cNvSpPr txBox="1"/>
          <p:nvPr/>
        </p:nvSpPr>
        <p:spPr>
          <a:xfrm>
            <a:off x="838200" y="2125337"/>
            <a:ext cx="5091113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words &lt;- c(" Apple", "apple ", "APPLE")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Trim whitespace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words &lt;-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trimws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(words)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Convert to lower case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words_lower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&lt;-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tolower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(words)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words_lower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[1] "apple" "apple" "apple"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746110-300C-B141-7E8C-BCB6321284C0}"/>
              </a:ext>
            </a:extLst>
          </p:cNvPr>
          <p:cNvSpPr txBox="1"/>
          <p:nvPr/>
        </p:nvSpPr>
        <p:spPr>
          <a:xfrm>
            <a:off x="838200" y="4732663"/>
            <a:ext cx="11239499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countries &lt;- c(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"USA"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"U.S.A."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"United States"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countries_clean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&lt;-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gsub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"\\.|\\s"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countries) 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remove dots and spaces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countries_clean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&lt;-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ifelse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countries_clean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%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% c(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"USA"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UnitedStates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),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"USA"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countries_clean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countries_clean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[1] "USA" "USA" "USA"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81343F-AFE4-4CAC-261D-20A871528B6B}"/>
              </a:ext>
            </a:extLst>
          </p:cNvPr>
          <p:cNvSpPr txBox="1"/>
          <p:nvPr/>
        </p:nvSpPr>
        <p:spPr>
          <a:xfrm>
            <a:off x="838200" y="1756005"/>
            <a:ext cx="121565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Example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931577-1548-DFA5-0824-D7E109DF263A}"/>
              </a:ext>
            </a:extLst>
          </p:cNvPr>
          <p:cNvSpPr txBox="1"/>
          <p:nvPr/>
        </p:nvSpPr>
        <p:spPr>
          <a:xfrm>
            <a:off x="6610350" y="4363331"/>
            <a:ext cx="121565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37907501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08570-22E0-BB41-90D1-CA20C0274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923" y="619114"/>
            <a:ext cx="10515600" cy="1325563"/>
          </a:xfrm>
        </p:spPr>
        <p:txBody>
          <a:bodyPr/>
          <a:lstStyle/>
          <a:p>
            <a:r>
              <a:rPr lang="en-US" dirty="0"/>
              <a:t>Text Standardization with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1EED13-3416-5CB3-D5AD-413FC81B0615}"/>
              </a:ext>
            </a:extLst>
          </p:cNvPr>
          <p:cNvSpPr txBox="1"/>
          <p:nvPr/>
        </p:nvSpPr>
        <p:spPr>
          <a:xfrm>
            <a:off x="603647" y="2281788"/>
            <a:ext cx="9840515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words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pd.</a:t>
            </a:r>
            <a:r>
              <a:rPr lang="en-US" sz="18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Series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([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 Apple"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"apple 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"APPLE"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words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words.str.strip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()      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remove leading/trailing whitespace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words_lower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words.str.lower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()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convert to lowercase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words_lower.tolist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['apple', 'apple', 'apple']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81D9A0-5FB8-BE37-6FD6-223C102B5D39}"/>
              </a:ext>
            </a:extLst>
          </p:cNvPr>
          <p:cNvSpPr txBox="1"/>
          <p:nvPr/>
        </p:nvSpPr>
        <p:spPr>
          <a:xfrm>
            <a:off x="603647" y="4433338"/>
            <a:ext cx="10750153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F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or replacements and removing punctuation: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countries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pd.</a:t>
            </a:r>
            <a:r>
              <a:rPr lang="en-US" sz="18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Series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([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"USA"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"U.S.A."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"United States"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countries_clean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countries.str.replace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r"\."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regex=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) 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remove dots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countries_clean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countries_clean.str.replace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 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 regex=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True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) 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remove spaces</a:t>
            </a:r>
            <a:r>
              <a:rPr lang="en-US" sz="16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countries_clean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countries_clean.replace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({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UnitedStates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: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"USA"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})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countries_clean.tolist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())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['USA', 'USA', 'USA']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EA53FE-E58F-4D0C-8256-06B331978F17}"/>
              </a:ext>
            </a:extLst>
          </p:cNvPr>
          <p:cNvSpPr txBox="1"/>
          <p:nvPr/>
        </p:nvSpPr>
        <p:spPr>
          <a:xfrm>
            <a:off x="603647" y="1912456"/>
            <a:ext cx="121565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Example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42441D-4BBA-893B-F103-522C4FD7710C}"/>
              </a:ext>
            </a:extLst>
          </p:cNvPr>
          <p:cNvSpPr txBox="1"/>
          <p:nvPr/>
        </p:nvSpPr>
        <p:spPr>
          <a:xfrm>
            <a:off x="603647" y="4064006"/>
            <a:ext cx="121565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25069954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628AE-518C-47E6-4E6C-79BC3C747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and Combining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26B40-93A5-A794-5E05-728970C15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6619875" cy="357291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subsetting is where analytical judgment and code meet: filtering defines the population you’re studying. Every filter is an analytical decision that should be documented — "I filtered to Grade==9" changes what conclusions are valid.</a:t>
            </a:r>
          </a:p>
          <a:p>
            <a:r>
              <a:rPr lang="en-US" dirty="0"/>
              <a:t>Method chaining: in pandas, you can chain operations: df.dropna().query("Grade==9")[["Student","Math_Score"]].reset_index(). This produces clean, readable pipelines. In R, the pipe operator |&gt; (or %&gt;%) achieves the same.</a:t>
            </a:r>
          </a:p>
          <a:p>
            <a:r>
              <a:rPr lang="en-US" dirty="0"/>
              <a:t>Rule: always filter after you’ve understood the full dataset. Premature filtering can hide patterns in data you haven’t examined yet.</a:t>
            </a:r>
          </a:p>
          <a:p>
            <a:endParaRPr lang="en-US" dirty="0"/>
          </a:p>
        </p:txBody>
      </p:sp>
      <p:pic>
        <p:nvPicPr>
          <p:cNvPr id="5" name="Picture 4" descr="A diagram of a data processing process  AI-generated content may be incorrect.">
            <a:extLst>
              <a:ext uri="{FF2B5EF4-FFF2-40B4-BE49-F238E27FC236}">
                <a16:creationId xmlns:a16="http://schemas.microsoft.com/office/drawing/2014/main" id="{E726BCA4-8FAC-2EA5-5D76-A5D110F0FA7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8075" y="2044700"/>
            <a:ext cx="4289425" cy="428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7636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2F8B9-7A85-A8C6-0CC8-2AA8F6AC2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Rows by Condition Using 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451C4B-C447-2C6E-E010-1EE576024AA3}"/>
              </a:ext>
            </a:extLst>
          </p:cNvPr>
          <p:cNvSpPr txBox="1"/>
          <p:nvPr/>
        </p:nvSpPr>
        <p:spPr>
          <a:xfrm>
            <a:off x="838200" y="2424663"/>
            <a:ext cx="102489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library(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dplyr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# Assume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students_df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is a data frame with a column Grade (9, 10, 11, 12)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We want only 9th graders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freshmen_df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&lt;-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students_df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</a:t>
            </a:r>
            <a:r>
              <a:rPr lang="en-US" sz="16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%&gt;% filter(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Grade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== 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9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If we also only want those who scored above 80 in Math and 9th graders: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high_achievers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&lt;-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students_df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%&gt;% filter(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Grade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== 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9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, </a:t>
            </a:r>
            <a:r>
              <a:rPr lang="en-US" sz="1800" dirty="0" err="1">
                <a:solidFill>
                  <a:srgbClr val="2B91A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MathScore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&gt; 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80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6" descr="A close-up of a sign  AI-generated content may be incorrect.">
            <a:extLst>
              <a:ext uri="{FF2B5EF4-FFF2-40B4-BE49-F238E27FC236}">
                <a16:creationId xmlns:a16="http://schemas.microsoft.com/office/drawing/2014/main" id="{A3442918-850E-560D-7808-0EFC0CAE7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3399" y="4411678"/>
            <a:ext cx="6185201" cy="109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301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7D808-12CF-0F6C-7308-CC3E7063B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Rows by Condition Using Python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E0DDCD-392E-C4BD-694F-1C50F16FA2EE}"/>
              </a:ext>
            </a:extLst>
          </p:cNvPr>
          <p:cNvSpPr txBox="1"/>
          <p:nvPr/>
        </p:nvSpPr>
        <p:spPr>
          <a:xfrm>
            <a:off x="838200" y="2746237"/>
            <a:ext cx="10163175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</a:t>
            </a:r>
            <a:r>
              <a:rPr lang="en-US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pd.read_csv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students_scores.csv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# Assume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students_df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is a pandas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DataFrame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with similar structure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freshmen_df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'Grade'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] == 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9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]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For multiple conditions, use &amp; for AND, | for OR, and parentheses around each condition: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high_achievers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'Grade'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] == 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9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 &amp;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lang="en-US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Math_Score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'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] &gt; </a:t>
            </a:r>
            <a:r>
              <a:rPr lang="en-US" sz="1800" dirty="0">
                <a:solidFill>
                  <a:srgbClr val="00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80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)]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D88B5D-4D1D-B0E8-D28C-6302FC83979B}"/>
              </a:ext>
            </a:extLst>
          </p:cNvPr>
          <p:cNvSpPr txBox="1"/>
          <p:nvPr/>
        </p:nvSpPr>
        <p:spPr>
          <a:xfrm>
            <a:off x="838200" y="5413085"/>
            <a:ext cx="95631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freshmen_df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df.query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"Grade == 9"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high_achievers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df.query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"Grade == 9 and </a:t>
            </a:r>
            <a:r>
              <a:rPr lang="en-US" sz="1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Math_Score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 xml:space="preserve"> &gt; 80"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 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D18130-B83D-6183-E7B1-6228358C1AAD}"/>
              </a:ext>
            </a:extLst>
          </p:cNvPr>
          <p:cNvSpPr txBox="1"/>
          <p:nvPr/>
        </p:nvSpPr>
        <p:spPr>
          <a:xfrm>
            <a:off x="838200" y="2376905"/>
            <a:ext cx="10358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Option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35F974-F3E4-9F7A-A24A-C8C1AE68342C}"/>
              </a:ext>
            </a:extLst>
          </p:cNvPr>
          <p:cNvSpPr txBox="1"/>
          <p:nvPr/>
        </p:nvSpPr>
        <p:spPr>
          <a:xfrm>
            <a:off x="838200" y="5043753"/>
            <a:ext cx="10358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Option 2</a:t>
            </a:r>
          </a:p>
        </p:txBody>
      </p:sp>
    </p:spTree>
    <p:extLst>
      <p:ext uri="{BB962C8B-B14F-4D97-AF65-F5344CB8AC3E}">
        <p14:creationId xmlns:p14="http://schemas.microsoft.com/office/powerpoint/2010/main" val="3077505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E9163-E900-67A8-D2E8-D86A132B7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 xml:space="preserve">Let’s Exercise – 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8470D-04C7-2073-8659-A1B749333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 xml:space="preserve">Read the </a:t>
            </a:r>
            <a:r>
              <a:rPr lang="en-US" dirty="0" err="1"/>
              <a:t>books.csv</a:t>
            </a:r>
            <a:endParaRPr lang="en-US" dirty="0"/>
          </a:p>
          <a:p>
            <a:r>
              <a:rPr lang="en-US" dirty="0"/>
              <a:t>Filter data with only mystery 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64F686-E880-52AC-D84A-0D13D905A6B2}"/>
              </a:ext>
            </a:extLst>
          </p:cNvPr>
          <p:cNvSpPr txBox="1"/>
          <p:nvPr/>
        </p:nvSpPr>
        <p:spPr>
          <a:xfrm>
            <a:off x="1017985" y="3790341"/>
            <a:ext cx="60936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 xml:space="preserve">books &lt;- </a:t>
            </a:r>
            <a:r>
              <a:rPr lang="en-US" dirty="0" err="1"/>
              <a:t>read.csv</a:t>
            </a:r>
            <a:r>
              <a:rPr lang="en-US" dirty="0"/>
              <a:t>("</a:t>
            </a:r>
            <a:r>
              <a:rPr lang="en-US" dirty="0" err="1"/>
              <a:t>books.csv</a:t>
            </a:r>
            <a:r>
              <a:rPr lang="en-US" dirty="0"/>
              <a:t>")</a:t>
            </a:r>
          </a:p>
          <a:p>
            <a:r>
              <a:rPr lang="en-US" dirty="0" err="1"/>
              <a:t>mystery_books</a:t>
            </a:r>
            <a:r>
              <a:rPr lang="en-US" dirty="0"/>
              <a:t xml:space="preserve"> &lt;- books %&gt;% filter(Genre == "Mystery")</a:t>
            </a:r>
          </a:p>
          <a:p>
            <a:r>
              <a:rPr lang="en-US" dirty="0"/>
              <a:t>dim(</a:t>
            </a:r>
            <a:r>
              <a:rPr lang="en-US" dirty="0" err="1"/>
              <a:t>mystery_books</a:t>
            </a:r>
            <a:r>
              <a:rPr lang="en-US" dirty="0"/>
              <a:t>)</a:t>
            </a:r>
          </a:p>
          <a:p>
            <a:r>
              <a:rPr lang="en-US" dirty="0"/>
              <a:t>head(</a:t>
            </a:r>
            <a:r>
              <a:rPr lang="en-US" dirty="0" err="1"/>
              <a:t>mystery_books</a:t>
            </a:r>
            <a:r>
              <a:rPr lang="en-US" dirty="0"/>
              <a:t>)</a:t>
            </a:r>
          </a:p>
        </p:txBody>
      </p:sp>
      <p:pic>
        <p:nvPicPr>
          <p:cNvPr id="9" name="Picture 8" descr="A screenshot of a computer  AI-generated content may be incorrect.">
            <a:extLst>
              <a:ext uri="{FF2B5EF4-FFF2-40B4-BE49-F238E27FC236}">
                <a16:creationId xmlns:a16="http://schemas.microsoft.com/office/drawing/2014/main" id="{1180FB1A-E2EF-11F4-E35B-FDF3355142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11603" y="3429000"/>
            <a:ext cx="4484026" cy="309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7416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6C89C-8932-621E-E0C3-F3E45673E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Exercise –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6229BA-B3C4-86AA-B070-17A8D05EECD1}"/>
              </a:ext>
            </a:extLst>
          </p:cNvPr>
          <p:cNvSpPr txBox="1"/>
          <p:nvPr/>
        </p:nvSpPr>
        <p:spPr>
          <a:xfrm>
            <a:off x="838200" y="4105871"/>
            <a:ext cx="609361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 xml:space="preserve">books = </a:t>
            </a:r>
            <a:r>
              <a:rPr lang="en-US" dirty="0" err="1"/>
              <a:t>pd.read_csv</a:t>
            </a:r>
            <a:r>
              <a:rPr lang="en-US" dirty="0"/>
              <a:t>("</a:t>
            </a:r>
            <a:r>
              <a:rPr lang="en-US" dirty="0" err="1"/>
              <a:t>books.csv</a:t>
            </a:r>
            <a:r>
              <a:rPr lang="en-US" dirty="0"/>
              <a:t>")</a:t>
            </a:r>
          </a:p>
          <a:p>
            <a:r>
              <a:rPr lang="en-US" dirty="0" err="1"/>
              <a:t>mystery_books</a:t>
            </a:r>
            <a:r>
              <a:rPr lang="en-US" dirty="0"/>
              <a:t xml:space="preserve"> = books[books['Genre'] == 'Mystery']</a:t>
            </a:r>
          </a:p>
          <a:p>
            <a:r>
              <a:rPr lang="en-US" dirty="0" err="1"/>
              <a:t>mystery_books.head</a:t>
            </a:r>
            <a:r>
              <a:rPr lang="en-US" dirty="0"/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DCCD2C-75E8-5206-CD60-4407AFAB3711}"/>
              </a:ext>
            </a:extLst>
          </p:cNvPr>
          <p:cNvSpPr txBox="1"/>
          <p:nvPr/>
        </p:nvSpPr>
        <p:spPr>
          <a:xfrm>
            <a:off x="838200" y="5512441"/>
            <a:ext cx="609361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/>
              <a:t>mystery_books</a:t>
            </a:r>
            <a:r>
              <a:rPr lang="en-US" dirty="0"/>
              <a:t xml:space="preserve"> = </a:t>
            </a:r>
            <a:r>
              <a:rPr lang="en-US" dirty="0" err="1"/>
              <a:t>books.query</a:t>
            </a:r>
            <a:r>
              <a:rPr lang="en-US" dirty="0"/>
              <a:t>("Genre == 'Mystery'")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BCDC8A-2370-448A-E6C8-55E1023592DB}"/>
              </a:ext>
            </a:extLst>
          </p:cNvPr>
          <p:cNvSpPr txBox="1"/>
          <p:nvPr/>
        </p:nvSpPr>
        <p:spPr>
          <a:xfrm>
            <a:off x="838200" y="3736539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8AEEE2-BEE5-D337-AC62-11771EB54F71}"/>
              </a:ext>
            </a:extLst>
          </p:cNvPr>
          <p:cNvSpPr txBox="1"/>
          <p:nvPr/>
        </p:nvSpPr>
        <p:spPr>
          <a:xfrm>
            <a:off x="838199" y="5143109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 2</a:t>
            </a:r>
          </a:p>
        </p:txBody>
      </p:sp>
      <p:pic>
        <p:nvPicPr>
          <p:cNvPr id="11" name="Picture 10" descr="A screenshot of a book  AI-generated content may be incorrect.">
            <a:extLst>
              <a:ext uri="{FF2B5EF4-FFF2-40B4-BE49-F238E27FC236}">
                <a16:creationId xmlns:a16="http://schemas.microsoft.com/office/drawing/2014/main" id="{676C3AF1-8B5C-CBB8-08F2-0C09AFA80E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8062" y="4096905"/>
            <a:ext cx="3895725" cy="24094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04CC6A-46F6-E9C3-7C9C-F9D10B7AB911}"/>
              </a:ext>
            </a:extLst>
          </p:cNvPr>
          <p:cNvSpPr txBox="1"/>
          <p:nvPr/>
        </p:nvSpPr>
        <p:spPr>
          <a:xfrm>
            <a:off x="838199" y="2166878"/>
            <a:ext cx="60946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Read the books.csv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Filter data with only mystery books</a:t>
            </a:r>
          </a:p>
        </p:txBody>
      </p:sp>
    </p:spTree>
    <p:extLst>
      <p:ext uri="{BB962C8B-B14F-4D97-AF65-F5344CB8AC3E}">
        <p14:creationId xmlns:p14="http://schemas.microsoft.com/office/powerpoint/2010/main" val="38943486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AED35-458D-935F-2762-20E76CBA4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and Dropping Columns with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16774-B0BB-4165-901A-EEF08CCA2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7691438" cy="146788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 xml:space="preserve">Selecting columns (or dropping columns) can make data easier to work with. </a:t>
            </a:r>
          </a:p>
          <a:p>
            <a:r>
              <a:rPr lang="en-US" dirty="0"/>
              <a:t>Also, can protect privacy if we remove sensitive information.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892B01-CFEB-44F9-89E9-18A892CBF3AA}"/>
              </a:ext>
            </a:extLst>
          </p:cNvPr>
          <p:cNvSpPr txBox="1"/>
          <p:nvPr/>
        </p:nvSpPr>
        <p:spPr>
          <a:xfrm>
            <a:off x="838200" y="4067850"/>
            <a:ext cx="6477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 xml:space="preserve"># Select only Name, Grade, and </a:t>
            </a:r>
            <a:r>
              <a:rPr lang="en-US" dirty="0" err="1"/>
              <a:t>MathScore</a:t>
            </a:r>
            <a:r>
              <a:rPr lang="en-US" dirty="0"/>
              <a:t xml:space="preserve"> from </a:t>
            </a:r>
            <a:r>
              <a:rPr lang="en-US" dirty="0" err="1"/>
              <a:t>students_df</a:t>
            </a:r>
            <a:endParaRPr lang="en-US" dirty="0"/>
          </a:p>
          <a:p>
            <a:r>
              <a:rPr lang="en-US" dirty="0" err="1"/>
              <a:t>small_df</a:t>
            </a:r>
            <a:r>
              <a:rPr lang="en-US" dirty="0"/>
              <a:t xml:space="preserve"> &lt;- </a:t>
            </a:r>
            <a:r>
              <a:rPr lang="en-US" dirty="0" err="1"/>
              <a:t>df</a:t>
            </a:r>
            <a:r>
              <a:rPr lang="en-US" dirty="0"/>
              <a:t xml:space="preserve"> %&gt;% select(Student, Grade, </a:t>
            </a:r>
            <a:r>
              <a:rPr lang="en-US" dirty="0" err="1"/>
              <a:t>Math_Score</a:t>
            </a:r>
            <a:r>
              <a:rPr lang="en-US" dirty="0"/>
              <a:t>)</a:t>
            </a:r>
          </a:p>
          <a:p>
            <a:r>
              <a:rPr lang="en-US" dirty="0"/>
              <a:t>head(</a:t>
            </a:r>
            <a:r>
              <a:rPr lang="en-US" dirty="0" err="1"/>
              <a:t>small_df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You can also drop columns by using a minus sign</a:t>
            </a:r>
          </a:p>
          <a:p>
            <a:r>
              <a:rPr lang="en-US" dirty="0" err="1"/>
              <a:t>no_names</a:t>
            </a:r>
            <a:r>
              <a:rPr lang="en-US" dirty="0"/>
              <a:t xml:space="preserve"> &lt;- </a:t>
            </a:r>
            <a:r>
              <a:rPr lang="en-US" dirty="0" err="1"/>
              <a:t>df</a:t>
            </a:r>
            <a:r>
              <a:rPr lang="en-US" dirty="0"/>
              <a:t xml:space="preserve"> %&gt;% select(-Student, -</a:t>
            </a:r>
            <a:r>
              <a:rPr lang="en-US" dirty="0" err="1"/>
              <a:t>English_Score</a:t>
            </a:r>
            <a:r>
              <a:rPr lang="en-US" dirty="0"/>
              <a:t>)</a:t>
            </a:r>
          </a:p>
          <a:p>
            <a:r>
              <a:rPr lang="en-US" dirty="0"/>
              <a:t>head(</a:t>
            </a:r>
            <a:r>
              <a:rPr lang="en-US" dirty="0" err="1"/>
              <a:t>no_names</a:t>
            </a:r>
            <a:r>
              <a:rPr lang="en-US" dirty="0"/>
              <a:t>)</a:t>
            </a:r>
          </a:p>
        </p:txBody>
      </p:sp>
      <p:pic>
        <p:nvPicPr>
          <p:cNvPr id="7" name="Picture 6" descr="A screenshot of a math table  AI-generated content may be incorrect.">
            <a:extLst>
              <a:ext uri="{FF2B5EF4-FFF2-40B4-BE49-F238E27FC236}">
                <a16:creationId xmlns:a16="http://schemas.microsoft.com/office/drawing/2014/main" id="{0642D942-65A2-4273-E2ED-31A6A5915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34451" y="2391576"/>
            <a:ext cx="2614613" cy="1670993"/>
          </a:xfrm>
          <a:prstGeom prst="rect">
            <a:avLst/>
          </a:prstGeom>
        </p:spPr>
      </p:pic>
      <p:pic>
        <p:nvPicPr>
          <p:cNvPr id="9" name="Picture 8" descr="A screenshot of a number  AI-generated content may be incorrect.">
            <a:extLst>
              <a:ext uri="{FF2B5EF4-FFF2-40B4-BE49-F238E27FC236}">
                <a16:creationId xmlns:a16="http://schemas.microsoft.com/office/drawing/2014/main" id="{BC75AD58-2E7F-E683-2A3C-1B543D5D3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82040" y="4428183"/>
            <a:ext cx="2919434" cy="167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3719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A700A-FE68-C63D-3232-01486905D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Selecting and Dropping Columns with Python</a:t>
            </a:r>
          </a:p>
        </p:txBody>
      </p:sp>
      <p:pic>
        <p:nvPicPr>
          <p:cNvPr id="5" name="Content Placeholder 4" descr="A screenshot of a math test  AI-generated content may be incorrect.">
            <a:extLst>
              <a:ext uri="{FF2B5EF4-FFF2-40B4-BE49-F238E27FC236}">
                <a16:creationId xmlns:a16="http://schemas.microsoft.com/office/drawing/2014/main" id="{2F3B42BC-3551-B55F-4F27-5C579818E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903" y="2464419"/>
            <a:ext cx="6140589" cy="3099351"/>
          </a:xfrm>
        </p:spPr>
      </p:pic>
      <p:pic>
        <p:nvPicPr>
          <p:cNvPr id="7" name="Picture 6" descr="A screenshot of a computer  AI-generated content may be incorrect.">
            <a:extLst>
              <a:ext uri="{FF2B5EF4-FFF2-40B4-BE49-F238E27FC236}">
                <a16:creationId xmlns:a16="http://schemas.microsoft.com/office/drawing/2014/main" id="{F8141DF9-5799-29DF-35AB-9D215891006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0556" y="2543931"/>
            <a:ext cx="5481711" cy="290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8825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8C7BD-64C9-9F77-3165-C46B45092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Data: Merging and Joining</a:t>
            </a: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862BB051-A025-33EA-0F29-47C843F208A2}"/>
              </a:ext>
            </a:extLst>
          </p:cNvPr>
          <p:cNvSpPr/>
          <p:nvPr/>
        </p:nvSpPr>
        <p:spPr>
          <a:xfrm>
            <a:off x="1547763" y="2746175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292"/>
              </a:lnSpc>
            </a:pP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Merging Tables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AA1FE5F8-C544-F8C3-9B2B-62E1EDC53257}"/>
              </a:ext>
            </a:extLst>
          </p:cNvPr>
          <p:cNvSpPr/>
          <p:nvPr/>
        </p:nvSpPr>
        <p:spPr>
          <a:xfrm>
            <a:off x="661541" y="3154858"/>
            <a:ext cx="32489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375"/>
              </a:lnSpc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Combining data from different sources based on a common key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4E0E3730-9A14-4A28-5597-08DBA1900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927" y="2372816"/>
            <a:ext cx="3804146" cy="3804146"/>
          </a:xfrm>
          <a:prstGeom prst="rect">
            <a:avLst/>
          </a:prstGeom>
        </p:spPr>
      </p:pic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8E586399-A9B0-6063-022B-3B3526D46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992" y="3008709"/>
            <a:ext cx="282773" cy="353517"/>
          </a:xfrm>
          <a:prstGeom prst="rect">
            <a:avLst/>
          </a:prstGeom>
        </p:spPr>
      </p:pic>
      <p:sp>
        <p:nvSpPr>
          <p:cNvPr id="22" name="Text 3">
            <a:extLst>
              <a:ext uri="{FF2B5EF4-FFF2-40B4-BE49-F238E27FC236}">
                <a16:creationId xmlns:a16="http://schemas.microsoft.com/office/drawing/2014/main" id="{116B37BC-2FD9-FDB0-90C3-62FD3FE49887}"/>
              </a:ext>
            </a:extLst>
          </p:cNvPr>
          <p:cNvSpPr/>
          <p:nvPr/>
        </p:nvSpPr>
        <p:spPr>
          <a:xfrm>
            <a:off x="8281541" y="2746175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Matching Keys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D7D043B2-A62C-3373-DC25-BE80D2DF4D4E}"/>
              </a:ext>
            </a:extLst>
          </p:cNvPr>
          <p:cNvSpPr/>
          <p:nvPr/>
        </p:nvSpPr>
        <p:spPr>
          <a:xfrm>
            <a:off x="8281541" y="3154858"/>
            <a:ext cx="32490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Finding records that match between datasets</a:t>
            </a:r>
            <a:endParaRPr lang="en-US" sz="2000" dirty="0">
              <a:latin typeface="Aptos" panose="020B0004020202020204" pitchFamily="34" charset="0"/>
            </a:endParaRPr>
          </a:p>
        </p:txBody>
      </p:sp>
      <p:pic>
        <p:nvPicPr>
          <p:cNvPr id="24" name="Image 2" descr="preencoded.png">
            <a:extLst>
              <a:ext uri="{FF2B5EF4-FFF2-40B4-BE49-F238E27FC236}">
                <a16:creationId xmlns:a16="http://schemas.microsoft.com/office/drawing/2014/main" id="{28EC00EC-9FA6-D72A-D1AD-F26297CC8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927" y="2372816"/>
            <a:ext cx="3804146" cy="3804146"/>
          </a:xfrm>
          <a:prstGeom prst="rect">
            <a:avLst/>
          </a:prstGeom>
        </p:spPr>
      </p:pic>
      <p:pic>
        <p:nvPicPr>
          <p:cNvPr id="25" name="Image 3" descr="preencoded.png">
            <a:extLst>
              <a:ext uri="{FF2B5EF4-FFF2-40B4-BE49-F238E27FC236}">
                <a16:creationId xmlns:a16="http://schemas.microsoft.com/office/drawing/2014/main" id="{85B4A628-6380-0F4C-815B-3EA2C3B9D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3886" y="3332459"/>
            <a:ext cx="282773" cy="353517"/>
          </a:xfrm>
          <a:prstGeom prst="rect">
            <a:avLst/>
          </a:prstGeom>
        </p:spPr>
      </p:pic>
      <p:sp>
        <p:nvSpPr>
          <p:cNvPr id="26" name="Text 5">
            <a:extLst>
              <a:ext uri="{FF2B5EF4-FFF2-40B4-BE49-F238E27FC236}">
                <a16:creationId xmlns:a16="http://schemas.microsoft.com/office/drawing/2014/main" id="{566D7281-40D4-C477-9C3B-921DFA97C035}"/>
              </a:ext>
            </a:extLst>
          </p:cNvPr>
          <p:cNvSpPr/>
          <p:nvPr/>
        </p:nvSpPr>
        <p:spPr>
          <a:xfrm>
            <a:off x="8281541" y="478998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Appending Rows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32798279-1358-EC55-5C53-4C36C3C6E929}"/>
              </a:ext>
            </a:extLst>
          </p:cNvPr>
          <p:cNvSpPr/>
          <p:nvPr/>
        </p:nvSpPr>
        <p:spPr>
          <a:xfrm>
            <a:off x="8281541" y="5198665"/>
            <a:ext cx="32490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Stacking datasets with the same structure</a:t>
            </a:r>
            <a:endParaRPr lang="en-US" sz="2000" dirty="0">
              <a:latin typeface="Aptos" panose="020B0004020202020204" pitchFamily="34" charset="0"/>
            </a:endParaRPr>
          </a:p>
        </p:txBody>
      </p:sp>
      <p:pic>
        <p:nvPicPr>
          <p:cNvPr id="28" name="Image 4" descr="preencoded.png">
            <a:extLst>
              <a:ext uri="{FF2B5EF4-FFF2-40B4-BE49-F238E27FC236}">
                <a16:creationId xmlns:a16="http://schemas.microsoft.com/office/drawing/2014/main" id="{0B703BD1-46D0-9686-496A-EDFAC7BF7F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3927" y="2372816"/>
            <a:ext cx="3804146" cy="3804146"/>
          </a:xfrm>
          <a:prstGeom prst="rect">
            <a:avLst/>
          </a:prstGeom>
        </p:spPr>
      </p:pic>
      <p:pic>
        <p:nvPicPr>
          <p:cNvPr id="29" name="Image 5" descr="preencoded.png">
            <a:extLst>
              <a:ext uri="{FF2B5EF4-FFF2-40B4-BE49-F238E27FC236}">
                <a16:creationId xmlns:a16="http://schemas.microsoft.com/office/drawing/2014/main" id="{8C1FA851-DDF2-8475-3E26-44C7ABA611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135" y="5187354"/>
            <a:ext cx="282773" cy="353517"/>
          </a:xfrm>
          <a:prstGeom prst="rect">
            <a:avLst/>
          </a:prstGeom>
        </p:spPr>
      </p:pic>
      <p:sp>
        <p:nvSpPr>
          <p:cNvPr id="30" name="Text 7">
            <a:extLst>
              <a:ext uri="{FF2B5EF4-FFF2-40B4-BE49-F238E27FC236}">
                <a16:creationId xmlns:a16="http://schemas.microsoft.com/office/drawing/2014/main" id="{CFECCE8F-23A7-9030-E608-662310A21F6C}"/>
              </a:ext>
            </a:extLst>
          </p:cNvPr>
          <p:cNvSpPr/>
          <p:nvPr/>
        </p:nvSpPr>
        <p:spPr>
          <a:xfrm>
            <a:off x="1547763" y="4789983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292"/>
              </a:lnSpc>
            </a:pP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Verifying Results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63786706-3A5A-562B-3064-0CB2059363FE}"/>
              </a:ext>
            </a:extLst>
          </p:cNvPr>
          <p:cNvSpPr/>
          <p:nvPr/>
        </p:nvSpPr>
        <p:spPr>
          <a:xfrm>
            <a:off x="661541" y="5198665"/>
            <a:ext cx="32489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2375"/>
              </a:lnSpc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Ensuring the combined data makes sense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32" name="Image 6" descr="preencoded.png">
            <a:extLst>
              <a:ext uri="{FF2B5EF4-FFF2-40B4-BE49-F238E27FC236}">
                <a16:creationId xmlns:a16="http://schemas.microsoft.com/office/drawing/2014/main" id="{D9AED57E-784D-DD97-6199-EA9DF2C02E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3927" y="2372816"/>
            <a:ext cx="3804146" cy="3804146"/>
          </a:xfrm>
          <a:prstGeom prst="rect">
            <a:avLst/>
          </a:prstGeom>
        </p:spPr>
      </p:pic>
      <p:pic>
        <p:nvPicPr>
          <p:cNvPr id="33" name="Image 7" descr="preencoded.png">
            <a:extLst>
              <a:ext uri="{FF2B5EF4-FFF2-40B4-BE49-F238E27FC236}">
                <a16:creationId xmlns:a16="http://schemas.microsoft.com/office/drawing/2014/main" id="{291E5186-5226-ABC4-5618-82898125E9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5241" y="4863603"/>
            <a:ext cx="282773" cy="35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0879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127D8-D482-909A-347E-C1C3FA75D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Data with 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A391D-06B3-4D9D-C878-070C9F9B68AD}"/>
              </a:ext>
            </a:extLst>
          </p:cNvPr>
          <p:cNvSpPr txBox="1"/>
          <p:nvPr/>
        </p:nvSpPr>
        <p:spPr>
          <a:xfrm>
            <a:off x="838200" y="2301669"/>
            <a:ext cx="70687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Filter Student Scores</a:t>
            </a:r>
          </a:p>
          <a:p>
            <a:r>
              <a:rPr lang="en-US" dirty="0" err="1"/>
              <a:t>df</a:t>
            </a:r>
            <a:r>
              <a:rPr lang="en-US" dirty="0"/>
              <a:t xml:space="preserve"> &lt;- </a:t>
            </a:r>
            <a:r>
              <a:rPr lang="en-US" dirty="0" err="1"/>
              <a:t>read.csv</a:t>
            </a:r>
            <a:r>
              <a:rPr lang="en-US" dirty="0"/>
              <a:t>("</a:t>
            </a:r>
            <a:r>
              <a:rPr lang="en-US" dirty="0" err="1"/>
              <a:t>students_scores.csv</a:t>
            </a:r>
            <a:r>
              <a:rPr lang="en-US" dirty="0"/>
              <a:t>")</a:t>
            </a:r>
          </a:p>
          <a:p>
            <a:r>
              <a:rPr lang="en-US" dirty="0" err="1"/>
              <a:t>scores_df</a:t>
            </a:r>
            <a:r>
              <a:rPr lang="en-US" dirty="0"/>
              <a:t xml:space="preserve"> &lt;- </a:t>
            </a:r>
            <a:r>
              <a:rPr lang="en-US" dirty="0" err="1"/>
              <a:t>df</a:t>
            </a:r>
            <a:r>
              <a:rPr lang="en-US" dirty="0"/>
              <a:t xml:space="preserve"> %&gt;% select("Student", "</a:t>
            </a:r>
            <a:r>
              <a:rPr lang="en-US" dirty="0" err="1"/>
              <a:t>Math_Score</a:t>
            </a:r>
            <a:r>
              <a:rPr lang="en-US" dirty="0"/>
              <a:t>", "</a:t>
            </a:r>
            <a:r>
              <a:rPr lang="en-US" dirty="0" err="1"/>
              <a:t>English_Score</a:t>
            </a:r>
            <a:r>
              <a:rPr lang="en-US" dirty="0"/>
              <a:t>")</a:t>
            </a:r>
          </a:p>
          <a:p>
            <a:r>
              <a:rPr lang="en-US" dirty="0"/>
              <a:t># Read Student Information</a:t>
            </a:r>
          </a:p>
          <a:p>
            <a:r>
              <a:rPr lang="en-US" dirty="0" err="1"/>
              <a:t>info_df</a:t>
            </a:r>
            <a:r>
              <a:rPr lang="en-US" dirty="0"/>
              <a:t xml:space="preserve"> &lt;- </a:t>
            </a:r>
            <a:r>
              <a:rPr lang="en-US" dirty="0" err="1"/>
              <a:t>read.csv</a:t>
            </a:r>
            <a:r>
              <a:rPr lang="en-US" dirty="0"/>
              <a:t>("</a:t>
            </a:r>
            <a:r>
              <a:rPr lang="en-US" dirty="0" err="1"/>
              <a:t>Student_Information.csv</a:t>
            </a:r>
            <a:r>
              <a:rPr lang="en-US" dirty="0"/>
              <a:t>")</a:t>
            </a:r>
          </a:p>
          <a:p>
            <a:r>
              <a:rPr lang="en-US" dirty="0" err="1"/>
              <a:t>combined_df</a:t>
            </a:r>
            <a:r>
              <a:rPr lang="en-US" dirty="0"/>
              <a:t xml:space="preserve"> &lt;- </a:t>
            </a:r>
            <a:r>
              <a:rPr lang="en-US" dirty="0" err="1"/>
              <a:t>scores_df</a:t>
            </a:r>
            <a:r>
              <a:rPr lang="en-US" dirty="0"/>
              <a:t xml:space="preserve"> %&gt;% </a:t>
            </a:r>
            <a:r>
              <a:rPr lang="en-US" dirty="0" err="1"/>
              <a:t>left_join</a:t>
            </a:r>
            <a:r>
              <a:rPr lang="en-US" dirty="0"/>
              <a:t>(</a:t>
            </a:r>
            <a:r>
              <a:rPr lang="en-US" dirty="0" err="1"/>
              <a:t>info_df</a:t>
            </a:r>
            <a:r>
              <a:rPr lang="en-US" dirty="0"/>
              <a:t>, by = "Student")</a:t>
            </a:r>
          </a:p>
          <a:p>
            <a:r>
              <a:rPr lang="en-US" dirty="0"/>
              <a:t>head(</a:t>
            </a:r>
            <a:r>
              <a:rPr lang="en-US" dirty="0" err="1"/>
              <a:t>combined_df</a:t>
            </a:r>
            <a:r>
              <a:rPr lang="en-US" dirty="0"/>
              <a:t>)</a:t>
            </a:r>
          </a:p>
        </p:txBody>
      </p:sp>
      <p:pic>
        <p:nvPicPr>
          <p:cNvPr id="7" name="Picture 6" descr="A list of names and numbers  AI-generated content may be incorrect.">
            <a:extLst>
              <a:ext uri="{FF2B5EF4-FFF2-40B4-BE49-F238E27FC236}">
                <a16:creationId xmlns:a16="http://schemas.microsoft.com/office/drawing/2014/main" id="{6569AC13-2CC4-9695-F565-B5439DD86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8591" y="4556331"/>
            <a:ext cx="9348714" cy="203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8723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A1F99-B84F-BABB-557E-17BFA8B4B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DB684-3F5D-F77C-DFFA-A35299A4C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LEFT JOIN: all rows from left table, matched rows from right. NaN fills unmatched right-side values. Use when left table is your analytical ground truth and you need to enrich it.</a:t>
            </a:r>
            <a:r>
              <a:rPr lang="en-US" dirty="0" err="1"/>
              <a:t>scores_df</a:t>
            </a:r>
            <a:r>
              <a:rPr lang="en-US" dirty="0"/>
              <a:t xml:space="preserve"> and bring in matching info from </a:t>
            </a:r>
            <a:r>
              <a:rPr lang="en-US" dirty="0" err="1"/>
              <a:t>info_df</a:t>
            </a:r>
            <a:r>
              <a:rPr lang="en-US" dirty="0"/>
              <a:t xml:space="preserve">. </a:t>
            </a:r>
          </a:p>
          <a:p>
            <a:pPr lvl="0"/>
            <a:r>
              <a:rPr lang="en-US" dirty="0" err="1"/>
              <a:t>inner_join</a:t>
            </a:r>
            <a:r>
              <a:rPr lang="en-US" dirty="0"/>
              <a:t>INNER JOIN: only rows present in both tables. Warning: silently drops unmatched rows — check df.shape before and after to confirm no unexpected data loss.</a:t>
            </a:r>
          </a:p>
          <a:p>
            <a:pPr lvl="0"/>
            <a:r>
              <a:rPr lang="en-US" dirty="0" err="1"/>
              <a:t>full_join</a:t>
            </a:r>
            <a:r>
              <a:rPr lang="en-US" dirty="0"/>
              <a:t>FULL JOIN: all rows from both tables, NaN where no match. Use for data reconciliation: finding records in one source but not another.</a:t>
            </a:r>
          </a:p>
          <a:p>
            <a:pPr lvl="0"/>
            <a:r>
              <a:rPr lang="en-US" dirty="0" err="1"/>
              <a:t>right_join</a:t>
            </a:r>
            <a:r>
              <a:rPr lang="en-US" dirty="0"/>
              <a:t>RIGHT JOIN: all rows from right table, matched rows from left. Equivalent to left join with tables swapped. After any join: check df.shape and df.isnull().sum() to verify (</a:t>
            </a:r>
            <a:r>
              <a:rPr lang="en-US" dirty="0" err="1"/>
              <a:t>info_df</a:t>
            </a:r>
            <a:r>
              <a:rPr lang="en-US" dirty="0"/>
              <a:t xml:space="preserve"> in this case).</a:t>
            </a:r>
          </a:p>
        </p:txBody>
      </p:sp>
    </p:spTree>
    <p:extLst>
      <p:ext uri="{BB962C8B-B14F-4D97-AF65-F5344CB8AC3E}">
        <p14:creationId xmlns:p14="http://schemas.microsoft.com/office/powerpoint/2010/main" val="12250217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70904-7FA2-46D8-838F-DD72212D9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Data with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C33C6A-3FF3-7645-83B7-5C4EC7790F53}"/>
              </a:ext>
            </a:extLst>
          </p:cNvPr>
          <p:cNvSpPr txBox="1"/>
          <p:nvPr/>
        </p:nvSpPr>
        <p:spPr>
          <a:xfrm>
            <a:off x="838200" y="2398351"/>
            <a:ext cx="96976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df</a:t>
            </a:r>
            <a:r>
              <a:rPr lang="en-US" dirty="0"/>
              <a:t xml:space="preserve"> = </a:t>
            </a:r>
            <a:r>
              <a:rPr lang="en-US" dirty="0" err="1"/>
              <a:t>pd.read_csv</a:t>
            </a:r>
            <a:r>
              <a:rPr lang="en-US" dirty="0"/>
              <a:t>("</a:t>
            </a:r>
            <a:r>
              <a:rPr lang="en-US" dirty="0" err="1"/>
              <a:t>students_scores.csv</a:t>
            </a:r>
            <a:r>
              <a:rPr lang="en-US" dirty="0"/>
              <a:t>")</a:t>
            </a:r>
          </a:p>
          <a:p>
            <a:r>
              <a:rPr lang="en-US" dirty="0" err="1"/>
              <a:t>scores_df</a:t>
            </a:r>
            <a:r>
              <a:rPr lang="en-US" dirty="0"/>
              <a:t xml:space="preserve"> = </a:t>
            </a:r>
            <a:r>
              <a:rPr lang="en-US" dirty="0" err="1"/>
              <a:t>df</a:t>
            </a:r>
            <a:r>
              <a:rPr lang="en-US" dirty="0"/>
              <a:t>[["Student", "</a:t>
            </a:r>
            <a:r>
              <a:rPr lang="en-US" dirty="0" err="1"/>
              <a:t>Math_Score</a:t>
            </a:r>
            <a:r>
              <a:rPr lang="en-US" dirty="0"/>
              <a:t>", "</a:t>
            </a:r>
            <a:r>
              <a:rPr lang="en-US" dirty="0" err="1"/>
              <a:t>English_Score</a:t>
            </a:r>
            <a:r>
              <a:rPr lang="en-US" dirty="0"/>
              <a:t>"]]</a:t>
            </a:r>
          </a:p>
          <a:p>
            <a:endParaRPr lang="en-US" dirty="0"/>
          </a:p>
          <a:p>
            <a:r>
              <a:rPr lang="en-US" dirty="0" err="1"/>
              <a:t>info_df</a:t>
            </a:r>
            <a:r>
              <a:rPr lang="en-US" dirty="0"/>
              <a:t xml:space="preserve"> = </a:t>
            </a:r>
            <a:r>
              <a:rPr lang="en-US" dirty="0" err="1"/>
              <a:t>pd.read_csv</a:t>
            </a:r>
            <a:r>
              <a:rPr lang="en-US" dirty="0"/>
              <a:t>("</a:t>
            </a:r>
            <a:r>
              <a:rPr lang="en-US" dirty="0" err="1"/>
              <a:t>Student_Information.csv</a:t>
            </a:r>
            <a:r>
              <a:rPr lang="en-US" dirty="0"/>
              <a:t>")</a:t>
            </a:r>
          </a:p>
          <a:p>
            <a:r>
              <a:rPr lang="en-US" dirty="0" err="1"/>
              <a:t>combined_df</a:t>
            </a:r>
            <a:r>
              <a:rPr lang="en-US" dirty="0"/>
              <a:t xml:space="preserve"> = </a:t>
            </a:r>
            <a:r>
              <a:rPr lang="en-US" dirty="0" err="1"/>
              <a:t>pd.merge</a:t>
            </a:r>
            <a:r>
              <a:rPr lang="en-US" dirty="0"/>
              <a:t>(</a:t>
            </a:r>
            <a:r>
              <a:rPr lang="en-US" dirty="0" err="1"/>
              <a:t>scores_df</a:t>
            </a:r>
            <a:r>
              <a:rPr lang="en-US" dirty="0"/>
              <a:t xml:space="preserve">, </a:t>
            </a:r>
            <a:r>
              <a:rPr lang="en-US" dirty="0" err="1"/>
              <a:t>info_df</a:t>
            </a:r>
            <a:r>
              <a:rPr lang="en-US" dirty="0"/>
              <a:t>, on="Student", how="left")</a:t>
            </a:r>
          </a:p>
          <a:p>
            <a:endParaRPr lang="en-US" dirty="0"/>
          </a:p>
          <a:p>
            <a:r>
              <a:rPr lang="en-US" dirty="0" err="1"/>
              <a:t>combined_df.head</a:t>
            </a:r>
            <a:r>
              <a:rPr lang="en-US" dirty="0"/>
              <a:t>()</a:t>
            </a:r>
          </a:p>
        </p:txBody>
      </p:sp>
      <p:pic>
        <p:nvPicPr>
          <p:cNvPr id="7" name="Picture 6" descr="A screenshot of a cellphone  AI-generated content may be incorrect.">
            <a:extLst>
              <a:ext uri="{FF2B5EF4-FFF2-40B4-BE49-F238E27FC236}">
                <a16:creationId xmlns:a16="http://schemas.microsoft.com/office/drawing/2014/main" id="{4E8C5DB0-5B8A-947F-C5AC-E93F4952731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66"/>
          <a:stretch/>
        </p:blipFill>
        <p:spPr>
          <a:xfrm>
            <a:off x="3843129" y="4429676"/>
            <a:ext cx="8036133" cy="203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9564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83AFB-73D4-EE1F-698D-F07610C08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Appending Rows (Stacking Data)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C6017B8-FBAE-6818-E371-811F9BEF6A85}"/>
              </a:ext>
            </a:extLst>
          </p:cNvPr>
          <p:cNvSpPr/>
          <p:nvPr/>
        </p:nvSpPr>
        <p:spPr>
          <a:xfrm>
            <a:off x="661492" y="2830215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What is Appending?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2CEA5FF-DCC4-777F-E4C3-98209FE30395}"/>
              </a:ext>
            </a:extLst>
          </p:cNvPr>
          <p:cNvSpPr/>
          <p:nvPr/>
        </p:nvSpPr>
        <p:spPr>
          <a:xfrm>
            <a:off x="661492" y="3314502"/>
            <a:ext cx="52039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Stacking one dataset below another with the same columns.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5399196-2A4A-73BB-77D9-CE79966F052C}"/>
              </a:ext>
            </a:extLst>
          </p:cNvPr>
          <p:cNvSpPr/>
          <p:nvPr/>
        </p:nvSpPr>
        <p:spPr>
          <a:xfrm>
            <a:off x="661492" y="4089401"/>
            <a:ext cx="5024933" cy="1096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 xml:space="preserve">Like adding more pages to a book with </a:t>
            </a:r>
          </a:p>
          <a:p>
            <a:pPr>
              <a:lnSpc>
                <a:spcPts val="2375"/>
              </a:lnSpc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the same format.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999B976-E7B8-6DFA-6684-5D3001897681}"/>
              </a:ext>
            </a:extLst>
          </p:cNvPr>
          <p:cNvSpPr/>
          <p:nvPr/>
        </p:nvSpPr>
        <p:spPr>
          <a:xfrm>
            <a:off x="6332935" y="2830215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Common Scenarios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DE1C3EB-3743-1453-F9C4-E1B672AAA144}"/>
              </a:ext>
            </a:extLst>
          </p:cNvPr>
          <p:cNvSpPr/>
          <p:nvPr/>
        </p:nvSpPr>
        <p:spPr>
          <a:xfrm>
            <a:off x="6332935" y="3314502"/>
            <a:ext cx="52039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Combining data from different time periods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B49053C-B125-D9D7-98FA-81A9892C0FFF}"/>
              </a:ext>
            </a:extLst>
          </p:cNvPr>
          <p:cNvSpPr/>
          <p:nvPr/>
        </p:nvSpPr>
        <p:spPr>
          <a:xfrm>
            <a:off x="6332935" y="3683001"/>
            <a:ext cx="52039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Merging data from different locations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44DB93E-587E-1B69-BB5A-E771B9CF9FEB}"/>
              </a:ext>
            </a:extLst>
          </p:cNvPr>
          <p:cNvSpPr/>
          <p:nvPr/>
        </p:nvSpPr>
        <p:spPr>
          <a:xfrm>
            <a:off x="6332935" y="4051499"/>
            <a:ext cx="52039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Consolidating multiple surveys with the same questions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D3BDBE8-C29F-E151-2A10-A93484C98DF1}"/>
              </a:ext>
            </a:extLst>
          </p:cNvPr>
          <p:cNvSpPr/>
          <p:nvPr/>
        </p:nvSpPr>
        <p:spPr>
          <a:xfrm>
            <a:off x="6332935" y="4722416"/>
            <a:ext cx="52039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Building a complete dataset from partial files</a:t>
            </a:r>
            <a:endParaRPr lang="en-US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4577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A6FC280-298A-EB22-0CC8-C58A07CBA0BB}"/>
              </a:ext>
            </a:extLst>
          </p:cNvPr>
          <p:cNvSpPr/>
          <p:nvPr/>
        </p:nvSpPr>
        <p:spPr>
          <a:xfrm>
            <a:off x="661492" y="1767086"/>
            <a:ext cx="694074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625"/>
              </a:lnSpc>
            </a:pPr>
            <a:r>
              <a:rPr lang="en-US" sz="3708" b="1" dirty="0">
                <a:solidFill>
                  <a:srgbClr val="000000"/>
                </a:solidFill>
                <a:ea typeface="Playfair Display Bold" pitchFamily="34" charset="-122"/>
                <a:cs typeface="Playfair Display Bold" pitchFamily="34" charset="-120"/>
              </a:rPr>
              <a:t>Appending Rows: Stacking Data</a:t>
            </a:r>
            <a:endParaRPr lang="en-US" sz="3708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381F844-F616-9C80-ACBA-269C643EF6A4}"/>
              </a:ext>
            </a:extLst>
          </p:cNvPr>
          <p:cNvSpPr/>
          <p:nvPr/>
        </p:nvSpPr>
        <p:spPr>
          <a:xfrm>
            <a:off x="661492" y="2830215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000000"/>
                </a:solidFill>
                <a:ea typeface="Playfair Display Bold" pitchFamily="34" charset="-122"/>
                <a:cs typeface="Playfair Display Bold" pitchFamily="34" charset="-120"/>
              </a:rPr>
              <a:t>What is Appending?</a:t>
            </a:r>
            <a:endParaRPr lang="en-US" sz="1833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DA5BDE-731A-FB9D-AB13-5788D26F1476}"/>
              </a:ext>
            </a:extLst>
          </p:cNvPr>
          <p:cNvSpPr/>
          <p:nvPr/>
        </p:nvSpPr>
        <p:spPr>
          <a:xfrm>
            <a:off x="661492" y="3314502"/>
            <a:ext cx="52039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Stacking one dataset below another with the same columns.</a:t>
            </a:r>
            <a:endParaRPr lang="en-US" sz="1458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0A18E4-8445-4BB9-6A1D-AF2F200EEAE1}"/>
              </a:ext>
            </a:extLst>
          </p:cNvPr>
          <p:cNvSpPr/>
          <p:nvPr/>
        </p:nvSpPr>
        <p:spPr>
          <a:xfrm>
            <a:off x="661492" y="4089401"/>
            <a:ext cx="52039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Like adding more pages to a book with the same format.</a:t>
            </a:r>
            <a:endParaRPr lang="en-US" sz="1458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BAE3F23-5777-66C3-8934-F38D3BF43762}"/>
              </a:ext>
            </a:extLst>
          </p:cNvPr>
          <p:cNvSpPr/>
          <p:nvPr/>
        </p:nvSpPr>
        <p:spPr>
          <a:xfrm>
            <a:off x="6332935" y="2830215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000000"/>
                </a:solidFill>
                <a:ea typeface="Playfair Display Bold" pitchFamily="34" charset="-122"/>
                <a:cs typeface="Playfair Display Bold" pitchFamily="34" charset="-120"/>
              </a:rPr>
              <a:t>Common Scenarios</a:t>
            </a:r>
            <a:endParaRPr lang="en-US" sz="1833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59402E2-6AE0-4258-14B5-3691042E6B38}"/>
              </a:ext>
            </a:extLst>
          </p:cNvPr>
          <p:cNvSpPr/>
          <p:nvPr/>
        </p:nvSpPr>
        <p:spPr>
          <a:xfrm>
            <a:off x="6332935" y="3314502"/>
            <a:ext cx="52039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Combining data from different time periods</a:t>
            </a:r>
            <a:endParaRPr lang="en-US" sz="1458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59CE9AE-82D7-D637-1A98-02C0D0EA08FB}"/>
              </a:ext>
            </a:extLst>
          </p:cNvPr>
          <p:cNvSpPr/>
          <p:nvPr/>
        </p:nvSpPr>
        <p:spPr>
          <a:xfrm>
            <a:off x="6332935" y="3683001"/>
            <a:ext cx="52039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Merging data from different locations</a:t>
            </a:r>
            <a:endParaRPr lang="en-US" sz="1458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E0967C3-2927-E02E-22FE-A172C83F5963}"/>
              </a:ext>
            </a:extLst>
          </p:cNvPr>
          <p:cNvSpPr/>
          <p:nvPr/>
        </p:nvSpPr>
        <p:spPr>
          <a:xfrm>
            <a:off x="6332935" y="4051499"/>
            <a:ext cx="52039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Consolidating multiple surveys with the same questions</a:t>
            </a:r>
            <a:endParaRPr lang="en-US" sz="1458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95AFDB7-9CE6-636A-E549-DC831E300D7D}"/>
              </a:ext>
            </a:extLst>
          </p:cNvPr>
          <p:cNvSpPr/>
          <p:nvPr/>
        </p:nvSpPr>
        <p:spPr>
          <a:xfrm>
            <a:off x="6332935" y="4722416"/>
            <a:ext cx="52039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000000"/>
                </a:solidFill>
                <a:ea typeface="Inter" pitchFamily="34" charset="-122"/>
                <a:cs typeface="Inter" pitchFamily="34" charset="-120"/>
              </a:rPr>
              <a:t>Building a complete dataset from partial files</a:t>
            </a:r>
            <a:endParaRPr lang="en-US" sz="1458" dirty="0"/>
          </a:p>
        </p:txBody>
      </p:sp>
    </p:spTree>
    <p:extLst>
      <p:ext uri="{BB962C8B-B14F-4D97-AF65-F5344CB8AC3E}">
        <p14:creationId xmlns:p14="http://schemas.microsoft.com/office/powerpoint/2010/main" val="6159122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BE81916-3710-FFEC-C769-328F39D79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42821-4E28-CCAE-0841-E87A164B2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3313"/>
            <a:ext cx="10515600" cy="1325563"/>
          </a:xfrm>
        </p:spPr>
        <p:txBody>
          <a:bodyPr/>
          <a:lstStyle/>
          <a:p>
            <a:r>
              <a:rPr lang="en-US" dirty="0"/>
              <a:t>Appending Rows (Stacking Data) with 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A67B9C-E4C7-8E99-4AFF-F4BA0963EF2D}"/>
              </a:ext>
            </a:extLst>
          </p:cNvPr>
          <p:cNvSpPr txBox="1"/>
          <p:nvPr/>
        </p:nvSpPr>
        <p:spPr>
          <a:xfrm>
            <a:off x="838200" y="1686248"/>
            <a:ext cx="112395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# Read the 2021 scores CSV file into a data frame</a:t>
            </a:r>
          </a:p>
          <a:p>
            <a:pPr>
              <a:buNone/>
            </a:pPr>
            <a:r>
              <a:rPr lang="en-US" dirty="0"/>
              <a:t xml:space="preserve">scores_2021_df &lt;- </a:t>
            </a:r>
            <a:r>
              <a:rPr lang="en-US" dirty="0" err="1"/>
              <a:t>read.csv</a:t>
            </a:r>
            <a:r>
              <a:rPr lang="en-US" dirty="0"/>
              <a:t>("Scores_2021.csv")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# Display the dimensions (number of rows and columns) of the 2021 data frame</a:t>
            </a:r>
          </a:p>
          <a:p>
            <a:pPr>
              <a:buNone/>
            </a:pPr>
            <a:r>
              <a:rPr lang="en-US" dirty="0"/>
              <a:t>dim(scores_2021_df)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# Read the 2022 scores CSV file into a data frame</a:t>
            </a:r>
          </a:p>
          <a:p>
            <a:pPr>
              <a:buNone/>
            </a:pPr>
            <a:r>
              <a:rPr lang="en-US" dirty="0"/>
              <a:t xml:space="preserve">scores_2022_df &lt;- </a:t>
            </a:r>
            <a:r>
              <a:rPr lang="en-US" dirty="0" err="1"/>
              <a:t>read.csv</a:t>
            </a:r>
            <a:r>
              <a:rPr lang="en-US" dirty="0"/>
              <a:t>("Scores_2022.csv")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# Display the dimensions of the 2022 data frame</a:t>
            </a:r>
          </a:p>
          <a:p>
            <a:pPr>
              <a:buNone/>
            </a:pPr>
            <a:r>
              <a:rPr lang="en-US" dirty="0"/>
              <a:t>dim(scores_2022_df)</a:t>
            </a: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# Combine the 2021 and 2022 data frames by stacking them on top of each other</a:t>
            </a:r>
          </a:p>
          <a:p>
            <a:pPr>
              <a:buNone/>
            </a:pPr>
            <a:r>
              <a:rPr lang="en-US" dirty="0" err="1"/>
              <a:t>all_scores_df</a:t>
            </a:r>
            <a:r>
              <a:rPr lang="en-US" dirty="0"/>
              <a:t xml:space="preserve"> &lt;- </a:t>
            </a:r>
            <a:r>
              <a:rPr lang="en-US" dirty="0" err="1"/>
              <a:t>bind_rows</a:t>
            </a:r>
            <a:r>
              <a:rPr lang="en-US" dirty="0"/>
              <a:t>(scores_2021_df, scores_2022_df)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# Display the dimensions of the combined data frame</a:t>
            </a:r>
          </a:p>
          <a:p>
            <a:r>
              <a:rPr lang="en-US" dirty="0"/>
              <a:t>dim(</a:t>
            </a:r>
            <a:r>
              <a:rPr lang="en-US" dirty="0" err="1"/>
              <a:t>all_scores_df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748379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6D038-8383-0A4D-952D-96FF3464E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4762"/>
            <a:ext cx="10515600" cy="1325563"/>
          </a:xfrm>
        </p:spPr>
        <p:txBody>
          <a:bodyPr/>
          <a:lstStyle/>
          <a:p>
            <a:r>
              <a:rPr lang="en-US" dirty="0"/>
              <a:t>Appending Rows (Stacking Data) with Python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270451-B8D7-A0F4-3D24-4F9A52D9670D}"/>
              </a:ext>
            </a:extLst>
          </p:cNvPr>
          <p:cNvSpPr txBox="1"/>
          <p:nvPr/>
        </p:nvSpPr>
        <p:spPr>
          <a:xfrm>
            <a:off x="838200" y="1870144"/>
            <a:ext cx="1122045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 xml:space="preserve"># Read the 2021 scores CSV file into a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 xml:space="preserve">scores_2021_df = </a:t>
            </a:r>
            <a:r>
              <a:rPr lang="en-US" dirty="0" err="1"/>
              <a:t>pd.read_csv</a:t>
            </a:r>
            <a:r>
              <a:rPr lang="en-US" dirty="0"/>
              <a:t>("Scores_2021.csv")</a:t>
            </a:r>
          </a:p>
          <a:p>
            <a:endParaRPr lang="en-US" dirty="0"/>
          </a:p>
          <a:p>
            <a:r>
              <a:rPr lang="en-US" dirty="0"/>
              <a:t xml:space="preserve"># Display the shape (number of rows and columns) of the 2021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>print(scores_2021_df.shape)</a:t>
            </a:r>
          </a:p>
          <a:p>
            <a:endParaRPr lang="en-US" dirty="0"/>
          </a:p>
          <a:p>
            <a:r>
              <a:rPr lang="en-US" dirty="0"/>
              <a:t xml:space="preserve"># Read the 2022 scores CSV file into a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 xml:space="preserve">scores_2022_df = </a:t>
            </a:r>
            <a:r>
              <a:rPr lang="en-US" dirty="0" err="1"/>
              <a:t>pd.read_csv</a:t>
            </a:r>
            <a:r>
              <a:rPr lang="en-US" dirty="0"/>
              <a:t>("Scores_2022.csv")</a:t>
            </a:r>
          </a:p>
          <a:p>
            <a:endParaRPr lang="en-US" dirty="0"/>
          </a:p>
          <a:p>
            <a:r>
              <a:rPr lang="en-US" dirty="0"/>
              <a:t xml:space="preserve"># Display the shape of the 2022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>print(scores_2022_df.shape)</a:t>
            </a:r>
          </a:p>
          <a:p>
            <a:endParaRPr lang="en-US" dirty="0"/>
          </a:p>
          <a:p>
            <a:r>
              <a:rPr lang="en-US" dirty="0"/>
              <a:t xml:space="preserve"># Combine the 2021 and 2022 </a:t>
            </a:r>
            <a:r>
              <a:rPr lang="en-US" dirty="0" err="1"/>
              <a:t>DataFrames</a:t>
            </a:r>
            <a:r>
              <a:rPr lang="en-US" dirty="0"/>
              <a:t xml:space="preserve"> by stacking them on top of each other</a:t>
            </a:r>
          </a:p>
          <a:p>
            <a:r>
              <a:rPr lang="en-US" dirty="0" err="1"/>
              <a:t>all_scores_df</a:t>
            </a:r>
            <a:r>
              <a:rPr lang="en-US" dirty="0"/>
              <a:t xml:space="preserve"> = </a:t>
            </a:r>
            <a:r>
              <a:rPr lang="en-US" dirty="0" err="1"/>
              <a:t>pd.concat</a:t>
            </a:r>
            <a:r>
              <a:rPr lang="en-US" dirty="0"/>
              <a:t xml:space="preserve">([scores_2021_df, scores_2022_df], </a:t>
            </a:r>
            <a:r>
              <a:rPr lang="en-US" dirty="0" err="1"/>
              <a:t>ignore_index</a:t>
            </a:r>
            <a:r>
              <a:rPr lang="en-US" dirty="0"/>
              <a:t>=True)</a:t>
            </a:r>
          </a:p>
          <a:p>
            <a:endParaRPr lang="en-US" dirty="0"/>
          </a:p>
          <a:p>
            <a:r>
              <a:rPr lang="en-US" dirty="0"/>
              <a:t xml:space="preserve"># Display the shape of the combined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/>
              <a:t>print(</a:t>
            </a:r>
            <a:r>
              <a:rPr lang="en-US" dirty="0" err="1"/>
              <a:t>all_scores_df.shape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389065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C74D8-4B69-6893-E563-1D0D0D371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7B7CF-C776-000C-89AA-20ABF1898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6905625" cy="3572911"/>
          </a:xfrm>
        </p:spPr>
        <p:txBody>
          <a:bodyPr/>
          <a:lstStyle/>
          <a:p>
            <a:r>
              <a:rPr lang="en-US" dirty="0"/>
              <a:t xml:space="preserve">We have 2 datasets, </a:t>
            </a:r>
            <a:r>
              <a:rPr lang="en-US" dirty="0" err="1"/>
              <a:t>lab_results.csv</a:t>
            </a:r>
            <a:r>
              <a:rPr lang="en-US" dirty="0"/>
              <a:t xml:space="preserve"> and </a:t>
            </a:r>
            <a:r>
              <a:rPr lang="en-US" dirty="0" err="1"/>
              <a:t>patients.csv</a:t>
            </a:r>
            <a:endParaRPr lang="en-US" dirty="0"/>
          </a:p>
          <a:p>
            <a:r>
              <a:rPr lang="en-US" dirty="0"/>
              <a:t>Combine the two files</a:t>
            </a:r>
          </a:p>
          <a:p>
            <a:r>
              <a:rPr lang="en-US" dirty="0"/>
              <a:t>Experiments different join types</a:t>
            </a:r>
          </a:p>
        </p:txBody>
      </p:sp>
      <p:pic>
        <p:nvPicPr>
          <p:cNvPr id="7" name="Picture 6" descr="A black text on a white background  AI-generated content may be incorrect.">
            <a:extLst>
              <a:ext uri="{FF2B5EF4-FFF2-40B4-BE49-F238E27FC236}">
                <a16:creationId xmlns:a16="http://schemas.microsoft.com/office/drawing/2014/main" id="{2A11FFEF-2DFD-3A5A-A9C1-5B99EDF2ED9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39304" y="1800225"/>
            <a:ext cx="4071720" cy="40717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243C83-FF57-9B87-8BEE-9B6491968A21}"/>
              </a:ext>
            </a:extLst>
          </p:cNvPr>
          <p:cNvSpPr txBox="1"/>
          <p:nvPr/>
        </p:nvSpPr>
        <p:spPr>
          <a:xfrm>
            <a:off x="8429625" y="5946130"/>
            <a:ext cx="3581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eramossomosyseremos.blogspot.com/2013/09/"/>
              </a:rPr>
              <a:t>This Photo</a:t>
            </a:r>
            <a:r>
              <a:rPr lang="en-US" sz="900"/>
              <a:t xml:space="preserve"> by Unknown Author is licensed under </a:t>
            </a:r>
            <a:r>
              <a:rPr lang="en-US" sz="900">
                <a:hlinkClick r:id="rId4" tooltip="https://creativecommons.org/licenses/by-nc-nd/3.0/"/>
              </a:rPr>
              <a:t>CC BY-NC-ND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0599567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FF442-921D-E270-D1B9-2D658EF44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 with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31460-7ED2-A9FD-1B20-016945771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First, read the datasets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3C2388-4F01-9F6F-E3AB-126EE6846339}"/>
              </a:ext>
            </a:extLst>
          </p:cNvPr>
          <p:cNvSpPr txBox="1"/>
          <p:nvPr/>
        </p:nvSpPr>
        <p:spPr>
          <a:xfrm>
            <a:off x="838200" y="3136106"/>
            <a:ext cx="609361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 xml:space="preserve"># 1. Read the </a:t>
            </a:r>
            <a:r>
              <a:rPr lang="en-US" dirty="0" err="1"/>
              <a:t>DataSets</a:t>
            </a:r>
            <a:endParaRPr lang="en-US" dirty="0"/>
          </a:p>
          <a:p>
            <a:r>
              <a:rPr lang="en-US" dirty="0" err="1"/>
              <a:t>lab_results</a:t>
            </a:r>
            <a:r>
              <a:rPr lang="en-US" dirty="0"/>
              <a:t xml:space="preserve"> &lt;- </a:t>
            </a:r>
            <a:r>
              <a:rPr lang="en-US" dirty="0" err="1"/>
              <a:t>read.csv</a:t>
            </a:r>
            <a:r>
              <a:rPr lang="en-US" dirty="0"/>
              <a:t>("</a:t>
            </a:r>
            <a:r>
              <a:rPr lang="en-US" dirty="0" err="1"/>
              <a:t>lab_results.csv</a:t>
            </a:r>
            <a:r>
              <a:rPr lang="en-US" dirty="0"/>
              <a:t>")</a:t>
            </a:r>
          </a:p>
          <a:p>
            <a:r>
              <a:rPr lang="en-US" dirty="0"/>
              <a:t xml:space="preserve">patients &lt;- </a:t>
            </a:r>
            <a:r>
              <a:rPr lang="en-US" dirty="0" err="1"/>
              <a:t>read.csv</a:t>
            </a:r>
            <a:r>
              <a:rPr lang="en-US" dirty="0"/>
              <a:t>("</a:t>
            </a:r>
            <a:r>
              <a:rPr lang="en-US" dirty="0" err="1"/>
              <a:t>patients.csv</a:t>
            </a:r>
            <a:r>
              <a:rPr lang="en-US" dirty="0"/>
              <a:t>")</a:t>
            </a:r>
          </a:p>
          <a:p>
            <a:endParaRPr lang="en-US" dirty="0"/>
          </a:p>
          <a:p>
            <a:r>
              <a:rPr lang="en-US" dirty="0"/>
              <a:t># 2. Know your data</a:t>
            </a:r>
          </a:p>
          <a:p>
            <a:r>
              <a:rPr lang="en-US" dirty="0"/>
              <a:t># Check the heads</a:t>
            </a:r>
          </a:p>
          <a:p>
            <a:r>
              <a:rPr lang="en-US" dirty="0"/>
              <a:t>head(</a:t>
            </a:r>
            <a:r>
              <a:rPr lang="en-US" dirty="0" err="1"/>
              <a:t>lab_results</a:t>
            </a:r>
            <a:r>
              <a:rPr lang="en-US" dirty="0"/>
              <a:t>)</a:t>
            </a:r>
          </a:p>
          <a:p>
            <a:r>
              <a:rPr lang="en-US" dirty="0"/>
              <a:t>head(patients)</a:t>
            </a:r>
          </a:p>
          <a:p>
            <a:endParaRPr lang="en-US" dirty="0"/>
          </a:p>
          <a:p>
            <a:r>
              <a:rPr lang="en-US" dirty="0"/>
              <a:t># Check the dimensions</a:t>
            </a:r>
          </a:p>
          <a:p>
            <a:r>
              <a:rPr lang="en-US" dirty="0"/>
              <a:t>dim(</a:t>
            </a:r>
            <a:r>
              <a:rPr lang="en-US" dirty="0" err="1"/>
              <a:t>lab_results</a:t>
            </a:r>
            <a:r>
              <a:rPr lang="en-US" dirty="0"/>
              <a:t>) # 35 3</a:t>
            </a:r>
          </a:p>
          <a:p>
            <a:r>
              <a:rPr lang="en-US" dirty="0"/>
              <a:t>dim(patients) # 30 3</a:t>
            </a:r>
          </a:p>
          <a:p>
            <a:endParaRPr lang="en-US" dirty="0"/>
          </a:p>
        </p:txBody>
      </p:sp>
      <p:pic>
        <p:nvPicPr>
          <p:cNvPr id="6" name="Picture 5" descr="A screenshot of a test  AI-generated content may be incorrect.">
            <a:extLst>
              <a:ext uri="{FF2B5EF4-FFF2-40B4-BE49-F238E27FC236}">
                <a16:creationId xmlns:a16="http://schemas.microsoft.com/office/drawing/2014/main" id="{8A4C3CFB-B868-4BD5-FF04-DD25F5CBE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1818" y="974595"/>
            <a:ext cx="3473055" cy="559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3242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6477E-DB87-2CBF-776E-01BF4357B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 with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8AF14-5920-2DD2-3907-7A2BBC5CC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 xml:space="preserve">Try </a:t>
            </a:r>
            <a:r>
              <a:rPr lang="en-US" dirty="0" err="1"/>
              <a:t>inner_join</a:t>
            </a:r>
            <a:endParaRPr lang="en-US" dirty="0"/>
          </a:p>
          <a:p>
            <a:r>
              <a:rPr lang="en-US" dirty="0"/>
              <a:t>It kept all the matching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2F3528-3CB8-19A5-6CA8-F3E0DA08341C}"/>
              </a:ext>
            </a:extLst>
          </p:cNvPr>
          <p:cNvSpPr txBox="1"/>
          <p:nvPr/>
        </p:nvSpPr>
        <p:spPr>
          <a:xfrm>
            <a:off x="838200" y="4145637"/>
            <a:ext cx="46624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 xml:space="preserve"># 3. Try </a:t>
            </a:r>
            <a:r>
              <a:rPr lang="en-US" dirty="0" err="1"/>
              <a:t>inner_join</a:t>
            </a:r>
            <a:endParaRPr lang="en-US" dirty="0"/>
          </a:p>
          <a:p>
            <a:r>
              <a:rPr lang="en-US" dirty="0"/>
              <a:t>library(</a:t>
            </a:r>
            <a:r>
              <a:rPr lang="en-US" dirty="0" err="1"/>
              <a:t>dplyr</a:t>
            </a:r>
            <a:r>
              <a:rPr lang="en-US" dirty="0"/>
              <a:t>)</a:t>
            </a:r>
          </a:p>
          <a:p>
            <a:r>
              <a:rPr lang="en-US" dirty="0" err="1"/>
              <a:t>in_join_df</a:t>
            </a:r>
            <a:r>
              <a:rPr lang="en-US" dirty="0"/>
              <a:t xml:space="preserve"> &lt;- patients %&gt;% </a:t>
            </a:r>
            <a:r>
              <a:rPr lang="en-US" dirty="0" err="1"/>
              <a:t>inner_join</a:t>
            </a:r>
            <a:r>
              <a:rPr lang="en-US" dirty="0"/>
              <a:t>(</a:t>
            </a:r>
            <a:r>
              <a:rPr lang="en-US" dirty="0" err="1"/>
              <a:t>lab_results</a:t>
            </a:r>
            <a:r>
              <a:rPr lang="en-US" dirty="0"/>
              <a:t>, by = "ID")</a:t>
            </a:r>
          </a:p>
          <a:p>
            <a:endParaRPr lang="en-US" dirty="0"/>
          </a:p>
          <a:p>
            <a:r>
              <a:rPr lang="en-US" dirty="0"/>
              <a:t>dim(</a:t>
            </a:r>
            <a:r>
              <a:rPr lang="en-US" dirty="0" err="1"/>
              <a:t>in_join_df</a:t>
            </a:r>
            <a:r>
              <a:rPr lang="en-US" dirty="0"/>
              <a:t xml:space="preserve">) #kept all the </a:t>
            </a:r>
            <a:r>
              <a:rPr lang="en-US" dirty="0" err="1"/>
              <a:t>lab_results</a:t>
            </a:r>
            <a:endParaRPr lang="en-US" dirty="0"/>
          </a:p>
          <a:p>
            <a:r>
              <a:rPr lang="en-US" dirty="0"/>
              <a:t>head(</a:t>
            </a:r>
            <a:r>
              <a:rPr lang="en-US" dirty="0" err="1"/>
              <a:t>in_join_df</a:t>
            </a:r>
            <a:r>
              <a:rPr lang="en-US" dirty="0"/>
              <a:t>)</a:t>
            </a:r>
          </a:p>
        </p:txBody>
      </p:sp>
      <p:pic>
        <p:nvPicPr>
          <p:cNvPr id="7" name="Picture 6" descr="A screenshot of a computer  AI-generated content may be incorrect.">
            <a:extLst>
              <a:ext uri="{FF2B5EF4-FFF2-40B4-BE49-F238E27FC236}">
                <a16:creationId xmlns:a16="http://schemas.microsoft.com/office/drawing/2014/main" id="{A06D9B44-3A63-36C9-3355-62B25F0B89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3142212"/>
            <a:ext cx="5440678" cy="303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525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76235-77A5-13CD-9BEA-A803093AA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 with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E9D67-5575-826B-F992-4215E0C36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4051"/>
            <a:ext cx="4719638" cy="3572911"/>
          </a:xfrm>
        </p:spPr>
        <p:txBody>
          <a:bodyPr/>
          <a:lstStyle/>
          <a:p>
            <a:r>
              <a:rPr lang="en-US" dirty="0"/>
              <a:t xml:space="preserve">Try </a:t>
            </a:r>
            <a:r>
              <a:rPr lang="en-US" dirty="0" err="1"/>
              <a:t>full_join</a:t>
            </a:r>
            <a:endParaRPr lang="en-US" dirty="0"/>
          </a:p>
          <a:p>
            <a:r>
              <a:rPr lang="en-US" dirty="0"/>
              <a:t>It kept all data regardless of match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C6107A-FC4F-2ADF-6B91-51B146E765DD}"/>
              </a:ext>
            </a:extLst>
          </p:cNvPr>
          <p:cNvSpPr txBox="1"/>
          <p:nvPr/>
        </p:nvSpPr>
        <p:spPr>
          <a:xfrm>
            <a:off x="838200" y="4230254"/>
            <a:ext cx="60936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 xml:space="preserve"># 4. Try </a:t>
            </a:r>
            <a:r>
              <a:rPr lang="en-US" dirty="0" err="1"/>
              <a:t>full_join</a:t>
            </a:r>
            <a:endParaRPr lang="en-US" dirty="0"/>
          </a:p>
          <a:p>
            <a:r>
              <a:rPr lang="en-US" dirty="0" err="1"/>
              <a:t>f_join_df</a:t>
            </a:r>
            <a:r>
              <a:rPr lang="en-US" dirty="0"/>
              <a:t xml:space="preserve"> &lt;- patients %&gt;% </a:t>
            </a:r>
            <a:r>
              <a:rPr lang="en-US" dirty="0" err="1"/>
              <a:t>full_join</a:t>
            </a:r>
            <a:r>
              <a:rPr lang="en-US" dirty="0"/>
              <a:t>(</a:t>
            </a:r>
            <a:r>
              <a:rPr lang="en-US" dirty="0" err="1"/>
              <a:t>lab_results</a:t>
            </a:r>
            <a:r>
              <a:rPr lang="en-US" dirty="0"/>
              <a:t>, by = "ID")</a:t>
            </a:r>
          </a:p>
          <a:p>
            <a:endParaRPr lang="en-US" dirty="0"/>
          </a:p>
          <a:p>
            <a:r>
              <a:rPr lang="en-US" dirty="0"/>
              <a:t>dim(</a:t>
            </a:r>
            <a:r>
              <a:rPr lang="en-US" dirty="0" err="1"/>
              <a:t>f_join_df</a:t>
            </a:r>
            <a:r>
              <a:rPr lang="en-US" dirty="0"/>
              <a:t xml:space="preserve">) #kept all the </a:t>
            </a:r>
            <a:r>
              <a:rPr lang="en-US" dirty="0" err="1"/>
              <a:t>lab_results</a:t>
            </a:r>
            <a:r>
              <a:rPr lang="en-US" dirty="0"/>
              <a:t xml:space="preserve"> and patients</a:t>
            </a:r>
          </a:p>
          <a:p>
            <a:r>
              <a:rPr lang="en-US" dirty="0"/>
              <a:t>head(</a:t>
            </a:r>
            <a:r>
              <a:rPr lang="en-US" dirty="0" err="1"/>
              <a:t>f_join_df</a:t>
            </a:r>
            <a:r>
              <a:rPr lang="en-US" dirty="0"/>
              <a:t>)</a:t>
            </a:r>
          </a:p>
          <a:p>
            <a:r>
              <a:rPr lang="en-US" dirty="0"/>
              <a:t>tail(</a:t>
            </a:r>
            <a:r>
              <a:rPr lang="en-US" dirty="0" err="1"/>
              <a:t>f_join_df</a:t>
            </a:r>
            <a:r>
              <a:rPr lang="en-US" dirty="0"/>
              <a:t>) #kept patients without the lab results</a:t>
            </a:r>
          </a:p>
        </p:txBody>
      </p:sp>
      <p:pic>
        <p:nvPicPr>
          <p:cNvPr id="7" name="Picture 6" descr="A screenshot of a computer  AI-generated content may be incorrect.">
            <a:extLst>
              <a:ext uri="{FF2B5EF4-FFF2-40B4-BE49-F238E27FC236}">
                <a16:creationId xmlns:a16="http://schemas.microsoft.com/office/drawing/2014/main" id="{40E4795D-DC98-B212-89CD-0C3426469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4142" y="2283547"/>
            <a:ext cx="5237335" cy="389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5696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650C4-3409-CB91-6A6E-F6E11853C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850"/>
            <a:ext cx="10515600" cy="1325563"/>
          </a:xfrm>
        </p:spPr>
        <p:txBody>
          <a:bodyPr/>
          <a:lstStyle/>
          <a:p>
            <a:r>
              <a:rPr lang="en-US" dirty="0"/>
              <a:t>Answers with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B804E-1AF1-C578-62D9-A0CB5381C1BE}"/>
              </a:ext>
            </a:extLst>
          </p:cNvPr>
          <p:cNvSpPr txBox="1"/>
          <p:nvPr/>
        </p:nvSpPr>
        <p:spPr>
          <a:xfrm>
            <a:off x="838200" y="1691124"/>
            <a:ext cx="609361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 xml:space="preserve"># 1. Read the </a:t>
            </a:r>
            <a:r>
              <a:rPr lang="en-US" dirty="0" err="1"/>
              <a:t>DataSets</a:t>
            </a:r>
            <a:endParaRPr lang="en-US" dirty="0"/>
          </a:p>
          <a:p>
            <a:r>
              <a:rPr lang="en-US" dirty="0"/>
              <a:t>import pandas as pd</a:t>
            </a:r>
          </a:p>
          <a:p>
            <a:r>
              <a:rPr lang="en-US" dirty="0" err="1"/>
              <a:t>lab_results</a:t>
            </a:r>
            <a:r>
              <a:rPr lang="en-US" dirty="0"/>
              <a:t xml:space="preserve"> = </a:t>
            </a:r>
            <a:r>
              <a:rPr lang="en-US" dirty="0" err="1"/>
              <a:t>pd.read_csv</a:t>
            </a:r>
            <a:r>
              <a:rPr lang="en-US" dirty="0"/>
              <a:t>("</a:t>
            </a:r>
            <a:r>
              <a:rPr lang="en-US" dirty="0" err="1"/>
              <a:t>lab_results.csv</a:t>
            </a:r>
            <a:r>
              <a:rPr lang="en-US" dirty="0"/>
              <a:t>")</a:t>
            </a:r>
          </a:p>
          <a:p>
            <a:r>
              <a:rPr lang="en-US" dirty="0"/>
              <a:t xml:space="preserve">patients = </a:t>
            </a:r>
            <a:r>
              <a:rPr lang="en-US" dirty="0" err="1"/>
              <a:t>pd.read_csv</a:t>
            </a:r>
            <a:r>
              <a:rPr lang="en-US" dirty="0"/>
              <a:t>("</a:t>
            </a:r>
            <a:r>
              <a:rPr lang="en-US" dirty="0" err="1"/>
              <a:t>patients.csv</a:t>
            </a:r>
            <a:r>
              <a:rPr lang="en-US" dirty="0"/>
              <a:t>")</a:t>
            </a:r>
          </a:p>
          <a:p>
            <a:endParaRPr lang="en-US" dirty="0"/>
          </a:p>
          <a:p>
            <a:r>
              <a:rPr lang="en-US" dirty="0"/>
              <a:t># 2. Know your data</a:t>
            </a:r>
          </a:p>
          <a:p>
            <a:r>
              <a:rPr lang="en-US" dirty="0"/>
              <a:t># Check the heads</a:t>
            </a:r>
          </a:p>
          <a:p>
            <a:r>
              <a:rPr lang="en-US" dirty="0"/>
              <a:t>print("Top 5 rows of Lab Results Data Set")</a:t>
            </a:r>
          </a:p>
          <a:p>
            <a:r>
              <a:rPr lang="en-US" dirty="0"/>
              <a:t>print(</a:t>
            </a:r>
            <a:r>
              <a:rPr lang="en-US" dirty="0" err="1"/>
              <a:t>lab_results.head</a:t>
            </a:r>
            <a:r>
              <a:rPr lang="en-US" dirty="0"/>
              <a:t>())</a:t>
            </a:r>
          </a:p>
          <a:p>
            <a:r>
              <a:rPr lang="en-US" dirty="0"/>
              <a:t>print("Top 5 rows of Patients Data Set")</a:t>
            </a:r>
          </a:p>
          <a:p>
            <a:r>
              <a:rPr lang="en-US" dirty="0"/>
              <a:t>print(</a:t>
            </a:r>
            <a:r>
              <a:rPr lang="en-US" dirty="0" err="1"/>
              <a:t>patients.head</a:t>
            </a:r>
            <a:r>
              <a:rPr lang="en-US" dirty="0"/>
              <a:t>())</a:t>
            </a:r>
          </a:p>
          <a:p>
            <a:endParaRPr lang="en-US" dirty="0"/>
          </a:p>
          <a:p>
            <a:r>
              <a:rPr lang="en-US" dirty="0"/>
              <a:t># Check the dimensions</a:t>
            </a:r>
          </a:p>
          <a:p>
            <a:r>
              <a:rPr lang="en-US" dirty="0"/>
              <a:t>print("Dimensions of Lab Results Data Set")</a:t>
            </a:r>
          </a:p>
          <a:p>
            <a:r>
              <a:rPr lang="en-US" dirty="0"/>
              <a:t>print(</a:t>
            </a:r>
            <a:r>
              <a:rPr lang="en-US" dirty="0" err="1"/>
              <a:t>lab_results.shape</a:t>
            </a:r>
            <a:r>
              <a:rPr lang="en-US" dirty="0"/>
              <a:t>)</a:t>
            </a:r>
          </a:p>
          <a:p>
            <a:r>
              <a:rPr lang="en-US" dirty="0"/>
              <a:t>print("Dimensions of Shape Data Set")</a:t>
            </a:r>
          </a:p>
          <a:p>
            <a:r>
              <a:rPr lang="en-US" dirty="0"/>
              <a:t>print(</a:t>
            </a:r>
            <a:r>
              <a:rPr lang="en-US" dirty="0" err="1"/>
              <a:t>patients.shape</a:t>
            </a:r>
            <a:r>
              <a:rPr lang="en-US" dirty="0"/>
              <a:t>)</a:t>
            </a:r>
          </a:p>
        </p:txBody>
      </p:sp>
      <p:pic>
        <p:nvPicPr>
          <p:cNvPr id="7" name="Picture 6" descr="A screenshot of a computer  AI-generated content may be incorrect.">
            <a:extLst>
              <a:ext uri="{FF2B5EF4-FFF2-40B4-BE49-F238E27FC236}">
                <a16:creationId xmlns:a16="http://schemas.microsoft.com/office/drawing/2014/main" id="{B34573DC-4354-70C5-441D-87FC5D4FA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54322" y="1567413"/>
            <a:ext cx="5099478" cy="504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428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83B6D-CEBF-C2CA-C6F8-3EC29C41E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7638"/>
            <a:ext cx="10515600" cy="1325563"/>
          </a:xfrm>
        </p:spPr>
        <p:txBody>
          <a:bodyPr/>
          <a:lstStyle/>
          <a:p>
            <a:r>
              <a:rPr lang="en-US" dirty="0"/>
              <a:t>Answers with Python</a:t>
            </a:r>
          </a:p>
        </p:txBody>
      </p:sp>
      <p:pic>
        <p:nvPicPr>
          <p:cNvPr id="7" name="Content Placeholder 6" descr="A screenshot of a computer  AI-generated content may be incorrect.">
            <a:extLst>
              <a:ext uri="{FF2B5EF4-FFF2-40B4-BE49-F238E27FC236}">
                <a16:creationId xmlns:a16="http://schemas.microsoft.com/office/drawing/2014/main" id="{E1F1B494-7070-889A-0DC3-3ACCDC058A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7244" y="4083050"/>
            <a:ext cx="5549671" cy="2490237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579DFB-2E64-2A15-DBA6-05CFA0A85934}"/>
              </a:ext>
            </a:extLst>
          </p:cNvPr>
          <p:cNvSpPr txBox="1"/>
          <p:nvPr/>
        </p:nvSpPr>
        <p:spPr>
          <a:xfrm>
            <a:off x="675085" y="2274838"/>
            <a:ext cx="70258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 xml:space="preserve"># 3. Try </a:t>
            </a:r>
            <a:r>
              <a:rPr lang="en-US" dirty="0" err="1"/>
              <a:t>inner_join</a:t>
            </a:r>
            <a:endParaRPr lang="en-US" dirty="0"/>
          </a:p>
          <a:p>
            <a:r>
              <a:rPr lang="en-US" dirty="0" err="1"/>
              <a:t>in_join_df</a:t>
            </a:r>
            <a:r>
              <a:rPr lang="en-US" dirty="0"/>
              <a:t xml:space="preserve"> = </a:t>
            </a:r>
            <a:r>
              <a:rPr lang="en-US" dirty="0" err="1"/>
              <a:t>pd.merge</a:t>
            </a:r>
            <a:r>
              <a:rPr lang="en-US" dirty="0"/>
              <a:t xml:space="preserve">(patients, </a:t>
            </a:r>
            <a:r>
              <a:rPr lang="en-US" dirty="0" err="1"/>
              <a:t>lab_results</a:t>
            </a:r>
            <a:r>
              <a:rPr lang="en-US" dirty="0"/>
              <a:t>, on="ID", how="inner")</a:t>
            </a:r>
          </a:p>
          <a:p>
            <a:r>
              <a:rPr lang="en-US" dirty="0"/>
              <a:t>print("Top 5 rows of Inner Joined Data Set")</a:t>
            </a:r>
          </a:p>
          <a:p>
            <a:r>
              <a:rPr lang="en-US" dirty="0"/>
              <a:t>print(</a:t>
            </a:r>
            <a:r>
              <a:rPr lang="en-US" dirty="0" err="1"/>
              <a:t>in_join_df.head</a:t>
            </a:r>
            <a:r>
              <a:rPr lang="en-US" dirty="0"/>
              <a:t>())</a:t>
            </a:r>
          </a:p>
          <a:p>
            <a:endParaRPr lang="en-US" dirty="0"/>
          </a:p>
          <a:p>
            <a:r>
              <a:rPr lang="en-US" dirty="0"/>
              <a:t>print("Dimensions of Inner Joined Data Set")</a:t>
            </a:r>
          </a:p>
          <a:p>
            <a:r>
              <a:rPr lang="en-US" dirty="0"/>
              <a:t>print(</a:t>
            </a:r>
            <a:r>
              <a:rPr lang="en-US" dirty="0" err="1"/>
              <a:t>in_join_df.shape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219736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D66D6-AFBD-8BA8-2A62-ADA4E67F2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 with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417215-13CE-E81E-F948-8DCC7234D82C}"/>
              </a:ext>
            </a:extLst>
          </p:cNvPr>
          <p:cNvSpPr txBox="1"/>
          <p:nvPr/>
        </p:nvSpPr>
        <p:spPr>
          <a:xfrm>
            <a:off x="838200" y="2424663"/>
            <a:ext cx="95773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4. Try outer (full) join</a:t>
            </a:r>
          </a:p>
          <a:p>
            <a:r>
              <a:rPr lang="en-US" dirty="0" err="1"/>
              <a:t>full_join_df</a:t>
            </a:r>
            <a:r>
              <a:rPr lang="en-US" dirty="0"/>
              <a:t xml:space="preserve"> = </a:t>
            </a:r>
            <a:r>
              <a:rPr lang="en-US" dirty="0" err="1"/>
              <a:t>pd.merge</a:t>
            </a:r>
            <a:r>
              <a:rPr lang="en-US" dirty="0"/>
              <a:t xml:space="preserve">(patients, </a:t>
            </a:r>
            <a:r>
              <a:rPr lang="en-US" dirty="0" err="1"/>
              <a:t>lab_results</a:t>
            </a:r>
            <a:r>
              <a:rPr lang="en-US" dirty="0"/>
              <a:t xml:space="preserve">, on="ID", how="outer") #same as </a:t>
            </a:r>
            <a:r>
              <a:rPr lang="en-US" dirty="0" err="1"/>
              <a:t>full_join</a:t>
            </a:r>
            <a:r>
              <a:rPr lang="en-US" dirty="0"/>
              <a:t xml:space="preserve"> in R</a:t>
            </a:r>
          </a:p>
          <a:p>
            <a:r>
              <a:rPr lang="en-US" dirty="0"/>
              <a:t>print("Top 5 rows of Inner Joined Data Set")</a:t>
            </a:r>
          </a:p>
          <a:p>
            <a:r>
              <a:rPr lang="en-US" dirty="0"/>
              <a:t>print(</a:t>
            </a:r>
            <a:r>
              <a:rPr lang="en-US" dirty="0" err="1"/>
              <a:t>full_join_df.head</a:t>
            </a:r>
            <a:r>
              <a:rPr lang="en-US" dirty="0"/>
              <a:t>())</a:t>
            </a:r>
          </a:p>
          <a:p>
            <a:endParaRPr lang="en-US" dirty="0"/>
          </a:p>
          <a:p>
            <a:r>
              <a:rPr lang="en-US" dirty="0"/>
              <a:t>print("Dimensions of Inner Joined Data Set")</a:t>
            </a:r>
          </a:p>
          <a:p>
            <a:r>
              <a:rPr lang="en-US" dirty="0"/>
              <a:t>print(</a:t>
            </a:r>
            <a:r>
              <a:rPr lang="en-US" dirty="0" err="1"/>
              <a:t>full_join_df.shape</a:t>
            </a:r>
            <a:r>
              <a:rPr lang="en-US" dirty="0"/>
              <a:t>)</a:t>
            </a:r>
          </a:p>
        </p:txBody>
      </p:sp>
      <p:pic>
        <p:nvPicPr>
          <p:cNvPr id="7" name="Picture 6" descr="A close-up of a list of data  AI-generated content may be incorrect.">
            <a:extLst>
              <a:ext uri="{FF2B5EF4-FFF2-40B4-BE49-F238E27FC236}">
                <a16:creationId xmlns:a16="http://schemas.microsoft.com/office/drawing/2014/main" id="{03B423B0-2101-A7F0-DBCF-E7FB55A22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0689" y="3750226"/>
            <a:ext cx="5975350" cy="251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5988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80EF0-AA15-60A1-E5B1-B46205354B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ED32C3-E619-F6CB-D83C-0C64234B7B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4387273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FB71C-36C1-0DA3-0A37-A997CE73E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604" y="267692"/>
            <a:ext cx="10515600" cy="1325563"/>
          </a:xfrm>
        </p:spPr>
        <p:txBody>
          <a:bodyPr/>
          <a:lstStyle/>
          <a:p>
            <a:r>
              <a:rPr lang="en-US" dirty="0"/>
              <a:t>Data Cleaning Checklist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3FED414-6316-BCB1-C974-5A69618974E0}"/>
              </a:ext>
            </a:extLst>
          </p:cNvPr>
          <p:cNvSpPr/>
          <p:nvPr/>
        </p:nvSpPr>
        <p:spPr>
          <a:xfrm>
            <a:off x="661492" y="1593355"/>
            <a:ext cx="1358603" cy="1089124"/>
          </a:xfrm>
          <a:prstGeom prst="roundRect">
            <a:avLst>
              <a:gd name="adj" fmla="val 728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49CFA77C-D7C3-62CF-E2E6-CCAA37832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889" y="1971775"/>
            <a:ext cx="265807" cy="332184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052C48FB-83A9-EFCC-F64D-BD9E8627D3EF}"/>
              </a:ext>
            </a:extLst>
          </p:cNvPr>
          <p:cNvSpPr/>
          <p:nvPr/>
        </p:nvSpPr>
        <p:spPr>
          <a:xfrm>
            <a:off x="2209106" y="1782366"/>
            <a:ext cx="330011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Understand Your Data Context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004AB14-531F-1BFE-429C-492F9988C8FC}"/>
              </a:ext>
            </a:extLst>
          </p:cNvPr>
          <p:cNvSpPr/>
          <p:nvPr/>
        </p:nvSpPr>
        <p:spPr>
          <a:xfrm>
            <a:off x="2209106" y="2191048"/>
            <a:ext cx="490825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Read the data dictionary first. Without domain knowledge, you can’t distinguish a valid extreme value from an error. Ask: what is the unit? What is the valid range? What do missing values mean in this context?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88ACB893-1A42-0033-E7E3-98E6219AF5EC}"/>
              </a:ext>
            </a:extLst>
          </p:cNvPr>
          <p:cNvSpPr/>
          <p:nvPr/>
        </p:nvSpPr>
        <p:spPr>
          <a:xfrm>
            <a:off x="2114550" y="2669778"/>
            <a:ext cx="9321503" cy="12700"/>
          </a:xfrm>
          <a:prstGeom prst="roundRect">
            <a:avLst>
              <a:gd name="adj" fmla="val 625116"/>
            </a:avLst>
          </a:prstGeom>
          <a:solidFill>
            <a:srgbClr val="B2D3E5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8729A28-9131-CDE4-543C-DD2C68ACA74A}"/>
              </a:ext>
            </a:extLst>
          </p:cNvPr>
          <p:cNvSpPr/>
          <p:nvPr/>
        </p:nvSpPr>
        <p:spPr>
          <a:xfrm>
            <a:off x="661492" y="2776935"/>
            <a:ext cx="2717205" cy="1089124"/>
          </a:xfrm>
          <a:prstGeom prst="roundRect">
            <a:avLst>
              <a:gd name="adj" fmla="val 728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96363288-0CFF-F037-E23A-46BF45298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141" y="3155356"/>
            <a:ext cx="265807" cy="332184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4E4DD062-A349-9D5E-AB4E-450B3DEAC15F}"/>
              </a:ext>
            </a:extLst>
          </p:cNvPr>
          <p:cNvSpPr/>
          <p:nvPr/>
        </p:nvSpPr>
        <p:spPr>
          <a:xfrm>
            <a:off x="3567708" y="2965946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Check the Structure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9D94816-391F-CBB3-B842-CD311850CE73}"/>
              </a:ext>
            </a:extLst>
          </p:cNvPr>
          <p:cNvSpPr/>
          <p:nvPr/>
        </p:nvSpPr>
        <p:spPr>
          <a:xfrm>
            <a:off x="3567708" y="3374629"/>
            <a:ext cx="442733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Check df.shape, df.dtypes, df.describe(), df.isnull().sum() for every new dataset. Before cleaning anything, form hypotheses about what you expect to find — surprises are the most important signals.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8D79BC0E-EAD7-D17C-A073-525DD005EBA0}"/>
              </a:ext>
            </a:extLst>
          </p:cNvPr>
          <p:cNvSpPr/>
          <p:nvPr/>
        </p:nvSpPr>
        <p:spPr>
          <a:xfrm>
            <a:off x="3473153" y="3853358"/>
            <a:ext cx="7962900" cy="12700"/>
          </a:xfrm>
          <a:prstGeom prst="roundRect">
            <a:avLst>
              <a:gd name="adj" fmla="val 625116"/>
            </a:avLst>
          </a:prstGeom>
          <a:solidFill>
            <a:srgbClr val="B2D3E5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BD7111D4-A4C1-BD7B-F29B-782DB44CB5B3}"/>
              </a:ext>
            </a:extLst>
          </p:cNvPr>
          <p:cNvSpPr/>
          <p:nvPr/>
        </p:nvSpPr>
        <p:spPr>
          <a:xfrm>
            <a:off x="661492" y="3960516"/>
            <a:ext cx="4075807" cy="1089124"/>
          </a:xfrm>
          <a:prstGeom prst="roundRect">
            <a:avLst>
              <a:gd name="adj" fmla="val 728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7CE35F7D-D36C-0E44-2B25-4A36E7AC18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492" y="4338936"/>
            <a:ext cx="265807" cy="332184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D4502B55-438E-E592-32CC-3BBB59C6A668}"/>
              </a:ext>
            </a:extLst>
          </p:cNvPr>
          <p:cNvSpPr/>
          <p:nvPr/>
        </p:nvSpPr>
        <p:spPr>
          <a:xfrm>
            <a:off x="4926310" y="414952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Handle Missing Data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3CBEE8F-0B7E-DC73-9D93-CE7A1C781935}"/>
              </a:ext>
            </a:extLst>
          </p:cNvPr>
          <p:cNvSpPr/>
          <p:nvPr/>
        </p:nvSpPr>
        <p:spPr>
          <a:xfrm>
            <a:off x="4926310" y="4558209"/>
            <a:ext cx="495200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Identify missingness type (MCAR/MAR/MNAR). Choose method: listwise deletion only for MCAR; mean/median imputation for continuous MCAR/MAR; document all decisions with before/after row counts.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4C5FA5D4-3409-7CA8-F483-B0F731CE628D}"/>
              </a:ext>
            </a:extLst>
          </p:cNvPr>
          <p:cNvSpPr/>
          <p:nvPr/>
        </p:nvSpPr>
        <p:spPr>
          <a:xfrm>
            <a:off x="4831755" y="5036939"/>
            <a:ext cx="6604298" cy="12700"/>
          </a:xfrm>
          <a:prstGeom prst="roundRect">
            <a:avLst>
              <a:gd name="adj" fmla="val 625116"/>
            </a:avLst>
          </a:prstGeom>
          <a:solidFill>
            <a:srgbClr val="B2D3E5"/>
          </a:solidFill>
          <a:ln/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3F388C02-FC8D-428A-17A7-E1345D8B4EED}"/>
              </a:ext>
            </a:extLst>
          </p:cNvPr>
          <p:cNvSpPr/>
          <p:nvPr/>
        </p:nvSpPr>
        <p:spPr>
          <a:xfrm>
            <a:off x="661492" y="5043289"/>
            <a:ext cx="5434508" cy="1089124"/>
          </a:xfrm>
          <a:prstGeom prst="roundRect">
            <a:avLst>
              <a:gd name="adj" fmla="val 728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0BE3063F-43CA-2843-3433-4F2DB5B8AE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5842" y="5555655"/>
            <a:ext cx="265807" cy="265807"/>
          </a:xfrm>
          <a:prstGeom prst="rect">
            <a:avLst/>
          </a:prstGeom>
        </p:spPr>
      </p:pic>
      <p:sp>
        <p:nvSpPr>
          <p:cNvPr id="21" name="Text 14">
            <a:extLst>
              <a:ext uri="{FF2B5EF4-FFF2-40B4-BE49-F238E27FC236}">
                <a16:creationId xmlns:a16="http://schemas.microsoft.com/office/drawing/2014/main" id="{BBFB17DE-77B3-47BD-56EA-4CDFEA1777A8}"/>
              </a:ext>
            </a:extLst>
          </p:cNvPr>
          <p:cNvSpPr/>
          <p:nvPr/>
        </p:nvSpPr>
        <p:spPr>
          <a:xfrm>
            <a:off x="6285012" y="533310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Identify Outliers</a:t>
            </a:r>
            <a:endParaRPr lang="en-US" sz="2400" dirty="0">
              <a:latin typeface="Aptos" panose="020B0004020202020204" pitchFamily="34" charset="0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40A6A89E-55C0-9C20-657B-FAD6B958C439}"/>
              </a:ext>
            </a:extLst>
          </p:cNvPr>
          <p:cNvSpPr/>
          <p:nvPr/>
        </p:nvSpPr>
        <p:spPr>
          <a:xfrm>
            <a:off x="6285012" y="5741790"/>
            <a:ext cx="488771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Apply at least two detection methods (IQR + domain knowledge). For each flagged value: investigate before acting. Document whether you removed, replaced, winsorized, or kept it.</a:t>
            </a: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7605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1334D-58C5-41D8-F54D-00B940E3F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1875"/>
            <a:ext cx="10515600" cy="1325563"/>
          </a:xfrm>
        </p:spPr>
        <p:txBody>
          <a:bodyPr/>
          <a:lstStyle/>
          <a:p>
            <a:r>
              <a:rPr lang="en-US" dirty="0"/>
              <a:t>Data Cleaning Checklist (Continued)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0B8860C2-998E-9AD2-7019-C61E256A8D84}"/>
              </a:ext>
            </a:extLst>
          </p:cNvPr>
          <p:cNvSpPr/>
          <p:nvPr/>
        </p:nvSpPr>
        <p:spPr>
          <a:xfrm>
            <a:off x="661492" y="1593355"/>
            <a:ext cx="1358603" cy="1089124"/>
          </a:xfrm>
          <a:prstGeom prst="roundRect">
            <a:avLst>
              <a:gd name="adj" fmla="val 728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7C7CF59A-82FB-62D0-1125-7649C79EC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889" y="1971775"/>
            <a:ext cx="265807" cy="332184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73E526F1-C474-B03C-A377-973A983C2619}"/>
              </a:ext>
            </a:extLst>
          </p:cNvPr>
          <p:cNvSpPr/>
          <p:nvPr/>
        </p:nvSpPr>
        <p:spPr>
          <a:xfrm>
            <a:off x="2209106" y="1782366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Standardize Formats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7171123-C2FB-8BEB-1AFE-3F25EE539357}"/>
              </a:ext>
            </a:extLst>
          </p:cNvPr>
          <p:cNvSpPr/>
          <p:nvPr/>
        </p:nvSpPr>
        <p:spPr>
          <a:xfrm>
            <a:off x="2209106" y="2191048"/>
            <a:ext cx="453409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Parse all dates to a single format (ISO 8601: YYYY-MM-DD) using pd.to_datetime(). Normalize text with .str.strip().str.lower(). Test with value_counts() after each transformation.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6E3B5B8-9931-F596-79D9-34E152D2809D}"/>
              </a:ext>
            </a:extLst>
          </p:cNvPr>
          <p:cNvSpPr/>
          <p:nvPr/>
        </p:nvSpPr>
        <p:spPr>
          <a:xfrm>
            <a:off x="2114550" y="2669778"/>
            <a:ext cx="9321503" cy="12700"/>
          </a:xfrm>
          <a:prstGeom prst="roundRect">
            <a:avLst>
              <a:gd name="adj" fmla="val 625116"/>
            </a:avLst>
          </a:prstGeom>
          <a:solidFill>
            <a:srgbClr val="B2D3E5"/>
          </a:solidFill>
          <a:ln/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A270D532-C516-D74E-8B30-0C2496D1FDBD}"/>
              </a:ext>
            </a:extLst>
          </p:cNvPr>
          <p:cNvSpPr/>
          <p:nvPr/>
        </p:nvSpPr>
        <p:spPr>
          <a:xfrm>
            <a:off x="661492" y="2776935"/>
            <a:ext cx="2717205" cy="1089124"/>
          </a:xfrm>
          <a:prstGeom prst="roundRect">
            <a:avLst>
              <a:gd name="adj" fmla="val 728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pic>
        <p:nvPicPr>
          <p:cNvPr id="10" name="Image 1" descr="preencoded.png">
            <a:extLst>
              <a:ext uri="{FF2B5EF4-FFF2-40B4-BE49-F238E27FC236}">
                <a16:creationId xmlns:a16="http://schemas.microsoft.com/office/drawing/2014/main" id="{39C67302-F728-311A-05DB-ACA03AC9B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141" y="3155356"/>
            <a:ext cx="265807" cy="332184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1DF9DF16-C4AA-90E3-59DB-02D19B181C9F}"/>
              </a:ext>
            </a:extLst>
          </p:cNvPr>
          <p:cNvSpPr/>
          <p:nvPr/>
        </p:nvSpPr>
        <p:spPr>
          <a:xfrm>
            <a:off x="3567708" y="2965946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Filter as Needed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9DD0A5EC-23ED-1F6F-0919-A4D6816BAB0E}"/>
              </a:ext>
            </a:extLst>
          </p:cNvPr>
          <p:cNvSpPr/>
          <p:nvPr/>
        </p:nvSpPr>
        <p:spPr>
          <a:xfrm>
            <a:off x="3567708" y="3374629"/>
            <a:ext cx="475902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Every filter is an analytical decision — document it in your log. "Filtered to Grade==9" restricts generalizability. If you filter outliers, note that conclusions apply only to the filtered population.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06E02006-C46D-E96E-B087-4854C66C6861}"/>
              </a:ext>
            </a:extLst>
          </p:cNvPr>
          <p:cNvSpPr/>
          <p:nvPr/>
        </p:nvSpPr>
        <p:spPr>
          <a:xfrm>
            <a:off x="3473153" y="3853358"/>
            <a:ext cx="7962900" cy="12700"/>
          </a:xfrm>
          <a:prstGeom prst="roundRect">
            <a:avLst>
              <a:gd name="adj" fmla="val 625116"/>
            </a:avLst>
          </a:prstGeom>
          <a:solidFill>
            <a:srgbClr val="B2D3E5"/>
          </a:solidFill>
          <a:ln/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1353CF40-E8CE-00DA-0385-B63C9A73DBE1}"/>
              </a:ext>
            </a:extLst>
          </p:cNvPr>
          <p:cNvSpPr/>
          <p:nvPr/>
        </p:nvSpPr>
        <p:spPr>
          <a:xfrm>
            <a:off x="661492" y="3960516"/>
            <a:ext cx="4075807" cy="1089124"/>
          </a:xfrm>
          <a:prstGeom prst="roundRect">
            <a:avLst>
              <a:gd name="adj" fmla="val 728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61AE8D52-43B4-2A30-783B-8CE2FC95D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492" y="4338936"/>
            <a:ext cx="265807" cy="332184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0C654858-3183-E9C1-EE7A-9815892A8495}"/>
              </a:ext>
            </a:extLst>
          </p:cNvPr>
          <p:cNvSpPr/>
          <p:nvPr/>
        </p:nvSpPr>
        <p:spPr>
          <a:xfrm>
            <a:off x="4926310" y="4149527"/>
            <a:ext cx="236269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Combine Data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8165487B-24F9-F111-9AE1-CAA018BC68B5}"/>
              </a:ext>
            </a:extLst>
          </p:cNvPr>
          <p:cNvSpPr/>
          <p:nvPr/>
        </p:nvSpPr>
        <p:spPr>
          <a:xfrm>
            <a:off x="4926310" y="4558209"/>
            <a:ext cx="363726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Always check row counts after merging. An unexpected row count increase suggests many-to-many matches. An unexpected decrease indicates mismatched keys. Both are data quality issues, not just code bugs.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8BC74B26-7C98-763D-9D92-0669864326C6}"/>
              </a:ext>
            </a:extLst>
          </p:cNvPr>
          <p:cNvSpPr/>
          <p:nvPr/>
        </p:nvSpPr>
        <p:spPr>
          <a:xfrm>
            <a:off x="4831755" y="5036939"/>
            <a:ext cx="6604298" cy="12700"/>
          </a:xfrm>
          <a:prstGeom prst="roundRect">
            <a:avLst>
              <a:gd name="adj" fmla="val 625116"/>
            </a:avLst>
          </a:prstGeom>
          <a:solidFill>
            <a:srgbClr val="B2D3E5"/>
          </a:solidFill>
          <a:ln/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CAAF80AE-65CE-0BA4-955B-530F09787905}"/>
              </a:ext>
            </a:extLst>
          </p:cNvPr>
          <p:cNvSpPr/>
          <p:nvPr/>
        </p:nvSpPr>
        <p:spPr>
          <a:xfrm>
            <a:off x="661492" y="5144096"/>
            <a:ext cx="5434508" cy="1089124"/>
          </a:xfrm>
          <a:prstGeom prst="roundRect">
            <a:avLst>
              <a:gd name="adj" fmla="val 7289"/>
            </a:avLst>
          </a:prstGeom>
          <a:solidFill>
            <a:srgbClr val="CCEDFF"/>
          </a:solidFill>
          <a:ln w="7620">
            <a:solidFill>
              <a:srgbClr val="B2D3E5"/>
            </a:solidFill>
            <a:prstDash val="solid"/>
          </a:ln>
        </p:spPr>
        <p:txBody>
          <a:bodyPr/>
          <a:lstStyle/>
          <a:p>
            <a:endParaRPr lang="en-US" sz="2000">
              <a:latin typeface="Aptos" panose="020B0004020202020204" pitchFamily="34" charset="0"/>
            </a:endParaRPr>
          </a:p>
        </p:txBody>
      </p:sp>
      <p:pic>
        <p:nvPicPr>
          <p:cNvPr id="20" name="Image 3" descr="preencoded.png">
            <a:extLst>
              <a:ext uri="{FF2B5EF4-FFF2-40B4-BE49-F238E27FC236}">
                <a16:creationId xmlns:a16="http://schemas.microsoft.com/office/drawing/2014/main" id="{F68BEF25-3F92-31B6-8803-66CA3C02C2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5842" y="5522516"/>
            <a:ext cx="265807" cy="332184"/>
          </a:xfrm>
          <a:prstGeom prst="rect">
            <a:avLst/>
          </a:prstGeom>
        </p:spPr>
      </p:pic>
      <p:sp>
        <p:nvSpPr>
          <p:cNvPr id="21" name="Text 14">
            <a:extLst>
              <a:ext uri="{FF2B5EF4-FFF2-40B4-BE49-F238E27FC236}">
                <a16:creationId xmlns:a16="http://schemas.microsoft.com/office/drawing/2014/main" id="{FFCCCAD7-7692-9FFC-C38C-6937443D4698}"/>
              </a:ext>
            </a:extLst>
          </p:cNvPr>
          <p:cNvSpPr/>
          <p:nvPr/>
        </p:nvSpPr>
        <p:spPr>
          <a:xfrm>
            <a:off x="6285012" y="5333107"/>
            <a:ext cx="2898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2800" b="1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Verify and Save Clean Data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5C05CFD6-8314-D2C7-EE03-E20E7B6E9B30}"/>
              </a:ext>
            </a:extLst>
          </p:cNvPr>
          <p:cNvSpPr/>
          <p:nvPr/>
        </p:nvSpPr>
        <p:spPr>
          <a:xfrm>
            <a:off x="6285012" y="5741790"/>
            <a:ext cx="451455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2000" dirty="0">
                <a:solidFill>
                  <a:srgbClr val="000000"/>
                </a:solidFill>
                <a:latin typeface="Aptos" panose="020B0004020202020204" pitchFamily="34" charset="0"/>
                <a:ea typeface="Inter" pitchFamily="34" charset="-122"/>
                <a:cs typeface="Inter" pitchFamily="34" charset="-120"/>
              </a:rPr>
              <a:t>Run your original df.describe() and df.isnull().sum() against the cleaned version. Also run basic sanity checks: are there still negative ages? Any dates in the future? Does the mean now match domain expectations?</a:t>
            </a:r>
            <a:endParaRPr lang="en-US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8815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55860-1D92-CEDD-658A-3B1626006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313288"/>
            <a:ext cx="10515600" cy="1325563"/>
          </a:xfrm>
        </p:spPr>
        <p:txBody>
          <a:bodyPr/>
          <a:lstStyle/>
          <a:p>
            <a:r>
              <a:rPr lang="en-US" dirty="0"/>
              <a:t>Let’s Merge and Clean!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4DFF3-FCF0-4667-0157-7FD40078B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1638851"/>
            <a:ext cx="10515600" cy="490586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You have two datasets</a:t>
            </a:r>
          </a:p>
          <a:p>
            <a:pPr lvl="1"/>
            <a:r>
              <a:rPr lang="en-US" dirty="0"/>
              <a:t>school_participation_class1.csv</a:t>
            </a:r>
          </a:p>
          <a:p>
            <a:pPr lvl="1"/>
            <a:r>
              <a:rPr lang="en-US" dirty="0"/>
              <a:t>school_participation_class2.csv</a:t>
            </a:r>
          </a:p>
          <a:p>
            <a:r>
              <a:rPr lang="en-US" dirty="0"/>
              <a:t xml:space="preserve">Columns: </a:t>
            </a:r>
            <a:r>
              <a:rPr lang="en-US" dirty="0" err="1"/>
              <a:t>StudentID</a:t>
            </a:r>
            <a:r>
              <a:rPr lang="en-US" dirty="0"/>
              <a:t xml:space="preserve">, Name, Grade, Age, Club, </a:t>
            </a:r>
            <a:r>
              <a:rPr lang="en-US" dirty="0" err="1"/>
              <a:t>SignupDate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Upon inspection, you find:</a:t>
            </a:r>
          </a:p>
          <a:p>
            <a:pPr lvl="1"/>
            <a:r>
              <a:rPr lang="en-US" dirty="0"/>
              <a:t>Some Age values are missing.</a:t>
            </a:r>
          </a:p>
          <a:p>
            <a:pPr lvl="1"/>
            <a:r>
              <a:rPr lang="en-US" dirty="0"/>
              <a:t>One Age is recorded as 144 (clearly an error, likely meant 14).</a:t>
            </a:r>
          </a:p>
          <a:p>
            <a:pPr lvl="1"/>
            <a:r>
              <a:rPr lang="en-US" dirty="0"/>
              <a:t xml:space="preserve">The </a:t>
            </a:r>
            <a:r>
              <a:rPr lang="en-US" dirty="0" err="1"/>
              <a:t>SignupDate</a:t>
            </a:r>
            <a:r>
              <a:rPr lang="en-US" dirty="0"/>
              <a:t xml:space="preserve"> column has dates in mixed formats: some are "MM/DD/YYYY", others are "Month Day, Year".</a:t>
            </a:r>
          </a:p>
          <a:p>
            <a:pPr lvl="1"/>
            <a:r>
              <a:rPr lang="en-US" dirty="0"/>
              <a:t>Grade is recorded as 9, 10, 11, 12 but one entry says "Freshman" instead of 9.</a:t>
            </a:r>
          </a:p>
          <a:p>
            <a:pPr lvl="1"/>
            <a:r>
              <a:rPr lang="en-US" dirty="0"/>
              <a:t>There are two files (two classes) you need to combine, and a few students appear in both (duplicates).</a:t>
            </a:r>
          </a:p>
        </p:txBody>
      </p:sp>
    </p:spTree>
    <p:extLst>
      <p:ext uri="{BB962C8B-B14F-4D97-AF65-F5344CB8AC3E}">
        <p14:creationId xmlns:p14="http://schemas.microsoft.com/office/powerpoint/2010/main" val="23203535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8E74B-A2A6-D7E0-8AFF-38A71151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task: Use the checklist to clean this data.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4581E-6997-7F81-398B-02436A0BE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14563"/>
            <a:ext cx="10515600" cy="3962399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Understand Your Data Context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Check the Structure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Handle Missing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Identify Outliers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Standardize Formats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Filter as Needed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Combine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  <a:ea typeface="Playfair Display Bold" pitchFamily="34" charset="-122"/>
                <a:cs typeface="Playfair Display Bold" pitchFamily="34" charset="-120"/>
              </a:rPr>
              <a:t>Verify and Save Clean Data</a:t>
            </a:r>
            <a:endParaRPr lang="en-US" dirty="0"/>
          </a:p>
        </p:txBody>
      </p:sp>
      <p:pic>
        <p:nvPicPr>
          <p:cNvPr id="5" name="Picture 4" descr="Close up of checklist">
            <a:extLst>
              <a:ext uri="{FF2B5EF4-FFF2-40B4-BE49-F238E27FC236}">
                <a16:creationId xmlns:a16="http://schemas.microsoft.com/office/drawing/2014/main" id="{EE9DB5F9-9F73-D0A1-7514-BB1EB121723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73164" y="2906987"/>
            <a:ext cx="3866324" cy="257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7257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3174-4409-4121-71D2-8214941F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B57E6-C27E-D95C-0228-962D6D0A7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604051"/>
            <a:ext cx="11249025" cy="3572911"/>
          </a:xfrm>
        </p:spPr>
        <p:txBody>
          <a:bodyPr>
            <a:normAutofit/>
          </a:bodyPr>
          <a:lstStyle/>
          <a:p>
            <a:r>
              <a:rPr lang="en-US" dirty="0"/>
              <a:t>Check to see one way to deal with this issues in R: Ch7_FinalTaskAnswer.R</a:t>
            </a:r>
          </a:p>
          <a:p>
            <a:r>
              <a:rPr lang="en-US" dirty="0"/>
              <a:t>For Python: Ch7_FinalTaskAnswer.ipynb</a:t>
            </a:r>
          </a:p>
          <a:p>
            <a:endParaRPr lang="en-US" dirty="0"/>
          </a:p>
          <a:p>
            <a:r>
              <a:rPr lang="en-US" dirty="0"/>
              <a:t>Key principle: there is no single correct cleaning approach — different analytical questions may justify different decisions. What matters is that every decision is documented and defensible.</a:t>
            </a:r>
          </a:p>
          <a:p>
            <a:r>
              <a:rPr lang="en-US" dirty="0"/>
              <a:t>Your cleaning log is as important as the cleaned data. Without it, your analysis is not reproducible. A cleaned dataset without a log cannot be verified, audited, or extended by collaborators.</a:t>
            </a:r>
          </a:p>
          <a:p>
            <a:r>
              <a:rPr lang="en-US" dirty="0"/>
              <a:t>Check the example log record: Ch7_FinalTask_data_cleaning_log.csv</a:t>
            </a:r>
          </a:p>
        </p:txBody>
      </p:sp>
    </p:spTree>
    <p:extLst>
      <p:ext uri="{BB962C8B-B14F-4D97-AF65-F5344CB8AC3E}">
        <p14:creationId xmlns:p14="http://schemas.microsoft.com/office/powerpoint/2010/main" val="9225678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23193-FA3B-0EC6-3E0A-FD87E85A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07DBD-DFF0-F017-28B4-3AC4AD3D6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1954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535" y="1196791"/>
            <a:ext cx="10442944" cy="2387600"/>
          </a:xfrm>
        </p:spPr>
        <p:txBody>
          <a:bodyPr>
            <a:normAutofit/>
          </a:bodyPr>
          <a:lstStyle/>
          <a:p>
            <a:r>
              <a:rPr lang="en-US" dirty="0"/>
              <a:t>Chapter</a:t>
            </a:r>
            <a:r>
              <a:rPr dirty="0"/>
              <a:t xml:space="preserve"> </a:t>
            </a:r>
            <a:r>
              <a:rPr lang="en-US" dirty="0"/>
              <a:t>7: Data Wrangling in Action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231758"/>
            <a:ext cx="9144000" cy="1026042"/>
          </a:xfrm>
        </p:spPr>
        <p:txBody>
          <a:bodyPr/>
          <a:lstStyle/>
          <a:p>
            <a:endParaRPr dirty="0"/>
          </a:p>
        </p:txBody>
      </p:sp>
      <p:sp>
        <p:nvSpPr>
          <p:cNvPr id="5" name="Sub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Coding Agents for Data Wrangling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354400" cy="1143000"/>
          </a:xfrm>
        </p:spPr>
        <p:txBody>
          <a:bodyPr/>
          <a:lstStyle/>
          <a:p>
            <a:r>
              <a:rPr lang="en-US" dirty="0"/>
              <a:t>Coding Agent Workflow for Data Wrangling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485900"/>
            <a:ext cx="11354400" cy="4857300"/>
          </a:xfrm>
        </p:spPr>
        <p:txBody>
          <a:bodyPr>
            <a:normAutofit/>
          </a:bodyPr>
          <a:lstStyle/>
          <a:p>
            <a:r>
              <a:rPr lang="en-US" sz="1900" b="1" dirty="0"/>
              <a:t>A coding agent can automate the full 8-step cleaning pipeline — but your analytical judgment drives every decision:</a:t>
            </a:r>
          </a:p>
          <a:p>
            <a:r>
              <a:rPr lang="en-US" sz="1800" dirty="0"/>
              <a:t>Weak: "Clean this dataset." → Agent applies arbitrary defaults (e.g., drops all rows with any missing value) without knowing your analytical goals.</a:t>
            </a:r>
          </a:p>
          <a:p>
            <a:r>
              <a:rPr lang="en-US" sz="1800" dirty="0"/>
              <a:t>Strong: "Load school_participation_class1.csv and class2.csv. Stack them with pd.concat. Then: (1) report df.shape and df.dtypes, (2) count missing values per column and flag rates &gt;5%, (3) apply IQR outlier detection to all numerical columns, (4) report all unique values in the Grade and SignupDate columns."</a:t>
            </a:r>
          </a:p>
          <a:p>
            <a:r>
              <a:rPr lang="en-US" sz="1900" b="1" dirty="0"/>
              <a:t>After the audit, give cleaning instructions one step at a time:</a:t>
            </a:r>
          </a:p>
          <a:p>
            <a:r>
              <a:rPr lang="en-US" sz="1800" dirty="0"/>
              <a:t>"Fix SignupDate: convert all values to ISO format YYYY-MM-DD using pd.to_datetime(). Show me the first 5 rows of SignupDate before and after."</a:t>
            </a:r>
          </a:p>
          <a:p>
            <a:r>
              <a:rPr lang="en-US" sz="1800" dirty="0"/>
              <a:t>"Standardize Grade: replace 'Freshman' with 9. Show value_counts() before and after."</a:t>
            </a:r>
          </a:p>
          <a:p>
            <a:r>
              <a:rPr lang="en-US" sz="1800" dirty="0"/>
              <a:t>"After every cleaning step, print df.shape so I can verify no rows were unexpectedly dropped."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354400" cy="1143000"/>
          </a:xfrm>
        </p:spPr>
        <p:txBody>
          <a:bodyPr/>
          <a:lstStyle/>
          <a:p>
            <a:r>
              <a:rPr lang="en-US" dirty="0"/>
              <a:t>Verifying Agent-Cleaned Data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485900"/>
            <a:ext cx="11354400" cy="4857300"/>
          </a:xfrm>
        </p:spPr>
        <p:txBody>
          <a:bodyPr>
            <a:normAutofit/>
          </a:bodyPr>
          <a:lstStyle/>
          <a:p>
            <a:r>
              <a:rPr lang="en-US" sz="1900" b="1" dirty="0"/>
              <a:t>The most important skill: knowing when the agent made a plausible-but-wrong decision:</a:t>
            </a:r>
          </a:p>
          <a:p>
            <a:r>
              <a:rPr lang="en-US" sz="1800" dirty="0"/>
              <a:t>Common agent mistakes in wrangling: (1) Drops rows with ANY missing value when you only needed to handle one column. (2) Converts a ZIP code (stored as "06001") to integer 6001 — destroying the leading zero. (3) Fills all missing Ages with the mean, including rows where Age was MNAR.</a:t>
            </a:r>
          </a:p>
          <a:p>
            <a:r>
              <a:rPr lang="en-US" sz="1800" dirty="0"/>
              <a:t>Verify after every step: compare df.shape before and after. Check df.dtypes to catch silent type conversions. Run value_counts() on categorical columns to confirm standardization worked.</a:t>
            </a:r>
          </a:p>
          <a:p>
            <a:r>
              <a:rPr lang="en-US" sz="1900" b="1" dirty="0"/>
              <a:t>The cleaning log is your verification tool:</a:t>
            </a:r>
          </a:p>
          <a:p>
            <a:r>
              <a:rPr lang="en-US" sz="1800" dirty="0"/>
              <a:t>Ask: "Produce a cleaning log as a numbered list. For each step: what was changed, how many values/rows were affected, and what method was used."</a:t>
            </a:r>
          </a:p>
          <a:p>
            <a:r>
              <a:rPr lang="en-US" sz="1800" dirty="0"/>
              <a:t>Then verify each log entry against the data: if the log says "3 duplicate rows removed," confirm with df.shape that you lost exactly 3 rows, not 3 different ones.</a:t>
            </a:r>
          </a:p>
          <a:p>
            <a:r>
              <a:rPr lang="en-US" sz="1800" dirty="0"/>
              <a:t>Final check: rerun your original data quality audit on the cleaned dataset. Every issue from Step 1 should now be resolved.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354400" cy="1143000"/>
          </a:xfrm>
        </p:spPr>
        <p:txBody>
          <a:bodyPr/>
          <a:lstStyle/>
          <a:p>
            <a:r>
              <a:rPr lang="en-US" dirty="0"/>
              <a:t>Hands-On: Agent-Assisted Wrangling of Class Participation Data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485900"/>
            <a:ext cx="11354400" cy="4857300"/>
          </a:xfrm>
        </p:spPr>
        <p:txBody>
          <a:bodyPr>
            <a:normAutofit/>
          </a:bodyPr>
          <a:lstStyle/>
          <a:p>
            <a:r>
              <a:rPr lang="en-US" sz="1900" b="1" dirty="0"/>
              <a:t>Activity (pairs, 25 minutes) — using school_participation_class1.csv and class2.csv:</a:t>
            </a:r>
          </a:p>
          <a:p>
            <a:r>
              <a:rPr lang="en-US" sz="1800" dirty="0"/>
              <a:t>Step 1 — Stack and audit: Prompt the agent to concatenate the two files and produce a full data quality report (shape, dtypes, missing rates, unique values per column).</a:t>
            </a:r>
          </a:p>
          <a:p>
            <a:r>
              <a:rPr lang="en-US" sz="1800" dirty="0"/>
              <a:t>Step 2 — Clean one issue at a time: Direct the agent to fix Age=144, standardize date formats, fix Grade="Freshman", and remove duplicates. After each fix, verify with a targeted check (not a general "looks good").</a:t>
            </a:r>
          </a:p>
          <a:p>
            <a:r>
              <a:rPr lang="en-US" sz="1800" dirty="0"/>
              <a:t>Step 3 — Impute missing Ages: Ask the agent to impute with the column mean. Then ask: "How many rows were imputed? What was the mean before and after imputation? Did the standard deviation change?" Explain why it changed.</a:t>
            </a:r>
          </a:p>
          <a:p>
            <a:r>
              <a:rPr lang="en-US" sz="1800" dirty="0"/>
              <a:t>Step 4 — Generate the cleaning log: Ask for a numbered log matching the format from slide 68 (Ch. 6). Compare your log to the example answer.</a:t>
            </a:r>
          </a:p>
          <a:p>
            <a:r>
              <a:rPr lang="en-US" sz="1800" b="1" dirty="0"/>
              <a:t>Challenge: find one issue the agent misses or handles incorrectly. Document it and explain the better approach.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354400" cy="1143000"/>
          </a:xfrm>
        </p:spPr>
        <p:txBody>
          <a:bodyPr/>
          <a:lstStyle/>
          <a:p>
            <a:r>
              <a:rPr lang="en-US" dirty="0"/>
              <a:t>Chapter 7: What You Can Do Now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457200" y="1485900"/>
            <a:ext cx="11354400" cy="4857300"/>
          </a:xfrm>
        </p:spPr>
        <p:txBody>
          <a:bodyPr>
            <a:normAutofit/>
          </a:bodyPr>
          <a:lstStyle/>
          <a:p>
            <a:r>
              <a:rPr lang="en-US" sz="1900" b="1" dirty="0"/>
              <a:t>Missing data handling:</a:t>
            </a:r>
          </a:p>
          <a:p>
            <a:r>
              <a:rPr lang="en-US" sz="1800" dirty="0"/>
              <a:t>✓ Detect missing values with is.na()/isnull().sum(). Choose listwise deletion vs. mean/median imputation based on missingness type (MCAR/MAR/MNAR). Report imputation method and percentage imputed.</a:t>
            </a:r>
          </a:p>
          <a:p>
            <a:r>
              <a:rPr lang="en-US" sz="1900" b="1" dirty="0"/>
              <a:t>Outlier detection and treatment:</a:t>
            </a:r>
          </a:p>
          <a:p>
            <a:r>
              <a:rPr lang="en-US" sz="1800" dirty="0"/>
              <a:t>✓ Apply IQR outlier detection in Python (numpy.percentile) and R (quantile/IQR). Choose from the four strategies (investigate, remove, winsorize, robust methods) based on whether the outlier is an error or a legitimate extreme value.</a:t>
            </a:r>
          </a:p>
          <a:p>
            <a:r>
              <a:rPr lang="en-US" sz="1900" b="1" dirty="0"/>
              <a:t>Data transformation and combination:</a:t>
            </a:r>
          </a:p>
          <a:p>
            <a:r>
              <a:rPr lang="en-US" sz="1800" dirty="0"/>
              <a:t>✓ Standardize dates with pd.to_datetime() and text with .str.strip()/.str.lower()/regex. Filter with boolean indexing and .query(). Merge tables using all four join types and verify results with df.shape checks.</a:t>
            </a:r>
          </a:p>
          <a:p>
            <a:r>
              <a:rPr lang="en-US" sz="1900" b="1" dirty="0"/>
              <a:t>Agent-assisted wrangling:</a:t>
            </a:r>
          </a:p>
          <a:p>
            <a:r>
              <a:rPr lang="en-US" sz="1800" dirty="0"/>
              <a:t>✓ Direct a coding agent through the 8-step cleaning checklist. Verify each step, catch plausible-but-wrong cleaning decisions, and produce a reproducible cleaning log that fully documents every transformation.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6755</TotalTime>
  <Words>4811</Words>
  <Application>Microsoft Office PowerPoint</Application>
  <PresentationFormat>Widescreen</PresentationFormat>
  <Paragraphs>572</Paragraphs>
  <Slides>58</Slides>
  <Notes>11</Notes>
  <HiddenSlides>19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6" baseType="lpstr">
      <vt:lpstr>Aptos</vt:lpstr>
      <vt:lpstr>Aptos Display</vt:lpstr>
      <vt:lpstr>Arial</vt:lpstr>
      <vt:lpstr>Consolas</vt:lpstr>
      <vt:lpstr>Inter</vt:lpstr>
      <vt:lpstr>Playfair Display Bold</vt:lpstr>
      <vt:lpstr>Times New Roman</vt:lpstr>
      <vt:lpstr>Office Theme</vt:lpstr>
      <vt:lpstr>Day 7: Data Wrangling in Action – Cleaning and Transforming Data </vt:lpstr>
      <vt:lpstr>Learning Objectives</vt:lpstr>
      <vt:lpstr>Detecting Missing Values - R </vt:lpstr>
      <vt:lpstr>Detecting Missing Values - Python</vt:lpstr>
      <vt:lpstr>Removing Missing Data</vt:lpstr>
      <vt:lpstr>Two Ways to Handle Missing Data</vt:lpstr>
      <vt:lpstr>Removing Missing Data in R</vt:lpstr>
      <vt:lpstr>Removing Missing Data in Python</vt:lpstr>
      <vt:lpstr>Let’s Do It!</vt:lpstr>
      <vt:lpstr>R</vt:lpstr>
      <vt:lpstr>Python</vt:lpstr>
      <vt:lpstr>Imputing Missing Data (Filling in the Blanks)</vt:lpstr>
      <vt:lpstr>Let’s Practice with R</vt:lpstr>
      <vt:lpstr>Let’s Practice with Python</vt:lpstr>
      <vt:lpstr>Identifying and Handling Outliers</vt:lpstr>
      <vt:lpstr>What Counts as an Outlier? – The IQR Method</vt:lpstr>
      <vt:lpstr>Let’s Practice with R</vt:lpstr>
      <vt:lpstr>Let’s Practice with Python</vt:lpstr>
      <vt:lpstr>Handling Outliers: Four Strategies</vt:lpstr>
      <vt:lpstr>Remove the Outlier with R</vt:lpstr>
      <vt:lpstr>Remove the Outlier with Python</vt:lpstr>
      <vt:lpstr>PowerPoint Presentation</vt:lpstr>
      <vt:lpstr>Standardizing Formats</vt:lpstr>
      <vt:lpstr>Date Formats: The Time Traveler's Dilemma</vt:lpstr>
      <vt:lpstr>Fix Dates with R</vt:lpstr>
      <vt:lpstr>Fix Dates with Python</vt:lpstr>
      <vt:lpstr>Text Consistency</vt:lpstr>
      <vt:lpstr>Text Standardization with R</vt:lpstr>
      <vt:lpstr>Text Standardization with Python</vt:lpstr>
      <vt:lpstr>Filtering and Combining Data</vt:lpstr>
      <vt:lpstr>Filtering Rows by Condition Using R</vt:lpstr>
      <vt:lpstr>Filtering Rows by Condition Using Python</vt:lpstr>
      <vt:lpstr>Let’s Exercise – R </vt:lpstr>
      <vt:lpstr>Let’s Exercise – Python</vt:lpstr>
      <vt:lpstr>Selecting and Dropping Columns with R</vt:lpstr>
      <vt:lpstr>Selecting and Dropping Columns with Python</vt:lpstr>
      <vt:lpstr>Combining Data: Merging and Joining</vt:lpstr>
      <vt:lpstr>Combining Data with R</vt:lpstr>
      <vt:lpstr>Combining Data</vt:lpstr>
      <vt:lpstr>Combining Data with Python</vt:lpstr>
      <vt:lpstr>Appending Rows (Stacking Data)</vt:lpstr>
      <vt:lpstr>PowerPoint Presentation</vt:lpstr>
      <vt:lpstr>Appending Rows (Stacking Data) with R</vt:lpstr>
      <vt:lpstr>Appending Rows (Stacking Data) with Python</vt:lpstr>
      <vt:lpstr>Your Turn!</vt:lpstr>
      <vt:lpstr>Answers with R</vt:lpstr>
      <vt:lpstr>Answers with R</vt:lpstr>
      <vt:lpstr>Answers with R</vt:lpstr>
      <vt:lpstr>Answers with Python</vt:lpstr>
      <vt:lpstr>Answers with Python</vt:lpstr>
      <vt:lpstr>Answers with Python</vt:lpstr>
      <vt:lpstr>Chapter 7</vt:lpstr>
      <vt:lpstr>Data Cleaning Checklist</vt:lpstr>
      <vt:lpstr>Data Cleaning Checklist (Continued)</vt:lpstr>
      <vt:lpstr>Let’s Merge and Clean!</vt:lpstr>
      <vt:lpstr>Your task: Use the checklist to clean this data.</vt:lpstr>
      <vt:lpstr>Answers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Michelle Yin</dc:creator>
  <cp:lastModifiedBy>Burhan Ogut</cp:lastModifiedBy>
  <cp:revision>29</cp:revision>
  <dcterms:created xsi:type="dcterms:W3CDTF">2025-04-09T18:08:05Z</dcterms:created>
  <dcterms:modified xsi:type="dcterms:W3CDTF">2026-04-20T17:38:42Z</dcterms:modified>
</cp:coreProperties>
</file>