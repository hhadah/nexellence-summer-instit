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7" r:id="rId2"/>
    <p:sldId id="260" r:id="rId3"/>
    <p:sldId id="262" r:id="rId4"/>
    <p:sldId id="263" r:id="rId5"/>
    <p:sldId id="265" r:id="rId6"/>
    <p:sldId id="267" r:id="rId7"/>
    <p:sldId id="268" r:id="rId8"/>
    <p:sldId id="269" r:id="rId9"/>
    <p:sldId id="270" r:id="rId10"/>
    <p:sldId id="273" r:id="rId11"/>
    <p:sldId id="274" r:id="rId12"/>
    <p:sldId id="275" r:id="rId13"/>
    <p:sldId id="277" r:id="rId14"/>
    <p:sldId id="278" r:id="rId15"/>
    <p:sldId id="281" r:id="rId16"/>
    <p:sldId id="279" r:id="rId17"/>
    <p:sldId id="283" r:id="rId18"/>
    <p:sldId id="284" r:id="rId19"/>
    <p:sldId id="282" r:id="rId20"/>
    <p:sldId id="285" r:id="rId21"/>
    <p:sldId id="280" r:id="rId22"/>
    <p:sldId id="287" r:id="rId23"/>
    <p:sldId id="289" r:id="rId24"/>
    <p:sldId id="291" r:id="rId25"/>
    <p:sldId id="288" r:id="rId26"/>
    <p:sldId id="292" r:id="rId27"/>
    <p:sldId id="293" r:id="rId28"/>
    <p:sldId id="294" r:id="rId29"/>
    <p:sldId id="295" r:id="rId30"/>
    <p:sldId id="362" r:id="rId31"/>
    <p:sldId id="296" r:id="rId32"/>
    <p:sldId id="298" r:id="rId33"/>
    <p:sldId id="299" r:id="rId34"/>
    <p:sldId id="300" r:id="rId35"/>
    <p:sldId id="301" r:id="rId36"/>
    <p:sldId id="302" r:id="rId37"/>
    <p:sldId id="303" r:id="rId38"/>
    <p:sldId id="304" r:id="rId39"/>
    <p:sldId id="305" r:id="rId40"/>
    <p:sldId id="306" r:id="rId41"/>
    <p:sldId id="307" r:id="rId42"/>
    <p:sldId id="308" r:id="rId43"/>
    <p:sldId id="318" r:id="rId44"/>
    <p:sldId id="313" r:id="rId45"/>
    <p:sldId id="314" r:id="rId46"/>
    <p:sldId id="315" r:id="rId47"/>
    <p:sldId id="317" r:id="rId48"/>
    <p:sldId id="309" r:id="rId49"/>
    <p:sldId id="319" r:id="rId50"/>
    <p:sldId id="320" r:id="rId51"/>
    <p:sldId id="321" r:id="rId52"/>
    <p:sldId id="324" r:id="rId53"/>
    <p:sldId id="323" r:id="rId54"/>
    <p:sldId id="325" r:id="rId55"/>
    <p:sldId id="326" r:id="rId56"/>
    <p:sldId id="329" r:id="rId57"/>
    <p:sldId id="327" r:id="rId58"/>
    <p:sldId id="333" r:id="rId59"/>
    <p:sldId id="334" r:id="rId60"/>
    <p:sldId id="335" r:id="rId61"/>
    <p:sldId id="336" r:id="rId62"/>
    <p:sldId id="344" r:id="rId63"/>
    <p:sldId id="345" r:id="rId64"/>
    <p:sldId id="346" r:id="rId65"/>
    <p:sldId id="347" r:id="rId66"/>
    <p:sldId id="348" r:id="rId67"/>
    <p:sldId id="349" r:id="rId68"/>
    <p:sldId id="350" r:id="rId69"/>
    <p:sldId id="351" r:id="rId70"/>
    <p:sldId id="330" r:id="rId71"/>
    <p:sldId id="353" r:id="rId72"/>
    <p:sldId id="354" r:id="rId73"/>
    <p:sldId id="355" r:id="rId74"/>
    <p:sldId id="356" r:id="rId75"/>
    <p:sldId id="359" r:id="rId76"/>
    <p:sldId id="310" r:id="rId77"/>
    <p:sldId id="357" r:id="rId78"/>
    <p:sldId id="361" r:id="rId79"/>
    <p:sldId id="360" r:id="rId80"/>
    <p:sldId id="259" r:id="rId81"/>
    <p:sldId id="364" r:id="rId87"/>
    <p:sldId id="365" r:id="rId88"/>
    <p:sldId id="366" r:id="rId89"/>
    <p:sldId id="367" r:id="rId90"/>
    <p:sldId id="368" r:id="rId91"/>
    <p:sldId id="369" r:id="rId92"/>
    <p:sldId id="370"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09" autoAdjust="0"/>
    <p:restoredTop sz="71429" autoAdjust="0"/>
  </p:normalViewPr>
  <p:slideViewPr>
    <p:cSldViewPr snapToGrid="0">
      <p:cViewPr varScale="1">
        <p:scale>
          <a:sx n="37" d="100"/>
          <a:sy n="37" d="100"/>
        </p:scale>
        <p:origin x="1288" y="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s>
</file>

<file path=ppt/diagrams/_rels/data7.xml.rels><?xml version="1.0" encoding="UTF-8"?><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 Id="rId4" Type="http://schemas.openxmlformats.org/officeDocument/2006/relationships/image" Target="../media/image72.svg"/></Relationships>
</file>

<file path=ppt/diagrams/_rels/data8.xml.rels><?xml version="1.0" encoding="UTF-8"?><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svg"/><Relationship Id="rId1" Type="http://schemas.openxmlformats.org/officeDocument/2006/relationships/image" Target="../media/image74.svg"/><Relationship Id="rId4" Type="http://schemas.openxmlformats.org/officeDocument/2006/relationships/image" Target="../media/image77.svg"/></Relationships>
</file>

<file path=ppt/diagrams/_rels/data11.xml.rels><?xml version="1.0" encoding="UTF-8"?><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svg"/><Relationship Id="rId1" Type="http://schemas.openxmlformats.org/officeDocument/2006/relationships/image" Target="../media/image94.svg"/><Relationship Id="rId4" Type="http://schemas.openxmlformats.org/officeDocument/2006/relationships/image" Target="../media/image97.svg"/></Relationships>
</file>

<file path=ppt/diagrams/_rels/drawing7.xml.rels><?xml version="1.0" encoding="UTF-8"?><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 Id="rId4" Type="http://schemas.openxmlformats.org/officeDocument/2006/relationships/image" Target="../media/image72.svg"/></Relationships>
</file>

<file path=ppt/diagrams/_rels/drawing8.xml.rels><?xml version="1.0" encoding="UTF-8"?><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svg"/><Relationship Id="rId1" Type="http://schemas.openxmlformats.org/officeDocument/2006/relationships/image" Target="../media/image74.svg"/><Relationship Id="rId4" Type="http://schemas.openxmlformats.org/officeDocument/2006/relationships/image" Target="../media/image77.svg"/></Relationships>
</file>

<file path=ppt/diagrams/_rels/drawing11.xml.rels><?xml version="1.0" encoding="UTF-8"?><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svg"/><Relationship Id="rId1" Type="http://schemas.openxmlformats.org/officeDocument/2006/relationships/image" Target="../media/image94.svg"/><Relationship Id="rId4" Type="http://schemas.openxmlformats.org/officeDocument/2006/relationships/image" Target="../media/image9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3043F2-0A0A-734B-9B9B-AC1435DACE8B}"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3C2E2CEB-8FDC-854E-AEF8-B597DDB1DF40}">
      <dgm:prSet phldrT="[Text]"/>
      <dgm:spPr/>
      <dgm:t xml:space="preserve">
        <a:bodyPr/>
        <a:lstStyle/>
        <a:p>
          <a:pPr>
            <a:buNone/>
          </a:pPr>
          <a:r>
            <a:rPr lang="en-US" b="0" dirty="0"/>
            <a:t>Discover Insights</a:t>
          </a:r>
          <a:endParaRPr lang="en-US" dirty="0"/>
        </a:p>
      </dgm:t>
    </dgm:pt>
    <dgm:pt modelId="{42F464E9-FE2A-D349-BF59-56D6336CD206}" type="parTrans" cxnId="{19BC6214-5E6C-0A4D-963D-B1E78C0A84E5}">
      <dgm:prSet/>
      <dgm:spPr/>
      <dgm:t xml:space="preserve">
        <a:bodyPr/>
        <a:lstStyle/>
        <a:p>
          <a:endParaRPr lang="en-US"/>
        </a:p>
      </dgm:t>
    </dgm:pt>
    <dgm:pt modelId="{77872446-4879-9F49-A0BD-669B86EA6C96}" type="sibTrans" cxnId="{19BC6214-5E6C-0A4D-963D-B1E78C0A84E5}">
      <dgm:prSet/>
      <dgm:spPr/>
      <dgm:t xml:space="preserve">
        <a:bodyPr/>
        <a:lstStyle/>
        <a:p>
          <a:endParaRPr lang="en-US"/>
        </a:p>
      </dgm:t>
    </dgm:pt>
    <dgm:pt modelId="{E2FCF16B-47C9-B349-B241-7873DC6845FC}">
      <dgm:prSet/>
      <dgm:spPr/>
      <dgm:t xml:space="preserve">
        <a:bodyPr/>
        <a:lstStyle/>
        <a:p>
          <a:pPr>
            <a:buNone/>
          </a:pPr>
          <a:r>
            <a:rPr lang="en-US" b="0" dirty="0"/>
            <a:t>Find patterns and relationships you might otherwise miss</a:t>
          </a:r>
        </a:p>
      </dgm:t>
    </dgm:pt>
    <dgm:pt modelId="{58876DD5-B975-B846-AB85-3FD3FE901A18}" type="parTrans" cxnId="{3C40BD55-DB14-9942-9666-DF9A5A020B82}">
      <dgm:prSet/>
      <dgm:spPr/>
      <dgm:t xml:space="preserve">
        <a:bodyPr/>
        <a:lstStyle/>
        <a:p>
          <a:endParaRPr lang="en-US"/>
        </a:p>
      </dgm:t>
    </dgm:pt>
    <dgm:pt modelId="{279E60F5-DC1F-5748-98B7-07909CFB4A94}" type="sibTrans" cxnId="{3C40BD55-DB14-9942-9666-DF9A5A020B82}">
      <dgm:prSet/>
      <dgm:spPr/>
      <dgm:t xml:space="preserve">
        <a:bodyPr/>
        <a:lstStyle/>
        <a:p>
          <a:endParaRPr lang="en-US"/>
        </a:p>
      </dgm:t>
    </dgm:pt>
    <dgm:pt modelId="{B8547950-BBF2-0843-8991-B2A6EFAEA804}">
      <dgm:prSet/>
      <dgm:spPr/>
      <dgm:t xml:space="preserve">
        <a:bodyPr/>
        <a:lstStyle/>
        <a:p>
          <a:pPr>
            <a:buNone/>
          </a:pPr>
          <a:r>
            <a:rPr lang="en-US" b="0" dirty="0"/>
            <a:t>Catch Problems</a:t>
          </a:r>
        </a:p>
      </dgm:t>
    </dgm:pt>
    <dgm:pt modelId="{3AB370DB-9668-634B-991F-2709CC48F460}" type="parTrans" cxnId="{9E7DFE17-C63A-B643-BB86-E2425A8821BC}">
      <dgm:prSet/>
      <dgm:spPr/>
      <dgm:t xml:space="preserve">
        <a:bodyPr/>
        <a:lstStyle/>
        <a:p>
          <a:endParaRPr lang="en-US"/>
        </a:p>
      </dgm:t>
    </dgm:pt>
    <dgm:pt modelId="{206D74CE-F9A1-584D-AA77-C9542210F1B1}" type="sibTrans" cxnId="{9E7DFE17-C63A-B643-BB86-E2425A8821BC}">
      <dgm:prSet/>
      <dgm:spPr/>
      <dgm:t xml:space="preserve">
        <a:bodyPr/>
        <a:lstStyle/>
        <a:p>
          <a:endParaRPr lang="en-US"/>
        </a:p>
      </dgm:t>
    </dgm:pt>
    <dgm:pt modelId="{64E95261-FAE9-C141-81E7-43C3B1EA32FA}">
      <dgm:prSet/>
      <dgm:spPr/>
      <dgm:t xml:space="preserve">
        <a:bodyPr/>
        <a:lstStyle/>
        <a:p>
          <a:pPr>
            <a:buNone/>
          </a:pPr>
          <a:r>
            <a:rPr lang="en-US" b="0" dirty="0"/>
            <a:t>Identify errors and outliers early</a:t>
          </a:r>
        </a:p>
      </dgm:t>
    </dgm:pt>
    <dgm:pt modelId="{70EF4F9A-0A7C-4B4F-A1BF-32A86F28CAC4}" type="parTrans" cxnId="{427F846C-17B7-1247-8166-3AC8199BAE02}">
      <dgm:prSet/>
      <dgm:spPr/>
      <dgm:t xml:space="preserve">
        <a:bodyPr/>
        <a:lstStyle/>
        <a:p>
          <a:endParaRPr lang="en-US"/>
        </a:p>
      </dgm:t>
    </dgm:pt>
    <dgm:pt modelId="{84B0CE9E-F59C-C448-B6FC-FEC2F3637F11}" type="sibTrans" cxnId="{427F846C-17B7-1247-8166-3AC8199BAE02}">
      <dgm:prSet/>
      <dgm:spPr/>
      <dgm:t xml:space="preserve">
        <a:bodyPr/>
        <a:lstStyle/>
        <a:p>
          <a:endParaRPr lang="en-US"/>
        </a:p>
      </dgm:t>
    </dgm:pt>
    <dgm:pt modelId="{BD3E4B1B-3F8C-DC43-BFBF-9E6C06B7B2BD}">
      <dgm:prSet/>
      <dgm:spPr/>
      <dgm:t xml:space="preserve">
        <a:bodyPr/>
        <a:lstStyle/>
        <a:p>
          <a:pPr>
            <a:buNone/>
          </a:pPr>
          <a:r>
            <a:rPr lang="en-US" b="0" dirty="0"/>
            <a:t>Guide Analysis</a:t>
          </a:r>
        </a:p>
      </dgm:t>
    </dgm:pt>
    <dgm:pt modelId="{D4EAD041-C2AD-224C-86F2-94321E0BCADE}" type="parTrans" cxnId="{9DFEB510-E1C8-4A43-A5E8-1A059EB68782}">
      <dgm:prSet/>
      <dgm:spPr/>
      <dgm:t xml:space="preserve">
        <a:bodyPr/>
        <a:lstStyle/>
        <a:p>
          <a:endParaRPr lang="en-US"/>
        </a:p>
      </dgm:t>
    </dgm:pt>
    <dgm:pt modelId="{4C797D94-0AEC-CE48-B5F5-E3A754235CED}" type="sibTrans" cxnId="{9DFEB510-E1C8-4A43-A5E8-1A059EB68782}">
      <dgm:prSet/>
      <dgm:spPr/>
      <dgm:t xml:space="preserve">
        <a:bodyPr/>
        <a:lstStyle/>
        <a:p>
          <a:endParaRPr lang="en-US"/>
        </a:p>
      </dgm:t>
    </dgm:pt>
    <dgm:pt modelId="{9C64A258-032E-AD42-ACFE-8CA6E61BA05D}">
      <dgm:prSet/>
      <dgm:spPr/>
      <dgm:t xml:space="preserve">
        <a:bodyPr/>
        <a:lstStyle/>
        <a:p>
          <a:pPr>
            <a:buNone/>
          </a:pPr>
          <a:r>
            <a:rPr lang="en-US" b="0" dirty="0"/>
            <a:t>Know which direction to take your investigation</a:t>
          </a:r>
        </a:p>
      </dgm:t>
    </dgm:pt>
    <dgm:pt modelId="{FBEC1970-6442-8743-BC1A-1C48B1BC559C}" type="parTrans" cxnId="{D3CB9AA4-7C33-174B-9253-57837F8EA33D}">
      <dgm:prSet/>
      <dgm:spPr/>
      <dgm:t xml:space="preserve">
        <a:bodyPr/>
        <a:lstStyle/>
        <a:p>
          <a:endParaRPr lang="en-US"/>
        </a:p>
      </dgm:t>
    </dgm:pt>
    <dgm:pt modelId="{2D4162C1-5A5B-EA46-A372-7C4D045FC48A}" type="sibTrans" cxnId="{D3CB9AA4-7C33-174B-9253-57837F8EA33D}">
      <dgm:prSet/>
      <dgm:spPr/>
      <dgm:t xml:space="preserve">
        <a:bodyPr/>
        <a:lstStyle/>
        <a:p>
          <a:endParaRPr lang="en-US"/>
        </a:p>
      </dgm:t>
    </dgm:pt>
    <dgm:pt modelId="{94397A87-F19A-1C4E-BAEB-3BB6D727A672}" type="pres">
      <dgm:prSet presAssocID="{9D3043F2-0A0A-734B-9B9B-AC1435DACE8B}" presName="Name0" presStyleCnt="0">
        <dgm:presLayoutVars>
          <dgm:dir/>
          <dgm:animLvl val="lvl"/>
          <dgm:resizeHandles val="exact"/>
        </dgm:presLayoutVars>
      </dgm:prSet>
      <dgm:spPr/>
    </dgm:pt>
    <dgm:pt modelId="{F252E8C9-B12C-1C40-AE7E-AC036A5992D8}" type="pres">
      <dgm:prSet presAssocID="{3C2E2CEB-8FDC-854E-AEF8-B597DDB1DF40}" presName="composite" presStyleCnt="0"/>
      <dgm:spPr/>
    </dgm:pt>
    <dgm:pt modelId="{685DB6F8-7E62-D649-9794-A6444FB06ADE}" type="pres">
      <dgm:prSet presAssocID="{3C2E2CEB-8FDC-854E-AEF8-B597DDB1DF40}" presName="parTx" presStyleLbl="alignNode1" presStyleIdx="0" presStyleCnt="3">
        <dgm:presLayoutVars>
          <dgm:chMax val="0"/>
          <dgm:chPref val="0"/>
          <dgm:bulletEnabled val="1"/>
        </dgm:presLayoutVars>
      </dgm:prSet>
      <dgm:spPr/>
    </dgm:pt>
    <dgm:pt modelId="{05688E63-8771-1742-85D8-A402B5054015}" type="pres">
      <dgm:prSet presAssocID="{3C2E2CEB-8FDC-854E-AEF8-B597DDB1DF40}" presName="desTx" presStyleLbl="alignAccFollowNode1" presStyleIdx="0" presStyleCnt="3">
        <dgm:presLayoutVars>
          <dgm:bulletEnabled val="1"/>
        </dgm:presLayoutVars>
      </dgm:prSet>
      <dgm:spPr/>
    </dgm:pt>
    <dgm:pt modelId="{C02B46CB-5B90-4748-A818-B1A05B7938D3}" type="pres">
      <dgm:prSet presAssocID="{77872446-4879-9F49-A0BD-669B86EA6C96}" presName="space" presStyleCnt="0"/>
      <dgm:spPr/>
    </dgm:pt>
    <dgm:pt modelId="{E50218DC-2A00-B84A-B359-74ABD433764D}" type="pres">
      <dgm:prSet presAssocID="{B8547950-BBF2-0843-8991-B2A6EFAEA804}" presName="composite" presStyleCnt="0"/>
      <dgm:spPr/>
    </dgm:pt>
    <dgm:pt modelId="{4E1D9195-C8ED-9841-A116-18D235C7CEC6}" type="pres">
      <dgm:prSet presAssocID="{B8547950-BBF2-0843-8991-B2A6EFAEA804}" presName="parTx" presStyleLbl="alignNode1" presStyleIdx="1" presStyleCnt="3">
        <dgm:presLayoutVars>
          <dgm:chMax val="0"/>
          <dgm:chPref val="0"/>
          <dgm:bulletEnabled val="1"/>
        </dgm:presLayoutVars>
      </dgm:prSet>
      <dgm:spPr/>
    </dgm:pt>
    <dgm:pt modelId="{7154BB8D-7072-BD44-BCD7-2011C20C666A}" type="pres">
      <dgm:prSet presAssocID="{B8547950-BBF2-0843-8991-B2A6EFAEA804}" presName="desTx" presStyleLbl="alignAccFollowNode1" presStyleIdx="1" presStyleCnt="3">
        <dgm:presLayoutVars>
          <dgm:bulletEnabled val="1"/>
        </dgm:presLayoutVars>
      </dgm:prSet>
      <dgm:spPr/>
    </dgm:pt>
    <dgm:pt modelId="{5989774D-11A0-B248-AAD0-2A5E28534EE1}" type="pres">
      <dgm:prSet presAssocID="{206D74CE-F9A1-584D-AA77-C9542210F1B1}" presName="space" presStyleCnt="0"/>
      <dgm:spPr/>
    </dgm:pt>
    <dgm:pt modelId="{1158C358-F938-1F41-899B-7DC2FEBEE2F0}" type="pres">
      <dgm:prSet presAssocID="{BD3E4B1B-3F8C-DC43-BFBF-9E6C06B7B2BD}" presName="composite" presStyleCnt="0"/>
      <dgm:spPr/>
    </dgm:pt>
    <dgm:pt modelId="{392659DD-2ED1-A84D-BEA0-0377DE9C57F5}" type="pres">
      <dgm:prSet presAssocID="{BD3E4B1B-3F8C-DC43-BFBF-9E6C06B7B2BD}" presName="parTx" presStyleLbl="alignNode1" presStyleIdx="2" presStyleCnt="3">
        <dgm:presLayoutVars>
          <dgm:chMax val="0"/>
          <dgm:chPref val="0"/>
          <dgm:bulletEnabled val="1"/>
        </dgm:presLayoutVars>
      </dgm:prSet>
      <dgm:spPr/>
    </dgm:pt>
    <dgm:pt modelId="{2908BAFF-9449-DE4B-AE89-612B84C3A5B4}" type="pres">
      <dgm:prSet presAssocID="{BD3E4B1B-3F8C-DC43-BFBF-9E6C06B7B2BD}" presName="desTx" presStyleLbl="alignAccFollowNode1" presStyleIdx="2" presStyleCnt="3">
        <dgm:presLayoutVars>
          <dgm:bulletEnabled val="1"/>
        </dgm:presLayoutVars>
      </dgm:prSet>
      <dgm:spPr/>
    </dgm:pt>
  </dgm:ptLst>
  <dgm:cxnLst>
    <dgm:cxn modelId="{9DFEB510-E1C8-4A43-A5E8-1A059EB68782}" srcId="{9D3043F2-0A0A-734B-9B9B-AC1435DACE8B}" destId="{BD3E4B1B-3F8C-DC43-BFBF-9E6C06B7B2BD}" srcOrd="2" destOrd="0" parTransId="{D4EAD041-C2AD-224C-86F2-94321E0BCADE}" sibTransId="{4C797D94-0AEC-CE48-B5F5-E3A754235CED}"/>
    <dgm:cxn modelId="{19BC6214-5E6C-0A4D-963D-B1E78C0A84E5}" srcId="{9D3043F2-0A0A-734B-9B9B-AC1435DACE8B}" destId="{3C2E2CEB-8FDC-854E-AEF8-B597DDB1DF40}" srcOrd="0" destOrd="0" parTransId="{42F464E9-FE2A-D349-BF59-56D6336CD206}" sibTransId="{77872446-4879-9F49-A0BD-669B86EA6C96}"/>
    <dgm:cxn modelId="{9E7DFE17-C63A-B643-BB86-E2425A8821BC}" srcId="{9D3043F2-0A0A-734B-9B9B-AC1435DACE8B}" destId="{B8547950-BBF2-0843-8991-B2A6EFAEA804}" srcOrd="1" destOrd="0" parTransId="{3AB370DB-9668-634B-991F-2709CC48F460}" sibTransId="{206D74CE-F9A1-584D-AA77-C9542210F1B1}"/>
    <dgm:cxn modelId="{8D078C43-1382-724E-8E9B-6BF467049551}" type="presOf" srcId="{E2FCF16B-47C9-B349-B241-7873DC6845FC}" destId="{05688E63-8771-1742-85D8-A402B5054015}" srcOrd="0" destOrd="0" presId="urn:microsoft.com/office/officeart/2005/8/layout/hList1"/>
    <dgm:cxn modelId="{427F846C-17B7-1247-8166-3AC8199BAE02}" srcId="{B8547950-BBF2-0843-8991-B2A6EFAEA804}" destId="{64E95261-FAE9-C141-81E7-43C3B1EA32FA}" srcOrd="0" destOrd="0" parTransId="{70EF4F9A-0A7C-4B4F-A1BF-32A86F28CAC4}" sibTransId="{84B0CE9E-F59C-C448-B6FC-FEC2F3637F11}"/>
    <dgm:cxn modelId="{3C40BD55-DB14-9942-9666-DF9A5A020B82}" srcId="{3C2E2CEB-8FDC-854E-AEF8-B597DDB1DF40}" destId="{E2FCF16B-47C9-B349-B241-7873DC6845FC}" srcOrd="0" destOrd="0" parTransId="{58876DD5-B975-B846-AB85-3FD3FE901A18}" sibTransId="{279E60F5-DC1F-5748-98B7-07909CFB4A94}"/>
    <dgm:cxn modelId="{B17BB459-2098-A04B-AD71-1B76DA08FB96}" type="presOf" srcId="{B8547950-BBF2-0843-8991-B2A6EFAEA804}" destId="{4E1D9195-C8ED-9841-A116-18D235C7CEC6}" srcOrd="0" destOrd="0" presId="urn:microsoft.com/office/officeart/2005/8/layout/hList1"/>
    <dgm:cxn modelId="{1AB68791-0205-1C42-8570-F28C92593937}" type="presOf" srcId="{BD3E4B1B-3F8C-DC43-BFBF-9E6C06B7B2BD}" destId="{392659DD-2ED1-A84D-BEA0-0377DE9C57F5}" srcOrd="0" destOrd="0" presId="urn:microsoft.com/office/officeart/2005/8/layout/hList1"/>
    <dgm:cxn modelId="{D3CB9AA4-7C33-174B-9253-57837F8EA33D}" srcId="{BD3E4B1B-3F8C-DC43-BFBF-9E6C06B7B2BD}" destId="{9C64A258-032E-AD42-ACFE-8CA6E61BA05D}" srcOrd="0" destOrd="0" parTransId="{FBEC1970-6442-8743-BC1A-1C48B1BC559C}" sibTransId="{2D4162C1-5A5B-EA46-A372-7C4D045FC48A}"/>
    <dgm:cxn modelId="{F3DD07A5-9465-8A47-B06A-A5A52AFA7A9A}" type="presOf" srcId="{64E95261-FAE9-C141-81E7-43C3B1EA32FA}" destId="{7154BB8D-7072-BD44-BCD7-2011C20C666A}" srcOrd="0" destOrd="0" presId="urn:microsoft.com/office/officeart/2005/8/layout/hList1"/>
    <dgm:cxn modelId="{8A59B8C3-B54C-EB47-A619-ACED9D63B5D9}" type="presOf" srcId="{3C2E2CEB-8FDC-854E-AEF8-B597DDB1DF40}" destId="{685DB6F8-7E62-D649-9794-A6444FB06ADE}" srcOrd="0" destOrd="0" presId="urn:microsoft.com/office/officeart/2005/8/layout/hList1"/>
    <dgm:cxn modelId="{830A68E0-4C34-A14C-9AD5-C7172E1DC02E}" type="presOf" srcId="{9D3043F2-0A0A-734B-9B9B-AC1435DACE8B}" destId="{94397A87-F19A-1C4E-BAEB-3BB6D727A672}" srcOrd="0" destOrd="0" presId="urn:microsoft.com/office/officeart/2005/8/layout/hList1"/>
    <dgm:cxn modelId="{34638DF0-B3AE-E54A-A402-A18B5CF341B2}" type="presOf" srcId="{9C64A258-032E-AD42-ACFE-8CA6E61BA05D}" destId="{2908BAFF-9449-DE4B-AE89-612B84C3A5B4}" srcOrd="0" destOrd="0" presId="urn:microsoft.com/office/officeart/2005/8/layout/hList1"/>
    <dgm:cxn modelId="{00CD5B82-540E-BE44-9EE8-BDE7764B8505}" type="presParOf" srcId="{94397A87-F19A-1C4E-BAEB-3BB6D727A672}" destId="{F252E8C9-B12C-1C40-AE7E-AC036A5992D8}" srcOrd="0" destOrd="0" presId="urn:microsoft.com/office/officeart/2005/8/layout/hList1"/>
    <dgm:cxn modelId="{542484A1-7DED-4C46-9588-8B769506D276}" type="presParOf" srcId="{F252E8C9-B12C-1C40-AE7E-AC036A5992D8}" destId="{685DB6F8-7E62-D649-9794-A6444FB06ADE}" srcOrd="0" destOrd="0" presId="urn:microsoft.com/office/officeart/2005/8/layout/hList1"/>
    <dgm:cxn modelId="{95413BF0-EBD7-A14E-83AA-68E1F8E93B98}" type="presParOf" srcId="{F252E8C9-B12C-1C40-AE7E-AC036A5992D8}" destId="{05688E63-8771-1742-85D8-A402B5054015}" srcOrd="1" destOrd="0" presId="urn:microsoft.com/office/officeart/2005/8/layout/hList1"/>
    <dgm:cxn modelId="{FDDB4798-70BD-BD41-A880-965CAE3C7241}" type="presParOf" srcId="{94397A87-F19A-1C4E-BAEB-3BB6D727A672}" destId="{C02B46CB-5B90-4748-A818-B1A05B7938D3}" srcOrd="1" destOrd="0" presId="urn:microsoft.com/office/officeart/2005/8/layout/hList1"/>
    <dgm:cxn modelId="{3AADB2F9-3802-B84D-B3C0-04BC5C5D8BEB}" type="presParOf" srcId="{94397A87-F19A-1C4E-BAEB-3BB6D727A672}" destId="{E50218DC-2A00-B84A-B359-74ABD433764D}" srcOrd="2" destOrd="0" presId="urn:microsoft.com/office/officeart/2005/8/layout/hList1"/>
    <dgm:cxn modelId="{7636588A-FBA4-7546-9ED2-DC4C4AE1DEB7}" type="presParOf" srcId="{E50218DC-2A00-B84A-B359-74ABD433764D}" destId="{4E1D9195-C8ED-9841-A116-18D235C7CEC6}" srcOrd="0" destOrd="0" presId="urn:microsoft.com/office/officeart/2005/8/layout/hList1"/>
    <dgm:cxn modelId="{208DEAC0-072A-3947-9DEC-A3FCBAD9AD15}" type="presParOf" srcId="{E50218DC-2A00-B84A-B359-74ABD433764D}" destId="{7154BB8D-7072-BD44-BCD7-2011C20C666A}" srcOrd="1" destOrd="0" presId="urn:microsoft.com/office/officeart/2005/8/layout/hList1"/>
    <dgm:cxn modelId="{DBA524F8-0C83-924D-A4E2-F20DF01F5ADB}" type="presParOf" srcId="{94397A87-F19A-1C4E-BAEB-3BB6D727A672}" destId="{5989774D-11A0-B248-AAD0-2A5E28534EE1}" srcOrd="3" destOrd="0" presId="urn:microsoft.com/office/officeart/2005/8/layout/hList1"/>
    <dgm:cxn modelId="{848A96B4-823A-6C48-BAB7-5D13A6717E5A}" type="presParOf" srcId="{94397A87-F19A-1C4E-BAEB-3BB6D727A672}" destId="{1158C358-F938-1F41-899B-7DC2FEBEE2F0}" srcOrd="4" destOrd="0" presId="urn:microsoft.com/office/officeart/2005/8/layout/hList1"/>
    <dgm:cxn modelId="{7E48AFE2-8044-344E-9BF0-DF3A5DC059BB}" type="presParOf" srcId="{1158C358-F938-1F41-899B-7DC2FEBEE2F0}" destId="{392659DD-2ED1-A84D-BEA0-0377DE9C57F5}" srcOrd="0" destOrd="0" presId="urn:microsoft.com/office/officeart/2005/8/layout/hList1"/>
    <dgm:cxn modelId="{ADC88B82-8F9D-F344-9322-8E8346270D42}" type="presParOf" srcId="{1158C358-F938-1F41-899B-7DC2FEBEE2F0}" destId="{2908BAFF-9449-DE4B-AE89-612B84C3A5B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19C852-F34F-714C-83F4-C83B24C06481}"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9C07E707-9E27-894B-BD94-A89C08B1168B}">
      <dgm:prSet phldrT="[Text]"/>
      <dgm:spPr/>
      <dgm:t xml:space="preserve">
        <a:bodyPr/>
        <a:lstStyle/>
        <a:p>
          <a:pPr>
            <a:buNone/>
          </a:pPr>
          <a:r>
            <a:rPr lang="en-US" b="0" dirty="0"/>
            <a:t>Without EDA</a:t>
          </a:r>
          <a:endParaRPr lang="en-US" dirty="0"/>
        </a:p>
      </dgm:t>
    </dgm:pt>
    <dgm:pt modelId="{F4D20293-6103-C640-82B0-44CC494458B1}" type="parTrans" cxnId="{AC494688-4494-F04D-B5E1-42764AC0A078}">
      <dgm:prSet/>
      <dgm:spPr/>
      <dgm:t xml:space="preserve">
        <a:bodyPr/>
        <a:lstStyle/>
        <a:p>
          <a:endParaRPr lang="en-US"/>
        </a:p>
      </dgm:t>
    </dgm:pt>
    <dgm:pt modelId="{FC5F02FE-D54A-0D45-AC59-9CFA6D6253FF}" type="sibTrans" cxnId="{AC494688-4494-F04D-B5E1-42764AC0A078}">
      <dgm:prSet/>
      <dgm:spPr/>
      <dgm:t xml:space="preserve">
        <a:bodyPr/>
        <a:lstStyle/>
        <a:p>
          <a:endParaRPr lang="en-US"/>
        </a:p>
      </dgm:t>
    </dgm:pt>
    <dgm:pt modelId="{CDA99B0F-F81C-AE40-A670-D73BB2FE16EF}">
      <dgm:prSet/>
      <dgm:spPr/>
      <dgm:t xml:space="preserve">
        <a:bodyPr/>
        <a:lstStyle/>
        <a:p>
          <a:pPr>
            <a:buFont typeface="Arial" panose="020B0604020202020204" pitchFamily="34" charset="0"/>
            <a:buChar char="•"/>
          </a:pPr>
          <a:r>
            <a:rPr lang="en-US" b="0" dirty="0"/>
            <a:t>Trying to solve a puzzle without looking at the picture on the box</a:t>
          </a:r>
        </a:p>
      </dgm:t>
    </dgm:pt>
    <dgm:pt modelId="{17D70A16-7A34-EF4E-8FF6-F92BC0EFF56F}" type="parTrans" cxnId="{B4BF06E9-53BD-664E-B5AF-447E65106F49}">
      <dgm:prSet/>
      <dgm:spPr/>
      <dgm:t xml:space="preserve">
        <a:bodyPr/>
        <a:lstStyle/>
        <a:p>
          <a:endParaRPr lang="en-US"/>
        </a:p>
      </dgm:t>
    </dgm:pt>
    <dgm:pt modelId="{FFA7ACA1-FA09-6540-BEA4-1202E8A5FE80}" type="sibTrans" cxnId="{B4BF06E9-53BD-664E-B5AF-447E65106F49}">
      <dgm:prSet/>
      <dgm:spPr/>
      <dgm:t xml:space="preserve">
        <a:bodyPr/>
        <a:lstStyle/>
        <a:p>
          <a:endParaRPr lang="en-US"/>
        </a:p>
      </dgm:t>
    </dgm:pt>
    <dgm:pt modelId="{A1DC1600-8DE9-5045-B3C1-FC0977FD3ED2}">
      <dgm:prSet/>
      <dgm:spPr/>
      <dgm:t xml:space="preserve">
        <a:bodyPr/>
        <a:lstStyle/>
        <a:p>
          <a:pPr>
            <a:buFont typeface="Arial" panose="020B0604020202020204" pitchFamily="34" charset="0"/>
            <a:buChar char="•"/>
          </a:pPr>
          <a:r>
            <a:rPr lang="en-US" b="0" dirty="0"/>
            <a:t>Jumping to conclusions without gathering all the clues</a:t>
          </a:r>
        </a:p>
      </dgm:t>
    </dgm:pt>
    <dgm:pt modelId="{F1703455-6D73-6944-A5E6-1423C17D2131}" type="parTrans" cxnId="{C589A3BB-AC22-EC49-BD10-511C16C88D3E}">
      <dgm:prSet/>
      <dgm:spPr/>
      <dgm:t xml:space="preserve">
        <a:bodyPr/>
        <a:lstStyle/>
        <a:p>
          <a:endParaRPr lang="en-US"/>
        </a:p>
      </dgm:t>
    </dgm:pt>
    <dgm:pt modelId="{320F37C2-C5D9-4946-B511-CE40C5021F2E}" type="sibTrans" cxnId="{C589A3BB-AC22-EC49-BD10-511C16C88D3E}">
      <dgm:prSet/>
      <dgm:spPr/>
      <dgm:t xml:space="preserve">
        <a:bodyPr/>
        <a:lstStyle/>
        <a:p>
          <a:endParaRPr lang="en-US"/>
        </a:p>
      </dgm:t>
    </dgm:pt>
    <dgm:pt modelId="{3727D6DF-420F-884C-A8C1-B4DF10E84DFE}">
      <dgm:prSet/>
      <dgm:spPr/>
      <dgm:t xml:space="preserve">
        <a:bodyPr/>
        <a:lstStyle/>
        <a:p>
          <a:pPr>
            <a:buFont typeface="Arial" panose="020B0604020202020204" pitchFamily="34" charset="0"/>
            <a:buChar char="•"/>
          </a:pPr>
          <a:r>
            <a:rPr lang="en-US" b="0" dirty="0"/>
            <a:t>Missing important patterns that could lead to wrong answers</a:t>
          </a:r>
        </a:p>
      </dgm:t>
    </dgm:pt>
    <dgm:pt modelId="{EDEAC317-F79D-9947-A8DA-DCAF0CC00726}" type="parTrans" cxnId="{6D25ADA2-9A7A-8843-9989-A1B276798BF1}">
      <dgm:prSet/>
      <dgm:spPr/>
      <dgm:t xml:space="preserve">
        <a:bodyPr/>
        <a:lstStyle/>
        <a:p>
          <a:endParaRPr lang="en-US"/>
        </a:p>
      </dgm:t>
    </dgm:pt>
    <dgm:pt modelId="{EABECA7C-FE62-EA4C-996C-A8D6209C3153}" type="sibTrans" cxnId="{6D25ADA2-9A7A-8843-9989-A1B276798BF1}">
      <dgm:prSet/>
      <dgm:spPr/>
      <dgm:t xml:space="preserve">
        <a:bodyPr/>
        <a:lstStyle/>
        <a:p>
          <a:endParaRPr lang="en-US"/>
        </a:p>
      </dgm:t>
    </dgm:pt>
    <dgm:pt modelId="{8F435193-9423-3647-9734-84CB92DD2733}">
      <dgm:prSet/>
      <dgm:spPr/>
      <dgm:t xml:space="preserve">
        <a:bodyPr/>
        <a:lstStyle/>
        <a:p>
          <a:pPr>
            <a:buNone/>
          </a:pPr>
          <a:r>
            <a:rPr lang="en-US" b="0"/>
            <a:t>With EDA</a:t>
          </a:r>
        </a:p>
      </dgm:t>
    </dgm:pt>
    <dgm:pt modelId="{BDA28C0E-718D-BC4F-9960-51A84BAA85D7}" type="parTrans" cxnId="{FAC10AAC-AFD1-6544-A473-7A330394A141}">
      <dgm:prSet/>
      <dgm:spPr/>
      <dgm:t xml:space="preserve">
        <a:bodyPr/>
        <a:lstStyle/>
        <a:p>
          <a:endParaRPr lang="en-US"/>
        </a:p>
      </dgm:t>
    </dgm:pt>
    <dgm:pt modelId="{58C98F92-442C-5D4C-959C-390381121B51}" type="sibTrans" cxnId="{FAC10AAC-AFD1-6544-A473-7A330394A141}">
      <dgm:prSet/>
      <dgm:spPr/>
      <dgm:t xml:space="preserve">
        <a:bodyPr/>
        <a:lstStyle/>
        <a:p>
          <a:endParaRPr lang="en-US"/>
        </a:p>
      </dgm:t>
    </dgm:pt>
    <dgm:pt modelId="{7C4A7D8B-02FF-3B41-9677-90375EDF51E3}">
      <dgm:prSet/>
      <dgm:spPr/>
      <dgm:t xml:space="preserve">
        <a:bodyPr/>
        <a:lstStyle/>
        <a:p>
          <a:pPr>
            <a:buFont typeface="Arial" panose="020B0604020202020204" pitchFamily="34" charset="0"/>
            <a:buChar char="•"/>
          </a:pPr>
          <a:r>
            <a:rPr lang="en-US" b="0" dirty="0"/>
            <a:t>Examining all the evidence before making judgments</a:t>
          </a:r>
        </a:p>
      </dgm:t>
    </dgm:pt>
    <dgm:pt modelId="{DADAAD36-D341-174C-86C1-13F78DD3CB10}" type="parTrans" cxnId="{BC720EF5-A9F9-0A45-B06C-B7F5437620E7}">
      <dgm:prSet/>
      <dgm:spPr/>
      <dgm:t xml:space="preserve">
        <a:bodyPr/>
        <a:lstStyle/>
        <a:p>
          <a:endParaRPr lang="en-US"/>
        </a:p>
      </dgm:t>
    </dgm:pt>
    <dgm:pt modelId="{7756DD13-4EE9-3045-9FE2-818B8B71D5BC}" type="sibTrans" cxnId="{BC720EF5-A9F9-0A45-B06C-B7F5437620E7}">
      <dgm:prSet/>
      <dgm:spPr/>
      <dgm:t xml:space="preserve">
        <a:bodyPr/>
        <a:lstStyle/>
        <a:p>
          <a:endParaRPr lang="en-US"/>
        </a:p>
      </dgm:t>
    </dgm:pt>
    <dgm:pt modelId="{C6FA1B82-1CAB-BA41-B78D-B139B9E84B2B}">
      <dgm:prSet/>
      <dgm:spPr/>
      <dgm:t xml:space="preserve">
        <a:bodyPr/>
        <a:lstStyle/>
        <a:p>
          <a:pPr>
            <a:buFont typeface="Arial" panose="020B0604020202020204" pitchFamily="34" charset="0"/>
            <a:buChar char="•"/>
          </a:pPr>
          <a:r>
            <a:rPr lang="en-US" b="0" dirty="0"/>
            <a:t>Letting the data tell its own story</a:t>
          </a:r>
        </a:p>
      </dgm:t>
    </dgm:pt>
    <dgm:pt modelId="{F6DE9D49-E547-8F44-B559-25EEE19C0B3F}" type="parTrans" cxnId="{00E6B838-306D-9B49-A9BC-ABDB95AB8C84}">
      <dgm:prSet/>
      <dgm:spPr/>
      <dgm:t xml:space="preserve">
        <a:bodyPr/>
        <a:lstStyle/>
        <a:p>
          <a:endParaRPr lang="en-US"/>
        </a:p>
      </dgm:t>
    </dgm:pt>
    <dgm:pt modelId="{0B3E6FE8-78B1-C247-B8C5-48EF7C0B47A0}" type="sibTrans" cxnId="{00E6B838-306D-9B49-A9BC-ABDB95AB8C84}">
      <dgm:prSet/>
      <dgm:spPr/>
      <dgm:t xml:space="preserve">
        <a:bodyPr/>
        <a:lstStyle/>
        <a:p>
          <a:endParaRPr lang="en-US"/>
        </a:p>
      </dgm:t>
    </dgm:pt>
    <dgm:pt modelId="{7B4E1990-ADD8-6C49-A5E2-2E84110DFBBA}">
      <dgm:prSet/>
      <dgm:spPr/>
      <dgm:t xml:space="preserve">
        <a:bodyPr/>
        <a:lstStyle/>
        <a:p>
          <a:r>
            <a:rPr lang="en-US" b="0" dirty="0"/>
            <a:t>Building a solid foundation for deeper analysis</a:t>
          </a:r>
        </a:p>
      </dgm:t>
    </dgm:pt>
    <dgm:pt modelId="{9A48E5B6-5123-5242-A6BE-291E55A84D53}" type="parTrans" cxnId="{1A414B72-A733-7146-8142-A2FA397D20A7}">
      <dgm:prSet/>
      <dgm:spPr/>
      <dgm:t xml:space="preserve">
        <a:bodyPr/>
        <a:lstStyle/>
        <a:p>
          <a:endParaRPr lang="en-US"/>
        </a:p>
      </dgm:t>
    </dgm:pt>
    <dgm:pt modelId="{B3C7298B-500A-D94B-A246-E03D7666247B}" type="sibTrans" cxnId="{1A414B72-A733-7146-8142-A2FA397D20A7}">
      <dgm:prSet/>
      <dgm:spPr/>
      <dgm:t xml:space="preserve">
        <a:bodyPr/>
        <a:lstStyle/>
        <a:p>
          <a:endParaRPr lang="en-US"/>
        </a:p>
      </dgm:t>
    </dgm:pt>
    <dgm:pt modelId="{4A67992E-60DB-6D4D-8C82-7CDEF2180B8D}" type="pres">
      <dgm:prSet presAssocID="{5C19C852-F34F-714C-83F4-C83B24C06481}" presName="Name0" presStyleCnt="0">
        <dgm:presLayoutVars>
          <dgm:dir/>
          <dgm:animLvl val="lvl"/>
          <dgm:resizeHandles val="exact"/>
        </dgm:presLayoutVars>
      </dgm:prSet>
      <dgm:spPr/>
    </dgm:pt>
    <dgm:pt modelId="{985C6EF2-F566-DA4D-BD4E-7DE954958340}" type="pres">
      <dgm:prSet presAssocID="{9C07E707-9E27-894B-BD94-A89C08B1168B}" presName="composite" presStyleCnt="0"/>
      <dgm:spPr/>
    </dgm:pt>
    <dgm:pt modelId="{E63AAAE5-E373-4149-ABAA-B516C687F912}" type="pres">
      <dgm:prSet presAssocID="{9C07E707-9E27-894B-BD94-A89C08B1168B}" presName="parTx" presStyleLbl="alignNode1" presStyleIdx="0" presStyleCnt="2">
        <dgm:presLayoutVars>
          <dgm:chMax val="0"/>
          <dgm:chPref val="0"/>
          <dgm:bulletEnabled val="1"/>
        </dgm:presLayoutVars>
      </dgm:prSet>
      <dgm:spPr/>
    </dgm:pt>
    <dgm:pt modelId="{C587ABC2-04E1-1A46-9858-7A1BA4D026F1}" type="pres">
      <dgm:prSet presAssocID="{9C07E707-9E27-894B-BD94-A89C08B1168B}" presName="desTx" presStyleLbl="alignAccFollowNode1" presStyleIdx="0" presStyleCnt="2">
        <dgm:presLayoutVars>
          <dgm:bulletEnabled val="1"/>
        </dgm:presLayoutVars>
      </dgm:prSet>
      <dgm:spPr/>
    </dgm:pt>
    <dgm:pt modelId="{8DEF3A54-AE84-2E44-BF82-58C06CB37FD8}" type="pres">
      <dgm:prSet presAssocID="{FC5F02FE-D54A-0D45-AC59-9CFA6D6253FF}" presName="space" presStyleCnt="0"/>
      <dgm:spPr/>
    </dgm:pt>
    <dgm:pt modelId="{DDAE8CC9-3A1F-F245-8468-EA865CF980D9}" type="pres">
      <dgm:prSet presAssocID="{8F435193-9423-3647-9734-84CB92DD2733}" presName="composite" presStyleCnt="0"/>
      <dgm:spPr/>
    </dgm:pt>
    <dgm:pt modelId="{E2B11A43-AF4E-DF42-A150-F99DE13BADD5}" type="pres">
      <dgm:prSet presAssocID="{8F435193-9423-3647-9734-84CB92DD2733}" presName="parTx" presStyleLbl="alignNode1" presStyleIdx="1" presStyleCnt="2">
        <dgm:presLayoutVars>
          <dgm:chMax val="0"/>
          <dgm:chPref val="0"/>
          <dgm:bulletEnabled val="1"/>
        </dgm:presLayoutVars>
      </dgm:prSet>
      <dgm:spPr/>
    </dgm:pt>
    <dgm:pt modelId="{6EE2D022-6C7D-E942-BFB0-9BF16A35FF81}" type="pres">
      <dgm:prSet presAssocID="{8F435193-9423-3647-9734-84CB92DD2733}" presName="desTx" presStyleLbl="alignAccFollowNode1" presStyleIdx="1" presStyleCnt="2">
        <dgm:presLayoutVars>
          <dgm:bulletEnabled val="1"/>
        </dgm:presLayoutVars>
      </dgm:prSet>
      <dgm:spPr/>
    </dgm:pt>
  </dgm:ptLst>
  <dgm:cxnLst>
    <dgm:cxn modelId="{5EAE530F-5BEE-DD48-A8ED-4B24DF8E01D5}" type="presOf" srcId="{A1DC1600-8DE9-5045-B3C1-FC0977FD3ED2}" destId="{C587ABC2-04E1-1A46-9858-7A1BA4D026F1}" srcOrd="0" destOrd="1" presId="urn:microsoft.com/office/officeart/2005/8/layout/hList1"/>
    <dgm:cxn modelId="{A35FA532-5EE4-5245-AB44-D35145442D4E}" type="presOf" srcId="{7C4A7D8B-02FF-3B41-9677-90375EDF51E3}" destId="{6EE2D022-6C7D-E942-BFB0-9BF16A35FF81}" srcOrd="0" destOrd="0" presId="urn:microsoft.com/office/officeart/2005/8/layout/hList1"/>
    <dgm:cxn modelId="{7E00A533-C60C-6E44-8E69-DCBD6CB83207}" type="presOf" srcId="{7B4E1990-ADD8-6C49-A5E2-2E84110DFBBA}" destId="{6EE2D022-6C7D-E942-BFB0-9BF16A35FF81}" srcOrd="0" destOrd="2" presId="urn:microsoft.com/office/officeart/2005/8/layout/hList1"/>
    <dgm:cxn modelId="{00E6B838-306D-9B49-A9BC-ABDB95AB8C84}" srcId="{8F435193-9423-3647-9734-84CB92DD2733}" destId="{C6FA1B82-1CAB-BA41-B78D-B139B9E84B2B}" srcOrd="1" destOrd="0" parTransId="{F6DE9D49-E547-8F44-B559-25EEE19C0B3F}" sibTransId="{0B3E6FE8-78B1-C247-B8C5-48EF7C0B47A0}"/>
    <dgm:cxn modelId="{6FE9003C-17A2-3847-B05D-ED8419BD1591}" type="presOf" srcId="{CDA99B0F-F81C-AE40-A670-D73BB2FE16EF}" destId="{C587ABC2-04E1-1A46-9858-7A1BA4D026F1}" srcOrd="0" destOrd="0" presId="urn:microsoft.com/office/officeart/2005/8/layout/hList1"/>
    <dgm:cxn modelId="{0F7D5A60-A378-CA4A-AFDC-2FAD8262711C}" type="presOf" srcId="{C6FA1B82-1CAB-BA41-B78D-B139B9E84B2B}" destId="{6EE2D022-6C7D-E942-BFB0-9BF16A35FF81}" srcOrd="0" destOrd="1" presId="urn:microsoft.com/office/officeart/2005/8/layout/hList1"/>
    <dgm:cxn modelId="{1A414B72-A733-7146-8142-A2FA397D20A7}" srcId="{8F435193-9423-3647-9734-84CB92DD2733}" destId="{7B4E1990-ADD8-6C49-A5E2-2E84110DFBBA}" srcOrd="2" destOrd="0" parTransId="{9A48E5B6-5123-5242-A6BE-291E55A84D53}" sibTransId="{B3C7298B-500A-D94B-A246-E03D7666247B}"/>
    <dgm:cxn modelId="{9116885A-5330-604F-81C2-E99DAAA73CF4}" type="presOf" srcId="{3727D6DF-420F-884C-A8C1-B4DF10E84DFE}" destId="{C587ABC2-04E1-1A46-9858-7A1BA4D026F1}" srcOrd="0" destOrd="2" presId="urn:microsoft.com/office/officeart/2005/8/layout/hList1"/>
    <dgm:cxn modelId="{AC494688-4494-F04D-B5E1-42764AC0A078}" srcId="{5C19C852-F34F-714C-83F4-C83B24C06481}" destId="{9C07E707-9E27-894B-BD94-A89C08B1168B}" srcOrd="0" destOrd="0" parTransId="{F4D20293-6103-C640-82B0-44CC494458B1}" sibTransId="{FC5F02FE-D54A-0D45-AC59-9CFA6D6253FF}"/>
    <dgm:cxn modelId="{6D25ADA2-9A7A-8843-9989-A1B276798BF1}" srcId="{9C07E707-9E27-894B-BD94-A89C08B1168B}" destId="{3727D6DF-420F-884C-A8C1-B4DF10E84DFE}" srcOrd="2" destOrd="0" parTransId="{EDEAC317-F79D-9947-A8DA-DCAF0CC00726}" sibTransId="{EABECA7C-FE62-EA4C-996C-A8D6209C3153}"/>
    <dgm:cxn modelId="{FAC10AAC-AFD1-6544-A473-7A330394A141}" srcId="{5C19C852-F34F-714C-83F4-C83B24C06481}" destId="{8F435193-9423-3647-9734-84CB92DD2733}" srcOrd="1" destOrd="0" parTransId="{BDA28C0E-718D-BC4F-9960-51A84BAA85D7}" sibTransId="{58C98F92-442C-5D4C-959C-390381121B51}"/>
    <dgm:cxn modelId="{C589A3BB-AC22-EC49-BD10-511C16C88D3E}" srcId="{9C07E707-9E27-894B-BD94-A89C08B1168B}" destId="{A1DC1600-8DE9-5045-B3C1-FC0977FD3ED2}" srcOrd="1" destOrd="0" parTransId="{F1703455-6D73-6944-A5E6-1423C17D2131}" sibTransId="{320F37C2-C5D9-4946-B511-CE40C5021F2E}"/>
    <dgm:cxn modelId="{550F0BDA-F762-304A-9FE8-A510E7688140}" type="presOf" srcId="{8F435193-9423-3647-9734-84CB92DD2733}" destId="{E2B11A43-AF4E-DF42-A150-F99DE13BADD5}" srcOrd="0" destOrd="0" presId="urn:microsoft.com/office/officeart/2005/8/layout/hList1"/>
    <dgm:cxn modelId="{B4BF06E9-53BD-664E-B5AF-447E65106F49}" srcId="{9C07E707-9E27-894B-BD94-A89C08B1168B}" destId="{CDA99B0F-F81C-AE40-A670-D73BB2FE16EF}" srcOrd="0" destOrd="0" parTransId="{17D70A16-7A34-EF4E-8FF6-F92BC0EFF56F}" sibTransId="{FFA7ACA1-FA09-6540-BEA4-1202E8A5FE80}"/>
    <dgm:cxn modelId="{304EAAEA-4D01-3C45-9BD4-67315D4E38B0}" type="presOf" srcId="{9C07E707-9E27-894B-BD94-A89C08B1168B}" destId="{E63AAAE5-E373-4149-ABAA-B516C687F912}" srcOrd="0" destOrd="0" presId="urn:microsoft.com/office/officeart/2005/8/layout/hList1"/>
    <dgm:cxn modelId="{BC720EF5-A9F9-0A45-B06C-B7F5437620E7}" srcId="{8F435193-9423-3647-9734-84CB92DD2733}" destId="{7C4A7D8B-02FF-3B41-9677-90375EDF51E3}" srcOrd="0" destOrd="0" parTransId="{DADAAD36-D341-174C-86C1-13F78DD3CB10}" sibTransId="{7756DD13-4EE9-3045-9FE2-818B8B71D5BC}"/>
    <dgm:cxn modelId="{420724F9-7D23-1344-8D44-A3F149E423CC}" type="presOf" srcId="{5C19C852-F34F-714C-83F4-C83B24C06481}" destId="{4A67992E-60DB-6D4D-8C82-7CDEF2180B8D}" srcOrd="0" destOrd="0" presId="urn:microsoft.com/office/officeart/2005/8/layout/hList1"/>
    <dgm:cxn modelId="{A423AA51-D288-CB43-8644-62536FC5C014}" type="presParOf" srcId="{4A67992E-60DB-6D4D-8C82-7CDEF2180B8D}" destId="{985C6EF2-F566-DA4D-BD4E-7DE954958340}" srcOrd="0" destOrd="0" presId="urn:microsoft.com/office/officeart/2005/8/layout/hList1"/>
    <dgm:cxn modelId="{7C9F88B8-3B04-244F-83E3-B113A3DC6D3E}" type="presParOf" srcId="{985C6EF2-F566-DA4D-BD4E-7DE954958340}" destId="{E63AAAE5-E373-4149-ABAA-B516C687F912}" srcOrd="0" destOrd="0" presId="urn:microsoft.com/office/officeart/2005/8/layout/hList1"/>
    <dgm:cxn modelId="{E5F7A17D-A8A3-0D4A-B92C-DE039ED021D8}" type="presParOf" srcId="{985C6EF2-F566-DA4D-BD4E-7DE954958340}" destId="{C587ABC2-04E1-1A46-9858-7A1BA4D026F1}" srcOrd="1" destOrd="0" presId="urn:microsoft.com/office/officeart/2005/8/layout/hList1"/>
    <dgm:cxn modelId="{B430C17E-BF82-D549-89CE-7B24D5559D30}" type="presParOf" srcId="{4A67992E-60DB-6D4D-8C82-7CDEF2180B8D}" destId="{8DEF3A54-AE84-2E44-BF82-58C06CB37FD8}" srcOrd="1" destOrd="0" presId="urn:microsoft.com/office/officeart/2005/8/layout/hList1"/>
    <dgm:cxn modelId="{51882D30-7B8C-A646-B16D-36107B4A1890}" type="presParOf" srcId="{4A67992E-60DB-6D4D-8C82-7CDEF2180B8D}" destId="{DDAE8CC9-3A1F-F245-8468-EA865CF980D9}" srcOrd="2" destOrd="0" presId="urn:microsoft.com/office/officeart/2005/8/layout/hList1"/>
    <dgm:cxn modelId="{8741CEA7-D8E1-DB46-9B2F-23E4D8918634}" type="presParOf" srcId="{DDAE8CC9-3A1F-F245-8468-EA865CF980D9}" destId="{E2B11A43-AF4E-DF42-A150-F99DE13BADD5}" srcOrd="0" destOrd="0" presId="urn:microsoft.com/office/officeart/2005/8/layout/hList1"/>
    <dgm:cxn modelId="{58FC8D05-FC17-6A4C-B169-F3F9A96DC468}" type="presParOf" srcId="{DDAE8CC9-3A1F-F245-8468-EA865CF980D9}" destId="{6EE2D022-6C7D-E942-BFB0-9BF16A35FF8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2F9142-C90A-C64E-A66B-46AF829B56ED}"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62AD3CCF-6413-A046-B5A1-08C454BC33D4}">
      <dgm:prSet phldrT="[Text]"/>
      <dgm:spPr/>
      <dgm:t xml:space="preserve">
        <a:bodyPr/>
        <a:lstStyle/>
        <a:p>
          <a:pPr>
            <a:buNone/>
          </a:pPr>
          <a:r>
            <a:rPr lang="en-US" b="0" dirty="0"/>
            <a:t>What is Sorting?</a:t>
          </a:r>
          <a:endParaRPr lang="en-US" dirty="0"/>
        </a:p>
      </dgm:t>
    </dgm:pt>
    <dgm:pt modelId="{0AE32A6B-25A5-AE4B-9E00-7D12A1D6C07B}" type="parTrans" cxnId="{4820A3E1-4FB7-C44A-91E7-E17B772771B2}">
      <dgm:prSet/>
      <dgm:spPr/>
      <dgm:t xml:space="preserve">
        <a:bodyPr/>
        <a:lstStyle/>
        <a:p>
          <a:endParaRPr lang="en-US"/>
        </a:p>
      </dgm:t>
    </dgm:pt>
    <dgm:pt modelId="{773B507B-2696-3842-B264-544CF9C13F60}" type="sibTrans" cxnId="{4820A3E1-4FB7-C44A-91E7-E17B772771B2}">
      <dgm:prSet/>
      <dgm:spPr/>
      <dgm:t xml:space="preserve">
        <a:bodyPr/>
        <a:lstStyle/>
        <a:p>
          <a:endParaRPr lang="en-US"/>
        </a:p>
      </dgm:t>
    </dgm:pt>
    <dgm:pt modelId="{7E1A654C-55F1-514A-A2D5-75EC925E1772}">
      <dgm:prSet/>
      <dgm:spPr/>
      <dgm:t xml:space="preserve">
        <a:bodyPr/>
        <a:lstStyle/>
        <a:p>
          <a:pPr>
            <a:buNone/>
          </a:pPr>
          <a:r>
            <a:rPr lang="en-US" b="0" dirty="0"/>
            <a:t>Arranging data in order (highest to lowest, alphabetical, etc.)</a:t>
          </a:r>
        </a:p>
      </dgm:t>
    </dgm:pt>
    <dgm:pt modelId="{5586E2DD-18AE-9244-97BE-D81EB38B3CF2}" type="parTrans" cxnId="{3F9A940B-1A28-0442-8A5C-79B79DBC37D7}">
      <dgm:prSet/>
      <dgm:spPr/>
      <dgm:t xml:space="preserve">
        <a:bodyPr/>
        <a:lstStyle/>
        <a:p>
          <a:endParaRPr lang="en-US"/>
        </a:p>
      </dgm:t>
    </dgm:pt>
    <dgm:pt modelId="{DD789319-DDA9-7748-820C-4DF9A1D10D41}" type="sibTrans" cxnId="{3F9A940B-1A28-0442-8A5C-79B79DBC37D7}">
      <dgm:prSet/>
      <dgm:spPr/>
      <dgm:t xml:space="preserve">
        <a:bodyPr/>
        <a:lstStyle/>
        <a:p>
          <a:endParaRPr lang="en-US"/>
        </a:p>
      </dgm:t>
    </dgm:pt>
    <dgm:pt modelId="{66EC7203-A62D-2C48-9337-25EAD4610E50}">
      <dgm:prSet/>
      <dgm:spPr/>
      <dgm:t xml:space="preserve">
        <a:bodyPr/>
        <a:lstStyle/>
        <a:p>
          <a:pPr>
            <a:buNone/>
          </a:pPr>
          <a:r>
            <a:rPr lang="en-US" b="0"/>
            <a:t>Why Sort?</a:t>
          </a:r>
        </a:p>
      </dgm:t>
    </dgm:pt>
    <dgm:pt modelId="{F051D53C-B000-3D4D-B5B6-C82C36CDADE9}" type="parTrans" cxnId="{B38B50DB-F5B5-8D49-8710-09AA552A0A4E}">
      <dgm:prSet/>
      <dgm:spPr/>
      <dgm:t xml:space="preserve">
        <a:bodyPr/>
        <a:lstStyle/>
        <a:p>
          <a:endParaRPr lang="en-US"/>
        </a:p>
      </dgm:t>
    </dgm:pt>
    <dgm:pt modelId="{1F1FC3B8-FFBE-4C4B-9AFC-D9D2CAED3F9D}" type="sibTrans" cxnId="{B38B50DB-F5B5-8D49-8710-09AA552A0A4E}">
      <dgm:prSet/>
      <dgm:spPr/>
      <dgm:t xml:space="preserve">
        <a:bodyPr/>
        <a:lstStyle/>
        <a:p>
          <a:endParaRPr lang="en-US"/>
        </a:p>
      </dgm:t>
    </dgm:pt>
    <dgm:pt modelId="{0BBA96C8-B078-7A4D-9DBB-C2ECB1AA4EFA}">
      <dgm:prSet/>
      <dgm:spPr/>
      <dgm:t xml:space="preserve">
        <a:bodyPr/>
        <a:lstStyle/>
        <a:p>
          <a:pPr>
            <a:buNone/>
          </a:pPr>
          <a:r>
            <a:rPr lang="en-US" b="0" dirty="0"/>
            <a:t>Quickly find extreme values (highest/lowest scores)</a:t>
          </a:r>
        </a:p>
      </dgm:t>
    </dgm:pt>
    <dgm:pt modelId="{8ADBE79F-6298-F74F-89E5-663ADF7ECE06}" type="parTrans" cxnId="{60A2C95D-BB7A-5A43-9BE7-72D69C7D52F1}">
      <dgm:prSet/>
      <dgm:spPr/>
      <dgm:t xml:space="preserve">
        <a:bodyPr/>
        <a:lstStyle/>
        <a:p>
          <a:endParaRPr lang="en-US"/>
        </a:p>
      </dgm:t>
    </dgm:pt>
    <dgm:pt modelId="{84992A45-7B5D-4B43-A1A2-96DB0313A934}" type="sibTrans" cxnId="{60A2C95D-BB7A-5A43-9BE7-72D69C7D52F1}">
      <dgm:prSet/>
      <dgm:spPr/>
      <dgm:t xml:space="preserve">
        <a:bodyPr/>
        <a:lstStyle/>
        <a:p>
          <a:endParaRPr lang="en-US"/>
        </a:p>
      </dgm:t>
    </dgm:pt>
    <dgm:pt modelId="{F8C25FB4-6E7D-2B4B-8FE0-7E67740CB4B3}">
      <dgm:prSet/>
      <dgm:spPr/>
      <dgm:t xml:space="preserve">
        <a:bodyPr/>
        <a:lstStyle/>
        <a:p>
          <a:pPr>
            <a:buNone/>
          </a:pPr>
          <a:r>
            <a:rPr lang="en-US" b="0" dirty="0"/>
            <a:t>Example</a:t>
          </a:r>
        </a:p>
      </dgm:t>
    </dgm:pt>
    <dgm:pt modelId="{80B30EAA-04DA-5647-A153-59E74179B1DC}" type="parTrans" cxnId="{C4B3F555-980C-2543-8506-5B3EAFFAD548}">
      <dgm:prSet/>
      <dgm:spPr/>
      <dgm:t xml:space="preserve">
        <a:bodyPr/>
        <a:lstStyle/>
        <a:p>
          <a:endParaRPr lang="en-US"/>
        </a:p>
      </dgm:t>
    </dgm:pt>
    <dgm:pt modelId="{144365D0-D28C-654F-8454-638648A45BE4}" type="sibTrans" cxnId="{C4B3F555-980C-2543-8506-5B3EAFFAD548}">
      <dgm:prSet/>
      <dgm:spPr/>
      <dgm:t xml:space="preserve">
        <a:bodyPr/>
        <a:lstStyle/>
        <a:p>
          <a:endParaRPr lang="en-US"/>
        </a:p>
      </dgm:t>
    </dgm:pt>
    <dgm:pt modelId="{A847F22C-0DBB-C943-9007-BC707A634E09}">
      <dgm:prSet/>
      <dgm:spPr/>
      <dgm:t xml:space="preserve">
        <a:bodyPr/>
        <a:lstStyle/>
        <a:p>
          <a:r>
            <a:rPr lang="en-US" b="0" dirty="0"/>
            <a:t>Sorting exam scores shows Carlos (95) is top performer, Brian (72) scored lowest</a:t>
          </a:r>
        </a:p>
      </dgm:t>
    </dgm:pt>
    <dgm:pt modelId="{740FF596-9237-8C48-96CB-66CDD04CA335}" type="parTrans" cxnId="{AFC4D6E9-318B-8F44-B637-7CE417A61B52}">
      <dgm:prSet/>
      <dgm:spPr/>
      <dgm:t xml:space="preserve">
        <a:bodyPr/>
        <a:lstStyle/>
        <a:p>
          <a:endParaRPr lang="en-US"/>
        </a:p>
      </dgm:t>
    </dgm:pt>
    <dgm:pt modelId="{DE7F7ADD-550A-F647-BCE9-13BF94DF602A}" type="sibTrans" cxnId="{AFC4D6E9-318B-8F44-B637-7CE417A61B52}">
      <dgm:prSet/>
      <dgm:spPr/>
      <dgm:t xml:space="preserve">
        <a:bodyPr/>
        <a:lstStyle/>
        <a:p>
          <a:endParaRPr lang="en-US"/>
        </a:p>
      </dgm:t>
    </dgm:pt>
    <dgm:pt modelId="{9D79A729-8402-EF4F-8851-E44B698766AE}" type="pres">
      <dgm:prSet presAssocID="{3D2F9142-C90A-C64E-A66B-46AF829B56ED}" presName="Name0" presStyleCnt="0">
        <dgm:presLayoutVars>
          <dgm:dir/>
          <dgm:animLvl val="lvl"/>
          <dgm:resizeHandles val="exact"/>
        </dgm:presLayoutVars>
      </dgm:prSet>
      <dgm:spPr/>
    </dgm:pt>
    <dgm:pt modelId="{84AAA428-D590-9C47-A309-3E02EB720FAD}" type="pres">
      <dgm:prSet presAssocID="{62AD3CCF-6413-A046-B5A1-08C454BC33D4}" presName="composite" presStyleCnt="0"/>
      <dgm:spPr/>
    </dgm:pt>
    <dgm:pt modelId="{147BFC4E-CB1A-6C47-92B4-D8254CDB41E8}" type="pres">
      <dgm:prSet presAssocID="{62AD3CCF-6413-A046-B5A1-08C454BC33D4}" presName="parTx" presStyleLbl="alignNode1" presStyleIdx="0" presStyleCnt="3">
        <dgm:presLayoutVars>
          <dgm:chMax val="0"/>
          <dgm:chPref val="0"/>
          <dgm:bulletEnabled val="1"/>
        </dgm:presLayoutVars>
      </dgm:prSet>
      <dgm:spPr/>
    </dgm:pt>
    <dgm:pt modelId="{1CFDBF10-58B8-E746-9573-AB7A96C92371}" type="pres">
      <dgm:prSet presAssocID="{62AD3CCF-6413-A046-B5A1-08C454BC33D4}" presName="desTx" presStyleLbl="alignAccFollowNode1" presStyleIdx="0" presStyleCnt="3">
        <dgm:presLayoutVars>
          <dgm:bulletEnabled val="1"/>
        </dgm:presLayoutVars>
      </dgm:prSet>
      <dgm:spPr/>
    </dgm:pt>
    <dgm:pt modelId="{021D4E37-F4A8-DA4B-81FD-391DABAB7CCC}" type="pres">
      <dgm:prSet presAssocID="{773B507B-2696-3842-B264-544CF9C13F60}" presName="space" presStyleCnt="0"/>
      <dgm:spPr/>
    </dgm:pt>
    <dgm:pt modelId="{E803EF44-DE69-1C40-A0D0-2148AF0DFFA7}" type="pres">
      <dgm:prSet presAssocID="{66EC7203-A62D-2C48-9337-25EAD4610E50}" presName="composite" presStyleCnt="0"/>
      <dgm:spPr/>
    </dgm:pt>
    <dgm:pt modelId="{2024A5EC-7B9A-CF49-9D70-CA4A6248D142}" type="pres">
      <dgm:prSet presAssocID="{66EC7203-A62D-2C48-9337-25EAD4610E50}" presName="parTx" presStyleLbl="alignNode1" presStyleIdx="1" presStyleCnt="3">
        <dgm:presLayoutVars>
          <dgm:chMax val="0"/>
          <dgm:chPref val="0"/>
          <dgm:bulletEnabled val="1"/>
        </dgm:presLayoutVars>
      </dgm:prSet>
      <dgm:spPr/>
    </dgm:pt>
    <dgm:pt modelId="{590ABC27-EA7B-3D48-92EC-2B90D22793BF}" type="pres">
      <dgm:prSet presAssocID="{66EC7203-A62D-2C48-9337-25EAD4610E50}" presName="desTx" presStyleLbl="alignAccFollowNode1" presStyleIdx="1" presStyleCnt="3">
        <dgm:presLayoutVars>
          <dgm:bulletEnabled val="1"/>
        </dgm:presLayoutVars>
      </dgm:prSet>
      <dgm:spPr/>
    </dgm:pt>
    <dgm:pt modelId="{47B9EAA3-4427-3F49-A409-4E493C97F07A}" type="pres">
      <dgm:prSet presAssocID="{1F1FC3B8-FFBE-4C4B-9AFC-D9D2CAED3F9D}" presName="space" presStyleCnt="0"/>
      <dgm:spPr/>
    </dgm:pt>
    <dgm:pt modelId="{9CEF3A12-FB0F-2148-A382-6F09C1879163}" type="pres">
      <dgm:prSet presAssocID="{F8C25FB4-6E7D-2B4B-8FE0-7E67740CB4B3}" presName="composite" presStyleCnt="0"/>
      <dgm:spPr/>
    </dgm:pt>
    <dgm:pt modelId="{FF1F51AD-227F-D945-ACFD-87934BFE4072}" type="pres">
      <dgm:prSet presAssocID="{F8C25FB4-6E7D-2B4B-8FE0-7E67740CB4B3}" presName="parTx" presStyleLbl="alignNode1" presStyleIdx="2" presStyleCnt="3">
        <dgm:presLayoutVars>
          <dgm:chMax val="0"/>
          <dgm:chPref val="0"/>
          <dgm:bulletEnabled val="1"/>
        </dgm:presLayoutVars>
      </dgm:prSet>
      <dgm:spPr/>
    </dgm:pt>
    <dgm:pt modelId="{957592C9-AB0E-3A4F-B43D-7871D610D30A}" type="pres">
      <dgm:prSet presAssocID="{F8C25FB4-6E7D-2B4B-8FE0-7E67740CB4B3}" presName="desTx" presStyleLbl="alignAccFollowNode1" presStyleIdx="2" presStyleCnt="3">
        <dgm:presLayoutVars>
          <dgm:bulletEnabled val="1"/>
        </dgm:presLayoutVars>
      </dgm:prSet>
      <dgm:spPr/>
    </dgm:pt>
  </dgm:ptLst>
  <dgm:cxnLst>
    <dgm:cxn modelId="{62C68E07-7EB5-0C44-94A3-DB35B600B7B4}" type="presOf" srcId="{62AD3CCF-6413-A046-B5A1-08C454BC33D4}" destId="{147BFC4E-CB1A-6C47-92B4-D8254CDB41E8}" srcOrd="0" destOrd="0" presId="urn:microsoft.com/office/officeart/2005/8/layout/hList1"/>
    <dgm:cxn modelId="{3F9A940B-1A28-0442-8A5C-79B79DBC37D7}" srcId="{62AD3CCF-6413-A046-B5A1-08C454BC33D4}" destId="{7E1A654C-55F1-514A-A2D5-75EC925E1772}" srcOrd="0" destOrd="0" parTransId="{5586E2DD-18AE-9244-97BE-D81EB38B3CF2}" sibTransId="{DD789319-DDA9-7748-820C-4DF9A1D10D41}"/>
    <dgm:cxn modelId="{60A2C95D-BB7A-5A43-9BE7-72D69C7D52F1}" srcId="{66EC7203-A62D-2C48-9337-25EAD4610E50}" destId="{0BBA96C8-B078-7A4D-9DBB-C2ECB1AA4EFA}" srcOrd="0" destOrd="0" parTransId="{8ADBE79F-6298-F74F-89E5-663ADF7ECE06}" sibTransId="{84992A45-7B5D-4B43-A1A2-96DB0313A934}"/>
    <dgm:cxn modelId="{C4B3F555-980C-2543-8506-5B3EAFFAD548}" srcId="{3D2F9142-C90A-C64E-A66B-46AF829B56ED}" destId="{F8C25FB4-6E7D-2B4B-8FE0-7E67740CB4B3}" srcOrd="2" destOrd="0" parTransId="{80B30EAA-04DA-5647-A153-59E74179B1DC}" sibTransId="{144365D0-D28C-654F-8454-638648A45BE4}"/>
    <dgm:cxn modelId="{277B66A5-9242-E84A-90F2-99A095E4900C}" type="presOf" srcId="{0BBA96C8-B078-7A4D-9DBB-C2ECB1AA4EFA}" destId="{590ABC27-EA7B-3D48-92EC-2B90D22793BF}" srcOrd="0" destOrd="0" presId="urn:microsoft.com/office/officeart/2005/8/layout/hList1"/>
    <dgm:cxn modelId="{D66B17BC-6103-F944-8178-CEA901C22B86}" type="presOf" srcId="{A847F22C-0DBB-C943-9007-BC707A634E09}" destId="{957592C9-AB0E-3A4F-B43D-7871D610D30A}" srcOrd="0" destOrd="0" presId="urn:microsoft.com/office/officeart/2005/8/layout/hList1"/>
    <dgm:cxn modelId="{BC5906BD-4652-5D4D-952E-FAA0C0109F3F}" type="presOf" srcId="{F8C25FB4-6E7D-2B4B-8FE0-7E67740CB4B3}" destId="{FF1F51AD-227F-D945-ACFD-87934BFE4072}" srcOrd="0" destOrd="0" presId="urn:microsoft.com/office/officeart/2005/8/layout/hList1"/>
    <dgm:cxn modelId="{91D424CD-79F1-D545-B5C6-F58CF0F9E607}" type="presOf" srcId="{66EC7203-A62D-2C48-9337-25EAD4610E50}" destId="{2024A5EC-7B9A-CF49-9D70-CA4A6248D142}" srcOrd="0" destOrd="0" presId="urn:microsoft.com/office/officeart/2005/8/layout/hList1"/>
    <dgm:cxn modelId="{F0D190D9-A86B-EB48-8CAF-942529064751}" type="presOf" srcId="{7E1A654C-55F1-514A-A2D5-75EC925E1772}" destId="{1CFDBF10-58B8-E746-9573-AB7A96C92371}" srcOrd="0" destOrd="0" presId="urn:microsoft.com/office/officeart/2005/8/layout/hList1"/>
    <dgm:cxn modelId="{B38B50DB-F5B5-8D49-8710-09AA552A0A4E}" srcId="{3D2F9142-C90A-C64E-A66B-46AF829B56ED}" destId="{66EC7203-A62D-2C48-9337-25EAD4610E50}" srcOrd="1" destOrd="0" parTransId="{F051D53C-B000-3D4D-B5B6-C82C36CDADE9}" sibTransId="{1F1FC3B8-FFBE-4C4B-9AFC-D9D2CAED3F9D}"/>
    <dgm:cxn modelId="{4820A3E1-4FB7-C44A-91E7-E17B772771B2}" srcId="{3D2F9142-C90A-C64E-A66B-46AF829B56ED}" destId="{62AD3CCF-6413-A046-B5A1-08C454BC33D4}" srcOrd="0" destOrd="0" parTransId="{0AE32A6B-25A5-AE4B-9E00-7D12A1D6C07B}" sibTransId="{773B507B-2696-3842-B264-544CF9C13F60}"/>
    <dgm:cxn modelId="{AFC4D6E9-318B-8F44-B637-7CE417A61B52}" srcId="{F8C25FB4-6E7D-2B4B-8FE0-7E67740CB4B3}" destId="{A847F22C-0DBB-C943-9007-BC707A634E09}" srcOrd="0" destOrd="0" parTransId="{740FF596-9237-8C48-96CB-66CDD04CA335}" sibTransId="{DE7F7ADD-550A-F647-BCE9-13BF94DF602A}"/>
    <dgm:cxn modelId="{B9927AFA-2B91-DB4B-90C1-348464625068}" type="presOf" srcId="{3D2F9142-C90A-C64E-A66B-46AF829B56ED}" destId="{9D79A729-8402-EF4F-8851-E44B698766AE}" srcOrd="0" destOrd="0" presId="urn:microsoft.com/office/officeart/2005/8/layout/hList1"/>
    <dgm:cxn modelId="{5895D74B-DF68-0947-9689-F836EB7CD533}" type="presParOf" srcId="{9D79A729-8402-EF4F-8851-E44B698766AE}" destId="{84AAA428-D590-9C47-A309-3E02EB720FAD}" srcOrd="0" destOrd="0" presId="urn:microsoft.com/office/officeart/2005/8/layout/hList1"/>
    <dgm:cxn modelId="{0D4B8B5A-95F7-304F-85D4-3BAA0919A170}" type="presParOf" srcId="{84AAA428-D590-9C47-A309-3E02EB720FAD}" destId="{147BFC4E-CB1A-6C47-92B4-D8254CDB41E8}" srcOrd="0" destOrd="0" presId="urn:microsoft.com/office/officeart/2005/8/layout/hList1"/>
    <dgm:cxn modelId="{B0E00170-134E-0746-99CE-30FB31F3A545}" type="presParOf" srcId="{84AAA428-D590-9C47-A309-3E02EB720FAD}" destId="{1CFDBF10-58B8-E746-9573-AB7A96C92371}" srcOrd="1" destOrd="0" presId="urn:microsoft.com/office/officeart/2005/8/layout/hList1"/>
    <dgm:cxn modelId="{482725D2-A63B-D140-99FC-B1231AF6EBAF}" type="presParOf" srcId="{9D79A729-8402-EF4F-8851-E44B698766AE}" destId="{021D4E37-F4A8-DA4B-81FD-391DABAB7CCC}" srcOrd="1" destOrd="0" presId="urn:microsoft.com/office/officeart/2005/8/layout/hList1"/>
    <dgm:cxn modelId="{3B22B465-48AD-0F48-AE74-64591F7E1A1D}" type="presParOf" srcId="{9D79A729-8402-EF4F-8851-E44B698766AE}" destId="{E803EF44-DE69-1C40-A0D0-2148AF0DFFA7}" srcOrd="2" destOrd="0" presId="urn:microsoft.com/office/officeart/2005/8/layout/hList1"/>
    <dgm:cxn modelId="{CCFCDE87-E5D6-1146-8E24-B9FCC5B04768}" type="presParOf" srcId="{E803EF44-DE69-1C40-A0D0-2148AF0DFFA7}" destId="{2024A5EC-7B9A-CF49-9D70-CA4A6248D142}" srcOrd="0" destOrd="0" presId="urn:microsoft.com/office/officeart/2005/8/layout/hList1"/>
    <dgm:cxn modelId="{351D4E7E-E68A-3E42-94AA-DD44B0D1EA2B}" type="presParOf" srcId="{E803EF44-DE69-1C40-A0D0-2148AF0DFFA7}" destId="{590ABC27-EA7B-3D48-92EC-2B90D22793BF}" srcOrd="1" destOrd="0" presId="urn:microsoft.com/office/officeart/2005/8/layout/hList1"/>
    <dgm:cxn modelId="{548CE88E-B4C7-934D-8C56-FA94859712BB}" type="presParOf" srcId="{9D79A729-8402-EF4F-8851-E44B698766AE}" destId="{47B9EAA3-4427-3F49-A409-4E493C97F07A}" srcOrd="3" destOrd="0" presId="urn:microsoft.com/office/officeart/2005/8/layout/hList1"/>
    <dgm:cxn modelId="{38DD2E5B-E67B-274A-BB08-7251A2C7A92D}" type="presParOf" srcId="{9D79A729-8402-EF4F-8851-E44B698766AE}" destId="{9CEF3A12-FB0F-2148-A382-6F09C1879163}" srcOrd="4" destOrd="0" presId="urn:microsoft.com/office/officeart/2005/8/layout/hList1"/>
    <dgm:cxn modelId="{D564886C-91B1-6643-8B43-D746BCE79A7D}" type="presParOf" srcId="{9CEF3A12-FB0F-2148-A382-6F09C1879163}" destId="{FF1F51AD-227F-D945-ACFD-87934BFE4072}" srcOrd="0" destOrd="0" presId="urn:microsoft.com/office/officeart/2005/8/layout/hList1"/>
    <dgm:cxn modelId="{19F83103-1E43-0A4D-AF53-13BA55877DA0}" type="presParOf" srcId="{9CEF3A12-FB0F-2148-A382-6F09C1879163}" destId="{957592C9-AB0E-3A4F-B43D-7871D610D30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30C916-FE39-A14B-B6D2-902096F8F05B}"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7D50DD31-9D19-8B47-A409-29F1C4CC2DE4}">
      <dgm:prSet phldrT="[Text]"/>
      <dgm:spPr/>
      <dgm:t xml:space="preserve">
        <a:bodyPr/>
        <a:lstStyle/>
        <a:p>
          <a:pPr>
            <a:buNone/>
          </a:pPr>
          <a:r>
            <a:rPr lang="en-US" b="0" dirty="0"/>
            <a:t>Categorical (Qualitative)</a:t>
          </a:r>
          <a:endParaRPr lang="en-US" dirty="0"/>
        </a:p>
      </dgm:t>
    </dgm:pt>
    <dgm:pt modelId="{75513906-2B90-B449-99CA-18A6178B48EF}" type="parTrans" cxnId="{E52B0BEB-283E-8442-A688-D79B7D588028}">
      <dgm:prSet/>
      <dgm:spPr/>
      <dgm:t xml:space="preserve">
        <a:bodyPr/>
        <a:lstStyle/>
        <a:p>
          <a:endParaRPr lang="en-US"/>
        </a:p>
      </dgm:t>
    </dgm:pt>
    <dgm:pt modelId="{2CEA4F08-42F9-0447-9184-0060B91BCC4C}" type="sibTrans" cxnId="{E52B0BEB-283E-8442-A688-D79B7D588028}">
      <dgm:prSet/>
      <dgm:spPr/>
      <dgm:t xml:space="preserve">
        <a:bodyPr/>
        <a:lstStyle/>
        <a:p>
          <a:endParaRPr lang="en-US"/>
        </a:p>
      </dgm:t>
    </dgm:pt>
    <dgm:pt modelId="{CA926E5B-138E-424C-A984-805341AF3784}">
      <dgm:prSet phldrT="[Text]"/>
      <dgm:spPr/>
      <dgm:t xml:space="preserve">
        <a:bodyPr/>
        <a:lstStyle/>
        <a:p>
          <a:pPr>
            <a:buNone/>
          </a:pPr>
          <a:r>
            <a:rPr lang="en-US" b="0" dirty="0"/>
            <a:t>Numerical (Quantitative)</a:t>
          </a:r>
          <a:endParaRPr lang="en-US" dirty="0"/>
        </a:p>
      </dgm:t>
    </dgm:pt>
    <dgm:pt modelId="{A280C9F4-B2B9-984F-B57A-6DCE1D630034}" type="parTrans" cxnId="{1B302CB4-62B2-5A47-AA81-16BA7199AF9E}">
      <dgm:prSet/>
      <dgm:spPr/>
      <dgm:t xml:space="preserve">
        <a:bodyPr/>
        <a:lstStyle/>
        <a:p>
          <a:endParaRPr lang="en-US"/>
        </a:p>
      </dgm:t>
    </dgm:pt>
    <dgm:pt modelId="{CA96C92E-844D-AA4B-BFAB-B950EFF931FF}" type="sibTrans" cxnId="{1B302CB4-62B2-5A47-AA81-16BA7199AF9E}">
      <dgm:prSet/>
      <dgm:spPr/>
      <dgm:t xml:space="preserve">
        <a:bodyPr/>
        <a:lstStyle/>
        <a:p>
          <a:endParaRPr lang="en-US"/>
        </a:p>
      </dgm:t>
    </dgm:pt>
    <dgm:pt modelId="{A3A7EF95-9426-964D-9599-0D015713492F}">
      <dgm:prSet/>
      <dgm:spPr/>
      <dgm:t xml:space="preserve">
        <a:bodyPr/>
        <a:lstStyle/>
        <a:p>
          <a:pPr>
            <a:buFont typeface="Arial" panose="020B0604020202020204" pitchFamily="34" charset="0"/>
            <a:buChar char="•"/>
          </a:pPr>
          <a:r>
            <a:rPr lang="en-US" b="0" dirty="0"/>
            <a:t>Limited set of categories or labels</a:t>
          </a:r>
        </a:p>
      </dgm:t>
    </dgm:pt>
    <dgm:pt modelId="{6DE0CA5F-2071-AE44-9C8C-AEC3CEDAA604}" type="parTrans" cxnId="{D6B3F125-F337-8F42-9FC8-02D9B808FEF1}">
      <dgm:prSet/>
      <dgm:spPr/>
      <dgm:t xml:space="preserve">
        <a:bodyPr/>
        <a:lstStyle/>
        <a:p>
          <a:endParaRPr lang="en-US"/>
        </a:p>
      </dgm:t>
    </dgm:pt>
    <dgm:pt modelId="{0DC62A12-D719-0345-8995-78BE8F6B3619}" type="sibTrans" cxnId="{D6B3F125-F337-8F42-9FC8-02D9B808FEF1}">
      <dgm:prSet/>
      <dgm:spPr/>
      <dgm:t xml:space="preserve">
        <a:bodyPr/>
        <a:lstStyle/>
        <a:p>
          <a:endParaRPr lang="en-US"/>
        </a:p>
      </dgm:t>
    </dgm:pt>
    <dgm:pt modelId="{E554DEA4-7AE7-D143-89C9-C343953B119A}">
      <dgm:prSet/>
      <dgm:spPr/>
      <dgm:t xml:space="preserve">
        <a:bodyPr/>
        <a:lstStyle/>
        <a:p>
          <a:pPr>
            <a:buFont typeface="Arial" panose="020B0604020202020204" pitchFamily="34" charset="0"/>
            <a:buChar char="•"/>
          </a:pPr>
          <a:r>
            <a:rPr lang="en-US" b="0" dirty="0"/>
            <a:t>Examples: blood type, favorite subject, letter grade</a:t>
          </a:r>
        </a:p>
      </dgm:t>
    </dgm:pt>
    <dgm:pt modelId="{B6F4F84D-A306-F94A-A1AF-F574BC52C285}" type="parTrans" cxnId="{7E26E8ED-D8EA-A74B-AA06-FF7F9CB3BECF}">
      <dgm:prSet/>
      <dgm:spPr/>
      <dgm:t xml:space="preserve">
        <a:bodyPr/>
        <a:lstStyle/>
        <a:p>
          <a:endParaRPr lang="en-US"/>
        </a:p>
      </dgm:t>
    </dgm:pt>
    <dgm:pt modelId="{9D74158E-7A79-1C4B-A5CC-955457FB9290}" type="sibTrans" cxnId="{7E26E8ED-D8EA-A74B-AA06-FF7F9CB3BECF}">
      <dgm:prSet/>
      <dgm:spPr/>
      <dgm:t xml:space="preserve">
        <a:bodyPr/>
        <a:lstStyle/>
        <a:p>
          <a:endParaRPr lang="en-US"/>
        </a:p>
      </dgm:t>
    </dgm:pt>
    <dgm:pt modelId="{AB4F947D-0057-5441-B8CB-0A971194B1EE}">
      <dgm:prSet/>
      <dgm:spPr/>
      <dgm:t xml:space="preserve">
        <a:bodyPr/>
        <a:lstStyle/>
        <a:p>
          <a:r>
            <a:rPr lang="en-US" b="0" dirty="0"/>
            <a:t>Analyze with: frequency tables, bar charts</a:t>
          </a:r>
        </a:p>
      </dgm:t>
    </dgm:pt>
    <dgm:pt modelId="{5F382869-5A43-E74C-B2EC-CD679AC04A93}" type="parTrans" cxnId="{AB65D130-4032-0944-80FD-2B76EFE05059}">
      <dgm:prSet/>
      <dgm:spPr/>
      <dgm:t xml:space="preserve">
        <a:bodyPr/>
        <a:lstStyle/>
        <a:p>
          <a:endParaRPr lang="en-US"/>
        </a:p>
      </dgm:t>
    </dgm:pt>
    <dgm:pt modelId="{D8BBBD8A-9004-1D43-981F-9E30696267F7}" type="sibTrans" cxnId="{AB65D130-4032-0944-80FD-2B76EFE05059}">
      <dgm:prSet/>
      <dgm:spPr/>
      <dgm:t xml:space="preserve">
        <a:bodyPr/>
        <a:lstStyle/>
        <a:p>
          <a:endParaRPr lang="en-US"/>
        </a:p>
      </dgm:t>
    </dgm:pt>
    <dgm:pt modelId="{CA3775A4-6654-5147-BE66-7E8286317A95}">
      <dgm:prSet/>
      <dgm:spPr/>
      <dgm:t xml:space="preserve">
        <a:bodyPr/>
        <a:lstStyle/>
        <a:p>
          <a:pPr>
            <a:buFont typeface="Arial" panose="020B0604020202020204" pitchFamily="34" charset="0"/>
            <a:buChar char="•"/>
          </a:pPr>
          <a:r>
            <a:rPr lang="en-US" b="0" dirty="0"/>
            <a:t>Measured in numbers</a:t>
          </a:r>
        </a:p>
      </dgm:t>
    </dgm:pt>
    <dgm:pt modelId="{8F126B56-270F-294B-9A19-60B24535C3E8}" type="parTrans" cxnId="{24BE2304-5507-A449-8905-521A89EAA9E7}">
      <dgm:prSet/>
      <dgm:spPr/>
      <dgm:t xml:space="preserve">
        <a:bodyPr/>
        <a:lstStyle/>
        <a:p>
          <a:endParaRPr lang="en-US"/>
        </a:p>
      </dgm:t>
    </dgm:pt>
    <dgm:pt modelId="{68A1D7FD-65C1-B847-8769-6F1DA5BC4C33}" type="sibTrans" cxnId="{24BE2304-5507-A449-8905-521A89EAA9E7}">
      <dgm:prSet/>
      <dgm:spPr/>
      <dgm:t xml:space="preserve">
        <a:bodyPr/>
        <a:lstStyle/>
        <a:p>
          <a:endParaRPr lang="en-US"/>
        </a:p>
      </dgm:t>
    </dgm:pt>
    <dgm:pt modelId="{5C41B431-65A3-B748-A024-92A430716ED0}">
      <dgm:prSet/>
      <dgm:spPr/>
      <dgm:t xml:space="preserve">
        <a:bodyPr/>
        <a:lstStyle/>
        <a:p>
          <a:pPr>
            <a:buFont typeface="Arial" panose="020B0604020202020204" pitchFamily="34" charset="0"/>
            <a:buChar char="•"/>
          </a:pPr>
          <a:r>
            <a:rPr lang="en-US" b="0" dirty="0"/>
            <a:t>Examples: height, test score, hours of sleep</a:t>
          </a:r>
        </a:p>
      </dgm:t>
    </dgm:pt>
    <dgm:pt modelId="{088AE04E-F0D2-2540-8665-B30FC8CB9511}" type="parTrans" cxnId="{860C4FFF-A074-EC4A-A85F-20BDB07CBBB8}">
      <dgm:prSet/>
      <dgm:spPr/>
      <dgm:t xml:space="preserve">
        <a:bodyPr/>
        <a:lstStyle/>
        <a:p>
          <a:endParaRPr lang="en-US"/>
        </a:p>
      </dgm:t>
    </dgm:pt>
    <dgm:pt modelId="{CAD40503-54FF-0446-8976-92C90228FC7B}" type="sibTrans" cxnId="{860C4FFF-A074-EC4A-A85F-20BDB07CBBB8}">
      <dgm:prSet/>
      <dgm:spPr/>
      <dgm:t xml:space="preserve">
        <a:bodyPr/>
        <a:lstStyle/>
        <a:p>
          <a:endParaRPr lang="en-US"/>
        </a:p>
      </dgm:t>
    </dgm:pt>
    <dgm:pt modelId="{8D2166ED-C705-D44E-A171-66C9239C1E27}">
      <dgm:prSet/>
      <dgm:spPr/>
      <dgm:t xml:space="preserve">
        <a:bodyPr/>
        <a:lstStyle/>
        <a:p>
          <a:r>
            <a:rPr lang="en-US" b="0" dirty="0"/>
            <a:t>Analyze with: mean, median, histograms, boxplots</a:t>
          </a:r>
        </a:p>
      </dgm:t>
    </dgm:pt>
    <dgm:pt modelId="{2C24A18D-4DDF-B24D-B882-91732D7B52EF}" type="parTrans" cxnId="{BA02A539-D3D8-3E4E-B444-910885E24E37}">
      <dgm:prSet/>
      <dgm:spPr/>
      <dgm:t xml:space="preserve">
        <a:bodyPr/>
        <a:lstStyle/>
        <a:p>
          <a:endParaRPr lang="en-US"/>
        </a:p>
      </dgm:t>
    </dgm:pt>
    <dgm:pt modelId="{3E28AC0A-6D43-6B43-B786-93FCFB784504}" type="sibTrans" cxnId="{BA02A539-D3D8-3E4E-B444-910885E24E37}">
      <dgm:prSet/>
      <dgm:spPr/>
      <dgm:t xml:space="preserve">
        <a:bodyPr/>
        <a:lstStyle/>
        <a:p>
          <a:endParaRPr lang="en-US"/>
        </a:p>
      </dgm:t>
    </dgm:pt>
    <dgm:pt modelId="{8728EAEF-6144-4744-B7F1-AC3F634FE7F5}" type="pres">
      <dgm:prSet presAssocID="{EB30C916-FE39-A14B-B6D2-902096F8F05B}" presName="Name0" presStyleCnt="0">
        <dgm:presLayoutVars>
          <dgm:dir/>
          <dgm:animLvl val="lvl"/>
          <dgm:resizeHandles val="exact"/>
        </dgm:presLayoutVars>
      </dgm:prSet>
      <dgm:spPr/>
    </dgm:pt>
    <dgm:pt modelId="{C1FB6667-DCE5-6D40-9148-462CC0EAC095}" type="pres">
      <dgm:prSet presAssocID="{7D50DD31-9D19-8B47-A409-29F1C4CC2DE4}" presName="composite" presStyleCnt="0"/>
      <dgm:spPr/>
    </dgm:pt>
    <dgm:pt modelId="{4A59608B-CA0E-9D4E-A456-7E251199BEAE}" type="pres">
      <dgm:prSet presAssocID="{7D50DD31-9D19-8B47-A409-29F1C4CC2DE4}" presName="parTx" presStyleLbl="alignNode1" presStyleIdx="0" presStyleCnt="2">
        <dgm:presLayoutVars>
          <dgm:chMax val="0"/>
          <dgm:chPref val="0"/>
          <dgm:bulletEnabled val="1"/>
        </dgm:presLayoutVars>
      </dgm:prSet>
      <dgm:spPr/>
    </dgm:pt>
    <dgm:pt modelId="{064ABF8D-A594-424C-B600-2E8915B83AB8}" type="pres">
      <dgm:prSet presAssocID="{7D50DD31-9D19-8B47-A409-29F1C4CC2DE4}" presName="desTx" presStyleLbl="alignAccFollowNode1" presStyleIdx="0" presStyleCnt="2">
        <dgm:presLayoutVars>
          <dgm:bulletEnabled val="1"/>
        </dgm:presLayoutVars>
      </dgm:prSet>
      <dgm:spPr/>
    </dgm:pt>
    <dgm:pt modelId="{A1607CA7-54CF-584D-A292-F7E532EF53B2}" type="pres">
      <dgm:prSet presAssocID="{2CEA4F08-42F9-0447-9184-0060B91BCC4C}" presName="space" presStyleCnt="0"/>
      <dgm:spPr/>
    </dgm:pt>
    <dgm:pt modelId="{8C23EFDA-7C26-E845-966C-0B9E7C85E717}" type="pres">
      <dgm:prSet presAssocID="{CA926E5B-138E-424C-A984-805341AF3784}" presName="composite" presStyleCnt="0"/>
      <dgm:spPr/>
    </dgm:pt>
    <dgm:pt modelId="{04CD4DA1-7018-5A44-918A-A2984D75A181}" type="pres">
      <dgm:prSet presAssocID="{CA926E5B-138E-424C-A984-805341AF3784}" presName="parTx" presStyleLbl="alignNode1" presStyleIdx="1" presStyleCnt="2">
        <dgm:presLayoutVars>
          <dgm:chMax val="0"/>
          <dgm:chPref val="0"/>
          <dgm:bulletEnabled val="1"/>
        </dgm:presLayoutVars>
      </dgm:prSet>
      <dgm:spPr/>
    </dgm:pt>
    <dgm:pt modelId="{8C54035A-013B-C646-9A54-B7002FB2C95A}" type="pres">
      <dgm:prSet presAssocID="{CA926E5B-138E-424C-A984-805341AF3784}" presName="desTx" presStyleLbl="alignAccFollowNode1" presStyleIdx="1" presStyleCnt="2">
        <dgm:presLayoutVars>
          <dgm:bulletEnabled val="1"/>
        </dgm:presLayoutVars>
      </dgm:prSet>
      <dgm:spPr/>
    </dgm:pt>
  </dgm:ptLst>
  <dgm:cxnLst>
    <dgm:cxn modelId="{24BE2304-5507-A449-8905-521A89EAA9E7}" srcId="{CA926E5B-138E-424C-A984-805341AF3784}" destId="{CA3775A4-6654-5147-BE66-7E8286317A95}" srcOrd="0" destOrd="0" parTransId="{8F126B56-270F-294B-9A19-60B24535C3E8}" sibTransId="{68A1D7FD-65C1-B847-8769-6F1DA5BC4C33}"/>
    <dgm:cxn modelId="{EA18E208-A517-AA48-8E99-DA6A285CBE40}" type="presOf" srcId="{8D2166ED-C705-D44E-A171-66C9239C1E27}" destId="{8C54035A-013B-C646-9A54-B7002FB2C95A}" srcOrd="0" destOrd="2" presId="urn:microsoft.com/office/officeart/2005/8/layout/hList1"/>
    <dgm:cxn modelId="{D6B3F125-F337-8F42-9FC8-02D9B808FEF1}" srcId="{7D50DD31-9D19-8B47-A409-29F1C4CC2DE4}" destId="{A3A7EF95-9426-964D-9599-0D015713492F}" srcOrd="0" destOrd="0" parTransId="{6DE0CA5F-2071-AE44-9C8C-AEC3CEDAA604}" sibTransId="{0DC62A12-D719-0345-8995-78BE8F6B3619}"/>
    <dgm:cxn modelId="{AB65D130-4032-0944-80FD-2B76EFE05059}" srcId="{7D50DD31-9D19-8B47-A409-29F1C4CC2DE4}" destId="{AB4F947D-0057-5441-B8CB-0A971194B1EE}" srcOrd="2" destOrd="0" parTransId="{5F382869-5A43-E74C-B2EC-CD679AC04A93}" sibTransId="{D8BBBD8A-9004-1D43-981F-9E30696267F7}"/>
    <dgm:cxn modelId="{BA02A539-D3D8-3E4E-B444-910885E24E37}" srcId="{CA926E5B-138E-424C-A984-805341AF3784}" destId="{8D2166ED-C705-D44E-A171-66C9239C1E27}" srcOrd="2" destOrd="0" parTransId="{2C24A18D-4DDF-B24D-B882-91732D7B52EF}" sibTransId="{3E28AC0A-6D43-6B43-B786-93FCFB784504}"/>
    <dgm:cxn modelId="{1B7E1748-A50D-504A-943C-004887BC3920}" type="presOf" srcId="{A3A7EF95-9426-964D-9599-0D015713492F}" destId="{064ABF8D-A594-424C-B600-2E8915B83AB8}" srcOrd="0" destOrd="0" presId="urn:microsoft.com/office/officeart/2005/8/layout/hList1"/>
    <dgm:cxn modelId="{BF1CCA9C-9198-5F41-B70F-56A806584BEA}" type="presOf" srcId="{5C41B431-65A3-B748-A024-92A430716ED0}" destId="{8C54035A-013B-C646-9A54-B7002FB2C95A}" srcOrd="0" destOrd="1" presId="urn:microsoft.com/office/officeart/2005/8/layout/hList1"/>
    <dgm:cxn modelId="{494412B1-D8EC-654B-BC6C-5D7A3C73B12C}" type="presOf" srcId="{7D50DD31-9D19-8B47-A409-29F1C4CC2DE4}" destId="{4A59608B-CA0E-9D4E-A456-7E251199BEAE}" srcOrd="0" destOrd="0" presId="urn:microsoft.com/office/officeart/2005/8/layout/hList1"/>
    <dgm:cxn modelId="{1B302CB4-62B2-5A47-AA81-16BA7199AF9E}" srcId="{EB30C916-FE39-A14B-B6D2-902096F8F05B}" destId="{CA926E5B-138E-424C-A984-805341AF3784}" srcOrd="1" destOrd="0" parTransId="{A280C9F4-B2B9-984F-B57A-6DCE1D630034}" sibTransId="{CA96C92E-844D-AA4B-BFAB-B950EFF931FF}"/>
    <dgm:cxn modelId="{4DDE44BA-FD58-F94B-ACCB-E72914EA0D48}" type="presOf" srcId="{E554DEA4-7AE7-D143-89C9-C343953B119A}" destId="{064ABF8D-A594-424C-B600-2E8915B83AB8}" srcOrd="0" destOrd="1" presId="urn:microsoft.com/office/officeart/2005/8/layout/hList1"/>
    <dgm:cxn modelId="{C1D707E7-718F-9D43-BDD9-5230313FC500}" type="presOf" srcId="{AB4F947D-0057-5441-B8CB-0A971194B1EE}" destId="{064ABF8D-A594-424C-B600-2E8915B83AB8}" srcOrd="0" destOrd="2" presId="urn:microsoft.com/office/officeart/2005/8/layout/hList1"/>
    <dgm:cxn modelId="{7106BEE9-C7A9-2741-A027-1A3792105FF0}" type="presOf" srcId="{CA3775A4-6654-5147-BE66-7E8286317A95}" destId="{8C54035A-013B-C646-9A54-B7002FB2C95A}" srcOrd="0" destOrd="0" presId="urn:microsoft.com/office/officeart/2005/8/layout/hList1"/>
    <dgm:cxn modelId="{E52B0BEB-283E-8442-A688-D79B7D588028}" srcId="{EB30C916-FE39-A14B-B6D2-902096F8F05B}" destId="{7D50DD31-9D19-8B47-A409-29F1C4CC2DE4}" srcOrd="0" destOrd="0" parTransId="{75513906-2B90-B449-99CA-18A6178B48EF}" sibTransId="{2CEA4F08-42F9-0447-9184-0060B91BCC4C}"/>
    <dgm:cxn modelId="{38F13EED-7180-7844-8382-B9DA4EABE54F}" type="presOf" srcId="{EB30C916-FE39-A14B-B6D2-902096F8F05B}" destId="{8728EAEF-6144-4744-B7F1-AC3F634FE7F5}" srcOrd="0" destOrd="0" presId="urn:microsoft.com/office/officeart/2005/8/layout/hList1"/>
    <dgm:cxn modelId="{7E26E8ED-D8EA-A74B-AA06-FF7F9CB3BECF}" srcId="{7D50DD31-9D19-8B47-A409-29F1C4CC2DE4}" destId="{E554DEA4-7AE7-D143-89C9-C343953B119A}" srcOrd="1" destOrd="0" parTransId="{B6F4F84D-A306-F94A-A1AF-F574BC52C285}" sibTransId="{9D74158E-7A79-1C4B-A5CC-955457FB9290}"/>
    <dgm:cxn modelId="{73AFC7F1-5C36-A648-955D-D91DFB365629}" type="presOf" srcId="{CA926E5B-138E-424C-A984-805341AF3784}" destId="{04CD4DA1-7018-5A44-918A-A2984D75A181}" srcOrd="0" destOrd="0" presId="urn:microsoft.com/office/officeart/2005/8/layout/hList1"/>
    <dgm:cxn modelId="{860C4FFF-A074-EC4A-A85F-20BDB07CBBB8}" srcId="{CA926E5B-138E-424C-A984-805341AF3784}" destId="{5C41B431-65A3-B748-A024-92A430716ED0}" srcOrd="1" destOrd="0" parTransId="{088AE04E-F0D2-2540-8665-B30FC8CB9511}" sibTransId="{CAD40503-54FF-0446-8976-92C90228FC7B}"/>
    <dgm:cxn modelId="{A771BA34-FC6D-8747-ABBE-623ED204978D}" type="presParOf" srcId="{8728EAEF-6144-4744-B7F1-AC3F634FE7F5}" destId="{C1FB6667-DCE5-6D40-9148-462CC0EAC095}" srcOrd="0" destOrd="0" presId="urn:microsoft.com/office/officeart/2005/8/layout/hList1"/>
    <dgm:cxn modelId="{9F8DA119-0800-5241-B1FC-FBA5654F42FB}" type="presParOf" srcId="{C1FB6667-DCE5-6D40-9148-462CC0EAC095}" destId="{4A59608B-CA0E-9D4E-A456-7E251199BEAE}" srcOrd="0" destOrd="0" presId="urn:microsoft.com/office/officeart/2005/8/layout/hList1"/>
    <dgm:cxn modelId="{BFA72007-FCB0-1B47-90C9-67980C729EE4}" type="presParOf" srcId="{C1FB6667-DCE5-6D40-9148-462CC0EAC095}" destId="{064ABF8D-A594-424C-B600-2E8915B83AB8}" srcOrd="1" destOrd="0" presId="urn:microsoft.com/office/officeart/2005/8/layout/hList1"/>
    <dgm:cxn modelId="{68B1742F-6AD2-E04D-81DD-9FD1D5CD7AA7}" type="presParOf" srcId="{8728EAEF-6144-4744-B7F1-AC3F634FE7F5}" destId="{A1607CA7-54CF-584D-A292-F7E532EF53B2}" srcOrd="1" destOrd="0" presId="urn:microsoft.com/office/officeart/2005/8/layout/hList1"/>
    <dgm:cxn modelId="{61A3EC80-C17A-2B48-BEF0-20D263600A83}" type="presParOf" srcId="{8728EAEF-6144-4744-B7F1-AC3F634FE7F5}" destId="{8C23EFDA-7C26-E845-966C-0B9E7C85E717}" srcOrd="2" destOrd="0" presId="urn:microsoft.com/office/officeart/2005/8/layout/hList1"/>
    <dgm:cxn modelId="{26AAB01A-E6BF-7F45-89F8-DF768E4B727F}" type="presParOf" srcId="{8C23EFDA-7C26-E845-966C-0B9E7C85E717}" destId="{04CD4DA1-7018-5A44-918A-A2984D75A181}" srcOrd="0" destOrd="0" presId="urn:microsoft.com/office/officeart/2005/8/layout/hList1"/>
    <dgm:cxn modelId="{E8033ACA-501D-9E4B-B485-B6EC9222860D}" type="presParOf" srcId="{8C23EFDA-7C26-E845-966C-0B9E7C85E717}" destId="{8C54035A-013B-C646-9A54-B7002FB2C95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27BC99-A210-E746-9C89-6FCFD5B3AA26}" type="doc">
      <dgm:prSet loTypeId="urn:microsoft.com/office/officeart/2005/8/layout/list1" loCatId="" qsTypeId="urn:microsoft.com/office/officeart/2005/8/quickstyle/simple1" qsCatId="simple" csTypeId="urn:microsoft.com/office/officeart/2005/8/colors/accent1_2" csCatId="accent1" phldr="1"/>
      <dgm:spPr/>
      <dgm:t xml:space="preserve">
        <a:bodyPr/>
        <a:lstStyle/>
        <a:p>
          <a:endParaRPr lang="en-US"/>
        </a:p>
      </dgm:t>
    </dgm:pt>
    <dgm:pt modelId="{4DDA9A93-605A-4B4E-BEE2-1A1391A704FA}">
      <dgm:prSet phldrT="[Text]" custT="1"/>
      <dgm:spPr/>
      <dgm:t xml:space="preserve">
        <a:bodyPr/>
        <a:lstStyle/>
        <a:p>
          <a:pPr>
            <a:buNone/>
          </a:pPr>
          <a:r>
            <a:rPr lang="en-US" sz="1800" b="1" dirty="0"/>
            <a:t>Categorical variables</a:t>
          </a:r>
          <a:r>
            <a:rPr lang="en-US" sz="1800" dirty="0"/>
            <a:t xml:space="preserve"> are like labels – they name or group things (e.g., blood type, favorite subject, or grades like A/B/C).</a:t>
          </a:r>
        </a:p>
      </dgm:t>
    </dgm:pt>
    <dgm:pt modelId="{E82213BB-B6AB-9141-8687-651489D4C791}" type="parTrans" cxnId="{DBF19D50-B883-E142-8338-233AF7971092}">
      <dgm:prSet/>
      <dgm:spPr/>
      <dgm:t xml:space="preserve">
        <a:bodyPr/>
        <a:lstStyle/>
        <a:p>
          <a:endParaRPr lang="en-US"/>
        </a:p>
      </dgm:t>
    </dgm:pt>
    <dgm:pt modelId="{46766938-8B16-6142-924E-04DE1434142D}" type="sibTrans" cxnId="{DBF19D50-B883-E142-8338-233AF7971092}">
      <dgm:prSet/>
      <dgm:spPr/>
      <dgm:t xml:space="preserve">
        <a:bodyPr/>
        <a:lstStyle/>
        <a:p>
          <a:endParaRPr lang="en-US"/>
        </a:p>
      </dgm:t>
    </dgm:pt>
    <dgm:pt modelId="{D45277AB-A816-954A-AD78-7EAC2E12097F}">
      <dgm:prSet custT="1"/>
      <dgm:spPr/>
      <dgm:t xml:space="preserve">
        <a:bodyPr/>
        <a:lstStyle/>
        <a:p>
          <a:pPr>
            <a:buNone/>
          </a:pPr>
          <a:r>
            <a:rPr lang="en-US" sz="1800" dirty="0"/>
            <a:t>You don’t do math on them – instead, you count how often each category appears.</a:t>
          </a:r>
        </a:p>
      </dgm:t>
    </dgm:pt>
    <dgm:pt modelId="{224DE38B-E816-504E-8350-78DB3247C4F9}" type="parTrans" cxnId="{4E7A5525-AB9F-1D46-BB90-7CFC283438F7}">
      <dgm:prSet/>
      <dgm:spPr/>
      <dgm:t xml:space="preserve">
        <a:bodyPr/>
        <a:lstStyle/>
        <a:p>
          <a:endParaRPr lang="en-US"/>
        </a:p>
      </dgm:t>
    </dgm:pt>
    <dgm:pt modelId="{C60810E3-D26E-0446-8B88-0E804F969C1B}" type="sibTrans" cxnId="{4E7A5525-AB9F-1D46-BB90-7CFC283438F7}">
      <dgm:prSet/>
      <dgm:spPr/>
      <dgm:t xml:space="preserve">
        <a:bodyPr/>
        <a:lstStyle/>
        <a:p>
          <a:endParaRPr lang="en-US"/>
        </a:p>
      </dgm:t>
    </dgm:pt>
    <dgm:pt modelId="{59BBF007-40B9-2943-8996-13B74FAC9DC4}">
      <dgm:prSet custT="1"/>
      <dgm:spPr/>
      <dgm:t xml:space="preserve">
        <a:bodyPr/>
        <a:lstStyle/>
        <a:p>
          <a:pPr>
            <a:buNone/>
          </a:pPr>
          <a:r>
            <a:rPr lang="en-US" sz="1800" b="1"/>
            <a:t>Frequency tables</a:t>
          </a:r>
          <a:r>
            <a:rPr lang="en-US" sz="1800"/>
            <a:t xml:space="preserve"> show how many times each label shows up.</a:t>
          </a:r>
        </a:p>
      </dgm:t>
    </dgm:pt>
    <dgm:pt modelId="{9E1A474D-D4FB-A24F-ABEB-E6E19523B58D}" type="parTrans" cxnId="{6E085529-E2A8-C34F-9414-90FD58096054}">
      <dgm:prSet/>
      <dgm:spPr/>
      <dgm:t xml:space="preserve">
        <a:bodyPr/>
        <a:lstStyle/>
        <a:p>
          <a:endParaRPr lang="en-US"/>
        </a:p>
      </dgm:t>
    </dgm:pt>
    <dgm:pt modelId="{457847EC-F3BA-F940-95C9-A67DE256D8FA}" type="sibTrans" cxnId="{6E085529-E2A8-C34F-9414-90FD58096054}">
      <dgm:prSet/>
      <dgm:spPr/>
      <dgm:t xml:space="preserve">
        <a:bodyPr/>
        <a:lstStyle/>
        <a:p>
          <a:endParaRPr lang="en-US"/>
        </a:p>
      </dgm:t>
    </dgm:pt>
    <dgm:pt modelId="{B76C8870-005A-6B41-B468-BB9AC0D29D00}">
      <dgm:prSet custT="1"/>
      <dgm:spPr/>
      <dgm:t xml:space="preserve">
        <a:bodyPr/>
        <a:lstStyle/>
        <a:p>
          <a:pPr>
            <a:buNone/>
          </a:pPr>
          <a:r>
            <a:rPr lang="en-US" sz="1800" b="1" dirty="0"/>
            <a:t>Relative frequency</a:t>
          </a:r>
          <a:r>
            <a:rPr lang="en-US" sz="1800" dirty="0"/>
            <a:t xml:space="preserve"> tells you the </a:t>
          </a:r>
          <a:r>
            <a:rPr lang="en-US" sz="1800" i="1" dirty="0"/>
            <a:t>proportion</a:t>
          </a:r>
          <a:r>
            <a:rPr lang="en-US" sz="1800" dirty="0"/>
            <a:t xml:space="preserve"> – like “30% of students got an A.”</a:t>
          </a:r>
        </a:p>
      </dgm:t>
    </dgm:pt>
    <dgm:pt modelId="{C3C8DFA1-E562-854B-98DE-5D5C15E46F39}" type="parTrans" cxnId="{FFB064F0-27BE-C746-8510-CBFD07D69CC6}">
      <dgm:prSet/>
      <dgm:spPr/>
      <dgm:t xml:space="preserve">
        <a:bodyPr/>
        <a:lstStyle/>
        <a:p>
          <a:endParaRPr lang="en-US"/>
        </a:p>
      </dgm:t>
    </dgm:pt>
    <dgm:pt modelId="{4CFB155F-28D8-FD48-A2D6-4DD2ECAECDFB}" type="sibTrans" cxnId="{FFB064F0-27BE-C746-8510-CBFD07D69CC6}">
      <dgm:prSet/>
      <dgm:spPr/>
      <dgm:t xml:space="preserve">
        <a:bodyPr/>
        <a:lstStyle/>
        <a:p>
          <a:endParaRPr lang="en-US"/>
        </a:p>
      </dgm:t>
    </dgm:pt>
    <dgm:pt modelId="{784FB342-4297-5846-AFDE-0C8A300E7A28}">
      <dgm:prSet custT="1"/>
      <dgm:spPr/>
      <dgm:t xml:space="preserve">
        <a:bodyPr/>
        <a:lstStyle/>
        <a:p>
          <a:pPr>
            <a:buNone/>
          </a:pPr>
          <a:r>
            <a:rPr lang="en-US" sz="1800" b="1"/>
            <a:t>Bar charts</a:t>
          </a:r>
          <a:r>
            <a:rPr lang="en-US" sz="1800"/>
            <a:t xml:space="preserve"> are perfect visuals: categories on the x-axis, bar heights show counts or percentages.</a:t>
          </a:r>
        </a:p>
      </dgm:t>
    </dgm:pt>
    <dgm:pt modelId="{3000C5F4-B932-DB42-BFE0-B5A5297D862A}" type="parTrans" cxnId="{558A1C11-DDBB-F94A-95C8-DC22860C4CA6}">
      <dgm:prSet/>
      <dgm:spPr/>
      <dgm:t xml:space="preserve">
        <a:bodyPr/>
        <a:lstStyle/>
        <a:p>
          <a:endParaRPr lang="en-US"/>
        </a:p>
      </dgm:t>
    </dgm:pt>
    <dgm:pt modelId="{0D9EC8CD-7CD9-394C-A52E-33E0F1B44745}" type="sibTrans" cxnId="{558A1C11-DDBB-F94A-95C8-DC22860C4CA6}">
      <dgm:prSet/>
      <dgm:spPr/>
      <dgm:t xml:space="preserve">
        <a:bodyPr/>
        <a:lstStyle/>
        <a:p>
          <a:endParaRPr lang="en-US"/>
        </a:p>
      </dgm:t>
    </dgm:pt>
    <dgm:pt modelId="{EC9FB774-53DE-4A49-BA7A-106DFBDE4310}">
      <dgm:prSet custT="1"/>
      <dgm:spPr/>
      <dgm:t xml:space="preserve">
        <a:bodyPr/>
        <a:lstStyle/>
        <a:p>
          <a:r>
            <a:rPr lang="en-US" sz="1800" dirty="0"/>
            <a:t>Great for spotting trends, like which subject is most popular or which grade is most common.</a:t>
          </a:r>
        </a:p>
      </dgm:t>
    </dgm:pt>
    <dgm:pt modelId="{8DEA861C-92CF-7045-A463-1B7B661F93CE}" type="parTrans" cxnId="{48DD930D-C83F-1B4E-ACA5-2BCE4AFC307D}">
      <dgm:prSet/>
      <dgm:spPr/>
      <dgm:t xml:space="preserve">
        <a:bodyPr/>
        <a:lstStyle/>
        <a:p>
          <a:endParaRPr lang="en-US"/>
        </a:p>
      </dgm:t>
    </dgm:pt>
    <dgm:pt modelId="{1B51FD5F-2B56-E34B-82C0-2D11823845BB}" type="sibTrans" cxnId="{48DD930D-C83F-1B4E-ACA5-2BCE4AFC307D}">
      <dgm:prSet/>
      <dgm:spPr/>
      <dgm:t xml:space="preserve">
        <a:bodyPr/>
        <a:lstStyle/>
        <a:p>
          <a:endParaRPr lang="en-US"/>
        </a:p>
      </dgm:t>
    </dgm:pt>
    <dgm:pt modelId="{FB0E53E6-980D-0C48-944E-9BBD0759F7B5}" type="pres">
      <dgm:prSet presAssocID="{0627BC99-A210-E746-9C89-6FCFD5B3AA26}" presName="linear" presStyleCnt="0">
        <dgm:presLayoutVars>
          <dgm:dir/>
          <dgm:animLvl val="lvl"/>
          <dgm:resizeHandles val="exact"/>
        </dgm:presLayoutVars>
      </dgm:prSet>
      <dgm:spPr/>
    </dgm:pt>
    <dgm:pt modelId="{46E19548-7918-F44B-9653-1ACEF8A7ED58}" type="pres">
      <dgm:prSet presAssocID="{4DDA9A93-605A-4B4E-BEE2-1A1391A704FA}" presName="parentLin" presStyleCnt="0"/>
      <dgm:spPr/>
    </dgm:pt>
    <dgm:pt modelId="{D0E2A990-9DE7-0A4E-BB97-50AD1503B9D4}" type="pres">
      <dgm:prSet presAssocID="{4DDA9A93-605A-4B4E-BEE2-1A1391A704FA}" presName="parentLeftMargin" presStyleLbl="node1" presStyleIdx="0" presStyleCnt="3"/>
      <dgm:spPr/>
    </dgm:pt>
    <dgm:pt modelId="{C48F37F6-BD11-B043-803F-D0AFC833C8D4}" type="pres">
      <dgm:prSet presAssocID="{4DDA9A93-605A-4B4E-BEE2-1A1391A704FA}" presName="parentText" presStyleLbl="node1" presStyleIdx="0" presStyleCnt="3">
        <dgm:presLayoutVars>
          <dgm:chMax val="0"/>
          <dgm:bulletEnabled val="1"/>
        </dgm:presLayoutVars>
      </dgm:prSet>
      <dgm:spPr/>
    </dgm:pt>
    <dgm:pt modelId="{A3025F96-212D-264D-AE2F-B8BC29175957}" type="pres">
      <dgm:prSet presAssocID="{4DDA9A93-605A-4B4E-BEE2-1A1391A704FA}" presName="negativeSpace" presStyleCnt="0"/>
      <dgm:spPr/>
    </dgm:pt>
    <dgm:pt modelId="{28460A6A-9E19-5D46-9CFD-325052DAE0D6}" type="pres">
      <dgm:prSet presAssocID="{4DDA9A93-605A-4B4E-BEE2-1A1391A704FA}" presName="childText" presStyleLbl="conFgAcc1" presStyleIdx="0" presStyleCnt="3">
        <dgm:presLayoutVars>
          <dgm:bulletEnabled val="1"/>
        </dgm:presLayoutVars>
      </dgm:prSet>
      <dgm:spPr/>
    </dgm:pt>
    <dgm:pt modelId="{2C49B155-CB11-194F-BF72-0B2C0A3AAABE}" type="pres">
      <dgm:prSet presAssocID="{46766938-8B16-6142-924E-04DE1434142D}" presName="spaceBetweenRectangles" presStyleCnt="0"/>
      <dgm:spPr/>
    </dgm:pt>
    <dgm:pt modelId="{6CC1B35D-855F-144C-9F62-D6ABE42868C9}" type="pres">
      <dgm:prSet presAssocID="{59BBF007-40B9-2943-8996-13B74FAC9DC4}" presName="parentLin" presStyleCnt="0"/>
      <dgm:spPr/>
    </dgm:pt>
    <dgm:pt modelId="{842EFAE6-3257-1A45-9FDD-A6CD2BED6CAC}" type="pres">
      <dgm:prSet presAssocID="{59BBF007-40B9-2943-8996-13B74FAC9DC4}" presName="parentLeftMargin" presStyleLbl="node1" presStyleIdx="0" presStyleCnt="3"/>
      <dgm:spPr/>
    </dgm:pt>
    <dgm:pt modelId="{B0B1C96F-4FC4-D240-A431-C14988A02BC0}" type="pres">
      <dgm:prSet presAssocID="{59BBF007-40B9-2943-8996-13B74FAC9DC4}" presName="parentText" presStyleLbl="node1" presStyleIdx="1" presStyleCnt="3">
        <dgm:presLayoutVars>
          <dgm:chMax val="0"/>
          <dgm:bulletEnabled val="1"/>
        </dgm:presLayoutVars>
      </dgm:prSet>
      <dgm:spPr/>
    </dgm:pt>
    <dgm:pt modelId="{89D8C48E-DC00-9C45-A70C-50E8289CFFA3}" type="pres">
      <dgm:prSet presAssocID="{59BBF007-40B9-2943-8996-13B74FAC9DC4}" presName="negativeSpace" presStyleCnt="0"/>
      <dgm:spPr/>
    </dgm:pt>
    <dgm:pt modelId="{6AD8ABED-C1A7-044A-B0A5-5077415B37FA}" type="pres">
      <dgm:prSet presAssocID="{59BBF007-40B9-2943-8996-13B74FAC9DC4}" presName="childText" presStyleLbl="conFgAcc1" presStyleIdx="1" presStyleCnt="3">
        <dgm:presLayoutVars>
          <dgm:bulletEnabled val="1"/>
        </dgm:presLayoutVars>
      </dgm:prSet>
      <dgm:spPr/>
    </dgm:pt>
    <dgm:pt modelId="{29F7CAC3-E264-CA47-AC57-395C38DF118F}" type="pres">
      <dgm:prSet presAssocID="{457847EC-F3BA-F940-95C9-A67DE256D8FA}" presName="spaceBetweenRectangles" presStyleCnt="0"/>
      <dgm:spPr/>
    </dgm:pt>
    <dgm:pt modelId="{5AA0E674-B28A-554D-A958-680C433BAB47}" type="pres">
      <dgm:prSet presAssocID="{784FB342-4297-5846-AFDE-0C8A300E7A28}" presName="parentLin" presStyleCnt="0"/>
      <dgm:spPr/>
    </dgm:pt>
    <dgm:pt modelId="{CFD410D1-198B-9149-8129-38EDF69392B2}" type="pres">
      <dgm:prSet presAssocID="{784FB342-4297-5846-AFDE-0C8A300E7A28}" presName="parentLeftMargin" presStyleLbl="node1" presStyleIdx="1" presStyleCnt="3"/>
      <dgm:spPr/>
    </dgm:pt>
    <dgm:pt modelId="{3C7EF0B8-8C08-5048-A31E-EE16789E2D09}" type="pres">
      <dgm:prSet presAssocID="{784FB342-4297-5846-AFDE-0C8A300E7A28}" presName="parentText" presStyleLbl="node1" presStyleIdx="2" presStyleCnt="3">
        <dgm:presLayoutVars>
          <dgm:chMax val="0"/>
          <dgm:bulletEnabled val="1"/>
        </dgm:presLayoutVars>
      </dgm:prSet>
      <dgm:spPr/>
    </dgm:pt>
    <dgm:pt modelId="{15CE044F-F68B-6D44-9CB9-39D67371F8C2}" type="pres">
      <dgm:prSet presAssocID="{784FB342-4297-5846-AFDE-0C8A300E7A28}" presName="negativeSpace" presStyleCnt="0"/>
      <dgm:spPr/>
    </dgm:pt>
    <dgm:pt modelId="{919B2CE9-E7ED-5E45-A1FA-E9EDC16EA5C7}" type="pres">
      <dgm:prSet presAssocID="{784FB342-4297-5846-AFDE-0C8A300E7A28}" presName="childText" presStyleLbl="conFgAcc1" presStyleIdx="2" presStyleCnt="3">
        <dgm:presLayoutVars>
          <dgm:bulletEnabled val="1"/>
        </dgm:presLayoutVars>
      </dgm:prSet>
      <dgm:spPr/>
    </dgm:pt>
  </dgm:ptLst>
  <dgm:cxnLst>
    <dgm:cxn modelId="{2545E002-70DB-744E-BE57-EA7C526465F4}" type="presOf" srcId="{0627BC99-A210-E746-9C89-6FCFD5B3AA26}" destId="{FB0E53E6-980D-0C48-944E-9BBD0759F7B5}" srcOrd="0" destOrd="0" presId="urn:microsoft.com/office/officeart/2005/8/layout/list1"/>
    <dgm:cxn modelId="{48DD930D-C83F-1B4E-ACA5-2BCE4AFC307D}" srcId="{784FB342-4297-5846-AFDE-0C8A300E7A28}" destId="{EC9FB774-53DE-4A49-BA7A-106DFBDE4310}" srcOrd="0" destOrd="0" parTransId="{8DEA861C-92CF-7045-A463-1B7B661F93CE}" sibTransId="{1B51FD5F-2B56-E34B-82C0-2D11823845BB}"/>
    <dgm:cxn modelId="{558A1C11-DDBB-F94A-95C8-DC22860C4CA6}" srcId="{0627BC99-A210-E746-9C89-6FCFD5B3AA26}" destId="{784FB342-4297-5846-AFDE-0C8A300E7A28}" srcOrd="2" destOrd="0" parTransId="{3000C5F4-B932-DB42-BFE0-B5A5297D862A}" sibTransId="{0D9EC8CD-7CD9-394C-A52E-33E0F1B44745}"/>
    <dgm:cxn modelId="{0A931213-79FA-3A48-86A6-1738339D7E53}" type="presOf" srcId="{D45277AB-A816-954A-AD78-7EAC2E12097F}" destId="{28460A6A-9E19-5D46-9CFD-325052DAE0D6}" srcOrd="0" destOrd="0" presId="urn:microsoft.com/office/officeart/2005/8/layout/list1"/>
    <dgm:cxn modelId="{55BCA11E-3439-DC42-A2D6-D924990E7B3F}" type="presOf" srcId="{59BBF007-40B9-2943-8996-13B74FAC9DC4}" destId="{B0B1C96F-4FC4-D240-A431-C14988A02BC0}" srcOrd="1" destOrd="0" presId="urn:microsoft.com/office/officeart/2005/8/layout/list1"/>
    <dgm:cxn modelId="{4E7A5525-AB9F-1D46-BB90-7CFC283438F7}" srcId="{4DDA9A93-605A-4B4E-BEE2-1A1391A704FA}" destId="{D45277AB-A816-954A-AD78-7EAC2E12097F}" srcOrd="0" destOrd="0" parTransId="{224DE38B-E816-504E-8350-78DB3247C4F9}" sibTransId="{C60810E3-D26E-0446-8B88-0E804F969C1B}"/>
    <dgm:cxn modelId="{2FADA728-DCEA-634D-B825-5213E96D3E8B}" type="presOf" srcId="{784FB342-4297-5846-AFDE-0C8A300E7A28}" destId="{CFD410D1-198B-9149-8129-38EDF69392B2}" srcOrd="0" destOrd="0" presId="urn:microsoft.com/office/officeart/2005/8/layout/list1"/>
    <dgm:cxn modelId="{6E085529-E2A8-C34F-9414-90FD58096054}" srcId="{0627BC99-A210-E746-9C89-6FCFD5B3AA26}" destId="{59BBF007-40B9-2943-8996-13B74FAC9DC4}" srcOrd="1" destOrd="0" parTransId="{9E1A474D-D4FB-A24F-ABEB-E6E19523B58D}" sibTransId="{457847EC-F3BA-F940-95C9-A67DE256D8FA}"/>
    <dgm:cxn modelId="{92086A62-29ED-8743-85F6-FDEBC6F96DB9}" type="presOf" srcId="{4DDA9A93-605A-4B4E-BEE2-1A1391A704FA}" destId="{C48F37F6-BD11-B043-803F-D0AFC833C8D4}" srcOrd="1" destOrd="0" presId="urn:microsoft.com/office/officeart/2005/8/layout/list1"/>
    <dgm:cxn modelId="{D2F50966-8A7A-754E-B1B8-BB171A9A466C}" type="presOf" srcId="{59BBF007-40B9-2943-8996-13B74FAC9DC4}" destId="{842EFAE6-3257-1A45-9FDD-A6CD2BED6CAC}" srcOrd="0" destOrd="0" presId="urn:microsoft.com/office/officeart/2005/8/layout/list1"/>
    <dgm:cxn modelId="{DBF19D50-B883-E142-8338-233AF7971092}" srcId="{0627BC99-A210-E746-9C89-6FCFD5B3AA26}" destId="{4DDA9A93-605A-4B4E-BEE2-1A1391A704FA}" srcOrd="0" destOrd="0" parTransId="{E82213BB-B6AB-9141-8687-651489D4C791}" sibTransId="{46766938-8B16-6142-924E-04DE1434142D}"/>
    <dgm:cxn modelId="{67270C8E-6BA8-5F46-AEAB-2C60E6741456}" type="presOf" srcId="{4DDA9A93-605A-4B4E-BEE2-1A1391A704FA}" destId="{D0E2A990-9DE7-0A4E-BB97-50AD1503B9D4}" srcOrd="0" destOrd="0" presId="urn:microsoft.com/office/officeart/2005/8/layout/list1"/>
    <dgm:cxn modelId="{DD24D0AA-1C6F-F240-AB93-9383908D5303}" type="presOf" srcId="{B76C8870-005A-6B41-B468-BB9AC0D29D00}" destId="{6AD8ABED-C1A7-044A-B0A5-5077415B37FA}" srcOrd="0" destOrd="0" presId="urn:microsoft.com/office/officeart/2005/8/layout/list1"/>
    <dgm:cxn modelId="{9A4E2DED-B084-9F48-ADE9-B83BA4AB1293}" type="presOf" srcId="{784FB342-4297-5846-AFDE-0C8A300E7A28}" destId="{3C7EF0B8-8C08-5048-A31E-EE16789E2D09}" srcOrd="1" destOrd="0" presId="urn:microsoft.com/office/officeart/2005/8/layout/list1"/>
    <dgm:cxn modelId="{FFB064F0-27BE-C746-8510-CBFD07D69CC6}" srcId="{59BBF007-40B9-2943-8996-13B74FAC9DC4}" destId="{B76C8870-005A-6B41-B468-BB9AC0D29D00}" srcOrd="0" destOrd="0" parTransId="{C3C8DFA1-E562-854B-98DE-5D5C15E46F39}" sibTransId="{4CFB155F-28D8-FD48-A2D6-4DD2ECAECDFB}"/>
    <dgm:cxn modelId="{E43F1FF6-5599-0443-AE5A-3A6AFCB7E7A9}" type="presOf" srcId="{EC9FB774-53DE-4A49-BA7A-106DFBDE4310}" destId="{919B2CE9-E7ED-5E45-A1FA-E9EDC16EA5C7}" srcOrd="0" destOrd="0" presId="urn:microsoft.com/office/officeart/2005/8/layout/list1"/>
    <dgm:cxn modelId="{8B4E0633-17E2-BA48-8485-76C257B38ECA}" type="presParOf" srcId="{FB0E53E6-980D-0C48-944E-9BBD0759F7B5}" destId="{46E19548-7918-F44B-9653-1ACEF8A7ED58}" srcOrd="0" destOrd="0" presId="urn:microsoft.com/office/officeart/2005/8/layout/list1"/>
    <dgm:cxn modelId="{3D3143B4-5EF2-854E-BB13-55F1F6B52602}" type="presParOf" srcId="{46E19548-7918-F44B-9653-1ACEF8A7ED58}" destId="{D0E2A990-9DE7-0A4E-BB97-50AD1503B9D4}" srcOrd="0" destOrd="0" presId="urn:microsoft.com/office/officeart/2005/8/layout/list1"/>
    <dgm:cxn modelId="{910AEE96-7223-914D-8313-0E4BE38B3096}" type="presParOf" srcId="{46E19548-7918-F44B-9653-1ACEF8A7ED58}" destId="{C48F37F6-BD11-B043-803F-D0AFC833C8D4}" srcOrd="1" destOrd="0" presId="urn:microsoft.com/office/officeart/2005/8/layout/list1"/>
    <dgm:cxn modelId="{ABC56BD2-83BA-2949-8470-3A065CAF6D00}" type="presParOf" srcId="{FB0E53E6-980D-0C48-944E-9BBD0759F7B5}" destId="{A3025F96-212D-264D-AE2F-B8BC29175957}" srcOrd="1" destOrd="0" presId="urn:microsoft.com/office/officeart/2005/8/layout/list1"/>
    <dgm:cxn modelId="{599500E3-94F7-9B47-9854-E518BF57D632}" type="presParOf" srcId="{FB0E53E6-980D-0C48-944E-9BBD0759F7B5}" destId="{28460A6A-9E19-5D46-9CFD-325052DAE0D6}" srcOrd="2" destOrd="0" presId="urn:microsoft.com/office/officeart/2005/8/layout/list1"/>
    <dgm:cxn modelId="{657F23BC-4582-2747-A48D-B49F693B1D46}" type="presParOf" srcId="{FB0E53E6-980D-0C48-944E-9BBD0759F7B5}" destId="{2C49B155-CB11-194F-BF72-0B2C0A3AAABE}" srcOrd="3" destOrd="0" presId="urn:microsoft.com/office/officeart/2005/8/layout/list1"/>
    <dgm:cxn modelId="{722FAEB9-E1C1-5548-ABE1-0E90DE34E795}" type="presParOf" srcId="{FB0E53E6-980D-0C48-944E-9BBD0759F7B5}" destId="{6CC1B35D-855F-144C-9F62-D6ABE42868C9}" srcOrd="4" destOrd="0" presId="urn:microsoft.com/office/officeart/2005/8/layout/list1"/>
    <dgm:cxn modelId="{B332ED9D-A3DB-DB47-BC90-76254542E4B0}" type="presParOf" srcId="{6CC1B35D-855F-144C-9F62-D6ABE42868C9}" destId="{842EFAE6-3257-1A45-9FDD-A6CD2BED6CAC}" srcOrd="0" destOrd="0" presId="urn:microsoft.com/office/officeart/2005/8/layout/list1"/>
    <dgm:cxn modelId="{52BF5A2B-CD2B-4345-9821-40287BF4E2A0}" type="presParOf" srcId="{6CC1B35D-855F-144C-9F62-D6ABE42868C9}" destId="{B0B1C96F-4FC4-D240-A431-C14988A02BC0}" srcOrd="1" destOrd="0" presId="urn:microsoft.com/office/officeart/2005/8/layout/list1"/>
    <dgm:cxn modelId="{1B299F5D-DE87-D144-B849-11BFFC700775}" type="presParOf" srcId="{FB0E53E6-980D-0C48-944E-9BBD0759F7B5}" destId="{89D8C48E-DC00-9C45-A70C-50E8289CFFA3}" srcOrd="5" destOrd="0" presId="urn:microsoft.com/office/officeart/2005/8/layout/list1"/>
    <dgm:cxn modelId="{EFFB4E44-C850-7C48-B61E-0F7E47B0D6BD}" type="presParOf" srcId="{FB0E53E6-980D-0C48-944E-9BBD0759F7B5}" destId="{6AD8ABED-C1A7-044A-B0A5-5077415B37FA}" srcOrd="6" destOrd="0" presId="urn:microsoft.com/office/officeart/2005/8/layout/list1"/>
    <dgm:cxn modelId="{65C62305-BBDB-7749-A5AD-4E975A62C843}" type="presParOf" srcId="{FB0E53E6-980D-0C48-944E-9BBD0759F7B5}" destId="{29F7CAC3-E264-CA47-AC57-395C38DF118F}" srcOrd="7" destOrd="0" presId="urn:microsoft.com/office/officeart/2005/8/layout/list1"/>
    <dgm:cxn modelId="{5A048C61-058E-A042-91B6-23E015FF3A54}" type="presParOf" srcId="{FB0E53E6-980D-0C48-944E-9BBD0759F7B5}" destId="{5AA0E674-B28A-554D-A958-680C433BAB47}" srcOrd="8" destOrd="0" presId="urn:microsoft.com/office/officeart/2005/8/layout/list1"/>
    <dgm:cxn modelId="{99FFC341-2099-8B46-B0C1-A8FA4D174C77}" type="presParOf" srcId="{5AA0E674-B28A-554D-A958-680C433BAB47}" destId="{CFD410D1-198B-9149-8129-38EDF69392B2}" srcOrd="0" destOrd="0" presId="urn:microsoft.com/office/officeart/2005/8/layout/list1"/>
    <dgm:cxn modelId="{BB247A6B-D0E0-134E-8705-62D96311F892}" type="presParOf" srcId="{5AA0E674-B28A-554D-A958-680C433BAB47}" destId="{3C7EF0B8-8C08-5048-A31E-EE16789E2D09}" srcOrd="1" destOrd="0" presId="urn:microsoft.com/office/officeart/2005/8/layout/list1"/>
    <dgm:cxn modelId="{91EFE0CD-5E45-DF45-8B5F-FD4FE2836FC5}" type="presParOf" srcId="{FB0E53E6-980D-0C48-944E-9BBD0759F7B5}" destId="{15CE044F-F68B-6D44-9CB9-39D67371F8C2}" srcOrd="9" destOrd="0" presId="urn:microsoft.com/office/officeart/2005/8/layout/list1"/>
    <dgm:cxn modelId="{54D13C7C-3371-B645-9928-7DDEC6B403C9}" type="presParOf" srcId="{FB0E53E6-980D-0C48-944E-9BBD0759F7B5}" destId="{919B2CE9-E7ED-5E45-A1FA-E9EDC16EA5C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86EF0A-7A8E-3145-98F5-F37946EDDCA7}"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BF76CC10-C229-054B-A51A-BEBBC9C4B930}">
      <dgm:prSet phldrT="[Text]"/>
      <dgm:spPr/>
      <dgm:t xml:space="preserve">
        <a:bodyPr/>
        <a:lstStyle/>
        <a:p>
          <a:pPr>
            <a:buNone/>
          </a:pPr>
          <a:r>
            <a:rPr lang="en-US" b="0" dirty="0"/>
            <a:t>Symmetric vs. Skewed</a:t>
          </a:r>
          <a:endParaRPr lang="en-US" dirty="0"/>
        </a:p>
      </dgm:t>
    </dgm:pt>
    <dgm:pt modelId="{045F69A5-79AE-A24A-B4F7-36FE253751E8}" type="parTrans" cxnId="{E1BB46D1-A12A-024B-8B49-444E514A0ECB}">
      <dgm:prSet/>
      <dgm:spPr/>
      <dgm:t xml:space="preserve">
        <a:bodyPr/>
        <a:lstStyle/>
        <a:p>
          <a:endParaRPr lang="en-US"/>
        </a:p>
      </dgm:t>
    </dgm:pt>
    <dgm:pt modelId="{07F8D9FA-3B5B-504D-8D62-8041F095BF43}" type="sibTrans" cxnId="{E1BB46D1-A12A-024B-8B49-444E514A0ECB}">
      <dgm:prSet/>
      <dgm:spPr/>
      <dgm:t xml:space="preserve">
        <a:bodyPr/>
        <a:lstStyle/>
        <a:p>
          <a:endParaRPr lang="en-US"/>
        </a:p>
      </dgm:t>
    </dgm:pt>
    <dgm:pt modelId="{0A42BBC2-04E3-B64C-BDE7-91AED4442182}">
      <dgm:prSet/>
      <dgm:spPr/>
      <dgm:t xml:space="preserve">
        <a:bodyPr/>
        <a:lstStyle/>
        <a:p>
          <a:pPr>
            <a:buFont typeface="Arial" panose="020B0604020202020204" pitchFamily="34" charset="0"/>
            <a:buChar char="•"/>
          </a:pPr>
          <a:r>
            <a:rPr lang="en-US" b="0"/>
            <a:t>Symmetric: balanced on both sides</a:t>
          </a:r>
        </a:p>
      </dgm:t>
    </dgm:pt>
    <dgm:pt modelId="{55EA5A6B-FD8B-ED45-B5E4-4F61AA5C9912}" type="parTrans" cxnId="{DBB3A012-3C11-CC45-BC51-2101621929EC}">
      <dgm:prSet/>
      <dgm:spPr/>
      <dgm:t xml:space="preserve">
        <a:bodyPr/>
        <a:lstStyle/>
        <a:p>
          <a:endParaRPr lang="en-US"/>
        </a:p>
      </dgm:t>
    </dgm:pt>
    <dgm:pt modelId="{6607EEFE-199E-3E4A-9573-24883CB443EC}" type="sibTrans" cxnId="{DBB3A012-3C11-CC45-BC51-2101621929EC}">
      <dgm:prSet/>
      <dgm:spPr/>
      <dgm:t xml:space="preserve">
        <a:bodyPr/>
        <a:lstStyle/>
        <a:p>
          <a:endParaRPr lang="en-US"/>
        </a:p>
      </dgm:t>
    </dgm:pt>
    <dgm:pt modelId="{9BADD7A2-810C-9442-9A56-ACCA98AC0760}">
      <dgm:prSet/>
      <dgm:spPr/>
      <dgm:t xml:space="preserve">
        <a:bodyPr/>
        <a:lstStyle/>
        <a:p>
          <a:pPr>
            <a:buFont typeface="Arial" panose="020B0604020202020204" pitchFamily="34" charset="0"/>
            <a:buChar char="•"/>
          </a:pPr>
          <a:r>
            <a:rPr lang="en-US" b="0" dirty="0"/>
            <a:t>Right-skewed: long tail on right (mean &gt; median)</a:t>
          </a:r>
        </a:p>
      </dgm:t>
    </dgm:pt>
    <dgm:pt modelId="{702AF645-2FF3-994E-8323-165436189542}" type="parTrans" cxnId="{D55AA9A4-AAC4-664C-B126-9CE869CA0D4E}">
      <dgm:prSet/>
      <dgm:spPr/>
      <dgm:t xml:space="preserve">
        <a:bodyPr/>
        <a:lstStyle/>
        <a:p>
          <a:endParaRPr lang="en-US"/>
        </a:p>
      </dgm:t>
    </dgm:pt>
    <dgm:pt modelId="{51944BF6-8D55-3B47-ABF4-22B3DB8F2058}" type="sibTrans" cxnId="{D55AA9A4-AAC4-664C-B126-9CE869CA0D4E}">
      <dgm:prSet/>
      <dgm:spPr/>
      <dgm:t xml:space="preserve">
        <a:bodyPr/>
        <a:lstStyle/>
        <a:p>
          <a:endParaRPr lang="en-US"/>
        </a:p>
      </dgm:t>
    </dgm:pt>
    <dgm:pt modelId="{5823EBB9-9FC9-8948-AE60-E4AA3F339B7A}">
      <dgm:prSet/>
      <dgm:spPr/>
      <dgm:t xml:space="preserve">
        <a:bodyPr/>
        <a:lstStyle/>
        <a:p>
          <a:pPr>
            <a:buFont typeface="Arial" panose="020B0604020202020204" pitchFamily="34" charset="0"/>
            <a:buChar char="•"/>
          </a:pPr>
          <a:r>
            <a:rPr lang="en-US" b="0" dirty="0"/>
            <a:t>Left-skewed: long tail on left (mean &lt; median)</a:t>
          </a:r>
        </a:p>
      </dgm:t>
    </dgm:pt>
    <dgm:pt modelId="{9CD16823-2E0B-0B46-81A2-72072A65B653}" type="parTrans" cxnId="{B8810E51-F7A0-C642-8A21-89CE821E551E}">
      <dgm:prSet/>
      <dgm:spPr/>
      <dgm:t xml:space="preserve">
        <a:bodyPr/>
        <a:lstStyle/>
        <a:p>
          <a:endParaRPr lang="en-US"/>
        </a:p>
      </dgm:t>
    </dgm:pt>
    <dgm:pt modelId="{1EE43427-3674-2741-94D2-72ADFDA22047}" type="sibTrans" cxnId="{B8810E51-F7A0-C642-8A21-89CE821E551E}">
      <dgm:prSet/>
      <dgm:spPr/>
      <dgm:t xml:space="preserve">
        <a:bodyPr/>
        <a:lstStyle/>
        <a:p>
          <a:endParaRPr lang="en-US"/>
        </a:p>
      </dgm:t>
    </dgm:pt>
    <dgm:pt modelId="{13718D31-D9BF-BE4B-8215-E06DD3929152}">
      <dgm:prSet/>
      <dgm:spPr/>
      <dgm:t xml:space="preserve">
        <a:bodyPr/>
        <a:lstStyle/>
        <a:p>
          <a:pPr>
            <a:buNone/>
          </a:pPr>
          <a:r>
            <a:rPr lang="en-US" b="0"/>
            <a:t>Peaks</a:t>
          </a:r>
        </a:p>
      </dgm:t>
    </dgm:pt>
    <dgm:pt modelId="{B6FB7C49-B2B0-C140-B96C-9AF209831983}" type="parTrans" cxnId="{975EA4D1-1814-1A4B-9200-0979B53C58B8}">
      <dgm:prSet/>
      <dgm:spPr/>
      <dgm:t xml:space="preserve">
        <a:bodyPr/>
        <a:lstStyle/>
        <a:p>
          <a:endParaRPr lang="en-US"/>
        </a:p>
      </dgm:t>
    </dgm:pt>
    <dgm:pt modelId="{8BC7ACE1-248F-314B-B94F-CE5447A17670}" type="sibTrans" cxnId="{975EA4D1-1814-1A4B-9200-0979B53C58B8}">
      <dgm:prSet/>
      <dgm:spPr/>
      <dgm:t xml:space="preserve">
        <a:bodyPr/>
        <a:lstStyle/>
        <a:p>
          <a:endParaRPr lang="en-US"/>
        </a:p>
      </dgm:t>
    </dgm:pt>
    <dgm:pt modelId="{037318F1-A3EE-8E42-882D-D6C715846F4C}">
      <dgm:prSet/>
      <dgm:spPr/>
      <dgm:t xml:space="preserve">
        <a:bodyPr/>
        <a:lstStyle/>
        <a:p>
          <a:pPr>
            <a:buFont typeface="Arial" panose="020B0604020202020204" pitchFamily="34" charset="0"/>
            <a:buChar char="•"/>
          </a:pPr>
          <a:r>
            <a:rPr lang="en-US" b="0" dirty="0"/>
            <a:t>Unimodal: one clear peak</a:t>
          </a:r>
        </a:p>
      </dgm:t>
    </dgm:pt>
    <dgm:pt modelId="{4A2950A3-F6B6-A94F-B638-3258895648B1}" type="parTrans" cxnId="{BB962E27-CD4E-3142-B2C8-EF47814E52E7}">
      <dgm:prSet/>
      <dgm:spPr/>
      <dgm:t xml:space="preserve">
        <a:bodyPr/>
        <a:lstStyle/>
        <a:p>
          <a:endParaRPr lang="en-US"/>
        </a:p>
      </dgm:t>
    </dgm:pt>
    <dgm:pt modelId="{0112E886-BD70-F048-915A-368D32AF7A27}" type="sibTrans" cxnId="{BB962E27-CD4E-3142-B2C8-EF47814E52E7}">
      <dgm:prSet/>
      <dgm:spPr/>
      <dgm:t xml:space="preserve">
        <a:bodyPr/>
        <a:lstStyle/>
        <a:p>
          <a:endParaRPr lang="en-US"/>
        </a:p>
      </dgm:t>
    </dgm:pt>
    <dgm:pt modelId="{D71A9D72-7ECD-2746-B493-986975D20405}">
      <dgm:prSet/>
      <dgm:spPr/>
      <dgm:t xml:space="preserve">
        <a:bodyPr/>
        <a:lstStyle/>
        <a:p>
          <a:pPr>
            <a:buFont typeface="Arial" panose="020B0604020202020204" pitchFamily="34" charset="0"/>
            <a:buChar char="•"/>
          </a:pPr>
          <a:r>
            <a:rPr lang="en-US" b="0" dirty="0"/>
            <a:t>Bimodal: two distinct peaks (two groups)</a:t>
          </a:r>
        </a:p>
      </dgm:t>
    </dgm:pt>
    <dgm:pt modelId="{2EC2BC05-6256-DB4B-8046-30F28FB672BB}" type="parTrans" cxnId="{0DDC3986-033E-1844-B0BA-47946F6DE282}">
      <dgm:prSet/>
      <dgm:spPr/>
      <dgm:t xml:space="preserve">
        <a:bodyPr/>
        <a:lstStyle/>
        <a:p>
          <a:endParaRPr lang="en-US"/>
        </a:p>
      </dgm:t>
    </dgm:pt>
    <dgm:pt modelId="{52157C65-D80F-4548-A0B1-2447F9F8F5C5}" type="sibTrans" cxnId="{0DDC3986-033E-1844-B0BA-47946F6DE282}">
      <dgm:prSet/>
      <dgm:spPr/>
      <dgm:t xml:space="preserve">
        <a:bodyPr/>
        <a:lstStyle/>
        <a:p>
          <a:endParaRPr lang="en-US"/>
        </a:p>
      </dgm:t>
    </dgm:pt>
    <dgm:pt modelId="{0FEB5401-6F27-3949-A513-5C98A1FAE339}">
      <dgm:prSet/>
      <dgm:spPr/>
      <dgm:t xml:space="preserve">
        <a:bodyPr/>
        <a:lstStyle/>
        <a:p>
          <a:pPr>
            <a:buFont typeface="Arial" panose="020B0604020202020204" pitchFamily="34" charset="0"/>
            <a:buChar char="•"/>
          </a:pPr>
          <a:r>
            <a:rPr lang="en-US" b="0" dirty="0"/>
            <a:t>Multimodal: multiple peaks</a:t>
          </a:r>
        </a:p>
      </dgm:t>
    </dgm:pt>
    <dgm:pt modelId="{C7D15690-B9E1-4A47-A6E3-72A4E728413E}" type="parTrans" cxnId="{75A29F04-5296-0C48-8C99-9D34993A0094}">
      <dgm:prSet/>
      <dgm:spPr/>
      <dgm:t xml:space="preserve">
        <a:bodyPr/>
        <a:lstStyle/>
        <a:p>
          <a:endParaRPr lang="en-US"/>
        </a:p>
      </dgm:t>
    </dgm:pt>
    <dgm:pt modelId="{628B2AD8-1FC1-9F48-A3B6-E44CD4903C37}" type="sibTrans" cxnId="{75A29F04-5296-0C48-8C99-9D34993A0094}">
      <dgm:prSet/>
      <dgm:spPr/>
      <dgm:t xml:space="preserve">
        <a:bodyPr/>
        <a:lstStyle/>
        <a:p>
          <a:endParaRPr lang="en-US"/>
        </a:p>
      </dgm:t>
    </dgm:pt>
    <dgm:pt modelId="{9FBBD5B8-BA3C-724E-B5D2-931C9FCC568C}">
      <dgm:prSet/>
      <dgm:spPr/>
      <dgm:t xml:space="preserve">
        <a:bodyPr/>
        <a:lstStyle/>
        <a:p>
          <a:pPr>
            <a:buNone/>
          </a:pPr>
          <a:r>
            <a:rPr lang="en-US" b="0"/>
            <a:t>Spread</a:t>
          </a:r>
        </a:p>
      </dgm:t>
    </dgm:pt>
    <dgm:pt modelId="{D28C4F9D-1516-194E-850A-70E1C0ED34F8}" type="parTrans" cxnId="{F6E46F9C-8226-8747-B992-1605FB0D48C3}">
      <dgm:prSet/>
      <dgm:spPr/>
      <dgm:t xml:space="preserve">
        <a:bodyPr/>
        <a:lstStyle/>
        <a:p>
          <a:endParaRPr lang="en-US"/>
        </a:p>
      </dgm:t>
    </dgm:pt>
    <dgm:pt modelId="{74CEF73C-7B05-774E-8F70-2D6169DD9EF2}" type="sibTrans" cxnId="{F6E46F9C-8226-8747-B992-1605FB0D48C3}">
      <dgm:prSet/>
      <dgm:spPr/>
      <dgm:t xml:space="preserve">
        <a:bodyPr/>
        <a:lstStyle/>
        <a:p>
          <a:endParaRPr lang="en-US"/>
        </a:p>
      </dgm:t>
    </dgm:pt>
    <dgm:pt modelId="{985E9368-7F4E-CA4D-9E7E-9173111248E1}">
      <dgm:prSet/>
      <dgm:spPr/>
      <dgm:t xml:space="preserve">
        <a:bodyPr/>
        <a:lstStyle/>
        <a:p>
          <a:pPr>
            <a:buFont typeface="Arial" panose="020B0604020202020204" pitchFamily="34" charset="0"/>
            <a:buChar char="•"/>
          </a:pPr>
          <a:r>
            <a:rPr lang="en-US" b="0" dirty="0"/>
            <a:t>Narrow: values clustered together</a:t>
          </a:r>
        </a:p>
      </dgm:t>
    </dgm:pt>
    <dgm:pt modelId="{BFBBC38B-40A6-3247-A9C9-81D17CCB386E}" type="parTrans" cxnId="{6FF218ED-7C0A-F647-89D0-8A4818D61215}">
      <dgm:prSet/>
      <dgm:spPr/>
      <dgm:t xml:space="preserve">
        <a:bodyPr/>
        <a:lstStyle/>
        <a:p>
          <a:endParaRPr lang="en-US"/>
        </a:p>
      </dgm:t>
    </dgm:pt>
    <dgm:pt modelId="{47B62757-EB32-3F4B-A26E-F7ABF97E72C3}" type="sibTrans" cxnId="{6FF218ED-7C0A-F647-89D0-8A4818D61215}">
      <dgm:prSet/>
      <dgm:spPr/>
      <dgm:t xml:space="preserve">
        <a:bodyPr/>
        <a:lstStyle/>
        <a:p>
          <a:endParaRPr lang="en-US"/>
        </a:p>
      </dgm:t>
    </dgm:pt>
    <dgm:pt modelId="{418BF170-29BC-D54B-86DF-8D15B964DD99}">
      <dgm:prSet/>
      <dgm:spPr/>
      <dgm:t xml:space="preserve">
        <a:bodyPr/>
        <a:lstStyle/>
        <a:p>
          <a:pPr>
            <a:buFont typeface="Arial" panose="020B0604020202020204" pitchFamily="34" charset="0"/>
            <a:buChar char="•"/>
          </a:pPr>
          <a:r>
            <a:rPr lang="en-US" b="0" dirty="0"/>
            <a:t>Wide: values spread out</a:t>
          </a:r>
        </a:p>
      </dgm:t>
    </dgm:pt>
    <dgm:pt modelId="{275017B5-270F-7543-907B-C175EE5571AA}" type="parTrans" cxnId="{7248BA10-DDAB-1E4D-B27F-1BE59BEAF949}">
      <dgm:prSet/>
      <dgm:spPr/>
      <dgm:t xml:space="preserve">
        <a:bodyPr/>
        <a:lstStyle/>
        <a:p>
          <a:endParaRPr lang="en-US"/>
        </a:p>
      </dgm:t>
    </dgm:pt>
    <dgm:pt modelId="{2085F719-2236-104D-8606-3B271D1B35F4}" type="sibTrans" cxnId="{7248BA10-DDAB-1E4D-B27F-1BE59BEAF949}">
      <dgm:prSet/>
      <dgm:spPr/>
      <dgm:t xml:space="preserve">
        <a:bodyPr/>
        <a:lstStyle/>
        <a:p>
          <a:endParaRPr lang="en-US"/>
        </a:p>
      </dgm:t>
    </dgm:pt>
    <dgm:pt modelId="{C541244D-C8A5-1949-816F-83AB1C0F7B45}">
      <dgm:prSet/>
      <dgm:spPr/>
      <dgm:t xml:space="preserve">
        <a:bodyPr/>
        <a:lstStyle/>
        <a:p>
          <a:r>
            <a:rPr lang="en-US" b="0" dirty="0"/>
            <a:t>Gaps: missing ranges of values</a:t>
          </a:r>
        </a:p>
      </dgm:t>
    </dgm:pt>
    <dgm:pt modelId="{9D0EF5CD-40CC-7746-BD07-6A5779575F59}" type="parTrans" cxnId="{3A6729E3-269A-DA49-BF1E-DCBAD013F144}">
      <dgm:prSet/>
      <dgm:spPr/>
      <dgm:t xml:space="preserve">
        <a:bodyPr/>
        <a:lstStyle/>
        <a:p>
          <a:endParaRPr lang="en-US"/>
        </a:p>
      </dgm:t>
    </dgm:pt>
    <dgm:pt modelId="{487A7C86-FCA6-634A-872C-1A0A9CBA750F}" type="sibTrans" cxnId="{3A6729E3-269A-DA49-BF1E-DCBAD013F144}">
      <dgm:prSet/>
      <dgm:spPr/>
      <dgm:t xml:space="preserve">
        <a:bodyPr/>
        <a:lstStyle/>
        <a:p>
          <a:endParaRPr lang="en-US"/>
        </a:p>
      </dgm:t>
    </dgm:pt>
    <dgm:pt modelId="{117B4973-C55C-6A4C-96A9-BE171539F9F3}" type="pres">
      <dgm:prSet presAssocID="{D586EF0A-7A8E-3145-98F5-F37946EDDCA7}" presName="Name0" presStyleCnt="0">
        <dgm:presLayoutVars>
          <dgm:dir/>
          <dgm:animLvl val="lvl"/>
          <dgm:resizeHandles val="exact"/>
        </dgm:presLayoutVars>
      </dgm:prSet>
      <dgm:spPr/>
    </dgm:pt>
    <dgm:pt modelId="{62AE2BD3-011B-2544-8F91-8BDA3053FE62}" type="pres">
      <dgm:prSet presAssocID="{BF76CC10-C229-054B-A51A-BEBBC9C4B930}" presName="composite" presStyleCnt="0"/>
      <dgm:spPr/>
    </dgm:pt>
    <dgm:pt modelId="{9E0F9332-5608-7D41-A4F2-6EE14AFCA3CA}" type="pres">
      <dgm:prSet presAssocID="{BF76CC10-C229-054B-A51A-BEBBC9C4B930}" presName="parTx" presStyleLbl="alignNode1" presStyleIdx="0" presStyleCnt="3">
        <dgm:presLayoutVars>
          <dgm:chMax val="0"/>
          <dgm:chPref val="0"/>
          <dgm:bulletEnabled val="1"/>
        </dgm:presLayoutVars>
      </dgm:prSet>
      <dgm:spPr/>
    </dgm:pt>
    <dgm:pt modelId="{C4CE8E29-D0C2-EA40-9FD7-ADC5A536606F}" type="pres">
      <dgm:prSet presAssocID="{BF76CC10-C229-054B-A51A-BEBBC9C4B930}" presName="desTx" presStyleLbl="alignAccFollowNode1" presStyleIdx="0" presStyleCnt="3">
        <dgm:presLayoutVars>
          <dgm:bulletEnabled val="1"/>
        </dgm:presLayoutVars>
      </dgm:prSet>
      <dgm:spPr/>
    </dgm:pt>
    <dgm:pt modelId="{F6939A4B-6914-D544-B6DA-6BA9C258B9A5}" type="pres">
      <dgm:prSet presAssocID="{07F8D9FA-3B5B-504D-8D62-8041F095BF43}" presName="space" presStyleCnt="0"/>
      <dgm:spPr/>
    </dgm:pt>
    <dgm:pt modelId="{1B1FEA1E-A7F8-4B49-8674-7E0F8147EEA4}" type="pres">
      <dgm:prSet presAssocID="{13718D31-D9BF-BE4B-8215-E06DD3929152}" presName="composite" presStyleCnt="0"/>
      <dgm:spPr/>
    </dgm:pt>
    <dgm:pt modelId="{98415F23-0696-C744-8A11-46500C98BAE8}" type="pres">
      <dgm:prSet presAssocID="{13718D31-D9BF-BE4B-8215-E06DD3929152}" presName="parTx" presStyleLbl="alignNode1" presStyleIdx="1" presStyleCnt="3">
        <dgm:presLayoutVars>
          <dgm:chMax val="0"/>
          <dgm:chPref val="0"/>
          <dgm:bulletEnabled val="1"/>
        </dgm:presLayoutVars>
      </dgm:prSet>
      <dgm:spPr/>
    </dgm:pt>
    <dgm:pt modelId="{1451D9E9-9C2D-C54C-B6B6-04633D5F4C38}" type="pres">
      <dgm:prSet presAssocID="{13718D31-D9BF-BE4B-8215-E06DD3929152}" presName="desTx" presStyleLbl="alignAccFollowNode1" presStyleIdx="1" presStyleCnt="3">
        <dgm:presLayoutVars>
          <dgm:bulletEnabled val="1"/>
        </dgm:presLayoutVars>
      </dgm:prSet>
      <dgm:spPr/>
    </dgm:pt>
    <dgm:pt modelId="{BAD13462-75D0-F544-A0CF-537A0D98A3C0}" type="pres">
      <dgm:prSet presAssocID="{8BC7ACE1-248F-314B-B94F-CE5447A17670}" presName="space" presStyleCnt="0"/>
      <dgm:spPr/>
    </dgm:pt>
    <dgm:pt modelId="{9947CBFF-C0BD-EF43-AD87-41B8DEB18194}" type="pres">
      <dgm:prSet presAssocID="{9FBBD5B8-BA3C-724E-B5D2-931C9FCC568C}" presName="composite" presStyleCnt="0"/>
      <dgm:spPr/>
    </dgm:pt>
    <dgm:pt modelId="{E6D55FDA-0414-8241-8954-E18D826236F6}" type="pres">
      <dgm:prSet presAssocID="{9FBBD5B8-BA3C-724E-B5D2-931C9FCC568C}" presName="parTx" presStyleLbl="alignNode1" presStyleIdx="2" presStyleCnt="3">
        <dgm:presLayoutVars>
          <dgm:chMax val="0"/>
          <dgm:chPref val="0"/>
          <dgm:bulletEnabled val="1"/>
        </dgm:presLayoutVars>
      </dgm:prSet>
      <dgm:spPr/>
    </dgm:pt>
    <dgm:pt modelId="{ADA56709-3760-084F-9651-FE94CA5B6E24}" type="pres">
      <dgm:prSet presAssocID="{9FBBD5B8-BA3C-724E-B5D2-931C9FCC568C}" presName="desTx" presStyleLbl="alignAccFollowNode1" presStyleIdx="2" presStyleCnt="3">
        <dgm:presLayoutVars>
          <dgm:bulletEnabled val="1"/>
        </dgm:presLayoutVars>
      </dgm:prSet>
      <dgm:spPr/>
    </dgm:pt>
  </dgm:ptLst>
  <dgm:cxnLst>
    <dgm:cxn modelId="{AFB70302-3553-EE43-8E06-37A217C329A2}" type="presOf" srcId="{9BADD7A2-810C-9442-9A56-ACCA98AC0760}" destId="{C4CE8E29-D0C2-EA40-9FD7-ADC5A536606F}" srcOrd="0" destOrd="1" presId="urn:microsoft.com/office/officeart/2005/8/layout/hList1"/>
    <dgm:cxn modelId="{75A29F04-5296-0C48-8C99-9D34993A0094}" srcId="{13718D31-D9BF-BE4B-8215-E06DD3929152}" destId="{0FEB5401-6F27-3949-A513-5C98A1FAE339}" srcOrd="2" destOrd="0" parTransId="{C7D15690-B9E1-4A47-A6E3-72A4E728413E}" sibTransId="{628B2AD8-1FC1-9F48-A3B6-E44CD4903C37}"/>
    <dgm:cxn modelId="{7248BA10-DDAB-1E4D-B27F-1BE59BEAF949}" srcId="{9FBBD5B8-BA3C-724E-B5D2-931C9FCC568C}" destId="{418BF170-29BC-D54B-86DF-8D15B964DD99}" srcOrd="1" destOrd="0" parTransId="{275017B5-270F-7543-907B-C175EE5571AA}" sibTransId="{2085F719-2236-104D-8606-3B271D1B35F4}"/>
    <dgm:cxn modelId="{DBB3A012-3C11-CC45-BC51-2101621929EC}" srcId="{BF76CC10-C229-054B-A51A-BEBBC9C4B930}" destId="{0A42BBC2-04E3-B64C-BDE7-91AED4442182}" srcOrd="0" destOrd="0" parTransId="{55EA5A6B-FD8B-ED45-B5E4-4F61AA5C9912}" sibTransId="{6607EEFE-199E-3E4A-9573-24883CB443EC}"/>
    <dgm:cxn modelId="{BB962E27-CD4E-3142-B2C8-EF47814E52E7}" srcId="{13718D31-D9BF-BE4B-8215-E06DD3929152}" destId="{037318F1-A3EE-8E42-882D-D6C715846F4C}" srcOrd="0" destOrd="0" parTransId="{4A2950A3-F6B6-A94F-B638-3258895648B1}" sibTransId="{0112E886-BD70-F048-915A-368D32AF7A27}"/>
    <dgm:cxn modelId="{9C0CA028-597C-FA46-9B14-985D4365B2AB}" type="presOf" srcId="{9FBBD5B8-BA3C-724E-B5D2-931C9FCC568C}" destId="{E6D55FDA-0414-8241-8954-E18D826236F6}" srcOrd="0" destOrd="0" presId="urn:microsoft.com/office/officeart/2005/8/layout/hList1"/>
    <dgm:cxn modelId="{FDC64531-532E-C04C-95B7-6F0F20ABBA5A}" type="presOf" srcId="{D586EF0A-7A8E-3145-98F5-F37946EDDCA7}" destId="{117B4973-C55C-6A4C-96A9-BE171539F9F3}" srcOrd="0" destOrd="0" presId="urn:microsoft.com/office/officeart/2005/8/layout/hList1"/>
    <dgm:cxn modelId="{F33AB537-01AE-8C43-B4A5-4F9232B71963}" type="presOf" srcId="{D71A9D72-7ECD-2746-B493-986975D20405}" destId="{1451D9E9-9C2D-C54C-B6B6-04633D5F4C38}" srcOrd="0" destOrd="1" presId="urn:microsoft.com/office/officeart/2005/8/layout/hList1"/>
    <dgm:cxn modelId="{1F6D6749-C604-BA45-8EF2-0213603EFFE2}" type="presOf" srcId="{0A42BBC2-04E3-B64C-BDE7-91AED4442182}" destId="{C4CE8E29-D0C2-EA40-9FD7-ADC5A536606F}" srcOrd="0" destOrd="0" presId="urn:microsoft.com/office/officeart/2005/8/layout/hList1"/>
    <dgm:cxn modelId="{B8810E51-F7A0-C642-8A21-89CE821E551E}" srcId="{BF76CC10-C229-054B-A51A-BEBBC9C4B930}" destId="{5823EBB9-9FC9-8948-AE60-E4AA3F339B7A}" srcOrd="2" destOrd="0" parTransId="{9CD16823-2E0B-0B46-81A2-72072A65B653}" sibTransId="{1EE43427-3674-2741-94D2-72ADFDA22047}"/>
    <dgm:cxn modelId="{0DDC3986-033E-1844-B0BA-47946F6DE282}" srcId="{13718D31-D9BF-BE4B-8215-E06DD3929152}" destId="{D71A9D72-7ECD-2746-B493-986975D20405}" srcOrd="1" destOrd="0" parTransId="{2EC2BC05-6256-DB4B-8046-30F28FB672BB}" sibTransId="{52157C65-D80F-4548-A0B1-2447F9F8F5C5}"/>
    <dgm:cxn modelId="{F6E46F9C-8226-8747-B992-1605FB0D48C3}" srcId="{D586EF0A-7A8E-3145-98F5-F37946EDDCA7}" destId="{9FBBD5B8-BA3C-724E-B5D2-931C9FCC568C}" srcOrd="2" destOrd="0" parTransId="{D28C4F9D-1516-194E-850A-70E1C0ED34F8}" sibTransId="{74CEF73C-7B05-774E-8F70-2D6169DD9EF2}"/>
    <dgm:cxn modelId="{D55AA9A4-AAC4-664C-B126-9CE869CA0D4E}" srcId="{BF76CC10-C229-054B-A51A-BEBBC9C4B930}" destId="{9BADD7A2-810C-9442-9A56-ACCA98AC0760}" srcOrd="1" destOrd="0" parTransId="{702AF645-2FF3-994E-8323-165436189542}" sibTransId="{51944BF6-8D55-3B47-ABF4-22B3DB8F2058}"/>
    <dgm:cxn modelId="{5A157AAA-79B4-224A-8AE3-F2063E793DA4}" type="presOf" srcId="{13718D31-D9BF-BE4B-8215-E06DD3929152}" destId="{98415F23-0696-C744-8A11-46500C98BAE8}" srcOrd="0" destOrd="0" presId="urn:microsoft.com/office/officeart/2005/8/layout/hList1"/>
    <dgm:cxn modelId="{2AA705C3-84F4-F94F-9063-CB3B208AEE08}" type="presOf" srcId="{0FEB5401-6F27-3949-A513-5C98A1FAE339}" destId="{1451D9E9-9C2D-C54C-B6B6-04633D5F4C38}" srcOrd="0" destOrd="2" presId="urn:microsoft.com/office/officeart/2005/8/layout/hList1"/>
    <dgm:cxn modelId="{A19698CB-39F7-F14C-899F-B4349A481B1B}" type="presOf" srcId="{418BF170-29BC-D54B-86DF-8D15B964DD99}" destId="{ADA56709-3760-084F-9651-FE94CA5B6E24}" srcOrd="0" destOrd="1" presId="urn:microsoft.com/office/officeart/2005/8/layout/hList1"/>
    <dgm:cxn modelId="{E1BB46D1-A12A-024B-8B49-444E514A0ECB}" srcId="{D586EF0A-7A8E-3145-98F5-F37946EDDCA7}" destId="{BF76CC10-C229-054B-A51A-BEBBC9C4B930}" srcOrd="0" destOrd="0" parTransId="{045F69A5-79AE-A24A-B4F7-36FE253751E8}" sibTransId="{07F8D9FA-3B5B-504D-8D62-8041F095BF43}"/>
    <dgm:cxn modelId="{975EA4D1-1814-1A4B-9200-0979B53C58B8}" srcId="{D586EF0A-7A8E-3145-98F5-F37946EDDCA7}" destId="{13718D31-D9BF-BE4B-8215-E06DD3929152}" srcOrd="1" destOrd="0" parTransId="{B6FB7C49-B2B0-C140-B96C-9AF209831983}" sibTransId="{8BC7ACE1-248F-314B-B94F-CE5447A17670}"/>
    <dgm:cxn modelId="{BBD218D2-C8A1-784E-8965-1AF6C207C0DC}" type="presOf" srcId="{985E9368-7F4E-CA4D-9E7E-9173111248E1}" destId="{ADA56709-3760-084F-9651-FE94CA5B6E24}" srcOrd="0" destOrd="0" presId="urn:microsoft.com/office/officeart/2005/8/layout/hList1"/>
    <dgm:cxn modelId="{8D027CD9-EFA2-4140-8ADD-662035454B5B}" type="presOf" srcId="{BF76CC10-C229-054B-A51A-BEBBC9C4B930}" destId="{9E0F9332-5608-7D41-A4F2-6EE14AFCA3CA}" srcOrd="0" destOrd="0" presId="urn:microsoft.com/office/officeart/2005/8/layout/hList1"/>
    <dgm:cxn modelId="{C8E22EE0-34DF-5C49-873C-7342632C08D9}" type="presOf" srcId="{C541244D-C8A5-1949-816F-83AB1C0F7B45}" destId="{ADA56709-3760-084F-9651-FE94CA5B6E24}" srcOrd="0" destOrd="2" presId="urn:microsoft.com/office/officeart/2005/8/layout/hList1"/>
    <dgm:cxn modelId="{3A6729E3-269A-DA49-BF1E-DCBAD013F144}" srcId="{9FBBD5B8-BA3C-724E-B5D2-931C9FCC568C}" destId="{C541244D-C8A5-1949-816F-83AB1C0F7B45}" srcOrd="2" destOrd="0" parTransId="{9D0EF5CD-40CC-7746-BD07-6A5779575F59}" sibTransId="{487A7C86-FCA6-634A-872C-1A0A9CBA750F}"/>
    <dgm:cxn modelId="{371D4EE5-A99B-2842-ADC0-8873F36EB353}" type="presOf" srcId="{037318F1-A3EE-8E42-882D-D6C715846F4C}" destId="{1451D9E9-9C2D-C54C-B6B6-04633D5F4C38}" srcOrd="0" destOrd="0" presId="urn:microsoft.com/office/officeart/2005/8/layout/hList1"/>
    <dgm:cxn modelId="{6FF218ED-7C0A-F647-89D0-8A4818D61215}" srcId="{9FBBD5B8-BA3C-724E-B5D2-931C9FCC568C}" destId="{985E9368-7F4E-CA4D-9E7E-9173111248E1}" srcOrd="0" destOrd="0" parTransId="{BFBBC38B-40A6-3247-A9C9-81D17CCB386E}" sibTransId="{47B62757-EB32-3F4B-A26E-F7ABF97E72C3}"/>
    <dgm:cxn modelId="{77540EFF-230B-0449-BDC7-9EC2B1DF7D94}" type="presOf" srcId="{5823EBB9-9FC9-8948-AE60-E4AA3F339B7A}" destId="{C4CE8E29-D0C2-EA40-9FD7-ADC5A536606F}" srcOrd="0" destOrd="2" presId="urn:microsoft.com/office/officeart/2005/8/layout/hList1"/>
    <dgm:cxn modelId="{8DA477A4-EEB2-9643-9061-51A83A4A8B26}" type="presParOf" srcId="{117B4973-C55C-6A4C-96A9-BE171539F9F3}" destId="{62AE2BD3-011B-2544-8F91-8BDA3053FE62}" srcOrd="0" destOrd="0" presId="urn:microsoft.com/office/officeart/2005/8/layout/hList1"/>
    <dgm:cxn modelId="{DEBD6D66-5F94-D344-B018-192B921573B3}" type="presParOf" srcId="{62AE2BD3-011B-2544-8F91-8BDA3053FE62}" destId="{9E0F9332-5608-7D41-A4F2-6EE14AFCA3CA}" srcOrd="0" destOrd="0" presId="urn:microsoft.com/office/officeart/2005/8/layout/hList1"/>
    <dgm:cxn modelId="{618D77C3-31A4-674A-AA4D-C818A2E1CF8A}" type="presParOf" srcId="{62AE2BD3-011B-2544-8F91-8BDA3053FE62}" destId="{C4CE8E29-D0C2-EA40-9FD7-ADC5A536606F}" srcOrd="1" destOrd="0" presId="urn:microsoft.com/office/officeart/2005/8/layout/hList1"/>
    <dgm:cxn modelId="{6111489F-5962-BA4A-A86C-AD725C3D2231}" type="presParOf" srcId="{117B4973-C55C-6A4C-96A9-BE171539F9F3}" destId="{F6939A4B-6914-D544-B6DA-6BA9C258B9A5}" srcOrd="1" destOrd="0" presId="urn:microsoft.com/office/officeart/2005/8/layout/hList1"/>
    <dgm:cxn modelId="{30521C07-0D4F-0643-A5C2-EA580434ADCC}" type="presParOf" srcId="{117B4973-C55C-6A4C-96A9-BE171539F9F3}" destId="{1B1FEA1E-A7F8-4B49-8674-7E0F8147EEA4}" srcOrd="2" destOrd="0" presId="urn:microsoft.com/office/officeart/2005/8/layout/hList1"/>
    <dgm:cxn modelId="{8FF9EA53-9F92-BF46-B5BA-B397DCEA4A15}" type="presParOf" srcId="{1B1FEA1E-A7F8-4B49-8674-7E0F8147EEA4}" destId="{98415F23-0696-C744-8A11-46500C98BAE8}" srcOrd="0" destOrd="0" presId="urn:microsoft.com/office/officeart/2005/8/layout/hList1"/>
    <dgm:cxn modelId="{62E91C42-ED66-0E4A-88CF-2786E9D96947}" type="presParOf" srcId="{1B1FEA1E-A7F8-4B49-8674-7E0F8147EEA4}" destId="{1451D9E9-9C2D-C54C-B6B6-04633D5F4C38}" srcOrd="1" destOrd="0" presId="urn:microsoft.com/office/officeart/2005/8/layout/hList1"/>
    <dgm:cxn modelId="{CE69F4AD-FB9E-C848-AC83-2B0748A89F46}" type="presParOf" srcId="{117B4973-C55C-6A4C-96A9-BE171539F9F3}" destId="{BAD13462-75D0-F544-A0CF-537A0D98A3C0}" srcOrd="3" destOrd="0" presId="urn:microsoft.com/office/officeart/2005/8/layout/hList1"/>
    <dgm:cxn modelId="{E7A12BF2-AA33-1E4B-90F8-87F2B5DFBFDD}" type="presParOf" srcId="{117B4973-C55C-6A4C-96A9-BE171539F9F3}" destId="{9947CBFF-C0BD-EF43-AD87-41B8DEB18194}" srcOrd="4" destOrd="0" presId="urn:microsoft.com/office/officeart/2005/8/layout/hList1"/>
    <dgm:cxn modelId="{34DEC967-8721-144F-B8DA-CB0D4AF89945}" type="presParOf" srcId="{9947CBFF-C0BD-EF43-AD87-41B8DEB18194}" destId="{E6D55FDA-0414-8241-8954-E18D826236F6}" srcOrd="0" destOrd="0" presId="urn:microsoft.com/office/officeart/2005/8/layout/hList1"/>
    <dgm:cxn modelId="{E2739E41-46E7-9947-A371-6C60C7EACB05}" type="presParOf" srcId="{9947CBFF-C0BD-EF43-AD87-41B8DEB18194}" destId="{ADA56709-3760-084F-9651-FE94CA5B6E2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BCB3443-CC1A-4538-AB2C-E0453CC1AF68}"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92713A15-0CF1-44B4-BB01-8CE0A86C8AAF}">
      <dgm:prSet/>
      <dgm:spPr/>
      <dgm:t xml:space="preserve">
        <a:bodyPr/>
        <a:lstStyle/>
        <a:p>
          <a:r>
            <a:rPr lang="en-US" i="1"/>
            <a:t>Objective:</a:t>
          </a:r>
          <a:r>
            <a:rPr lang="en-US"/>
            <a:t xml:space="preserve"> Examine relationships between two variables using real data. </a:t>
          </a:r>
        </a:p>
      </dgm:t>
    </dgm:pt>
    <dgm:pt modelId="{01C6FBB2-3688-4FAC-A1EF-A05A7FFE5663}" type="parTrans" cxnId="{90A7614A-706B-4AB7-BB33-B8AD5E6A5BD7}">
      <dgm:prSet/>
      <dgm:spPr/>
      <dgm:t xml:space="preserve">
        <a:bodyPr/>
        <a:lstStyle/>
        <a:p>
          <a:endParaRPr lang="en-US"/>
        </a:p>
      </dgm:t>
    </dgm:pt>
    <dgm:pt modelId="{008C8406-23FB-4C2D-AFB8-DE2CFD2F1647}" type="sibTrans" cxnId="{90A7614A-706B-4AB7-BB33-B8AD5E6A5BD7}">
      <dgm:prSet/>
      <dgm:spPr/>
      <dgm:t xml:space="preserve">
        <a:bodyPr/>
        <a:lstStyle/>
        <a:p>
          <a:endParaRPr lang="en-US"/>
        </a:p>
      </dgm:t>
    </dgm:pt>
    <dgm:pt modelId="{FCDE17AE-7DC6-4672-8D1E-07E2873AC536}">
      <dgm:prSet/>
      <dgm:spPr/>
      <dgm:t xml:space="preserve">
        <a:bodyPr/>
        <a:lstStyle/>
        <a:p>
          <a:r>
            <a:rPr lang="en-US" dirty="0"/>
            <a:t xml:space="preserve">Use: </a:t>
          </a:r>
          <a:r>
            <a:rPr lang="en-US" dirty="0" err="1"/>
            <a:t>high_school_student_survey.csv</a:t>
          </a:r>
          <a:endParaRPr lang="en-US" dirty="0"/>
        </a:p>
      </dgm:t>
    </dgm:pt>
    <dgm:pt modelId="{EFF7BBE5-6895-4F28-98DA-BE1A5F3A0FE8}" type="parTrans" cxnId="{6ABADCD6-4948-4384-BA0E-616A63C4C143}">
      <dgm:prSet/>
      <dgm:spPr/>
      <dgm:t xml:space="preserve">
        <a:bodyPr/>
        <a:lstStyle/>
        <a:p>
          <a:endParaRPr lang="en-US"/>
        </a:p>
      </dgm:t>
    </dgm:pt>
    <dgm:pt modelId="{B4B328E3-F10F-4F03-9E4B-B6BB9252B94C}" type="sibTrans" cxnId="{6ABADCD6-4948-4384-BA0E-616A63C4C143}">
      <dgm:prSet/>
      <dgm:spPr/>
      <dgm:t xml:space="preserve">
        <a:bodyPr/>
        <a:lstStyle/>
        <a:p>
          <a:endParaRPr lang="en-US"/>
        </a:p>
      </dgm:t>
    </dgm:pt>
    <dgm:pt modelId="{53C3C3F4-B419-4F37-A831-2460B838282E}">
      <dgm:prSet/>
      <dgm:spPr/>
      <dgm:t xml:space="preserve">
        <a:bodyPr/>
        <a:lstStyle/>
        <a:p>
          <a:r>
            <a:rPr lang="en-US"/>
            <a:t>Get a scatterplot for GPA and Hour Sleep Per Night</a:t>
          </a:r>
        </a:p>
      </dgm:t>
    </dgm:pt>
    <dgm:pt modelId="{C7A0553C-F689-49F3-9950-CE724C1AA6CF}" type="parTrans" cxnId="{9604E12B-ED10-49BD-AAD7-75B37DC37E10}">
      <dgm:prSet/>
      <dgm:spPr/>
      <dgm:t xml:space="preserve">
        <a:bodyPr/>
        <a:lstStyle/>
        <a:p>
          <a:endParaRPr lang="en-US"/>
        </a:p>
      </dgm:t>
    </dgm:pt>
    <dgm:pt modelId="{6B856698-C7EE-496B-B006-45AFB01E901F}" type="sibTrans" cxnId="{9604E12B-ED10-49BD-AAD7-75B37DC37E10}">
      <dgm:prSet/>
      <dgm:spPr/>
      <dgm:t xml:space="preserve">
        <a:bodyPr/>
        <a:lstStyle/>
        <a:p>
          <a:endParaRPr lang="en-US"/>
        </a:p>
      </dgm:t>
    </dgm:pt>
    <dgm:pt modelId="{6ADFD5AA-6AC8-44C0-9257-AF0C2C98A2AD}">
      <dgm:prSet/>
      <dgm:spPr/>
      <dgm:t xml:space="preserve">
        <a:bodyPr/>
        <a:lstStyle/>
        <a:p>
          <a:r>
            <a:rPr lang="en-US"/>
            <a:t>Use R or Python</a:t>
          </a:r>
        </a:p>
      </dgm:t>
    </dgm:pt>
    <dgm:pt modelId="{322E40DF-AA85-4FD7-9557-0ED6A618E274}" type="parTrans" cxnId="{B275C38B-D9C1-4BD9-8DCD-5689543A5FCB}">
      <dgm:prSet/>
      <dgm:spPr/>
      <dgm:t xml:space="preserve">
        <a:bodyPr/>
        <a:lstStyle/>
        <a:p>
          <a:endParaRPr lang="en-US"/>
        </a:p>
      </dgm:t>
    </dgm:pt>
    <dgm:pt modelId="{3BDC7734-6F4E-417D-BCCE-CB119AEFDBC5}" type="sibTrans" cxnId="{B275C38B-D9C1-4BD9-8DCD-5689543A5FCB}">
      <dgm:prSet/>
      <dgm:spPr/>
      <dgm:t xml:space="preserve">
        <a:bodyPr/>
        <a:lstStyle/>
        <a:p>
          <a:endParaRPr lang="en-US"/>
        </a:p>
      </dgm:t>
    </dgm:pt>
    <dgm:pt modelId="{5FFE627B-E5E8-4DEE-9AEB-1EAE22917E1E}" type="pres">
      <dgm:prSet presAssocID="{6BCB3443-CC1A-4538-AB2C-E0453CC1AF68}" presName="root" presStyleCnt="0">
        <dgm:presLayoutVars>
          <dgm:dir/>
          <dgm:resizeHandles val="exact"/>
        </dgm:presLayoutVars>
      </dgm:prSet>
      <dgm:spPr/>
    </dgm:pt>
    <dgm:pt modelId="{5BF0B4CA-2C26-48B1-A7E3-39DE68CEEF40}" type="pres">
      <dgm:prSet presAssocID="{92713A15-0CF1-44B4-BB01-8CE0A86C8AAF}" presName="compNode" presStyleCnt="0"/>
      <dgm:spPr/>
    </dgm:pt>
    <dgm:pt modelId="{1B70C251-C8B1-49E7-965A-EAC1F813685D}" type="pres">
      <dgm:prSet presAssocID="{92713A15-0CF1-44B4-BB01-8CE0A86C8AAF}" presName="bgRect" presStyleLbl="bgShp" presStyleIdx="0" presStyleCnt="4"/>
      <dgm:spPr/>
    </dgm:pt>
    <dgm:pt modelId="{64928F30-F428-4397-B67C-513ABAF63ED8}" type="pres">
      <dgm:prSet presAssocID="{92713A15-0CF1-44B4-BB01-8CE0A86C8AA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9D95FCC3-528E-4D32-94AF-C31CA4CEE515}" type="pres">
      <dgm:prSet presAssocID="{92713A15-0CF1-44B4-BB01-8CE0A86C8AAF}" presName="spaceRect" presStyleCnt="0"/>
      <dgm:spPr/>
    </dgm:pt>
    <dgm:pt modelId="{D40A2DCB-C0C8-41C1-BAF3-A32320C37BA6}" type="pres">
      <dgm:prSet presAssocID="{92713A15-0CF1-44B4-BB01-8CE0A86C8AAF}" presName="parTx" presStyleLbl="revTx" presStyleIdx="0" presStyleCnt="4">
        <dgm:presLayoutVars>
          <dgm:chMax val="0"/>
          <dgm:chPref val="0"/>
        </dgm:presLayoutVars>
      </dgm:prSet>
      <dgm:spPr/>
    </dgm:pt>
    <dgm:pt modelId="{4DC38834-0762-4746-B0E6-19DB2F5700CD}" type="pres">
      <dgm:prSet presAssocID="{008C8406-23FB-4C2D-AFB8-DE2CFD2F1647}" presName="sibTrans" presStyleCnt="0"/>
      <dgm:spPr/>
    </dgm:pt>
    <dgm:pt modelId="{F3F3B08A-01DB-4400-9D21-64A08B83541E}" type="pres">
      <dgm:prSet presAssocID="{FCDE17AE-7DC6-4672-8D1E-07E2873AC536}" presName="compNode" presStyleCnt="0"/>
      <dgm:spPr/>
    </dgm:pt>
    <dgm:pt modelId="{700CA656-91CF-4288-9E37-4E42053858FB}" type="pres">
      <dgm:prSet presAssocID="{FCDE17AE-7DC6-4672-8D1E-07E2873AC536}" presName="bgRect" presStyleLbl="bgShp" presStyleIdx="1" presStyleCnt="4"/>
      <dgm:spPr/>
    </dgm:pt>
    <dgm:pt modelId="{6F6D2B5E-6999-4380-9A86-59936875F379}" type="pres">
      <dgm:prSet presAssocID="{FCDE17AE-7DC6-4672-8D1E-07E2873AC53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21CB8CB6-5544-48EF-98C2-1AF21344A6AC}" type="pres">
      <dgm:prSet presAssocID="{FCDE17AE-7DC6-4672-8D1E-07E2873AC536}" presName="spaceRect" presStyleCnt="0"/>
      <dgm:spPr/>
    </dgm:pt>
    <dgm:pt modelId="{9D0E97B8-7188-498C-BC15-F390385CEBD5}" type="pres">
      <dgm:prSet presAssocID="{FCDE17AE-7DC6-4672-8D1E-07E2873AC536}" presName="parTx" presStyleLbl="revTx" presStyleIdx="1" presStyleCnt="4">
        <dgm:presLayoutVars>
          <dgm:chMax val="0"/>
          <dgm:chPref val="0"/>
        </dgm:presLayoutVars>
      </dgm:prSet>
      <dgm:spPr/>
    </dgm:pt>
    <dgm:pt modelId="{755B8AF1-D650-4CF8-8F16-FC3FF6FEAE25}" type="pres">
      <dgm:prSet presAssocID="{B4B328E3-F10F-4F03-9E4B-B6BB9252B94C}" presName="sibTrans" presStyleCnt="0"/>
      <dgm:spPr/>
    </dgm:pt>
    <dgm:pt modelId="{115C3519-8AE0-4C30-9CEC-3ED4E2752C89}" type="pres">
      <dgm:prSet presAssocID="{53C3C3F4-B419-4F37-A831-2460B838282E}" presName="compNode" presStyleCnt="0"/>
      <dgm:spPr/>
    </dgm:pt>
    <dgm:pt modelId="{E2E1ADD3-902F-4481-A9A8-716CD1EFF2AC}" type="pres">
      <dgm:prSet presAssocID="{53C3C3F4-B419-4F37-A831-2460B838282E}" presName="bgRect" presStyleLbl="bgShp" presStyleIdx="2" presStyleCnt="4"/>
      <dgm:spPr/>
    </dgm:pt>
    <dgm:pt modelId="{E3E4679C-9569-432C-8067-8BAE31659622}" type="pres">
      <dgm:prSet presAssocID="{53C3C3F4-B419-4F37-A831-2460B838282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leep"/>
        </a:ext>
      </dgm:extLst>
    </dgm:pt>
    <dgm:pt modelId="{DF18B192-3AC8-4056-B0D1-3A5CED073AD4}" type="pres">
      <dgm:prSet presAssocID="{53C3C3F4-B419-4F37-A831-2460B838282E}" presName="spaceRect" presStyleCnt="0"/>
      <dgm:spPr/>
    </dgm:pt>
    <dgm:pt modelId="{FF243D54-9870-44DF-A34B-154ED3A99970}" type="pres">
      <dgm:prSet presAssocID="{53C3C3F4-B419-4F37-A831-2460B838282E}" presName="parTx" presStyleLbl="revTx" presStyleIdx="2" presStyleCnt="4">
        <dgm:presLayoutVars>
          <dgm:chMax val="0"/>
          <dgm:chPref val="0"/>
        </dgm:presLayoutVars>
      </dgm:prSet>
      <dgm:spPr/>
    </dgm:pt>
    <dgm:pt modelId="{5B804DCC-7A6D-42C0-9098-A47E396E48DE}" type="pres">
      <dgm:prSet presAssocID="{6B856698-C7EE-496B-B006-45AFB01E901F}" presName="sibTrans" presStyleCnt="0"/>
      <dgm:spPr/>
    </dgm:pt>
    <dgm:pt modelId="{4C38449C-90A4-4AAB-93C1-C544FB410DE2}" type="pres">
      <dgm:prSet presAssocID="{6ADFD5AA-6AC8-44C0-9257-AF0C2C98A2AD}" presName="compNode" presStyleCnt="0"/>
      <dgm:spPr/>
    </dgm:pt>
    <dgm:pt modelId="{461F7E1A-2AC1-409A-BF58-B46ACA3032B9}" type="pres">
      <dgm:prSet presAssocID="{6ADFD5AA-6AC8-44C0-9257-AF0C2C98A2AD}" presName="bgRect" presStyleLbl="bgShp" presStyleIdx="3" presStyleCnt="4"/>
      <dgm:spPr/>
    </dgm:pt>
    <dgm:pt modelId="{1CB577D8-43AF-4F84-8BB5-8B4DE189942B}" type="pres">
      <dgm:prSet presAssocID="{6ADFD5AA-6AC8-44C0-9257-AF0C2C98A2A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543F998D-5BCB-40DA-83B2-F57D00586940}" type="pres">
      <dgm:prSet presAssocID="{6ADFD5AA-6AC8-44C0-9257-AF0C2C98A2AD}" presName="spaceRect" presStyleCnt="0"/>
      <dgm:spPr/>
    </dgm:pt>
    <dgm:pt modelId="{DF34DF52-9EDC-42A4-9A5B-B29A059A0228}" type="pres">
      <dgm:prSet presAssocID="{6ADFD5AA-6AC8-44C0-9257-AF0C2C98A2AD}" presName="parTx" presStyleLbl="revTx" presStyleIdx="3" presStyleCnt="4">
        <dgm:presLayoutVars>
          <dgm:chMax val="0"/>
          <dgm:chPref val="0"/>
        </dgm:presLayoutVars>
      </dgm:prSet>
      <dgm:spPr/>
    </dgm:pt>
  </dgm:ptLst>
  <dgm:cxnLst>
    <dgm:cxn modelId="{5DA2BD11-890A-444B-8B30-4F40E64B12B6}" type="presOf" srcId="{53C3C3F4-B419-4F37-A831-2460B838282E}" destId="{FF243D54-9870-44DF-A34B-154ED3A99970}" srcOrd="0" destOrd="0" presId="urn:microsoft.com/office/officeart/2018/2/layout/IconVerticalSolidList"/>
    <dgm:cxn modelId="{32F24C1B-1D79-4239-8660-AFD1D7A05D0E}" type="presOf" srcId="{6ADFD5AA-6AC8-44C0-9257-AF0C2C98A2AD}" destId="{DF34DF52-9EDC-42A4-9A5B-B29A059A0228}" srcOrd="0" destOrd="0" presId="urn:microsoft.com/office/officeart/2018/2/layout/IconVerticalSolidList"/>
    <dgm:cxn modelId="{9604E12B-ED10-49BD-AAD7-75B37DC37E10}" srcId="{6BCB3443-CC1A-4538-AB2C-E0453CC1AF68}" destId="{53C3C3F4-B419-4F37-A831-2460B838282E}" srcOrd="2" destOrd="0" parTransId="{C7A0553C-F689-49F3-9950-CE724C1AA6CF}" sibTransId="{6B856698-C7EE-496B-B006-45AFB01E901F}"/>
    <dgm:cxn modelId="{90A7614A-706B-4AB7-BB33-B8AD5E6A5BD7}" srcId="{6BCB3443-CC1A-4538-AB2C-E0453CC1AF68}" destId="{92713A15-0CF1-44B4-BB01-8CE0A86C8AAF}" srcOrd="0" destOrd="0" parTransId="{01C6FBB2-3688-4FAC-A1EF-A05A7FFE5663}" sibTransId="{008C8406-23FB-4C2D-AFB8-DE2CFD2F1647}"/>
    <dgm:cxn modelId="{B275C38B-D9C1-4BD9-8DCD-5689543A5FCB}" srcId="{6BCB3443-CC1A-4538-AB2C-E0453CC1AF68}" destId="{6ADFD5AA-6AC8-44C0-9257-AF0C2C98A2AD}" srcOrd="3" destOrd="0" parTransId="{322E40DF-AA85-4FD7-9557-0ED6A618E274}" sibTransId="{3BDC7734-6F4E-417D-BCCE-CB119AEFDBC5}"/>
    <dgm:cxn modelId="{DA161F92-8E65-417F-A39C-29F1BB31177A}" type="presOf" srcId="{FCDE17AE-7DC6-4672-8D1E-07E2873AC536}" destId="{9D0E97B8-7188-498C-BC15-F390385CEBD5}" srcOrd="0" destOrd="0" presId="urn:microsoft.com/office/officeart/2018/2/layout/IconVerticalSolidList"/>
    <dgm:cxn modelId="{A0F14BC4-0B3A-4EB1-ACCE-48ABB849A2B9}" type="presOf" srcId="{6BCB3443-CC1A-4538-AB2C-E0453CC1AF68}" destId="{5FFE627B-E5E8-4DEE-9AEB-1EAE22917E1E}" srcOrd="0" destOrd="0" presId="urn:microsoft.com/office/officeart/2018/2/layout/IconVerticalSolidList"/>
    <dgm:cxn modelId="{6ABADCD6-4948-4384-BA0E-616A63C4C143}" srcId="{6BCB3443-CC1A-4538-AB2C-E0453CC1AF68}" destId="{FCDE17AE-7DC6-4672-8D1E-07E2873AC536}" srcOrd="1" destOrd="0" parTransId="{EFF7BBE5-6895-4F28-98DA-BE1A5F3A0FE8}" sibTransId="{B4B328E3-F10F-4F03-9E4B-B6BB9252B94C}"/>
    <dgm:cxn modelId="{D6F09AE6-51B8-47BE-B252-0546A5373D23}" type="presOf" srcId="{92713A15-0CF1-44B4-BB01-8CE0A86C8AAF}" destId="{D40A2DCB-C0C8-41C1-BAF3-A32320C37BA6}" srcOrd="0" destOrd="0" presId="urn:microsoft.com/office/officeart/2018/2/layout/IconVerticalSolidList"/>
    <dgm:cxn modelId="{88A91EFE-3DA3-47D4-B44B-540EFFA9307A}" type="presParOf" srcId="{5FFE627B-E5E8-4DEE-9AEB-1EAE22917E1E}" destId="{5BF0B4CA-2C26-48B1-A7E3-39DE68CEEF40}" srcOrd="0" destOrd="0" presId="urn:microsoft.com/office/officeart/2018/2/layout/IconVerticalSolidList"/>
    <dgm:cxn modelId="{171BDBF3-75ED-42E0-80B5-35534C742CB5}" type="presParOf" srcId="{5BF0B4CA-2C26-48B1-A7E3-39DE68CEEF40}" destId="{1B70C251-C8B1-49E7-965A-EAC1F813685D}" srcOrd="0" destOrd="0" presId="urn:microsoft.com/office/officeart/2018/2/layout/IconVerticalSolidList"/>
    <dgm:cxn modelId="{FBA1D50B-90A7-4654-AB6B-49BCDE274A76}" type="presParOf" srcId="{5BF0B4CA-2C26-48B1-A7E3-39DE68CEEF40}" destId="{64928F30-F428-4397-B67C-513ABAF63ED8}" srcOrd="1" destOrd="0" presId="urn:microsoft.com/office/officeart/2018/2/layout/IconVerticalSolidList"/>
    <dgm:cxn modelId="{4E6F41D6-0047-4488-B0A0-4BF0E083E503}" type="presParOf" srcId="{5BF0B4CA-2C26-48B1-A7E3-39DE68CEEF40}" destId="{9D95FCC3-528E-4D32-94AF-C31CA4CEE515}" srcOrd="2" destOrd="0" presId="urn:microsoft.com/office/officeart/2018/2/layout/IconVerticalSolidList"/>
    <dgm:cxn modelId="{37935BE5-9F36-4C63-8CF4-1B65475B695B}" type="presParOf" srcId="{5BF0B4CA-2C26-48B1-A7E3-39DE68CEEF40}" destId="{D40A2DCB-C0C8-41C1-BAF3-A32320C37BA6}" srcOrd="3" destOrd="0" presId="urn:microsoft.com/office/officeart/2018/2/layout/IconVerticalSolidList"/>
    <dgm:cxn modelId="{A1D3FDB9-9468-40DB-9530-D77E3F129EBE}" type="presParOf" srcId="{5FFE627B-E5E8-4DEE-9AEB-1EAE22917E1E}" destId="{4DC38834-0762-4746-B0E6-19DB2F5700CD}" srcOrd="1" destOrd="0" presId="urn:microsoft.com/office/officeart/2018/2/layout/IconVerticalSolidList"/>
    <dgm:cxn modelId="{8F6C6A20-E47A-4296-B336-BABFD85A0BAB}" type="presParOf" srcId="{5FFE627B-E5E8-4DEE-9AEB-1EAE22917E1E}" destId="{F3F3B08A-01DB-4400-9D21-64A08B83541E}" srcOrd="2" destOrd="0" presId="urn:microsoft.com/office/officeart/2018/2/layout/IconVerticalSolidList"/>
    <dgm:cxn modelId="{DBDA1BCC-74A6-46DA-87B9-ECF2186E913D}" type="presParOf" srcId="{F3F3B08A-01DB-4400-9D21-64A08B83541E}" destId="{700CA656-91CF-4288-9E37-4E42053858FB}" srcOrd="0" destOrd="0" presId="urn:microsoft.com/office/officeart/2018/2/layout/IconVerticalSolidList"/>
    <dgm:cxn modelId="{0CA54206-D517-4768-A618-4AEFB5BCDC80}" type="presParOf" srcId="{F3F3B08A-01DB-4400-9D21-64A08B83541E}" destId="{6F6D2B5E-6999-4380-9A86-59936875F379}" srcOrd="1" destOrd="0" presId="urn:microsoft.com/office/officeart/2018/2/layout/IconVerticalSolidList"/>
    <dgm:cxn modelId="{6DB7EF6A-5C05-41B3-B155-36E533F56223}" type="presParOf" srcId="{F3F3B08A-01DB-4400-9D21-64A08B83541E}" destId="{21CB8CB6-5544-48EF-98C2-1AF21344A6AC}" srcOrd="2" destOrd="0" presId="urn:microsoft.com/office/officeart/2018/2/layout/IconVerticalSolidList"/>
    <dgm:cxn modelId="{E21367AA-A777-4B28-B092-FEFBCECB1AB3}" type="presParOf" srcId="{F3F3B08A-01DB-4400-9D21-64A08B83541E}" destId="{9D0E97B8-7188-498C-BC15-F390385CEBD5}" srcOrd="3" destOrd="0" presId="urn:microsoft.com/office/officeart/2018/2/layout/IconVerticalSolidList"/>
    <dgm:cxn modelId="{1EB863EB-8499-464C-90DA-A72F49F63D2B}" type="presParOf" srcId="{5FFE627B-E5E8-4DEE-9AEB-1EAE22917E1E}" destId="{755B8AF1-D650-4CF8-8F16-FC3FF6FEAE25}" srcOrd="3" destOrd="0" presId="urn:microsoft.com/office/officeart/2018/2/layout/IconVerticalSolidList"/>
    <dgm:cxn modelId="{8ECCFA11-2FD4-4BAB-822D-044F3D9E7B16}" type="presParOf" srcId="{5FFE627B-E5E8-4DEE-9AEB-1EAE22917E1E}" destId="{115C3519-8AE0-4C30-9CEC-3ED4E2752C89}" srcOrd="4" destOrd="0" presId="urn:microsoft.com/office/officeart/2018/2/layout/IconVerticalSolidList"/>
    <dgm:cxn modelId="{79870A06-22EC-460F-B478-6902A66E2037}" type="presParOf" srcId="{115C3519-8AE0-4C30-9CEC-3ED4E2752C89}" destId="{E2E1ADD3-902F-4481-A9A8-716CD1EFF2AC}" srcOrd="0" destOrd="0" presId="urn:microsoft.com/office/officeart/2018/2/layout/IconVerticalSolidList"/>
    <dgm:cxn modelId="{EF29C359-6B16-49B7-8526-7A6A0451F2B0}" type="presParOf" srcId="{115C3519-8AE0-4C30-9CEC-3ED4E2752C89}" destId="{E3E4679C-9569-432C-8067-8BAE31659622}" srcOrd="1" destOrd="0" presId="urn:microsoft.com/office/officeart/2018/2/layout/IconVerticalSolidList"/>
    <dgm:cxn modelId="{0918CBA9-EC30-403D-A997-B90D49B8701E}" type="presParOf" srcId="{115C3519-8AE0-4C30-9CEC-3ED4E2752C89}" destId="{DF18B192-3AC8-4056-B0D1-3A5CED073AD4}" srcOrd="2" destOrd="0" presId="urn:microsoft.com/office/officeart/2018/2/layout/IconVerticalSolidList"/>
    <dgm:cxn modelId="{ABBD8D2D-E832-4771-ADE0-F147A8E7B000}" type="presParOf" srcId="{115C3519-8AE0-4C30-9CEC-3ED4E2752C89}" destId="{FF243D54-9870-44DF-A34B-154ED3A99970}" srcOrd="3" destOrd="0" presId="urn:microsoft.com/office/officeart/2018/2/layout/IconVerticalSolidList"/>
    <dgm:cxn modelId="{8C041DC7-04BF-41BC-BE57-2D83DF8726A3}" type="presParOf" srcId="{5FFE627B-E5E8-4DEE-9AEB-1EAE22917E1E}" destId="{5B804DCC-7A6D-42C0-9098-A47E396E48DE}" srcOrd="5" destOrd="0" presId="urn:microsoft.com/office/officeart/2018/2/layout/IconVerticalSolidList"/>
    <dgm:cxn modelId="{A13B73C2-9E16-438F-B4E3-1402B96444BB}" type="presParOf" srcId="{5FFE627B-E5E8-4DEE-9AEB-1EAE22917E1E}" destId="{4C38449C-90A4-4AAB-93C1-C544FB410DE2}" srcOrd="6" destOrd="0" presId="urn:microsoft.com/office/officeart/2018/2/layout/IconVerticalSolidList"/>
    <dgm:cxn modelId="{AD684FA8-282A-4C1F-ADE8-4B8AA204A0DE}" type="presParOf" srcId="{4C38449C-90A4-4AAB-93C1-C544FB410DE2}" destId="{461F7E1A-2AC1-409A-BF58-B46ACA3032B9}" srcOrd="0" destOrd="0" presId="urn:microsoft.com/office/officeart/2018/2/layout/IconVerticalSolidList"/>
    <dgm:cxn modelId="{C9649CA4-3B52-4F9F-B70F-8BEF37083BCC}" type="presParOf" srcId="{4C38449C-90A4-4AAB-93C1-C544FB410DE2}" destId="{1CB577D8-43AF-4F84-8BB5-8B4DE189942B}" srcOrd="1" destOrd="0" presId="urn:microsoft.com/office/officeart/2018/2/layout/IconVerticalSolidList"/>
    <dgm:cxn modelId="{5B24F366-9639-48D0-8BF2-D530D9CD0A76}" type="presParOf" srcId="{4C38449C-90A4-4AAB-93C1-C544FB410DE2}" destId="{543F998D-5BCB-40DA-83B2-F57D00586940}" srcOrd="2" destOrd="0" presId="urn:microsoft.com/office/officeart/2018/2/layout/IconVerticalSolidList"/>
    <dgm:cxn modelId="{8D531E32-402D-41CE-A4CC-B6225A1DF65C}" type="presParOf" srcId="{4C38449C-90A4-4AAB-93C1-C544FB410DE2}" destId="{DF34DF52-9EDC-42A4-9A5B-B29A059A022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798A116-5961-4CDD-A8C3-B9E56F62818C}"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76BA4D9B-B681-457C-BE8D-4CC63EC4E4BD}">
      <dgm:prSet/>
      <dgm:spPr/>
      <dgm:t xml:space="preserve">
        <a:bodyPr/>
        <a:lstStyle/>
        <a:p>
          <a:r>
            <a:rPr lang="en-US"/>
            <a:t>Take grade level and Hours_Homework_Per_Week</a:t>
          </a:r>
        </a:p>
      </dgm:t>
    </dgm:pt>
    <dgm:pt modelId="{C345EC7E-6747-4860-B02E-33D5ADA6EB1F}" type="parTrans" cxnId="{1C919A81-3986-4A98-8DCD-63C5C27C91D3}">
      <dgm:prSet/>
      <dgm:spPr/>
      <dgm:t xml:space="preserve">
        <a:bodyPr/>
        <a:lstStyle/>
        <a:p>
          <a:endParaRPr lang="en-US"/>
        </a:p>
      </dgm:t>
    </dgm:pt>
    <dgm:pt modelId="{A2CD32D9-284E-43FE-8C5B-663C1CDD40D7}" type="sibTrans" cxnId="{1C919A81-3986-4A98-8DCD-63C5C27C91D3}">
      <dgm:prSet/>
      <dgm:spPr/>
      <dgm:t xml:space="preserve">
        <a:bodyPr/>
        <a:lstStyle/>
        <a:p>
          <a:endParaRPr lang="en-US"/>
        </a:p>
      </dgm:t>
    </dgm:pt>
    <dgm:pt modelId="{6D5EE387-C8C1-4C98-98A7-3554FAA6C78A}">
      <dgm:prSet/>
      <dgm:spPr/>
      <dgm:t xml:space="preserve">
        <a:bodyPr/>
        <a:lstStyle/>
        <a:p>
          <a:r>
            <a:rPr lang="en-US" dirty="0"/>
            <a:t xml:space="preserve">Compute the group means and medians. </a:t>
          </a:r>
        </a:p>
      </dgm:t>
    </dgm:pt>
    <dgm:pt modelId="{8BB5DDCA-166B-4A9E-8A58-93F82392EDB2}" type="parTrans" cxnId="{D0626921-8A77-4741-8EC2-7376D0A2F969}">
      <dgm:prSet/>
      <dgm:spPr/>
      <dgm:t xml:space="preserve">
        <a:bodyPr/>
        <a:lstStyle/>
        <a:p>
          <a:endParaRPr lang="en-US"/>
        </a:p>
      </dgm:t>
    </dgm:pt>
    <dgm:pt modelId="{51612516-0A57-4540-8DA1-4A91833961E6}" type="sibTrans" cxnId="{D0626921-8A77-4741-8EC2-7376D0A2F969}">
      <dgm:prSet/>
      <dgm:spPr/>
      <dgm:t xml:space="preserve">
        <a:bodyPr/>
        <a:lstStyle/>
        <a:p>
          <a:endParaRPr lang="en-US"/>
        </a:p>
      </dgm:t>
    </dgm:pt>
    <dgm:pt modelId="{E5BB54D2-8D38-4C1A-8078-D2114E614F96}">
      <dgm:prSet/>
      <dgm:spPr/>
      <dgm:t xml:space="preserve">
        <a:bodyPr/>
        <a:lstStyle/>
        <a:p>
          <a:r>
            <a:rPr lang="en-US"/>
            <a:t>Create a side-by-side boxplot.</a:t>
          </a:r>
        </a:p>
      </dgm:t>
    </dgm:pt>
    <dgm:pt modelId="{88E313DC-ACBE-48CB-998C-82431D75E5A8}" type="parTrans" cxnId="{952E2A97-94EA-43A2-9172-7C0F5F637B21}">
      <dgm:prSet/>
      <dgm:spPr/>
      <dgm:t xml:space="preserve">
        <a:bodyPr/>
        <a:lstStyle/>
        <a:p>
          <a:endParaRPr lang="en-US"/>
        </a:p>
      </dgm:t>
    </dgm:pt>
    <dgm:pt modelId="{21B2BEF8-4A1B-4D94-B451-19EC26B0E0D1}" type="sibTrans" cxnId="{952E2A97-94EA-43A2-9172-7C0F5F637B21}">
      <dgm:prSet/>
      <dgm:spPr/>
      <dgm:t xml:space="preserve">
        <a:bodyPr/>
        <a:lstStyle/>
        <a:p>
          <a:endParaRPr lang="en-US"/>
        </a:p>
      </dgm:t>
    </dgm:pt>
    <dgm:pt modelId="{7E6CC6C8-538B-4BAA-80B2-6C61F757C968}">
      <dgm:prSet/>
      <dgm:spPr/>
      <dgm:t xml:space="preserve">
        <a:bodyPr/>
        <a:lstStyle/>
        <a:p>
          <a:r>
            <a:rPr lang="en-US"/>
            <a:t>Which group tends to have higher values? How do their variabilities compare?</a:t>
          </a:r>
        </a:p>
      </dgm:t>
    </dgm:pt>
    <dgm:pt modelId="{A2E0E8F7-3E9C-4C9A-A388-ACB4610C4063}" type="parTrans" cxnId="{63A9C923-02B4-4E83-9BC8-786E2FB78A25}">
      <dgm:prSet/>
      <dgm:spPr/>
      <dgm:t xml:space="preserve">
        <a:bodyPr/>
        <a:lstStyle/>
        <a:p>
          <a:endParaRPr lang="en-US"/>
        </a:p>
      </dgm:t>
    </dgm:pt>
    <dgm:pt modelId="{F46625A8-04DC-4CFC-8930-FB1E21C6A53C}" type="sibTrans" cxnId="{63A9C923-02B4-4E83-9BC8-786E2FB78A25}">
      <dgm:prSet/>
      <dgm:spPr/>
      <dgm:t xml:space="preserve">
        <a:bodyPr/>
        <a:lstStyle/>
        <a:p>
          <a:endParaRPr lang="en-US"/>
        </a:p>
      </dgm:t>
    </dgm:pt>
    <dgm:pt modelId="{DCD1EAF7-5248-468A-9C02-7111F3ABB0FA}" type="pres">
      <dgm:prSet presAssocID="{D798A116-5961-4CDD-A8C3-B9E56F62818C}" presName="root" presStyleCnt="0">
        <dgm:presLayoutVars>
          <dgm:dir/>
          <dgm:resizeHandles val="exact"/>
        </dgm:presLayoutVars>
      </dgm:prSet>
      <dgm:spPr/>
    </dgm:pt>
    <dgm:pt modelId="{04785E28-B911-4A38-9D4E-33D29B7701D6}" type="pres">
      <dgm:prSet presAssocID="{76BA4D9B-B681-457C-BE8D-4CC63EC4E4BD}" presName="compNode" presStyleCnt="0"/>
      <dgm:spPr/>
    </dgm:pt>
    <dgm:pt modelId="{F42B6042-BCB5-43A4-BFC8-D89EBC841AF3}" type="pres">
      <dgm:prSet presAssocID="{76BA4D9B-B681-457C-BE8D-4CC63EC4E4BD}" presName="bgRect" presStyleLbl="bgShp" presStyleIdx="0" presStyleCnt="4"/>
      <dgm:spPr/>
    </dgm:pt>
    <dgm:pt modelId="{BBEE72FF-8AC6-4B4C-8BE3-F83031814817}" type="pres">
      <dgm:prSet presAssocID="{76BA4D9B-B681-457C-BE8D-4CC63EC4E4B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ploma Roll"/>
        </a:ext>
      </dgm:extLst>
    </dgm:pt>
    <dgm:pt modelId="{6BC1EDA3-7C69-4252-B21B-C73098335A17}" type="pres">
      <dgm:prSet presAssocID="{76BA4D9B-B681-457C-BE8D-4CC63EC4E4BD}" presName="spaceRect" presStyleCnt="0"/>
      <dgm:spPr/>
    </dgm:pt>
    <dgm:pt modelId="{9D6F4CD5-4FC0-41CF-AA08-9F559C766696}" type="pres">
      <dgm:prSet presAssocID="{76BA4D9B-B681-457C-BE8D-4CC63EC4E4BD}" presName="parTx" presStyleLbl="revTx" presStyleIdx="0" presStyleCnt="4">
        <dgm:presLayoutVars>
          <dgm:chMax val="0"/>
          <dgm:chPref val="0"/>
        </dgm:presLayoutVars>
      </dgm:prSet>
      <dgm:spPr/>
    </dgm:pt>
    <dgm:pt modelId="{9FD984BC-4A7E-4C3C-8ED4-9CDECFCFD13D}" type="pres">
      <dgm:prSet presAssocID="{A2CD32D9-284E-43FE-8C5B-663C1CDD40D7}" presName="sibTrans" presStyleCnt="0"/>
      <dgm:spPr/>
    </dgm:pt>
    <dgm:pt modelId="{11381F32-6ACD-498B-8D59-F8F25402A6D4}" type="pres">
      <dgm:prSet presAssocID="{6D5EE387-C8C1-4C98-98A7-3554FAA6C78A}" presName="compNode" presStyleCnt="0"/>
      <dgm:spPr/>
    </dgm:pt>
    <dgm:pt modelId="{15369AB9-D147-4319-9B07-87A5835FF0AC}" type="pres">
      <dgm:prSet presAssocID="{6D5EE387-C8C1-4C98-98A7-3554FAA6C78A}" presName="bgRect" presStyleLbl="bgShp" presStyleIdx="1" presStyleCnt="4"/>
      <dgm:spPr/>
    </dgm:pt>
    <dgm:pt modelId="{727748F1-63B6-476B-9DED-270A389598CD}" type="pres">
      <dgm:prSet presAssocID="{6D5EE387-C8C1-4C98-98A7-3554FAA6C78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thematics"/>
        </a:ext>
      </dgm:extLst>
    </dgm:pt>
    <dgm:pt modelId="{B2899E71-0385-41E1-8F22-47F1C71304EB}" type="pres">
      <dgm:prSet presAssocID="{6D5EE387-C8C1-4C98-98A7-3554FAA6C78A}" presName="spaceRect" presStyleCnt="0"/>
      <dgm:spPr/>
    </dgm:pt>
    <dgm:pt modelId="{46AE1F3E-1DA8-4556-A4EE-1836695EAE94}" type="pres">
      <dgm:prSet presAssocID="{6D5EE387-C8C1-4C98-98A7-3554FAA6C78A}" presName="parTx" presStyleLbl="revTx" presStyleIdx="1" presStyleCnt="4">
        <dgm:presLayoutVars>
          <dgm:chMax val="0"/>
          <dgm:chPref val="0"/>
        </dgm:presLayoutVars>
      </dgm:prSet>
      <dgm:spPr/>
    </dgm:pt>
    <dgm:pt modelId="{2A83D0C0-2DC7-46C6-AC1B-3C5779AF503C}" type="pres">
      <dgm:prSet presAssocID="{51612516-0A57-4540-8DA1-4A91833961E6}" presName="sibTrans" presStyleCnt="0"/>
      <dgm:spPr/>
    </dgm:pt>
    <dgm:pt modelId="{163E8874-1620-4D43-BB72-52879BD11298}" type="pres">
      <dgm:prSet presAssocID="{E5BB54D2-8D38-4C1A-8078-D2114E614F96}" presName="compNode" presStyleCnt="0"/>
      <dgm:spPr/>
    </dgm:pt>
    <dgm:pt modelId="{5844E4EC-692A-4C96-A09D-E5A2CCEFF1CB}" type="pres">
      <dgm:prSet presAssocID="{E5BB54D2-8D38-4C1A-8078-D2114E614F96}" presName="bgRect" presStyleLbl="bgShp" presStyleIdx="2" presStyleCnt="4"/>
      <dgm:spPr/>
    </dgm:pt>
    <dgm:pt modelId="{01ECEF87-B224-4E57-A02F-D94782179020}" type="pres">
      <dgm:prSet presAssocID="{E5BB54D2-8D38-4C1A-8078-D2114E614F9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tterfly"/>
        </a:ext>
      </dgm:extLst>
    </dgm:pt>
    <dgm:pt modelId="{FB49E282-778A-4EA8-99D6-8642AA9CCF3A}" type="pres">
      <dgm:prSet presAssocID="{E5BB54D2-8D38-4C1A-8078-D2114E614F96}" presName="spaceRect" presStyleCnt="0"/>
      <dgm:spPr/>
    </dgm:pt>
    <dgm:pt modelId="{CAF68ADE-1967-4B1B-AE59-CCED0EBBE06E}" type="pres">
      <dgm:prSet presAssocID="{E5BB54D2-8D38-4C1A-8078-D2114E614F96}" presName="parTx" presStyleLbl="revTx" presStyleIdx="2" presStyleCnt="4">
        <dgm:presLayoutVars>
          <dgm:chMax val="0"/>
          <dgm:chPref val="0"/>
        </dgm:presLayoutVars>
      </dgm:prSet>
      <dgm:spPr/>
    </dgm:pt>
    <dgm:pt modelId="{A68F0A49-6833-4C28-8F64-0998F5E551BB}" type="pres">
      <dgm:prSet presAssocID="{21B2BEF8-4A1B-4D94-B451-19EC26B0E0D1}" presName="sibTrans" presStyleCnt="0"/>
      <dgm:spPr/>
    </dgm:pt>
    <dgm:pt modelId="{4530C929-A2B1-4437-9882-62B9B7479EB3}" type="pres">
      <dgm:prSet presAssocID="{7E6CC6C8-538B-4BAA-80B2-6C61F757C968}" presName="compNode" presStyleCnt="0"/>
      <dgm:spPr/>
    </dgm:pt>
    <dgm:pt modelId="{241FCD7C-7656-4382-B3E1-8D918FC8BD05}" type="pres">
      <dgm:prSet presAssocID="{7E6CC6C8-538B-4BAA-80B2-6C61F757C968}" presName="bgRect" presStyleLbl="bgShp" presStyleIdx="3" presStyleCnt="4"/>
      <dgm:spPr/>
    </dgm:pt>
    <dgm:pt modelId="{9E93CFD5-167C-4D22-ACF9-9A0D98277524}" type="pres">
      <dgm:prSet presAssocID="{7E6CC6C8-538B-4BAA-80B2-6C61F757C96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ions"/>
        </a:ext>
      </dgm:extLst>
    </dgm:pt>
    <dgm:pt modelId="{F14FD373-3A4F-4C26-8158-46633272D348}" type="pres">
      <dgm:prSet presAssocID="{7E6CC6C8-538B-4BAA-80B2-6C61F757C968}" presName="spaceRect" presStyleCnt="0"/>
      <dgm:spPr/>
    </dgm:pt>
    <dgm:pt modelId="{C170A311-3976-486D-8802-EA4050985B08}" type="pres">
      <dgm:prSet presAssocID="{7E6CC6C8-538B-4BAA-80B2-6C61F757C968}" presName="parTx" presStyleLbl="revTx" presStyleIdx="3" presStyleCnt="4">
        <dgm:presLayoutVars>
          <dgm:chMax val="0"/>
          <dgm:chPref val="0"/>
        </dgm:presLayoutVars>
      </dgm:prSet>
      <dgm:spPr/>
    </dgm:pt>
  </dgm:ptLst>
  <dgm:cxnLst>
    <dgm:cxn modelId="{D0626921-8A77-4741-8EC2-7376D0A2F969}" srcId="{D798A116-5961-4CDD-A8C3-B9E56F62818C}" destId="{6D5EE387-C8C1-4C98-98A7-3554FAA6C78A}" srcOrd="1" destOrd="0" parTransId="{8BB5DDCA-166B-4A9E-8A58-93F82392EDB2}" sibTransId="{51612516-0A57-4540-8DA1-4A91833961E6}"/>
    <dgm:cxn modelId="{63A9C923-02B4-4E83-9BC8-786E2FB78A25}" srcId="{D798A116-5961-4CDD-A8C3-B9E56F62818C}" destId="{7E6CC6C8-538B-4BAA-80B2-6C61F757C968}" srcOrd="3" destOrd="0" parTransId="{A2E0E8F7-3E9C-4C9A-A388-ACB4610C4063}" sibTransId="{F46625A8-04DC-4CFC-8930-FB1E21C6A53C}"/>
    <dgm:cxn modelId="{CDB6747E-2121-4308-BC86-1F237B99C41E}" type="presOf" srcId="{7E6CC6C8-538B-4BAA-80B2-6C61F757C968}" destId="{C170A311-3976-486D-8802-EA4050985B08}" srcOrd="0" destOrd="0" presId="urn:microsoft.com/office/officeart/2018/2/layout/IconVerticalSolidList"/>
    <dgm:cxn modelId="{3A371580-3654-4631-A35E-0E3783BE82D7}" type="presOf" srcId="{D798A116-5961-4CDD-A8C3-B9E56F62818C}" destId="{DCD1EAF7-5248-468A-9C02-7111F3ABB0FA}" srcOrd="0" destOrd="0" presId="urn:microsoft.com/office/officeart/2018/2/layout/IconVerticalSolidList"/>
    <dgm:cxn modelId="{1C919A81-3986-4A98-8DCD-63C5C27C91D3}" srcId="{D798A116-5961-4CDD-A8C3-B9E56F62818C}" destId="{76BA4D9B-B681-457C-BE8D-4CC63EC4E4BD}" srcOrd="0" destOrd="0" parTransId="{C345EC7E-6747-4860-B02E-33D5ADA6EB1F}" sibTransId="{A2CD32D9-284E-43FE-8C5B-663C1CDD40D7}"/>
    <dgm:cxn modelId="{260CEF93-A9B1-4069-B8EF-727D51F9E501}" type="presOf" srcId="{76BA4D9B-B681-457C-BE8D-4CC63EC4E4BD}" destId="{9D6F4CD5-4FC0-41CF-AA08-9F559C766696}" srcOrd="0" destOrd="0" presId="urn:microsoft.com/office/officeart/2018/2/layout/IconVerticalSolidList"/>
    <dgm:cxn modelId="{952E2A97-94EA-43A2-9172-7C0F5F637B21}" srcId="{D798A116-5961-4CDD-A8C3-B9E56F62818C}" destId="{E5BB54D2-8D38-4C1A-8078-D2114E614F96}" srcOrd="2" destOrd="0" parTransId="{88E313DC-ACBE-48CB-998C-82431D75E5A8}" sibTransId="{21B2BEF8-4A1B-4D94-B451-19EC26B0E0D1}"/>
    <dgm:cxn modelId="{BA4700A5-33F2-4F82-A86A-9DA8FA0EE7D6}" type="presOf" srcId="{E5BB54D2-8D38-4C1A-8078-D2114E614F96}" destId="{CAF68ADE-1967-4B1B-AE59-CCED0EBBE06E}" srcOrd="0" destOrd="0" presId="urn:microsoft.com/office/officeart/2018/2/layout/IconVerticalSolidList"/>
    <dgm:cxn modelId="{729B43B0-FC69-42CD-B467-93A709FD682B}" type="presOf" srcId="{6D5EE387-C8C1-4C98-98A7-3554FAA6C78A}" destId="{46AE1F3E-1DA8-4556-A4EE-1836695EAE94}" srcOrd="0" destOrd="0" presId="urn:microsoft.com/office/officeart/2018/2/layout/IconVerticalSolidList"/>
    <dgm:cxn modelId="{16200D11-8FBE-4D0E-BABD-F83DDF48F30D}" type="presParOf" srcId="{DCD1EAF7-5248-468A-9C02-7111F3ABB0FA}" destId="{04785E28-B911-4A38-9D4E-33D29B7701D6}" srcOrd="0" destOrd="0" presId="urn:microsoft.com/office/officeart/2018/2/layout/IconVerticalSolidList"/>
    <dgm:cxn modelId="{1C416427-99E3-485B-80CA-725B0D89AE00}" type="presParOf" srcId="{04785E28-B911-4A38-9D4E-33D29B7701D6}" destId="{F42B6042-BCB5-43A4-BFC8-D89EBC841AF3}" srcOrd="0" destOrd="0" presId="urn:microsoft.com/office/officeart/2018/2/layout/IconVerticalSolidList"/>
    <dgm:cxn modelId="{063BEA1F-5ED8-4B68-AB04-2EFF40F1C147}" type="presParOf" srcId="{04785E28-B911-4A38-9D4E-33D29B7701D6}" destId="{BBEE72FF-8AC6-4B4C-8BE3-F83031814817}" srcOrd="1" destOrd="0" presId="urn:microsoft.com/office/officeart/2018/2/layout/IconVerticalSolidList"/>
    <dgm:cxn modelId="{3A81EF8A-9393-44AB-BC79-09373445B8B4}" type="presParOf" srcId="{04785E28-B911-4A38-9D4E-33D29B7701D6}" destId="{6BC1EDA3-7C69-4252-B21B-C73098335A17}" srcOrd="2" destOrd="0" presId="urn:microsoft.com/office/officeart/2018/2/layout/IconVerticalSolidList"/>
    <dgm:cxn modelId="{E0369830-3173-4904-AA84-C01CFAFFB5FA}" type="presParOf" srcId="{04785E28-B911-4A38-9D4E-33D29B7701D6}" destId="{9D6F4CD5-4FC0-41CF-AA08-9F559C766696}" srcOrd="3" destOrd="0" presId="urn:microsoft.com/office/officeart/2018/2/layout/IconVerticalSolidList"/>
    <dgm:cxn modelId="{556AA6D7-5481-4E6C-A69E-1CAB54244702}" type="presParOf" srcId="{DCD1EAF7-5248-468A-9C02-7111F3ABB0FA}" destId="{9FD984BC-4A7E-4C3C-8ED4-9CDECFCFD13D}" srcOrd="1" destOrd="0" presId="urn:microsoft.com/office/officeart/2018/2/layout/IconVerticalSolidList"/>
    <dgm:cxn modelId="{A2C0151A-5D79-4C1A-8DBE-E17051600C2B}" type="presParOf" srcId="{DCD1EAF7-5248-468A-9C02-7111F3ABB0FA}" destId="{11381F32-6ACD-498B-8D59-F8F25402A6D4}" srcOrd="2" destOrd="0" presId="urn:microsoft.com/office/officeart/2018/2/layout/IconVerticalSolidList"/>
    <dgm:cxn modelId="{182F5BD9-728A-4196-88BB-B4E93AA4441A}" type="presParOf" srcId="{11381F32-6ACD-498B-8D59-F8F25402A6D4}" destId="{15369AB9-D147-4319-9B07-87A5835FF0AC}" srcOrd="0" destOrd="0" presId="urn:microsoft.com/office/officeart/2018/2/layout/IconVerticalSolidList"/>
    <dgm:cxn modelId="{9450CADB-6756-45A4-832B-55A7898F1F3B}" type="presParOf" srcId="{11381F32-6ACD-498B-8D59-F8F25402A6D4}" destId="{727748F1-63B6-476B-9DED-270A389598CD}" srcOrd="1" destOrd="0" presId="urn:microsoft.com/office/officeart/2018/2/layout/IconVerticalSolidList"/>
    <dgm:cxn modelId="{5488B3DC-AD38-4AC6-AFAD-0DFA603CAF12}" type="presParOf" srcId="{11381F32-6ACD-498B-8D59-F8F25402A6D4}" destId="{B2899E71-0385-41E1-8F22-47F1C71304EB}" srcOrd="2" destOrd="0" presId="urn:microsoft.com/office/officeart/2018/2/layout/IconVerticalSolidList"/>
    <dgm:cxn modelId="{32939CD3-B892-4B0E-BA7B-6EDBE78E4EA5}" type="presParOf" srcId="{11381F32-6ACD-498B-8D59-F8F25402A6D4}" destId="{46AE1F3E-1DA8-4556-A4EE-1836695EAE94}" srcOrd="3" destOrd="0" presId="urn:microsoft.com/office/officeart/2018/2/layout/IconVerticalSolidList"/>
    <dgm:cxn modelId="{7B8DFE23-1F1D-4AD3-8FD2-252145DB52A2}" type="presParOf" srcId="{DCD1EAF7-5248-468A-9C02-7111F3ABB0FA}" destId="{2A83D0C0-2DC7-46C6-AC1B-3C5779AF503C}" srcOrd="3" destOrd="0" presId="urn:microsoft.com/office/officeart/2018/2/layout/IconVerticalSolidList"/>
    <dgm:cxn modelId="{A96F8F39-5F86-46F4-81BA-381E262F31CF}" type="presParOf" srcId="{DCD1EAF7-5248-468A-9C02-7111F3ABB0FA}" destId="{163E8874-1620-4D43-BB72-52879BD11298}" srcOrd="4" destOrd="0" presId="urn:microsoft.com/office/officeart/2018/2/layout/IconVerticalSolidList"/>
    <dgm:cxn modelId="{86E775ED-1725-4A0F-A989-5E7D4ADAB285}" type="presParOf" srcId="{163E8874-1620-4D43-BB72-52879BD11298}" destId="{5844E4EC-692A-4C96-A09D-E5A2CCEFF1CB}" srcOrd="0" destOrd="0" presId="urn:microsoft.com/office/officeart/2018/2/layout/IconVerticalSolidList"/>
    <dgm:cxn modelId="{747F89F3-B332-4E9B-9433-61A0F0E3A247}" type="presParOf" srcId="{163E8874-1620-4D43-BB72-52879BD11298}" destId="{01ECEF87-B224-4E57-A02F-D94782179020}" srcOrd="1" destOrd="0" presId="urn:microsoft.com/office/officeart/2018/2/layout/IconVerticalSolidList"/>
    <dgm:cxn modelId="{4B04E8DA-F831-4DA7-A8E3-2EDB487821E3}" type="presParOf" srcId="{163E8874-1620-4D43-BB72-52879BD11298}" destId="{FB49E282-778A-4EA8-99D6-8642AA9CCF3A}" srcOrd="2" destOrd="0" presId="urn:microsoft.com/office/officeart/2018/2/layout/IconVerticalSolidList"/>
    <dgm:cxn modelId="{5EE37CAA-48A5-4056-A012-5C5FFFF34424}" type="presParOf" srcId="{163E8874-1620-4D43-BB72-52879BD11298}" destId="{CAF68ADE-1967-4B1B-AE59-CCED0EBBE06E}" srcOrd="3" destOrd="0" presId="urn:microsoft.com/office/officeart/2018/2/layout/IconVerticalSolidList"/>
    <dgm:cxn modelId="{6139EF09-6263-43CE-9E7B-F92F38228D2A}" type="presParOf" srcId="{DCD1EAF7-5248-468A-9C02-7111F3ABB0FA}" destId="{A68F0A49-6833-4C28-8F64-0998F5E551BB}" srcOrd="5" destOrd="0" presId="urn:microsoft.com/office/officeart/2018/2/layout/IconVerticalSolidList"/>
    <dgm:cxn modelId="{0E9E71B5-B8E4-43CC-B7BF-DEE95F1ABED4}" type="presParOf" srcId="{DCD1EAF7-5248-468A-9C02-7111F3ABB0FA}" destId="{4530C929-A2B1-4437-9882-62B9B7479EB3}" srcOrd="6" destOrd="0" presId="urn:microsoft.com/office/officeart/2018/2/layout/IconVerticalSolidList"/>
    <dgm:cxn modelId="{CE2E2210-552C-42A4-943A-625F67498C6B}" type="presParOf" srcId="{4530C929-A2B1-4437-9882-62B9B7479EB3}" destId="{241FCD7C-7656-4382-B3E1-8D918FC8BD05}" srcOrd="0" destOrd="0" presId="urn:microsoft.com/office/officeart/2018/2/layout/IconVerticalSolidList"/>
    <dgm:cxn modelId="{1BB0F3D6-FA17-443B-8103-73D0F5AF6831}" type="presParOf" srcId="{4530C929-A2B1-4437-9882-62B9B7479EB3}" destId="{9E93CFD5-167C-4D22-ACF9-9A0D98277524}" srcOrd="1" destOrd="0" presId="urn:microsoft.com/office/officeart/2018/2/layout/IconVerticalSolidList"/>
    <dgm:cxn modelId="{EAA9A314-A993-403D-A441-2FB3AFB21313}" type="presParOf" srcId="{4530C929-A2B1-4437-9882-62B9B7479EB3}" destId="{F14FD373-3A4F-4C26-8158-46633272D348}" srcOrd="2" destOrd="0" presId="urn:microsoft.com/office/officeart/2018/2/layout/IconVerticalSolidList"/>
    <dgm:cxn modelId="{3B134220-0818-4186-A323-35F5737C2239}" type="presParOf" srcId="{4530C929-A2B1-4437-9882-62B9B7479EB3}" destId="{C170A311-3976-486D-8802-EA4050985B0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C56B247-DDD0-4DB6-AF7D-FB6287154CBF}" type="doc">
      <dgm:prSet loTypeId="urn:microsoft.com/office/officeart/2005/8/layout/vList2" loCatId="list" qsTypeId="urn:microsoft.com/office/officeart/2005/8/quickstyle/simple1" qsCatId="simple" csTypeId="urn:microsoft.com/office/officeart/2005/8/colors/accent1_2" csCatId="accent1"/>
      <dgm:spPr/>
      <dgm:t xml:space="preserve">
        <a:bodyPr/>
        <a:lstStyle/>
        <a:p>
          <a:endParaRPr lang="en-US"/>
        </a:p>
      </dgm:t>
    </dgm:pt>
    <dgm:pt modelId="{EF051C7E-787F-447D-9800-05FCD8D70701}">
      <dgm:prSet/>
      <dgm:spPr/>
      <dgm:t xml:space="preserve">
        <a:bodyPr/>
        <a:lstStyle/>
        <a:p>
          <a:r>
            <a:rPr lang="en-US" dirty="0"/>
            <a:t>Is there a relationship between grade level and extracurricular activity?</a:t>
          </a:r>
        </a:p>
      </dgm:t>
    </dgm:pt>
    <dgm:pt modelId="{6AE2BD77-6466-4E2B-B14F-AFF3CC7A4D7C}" type="parTrans" cxnId="{63943648-E0BB-4354-8A36-63778CB442F4}">
      <dgm:prSet/>
      <dgm:spPr/>
      <dgm:t xml:space="preserve">
        <a:bodyPr/>
        <a:lstStyle/>
        <a:p>
          <a:endParaRPr lang="en-US"/>
        </a:p>
      </dgm:t>
    </dgm:pt>
    <dgm:pt modelId="{892C86B4-7F05-4A1D-9B25-9C2FD1CE20CE}" type="sibTrans" cxnId="{63943648-E0BB-4354-8A36-63778CB442F4}">
      <dgm:prSet/>
      <dgm:spPr/>
      <dgm:t xml:space="preserve">
        <a:bodyPr/>
        <a:lstStyle/>
        <a:p>
          <a:endParaRPr lang="en-US"/>
        </a:p>
      </dgm:t>
    </dgm:pt>
    <dgm:pt modelId="{789E780F-947D-4D70-990F-9F371D50D21E}">
      <dgm:prSet/>
      <dgm:spPr/>
      <dgm:t xml:space="preserve">
        <a:bodyPr/>
        <a:lstStyle/>
        <a:p>
          <a:r>
            <a:rPr lang="en-US"/>
            <a:t>Make a small table of counts for each combination.</a:t>
          </a:r>
        </a:p>
      </dgm:t>
    </dgm:pt>
    <dgm:pt modelId="{7A21DCBE-7C60-41F8-ADCF-755CBAC90EBE}" type="parTrans" cxnId="{0C4FFD98-766E-4937-B899-20E45705CE51}">
      <dgm:prSet/>
      <dgm:spPr/>
      <dgm:t xml:space="preserve">
        <a:bodyPr/>
        <a:lstStyle/>
        <a:p>
          <a:endParaRPr lang="en-US"/>
        </a:p>
      </dgm:t>
    </dgm:pt>
    <dgm:pt modelId="{D917146F-D4CB-4CDD-82C2-815D59A53699}" type="sibTrans" cxnId="{0C4FFD98-766E-4937-B899-20E45705CE51}">
      <dgm:prSet/>
      <dgm:spPr/>
      <dgm:t xml:space="preserve">
        <a:bodyPr/>
        <a:lstStyle/>
        <a:p>
          <a:endParaRPr lang="en-US"/>
        </a:p>
      </dgm:t>
    </dgm:pt>
    <dgm:pt modelId="{F0669566-79CE-445C-A6D1-E547751C6361}">
      <dgm:prSet/>
      <dgm:spPr/>
      <dgm:t xml:space="preserve">
        <a:bodyPr/>
        <a:lstStyle/>
        <a:p>
          <a:r>
            <a:rPr lang="en-US"/>
            <a:t>Create a bar chart.</a:t>
          </a:r>
        </a:p>
      </dgm:t>
    </dgm:pt>
    <dgm:pt modelId="{54821AB8-A8E7-4978-8D1D-7CA4EADABBA5}" type="parTrans" cxnId="{83143264-BA7A-45C9-ADB1-3532839E9882}">
      <dgm:prSet/>
      <dgm:spPr/>
      <dgm:t xml:space="preserve">
        <a:bodyPr/>
        <a:lstStyle/>
        <a:p>
          <a:endParaRPr lang="en-US"/>
        </a:p>
      </dgm:t>
    </dgm:pt>
    <dgm:pt modelId="{4614611A-62A2-439A-9E96-B96C9A8E35A7}" type="sibTrans" cxnId="{83143264-BA7A-45C9-ADB1-3532839E9882}">
      <dgm:prSet/>
      <dgm:spPr/>
      <dgm:t xml:space="preserve">
        <a:bodyPr/>
        <a:lstStyle/>
        <a:p>
          <a:endParaRPr lang="en-US"/>
        </a:p>
      </dgm:t>
    </dgm:pt>
    <dgm:pt modelId="{AFFB86C0-E61D-B94C-8A0D-58CEBAEA6F51}" type="pres">
      <dgm:prSet presAssocID="{EC56B247-DDD0-4DB6-AF7D-FB6287154CBF}" presName="linear" presStyleCnt="0">
        <dgm:presLayoutVars>
          <dgm:animLvl val="lvl"/>
          <dgm:resizeHandles val="exact"/>
        </dgm:presLayoutVars>
      </dgm:prSet>
      <dgm:spPr/>
    </dgm:pt>
    <dgm:pt modelId="{FD8E898F-22CD-CB4B-9221-650BE169A071}" type="pres">
      <dgm:prSet presAssocID="{EF051C7E-787F-447D-9800-05FCD8D70701}" presName="parentText" presStyleLbl="node1" presStyleIdx="0" presStyleCnt="3">
        <dgm:presLayoutVars>
          <dgm:chMax val="0"/>
          <dgm:bulletEnabled val="1"/>
        </dgm:presLayoutVars>
      </dgm:prSet>
      <dgm:spPr/>
    </dgm:pt>
    <dgm:pt modelId="{95B938D1-E088-FC4B-9FE8-64C5C3647C92}" type="pres">
      <dgm:prSet presAssocID="{892C86B4-7F05-4A1D-9B25-9C2FD1CE20CE}" presName="spacer" presStyleCnt="0"/>
      <dgm:spPr/>
    </dgm:pt>
    <dgm:pt modelId="{833FBBCC-64D8-6049-9F7E-08BF7132C571}" type="pres">
      <dgm:prSet presAssocID="{789E780F-947D-4D70-990F-9F371D50D21E}" presName="parentText" presStyleLbl="node1" presStyleIdx="1" presStyleCnt="3">
        <dgm:presLayoutVars>
          <dgm:chMax val="0"/>
          <dgm:bulletEnabled val="1"/>
        </dgm:presLayoutVars>
      </dgm:prSet>
      <dgm:spPr/>
    </dgm:pt>
    <dgm:pt modelId="{561E27FE-5101-ED41-A74A-92E50AA78205}" type="pres">
      <dgm:prSet presAssocID="{D917146F-D4CB-4CDD-82C2-815D59A53699}" presName="spacer" presStyleCnt="0"/>
      <dgm:spPr/>
    </dgm:pt>
    <dgm:pt modelId="{7B2D44AC-14A4-6B45-9698-20BF1E302EF8}" type="pres">
      <dgm:prSet presAssocID="{F0669566-79CE-445C-A6D1-E547751C6361}" presName="parentText" presStyleLbl="node1" presStyleIdx="2" presStyleCnt="3">
        <dgm:presLayoutVars>
          <dgm:chMax val="0"/>
          <dgm:bulletEnabled val="1"/>
        </dgm:presLayoutVars>
      </dgm:prSet>
      <dgm:spPr/>
    </dgm:pt>
  </dgm:ptLst>
  <dgm:cxnLst>
    <dgm:cxn modelId="{83143264-BA7A-45C9-ADB1-3532839E9882}" srcId="{EC56B247-DDD0-4DB6-AF7D-FB6287154CBF}" destId="{F0669566-79CE-445C-A6D1-E547751C6361}" srcOrd="2" destOrd="0" parTransId="{54821AB8-A8E7-4978-8D1D-7CA4EADABBA5}" sibTransId="{4614611A-62A2-439A-9E96-B96C9A8E35A7}"/>
    <dgm:cxn modelId="{63943648-E0BB-4354-8A36-63778CB442F4}" srcId="{EC56B247-DDD0-4DB6-AF7D-FB6287154CBF}" destId="{EF051C7E-787F-447D-9800-05FCD8D70701}" srcOrd="0" destOrd="0" parTransId="{6AE2BD77-6466-4E2B-B14F-AFF3CC7A4D7C}" sibTransId="{892C86B4-7F05-4A1D-9B25-9C2FD1CE20CE}"/>
    <dgm:cxn modelId="{4B880C50-A7D5-7E45-9BA7-8603F115CC28}" type="presOf" srcId="{F0669566-79CE-445C-A6D1-E547751C6361}" destId="{7B2D44AC-14A4-6B45-9698-20BF1E302EF8}" srcOrd="0" destOrd="0" presId="urn:microsoft.com/office/officeart/2005/8/layout/vList2"/>
    <dgm:cxn modelId="{0C4FFD98-766E-4937-B899-20E45705CE51}" srcId="{EC56B247-DDD0-4DB6-AF7D-FB6287154CBF}" destId="{789E780F-947D-4D70-990F-9F371D50D21E}" srcOrd="1" destOrd="0" parTransId="{7A21DCBE-7C60-41F8-ADCF-755CBAC90EBE}" sibTransId="{D917146F-D4CB-4CDD-82C2-815D59A53699}"/>
    <dgm:cxn modelId="{6CFE08A5-9071-AF47-9A4E-4BE038A4DF31}" type="presOf" srcId="{EC56B247-DDD0-4DB6-AF7D-FB6287154CBF}" destId="{AFFB86C0-E61D-B94C-8A0D-58CEBAEA6F51}" srcOrd="0" destOrd="0" presId="urn:microsoft.com/office/officeart/2005/8/layout/vList2"/>
    <dgm:cxn modelId="{D20391C5-FB02-8548-AC37-61CDD6FEB6F5}" type="presOf" srcId="{EF051C7E-787F-447D-9800-05FCD8D70701}" destId="{FD8E898F-22CD-CB4B-9221-650BE169A071}" srcOrd="0" destOrd="0" presId="urn:microsoft.com/office/officeart/2005/8/layout/vList2"/>
    <dgm:cxn modelId="{198BB8DE-68AC-F242-9123-B5EFEFC1A286}" type="presOf" srcId="{789E780F-947D-4D70-990F-9F371D50D21E}" destId="{833FBBCC-64D8-6049-9F7E-08BF7132C571}" srcOrd="0" destOrd="0" presId="urn:microsoft.com/office/officeart/2005/8/layout/vList2"/>
    <dgm:cxn modelId="{58AA598F-A413-6C4B-8FF8-1BE653AE2259}" type="presParOf" srcId="{AFFB86C0-E61D-B94C-8A0D-58CEBAEA6F51}" destId="{FD8E898F-22CD-CB4B-9221-650BE169A071}" srcOrd="0" destOrd="0" presId="urn:microsoft.com/office/officeart/2005/8/layout/vList2"/>
    <dgm:cxn modelId="{4AB8D9E8-063F-0D49-9208-B3C5EFB498DC}" type="presParOf" srcId="{AFFB86C0-E61D-B94C-8A0D-58CEBAEA6F51}" destId="{95B938D1-E088-FC4B-9FE8-64C5C3647C92}" srcOrd="1" destOrd="0" presId="urn:microsoft.com/office/officeart/2005/8/layout/vList2"/>
    <dgm:cxn modelId="{CEB57E3C-46A8-FE4C-9D14-1C77FE9EBD4A}" type="presParOf" srcId="{AFFB86C0-E61D-B94C-8A0D-58CEBAEA6F51}" destId="{833FBBCC-64D8-6049-9F7E-08BF7132C571}" srcOrd="2" destOrd="0" presId="urn:microsoft.com/office/officeart/2005/8/layout/vList2"/>
    <dgm:cxn modelId="{C2B826B0-3027-8C46-871E-4FFF335FFA46}" type="presParOf" srcId="{AFFB86C0-E61D-B94C-8A0D-58CEBAEA6F51}" destId="{561E27FE-5101-ED41-A74A-92E50AA78205}" srcOrd="3" destOrd="0" presId="urn:microsoft.com/office/officeart/2005/8/layout/vList2"/>
    <dgm:cxn modelId="{5E81EB70-3DA5-C744-AAAE-0C4AA1862A4E}" type="presParOf" srcId="{AFFB86C0-E61D-B94C-8A0D-58CEBAEA6F51}" destId="{7B2D44AC-14A4-6B45-9698-20BF1E302EF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746569A-D180-4F35-9F87-5773FD52F49E}" type="doc">
      <dgm:prSet loTypeId="urn:microsoft.com/office/officeart/2005/8/layout/process4" loCatId="process" qsTypeId="urn:microsoft.com/office/officeart/2005/8/quickstyle/simple1" qsCatId="simple" csTypeId="urn:microsoft.com/office/officeart/2005/8/colors/accent1_2" csCatId="accent1"/>
      <dgm:spPr/>
      <dgm:t xml:space="preserve">
        <a:bodyPr/>
        <a:lstStyle/>
        <a:p>
          <a:endParaRPr lang="en-US"/>
        </a:p>
      </dgm:t>
    </dgm:pt>
    <dgm:pt modelId="{5FA86B24-C5D7-4954-9FAA-FEA75E68361E}">
      <dgm:prSet/>
      <dgm:spPr/>
      <dgm:t xml:space="preserve">
        <a:bodyPr/>
        <a:lstStyle/>
        <a:p>
          <a:r>
            <a:rPr lang="en-US"/>
            <a:t>Use highschool_student_survey.csv</a:t>
          </a:r>
        </a:p>
      </dgm:t>
    </dgm:pt>
    <dgm:pt modelId="{25E93A72-3E9F-40A9-9E9B-5E3B71155198}" type="parTrans" cxnId="{4B7441C8-42D8-48BA-8C77-DFADB9CC3A45}">
      <dgm:prSet/>
      <dgm:spPr/>
      <dgm:t xml:space="preserve">
        <a:bodyPr/>
        <a:lstStyle/>
        <a:p>
          <a:endParaRPr lang="en-US"/>
        </a:p>
      </dgm:t>
    </dgm:pt>
    <dgm:pt modelId="{EAEBC3CC-8209-4581-9907-FCB4A281800D}" type="sibTrans" cxnId="{4B7441C8-42D8-48BA-8C77-DFADB9CC3A45}">
      <dgm:prSet/>
      <dgm:spPr/>
      <dgm:t xml:space="preserve">
        <a:bodyPr/>
        <a:lstStyle/>
        <a:p>
          <a:endParaRPr lang="en-US"/>
        </a:p>
      </dgm:t>
    </dgm:pt>
    <dgm:pt modelId="{A5635AA9-1D6F-4DF6-B847-7191AFDB3744}">
      <dgm:prSet/>
      <dgm:spPr/>
      <dgm:t xml:space="preserve">
        <a:bodyPr/>
        <a:lstStyle/>
        <a:p>
          <a:r>
            <a:rPr lang="en-US"/>
            <a:t>Explore this dataset to find interesting patterns and insights about student life and academic performance.</a:t>
          </a:r>
        </a:p>
      </dgm:t>
    </dgm:pt>
    <dgm:pt modelId="{E8F47D89-650F-4A3F-88F1-56714DFD86D5}" type="parTrans" cxnId="{1CF81B31-738C-46B3-AB1E-F691379A40A6}">
      <dgm:prSet/>
      <dgm:spPr/>
      <dgm:t xml:space="preserve">
        <a:bodyPr/>
        <a:lstStyle/>
        <a:p>
          <a:endParaRPr lang="en-US"/>
        </a:p>
      </dgm:t>
    </dgm:pt>
    <dgm:pt modelId="{2358D950-8637-4A94-8846-3E15B39102D7}" type="sibTrans" cxnId="{1CF81B31-738C-46B3-AB1E-F691379A40A6}">
      <dgm:prSet/>
      <dgm:spPr/>
      <dgm:t xml:space="preserve">
        <a:bodyPr/>
        <a:lstStyle/>
        <a:p>
          <a:endParaRPr lang="en-US"/>
        </a:p>
      </dgm:t>
    </dgm:pt>
    <dgm:pt modelId="{1979AD70-C6BB-45EA-BAAA-5003F4AAB249}">
      <dgm:prSet/>
      <dgm:spPr/>
      <dgm:t xml:space="preserve">
        <a:bodyPr/>
        <a:lstStyle/>
        <a:p>
          <a:r>
            <a:rPr lang="en-US"/>
            <a:t>The Dataset</a:t>
          </a:r>
        </a:p>
      </dgm:t>
    </dgm:pt>
    <dgm:pt modelId="{48A7E52B-B5D0-4C6C-9754-D1F3B9EAB571}" type="parTrans" cxnId="{554D33D1-7B78-420C-8007-1DD3A3FA0311}">
      <dgm:prSet/>
      <dgm:spPr/>
      <dgm:t xml:space="preserve">
        <a:bodyPr/>
        <a:lstStyle/>
        <a:p>
          <a:endParaRPr lang="en-US"/>
        </a:p>
      </dgm:t>
    </dgm:pt>
    <dgm:pt modelId="{4B52D68E-74FC-4799-9979-8B879214F814}" type="sibTrans" cxnId="{554D33D1-7B78-420C-8007-1DD3A3FA0311}">
      <dgm:prSet/>
      <dgm:spPr/>
      <dgm:t xml:space="preserve">
        <a:bodyPr/>
        <a:lstStyle/>
        <a:p>
          <a:endParaRPr lang="en-US"/>
        </a:p>
      </dgm:t>
    </dgm:pt>
    <dgm:pt modelId="{7EF46458-ED67-48FE-8C32-1AB577BF1053}">
      <dgm:prSet/>
      <dgm:spPr/>
      <dgm:t xml:space="preserve">
        <a:bodyPr/>
        <a:lstStyle/>
        <a:p>
          <a:r>
            <a:rPr lang="en-US"/>
            <a:t>Hours of homework per week</a:t>
          </a:r>
        </a:p>
      </dgm:t>
    </dgm:pt>
    <dgm:pt modelId="{3BC7E099-06B4-4315-BBA8-D3CE72C8A95D}" type="parTrans" cxnId="{36D16806-32B4-4A91-8DF7-9344AC893A4C}">
      <dgm:prSet/>
      <dgm:spPr/>
      <dgm:t xml:space="preserve">
        <a:bodyPr/>
        <a:lstStyle/>
        <a:p>
          <a:endParaRPr lang="en-US"/>
        </a:p>
      </dgm:t>
    </dgm:pt>
    <dgm:pt modelId="{036F8863-36C3-46BA-8567-6F170F3BDCC4}" type="sibTrans" cxnId="{36D16806-32B4-4A91-8DF7-9344AC893A4C}">
      <dgm:prSet/>
      <dgm:spPr/>
      <dgm:t xml:space="preserve">
        <a:bodyPr/>
        <a:lstStyle/>
        <a:p>
          <a:endParaRPr lang="en-US"/>
        </a:p>
      </dgm:t>
    </dgm:pt>
    <dgm:pt modelId="{B3A48939-95CE-4B8D-BFBE-081AD6F7C375}">
      <dgm:prSet/>
      <dgm:spPr/>
      <dgm:t xml:space="preserve">
        <a:bodyPr/>
        <a:lstStyle/>
        <a:p>
          <a:r>
            <a:rPr lang="en-US"/>
            <a:t>GPA</a:t>
          </a:r>
        </a:p>
      </dgm:t>
    </dgm:pt>
    <dgm:pt modelId="{D1F7C7BA-320F-49CF-A6D2-B0B7C01A9237}" type="parTrans" cxnId="{03EC486E-348B-4316-84B1-08F29F7644E9}">
      <dgm:prSet/>
      <dgm:spPr/>
      <dgm:t xml:space="preserve">
        <a:bodyPr/>
        <a:lstStyle/>
        <a:p>
          <a:endParaRPr lang="en-US"/>
        </a:p>
      </dgm:t>
    </dgm:pt>
    <dgm:pt modelId="{9EFE0339-5B01-4375-B890-70EDBB270B65}" type="sibTrans" cxnId="{03EC486E-348B-4316-84B1-08F29F7644E9}">
      <dgm:prSet/>
      <dgm:spPr/>
      <dgm:t xml:space="preserve">
        <a:bodyPr/>
        <a:lstStyle/>
        <a:p>
          <a:endParaRPr lang="en-US"/>
        </a:p>
      </dgm:t>
    </dgm:pt>
    <dgm:pt modelId="{A4D098D7-6CCE-42D9-9387-176B04C01743}">
      <dgm:prSet/>
      <dgm:spPr/>
      <dgm:t xml:space="preserve">
        <a:bodyPr/>
        <a:lstStyle/>
        <a:p>
          <a:r>
            <a:rPr lang="en-US"/>
            <a:t>Hours of sleep per night</a:t>
          </a:r>
        </a:p>
      </dgm:t>
    </dgm:pt>
    <dgm:pt modelId="{6D7E15BB-B98B-4455-BA8F-5CEAF9CDA410}" type="parTrans" cxnId="{F6C50EC3-25AC-49FC-80F2-1AC0B250CDDF}">
      <dgm:prSet/>
      <dgm:spPr/>
      <dgm:t xml:space="preserve">
        <a:bodyPr/>
        <a:lstStyle/>
        <a:p>
          <a:endParaRPr lang="en-US"/>
        </a:p>
      </dgm:t>
    </dgm:pt>
    <dgm:pt modelId="{FDF4A674-B9EB-4BE9-B454-54F9ECA1A89A}" type="sibTrans" cxnId="{F6C50EC3-25AC-49FC-80F2-1AC0B250CDDF}">
      <dgm:prSet/>
      <dgm:spPr/>
      <dgm:t xml:space="preserve">
        <a:bodyPr/>
        <a:lstStyle/>
        <a:p>
          <a:endParaRPr lang="en-US"/>
        </a:p>
      </dgm:t>
    </dgm:pt>
    <dgm:pt modelId="{C2DEF42F-ED72-41E6-A585-1B14E4E480FF}">
      <dgm:prSet/>
      <dgm:spPr/>
      <dgm:t xml:space="preserve">
        <a:bodyPr/>
        <a:lstStyle/>
        <a:p>
          <a:r>
            <a:rPr lang="en-US"/>
            <a:t>Grade level (9,10, 11, 12)</a:t>
          </a:r>
        </a:p>
      </dgm:t>
    </dgm:pt>
    <dgm:pt modelId="{82407EAD-0C18-4798-99CF-592B5A21AA6B}" type="parTrans" cxnId="{B56202D7-4C08-4D00-B9B4-1EF356DFAEDF}">
      <dgm:prSet/>
      <dgm:spPr/>
      <dgm:t xml:space="preserve">
        <a:bodyPr/>
        <a:lstStyle/>
        <a:p>
          <a:endParaRPr lang="en-US"/>
        </a:p>
      </dgm:t>
    </dgm:pt>
    <dgm:pt modelId="{7415F50B-494D-42A4-B29F-1B3843F9FAA5}" type="sibTrans" cxnId="{B56202D7-4C08-4D00-B9B4-1EF356DFAEDF}">
      <dgm:prSet/>
      <dgm:spPr/>
      <dgm:t xml:space="preserve">
        <a:bodyPr/>
        <a:lstStyle/>
        <a:p>
          <a:endParaRPr lang="en-US"/>
        </a:p>
      </dgm:t>
    </dgm:pt>
    <dgm:pt modelId="{DEAB725C-7938-4387-AF90-1759FA729CE7}">
      <dgm:prSet/>
      <dgm:spPr/>
      <dgm:t xml:space="preserve">
        <a:bodyPr/>
        <a:lstStyle/>
        <a:p>
          <a:r>
            <a:rPr lang="en-US"/>
            <a:t>Gender</a:t>
          </a:r>
        </a:p>
      </dgm:t>
    </dgm:pt>
    <dgm:pt modelId="{53E9800E-43EF-4184-B583-BC2784A0AD0B}" type="parTrans" cxnId="{48DF9008-579A-497A-A430-4CFB814D2D81}">
      <dgm:prSet/>
      <dgm:spPr/>
      <dgm:t xml:space="preserve">
        <a:bodyPr/>
        <a:lstStyle/>
        <a:p>
          <a:endParaRPr lang="en-US"/>
        </a:p>
      </dgm:t>
    </dgm:pt>
    <dgm:pt modelId="{54A943B3-8E9D-4BBA-8EA5-6A4D1FBA401C}" type="sibTrans" cxnId="{48DF9008-579A-497A-A430-4CFB814D2D81}">
      <dgm:prSet/>
      <dgm:spPr/>
      <dgm:t xml:space="preserve">
        <a:bodyPr/>
        <a:lstStyle/>
        <a:p>
          <a:endParaRPr lang="en-US"/>
        </a:p>
      </dgm:t>
    </dgm:pt>
    <dgm:pt modelId="{A1BA91A3-FE81-4FFB-9CAE-CDB716506FA9}">
      <dgm:prSet/>
      <dgm:spPr/>
      <dgm:t xml:space="preserve">
        <a:bodyPr/>
        <a:lstStyle/>
        <a:p>
          <a:r>
            <a:rPr lang="en-US"/>
            <a:t>Extracurricular participation (Yes/No)</a:t>
          </a:r>
        </a:p>
      </dgm:t>
    </dgm:pt>
    <dgm:pt modelId="{F1C944CE-0DEE-4E77-A516-7D8FBB50DD00}" type="parTrans" cxnId="{CBD007E9-5CB0-4B26-BFFD-ED0BD14CE346}">
      <dgm:prSet/>
      <dgm:spPr/>
      <dgm:t xml:space="preserve">
        <a:bodyPr/>
        <a:lstStyle/>
        <a:p>
          <a:endParaRPr lang="en-US"/>
        </a:p>
      </dgm:t>
    </dgm:pt>
    <dgm:pt modelId="{43C700CF-A932-4BD1-8511-4ED547DEBA44}" type="sibTrans" cxnId="{CBD007E9-5CB0-4B26-BFFD-ED0BD14CE346}">
      <dgm:prSet/>
      <dgm:spPr/>
      <dgm:t xml:space="preserve">
        <a:bodyPr/>
        <a:lstStyle/>
        <a:p>
          <a:endParaRPr lang="en-US"/>
        </a:p>
      </dgm:t>
    </dgm:pt>
    <dgm:pt modelId="{549C02EF-CF96-4D4E-974C-D3403705906F}" type="pres">
      <dgm:prSet presAssocID="{C746569A-D180-4F35-9F87-5773FD52F49E}" presName="Name0" presStyleCnt="0">
        <dgm:presLayoutVars>
          <dgm:dir/>
          <dgm:animLvl val="lvl"/>
          <dgm:resizeHandles val="exact"/>
        </dgm:presLayoutVars>
      </dgm:prSet>
      <dgm:spPr/>
    </dgm:pt>
    <dgm:pt modelId="{36E34206-205B-5847-BF41-8A30D44EF18B}" type="pres">
      <dgm:prSet presAssocID="{1979AD70-C6BB-45EA-BAAA-5003F4AAB249}" presName="boxAndChildren" presStyleCnt="0"/>
      <dgm:spPr/>
    </dgm:pt>
    <dgm:pt modelId="{DA069966-DF13-9F40-8E5F-26CE3C955710}" type="pres">
      <dgm:prSet presAssocID="{1979AD70-C6BB-45EA-BAAA-5003F4AAB249}" presName="parentTextBox" presStyleLbl="node1" presStyleIdx="0" presStyleCnt="3"/>
      <dgm:spPr/>
    </dgm:pt>
    <dgm:pt modelId="{D6CD5692-E780-5641-97B4-ECE53F17AE84}" type="pres">
      <dgm:prSet presAssocID="{1979AD70-C6BB-45EA-BAAA-5003F4AAB249}" presName="entireBox" presStyleLbl="node1" presStyleIdx="0" presStyleCnt="3"/>
      <dgm:spPr/>
    </dgm:pt>
    <dgm:pt modelId="{EAD1AE08-12DE-E24C-BC9E-03C398A246FB}" type="pres">
      <dgm:prSet presAssocID="{1979AD70-C6BB-45EA-BAAA-5003F4AAB249}" presName="descendantBox" presStyleCnt="0"/>
      <dgm:spPr/>
    </dgm:pt>
    <dgm:pt modelId="{8FA80421-7A1F-4E4A-974F-E644CF5A4BB9}" type="pres">
      <dgm:prSet presAssocID="{7EF46458-ED67-48FE-8C32-1AB577BF1053}" presName="childTextBox" presStyleLbl="fgAccFollowNode1" presStyleIdx="0" presStyleCnt="6">
        <dgm:presLayoutVars>
          <dgm:bulletEnabled val="1"/>
        </dgm:presLayoutVars>
      </dgm:prSet>
      <dgm:spPr/>
    </dgm:pt>
    <dgm:pt modelId="{0D757A82-E4A6-DA4D-821F-A78A3AB45A15}" type="pres">
      <dgm:prSet presAssocID="{B3A48939-95CE-4B8D-BFBE-081AD6F7C375}" presName="childTextBox" presStyleLbl="fgAccFollowNode1" presStyleIdx="1" presStyleCnt="6">
        <dgm:presLayoutVars>
          <dgm:bulletEnabled val="1"/>
        </dgm:presLayoutVars>
      </dgm:prSet>
      <dgm:spPr/>
    </dgm:pt>
    <dgm:pt modelId="{B80A87E7-651F-F846-A636-027A77620E5D}" type="pres">
      <dgm:prSet presAssocID="{A4D098D7-6CCE-42D9-9387-176B04C01743}" presName="childTextBox" presStyleLbl="fgAccFollowNode1" presStyleIdx="2" presStyleCnt="6">
        <dgm:presLayoutVars>
          <dgm:bulletEnabled val="1"/>
        </dgm:presLayoutVars>
      </dgm:prSet>
      <dgm:spPr/>
    </dgm:pt>
    <dgm:pt modelId="{969E4E10-7A93-1648-8470-B333F11C4EB7}" type="pres">
      <dgm:prSet presAssocID="{C2DEF42F-ED72-41E6-A585-1B14E4E480FF}" presName="childTextBox" presStyleLbl="fgAccFollowNode1" presStyleIdx="3" presStyleCnt="6">
        <dgm:presLayoutVars>
          <dgm:bulletEnabled val="1"/>
        </dgm:presLayoutVars>
      </dgm:prSet>
      <dgm:spPr/>
    </dgm:pt>
    <dgm:pt modelId="{AD63EB60-1C3E-B246-AEBE-2E54872AB858}" type="pres">
      <dgm:prSet presAssocID="{DEAB725C-7938-4387-AF90-1759FA729CE7}" presName="childTextBox" presStyleLbl="fgAccFollowNode1" presStyleIdx="4" presStyleCnt="6">
        <dgm:presLayoutVars>
          <dgm:bulletEnabled val="1"/>
        </dgm:presLayoutVars>
      </dgm:prSet>
      <dgm:spPr/>
    </dgm:pt>
    <dgm:pt modelId="{72150350-596A-3B4F-9A07-FF4399E7B1D7}" type="pres">
      <dgm:prSet presAssocID="{A1BA91A3-FE81-4FFB-9CAE-CDB716506FA9}" presName="childTextBox" presStyleLbl="fgAccFollowNode1" presStyleIdx="5" presStyleCnt="6">
        <dgm:presLayoutVars>
          <dgm:bulletEnabled val="1"/>
        </dgm:presLayoutVars>
      </dgm:prSet>
      <dgm:spPr/>
    </dgm:pt>
    <dgm:pt modelId="{DE338B51-3816-3640-BF14-DFA5A763105D}" type="pres">
      <dgm:prSet presAssocID="{2358D950-8637-4A94-8846-3E15B39102D7}" presName="sp" presStyleCnt="0"/>
      <dgm:spPr/>
    </dgm:pt>
    <dgm:pt modelId="{85F094AF-1DED-3847-BCAE-E7B43A04861F}" type="pres">
      <dgm:prSet presAssocID="{A5635AA9-1D6F-4DF6-B847-7191AFDB3744}" presName="arrowAndChildren" presStyleCnt="0"/>
      <dgm:spPr/>
    </dgm:pt>
    <dgm:pt modelId="{933ABA92-11E9-564D-A78A-3F5DE4238BA1}" type="pres">
      <dgm:prSet presAssocID="{A5635AA9-1D6F-4DF6-B847-7191AFDB3744}" presName="parentTextArrow" presStyleLbl="node1" presStyleIdx="1" presStyleCnt="3"/>
      <dgm:spPr/>
    </dgm:pt>
    <dgm:pt modelId="{1D9A9933-31DF-9F40-9656-0756EF2E0156}" type="pres">
      <dgm:prSet presAssocID="{EAEBC3CC-8209-4581-9907-FCB4A281800D}" presName="sp" presStyleCnt="0"/>
      <dgm:spPr/>
    </dgm:pt>
    <dgm:pt modelId="{DB622FC9-D562-6B49-BFED-CB4685D38DD8}" type="pres">
      <dgm:prSet presAssocID="{5FA86B24-C5D7-4954-9FAA-FEA75E68361E}" presName="arrowAndChildren" presStyleCnt="0"/>
      <dgm:spPr/>
    </dgm:pt>
    <dgm:pt modelId="{DA4C63CB-6C97-5D49-B922-318AACDE44B7}" type="pres">
      <dgm:prSet presAssocID="{5FA86B24-C5D7-4954-9FAA-FEA75E68361E}" presName="parentTextArrow" presStyleLbl="node1" presStyleIdx="2" presStyleCnt="3"/>
      <dgm:spPr/>
    </dgm:pt>
  </dgm:ptLst>
  <dgm:cxnLst>
    <dgm:cxn modelId="{4980F902-D6E8-844B-80A1-18AB0DB2C9AA}" type="presOf" srcId="{A5635AA9-1D6F-4DF6-B847-7191AFDB3744}" destId="{933ABA92-11E9-564D-A78A-3F5DE4238BA1}" srcOrd="0" destOrd="0" presId="urn:microsoft.com/office/officeart/2005/8/layout/process4"/>
    <dgm:cxn modelId="{36D16806-32B4-4A91-8DF7-9344AC893A4C}" srcId="{1979AD70-C6BB-45EA-BAAA-5003F4AAB249}" destId="{7EF46458-ED67-48FE-8C32-1AB577BF1053}" srcOrd="0" destOrd="0" parTransId="{3BC7E099-06B4-4315-BBA8-D3CE72C8A95D}" sibTransId="{036F8863-36C3-46BA-8567-6F170F3BDCC4}"/>
    <dgm:cxn modelId="{48DF9008-579A-497A-A430-4CFB814D2D81}" srcId="{1979AD70-C6BB-45EA-BAAA-5003F4AAB249}" destId="{DEAB725C-7938-4387-AF90-1759FA729CE7}" srcOrd="4" destOrd="0" parTransId="{53E9800E-43EF-4184-B583-BC2784A0AD0B}" sibTransId="{54A943B3-8E9D-4BBA-8EA5-6A4D1FBA401C}"/>
    <dgm:cxn modelId="{49077B13-60F2-C949-93E7-F25E34D3E056}" type="presOf" srcId="{B3A48939-95CE-4B8D-BFBE-081AD6F7C375}" destId="{0D757A82-E4A6-DA4D-821F-A78A3AB45A15}" srcOrd="0" destOrd="0" presId="urn:microsoft.com/office/officeart/2005/8/layout/process4"/>
    <dgm:cxn modelId="{DF5FAD25-963E-DE4F-9094-68FA82F1B055}" type="presOf" srcId="{A1BA91A3-FE81-4FFB-9CAE-CDB716506FA9}" destId="{72150350-596A-3B4F-9A07-FF4399E7B1D7}" srcOrd="0" destOrd="0" presId="urn:microsoft.com/office/officeart/2005/8/layout/process4"/>
    <dgm:cxn modelId="{1CF81B31-738C-46B3-AB1E-F691379A40A6}" srcId="{C746569A-D180-4F35-9F87-5773FD52F49E}" destId="{A5635AA9-1D6F-4DF6-B847-7191AFDB3744}" srcOrd="1" destOrd="0" parTransId="{E8F47D89-650F-4A3F-88F1-56714DFD86D5}" sibTransId="{2358D950-8637-4A94-8846-3E15B39102D7}"/>
    <dgm:cxn modelId="{03EC486E-348B-4316-84B1-08F29F7644E9}" srcId="{1979AD70-C6BB-45EA-BAAA-5003F4AAB249}" destId="{B3A48939-95CE-4B8D-BFBE-081AD6F7C375}" srcOrd="1" destOrd="0" parTransId="{D1F7C7BA-320F-49CF-A6D2-B0B7C01A9237}" sibTransId="{9EFE0339-5B01-4375-B890-70EDBB270B65}"/>
    <dgm:cxn modelId="{BA4A4F6E-85BF-1245-B401-8E1DDF9684D3}" type="presOf" srcId="{1979AD70-C6BB-45EA-BAAA-5003F4AAB249}" destId="{D6CD5692-E780-5641-97B4-ECE53F17AE84}" srcOrd="1" destOrd="0" presId="urn:microsoft.com/office/officeart/2005/8/layout/process4"/>
    <dgm:cxn modelId="{9E71CD79-973B-AB4D-9A11-670B33A037EC}" type="presOf" srcId="{1979AD70-C6BB-45EA-BAAA-5003F4AAB249}" destId="{DA069966-DF13-9F40-8E5F-26CE3C955710}" srcOrd="0" destOrd="0" presId="urn:microsoft.com/office/officeart/2005/8/layout/process4"/>
    <dgm:cxn modelId="{908D3D81-DA0D-4F43-93BA-5D51BED8D1E4}" type="presOf" srcId="{C746569A-D180-4F35-9F87-5773FD52F49E}" destId="{549C02EF-CF96-4D4E-974C-D3403705906F}" srcOrd="0" destOrd="0" presId="urn:microsoft.com/office/officeart/2005/8/layout/process4"/>
    <dgm:cxn modelId="{22936586-7BEE-D146-AD75-1A4B284A3FB4}" type="presOf" srcId="{A4D098D7-6CCE-42D9-9387-176B04C01743}" destId="{B80A87E7-651F-F846-A636-027A77620E5D}" srcOrd="0" destOrd="0" presId="urn:microsoft.com/office/officeart/2005/8/layout/process4"/>
    <dgm:cxn modelId="{7139A38B-E47D-CB46-ACA3-9C2D4ADAA9AA}" type="presOf" srcId="{DEAB725C-7938-4387-AF90-1759FA729CE7}" destId="{AD63EB60-1C3E-B246-AEBE-2E54872AB858}" srcOrd="0" destOrd="0" presId="urn:microsoft.com/office/officeart/2005/8/layout/process4"/>
    <dgm:cxn modelId="{F6C50EC3-25AC-49FC-80F2-1AC0B250CDDF}" srcId="{1979AD70-C6BB-45EA-BAAA-5003F4AAB249}" destId="{A4D098D7-6CCE-42D9-9387-176B04C01743}" srcOrd="2" destOrd="0" parTransId="{6D7E15BB-B98B-4455-BA8F-5CEAF9CDA410}" sibTransId="{FDF4A674-B9EB-4BE9-B454-54F9ECA1A89A}"/>
    <dgm:cxn modelId="{4B7441C8-42D8-48BA-8C77-DFADB9CC3A45}" srcId="{C746569A-D180-4F35-9F87-5773FD52F49E}" destId="{5FA86B24-C5D7-4954-9FAA-FEA75E68361E}" srcOrd="0" destOrd="0" parTransId="{25E93A72-3E9F-40A9-9E9B-5E3B71155198}" sibTransId="{EAEBC3CC-8209-4581-9907-FCB4A281800D}"/>
    <dgm:cxn modelId="{554D33D1-7B78-420C-8007-1DD3A3FA0311}" srcId="{C746569A-D180-4F35-9F87-5773FD52F49E}" destId="{1979AD70-C6BB-45EA-BAAA-5003F4AAB249}" srcOrd="2" destOrd="0" parTransId="{48A7E52B-B5D0-4C6C-9754-D1F3B9EAB571}" sibTransId="{4B52D68E-74FC-4799-9979-8B879214F814}"/>
    <dgm:cxn modelId="{4B9B96D5-DF09-0E42-8C7A-1FFB4CBE7AFE}" type="presOf" srcId="{C2DEF42F-ED72-41E6-A585-1B14E4E480FF}" destId="{969E4E10-7A93-1648-8470-B333F11C4EB7}" srcOrd="0" destOrd="0" presId="urn:microsoft.com/office/officeart/2005/8/layout/process4"/>
    <dgm:cxn modelId="{B56202D7-4C08-4D00-B9B4-1EF356DFAEDF}" srcId="{1979AD70-C6BB-45EA-BAAA-5003F4AAB249}" destId="{C2DEF42F-ED72-41E6-A585-1B14E4E480FF}" srcOrd="3" destOrd="0" parTransId="{82407EAD-0C18-4798-99CF-592B5A21AA6B}" sibTransId="{7415F50B-494D-42A4-B29F-1B3843F9FAA5}"/>
    <dgm:cxn modelId="{CBD007E9-5CB0-4B26-BFFD-ED0BD14CE346}" srcId="{1979AD70-C6BB-45EA-BAAA-5003F4AAB249}" destId="{A1BA91A3-FE81-4FFB-9CAE-CDB716506FA9}" srcOrd="5" destOrd="0" parTransId="{F1C944CE-0DEE-4E77-A516-7D8FBB50DD00}" sibTransId="{43C700CF-A932-4BD1-8511-4ED547DEBA44}"/>
    <dgm:cxn modelId="{DF341AEA-A2A9-4E49-8C16-529400CAB937}" type="presOf" srcId="{7EF46458-ED67-48FE-8C32-1AB577BF1053}" destId="{8FA80421-7A1F-4E4A-974F-E644CF5A4BB9}" srcOrd="0" destOrd="0" presId="urn:microsoft.com/office/officeart/2005/8/layout/process4"/>
    <dgm:cxn modelId="{AA8DEDEE-A74F-464E-9B43-D64952B6585D}" type="presOf" srcId="{5FA86B24-C5D7-4954-9FAA-FEA75E68361E}" destId="{DA4C63CB-6C97-5D49-B922-318AACDE44B7}" srcOrd="0" destOrd="0" presId="urn:microsoft.com/office/officeart/2005/8/layout/process4"/>
    <dgm:cxn modelId="{87DF6500-8B5F-D540-8BE1-940AF43EB07B}" type="presParOf" srcId="{549C02EF-CF96-4D4E-974C-D3403705906F}" destId="{36E34206-205B-5847-BF41-8A30D44EF18B}" srcOrd="0" destOrd="0" presId="urn:microsoft.com/office/officeart/2005/8/layout/process4"/>
    <dgm:cxn modelId="{D8374981-DB61-EC4B-8F49-5D5E5813E9C0}" type="presParOf" srcId="{36E34206-205B-5847-BF41-8A30D44EF18B}" destId="{DA069966-DF13-9F40-8E5F-26CE3C955710}" srcOrd="0" destOrd="0" presId="urn:microsoft.com/office/officeart/2005/8/layout/process4"/>
    <dgm:cxn modelId="{135738F4-861E-2F46-A001-F3C5021362D2}" type="presParOf" srcId="{36E34206-205B-5847-BF41-8A30D44EF18B}" destId="{D6CD5692-E780-5641-97B4-ECE53F17AE84}" srcOrd="1" destOrd="0" presId="urn:microsoft.com/office/officeart/2005/8/layout/process4"/>
    <dgm:cxn modelId="{412C5E41-1F0D-514D-93CF-2BF73CB434C4}" type="presParOf" srcId="{36E34206-205B-5847-BF41-8A30D44EF18B}" destId="{EAD1AE08-12DE-E24C-BC9E-03C398A246FB}" srcOrd="2" destOrd="0" presId="urn:microsoft.com/office/officeart/2005/8/layout/process4"/>
    <dgm:cxn modelId="{6CEEE30E-D60C-C04D-9590-CAA6F8683466}" type="presParOf" srcId="{EAD1AE08-12DE-E24C-BC9E-03C398A246FB}" destId="{8FA80421-7A1F-4E4A-974F-E644CF5A4BB9}" srcOrd="0" destOrd="0" presId="urn:microsoft.com/office/officeart/2005/8/layout/process4"/>
    <dgm:cxn modelId="{BDB832FA-F242-5942-9D3F-E207BAF84F49}" type="presParOf" srcId="{EAD1AE08-12DE-E24C-BC9E-03C398A246FB}" destId="{0D757A82-E4A6-DA4D-821F-A78A3AB45A15}" srcOrd="1" destOrd="0" presId="urn:microsoft.com/office/officeart/2005/8/layout/process4"/>
    <dgm:cxn modelId="{44014C15-0770-324D-9110-78A11F70036E}" type="presParOf" srcId="{EAD1AE08-12DE-E24C-BC9E-03C398A246FB}" destId="{B80A87E7-651F-F846-A636-027A77620E5D}" srcOrd="2" destOrd="0" presId="urn:microsoft.com/office/officeart/2005/8/layout/process4"/>
    <dgm:cxn modelId="{1E2F047E-E3D3-DC44-91E9-B6ECFAF144F2}" type="presParOf" srcId="{EAD1AE08-12DE-E24C-BC9E-03C398A246FB}" destId="{969E4E10-7A93-1648-8470-B333F11C4EB7}" srcOrd="3" destOrd="0" presId="urn:microsoft.com/office/officeart/2005/8/layout/process4"/>
    <dgm:cxn modelId="{437B0FCC-0ECE-BF4E-A992-90692DC6D9F6}" type="presParOf" srcId="{EAD1AE08-12DE-E24C-BC9E-03C398A246FB}" destId="{AD63EB60-1C3E-B246-AEBE-2E54872AB858}" srcOrd="4" destOrd="0" presId="urn:microsoft.com/office/officeart/2005/8/layout/process4"/>
    <dgm:cxn modelId="{EFBF5E69-293D-054A-95C7-8DAD6DF31A9A}" type="presParOf" srcId="{EAD1AE08-12DE-E24C-BC9E-03C398A246FB}" destId="{72150350-596A-3B4F-9A07-FF4399E7B1D7}" srcOrd="5" destOrd="0" presId="urn:microsoft.com/office/officeart/2005/8/layout/process4"/>
    <dgm:cxn modelId="{51DCF969-F2E3-714D-B4D7-C2ABB6875775}" type="presParOf" srcId="{549C02EF-CF96-4D4E-974C-D3403705906F}" destId="{DE338B51-3816-3640-BF14-DFA5A763105D}" srcOrd="1" destOrd="0" presId="urn:microsoft.com/office/officeart/2005/8/layout/process4"/>
    <dgm:cxn modelId="{7C21C6E7-91AB-0846-8A34-49F630B8AD13}" type="presParOf" srcId="{549C02EF-CF96-4D4E-974C-D3403705906F}" destId="{85F094AF-1DED-3847-BCAE-E7B43A04861F}" srcOrd="2" destOrd="0" presId="urn:microsoft.com/office/officeart/2005/8/layout/process4"/>
    <dgm:cxn modelId="{8E43E337-60B3-8846-86A2-89B57499AEEC}" type="presParOf" srcId="{85F094AF-1DED-3847-BCAE-E7B43A04861F}" destId="{933ABA92-11E9-564D-A78A-3F5DE4238BA1}" srcOrd="0" destOrd="0" presId="urn:microsoft.com/office/officeart/2005/8/layout/process4"/>
    <dgm:cxn modelId="{70EA0D4E-62E5-2B42-BBB5-6C880826927F}" type="presParOf" srcId="{549C02EF-CF96-4D4E-974C-D3403705906F}" destId="{1D9A9933-31DF-9F40-9656-0756EF2E0156}" srcOrd="3" destOrd="0" presId="urn:microsoft.com/office/officeart/2005/8/layout/process4"/>
    <dgm:cxn modelId="{BFCDEFC7-B01B-D549-9CA7-4A7B9E31BB59}" type="presParOf" srcId="{549C02EF-CF96-4D4E-974C-D3403705906F}" destId="{DB622FC9-D562-6B49-BFED-CB4685D38DD8}" srcOrd="4" destOrd="0" presId="urn:microsoft.com/office/officeart/2005/8/layout/process4"/>
    <dgm:cxn modelId="{7B57C36A-FB73-934A-A3A0-B65CE132C1AC}" type="presParOf" srcId="{DB622FC9-D562-6B49-BFED-CB4685D38DD8}" destId="{DA4C63CB-6C97-5D49-B922-318AACDE44B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D950958-1DF4-450D-880B-85B012F1CC77}" type="doc">
      <dgm:prSet loTypeId="urn:microsoft.com/office/officeart/2018/2/layout/IconCircleList" loCatId="icon" qsTypeId="urn:microsoft.com/office/officeart/2005/8/quickstyle/simple1" qsCatId="simple" csTypeId="urn:microsoft.com/office/officeart/2005/8/colors/accent3_2" csCatId="accent3" phldr="1"/>
      <dgm:spPr/>
      <dgm:t xml:space="preserve">
        <a:bodyPr/>
        <a:lstStyle/>
        <a:p>
          <a:endParaRPr lang="en-US"/>
        </a:p>
      </dgm:t>
    </dgm:pt>
    <dgm:pt modelId="{1EEB7BAC-E01A-468C-8A1E-9FFE9A4F8775}">
      <dgm:prSet/>
      <dgm:spPr/>
      <dgm:t xml:space="preserve">
        <a:bodyPr/>
        <a:lstStyle/>
        <a:p>
          <a:r>
            <a:rPr lang="en-US"/>
            <a:t xml:space="preserve">Plot a histogram of GPA. </a:t>
          </a:r>
        </a:p>
      </dgm:t>
    </dgm:pt>
    <dgm:pt modelId="{28EC12C2-FCBF-436F-9D14-27DE645D3BBF}" type="parTrans" cxnId="{41368010-E0FC-47AF-B240-DFCD677C0C29}">
      <dgm:prSet/>
      <dgm:spPr/>
      <dgm:t xml:space="preserve">
        <a:bodyPr/>
        <a:lstStyle/>
        <a:p>
          <a:endParaRPr lang="en-US"/>
        </a:p>
      </dgm:t>
    </dgm:pt>
    <dgm:pt modelId="{04A60674-EEC4-4502-B2AE-7EEE0CD71915}" type="sibTrans" cxnId="{41368010-E0FC-47AF-B240-DFCD677C0C29}">
      <dgm:prSet/>
      <dgm:spPr/>
      <dgm:t xml:space="preserve">
        <a:bodyPr/>
        <a:lstStyle/>
        <a:p>
          <a:endParaRPr lang="en-US"/>
        </a:p>
      </dgm:t>
    </dgm:pt>
    <dgm:pt modelId="{747C6AD1-F183-4B88-9658-F47C403E898F}">
      <dgm:prSet/>
      <dgm:spPr/>
      <dgm:t xml:space="preserve">
        <a:bodyPr/>
        <a:lstStyle/>
        <a:p>
          <a:r>
            <a:rPr lang="en-US"/>
            <a:t>Check a bar chart of extracurricular participation.</a:t>
          </a:r>
        </a:p>
      </dgm:t>
    </dgm:pt>
    <dgm:pt modelId="{30ADF90D-0121-4C24-9CAB-F634F8C1A330}" type="parTrans" cxnId="{B943750B-D5A4-453B-BD70-A59778ABF257}">
      <dgm:prSet/>
      <dgm:spPr/>
      <dgm:t xml:space="preserve">
        <a:bodyPr/>
        <a:lstStyle/>
        <a:p>
          <a:endParaRPr lang="en-US"/>
        </a:p>
      </dgm:t>
    </dgm:pt>
    <dgm:pt modelId="{CE8B6A64-B079-46B2-A02B-422EF15D1FC9}" type="sibTrans" cxnId="{B943750B-D5A4-453B-BD70-A59778ABF257}">
      <dgm:prSet/>
      <dgm:spPr/>
      <dgm:t xml:space="preserve">
        <a:bodyPr/>
        <a:lstStyle/>
        <a:p>
          <a:endParaRPr lang="en-US"/>
        </a:p>
      </dgm:t>
    </dgm:pt>
    <dgm:pt modelId="{5F07ABDA-CC73-45FA-83F8-28E4522BB0D3}">
      <dgm:prSet/>
      <dgm:spPr/>
      <dgm:t xml:space="preserve">
        <a:bodyPr/>
        <a:lstStyle/>
        <a:p>
          <a:r>
            <a:rPr lang="en-US"/>
            <a:t>Look at a boxplot of hours of homework and grade level.</a:t>
          </a:r>
        </a:p>
      </dgm:t>
    </dgm:pt>
    <dgm:pt modelId="{2D080EE7-45EE-4ADD-9CB4-A6885E5C890D}" type="parTrans" cxnId="{BBA2AAF1-42E6-46E4-87D1-D7D083B1C562}">
      <dgm:prSet/>
      <dgm:spPr/>
      <dgm:t xml:space="preserve">
        <a:bodyPr/>
        <a:lstStyle/>
        <a:p>
          <a:endParaRPr lang="en-US"/>
        </a:p>
      </dgm:t>
    </dgm:pt>
    <dgm:pt modelId="{D5ABE777-AFD1-4642-85BC-63F9002B6BE3}" type="sibTrans" cxnId="{BBA2AAF1-42E6-46E4-87D1-D7D083B1C562}">
      <dgm:prSet/>
      <dgm:spPr/>
      <dgm:t xml:space="preserve">
        <a:bodyPr/>
        <a:lstStyle/>
        <a:p>
          <a:endParaRPr lang="en-US"/>
        </a:p>
      </dgm:t>
    </dgm:pt>
    <dgm:pt modelId="{F5A5D741-0C26-4550-8F8A-27EB0A931866}">
      <dgm:prSet/>
      <dgm:spPr/>
      <dgm:t xml:space="preserve">
        <a:bodyPr/>
        <a:lstStyle/>
        <a:p>
          <a:r>
            <a:rPr lang="en-US"/>
            <a:t>Summarize hours of sleep.</a:t>
          </a:r>
        </a:p>
      </dgm:t>
    </dgm:pt>
    <dgm:pt modelId="{8F7E293E-877F-4062-9458-13E8613DD4F8}" type="parTrans" cxnId="{29956926-4ECD-460A-A8D4-E9ECFEBB2503}">
      <dgm:prSet/>
      <dgm:spPr/>
      <dgm:t xml:space="preserve">
        <a:bodyPr/>
        <a:lstStyle/>
        <a:p>
          <a:endParaRPr lang="en-US"/>
        </a:p>
      </dgm:t>
    </dgm:pt>
    <dgm:pt modelId="{CEB333FD-0216-41CA-B7BD-FC196BD89716}" type="sibTrans" cxnId="{29956926-4ECD-460A-A8D4-E9ECFEBB2503}">
      <dgm:prSet/>
      <dgm:spPr/>
      <dgm:t xml:space="preserve">
        <a:bodyPr/>
        <a:lstStyle/>
        <a:p>
          <a:endParaRPr lang="en-US"/>
        </a:p>
      </dgm:t>
    </dgm:pt>
    <dgm:pt modelId="{F12D0E7F-CA37-4C03-9439-D02D46E0FD2F}" type="pres">
      <dgm:prSet presAssocID="{5D950958-1DF4-450D-880B-85B012F1CC77}" presName="root" presStyleCnt="0">
        <dgm:presLayoutVars>
          <dgm:dir/>
          <dgm:resizeHandles val="exact"/>
        </dgm:presLayoutVars>
      </dgm:prSet>
      <dgm:spPr/>
    </dgm:pt>
    <dgm:pt modelId="{1D46BC3A-3AE6-4C4D-89DE-934064B75D03}" type="pres">
      <dgm:prSet presAssocID="{5D950958-1DF4-450D-880B-85B012F1CC77}" presName="container" presStyleCnt="0">
        <dgm:presLayoutVars>
          <dgm:dir/>
          <dgm:resizeHandles val="exact"/>
        </dgm:presLayoutVars>
      </dgm:prSet>
      <dgm:spPr/>
    </dgm:pt>
    <dgm:pt modelId="{74839579-A9B2-43B0-8945-30DA45CC5ED8}" type="pres">
      <dgm:prSet presAssocID="{1EEB7BAC-E01A-468C-8A1E-9FFE9A4F8775}" presName="compNode" presStyleCnt="0"/>
      <dgm:spPr/>
    </dgm:pt>
    <dgm:pt modelId="{D67B2E6D-3214-4ECB-A573-0EE20805F4A8}" type="pres">
      <dgm:prSet presAssocID="{1EEB7BAC-E01A-468C-8A1E-9FFE9A4F8775}" presName="iconBgRect" presStyleLbl="bgShp" presStyleIdx="0" presStyleCnt="4"/>
      <dgm:spPr/>
    </dgm:pt>
    <dgm:pt modelId="{7B7FB9BB-3F0D-499E-8D90-B4C4AAAF55CB}" type="pres">
      <dgm:prSet presAssocID="{1EEB7BAC-E01A-468C-8A1E-9FFE9A4F877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ce"/>
        </a:ext>
      </dgm:extLst>
    </dgm:pt>
    <dgm:pt modelId="{0DE149E5-6559-434F-8421-A859C3547FE2}" type="pres">
      <dgm:prSet presAssocID="{1EEB7BAC-E01A-468C-8A1E-9FFE9A4F8775}" presName="spaceRect" presStyleCnt="0"/>
      <dgm:spPr/>
    </dgm:pt>
    <dgm:pt modelId="{2D24FB25-FF08-4E84-A8F5-669A2D5F6E2C}" type="pres">
      <dgm:prSet presAssocID="{1EEB7BAC-E01A-468C-8A1E-9FFE9A4F8775}" presName="textRect" presStyleLbl="revTx" presStyleIdx="0" presStyleCnt="4">
        <dgm:presLayoutVars>
          <dgm:chMax val="1"/>
          <dgm:chPref val="1"/>
        </dgm:presLayoutVars>
      </dgm:prSet>
      <dgm:spPr/>
    </dgm:pt>
    <dgm:pt modelId="{5779ED80-29A0-40EC-BA95-5997F01EC2F6}" type="pres">
      <dgm:prSet presAssocID="{04A60674-EEC4-4502-B2AE-7EEE0CD71915}" presName="sibTrans" presStyleLbl="sibTrans2D1" presStyleIdx="0" presStyleCnt="0"/>
      <dgm:spPr/>
    </dgm:pt>
    <dgm:pt modelId="{366F7E8D-A140-46BA-8B9A-7D8C174A6AA8}" type="pres">
      <dgm:prSet presAssocID="{747C6AD1-F183-4B88-9658-F47C403E898F}" presName="compNode" presStyleCnt="0"/>
      <dgm:spPr/>
    </dgm:pt>
    <dgm:pt modelId="{1FE9BA9F-FCD8-4D76-8B54-A8990D9CF411}" type="pres">
      <dgm:prSet presAssocID="{747C6AD1-F183-4B88-9658-F47C403E898F}" presName="iconBgRect" presStyleLbl="bgShp" presStyleIdx="1" presStyleCnt="4"/>
      <dgm:spPr/>
    </dgm:pt>
    <dgm:pt modelId="{98CC3EB7-4BC6-46FC-8BC8-5115607FAE22}" type="pres">
      <dgm:prSet presAssocID="{747C6AD1-F183-4B88-9658-F47C403E898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ball Hat"/>
        </a:ext>
      </dgm:extLst>
    </dgm:pt>
    <dgm:pt modelId="{46EE7574-33FE-464B-885D-C94345B155B2}" type="pres">
      <dgm:prSet presAssocID="{747C6AD1-F183-4B88-9658-F47C403E898F}" presName="spaceRect" presStyleCnt="0"/>
      <dgm:spPr/>
    </dgm:pt>
    <dgm:pt modelId="{BF115B13-279E-40EB-A4BE-CEC60144D1F8}" type="pres">
      <dgm:prSet presAssocID="{747C6AD1-F183-4B88-9658-F47C403E898F}" presName="textRect" presStyleLbl="revTx" presStyleIdx="1" presStyleCnt="4">
        <dgm:presLayoutVars>
          <dgm:chMax val="1"/>
          <dgm:chPref val="1"/>
        </dgm:presLayoutVars>
      </dgm:prSet>
      <dgm:spPr/>
    </dgm:pt>
    <dgm:pt modelId="{1A914882-B07E-4962-8767-90F14EF8B247}" type="pres">
      <dgm:prSet presAssocID="{CE8B6A64-B079-46B2-A02B-422EF15D1FC9}" presName="sibTrans" presStyleLbl="sibTrans2D1" presStyleIdx="0" presStyleCnt="0"/>
      <dgm:spPr/>
    </dgm:pt>
    <dgm:pt modelId="{8D1E05FA-91DF-4F82-8FD2-8C9D0BAC5C44}" type="pres">
      <dgm:prSet presAssocID="{5F07ABDA-CC73-45FA-83F8-28E4522BB0D3}" presName="compNode" presStyleCnt="0"/>
      <dgm:spPr/>
    </dgm:pt>
    <dgm:pt modelId="{1B2622BB-55BA-4478-9D4A-3B2817346780}" type="pres">
      <dgm:prSet presAssocID="{5F07ABDA-CC73-45FA-83F8-28E4522BB0D3}" presName="iconBgRect" presStyleLbl="bgShp" presStyleIdx="2" presStyleCnt="4"/>
      <dgm:spPr/>
    </dgm:pt>
    <dgm:pt modelId="{F4AA3154-B3CD-4B87-87C3-F0C6018A8166}" type="pres">
      <dgm:prSet presAssocID="{5F07ABDA-CC73-45FA-83F8-28E4522BB0D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E9DBB149-F8DC-4176-95A0-BA8B1C2B36C1}" type="pres">
      <dgm:prSet presAssocID="{5F07ABDA-CC73-45FA-83F8-28E4522BB0D3}" presName="spaceRect" presStyleCnt="0"/>
      <dgm:spPr/>
    </dgm:pt>
    <dgm:pt modelId="{1BAF7C34-AAC6-47C8-A4B8-FB29D2010C6B}" type="pres">
      <dgm:prSet presAssocID="{5F07ABDA-CC73-45FA-83F8-28E4522BB0D3}" presName="textRect" presStyleLbl="revTx" presStyleIdx="2" presStyleCnt="4">
        <dgm:presLayoutVars>
          <dgm:chMax val="1"/>
          <dgm:chPref val="1"/>
        </dgm:presLayoutVars>
      </dgm:prSet>
      <dgm:spPr/>
    </dgm:pt>
    <dgm:pt modelId="{F57AA8D7-2B4D-40E2-866D-D7C178AB4047}" type="pres">
      <dgm:prSet presAssocID="{D5ABE777-AFD1-4642-85BC-63F9002B6BE3}" presName="sibTrans" presStyleLbl="sibTrans2D1" presStyleIdx="0" presStyleCnt="0"/>
      <dgm:spPr/>
    </dgm:pt>
    <dgm:pt modelId="{4078781E-BD28-4094-A8F4-9CCE76FF468D}" type="pres">
      <dgm:prSet presAssocID="{F5A5D741-0C26-4550-8F8A-27EB0A931866}" presName="compNode" presStyleCnt="0"/>
      <dgm:spPr/>
    </dgm:pt>
    <dgm:pt modelId="{ADE99DAA-F2AD-49EA-9BE4-D1CD57E5B9E6}" type="pres">
      <dgm:prSet presAssocID="{F5A5D741-0C26-4550-8F8A-27EB0A931866}" presName="iconBgRect" presStyleLbl="bgShp" presStyleIdx="3" presStyleCnt="4"/>
      <dgm:spPr/>
    </dgm:pt>
    <dgm:pt modelId="{AF28C5A3-C0B8-44EC-90C3-62E0A491F9D6}" type="pres">
      <dgm:prSet presAssocID="{F5A5D741-0C26-4550-8F8A-27EB0A93186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85227770-EFB7-44C5-AB83-141B67036E0F}" type="pres">
      <dgm:prSet presAssocID="{F5A5D741-0C26-4550-8F8A-27EB0A931866}" presName="spaceRect" presStyleCnt="0"/>
      <dgm:spPr/>
    </dgm:pt>
    <dgm:pt modelId="{D9F642FB-7D65-4136-B425-720AD6730823}" type="pres">
      <dgm:prSet presAssocID="{F5A5D741-0C26-4550-8F8A-27EB0A931866}" presName="textRect" presStyleLbl="revTx" presStyleIdx="3" presStyleCnt="4">
        <dgm:presLayoutVars>
          <dgm:chMax val="1"/>
          <dgm:chPref val="1"/>
        </dgm:presLayoutVars>
      </dgm:prSet>
      <dgm:spPr/>
    </dgm:pt>
  </dgm:ptLst>
  <dgm:cxnLst>
    <dgm:cxn modelId="{B943750B-D5A4-453B-BD70-A59778ABF257}" srcId="{5D950958-1DF4-450D-880B-85B012F1CC77}" destId="{747C6AD1-F183-4B88-9658-F47C403E898F}" srcOrd="1" destOrd="0" parTransId="{30ADF90D-0121-4C24-9CAB-F634F8C1A330}" sibTransId="{CE8B6A64-B079-46B2-A02B-422EF15D1FC9}"/>
    <dgm:cxn modelId="{6A074810-27AF-41E0-827C-7CACBB378FE5}" type="presOf" srcId="{F5A5D741-0C26-4550-8F8A-27EB0A931866}" destId="{D9F642FB-7D65-4136-B425-720AD6730823}" srcOrd="0" destOrd="0" presId="urn:microsoft.com/office/officeart/2018/2/layout/IconCircleList"/>
    <dgm:cxn modelId="{41368010-E0FC-47AF-B240-DFCD677C0C29}" srcId="{5D950958-1DF4-450D-880B-85B012F1CC77}" destId="{1EEB7BAC-E01A-468C-8A1E-9FFE9A4F8775}" srcOrd="0" destOrd="0" parTransId="{28EC12C2-FCBF-436F-9D14-27DE645D3BBF}" sibTransId="{04A60674-EEC4-4502-B2AE-7EEE0CD71915}"/>
    <dgm:cxn modelId="{CD019113-C3D9-42AA-BC9F-FB604EA6B61A}" type="presOf" srcId="{5F07ABDA-CC73-45FA-83F8-28E4522BB0D3}" destId="{1BAF7C34-AAC6-47C8-A4B8-FB29D2010C6B}" srcOrd="0" destOrd="0" presId="urn:microsoft.com/office/officeart/2018/2/layout/IconCircleList"/>
    <dgm:cxn modelId="{29956926-4ECD-460A-A8D4-E9ECFEBB2503}" srcId="{5D950958-1DF4-450D-880B-85B012F1CC77}" destId="{F5A5D741-0C26-4550-8F8A-27EB0A931866}" srcOrd="3" destOrd="0" parTransId="{8F7E293E-877F-4062-9458-13E8613DD4F8}" sibTransId="{CEB333FD-0216-41CA-B7BD-FC196BD89716}"/>
    <dgm:cxn modelId="{013C8F34-61BD-43C2-B0A6-466F30A5FF04}" type="presOf" srcId="{1EEB7BAC-E01A-468C-8A1E-9FFE9A4F8775}" destId="{2D24FB25-FF08-4E84-A8F5-669A2D5F6E2C}" srcOrd="0" destOrd="0" presId="urn:microsoft.com/office/officeart/2018/2/layout/IconCircleList"/>
    <dgm:cxn modelId="{3B3E9D63-90BF-4AD6-B623-F2556A136D58}" type="presOf" srcId="{04A60674-EEC4-4502-B2AE-7EEE0CD71915}" destId="{5779ED80-29A0-40EC-BA95-5997F01EC2F6}" srcOrd="0" destOrd="0" presId="urn:microsoft.com/office/officeart/2018/2/layout/IconCircleList"/>
    <dgm:cxn modelId="{0A8C9048-B690-470B-A1EE-123F2C9794AE}" type="presOf" srcId="{5D950958-1DF4-450D-880B-85B012F1CC77}" destId="{F12D0E7F-CA37-4C03-9439-D02D46E0FD2F}" srcOrd="0" destOrd="0" presId="urn:microsoft.com/office/officeart/2018/2/layout/IconCircleList"/>
    <dgm:cxn modelId="{52EAF39D-7448-4A86-9379-39EDC2E306E3}" type="presOf" srcId="{CE8B6A64-B079-46B2-A02B-422EF15D1FC9}" destId="{1A914882-B07E-4962-8767-90F14EF8B247}" srcOrd="0" destOrd="0" presId="urn:microsoft.com/office/officeart/2018/2/layout/IconCircleList"/>
    <dgm:cxn modelId="{11D753B7-9DF3-4800-954B-5A5B180AE3D0}" type="presOf" srcId="{D5ABE777-AFD1-4642-85BC-63F9002B6BE3}" destId="{F57AA8D7-2B4D-40E2-866D-D7C178AB4047}" srcOrd="0" destOrd="0" presId="urn:microsoft.com/office/officeart/2018/2/layout/IconCircleList"/>
    <dgm:cxn modelId="{BBA2AAF1-42E6-46E4-87D1-D7D083B1C562}" srcId="{5D950958-1DF4-450D-880B-85B012F1CC77}" destId="{5F07ABDA-CC73-45FA-83F8-28E4522BB0D3}" srcOrd="2" destOrd="0" parTransId="{2D080EE7-45EE-4ADD-9CB4-A6885E5C890D}" sibTransId="{D5ABE777-AFD1-4642-85BC-63F9002B6BE3}"/>
    <dgm:cxn modelId="{067E28FB-CABE-4667-8298-F8303C50BE9C}" type="presOf" srcId="{747C6AD1-F183-4B88-9658-F47C403E898F}" destId="{BF115B13-279E-40EB-A4BE-CEC60144D1F8}" srcOrd="0" destOrd="0" presId="urn:microsoft.com/office/officeart/2018/2/layout/IconCircleList"/>
    <dgm:cxn modelId="{01745003-5E5E-46E1-A470-5032821550E5}" type="presParOf" srcId="{F12D0E7F-CA37-4C03-9439-D02D46E0FD2F}" destId="{1D46BC3A-3AE6-4C4D-89DE-934064B75D03}" srcOrd="0" destOrd="0" presId="urn:microsoft.com/office/officeart/2018/2/layout/IconCircleList"/>
    <dgm:cxn modelId="{B5C2249C-D9B3-4C22-8591-8CC5A53AE36A}" type="presParOf" srcId="{1D46BC3A-3AE6-4C4D-89DE-934064B75D03}" destId="{74839579-A9B2-43B0-8945-30DA45CC5ED8}" srcOrd="0" destOrd="0" presId="urn:microsoft.com/office/officeart/2018/2/layout/IconCircleList"/>
    <dgm:cxn modelId="{B53FB4BA-EF0A-4640-9F09-F563C5B7E1E0}" type="presParOf" srcId="{74839579-A9B2-43B0-8945-30DA45CC5ED8}" destId="{D67B2E6D-3214-4ECB-A573-0EE20805F4A8}" srcOrd="0" destOrd="0" presId="urn:microsoft.com/office/officeart/2018/2/layout/IconCircleList"/>
    <dgm:cxn modelId="{5EC87ACD-B699-4DD4-AD0D-2E22ADD229C7}" type="presParOf" srcId="{74839579-A9B2-43B0-8945-30DA45CC5ED8}" destId="{7B7FB9BB-3F0D-499E-8D90-B4C4AAAF55CB}" srcOrd="1" destOrd="0" presId="urn:microsoft.com/office/officeart/2018/2/layout/IconCircleList"/>
    <dgm:cxn modelId="{DDF4B0DE-F1B0-4729-B493-DBF5AB08CB20}" type="presParOf" srcId="{74839579-A9B2-43B0-8945-30DA45CC5ED8}" destId="{0DE149E5-6559-434F-8421-A859C3547FE2}" srcOrd="2" destOrd="0" presId="urn:microsoft.com/office/officeart/2018/2/layout/IconCircleList"/>
    <dgm:cxn modelId="{18093A4D-D6FE-427D-94CA-07DBD22F68A8}" type="presParOf" srcId="{74839579-A9B2-43B0-8945-30DA45CC5ED8}" destId="{2D24FB25-FF08-4E84-A8F5-669A2D5F6E2C}" srcOrd="3" destOrd="0" presId="urn:microsoft.com/office/officeart/2018/2/layout/IconCircleList"/>
    <dgm:cxn modelId="{FD24CA51-1222-464B-AEAE-82BBCC7D02C1}" type="presParOf" srcId="{1D46BC3A-3AE6-4C4D-89DE-934064B75D03}" destId="{5779ED80-29A0-40EC-BA95-5997F01EC2F6}" srcOrd="1" destOrd="0" presId="urn:microsoft.com/office/officeart/2018/2/layout/IconCircleList"/>
    <dgm:cxn modelId="{67FF3104-FFDD-4F0B-8DCB-0363FFA730F0}" type="presParOf" srcId="{1D46BC3A-3AE6-4C4D-89DE-934064B75D03}" destId="{366F7E8D-A140-46BA-8B9A-7D8C174A6AA8}" srcOrd="2" destOrd="0" presId="urn:microsoft.com/office/officeart/2018/2/layout/IconCircleList"/>
    <dgm:cxn modelId="{628ECF81-1C17-40A8-BB34-0D8C1D56F55D}" type="presParOf" srcId="{366F7E8D-A140-46BA-8B9A-7D8C174A6AA8}" destId="{1FE9BA9F-FCD8-4D76-8B54-A8990D9CF411}" srcOrd="0" destOrd="0" presId="urn:microsoft.com/office/officeart/2018/2/layout/IconCircleList"/>
    <dgm:cxn modelId="{AA9CD6DC-01CC-48BC-835E-0E671D2BE89E}" type="presParOf" srcId="{366F7E8D-A140-46BA-8B9A-7D8C174A6AA8}" destId="{98CC3EB7-4BC6-46FC-8BC8-5115607FAE22}" srcOrd="1" destOrd="0" presId="urn:microsoft.com/office/officeart/2018/2/layout/IconCircleList"/>
    <dgm:cxn modelId="{CABF7D0B-580F-4AE5-8CE5-34367B8D2677}" type="presParOf" srcId="{366F7E8D-A140-46BA-8B9A-7D8C174A6AA8}" destId="{46EE7574-33FE-464B-885D-C94345B155B2}" srcOrd="2" destOrd="0" presId="urn:microsoft.com/office/officeart/2018/2/layout/IconCircleList"/>
    <dgm:cxn modelId="{F069F39C-2E68-4F0A-B2EE-C34F8241F199}" type="presParOf" srcId="{366F7E8D-A140-46BA-8B9A-7D8C174A6AA8}" destId="{BF115B13-279E-40EB-A4BE-CEC60144D1F8}" srcOrd="3" destOrd="0" presId="urn:microsoft.com/office/officeart/2018/2/layout/IconCircleList"/>
    <dgm:cxn modelId="{C1AFD230-15F0-47FE-8B29-703246E9AA03}" type="presParOf" srcId="{1D46BC3A-3AE6-4C4D-89DE-934064B75D03}" destId="{1A914882-B07E-4962-8767-90F14EF8B247}" srcOrd="3" destOrd="0" presId="urn:microsoft.com/office/officeart/2018/2/layout/IconCircleList"/>
    <dgm:cxn modelId="{8B305B7E-3DCF-44B3-92B1-E1BDE979E1B7}" type="presParOf" srcId="{1D46BC3A-3AE6-4C4D-89DE-934064B75D03}" destId="{8D1E05FA-91DF-4F82-8FD2-8C9D0BAC5C44}" srcOrd="4" destOrd="0" presId="urn:microsoft.com/office/officeart/2018/2/layout/IconCircleList"/>
    <dgm:cxn modelId="{CAAAF479-28A3-432F-B57D-56EC3FE0027E}" type="presParOf" srcId="{8D1E05FA-91DF-4F82-8FD2-8C9D0BAC5C44}" destId="{1B2622BB-55BA-4478-9D4A-3B2817346780}" srcOrd="0" destOrd="0" presId="urn:microsoft.com/office/officeart/2018/2/layout/IconCircleList"/>
    <dgm:cxn modelId="{C3B89E1E-955D-4250-8520-BA86B732299D}" type="presParOf" srcId="{8D1E05FA-91DF-4F82-8FD2-8C9D0BAC5C44}" destId="{F4AA3154-B3CD-4B87-87C3-F0C6018A8166}" srcOrd="1" destOrd="0" presId="urn:microsoft.com/office/officeart/2018/2/layout/IconCircleList"/>
    <dgm:cxn modelId="{3D59C3C4-8A0A-4288-BFF5-C81BAD8F81EF}" type="presParOf" srcId="{8D1E05FA-91DF-4F82-8FD2-8C9D0BAC5C44}" destId="{E9DBB149-F8DC-4176-95A0-BA8B1C2B36C1}" srcOrd="2" destOrd="0" presId="urn:microsoft.com/office/officeart/2018/2/layout/IconCircleList"/>
    <dgm:cxn modelId="{BF91559D-BDBB-44B3-9F40-E8BF064238EE}" type="presParOf" srcId="{8D1E05FA-91DF-4F82-8FD2-8C9D0BAC5C44}" destId="{1BAF7C34-AAC6-47C8-A4B8-FB29D2010C6B}" srcOrd="3" destOrd="0" presId="urn:microsoft.com/office/officeart/2018/2/layout/IconCircleList"/>
    <dgm:cxn modelId="{7877276C-DDE0-4584-9D65-C9A31E62967D}" type="presParOf" srcId="{1D46BC3A-3AE6-4C4D-89DE-934064B75D03}" destId="{F57AA8D7-2B4D-40E2-866D-D7C178AB4047}" srcOrd="5" destOrd="0" presId="urn:microsoft.com/office/officeart/2018/2/layout/IconCircleList"/>
    <dgm:cxn modelId="{49EB056E-CDFB-4212-BF67-0341266896E1}" type="presParOf" srcId="{1D46BC3A-3AE6-4C4D-89DE-934064B75D03}" destId="{4078781E-BD28-4094-A8F4-9CCE76FF468D}" srcOrd="6" destOrd="0" presId="urn:microsoft.com/office/officeart/2018/2/layout/IconCircleList"/>
    <dgm:cxn modelId="{51BD1329-F1E4-4AD0-9F7D-BE93DB5E7041}" type="presParOf" srcId="{4078781E-BD28-4094-A8F4-9CCE76FF468D}" destId="{ADE99DAA-F2AD-49EA-9BE4-D1CD57E5B9E6}" srcOrd="0" destOrd="0" presId="urn:microsoft.com/office/officeart/2018/2/layout/IconCircleList"/>
    <dgm:cxn modelId="{E3147E4D-37EB-4F48-9CF3-1D189082CAD2}" type="presParOf" srcId="{4078781E-BD28-4094-A8F4-9CCE76FF468D}" destId="{AF28C5A3-C0B8-44EC-90C3-62E0A491F9D6}" srcOrd="1" destOrd="0" presId="urn:microsoft.com/office/officeart/2018/2/layout/IconCircleList"/>
    <dgm:cxn modelId="{DD30A17B-900E-47C8-9121-FBBDA7035328}" type="presParOf" srcId="{4078781E-BD28-4094-A8F4-9CCE76FF468D}" destId="{85227770-EFB7-44C5-AB83-141B67036E0F}" srcOrd="2" destOrd="0" presId="urn:microsoft.com/office/officeart/2018/2/layout/IconCircleList"/>
    <dgm:cxn modelId="{C34E05D5-5F2B-4548-9911-FCDFB570DAB8}" type="presParOf" srcId="{4078781E-BD28-4094-A8F4-9CCE76FF468D}" destId="{D9F642FB-7D65-4136-B425-720AD673082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B8307A5-782E-4A4A-A3AD-F68B61D2E892}" type="doc">
      <dgm:prSet loTypeId="urn:microsoft.com/office/officeart/2016/7/layout/LinearArrowProcessNumbered" loCatId="process" qsTypeId="urn:microsoft.com/office/officeart/2005/8/quickstyle/simple5" qsCatId="simple" csTypeId="urn:microsoft.com/office/officeart/2005/8/colors/accent3_2" csCatId="accent3"/>
      <dgm:spPr/>
      <dgm:t xml:space="preserve">
        <a:bodyPr/>
        <a:lstStyle/>
        <a:p>
          <a:endParaRPr lang="en-US"/>
        </a:p>
      </dgm:t>
    </dgm:pt>
    <dgm:pt modelId="{E659BE99-7FDB-45C1-BBB1-F395C347A181}">
      <dgm:prSet custT="1"/>
      <dgm:spPr/>
      <dgm:t xml:space="preserve">
        <a:bodyPr/>
        <a:lstStyle/>
        <a:p>
          <a:r>
            <a:rPr lang="en-US" sz="1600" dirty="0"/>
            <a:t xml:space="preserve">Numeric vs Numeric: Plot hours of homework vs GPA. </a:t>
          </a:r>
        </a:p>
      </dgm:t>
    </dgm:pt>
    <dgm:pt modelId="{5BC093B4-7FA4-49BD-9D8F-45FAD3409441}" type="parTrans" cxnId="{E186A6D0-61EB-4F29-8EE8-E3B8DFD4F9EF}">
      <dgm:prSet/>
      <dgm:spPr/>
      <dgm:t xml:space="preserve">
        <a:bodyPr/>
        <a:lstStyle/>
        <a:p>
          <a:endParaRPr lang="en-US" sz="2000"/>
        </a:p>
      </dgm:t>
    </dgm:pt>
    <dgm:pt modelId="{0C4116C5-7119-4741-BAD5-53DCC51C855C}" type="sibTrans" cxnId="{E186A6D0-61EB-4F29-8EE8-E3B8DFD4F9EF}">
      <dgm:prSet phldrT="1" phldr="0" custT="1"/>
      <dgm:spPr/>
      <dgm:t xml:space="preserve">
        <a:bodyPr/>
        <a:lstStyle/>
        <a:p>
          <a:r>
            <a:rPr lang="en-US" sz="3200"/>
            <a:t>1</a:t>
          </a:r>
          <a:endParaRPr lang="en-US" sz="3200" dirty="0"/>
        </a:p>
      </dgm:t>
    </dgm:pt>
    <dgm:pt modelId="{D246166F-E27A-430D-8534-F40F8EA98209}">
      <dgm:prSet custT="1"/>
      <dgm:spPr/>
      <dgm:t xml:space="preserve">
        <a:bodyPr/>
        <a:lstStyle/>
        <a:p>
          <a:r>
            <a:rPr lang="en-US" sz="1600" dirty="0"/>
            <a:t xml:space="preserve">Calculate a correlation matrix for numeric vars (homework, GPA, sleep). </a:t>
          </a:r>
        </a:p>
      </dgm:t>
    </dgm:pt>
    <dgm:pt modelId="{AA4754BB-73DE-469D-B6FE-A540ACD3DBD7}" type="parTrans" cxnId="{9F6515BD-C40D-45EB-8149-55BF03FA19B9}">
      <dgm:prSet/>
      <dgm:spPr/>
      <dgm:t xml:space="preserve">
        <a:bodyPr/>
        <a:lstStyle/>
        <a:p>
          <a:endParaRPr lang="en-US" sz="2000"/>
        </a:p>
      </dgm:t>
    </dgm:pt>
    <dgm:pt modelId="{9C854C18-650C-4B14-B6E2-F3A944ECE75F}" type="sibTrans" cxnId="{9F6515BD-C40D-45EB-8149-55BF03FA19B9}">
      <dgm:prSet phldrT="2" phldr="0" custT="1"/>
      <dgm:spPr/>
      <dgm:t xml:space="preserve">
        <a:bodyPr/>
        <a:lstStyle/>
        <a:p>
          <a:r>
            <a:rPr lang="en-US" sz="3200"/>
            <a:t>2</a:t>
          </a:r>
        </a:p>
      </dgm:t>
    </dgm:pt>
    <dgm:pt modelId="{1138D78A-C5AC-4CB5-B49F-C4AF192CD7CC}">
      <dgm:prSet custT="1"/>
      <dgm:spPr/>
      <dgm:t xml:space="preserve">
        <a:bodyPr/>
        <a:lstStyle/>
        <a:p>
          <a:r>
            <a:rPr lang="en-US" sz="1600" dirty="0"/>
            <a:t xml:space="preserve">Compare GPA by extracurricular participation via boxplot. </a:t>
          </a:r>
        </a:p>
      </dgm:t>
    </dgm:pt>
    <dgm:pt modelId="{EE297728-5A80-486C-AC37-D30B016A50A8}" type="parTrans" cxnId="{22ADA6AA-9594-4A5E-B10E-DC2350285407}">
      <dgm:prSet/>
      <dgm:spPr/>
      <dgm:t xml:space="preserve">
        <a:bodyPr/>
        <a:lstStyle/>
        <a:p>
          <a:endParaRPr lang="en-US" sz="2000"/>
        </a:p>
      </dgm:t>
    </dgm:pt>
    <dgm:pt modelId="{52A47FF9-2F82-4DF9-B6F8-35665972AD94}" type="sibTrans" cxnId="{22ADA6AA-9594-4A5E-B10E-DC2350285407}">
      <dgm:prSet phldrT="3" phldr="0" custT="1"/>
      <dgm:spPr/>
      <dgm:t xml:space="preserve">
        <a:bodyPr/>
        <a:lstStyle/>
        <a:p>
          <a:r>
            <a:rPr lang="en-US" sz="3200"/>
            <a:t>3</a:t>
          </a:r>
        </a:p>
      </dgm:t>
    </dgm:pt>
    <dgm:pt modelId="{7FBAB489-2D84-48BA-9AC4-A449103D8C7E}">
      <dgm:prSet custT="1"/>
      <dgm:spPr/>
      <dgm:t xml:space="preserve">
        <a:bodyPr/>
        <a:lstStyle/>
        <a:p>
          <a:r>
            <a:rPr lang="en-US" sz="1600"/>
            <a:t>Compare hours of homework by grade level.</a:t>
          </a:r>
        </a:p>
      </dgm:t>
    </dgm:pt>
    <dgm:pt modelId="{FD387848-7844-49CF-B38B-9AF7CB0E7ED3}" type="parTrans" cxnId="{4C817A9C-39F1-4DF9-A7FA-04727D6DACC5}">
      <dgm:prSet/>
      <dgm:spPr/>
      <dgm:t xml:space="preserve">
        <a:bodyPr/>
        <a:lstStyle/>
        <a:p>
          <a:endParaRPr lang="en-US" sz="2000"/>
        </a:p>
      </dgm:t>
    </dgm:pt>
    <dgm:pt modelId="{32220C13-FD06-4555-B189-F242750E982A}" type="sibTrans" cxnId="{4C817A9C-39F1-4DF9-A7FA-04727D6DACC5}">
      <dgm:prSet phldrT="4" phldr="0" custT="1"/>
      <dgm:spPr/>
      <dgm:t xml:space="preserve">
        <a:bodyPr/>
        <a:lstStyle/>
        <a:p>
          <a:r>
            <a:rPr lang="en-US" sz="3200"/>
            <a:t>4</a:t>
          </a:r>
        </a:p>
      </dgm:t>
    </dgm:pt>
    <dgm:pt modelId="{9FC103B4-8788-43DF-878F-0DBDBC58E2C7}">
      <dgm:prSet custT="1"/>
      <dgm:spPr/>
      <dgm:t xml:space="preserve">
        <a:bodyPr/>
        <a:lstStyle/>
        <a:p>
          <a:r>
            <a:rPr lang="en-US" sz="1600" dirty="0"/>
            <a:t xml:space="preserve">Look at a table of extracurricular participation by grade level. </a:t>
          </a:r>
        </a:p>
      </dgm:t>
    </dgm:pt>
    <dgm:pt modelId="{000D89AE-6E0D-45F7-B1D4-A2F299E0D247}" type="parTrans" cxnId="{359013C8-A7DC-4BF1-86C0-32894FE6A688}">
      <dgm:prSet/>
      <dgm:spPr/>
      <dgm:t xml:space="preserve">
        <a:bodyPr/>
        <a:lstStyle/>
        <a:p>
          <a:endParaRPr lang="en-US" sz="2000"/>
        </a:p>
      </dgm:t>
    </dgm:pt>
    <dgm:pt modelId="{27FB2539-734A-4D9E-AF4E-189B1CD60748}" type="sibTrans" cxnId="{359013C8-A7DC-4BF1-86C0-32894FE6A688}">
      <dgm:prSet phldrT="5" phldr="0" custT="1"/>
      <dgm:spPr/>
      <dgm:t xml:space="preserve">
        <a:bodyPr/>
        <a:lstStyle/>
        <a:p>
          <a:r>
            <a:rPr lang="en-US" sz="3200"/>
            <a:t>5</a:t>
          </a:r>
        </a:p>
      </dgm:t>
    </dgm:pt>
    <dgm:pt modelId="{8B828BED-26D9-4D69-9D77-55E5AE4646DE}">
      <dgm:prSet custT="1"/>
      <dgm:spPr/>
      <dgm:t xml:space="preserve">
        <a:bodyPr/>
        <a:lstStyle/>
        <a:p>
          <a:r>
            <a:rPr lang="en-US" sz="1600"/>
            <a:t>Check gender vs hours of sleep with boxplot.</a:t>
          </a:r>
        </a:p>
      </dgm:t>
    </dgm:pt>
    <dgm:pt modelId="{2BEC1380-87EE-4BE9-800A-78916DB14444}" type="parTrans" cxnId="{5D08F994-D494-4C07-9C7F-4FF235B63F6D}">
      <dgm:prSet/>
      <dgm:spPr/>
      <dgm:t xml:space="preserve">
        <a:bodyPr/>
        <a:lstStyle/>
        <a:p>
          <a:endParaRPr lang="en-US" sz="2000"/>
        </a:p>
      </dgm:t>
    </dgm:pt>
    <dgm:pt modelId="{42D9B1FD-861D-4BDA-BF06-788187A1B02F}" type="sibTrans" cxnId="{5D08F994-D494-4C07-9C7F-4FF235B63F6D}">
      <dgm:prSet phldrT="6" phldr="0" custT="1"/>
      <dgm:spPr/>
      <dgm:t xml:space="preserve">
        <a:bodyPr/>
        <a:lstStyle/>
        <a:p>
          <a:r>
            <a:rPr lang="en-US" sz="3200"/>
            <a:t>6</a:t>
          </a:r>
        </a:p>
      </dgm:t>
    </dgm:pt>
    <dgm:pt modelId="{68A3CEFF-98E9-D641-8AC1-85661C51D95F}" type="pres">
      <dgm:prSet presAssocID="{2B8307A5-782E-4A4A-A3AD-F68B61D2E892}" presName="linearFlow" presStyleCnt="0">
        <dgm:presLayoutVars>
          <dgm:dir/>
          <dgm:animLvl val="lvl"/>
          <dgm:resizeHandles val="exact"/>
        </dgm:presLayoutVars>
      </dgm:prSet>
      <dgm:spPr/>
    </dgm:pt>
    <dgm:pt modelId="{B56056F8-B752-2046-9E1E-1E488714DFD9}" type="pres">
      <dgm:prSet presAssocID="{E659BE99-7FDB-45C1-BBB1-F395C347A181}" presName="compositeNode" presStyleCnt="0"/>
      <dgm:spPr/>
    </dgm:pt>
    <dgm:pt modelId="{CFCECED6-042F-0B41-A015-20609D158787}" type="pres">
      <dgm:prSet presAssocID="{E659BE99-7FDB-45C1-BBB1-F395C347A181}" presName="parTx" presStyleLbl="node1" presStyleIdx="0" presStyleCnt="0">
        <dgm:presLayoutVars>
          <dgm:chMax val="0"/>
          <dgm:chPref val="0"/>
          <dgm:bulletEnabled val="1"/>
        </dgm:presLayoutVars>
      </dgm:prSet>
      <dgm:spPr/>
    </dgm:pt>
    <dgm:pt modelId="{726EC431-3CF9-2B4E-9AA0-83E86929F478}" type="pres">
      <dgm:prSet presAssocID="{E659BE99-7FDB-45C1-BBB1-F395C347A181}" presName="parSh" presStyleCnt="0"/>
      <dgm:spPr/>
    </dgm:pt>
    <dgm:pt modelId="{820C7BF7-DA80-5B41-A773-46311E4C740B}" type="pres">
      <dgm:prSet presAssocID="{E659BE99-7FDB-45C1-BBB1-F395C347A181}" presName="lineNode" presStyleLbl="alignAccFollowNode1" presStyleIdx="0" presStyleCnt="18"/>
      <dgm:spPr/>
    </dgm:pt>
    <dgm:pt modelId="{1F820C8F-4488-804B-ACEE-38ABF35EEF93}" type="pres">
      <dgm:prSet presAssocID="{E659BE99-7FDB-45C1-BBB1-F395C347A181}" presName="lineArrowNode" presStyleLbl="alignAccFollowNode1" presStyleIdx="1" presStyleCnt="18"/>
      <dgm:spPr/>
    </dgm:pt>
    <dgm:pt modelId="{806AF909-A0A5-5742-AC87-882DAEDC53AC}" type="pres">
      <dgm:prSet presAssocID="{0C4116C5-7119-4741-BAD5-53DCC51C855C}" presName="sibTransNodeCircle" presStyleLbl="alignNode1" presStyleIdx="0" presStyleCnt="6">
        <dgm:presLayoutVars>
          <dgm:chMax val="0"/>
          <dgm:bulletEnabled/>
        </dgm:presLayoutVars>
      </dgm:prSet>
      <dgm:spPr/>
    </dgm:pt>
    <dgm:pt modelId="{DBE91350-9F54-EE41-B848-04186C29503E}" type="pres">
      <dgm:prSet presAssocID="{0C4116C5-7119-4741-BAD5-53DCC51C855C}" presName="spacerBetweenCircleAndCallout" presStyleCnt="0">
        <dgm:presLayoutVars/>
      </dgm:prSet>
      <dgm:spPr/>
    </dgm:pt>
    <dgm:pt modelId="{4DFFDD83-42C6-8D4A-97E2-0D5BB250CE0A}" type="pres">
      <dgm:prSet presAssocID="{E659BE99-7FDB-45C1-BBB1-F395C347A181}" presName="nodeText" presStyleLbl="alignAccFollowNode1" presStyleIdx="2" presStyleCnt="18">
        <dgm:presLayoutVars>
          <dgm:bulletEnabled val="1"/>
        </dgm:presLayoutVars>
      </dgm:prSet>
      <dgm:spPr/>
    </dgm:pt>
    <dgm:pt modelId="{D66484B1-78C2-4947-A06B-E5182D6549FA}" type="pres">
      <dgm:prSet presAssocID="{0C4116C5-7119-4741-BAD5-53DCC51C855C}" presName="sibTransComposite" presStyleCnt="0"/>
      <dgm:spPr/>
    </dgm:pt>
    <dgm:pt modelId="{768D2BB3-1E56-1348-9270-1D9C27BCF5BB}" type="pres">
      <dgm:prSet presAssocID="{D246166F-E27A-430D-8534-F40F8EA98209}" presName="compositeNode" presStyleCnt="0"/>
      <dgm:spPr/>
    </dgm:pt>
    <dgm:pt modelId="{2FE07CEF-106E-6447-BC50-C6B8592C29EA}" type="pres">
      <dgm:prSet presAssocID="{D246166F-E27A-430D-8534-F40F8EA98209}" presName="parTx" presStyleLbl="node1" presStyleIdx="0" presStyleCnt="0">
        <dgm:presLayoutVars>
          <dgm:chMax val="0"/>
          <dgm:chPref val="0"/>
          <dgm:bulletEnabled val="1"/>
        </dgm:presLayoutVars>
      </dgm:prSet>
      <dgm:spPr/>
    </dgm:pt>
    <dgm:pt modelId="{A9D59CF3-EFAB-544F-B722-A24EBB2C3F40}" type="pres">
      <dgm:prSet presAssocID="{D246166F-E27A-430D-8534-F40F8EA98209}" presName="parSh" presStyleCnt="0"/>
      <dgm:spPr/>
    </dgm:pt>
    <dgm:pt modelId="{9296280E-E2D0-A941-ABCF-D4171F801E1D}" type="pres">
      <dgm:prSet presAssocID="{D246166F-E27A-430D-8534-F40F8EA98209}" presName="lineNode" presStyleLbl="alignAccFollowNode1" presStyleIdx="3" presStyleCnt="18"/>
      <dgm:spPr/>
    </dgm:pt>
    <dgm:pt modelId="{AC66E4D4-3DC1-FB4B-86DA-1993C8902478}" type="pres">
      <dgm:prSet presAssocID="{D246166F-E27A-430D-8534-F40F8EA98209}" presName="lineArrowNode" presStyleLbl="alignAccFollowNode1" presStyleIdx="4" presStyleCnt="18"/>
      <dgm:spPr/>
    </dgm:pt>
    <dgm:pt modelId="{CA35B055-E577-EE43-9BFB-E6298C2A1FF3}" type="pres">
      <dgm:prSet presAssocID="{9C854C18-650C-4B14-B6E2-F3A944ECE75F}" presName="sibTransNodeCircle" presStyleLbl="alignNode1" presStyleIdx="1" presStyleCnt="6">
        <dgm:presLayoutVars>
          <dgm:chMax val="0"/>
          <dgm:bulletEnabled/>
        </dgm:presLayoutVars>
      </dgm:prSet>
      <dgm:spPr/>
    </dgm:pt>
    <dgm:pt modelId="{AD0D5C47-DF51-3448-9559-AE1BD672C7DE}" type="pres">
      <dgm:prSet presAssocID="{9C854C18-650C-4B14-B6E2-F3A944ECE75F}" presName="spacerBetweenCircleAndCallout" presStyleCnt="0">
        <dgm:presLayoutVars/>
      </dgm:prSet>
      <dgm:spPr/>
    </dgm:pt>
    <dgm:pt modelId="{E8D3F804-BF29-5449-91AF-C58114B55E2B}" type="pres">
      <dgm:prSet presAssocID="{D246166F-E27A-430D-8534-F40F8EA98209}" presName="nodeText" presStyleLbl="alignAccFollowNode1" presStyleIdx="5" presStyleCnt="18">
        <dgm:presLayoutVars>
          <dgm:bulletEnabled val="1"/>
        </dgm:presLayoutVars>
      </dgm:prSet>
      <dgm:spPr/>
    </dgm:pt>
    <dgm:pt modelId="{4BAB6DDD-DAA4-0047-8CEC-FF22F2D9B72B}" type="pres">
      <dgm:prSet presAssocID="{9C854C18-650C-4B14-B6E2-F3A944ECE75F}" presName="sibTransComposite" presStyleCnt="0"/>
      <dgm:spPr/>
    </dgm:pt>
    <dgm:pt modelId="{582D492F-1DA7-694E-A9D9-7C8577DE0A4A}" type="pres">
      <dgm:prSet presAssocID="{1138D78A-C5AC-4CB5-B49F-C4AF192CD7CC}" presName="compositeNode" presStyleCnt="0"/>
      <dgm:spPr/>
    </dgm:pt>
    <dgm:pt modelId="{4785825F-7CE7-714B-A638-0963F4A6B50B}" type="pres">
      <dgm:prSet presAssocID="{1138D78A-C5AC-4CB5-B49F-C4AF192CD7CC}" presName="parTx" presStyleLbl="node1" presStyleIdx="0" presStyleCnt="0">
        <dgm:presLayoutVars>
          <dgm:chMax val="0"/>
          <dgm:chPref val="0"/>
          <dgm:bulletEnabled val="1"/>
        </dgm:presLayoutVars>
      </dgm:prSet>
      <dgm:spPr/>
    </dgm:pt>
    <dgm:pt modelId="{C9D27369-0D1F-8E4C-AB2A-A044A2965718}" type="pres">
      <dgm:prSet presAssocID="{1138D78A-C5AC-4CB5-B49F-C4AF192CD7CC}" presName="parSh" presStyleCnt="0"/>
      <dgm:spPr/>
    </dgm:pt>
    <dgm:pt modelId="{03E844E7-0C86-294D-B84B-9A7CC75FECC9}" type="pres">
      <dgm:prSet presAssocID="{1138D78A-C5AC-4CB5-B49F-C4AF192CD7CC}" presName="lineNode" presStyleLbl="alignAccFollowNode1" presStyleIdx="6" presStyleCnt="18"/>
      <dgm:spPr/>
    </dgm:pt>
    <dgm:pt modelId="{A2896294-EFB3-4C48-85D1-DD2361EF0DE7}" type="pres">
      <dgm:prSet presAssocID="{1138D78A-C5AC-4CB5-B49F-C4AF192CD7CC}" presName="lineArrowNode" presStyleLbl="alignAccFollowNode1" presStyleIdx="7" presStyleCnt="18"/>
      <dgm:spPr/>
    </dgm:pt>
    <dgm:pt modelId="{69A2D616-A57F-0A45-9CF1-2B9FAE497830}" type="pres">
      <dgm:prSet presAssocID="{52A47FF9-2F82-4DF9-B6F8-35665972AD94}" presName="sibTransNodeCircle" presStyleLbl="alignNode1" presStyleIdx="2" presStyleCnt="6">
        <dgm:presLayoutVars>
          <dgm:chMax val="0"/>
          <dgm:bulletEnabled/>
        </dgm:presLayoutVars>
      </dgm:prSet>
      <dgm:spPr/>
    </dgm:pt>
    <dgm:pt modelId="{5593AA41-44B1-5C47-91D6-0FC89E6EADBA}" type="pres">
      <dgm:prSet presAssocID="{52A47FF9-2F82-4DF9-B6F8-35665972AD94}" presName="spacerBetweenCircleAndCallout" presStyleCnt="0">
        <dgm:presLayoutVars/>
      </dgm:prSet>
      <dgm:spPr/>
    </dgm:pt>
    <dgm:pt modelId="{74822052-A8A9-C34B-9685-C91450B4B114}" type="pres">
      <dgm:prSet presAssocID="{1138D78A-C5AC-4CB5-B49F-C4AF192CD7CC}" presName="nodeText" presStyleLbl="alignAccFollowNode1" presStyleIdx="8" presStyleCnt="18">
        <dgm:presLayoutVars>
          <dgm:bulletEnabled val="1"/>
        </dgm:presLayoutVars>
      </dgm:prSet>
      <dgm:spPr/>
    </dgm:pt>
    <dgm:pt modelId="{EB24F43C-6285-3B4D-9321-A5DABCB4EA59}" type="pres">
      <dgm:prSet presAssocID="{52A47FF9-2F82-4DF9-B6F8-35665972AD94}" presName="sibTransComposite" presStyleCnt="0"/>
      <dgm:spPr/>
    </dgm:pt>
    <dgm:pt modelId="{DA7F67DB-5471-E34C-B4BA-2CEE242D176A}" type="pres">
      <dgm:prSet presAssocID="{7FBAB489-2D84-48BA-9AC4-A449103D8C7E}" presName="compositeNode" presStyleCnt="0"/>
      <dgm:spPr/>
    </dgm:pt>
    <dgm:pt modelId="{F180470E-7579-4F43-8089-875BEEE4B6C0}" type="pres">
      <dgm:prSet presAssocID="{7FBAB489-2D84-48BA-9AC4-A449103D8C7E}" presName="parTx" presStyleLbl="node1" presStyleIdx="0" presStyleCnt="0">
        <dgm:presLayoutVars>
          <dgm:chMax val="0"/>
          <dgm:chPref val="0"/>
          <dgm:bulletEnabled val="1"/>
        </dgm:presLayoutVars>
      </dgm:prSet>
      <dgm:spPr/>
    </dgm:pt>
    <dgm:pt modelId="{4F7B0ED5-F4D0-7541-AE79-2A829A77B3E6}" type="pres">
      <dgm:prSet presAssocID="{7FBAB489-2D84-48BA-9AC4-A449103D8C7E}" presName="parSh" presStyleCnt="0"/>
      <dgm:spPr/>
    </dgm:pt>
    <dgm:pt modelId="{3629FABF-FEAF-EA4E-B162-7680A568D680}" type="pres">
      <dgm:prSet presAssocID="{7FBAB489-2D84-48BA-9AC4-A449103D8C7E}" presName="lineNode" presStyleLbl="alignAccFollowNode1" presStyleIdx="9" presStyleCnt="18"/>
      <dgm:spPr/>
    </dgm:pt>
    <dgm:pt modelId="{160DD9E8-529B-174D-8B24-BA7A8BFFCF7F}" type="pres">
      <dgm:prSet presAssocID="{7FBAB489-2D84-48BA-9AC4-A449103D8C7E}" presName="lineArrowNode" presStyleLbl="alignAccFollowNode1" presStyleIdx="10" presStyleCnt="18"/>
      <dgm:spPr/>
    </dgm:pt>
    <dgm:pt modelId="{2BCCAE32-19ED-3342-A534-A9D9E43698ED}" type="pres">
      <dgm:prSet presAssocID="{32220C13-FD06-4555-B189-F242750E982A}" presName="sibTransNodeCircle" presStyleLbl="alignNode1" presStyleIdx="3" presStyleCnt="6">
        <dgm:presLayoutVars>
          <dgm:chMax val="0"/>
          <dgm:bulletEnabled/>
        </dgm:presLayoutVars>
      </dgm:prSet>
      <dgm:spPr/>
    </dgm:pt>
    <dgm:pt modelId="{2B6B70C9-0E7C-B841-8BF9-F71844FBD59F}" type="pres">
      <dgm:prSet presAssocID="{32220C13-FD06-4555-B189-F242750E982A}" presName="spacerBetweenCircleAndCallout" presStyleCnt="0">
        <dgm:presLayoutVars/>
      </dgm:prSet>
      <dgm:spPr/>
    </dgm:pt>
    <dgm:pt modelId="{32BC8A43-534C-FF4D-A819-7EA4D9549888}" type="pres">
      <dgm:prSet presAssocID="{7FBAB489-2D84-48BA-9AC4-A449103D8C7E}" presName="nodeText" presStyleLbl="alignAccFollowNode1" presStyleIdx="11" presStyleCnt="18">
        <dgm:presLayoutVars>
          <dgm:bulletEnabled val="1"/>
        </dgm:presLayoutVars>
      </dgm:prSet>
      <dgm:spPr/>
    </dgm:pt>
    <dgm:pt modelId="{C83A555F-634F-1D47-A45B-454812012186}" type="pres">
      <dgm:prSet presAssocID="{32220C13-FD06-4555-B189-F242750E982A}" presName="sibTransComposite" presStyleCnt="0"/>
      <dgm:spPr/>
    </dgm:pt>
    <dgm:pt modelId="{6E8712AE-A596-C543-B4BE-F58D06544379}" type="pres">
      <dgm:prSet presAssocID="{9FC103B4-8788-43DF-878F-0DBDBC58E2C7}" presName="compositeNode" presStyleCnt="0"/>
      <dgm:spPr/>
    </dgm:pt>
    <dgm:pt modelId="{C990A4F9-D9FC-3341-ABDE-95A3C97F3725}" type="pres">
      <dgm:prSet presAssocID="{9FC103B4-8788-43DF-878F-0DBDBC58E2C7}" presName="parTx" presStyleLbl="node1" presStyleIdx="0" presStyleCnt="0">
        <dgm:presLayoutVars>
          <dgm:chMax val="0"/>
          <dgm:chPref val="0"/>
          <dgm:bulletEnabled val="1"/>
        </dgm:presLayoutVars>
      </dgm:prSet>
      <dgm:spPr/>
    </dgm:pt>
    <dgm:pt modelId="{F38E7599-4F6E-9D49-87F3-DA4170E35176}" type="pres">
      <dgm:prSet presAssocID="{9FC103B4-8788-43DF-878F-0DBDBC58E2C7}" presName="parSh" presStyleCnt="0"/>
      <dgm:spPr/>
    </dgm:pt>
    <dgm:pt modelId="{890B6082-E672-A540-B3F7-183D4DDA2D8B}" type="pres">
      <dgm:prSet presAssocID="{9FC103B4-8788-43DF-878F-0DBDBC58E2C7}" presName="lineNode" presStyleLbl="alignAccFollowNode1" presStyleIdx="12" presStyleCnt="18"/>
      <dgm:spPr/>
    </dgm:pt>
    <dgm:pt modelId="{2F66E930-3574-6E4C-814B-2726826C5374}" type="pres">
      <dgm:prSet presAssocID="{9FC103B4-8788-43DF-878F-0DBDBC58E2C7}" presName="lineArrowNode" presStyleLbl="alignAccFollowNode1" presStyleIdx="13" presStyleCnt="18"/>
      <dgm:spPr/>
    </dgm:pt>
    <dgm:pt modelId="{8FA755C1-2A64-7C4D-9EAC-F2807A08BFEF}" type="pres">
      <dgm:prSet presAssocID="{27FB2539-734A-4D9E-AF4E-189B1CD60748}" presName="sibTransNodeCircle" presStyleLbl="alignNode1" presStyleIdx="4" presStyleCnt="6">
        <dgm:presLayoutVars>
          <dgm:chMax val="0"/>
          <dgm:bulletEnabled/>
        </dgm:presLayoutVars>
      </dgm:prSet>
      <dgm:spPr/>
    </dgm:pt>
    <dgm:pt modelId="{BE603027-DB8E-894C-98E6-ABC7598E8600}" type="pres">
      <dgm:prSet presAssocID="{27FB2539-734A-4D9E-AF4E-189B1CD60748}" presName="spacerBetweenCircleAndCallout" presStyleCnt="0">
        <dgm:presLayoutVars/>
      </dgm:prSet>
      <dgm:spPr/>
    </dgm:pt>
    <dgm:pt modelId="{5E8E5BC9-E0A6-464A-B691-A6923B72BE4D}" type="pres">
      <dgm:prSet presAssocID="{9FC103B4-8788-43DF-878F-0DBDBC58E2C7}" presName="nodeText" presStyleLbl="alignAccFollowNode1" presStyleIdx="14" presStyleCnt="18">
        <dgm:presLayoutVars>
          <dgm:bulletEnabled val="1"/>
        </dgm:presLayoutVars>
      </dgm:prSet>
      <dgm:spPr/>
    </dgm:pt>
    <dgm:pt modelId="{166BA6D8-0406-5548-9E12-D80F0355D0F6}" type="pres">
      <dgm:prSet presAssocID="{27FB2539-734A-4D9E-AF4E-189B1CD60748}" presName="sibTransComposite" presStyleCnt="0"/>
      <dgm:spPr/>
    </dgm:pt>
    <dgm:pt modelId="{101E5AD0-2977-9142-93FB-67C97C9A9C6A}" type="pres">
      <dgm:prSet presAssocID="{8B828BED-26D9-4D69-9D77-55E5AE4646DE}" presName="compositeNode" presStyleCnt="0"/>
      <dgm:spPr/>
    </dgm:pt>
    <dgm:pt modelId="{E3257241-B3CE-994A-80BA-D9C43E67EB26}" type="pres">
      <dgm:prSet presAssocID="{8B828BED-26D9-4D69-9D77-55E5AE4646DE}" presName="parTx" presStyleLbl="node1" presStyleIdx="0" presStyleCnt="0">
        <dgm:presLayoutVars>
          <dgm:chMax val="0"/>
          <dgm:chPref val="0"/>
          <dgm:bulletEnabled val="1"/>
        </dgm:presLayoutVars>
      </dgm:prSet>
      <dgm:spPr/>
    </dgm:pt>
    <dgm:pt modelId="{10B2D563-45DF-394A-8997-95543BAD819C}" type="pres">
      <dgm:prSet presAssocID="{8B828BED-26D9-4D69-9D77-55E5AE4646DE}" presName="parSh" presStyleCnt="0"/>
      <dgm:spPr/>
    </dgm:pt>
    <dgm:pt modelId="{C5B18FA6-3095-294E-ACA2-813EA31746C2}" type="pres">
      <dgm:prSet presAssocID="{8B828BED-26D9-4D69-9D77-55E5AE4646DE}" presName="lineNode" presStyleLbl="alignAccFollowNode1" presStyleIdx="15" presStyleCnt="18"/>
      <dgm:spPr/>
    </dgm:pt>
    <dgm:pt modelId="{39521CAD-9D73-4D4E-86DE-C655056A4236}" type="pres">
      <dgm:prSet presAssocID="{8B828BED-26D9-4D69-9D77-55E5AE4646DE}" presName="lineArrowNode" presStyleLbl="alignAccFollowNode1" presStyleIdx="16" presStyleCnt="18"/>
      <dgm:spPr/>
    </dgm:pt>
    <dgm:pt modelId="{D05B9ABF-7D89-BF40-BB56-2269D2DD2135}" type="pres">
      <dgm:prSet presAssocID="{42D9B1FD-861D-4BDA-BF06-788187A1B02F}" presName="sibTransNodeCircle" presStyleLbl="alignNode1" presStyleIdx="5" presStyleCnt="6">
        <dgm:presLayoutVars>
          <dgm:chMax val="0"/>
          <dgm:bulletEnabled/>
        </dgm:presLayoutVars>
      </dgm:prSet>
      <dgm:spPr/>
    </dgm:pt>
    <dgm:pt modelId="{FE06082A-B9B3-3543-BE56-0D943114E90C}" type="pres">
      <dgm:prSet presAssocID="{42D9B1FD-861D-4BDA-BF06-788187A1B02F}" presName="spacerBetweenCircleAndCallout" presStyleCnt="0">
        <dgm:presLayoutVars/>
      </dgm:prSet>
      <dgm:spPr/>
    </dgm:pt>
    <dgm:pt modelId="{A2A613CD-646A-014E-8E7A-05E4AAE61329}" type="pres">
      <dgm:prSet presAssocID="{8B828BED-26D9-4D69-9D77-55E5AE4646DE}" presName="nodeText" presStyleLbl="alignAccFollowNode1" presStyleIdx="17" presStyleCnt="18">
        <dgm:presLayoutVars>
          <dgm:bulletEnabled val="1"/>
        </dgm:presLayoutVars>
      </dgm:prSet>
      <dgm:spPr/>
    </dgm:pt>
  </dgm:ptLst>
  <dgm:cxnLst>
    <dgm:cxn modelId="{D0EFE602-6730-1941-A9A2-5D3560840C3C}" type="presOf" srcId="{8B828BED-26D9-4D69-9D77-55E5AE4646DE}" destId="{A2A613CD-646A-014E-8E7A-05E4AAE61329}" srcOrd="0" destOrd="0" presId="urn:microsoft.com/office/officeart/2016/7/layout/LinearArrowProcessNumbered"/>
    <dgm:cxn modelId="{36CBDD2B-886E-AE43-8039-A971E79C5636}" type="presOf" srcId="{32220C13-FD06-4555-B189-F242750E982A}" destId="{2BCCAE32-19ED-3342-A534-A9D9E43698ED}" srcOrd="0" destOrd="0" presId="urn:microsoft.com/office/officeart/2016/7/layout/LinearArrowProcessNumbered"/>
    <dgm:cxn modelId="{06040F2D-5E90-5B4D-9EFF-8E8EF72FEA59}" type="presOf" srcId="{52A47FF9-2F82-4DF9-B6F8-35665972AD94}" destId="{69A2D616-A57F-0A45-9CF1-2B9FAE497830}" srcOrd="0" destOrd="0" presId="urn:microsoft.com/office/officeart/2016/7/layout/LinearArrowProcessNumbered"/>
    <dgm:cxn modelId="{35D56660-7983-9D4D-BD27-D95455338E54}" type="presOf" srcId="{2B8307A5-782E-4A4A-A3AD-F68B61D2E892}" destId="{68A3CEFF-98E9-D641-8AC1-85661C51D95F}" srcOrd="0" destOrd="0" presId="urn:microsoft.com/office/officeart/2016/7/layout/LinearArrowProcessNumbered"/>
    <dgm:cxn modelId="{A97FAC41-361C-414C-91D6-75F6F0464978}" type="presOf" srcId="{42D9B1FD-861D-4BDA-BF06-788187A1B02F}" destId="{D05B9ABF-7D89-BF40-BB56-2269D2DD2135}" srcOrd="0" destOrd="0" presId="urn:microsoft.com/office/officeart/2016/7/layout/LinearArrowProcessNumbered"/>
    <dgm:cxn modelId="{86C4D252-7A14-B943-A5F9-A3CE2AD291FC}" type="presOf" srcId="{1138D78A-C5AC-4CB5-B49F-C4AF192CD7CC}" destId="{74822052-A8A9-C34B-9685-C91450B4B114}" srcOrd="0" destOrd="0" presId="urn:microsoft.com/office/officeart/2016/7/layout/LinearArrowProcessNumbered"/>
    <dgm:cxn modelId="{14B49359-DD5D-A34D-9207-BE5B3F75352D}" type="presOf" srcId="{E659BE99-7FDB-45C1-BBB1-F395C347A181}" destId="{4DFFDD83-42C6-8D4A-97E2-0D5BB250CE0A}" srcOrd="0" destOrd="0" presId="urn:microsoft.com/office/officeart/2016/7/layout/LinearArrowProcessNumbered"/>
    <dgm:cxn modelId="{DC3AB37C-1F80-6949-9297-EB019A9FB753}" type="presOf" srcId="{D246166F-E27A-430D-8534-F40F8EA98209}" destId="{E8D3F804-BF29-5449-91AF-C58114B55E2B}" srcOrd="0" destOrd="0" presId="urn:microsoft.com/office/officeart/2016/7/layout/LinearArrowProcessNumbered"/>
    <dgm:cxn modelId="{0592AA85-C12D-0E48-8F9B-B3AA8E60390F}" type="presOf" srcId="{27FB2539-734A-4D9E-AF4E-189B1CD60748}" destId="{8FA755C1-2A64-7C4D-9EAC-F2807A08BFEF}" srcOrd="0" destOrd="0" presId="urn:microsoft.com/office/officeart/2016/7/layout/LinearArrowProcessNumbered"/>
    <dgm:cxn modelId="{5D08F994-D494-4C07-9C7F-4FF235B63F6D}" srcId="{2B8307A5-782E-4A4A-A3AD-F68B61D2E892}" destId="{8B828BED-26D9-4D69-9D77-55E5AE4646DE}" srcOrd="5" destOrd="0" parTransId="{2BEC1380-87EE-4BE9-800A-78916DB14444}" sibTransId="{42D9B1FD-861D-4BDA-BF06-788187A1B02F}"/>
    <dgm:cxn modelId="{89F84E9B-96E6-EF42-BD3D-8799F33C4DDC}" type="presOf" srcId="{9FC103B4-8788-43DF-878F-0DBDBC58E2C7}" destId="{5E8E5BC9-E0A6-464A-B691-A6923B72BE4D}" srcOrd="0" destOrd="0" presId="urn:microsoft.com/office/officeart/2016/7/layout/LinearArrowProcessNumbered"/>
    <dgm:cxn modelId="{4C817A9C-39F1-4DF9-A7FA-04727D6DACC5}" srcId="{2B8307A5-782E-4A4A-A3AD-F68B61D2E892}" destId="{7FBAB489-2D84-48BA-9AC4-A449103D8C7E}" srcOrd="3" destOrd="0" parTransId="{FD387848-7844-49CF-B38B-9AF7CB0E7ED3}" sibTransId="{32220C13-FD06-4555-B189-F242750E982A}"/>
    <dgm:cxn modelId="{22ADA6AA-9594-4A5E-B10E-DC2350285407}" srcId="{2B8307A5-782E-4A4A-A3AD-F68B61D2E892}" destId="{1138D78A-C5AC-4CB5-B49F-C4AF192CD7CC}" srcOrd="2" destOrd="0" parTransId="{EE297728-5A80-486C-AC37-D30B016A50A8}" sibTransId="{52A47FF9-2F82-4DF9-B6F8-35665972AD94}"/>
    <dgm:cxn modelId="{9F6515BD-C40D-45EB-8149-55BF03FA19B9}" srcId="{2B8307A5-782E-4A4A-A3AD-F68B61D2E892}" destId="{D246166F-E27A-430D-8534-F40F8EA98209}" srcOrd="1" destOrd="0" parTransId="{AA4754BB-73DE-469D-B6FE-A540ACD3DBD7}" sibTransId="{9C854C18-650C-4B14-B6E2-F3A944ECE75F}"/>
    <dgm:cxn modelId="{FC8E85BD-4ECC-9B4F-B27F-1D6F11701299}" type="presOf" srcId="{9C854C18-650C-4B14-B6E2-F3A944ECE75F}" destId="{CA35B055-E577-EE43-9BFB-E6298C2A1FF3}" srcOrd="0" destOrd="0" presId="urn:microsoft.com/office/officeart/2016/7/layout/LinearArrowProcessNumbered"/>
    <dgm:cxn modelId="{359013C8-A7DC-4BF1-86C0-32894FE6A688}" srcId="{2B8307A5-782E-4A4A-A3AD-F68B61D2E892}" destId="{9FC103B4-8788-43DF-878F-0DBDBC58E2C7}" srcOrd="4" destOrd="0" parTransId="{000D89AE-6E0D-45F7-B1D4-A2F299E0D247}" sibTransId="{27FB2539-734A-4D9E-AF4E-189B1CD60748}"/>
    <dgm:cxn modelId="{E186A6D0-61EB-4F29-8EE8-E3B8DFD4F9EF}" srcId="{2B8307A5-782E-4A4A-A3AD-F68B61D2E892}" destId="{E659BE99-7FDB-45C1-BBB1-F395C347A181}" srcOrd="0" destOrd="0" parTransId="{5BC093B4-7FA4-49BD-9D8F-45FAD3409441}" sibTransId="{0C4116C5-7119-4741-BAD5-53DCC51C855C}"/>
    <dgm:cxn modelId="{FABB67D7-8C6C-8E4F-9E69-5258A21095CF}" type="presOf" srcId="{7FBAB489-2D84-48BA-9AC4-A449103D8C7E}" destId="{32BC8A43-534C-FF4D-A819-7EA4D9549888}" srcOrd="0" destOrd="0" presId="urn:microsoft.com/office/officeart/2016/7/layout/LinearArrowProcessNumbered"/>
    <dgm:cxn modelId="{93A9B6DD-F460-6A4D-B635-D5909798BD7C}" type="presOf" srcId="{0C4116C5-7119-4741-BAD5-53DCC51C855C}" destId="{806AF909-A0A5-5742-AC87-882DAEDC53AC}" srcOrd="0" destOrd="0" presId="urn:microsoft.com/office/officeart/2016/7/layout/LinearArrowProcessNumbered"/>
    <dgm:cxn modelId="{2F2ECB66-F14C-714A-989C-987C7CE82FE7}" type="presParOf" srcId="{68A3CEFF-98E9-D641-8AC1-85661C51D95F}" destId="{B56056F8-B752-2046-9E1E-1E488714DFD9}" srcOrd="0" destOrd="0" presId="urn:microsoft.com/office/officeart/2016/7/layout/LinearArrowProcessNumbered"/>
    <dgm:cxn modelId="{3E1F8A72-EF05-5440-BE66-C033EABD23E8}" type="presParOf" srcId="{B56056F8-B752-2046-9E1E-1E488714DFD9}" destId="{CFCECED6-042F-0B41-A015-20609D158787}" srcOrd="0" destOrd="0" presId="urn:microsoft.com/office/officeart/2016/7/layout/LinearArrowProcessNumbered"/>
    <dgm:cxn modelId="{A9218F57-6649-C447-962B-3BC19F319E5C}" type="presParOf" srcId="{B56056F8-B752-2046-9E1E-1E488714DFD9}" destId="{726EC431-3CF9-2B4E-9AA0-83E86929F478}" srcOrd="1" destOrd="0" presId="urn:microsoft.com/office/officeart/2016/7/layout/LinearArrowProcessNumbered"/>
    <dgm:cxn modelId="{5948181D-ECEE-AF42-8138-18B0F14630B9}" type="presParOf" srcId="{726EC431-3CF9-2B4E-9AA0-83E86929F478}" destId="{820C7BF7-DA80-5B41-A773-46311E4C740B}" srcOrd="0" destOrd="0" presId="urn:microsoft.com/office/officeart/2016/7/layout/LinearArrowProcessNumbered"/>
    <dgm:cxn modelId="{C9078EEC-4E0A-2A4D-B5FE-0EF4EE229825}" type="presParOf" srcId="{726EC431-3CF9-2B4E-9AA0-83E86929F478}" destId="{1F820C8F-4488-804B-ACEE-38ABF35EEF93}" srcOrd="1" destOrd="0" presId="urn:microsoft.com/office/officeart/2016/7/layout/LinearArrowProcessNumbered"/>
    <dgm:cxn modelId="{04DE16D6-D74D-4B4A-A463-CE5698DCDE3F}" type="presParOf" srcId="{726EC431-3CF9-2B4E-9AA0-83E86929F478}" destId="{806AF909-A0A5-5742-AC87-882DAEDC53AC}" srcOrd="2" destOrd="0" presId="urn:microsoft.com/office/officeart/2016/7/layout/LinearArrowProcessNumbered"/>
    <dgm:cxn modelId="{D88CDB90-05C4-8F43-8EC4-7274301A3B08}" type="presParOf" srcId="{726EC431-3CF9-2B4E-9AA0-83E86929F478}" destId="{DBE91350-9F54-EE41-B848-04186C29503E}" srcOrd="3" destOrd="0" presId="urn:microsoft.com/office/officeart/2016/7/layout/LinearArrowProcessNumbered"/>
    <dgm:cxn modelId="{5AD36E58-A63B-D540-AB1E-D29E5D0F352B}" type="presParOf" srcId="{B56056F8-B752-2046-9E1E-1E488714DFD9}" destId="{4DFFDD83-42C6-8D4A-97E2-0D5BB250CE0A}" srcOrd="2" destOrd="0" presId="urn:microsoft.com/office/officeart/2016/7/layout/LinearArrowProcessNumbered"/>
    <dgm:cxn modelId="{BF05F85E-ED0F-204B-9948-74D1B5234C86}" type="presParOf" srcId="{68A3CEFF-98E9-D641-8AC1-85661C51D95F}" destId="{D66484B1-78C2-4947-A06B-E5182D6549FA}" srcOrd="1" destOrd="0" presId="urn:microsoft.com/office/officeart/2016/7/layout/LinearArrowProcessNumbered"/>
    <dgm:cxn modelId="{6A426129-E330-6243-A54C-7BFDBC88C581}" type="presParOf" srcId="{68A3CEFF-98E9-D641-8AC1-85661C51D95F}" destId="{768D2BB3-1E56-1348-9270-1D9C27BCF5BB}" srcOrd="2" destOrd="0" presId="urn:microsoft.com/office/officeart/2016/7/layout/LinearArrowProcessNumbered"/>
    <dgm:cxn modelId="{04AF7DF1-65DB-5E43-BE50-9AD8FCA1DCB2}" type="presParOf" srcId="{768D2BB3-1E56-1348-9270-1D9C27BCF5BB}" destId="{2FE07CEF-106E-6447-BC50-C6B8592C29EA}" srcOrd="0" destOrd="0" presId="urn:microsoft.com/office/officeart/2016/7/layout/LinearArrowProcessNumbered"/>
    <dgm:cxn modelId="{DF25EA7E-D4A9-C24C-9BE9-26D503DFA858}" type="presParOf" srcId="{768D2BB3-1E56-1348-9270-1D9C27BCF5BB}" destId="{A9D59CF3-EFAB-544F-B722-A24EBB2C3F40}" srcOrd="1" destOrd="0" presId="urn:microsoft.com/office/officeart/2016/7/layout/LinearArrowProcessNumbered"/>
    <dgm:cxn modelId="{CA33E202-FA24-8247-8383-61494197381B}" type="presParOf" srcId="{A9D59CF3-EFAB-544F-B722-A24EBB2C3F40}" destId="{9296280E-E2D0-A941-ABCF-D4171F801E1D}" srcOrd="0" destOrd="0" presId="urn:microsoft.com/office/officeart/2016/7/layout/LinearArrowProcessNumbered"/>
    <dgm:cxn modelId="{220E6DAE-E450-384C-85F8-69292A9BB82C}" type="presParOf" srcId="{A9D59CF3-EFAB-544F-B722-A24EBB2C3F40}" destId="{AC66E4D4-3DC1-FB4B-86DA-1993C8902478}" srcOrd="1" destOrd="0" presId="urn:microsoft.com/office/officeart/2016/7/layout/LinearArrowProcessNumbered"/>
    <dgm:cxn modelId="{3D634A3A-2706-1040-B675-4EB616F26ADC}" type="presParOf" srcId="{A9D59CF3-EFAB-544F-B722-A24EBB2C3F40}" destId="{CA35B055-E577-EE43-9BFB-E6298C2A1FF3}" srcOrd="2" destOrd="0" presId="urn:microsoft.com/office/officeart/2016/7/layout/LinearArrowProcessNumbered"/>
    <dgm:cxn modelId="{AE25A75E-D74E-D84F-BE7B-BA8DDE56EC43}" type="presParOf" srcId="{A9D59CF3-EFAB-544F-B722-A24EBB2C3F40}" destId="{AD0D5C47-DF51-3448-9559-AE1BD672C7DE}" srcOrd="3" destOrd="0" presId="urn:microsoft.com/office/officeart/2016/7/layout/LinearArrowProcessNumbered"/>
    <dgm:cxn modelId="{6EFEACA2-FCAB-734E-A7B2-7E4AD9A72753}" type="presParOf" srcId="{768D2BB3-1E56-1348-9270-1D9C27BCF5BB}" destId="{E8D3F804-BF29-5449-91AF-C58114B55E2B}" srcOrd="2" destOrd="0" presId="urn:microsoft.com/office/officeart/2016/7/layout/LinearArrowProcessNumbered"/>
    <dgm:cxn modelId="{8EC2A034-C53A-D641-A6F1-A5CA5ADD0383}" type="presParOf" srcId="{68A3CEFF-98E9-D641-8AC1-85661C51D95F}" destId="{4BAB6DDD-DAA4-0047-8CEC-FF22F2D9B72B}" srcOrd="3" destOrd="0" presId="urn:microsoft.com/office/officeart/2016/7/layout/LinearArrowProcessNumbered"/>
    <dgm:cxn modelId="{C31CB825-ED59-0A4D-B3F4-C4D7E6981513}" type="presParOf" srcId="{68A3CEFF-98E9-D641-8AC1-85661C51D95F}" destId="{582D492F-1DA7-694E-A9D9-7C8577DE0A4A}" srcOrd="4" destOrd="0" presId="urn:microsoft.com/office/officeart/2016/7/layout/LinearArrowProcessNumbered"/>
    <dgm:cxn modelId="{7442F41C-E44E-0B48-83C2-907F5B3F1208}" type="presParOf" srcId="{582D492F-1DA7-694E-A9D9-7C8577DE0A4A}" destId="{4785825F-7CE7-714B-A638-0963F4A6B50B}" srcOrd="0" destOrd="0" presId="urn:microsoft.com/office/officeart/2016/7/layout/LinearArrowProcessNumbered"/>
    <dgm:cxn modelId="{12566D29-8029-BE4D-B04F-B0BA8407C9DE}" type="presParOf" srcId="{582D492F-1DA7-694E-A9D9-7C8577DE0A4A}" destId="{C9D27369-0D1F-8E4C-AB2A-A044A2965718}" srcOrd="1" destOrd="0" presId="urn:microsoft.com/office/officeart/2016/7/layout/LinearArrowProcessNumbered"/>
    <dgm:cxn modelId="{2FC66C83-C3E9-7043-B05A-893CBBE054A3}" type="presParOf" srcId="{C9D27369-0D1F-8E4C-AB2A-A044A2965718}" destId="{03E844E7-0C86-294D-B84B-9A7CC75FECC9}" srcOrd="0" destOrd="0" presId="urn:microsoft.com/office/officeart/2016/7/layout/LinearArrowProcessNumbered"/>
    <dgm:cxn modelId="{377B0CA6-74EA-A840-8D28-273828779BED}" type="presParOf" srcId="{C9D27369-0D1F-8E4C-AB2A-A044A2965718}" destId="{A2896294-EFB3-4C48-85D1-DD2361EF0DE7}" srcOrd="1" destOrd="0" presId="urn:microsoft.com/office/officeart/2016/7/layout/LinearArrowProcessNumbered"/>
    <dgm:cxn modelId="{6FE88B74-C684-C942-9EAA-C70E00AA0118}" type="presParOf" srcId="{C9D27369-0D1F-8E4C-AB2A-A044A2965718}" destId="{69A2D616-A57F-0A45-9CF1-2B9FAE497830}" srcOrd="2" destOrd="0" presId="urn:microsoft.com/office/officeart/2016/7/layout/LinearArrowProcessNumbered"/>
    <dgm:cxn modelId="{36E95BE3-5E50-EA4C-9BDD-272D71C35FC0}" type="presParOf" srcId="{C9D27369-0D1F-8E4C-AB2A-A044A2965718}" destId="{5593AA41-44B1-5C47-91D6-0FC89E6EADBA}" srcOrd="3" destOrd="0" presId="urn:microsoft.com/office/officeart/2016/7/layout/LinearArrowProcessNumbered"/>
    <dgm:cxn modelId="{B0B64ECC-3062-504A-AA88-456F3AB7C73A}" type="presParOf" srcId="{582D492F-1DA7-694E-A9D9-7C8577DE0A4A}" destId="{74822052-A8A9-C34B-9685-C91450B4B114}" srcOrd="2" destOrd="0" presId="urn:microsoft.com/office/officeart/2016/7/layout/LinearArrowProcessNumbered"/>
    <dgm:cxn modelId="{080D4D00-1F2D-7B47-A0C0-A5696E14F4AF}" type="presParOf" srcId="{68A3CEFF-98E9-D641-8AC1-85661C51D95F}" destId="{EB24F43C-6285-3B4D-9321-A5DABCB4EA59}" srcOrd="5" destOrd="0" presId="urn:microsoft.com/office/officeart/2016/7/layout/LinearArrowProcessNumbered"/>
    <dgm:cxn modelId="{F03554F6-10D2-584F-8F61-8F7F99D23239}" type="presParOf" srcId="{68A3CEFF-98E9-D641-8AC1-85661C51D95F}" destId="{DA7F67DB-5471-E34C-B4BA-2CEE242D176A}" srcOrd="6" destOrd="0" presId="urn:microsoft.com/office/officeart/2016/7/layout/LinearArrowProcessNumbered"/>
    <dgm:cxn modelId="{C81ED081-4CA5-9848-A1B1-F0B7ED3F565B}" type="presParOf" srcId="{DA7F67DB-5471-E34C-B4BA-2CEE242D176A}" destId="{F180470E-7579-4F43-8089-875BEEE4B6C0}" srcOrd="0" destOrd="0" presId="urn:microsoft.com/office/officeart/2016/7/layout/LinearArrowProcessNumbered"/>
    <dgm:cxn modelId="{18F74FB9-A3F1-BC49-976B-DC2069EEF162}" type="presParOf" srcId="{DA7F67DB-5471-E34C-B4BA-2CEE242D176A}" destId="{4F7B0ED5-F4D0-7541-AE79-2A829A77B3E6}" srcOrd="1" destOrd="0" presId="urn:microsoft.com/office/officeart/2016/7/layout/LinearArrowProcessNumbered"/>
    <dgm:cxn modelId="{5EF4F487-4878-1E47-A5BF-9BBB7AB42FA6}" type="presParOf" srcId="{4F7B0ED5-F4D0-7541-AE79-2A829A77B3E6}" destId="{3629FABF-FEAF-EA4E-B162-7680A568D680}" srcOrd="0" destOrd="0" presId="urn:microsoft.com/office/officeart/2016/7/layout/LinearArrowProcessNumbered"/>
    <dgm:cxn modelId="{2A783196-BBCF-BE44-BADE-A6F4DE85901A}" type="presParOf" srcId="{4F7B0ED5-F4D0-7541-AE79-2A829A77B3E6}" destId="{160DD9E8-529B-174D-8B24-BA7A8BFFCF7F}" srcOrd="1" destOrd="0" presId="urn:microsoft.com/office/officeart/2016/7/layout/LinearArrowProcessNumbered"/>
    <dgm:cxn modelId="{0F455062-0446-D044-987F-EDDF330DF64A}" type="presParOf" srcId="{4F7B0ED5-F4D0-7541-AE79-2A829A77B3E6}" destId="{2BCCAE32-19ED-3342-A534-A9D9E43698ED}" srcOrd="2" destOrd="0" presId="urn:microsoft.com/office/officeart/2016/7/layout/LinearArrowProcessNumbered"/>
    <dgm:cxn modelId="{6FE70512-7D59-1542-AD13-B0EC4649E411}" type="presParOf" srcId="{4F7B0ED5-F4D0-7541-AE79-2A829A77B3E6}" destId="{2B6B70C9-0E7C-B841-8BF9-F71844FBD59F}" srcOrd="3" destOrd="0" presId="urn:microsoft.com/office/officeart/2016/7/layout/LinearArrowProcessNumbered"/>
    <dgm:cxn modelId="{A7E1F470-764C-FA4D-B6DB-F6EF473D17DF}" type="presParOf" srcId="{DA7F67DB-5471-E34C-B4BA-2CEE242D176A}" destId="{32BC8A43-534C-FF4D-A819-7EA4D9549888}" srcOrd="2" destOrd="0" presId="urn:microsoft.com/office/officeart/2016/7/layout/LinearArrowProcessNumbered"/>
    <dgm:cxn modelId="{26EF3980-E9DC-A64D-A3B1-DFA7BA37CF5A}" type="presParOf" srcId="{68A3CEFF-98E9-D641-8AC1-85661C51D95F}" destId="{C83A555F-634F-1D47-A45B-454812012186}" srcOrd="7" destOrd="0" presId="urn:microsoft.com/office/officeart/2016/7/layout/LinearArrowProcessNumbered"/>
    <dgm:cxn modelId="{8484F8CF-6EF0-3A44-BB32-0E40A6FC1525}" type="presParOf" srcId="{68A3CEFF-98E9-D641-8AC1-85661C51D95F}" destId="{6E8712AE-A596-C543-B4BE-F58D06544379}" srcOrd="8" destOrd="0" presId="urn:microsoft.com/office/officeart/2016/7/layout/LinearArrowProcessNumbered"/>
    <dgm:cxn modelId="{1CECABA8-F0CC-224D-B5E6-16B0E41346E2}" type="presParOf" srcId="{6E8712AE-A596-C543-B4BE-F58D06544379}" destId="{C990A4F9-D9FC-3341-ABDE-95A3C97F3725}" srcOrd="0" destOrd="0" presId="urn:microsoft.com/office/officeart/2016/7/layout/LinearArrowProcessNumbered"/>
    <dgm:cxn modelId="{6A2C0FBB-E933-3E41-87ED-7C682F22A8AF}" type="presParOf" srcId="{6E8712AE-A596-C543-B4BE-F58D06544379}" destId="{F38E7599-4F6E-9D49-87F3-DA4170E35176}" srcOrd="1" destOrd="0" presId="urn:microsoft.com/office/officeart/2016/7/layout/LinearArrowProcessNumbered"/>
    <dgm:cxn modelId="{4B72F347-9EE7-BA44-9A5F-09BA92D35E9D}" type="presParOf" srcId="{F38E7599-4F6E-9D49-87F3-DA4170E35176}" destId="{890B6082-E672-A540-B3F7-183D4DDA2D8B}" srcOrd="0" destOrd="0" presId="urn:microsoft.com/office/officeart/2016/7/layout/LinearArrowProcessNumbered"/>
    <dgm:cxn modelId="{B1C59778-9D07-364C-A185-67E16AC2BD0E}" type="presParOf" srcId="{F38E7599-4F6E-9D49-87F3-DA4170E35176}" destId="{2F66E930-3574-6E4C-814B-2726826C5374}" srcOrd="1" destOrd="0" presId="urn:microsoft.com/office/officeart/2016/7/layout/LinearArrowProcessNumbered"/>
    <dgm:cxn modelId="{16D412ED-9F7D-1C4A-BE8C-40D45B544D79}" type="presParOf" srcId="{F38E7599-4F6E-9D49-87F3-DA4170E35176}" destId="{8FA755C1-2A64-7C4D-9EAC-F2807A08BFEF}" srcOrd="2" destOrd="0" presId="urn:microsoft.com/office/officeart/2016/7/layout/LinearArrowProcessNumbered"/>
    <dgm:cxn modelId="{6D948544-40D1-2943-8C9C-73AE1E253E54}" type="presParOf" srcId="{F38E7599-4F6E-9D49-87F3-DA4170E35176}" destId="{BE603027-DB8E-894C-98E6-ABC7598E8600}" srcOrd="3" destOrd="0" presId="urn:microsoft.com/office/officeart/2016/7/layout/LinearArrowProcessNumbered"/>
    <dgm:cxn modelId="{2A50EE88-15E3-9B47-95A2-268157EA90BB}" type="presParOf" srcId="{6E8712AE-A596-C543-B4BE-F58D06544379}" destId="{5E8E5BC9-E0A6-464A-B691-A6923B72BE4D}" srcOrd="2" destOrd="0" presId="urn:microsoft.com/office/officeart/2016/7/layout/LinearArrowProcessNumbered"/>
    <dgm:cxn modelId="{7EF741AC-DED8-4E40-8B7F-408ED87B9BFF}" type="presParOf" srcId="{68A3CEFF-98E9-D641-8AC1-85661C51D95F}" destId="{166BA6D8-0406-5548-9E12-D80F0355D0F6}" srcOrd="9" destOrd="0" presId="urn:microsoft.com/office/officeart/2016/7/layout/LinearArrowProcessNumbered"/>
    <dgm:cxn modelId="{AA687EDD-5AF3-8B42-80D3-CC90AE9605C7}" type="presParOf" srcId="{68A3CEFF-98E9-D641-8AC1-85661C51D95F}" destId="{101E5AD0-2977-9142-93FB-67C97C9A9C6A}" srcOrd="10" destOrd="0" presId="urn:microsoft.com/office/officeart/2016/7/layout/LinearArrowProcessNumbered"/>
    <dgm:cxn modelId="{8AB1D0D4-9C22-AB45-9C9E-EE5AC8F64415}" type="presParOf" srcId="{101E5AD0-2977-9142-93FB-67C97C9A9C6A}" destId="{E3257241-B3CE-994A-80BA-D9C43E67EB26}" srcOrd="0" destOrd="0" presId="urn:microsoft.com/office/officeart/2016/7/layout/LinearArrowProcessNumbered"/>
    <dgm:cxn modelId="{D30B841D-A2DD-BE4D-BF33-E4918BD7A7BA}" type="presParOf" srcId="{101E5AD0-2977-9142-93FB-67C97C9A9C6A}" destId="{10B2D563-45DF-394A-8997-95543BAD819C}" srcOrd="1" destOrd="0" presId="urn:microsoft.com/office/officeart/2016/7/layout/LinearArrowProcessNumbered"/>
    <dgm:cxn modelId="{B921589E-5669-5D4F-BB24-E377C85C2BB6}" type="presParOf" srcId="{10B2D563-45DF-394A-8997-95543BAD819C}" destId="{C5B18FA6-3095-294E-ACA2-813EA31746C2}" srcOrd="0" destOrd="0" presId="urn:microsoft.com/office/officeart/2016/7/layout/LinearArrowProcessNumbered"/>
    <dgm:cxn modelId="{467ED325-E70C-5842-BCA7-6F5BC19F7BBC}" type="presParOf" srcId="{10B2D563-45DF-394A-8997-95543BAD819C}" destId="{39521CAD-9D73-4D4E-86DE-C655056A4236}" srcOrd="1" destOrd="0" presId="urn:microsoft.com/office/officeart/2016/7/layout/LinearArrowProcessNumbered"/>
    <dgm:cxn modelId="{BA11EBE0-F499-A148-A094-A36D27DF1181}" type="presParOf" srcId="{10B2D563-45DF-394A-8997-95543BAD819C}" destId="{D05B9ABF-7D89-BF40-BB56-2269D2DD2135}" srcOrd="2" destOrd="0" presId="urn:microsoft.com/office/officeart/2016/7/layout/LinearArrowProcessNumbered"/>
    <dgm:cxn modelId="{905C989A-5D60-2A4C-B755-556D88F55769}" type="presParOf" srcId="{10B2D563-45DF-394A-8997-95543BAD819C}" destId="{FE06082A-B9B3-3543-BE56-0D943114E90C}" srcOrd="3" destOrd="0" presId="urn:microsoft.com/office/officeart/2016/7/layout/LinearArrowProcessNumbered"/>
    <dgm:cxn modelId="{4A503303-7A83-D64F-B764-14E1FEF6FD32}" type="presParOf" srcId="{101E5AD0-2977-9142-93FB-67C97C9A9C6A}" destId="{A2A613CD-646A-014E-8E7A-05E4AAE61329}"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4D28607-11B7-47AA-B8B8-DB20473634A1}" type="doc">
      <dgm:prSet loTypeId="urn:microsoft.com/office/officeart/2005/8/layout/vList5" loCatId="list" qsTypeId="urn:microsoft.com/office/officeart/2005/8/quickstyle/simple1" qsCatId="simple" csTypeId="urn:microsoft.com/office/officeart/2005/8/colors/accent3_2" csCatId="accent3"/>
      <dgm:spPr/>
      <dgm:t xml:space="preserve">
        <a:bodyPr/>
        <a:lstStyle/>
        <a:p>
          <a:endParaRPr lang="en-US"/>
        </a:p>
      </dgm:t>
    </dgm:pt>
    <dgm:pt modelId="{82DAEA0D-D663-4CDE-B0E5-D21DCBD7BD23}">
      <dgm:prSet/>
      <dgm:spPr/>
      <dgm:t xml:space="preserve">
        <a:bodyPr/>
        <a:lstStyle/>
        <a:p>
          <a:r>
            <a:rPr lang="en-US"/>
            <a:t>Note down patterns.</a:t>
          </a:r>
        </a:p>
      </dgm:t>
    </dgm:pt>
    <dgm:pt modelId="{BCB06355-727B-4989-AEB9-FC94851587A6}" type="parTrans" cxnId="{459C619D-1309-463E-9C76-2A1C5C362594}">
      <dgm:prSet/>
      <dgm:spPr/>
      <dgm:t xml:space="preserve">
        <a:bodyPr/>
        <a:lstStyle/>
        <a:p>
          <a:endParaRPr lang="en-US"/>
        </a:p>
      </dgm:t>
    </dgm:pt>
    <dgm:pt modelId="{57EE3325-723C-4F04-A507-0E4E4F07CE1E}" type="sibTrans" cxnId="{459C619D-1309-463E-9C76-2A1C5C362594}">
      <dgm:prSet/>
      <dgm:spPr/>
      <dgm:t xml:space="preserve">
        <a:bodyPr/>
        <a:lstStyle/>
        <a:p>
          <a:endParaRPr lang="en-US"/>
        </a:p>
      </dgm:t>
    </dgm:pt>
    <dgm:pt modelId="{7AD8C249-F03D-4235-B7BE-9D6FB68CB797}">
      <dgm:prSet/>
      <dgm:spPr/>
      <dgm:t xml:space="preserve">
        <a:bodyPr/>
        <a:lstStyle/>
        <a:p>
          <a:r>
            <a:rPr lang="en-US"/>
            <a:t xml:space="preserve">Trend </a:t>
          </a:r>
        </a:p>
      </dgm:t>
    </dgm:pt>
    <dgm:pt modelId="{F6A955DB-845C-4B52-B500-D3DB731E9BA0}" type="parTrans" cxnId="{365CBCDD-DFD5-4F25-827C-00677A7583B5}">
      <dgm:prSet/>
      <dgm:spPr/>
      <dgm:t xml:space="preserve">
        <a:bodyPr/>
        <a:lstStyle/>
        <a:p>
          <a:endParaRPr lang="en-US"/>
        </a:p>
      </dgm:t>
    </dgm:pt>
    <dgm:pt modelId="{3906D399-E5EC-4C6A-9DAA-F820F2EDE464}" type="sibTrans" cxnId="{365CBCDD-DFD5-4F25-827C-00677A7583B5}">
      <dgm:prSet/>
      <dgm:spPr/>
      <dgm:t xml:space="preserve">
        <a:bodyPr/>
        <a:lstStyle/>
        <a:p>
          <a:endParaRPr lang="en-US"/>
        </a:p>
      </dgm:t>
    </dgm:pt>
    <dgm:pt modelId="{B4608992-D0A1-4E86-9493-2984D3AD1F9B}">
      <dgm:prSet/>
      <dgm:spPr/>
      <dgm:t xml:space="preserve">
        <a:bodyPr/>
        <a:lstStyle/>
        <a:p>
          <a:r>
            <a:rPr lang="en-US"/>
            <a:t xml:space="preserve">Difference </a:t>
          </a:r>
        </a:p>
      </dgm:t>
    </dgm:pt>
    <dgm:pt modelId="{BBA4B0F9-8C31-47D1-AC08-1A27DFF9DCDC}" type="parTrans" cxnId="{9697B774-A43B-48D6-8F54-6E67D65DCC49}">
      <dgm:prSet/>
      <dgm:spPr/>
      <dgm:t xml:space="preserve">
        <a:bodyPr/>
        <a:lstStyle/>
        <a:p>
          <a:endParaRPr lang="en-US"/>
        </a:p>
      </dgm:t>
    </dgm:pt>
    <dgm:pt modelId="{4FEA01D6-A82C-4DF1-8493-F4912D60688A}" type="sibTrans" cxnId="{9697B774-A43B-48D6-8F54-6E67D65DCC49}">
      <dgm:prSet/>
      <dgm:spPr/>
      <dgm:t xml:space="preserve">
        <a:bodyPr/>
        <a:lstStyle/>
        <a:p>
          <a:endParaRPr lang="en-US"/>
        </a:p>
      </dgm:t>
    </dgm:pt>
    <dgm:pt modelId="{0F56E394-7873-4115-8B52-2FC7BF758D11}">
      <dgm:prSet/>
      <dgm:spPr/>
      <dgm:t xml:space="preserve">
        <a:bodyPr/>
        <a:lstStyle/>
        <a:p>
          <a:r>
            <a:rPr lang="en-US"/>
            <a:t xml:space="preserve">Outlier </a:t>
          </a:r>
        </a:p>
      </dgm:t>
    </dgm:pt>
    <dgm:pt modelId="{4A4508A6-7542-41E8-884F-D19C70FFEF20}" type="parTrans" cxnId="{059C4C16-A41A-4789-8B64-D1CEF8E81266}">
      <dgm:prSet/>
      <dgm:spPr/>
      <dgm:t xml:space="preserve">
        <a:bodyPr/>
        <a:lstStyle/>
        <a:p>
          <a:endParaRPr lang="en-US"/>
        </a:p>
      </dgm:t>
    </dgm:pt>
    <dgm:pt modelId="{D5A5B713-AFB8-4B87-A520-61A295DD9EDA}" type="sibTrans" cxnId="{059C4C16-A41A-4789-8B64-D1CEF8E81266}">
      <dgm:prSet/>
      <dgm:spPr/>
      <dgm:t xml:space="preserve">
        <a:bodyPr/>
        <a:lstStyle/>
        <a:p>
          <a:endParaRPr lang="en-US"/>
        </a:p>
      </dgm:t>
    </dgm:pt>
    <dgm:pt modelId="{58959B58-8CFB-4802-B796-DA9F0A657B5D}">
      <dgm:prSet/>
      <dgm:spPr/>
      <dgm:t xml:space="preserve">
        <a:bodyPr/>
        <a:lstStyle/>
        <a:p>
          <a:r>
            <a:rPr lang="en-US"/>
            <a:t>No relation</a:t>
          </a:r>
        </a:p>
      </dgm:t>
    </dgm:pt>
    <dgm:pt modelId="{DDA7277B-883A-4254-A0B6-B0ABC7030311}" type="parTrans" cxnId="{46445821-AFAC-4F1A-B44F-117D06BC4E3F}">
      <dgm:prSet/>
      <dgm:spPr/>
      <dgm:t xml:space="preserve">
        <a:bodyPr/>
        <a:lstStyle/>
        <a:p>
          <a:endParaRPr lang="en-US"/>
        </a:p>
      </dgm:t>
    </dgm:pt>
    <dgm:pt modelId="{1C23F890-E7DC-46E8-B4B9-7EEC4359F252}" type="sibTrans" cxnId="{46445821-AFAC-4F1A-B44F-117D06BC4E3F}">
      <dgm:prSet/>
      <dgm:spPr/>
      <dgm:t xml:space="preserve">
        <a:bodyPr/>
        <a:lstStyle/>
        <a:p>
          <a:endParaRPr lang="en-US"/>
        </a:p>
      </dgm:t>
    </dgm:pt>
    <dgm:pt modelId="{0EA7031A-AC7A-2945-B3C0-D2931EEE768D}" type="pres">
      <dgm:prSet presAssocID="{34D28607-11B7-47AA-B8B8-DB20473634A1}" presName="Name0" presStyleCnt="0">
        <dgm:presLayoutVars>
          <dgm:dir/>
          <dgm:animLvl val="lvl"/>
          <dgm:resizeHandles val="exact"/>
        </dgm:presLayoutVars>
      </dgm:prSet>
      <dgm:spPr/>
    </dgm:pt>
    <dgm:pt modelId="{1C6211D8-B6D1-EE4F-B017-F972A2419197}" type="pres">
      <dgm:prSet presAssocID="{82DAEA0D-D663-4CDE-B0E5-D21DCBD7BD23}" presName="linNode" presStyleCnt="0"/>
      <dgm:spPr/>
    </dgm:pt>
    <dgm:pt modelId="{890CE14B-76C5-FB4F-B2E4-EA5B4B5FD97D}" type="pres">
      <dgm:prSet presAssocID="{82DAEA0D-D663-4CDE-B0E5-D21DCBD7BD23}" presName="parentText" presStyleLbl="node1" presStyleIdx="0" presStyleCnt="5">
        <dgm:presLayoutVars>
          <dgm:chMax val="1"/>
          <dgm:bulletEnabled val="1"/>
        </dgm:presLayoutVars>
      </dgm:prSet>
      <dgm:spPr/>
    </dgm:pt>
    <dgm:pt modelId="{4A1B0436-0C95-5B4A-BA21-910F234BE586}" type="pres">
      <dgm:prSet presAssocID="{57EE3325-723C-4F04-A507-0E4E4F07CE1E}" presName="sp" presStyleCnt="0"/>
      <dgm:spPr/>
    </dgm:pt>
    <dgm:pt modelId="{981FA49A-82B6-3A48-A053-0F07F5F0B0B1}" type="pres">
      <dgm:prSet presAssocID="{7AD8C249-F03D-4235-B7BE-9D6FB68CB797}" presName="linNode" presStyleCnt="0"/>
      <dgm:spPr/>
    </dgm:pt>
    <dgm:pt modelId="{5B1EA367-AB11-3744-8747-ED597CB9F299}" type="pres">
      <dgm:prSet presAssocID="{7AD8C249-F03D-4235-B7BE-9D6FB68CB797}" presName="parentText" presStyleLbl="node1" presStyleIdx="1" presStyleCnt="5">
        <dgm:presLayoutVars>
          <dgm:chMax val="1"/>
          <dgm:bulletEnabled val="1"/>
        </dgm:presLayoutVars>
      </dgm:prSet>
      <dgm:spPr/>
    </dgm:pt>
    <dgm:pt modelId="{47A13752-AF37-AD48-9F56-98B9DDBD604B}" type="pres">
      <dgm:prSet presAssocID="{3906D399-E5EC-4C6A-9DAA-F820F2EDE464}" presName="sp" presStyleCnt="0"/>
      <dgm:spPr/>
    </dgm:pt>
    <dgm:pt modelId="{5C117919-A006-0044-B3AB-4C463ACFEBB6}" type="pres">
      <dgm:prSet presAssocID="{B4608992-D0A1-4E86-9493-2984D3AD1F9B}" presName="linNode" presStyleCnt="0"/>
      <dgm:spPr/>
    </dgm:pt>
    <dgm:pt modelId="{F8F1510A-AD7B-464D-A1D8-6F7C1FE01A7B}" type="pres">
      <dgm:prSet presAssocID="{B4608992-D0A1-4E86-9493-2984D3AD1F9B}" presName="parentText" presStyleLbl="node1" presStyleIdx="2" presStyleCnt="5">
        <dgm:presLayoutVars>
          <dgm:chMax val="1"/>
          <dgm:bulletEnabled val="1"/>
        </dgm:presLayoutVars>
      </dgm:prSet>
      <dgm:spPr/>
    </dgm:pt>
    <dgm:pt modelId="{63E055A1-23D2-F542-A580-22B623F7E077}" type="pres">
      <dgm:prSet presAssocID="{4FEA01D6-A82C-4DF1-8493-F4912D60688A}" presName="sp" presStyleCnt="0"/>
      <dgm:spPr/>
    </dgm:pt>
    <dgm:pt modelId="{F5D86E32-A01B-F14A-9D18-D1619C53F0CF}" type="pres">
      <dgm:prSet presAssocID="{0F56E394-7873-4115-8B52-2FC7BF758D11}" presName="linNode" presStyleCnt="0"/>
      <dgm:spPr/>
    </dgm:pt>
    <dgm:pt modelId="{83FDAAC5-C2CD-FA46-9A17-F0CACA49A819}" type="pres">
      <dgm:prSet presAssocID="{0F56E394-7873-4115-8B52-2FC7BF758D11}" presName="parentText" presStyleLbl="node1" presStyleIdx="3" presStyleCnt="5">
        <dgm:presLayoutVars>
          <dgm:chMax val="1"/>
          <dgm:bulletEnabled val="1"/>
        </dgm:presLayoutVars>
      </dgm:prSet>
      <dgm:spPr/>
    </dgm:pt>
    <dgm:pt modelId="{0C53F601-20C6-E14F-9EFB-8C9EFA32ED77}" type="pres">
      <dgm:prSet presAssocID="{D5A5B713-AFB8-4B87-A520-61A295DD9EDA}" presName="sp" presStyleCnt="0"/>
      <dgm:spPr/>
    </dgm:pt>
    <dgm:pt modelId="{4654DDC3-6840-5C47-A180-18C368E1C0D5}" type="pres">
      <dgm:prSet presAssocID="{58959B58-8CFB-4802-B796-DA9F0A657B5D}" presName="linNode" presStyleCnt="0"/>
      <dgm:spPr/>
    </dgm:pt>
    <dgm:pt modelId="{145CA84B-79A5-0C4A-8E18-EC885666EA33}" type="pres">
      <dgm:prSet presAssocID="{58959B58-8CFB-4802-B796-DA9F0A657B5D}" presName="parentText" presStyleLbl="node1" presStyleIdx="4" presStyleCnt="5">
        <dgm:presLayoutVars>
          <dgm:chMax val="1"/>
          <dgm:bulletEnabled val="1"/>
        </dgm:presLayoutVars>
      </dgm:prSet>
      <dgm:spPr/>
    </dgm:pt>
  </dgm:ptLst>
  <dgm:cxnLst>
    <dgm:cxn modelId="{68684C0F-B34A-1648-A5DE-B8B4C7BA3744}" type="presOf" srcId="{7AD8C249-F03D-4235-B7BE-9D6FB68CB797}" destId="{5B1EA367-AB11-3744-8747-ED597CB9F299}" srcOrd="0" destOrd="0" presId="urn:microsoft.com/office/officeart/2005/8/layout/vList5"/>
    <dgm:cxn modelId="{14174211-CAA1-FE4A-94E4-933B875B27B3}" type="presOf" srcId="{0F56E394-7873-4115-8B52-2FC7BF758D11}" destId="{83FDAAC5-C2CD-FA46-9A17-F0CACA49A819}" srcOrd="0" destOrd="0" presId="urn:microsoft.com/office/officeart/2005/8/layout/vList5"/>
    <dgm:cxn modelId="{059C4C16-A41A-4789-8B64-D1CEF8E81266}" srcId="{34D28607-11B7-47AA-B8B8-DB20473634A1}" destId="{0F56E394-7873-4115-8B52-2FC7BF758D11}" srcOrd="3" destOrd="0" parTransId="{4A4508A6-7542-41E8-884F-D19C70FFEF20}" sibTransId="{D5A5B713-AFB8-4B87-A520-61A295DD9EDA}"/>
    <dgm:cxn modelId="{46445821-AFAC-4F1A-B44F-117D06BC4E3F}" srcId="{34D28607-11B7-47AA-B8B8-DB20473634A1}" destId="{58959B58-8CFB-4802-B796-DA9F0A657B5D}" srcOrd="4" destOrd="0" parTransId="{DDA7277B-883A-4254-A0B6-B0ABC7030311}" sibTransId="{1C23F890-E7DC-46E8-B4B9-7EEC4359F252}"/>
    <dgm:cxn modelId="{37289128-B0C9-F743-BB0D-44F4FCDB68A5}" type="presOf" srcId="{58959B58-8CFB-4802-B796-DA9F0A657B5D}" destId="{145CA84B-79A5-0C4A-8E18-EC885666EA33}" srcOrd="0" destOrd="0" presId="urn:microsoft.com/office/officeart/2005/8/layout/vList5"/>
    <dgm:cxn modelId="{9697B774-A43B-48D6-8F54-6E67D65DCC49}" srcId="{34D28607-11B7-47AA-B8B8-DB20473634A1}" destId="{B4608992-D0A1-4E86-9493-2984D3AD1F9B}" srcOrd="2" destOrd="0" parTransId="{BBA4B0F9-8C31-47D1-AC08-1A27DFF9DCDC}" sibTransId="{4FEA01D6-A82C-4DF1-8493-F4912D60688A}"/>
    <dgm:cxn modelId="{BAB66957-859B-F445-9642-4398D87525BE}" type="presOf" srcId="{34D28607-11B7-47AA-B8B8-DB20473634A1}" destId="{0EA7031A-AC7A-2945-B3C0-D2931EEE768D}" srcOrd="0" destOrd="0" presId="urn:microsoft.com/office/officeart/2005/8/layout/vList5"/>
    <dgm:cxn modelId="{B36FB890-D991-F148-BE37-9E4361330EAC}" type="presOf" srcId="{82DAEA0D-D663-4CDE-B0E5-D21DCBD7BD23}" destId="{890CE14B-76C5-FB4F-B2E4-EA5B4B5FD97D}" srcOrd="0" destOrd="0" presId="urn:microsoft.com/office/officeart/2005/8/layout/vList5"/>
    <dgm:cxn modelId="{459C619D-1309-463E-9C76-2A1C5C362594}" srcId="{34D28607-11B7-47AA-B8B8-DB20473634A1}" destId="{82DAEA0D-D663-4CDE-B0E5-D21DCBD7BD23}" srcOrd="0" destOrd="0" parTransId="{BCB06355-727B-4989-AEB9-FC94851587A6}" sibTransId="{57EE3325-723C-4F04-A507-0E4E4F07CE1E}"/>
    <dgm:cxn modelId="{220837AA-9194-2B4D-8A22-2634B4C5AEFD}" type="presOf" srcId="{B4608992-D0A1-4E86-9493-2984D3AD1F9B}" destId="{F8F1510A-AD7B-464D-A1D8-6F7C1FE01A7B}" srcOrd="0" destOrd="0" presId="urn:microsoft.com/office/officeart/2005/8/layout/vList5"/>
    <dgm:cxn modelId="{365CBCDD-DFD5-4F25-827C-00677A7583B5}" srcId="{34D28607-11B7-47AA-B8B8-DB20473634A1}" destId="{7AD8C249-F03D-4235-B7BE-9D6FB68CB797}" srcOrd="1" destOrd="0" parTransId="{F6A955DB-845C-4B52-B500-D3DB731E9BA0}" sibTransId="{3906D399-E5EC-4C6A-9DAA-F820F2EDE464}"/>
    <dgm:cxn modelId="{54517B77-759C-3B47-B166-49585C25EEC6}" type="presParOf" srcId="{0EA7031A-AC7A-2945-B3C0-D2931EEE768D}" destId="{1C6211D8-B6D1-EE4F-B017-F972A2419197}" srcOrd="0" destOrd="0" presId="urn:microsoft.com/office/officeart/2005/8/layout/vList5"/>
    <dgm:cxn modelId="{14C6A530-2647-3C4D-88A6-5E41B25EB8EA}" type="presParOf" srcId="{1C6211D8-B6D1-EE4F-B017-F972A2419197}" destId="{890CE14B-76C5-FB4F-B2E4-EA5B4B5FD97D}" srcOrd="0" destOrd="0" presId="urn:microsoft.com/office/officeart/2005/8/layout/vList5"/>
    <dgm:cxn modelId="{3B5B4251-721F-3F47-A85A-257ECB3117C7}" type="presParOf" srcId="{0EA7031A-AC7A-2945-B3C0-D2931EEE768D}" destId="{4A1B0436-0C95-5B4A-BA21-910F234BE586}" srcOrd="1" destOrd="0" presId="urn:microsoft.com/office/officeart/2005/8/layout/vList5"/>
    <dgm:cxn modelId="{5031B3E7-A2AB-C04E-97BF-7FD6FE3159FA}" type="presParOf" srcId="{0EA7031A-AC7A-2945-B3C0-D2931EEE768D}" destId="{981FA49A-82B6-3A48-A053-0F07F5F0B0B1}" srcOrd="2" destOrd="0" presId="urn:microsoft.com/office/officeart/2005/8/layout/vList5"/>
    <dgm:cxn modelId="{A977E23D-0130-5E48-9307-3B5BF4A053D0}" type="presParOf" srcId="{981FA49A-82B6-3A48-A053-0F07F5F0B0B1}" destId="{5B1EA367-AB11-3744-8747-ED597CB9F299}" srcOrd="0" destOrd="0" presId="urn:microsoft.com/office/officeart/2005/8/layout/vList5"/>
    <dgm:cxn modelId="{86E1820A-2836-C542-92FE-7E14EA9F66EF}" type="presParOf" srcId="{0EA7031A-AC7A-2945-B3C0-D2931EEE768D}" destId="{47A13752-AF37-AD48-9F56-98B9DDBD604B}" srcOrd="3" destOrd="0" presId="urn:microsoft.com/office/officeart/2005/8/layout/vList5"/>
    <dgm:cxn modelId="{F1855C7E-7490-DC4B-B1DB-79680F6D0148}" type="presParOf" srcId="{0EA7031A-AC7A-2945-B3C0-D2931EEE768D}" destId="{5C117919-A006-0044-B3AB-4C463ACFEBB6}" srcOrd="4" destOrd="0" presId="urn:microsoft.com/office/officeart/2005/8/layout/vList5"/>
    <dgm:cxn modelId="{BDE63E13-FE52-D94F-91B6-7CAAB8D08CA6}" type="presParOf" srcId="{5C117919-A006-0044-B3AB-4C463ACFEBB6}" destId="{F8F1510A-AD7B-464D-A1D8-6F7C1FE01A7B}" srcOrd="0" destOrd="0" presId="urn:microsoft.com/office/officeart/2005/8/layout/vList5"/>
    <dgm:cxn modelId="{C66C68B8-E74A-8146-B51C-69472A9EB194}" type="presParOf" srcId="{0EA7031A-AC7A-2945-B3C0-D2931EEE768D}" destId="{63E055A1-23D2-F542-A580-22B623F7E077}" srcOrd="5" destOrd="0" presId="urn:microsoft.com/office/officeart/2005/8/layout/vList5"/>
    <dgm:cxn modelId="{2CCB501D-3679-5F46-A0BC-8F6DBF163C62}" type="presParOf" srcId="{0EA7031A-AC7A-2945-B3C0-D2931EEE768D}" destId="{F5D86E32-A01B-F14A-9D18-D1619C53F0CF}" srcOrd="6" destOrd="0" presId="urn:microsoft.com/office/officeart/2005/8/layout/vList5"/>
    <dgm:cxn modelId="{56EF1279-5434-D943-8E1C-E9F787841792}" type="presParOf" srcId="{F5D86E32-A01B-F14A-9D18-D1619C53F0CF}" destId="{83FDAAC5-C2CD-FA46-9A17-F0CACA49A819}" srcOrd="0" destOrd="0" presId="urn:microsoft.com/office/officeart/2005/8/layout/vList5"/>
    <dgm:cxn modelId="{98C2DA68-0AEC-1E4F-84F6-0DF0D1A2C9AB}" type="presParOf" srcId="{0EA7031A-AC7A-2945-B3C0-D2931EEE768D}" destId="{0C53F601-20C6-E14F-9EFB-8C9EFA32ED77}" srcOrd="7" destOrd="0" presId="urn:microsoft.com/office/officeart/2005/8/layout/vList5"/>
    <dgm:cxn modelId="{D47AB0C8-9B1E-5B47-B774-2B1CBCB82E3D}" type="presParOf" srcId="{0EA7031A-AC7A-2945-B3C0-D2931EEE768D}" destId="{4654DDC3-6840-5C47-A180-18C368E1C0D5}" srcOrd="8" destOrd="0" presId="urn:microsoft.com/office/officeart/2005/8/layout/vList5"/>
    <dgm:cxn modelId="{FB7259A8-AF31-7844-A10A-6E01760E7AD3}" type="presParOf" srcId="{4654DDC3-6840-5C47-A180-18C368E1C0D5}" destId="{145CA84B-79A5-0C4A-8E18-EC885666EA3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DB6F8-7E62-D649-9794-A6444FB06ADE}">
      <dsp:nvSpPr>
        <dsp:cNvPr id="0" name=""/>
        <dsp:cNvSpPr/>
      </dsp:nvSpPr>
      <dsp:spPr>
        <a:xfrm>
          <a:off x="3286" y="354167"/>
          <a:ext cx="3203971" cy="835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0" kern="1200" dirty="0"/>
            <a:t>Discover Insights</a:t>
          </a:r>
          <a:endParaRPr lang="en-US" sz="2900" kern="1200" dirty="0"/>
        </a:p>
      </dsp:txBody>
      <dsp:txXfrm>
        <a:off x="3286" y="354167"/>
        <a:ext cx="3203971" cy="835200"/>
      </dsp:txXfrm>
    </dsp:sp>
    <dsp:sp modelId="{05688E63-8771-1742-85D8-A402B5054015}">
      <dsp:nvSpPr>
        <dsp:cNvPr id="0" name=""/>
        <dsp:cNvSpPr/>
      </dsp:nvSpPr>
      <dsp:spPr>
        <a:xfrm>
          <a:off x="3286" y="1189367"/>
          <a:ext cx="3203971" cy="202992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None/>
          </a:pPr>
          <a:r>
            <a:rPr lang="en-US" sz="2900" b="0" kern="1200" dirty="0"/>
            <a:t>Find patterns and relationships you might otherwise miss</a:t>
          </a:r>
        </a:p>
      </dsp:txBody>
      <dsp:txXfrm>
        <a:off x="3286" y="1189367"/>
        <a:ext cx="3203971" cy="2029927"/>
      </dsp:txXfrm>
    </dsp:sp>
    <dsp:sp modelId="{4E1D9195-C8ED-9841-A116-18D235C7CEC6}">
      <dsp:nvSpPr>
        <dsp:cNvPr id="0" name=""/>
        <dsp:cNvSpPr/>
      </dsp:nvSpPr>
      <dsp:spPr>
        <a:xfrm>
          <a:off x="3655814" y="354167"/>
          <a:ext cx="3203971" cy="835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0" kern="1200" dirty="0"/>
            <a:t>Catch Problems</a:t>
          </a:r>
        </a:p>
      </dsp:txBody>
      <dsp:txXfrm>
        <a:off x="3655814" y="354167"/>
        <a:ext cx="3203971" cy="835200"/>
      </dsp:txXfrm>
    </dsp:sp>
    <dsp:sp modelId="{7154BB8D-7072-BD44-BCD7-2011C20C666A}">
      <dsp:nvSpPr>
        <dsp:cNvPr id="0" name=""/>
        <dsp:cNvSpPr/>
      </dsp:nvSpPr>
      <dsp:spPr>
        <a:xfrm>
          <a:off x="3655814" y="1189367"/>
          <a:ext cx="3203971" cy="202992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None/>
          </a:pPr>
          <a:r>
            <a:rPr lang="en-US" sz="2900" b="0" kern="1200" dirty="0"/>
            <a:t>Identify errors and outliers early</a:t>
          </a:r>
        </a:p>
      </dsp:txBody>
      <dsp:txXfrm>
        <a:off x="3655814" y="1189367"/>
        <a:ext cx="3203971" cy="2029927"/>
      </dsp:txXfrm>
    </dsp:sp>
    <dsp:sp modelId="{392659DD-2ED1-A84D-BEA0-0377DE9C57F5}">
      <dsp:nvSpPr>
        <dsp:cNvPr id="0" name=""/>
        <dsp:cNvSpPr/>
      </dsp:nvSpPr>
      <dsp:spPr>
        <a:xfrm>
          <a:off x="7308342" y="354167"/>
          <a:ext cx="3203971" cy="835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0" kern="1200" dirty="0"/>
            <a:t>Guide Analysis</a:t>
          </a:r>
        </a:p>
      </dsp:txBody>
      <dsp:txXfrm>
        <a:off x="7308342" y="354167"/>
        <a:ext cx="3203971" cy="835200"/>
      </dsp:txXfrm>
    </dsp:sp>
    <dsp:sp modelId="{2908BAFF-9449-DE4B-AE89-612B84C3A5B4}">
      <dsp:nvSpPr>
        <dsp:cNvPr id="0" name=""/>
        <dsp:cNvSpPr/>
      </dsp:nvSpPr>
      <dsp:spPr>
        <a:xfrm>
          <a:off x="7308342" y="1189367"/>
          <a:ext cx="3203971" cy="202992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None/>
          </a:pPr>
          <a:r>
            <a:rPr lang="en-US" sz="2900" b="0" kern="1200" dirty="0"/>
            <a:t>Know which direction to take your investigation</a:t>
          </a:r>
        </a:p>
      </dsp:txBody>
      <dsp:txXfrm>
        <a:off x="7308342" y="1189367"/>
        <a:ext cx="3203971" cy="20299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3AAAE5-E373-4149-ABAA-B516C687F912}">
      <dsp:nvSpPr>
        <dsp:cNvPr id="0" name=""/>
        <dsp:cNvSpPr/>
      </dsp:nvSpPr>
      <dsp:spPr>
        <a:xfrm>
          <a:off x="51" y="122856"/>
          <a:ext cx="4913783" cy="720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0" kern="1200" dirty="0"/>
            <a:t>Without EDA</a:t>
          </a:r>
          <a:endParaRPr lang="en-US" sz="2500" kern="1200" dirty="0"/>
        </a:p>
      </dsp:txBody>
      <dsp:txXfrm>
        <a:off x="51" y="122856"/>
        <a:ext cx="4913783" cy="720000"/>
      </dsp:txXfrm>
    </dsp:sp>
    <dsp:sp modelId="{C587ABC2-04E1-1A46-9858-7A1BA4D026F1}">
      <dsp:nvSpPr>
        <dsp:cNvPr id="0" name=""/>
        <dsp:cNvSpPr/>
      </dsp:nvSpPr>
      <dsp:spPr>
        <a:xfrm>
          <a:off x="51" y="842856"/>
          <a:ext cx="4913783" cy="26077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Font typeface="Arial" panose="020B0604020202020204" pitchFamily="34" charset="0"/>
            <a:buChar char="•"/>
          </a:pPr>
          <a:r>
            <a:rPr lang="en-US" sz="2500" b="0" kern="1200" dirty="0"/>
            <a:t>Trying to solve a puzzle without looking at the picture on the box</a:t>
          </a:r>
        </a:p>
        <a:p>
          <a:pPr marL="228600" lvl="1" indent="-228600" algn="l" defTabSz="1111250">
            <a:lnSpc>
              <a:spcPct val="90000"/>
            </a:lnSpc>
            <a:spcBef>
              <a:spcPct val="0"/>
            </a:spcBef>
            <a:spcAft>
              <a:spcPct val="15000"/>
            </a:spcAft>
            <a:buFont typeface="Arial" panose="020B0604020202020204" pitchFamily="34" charset="0"/>
            <a:buChar char="•"/>
          </a:pPr>
          <a:r>
            <a:rPr lang="en-US" sz="2500" b="0" kern="1200" dirty="0"/>
            <a:t>Jumping to conclusions without gathering all the clues</a:t>
          </a:r>
        </a:p>
        <a:p>
          <a:pPr marL="228600" lvl="1" indent="-228600" algn="l" defTabSz="1111250">
            <a:lnSpc>
              <a:spcPct val="90000"/>
            </a:lnSpc>
            <a:spcBef>
              <a:spcPct val="0"/>
            </a:spcBef>
            <a:spcAft>
              <a:spcPct val="15000"/>
            </a:spcAft>
            <a:buFont typeface="Arial" panose="020B0604020202020204" pitchFamily="34" charset="0"/>
            <a:buChar char="•"/>
          </a:pPr>
          <a:r>
            <a:rPr lang="en-US" sz="2500" b="0" kern="1200" dirty="0"/>
            <a:t>Missing important patterns that could lead to wrong answers</a:t>
          </a:r>
        </a:p>
      </dsp:txBody>
      <dsp:txXfrm>
        <a:off x="51" y="842856"/>
        <a:ext cx="4913783" cy="2607750"/>
      </dsp:txXfrm>
    </dsp:sp>
    <dsp:sp modelId="{E2B11A43-AF4E-DF42-A150-F99DE13BADD5}">
      <dsp:nvSpPr>
        <dsp:cNvPr id="0" name=""/>
        <dsp:cNvSpPr/>
      </dsp:nvSpPr>
      <dsp:spPr>
        <a:xfrm>
          <a:off x="5601764" y="122856"/>
          <a:ext cx="4913783" cy="720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0" kern="1200"/>
            <a:t>With EDA</a:t>
          </a:r>
        </a:p>
      </dsp:txBody>
      <dsp:txXfrm>
        <a:off x="5601764" y="122856"/>
        <a:ext cx="4913783" cy="720000"/>
      </dsp:txXfrm>
    </dsp:sp>
    <dsp:sp modelId="{6EE2D022-6C7D-E942-BFB0-9BF16A35FF81}">
      <dsp:nvSpPr>
        <dsp:cNvPr id="0" name=""/>
        <dsp:cNvSpPr/>
      </dsp:nvSpPr>
      <dsp:spPr>
        <a:xfrm>
          <a:off x="5601764" y="842856"/>
          <a:ext cx="4913783" cy="26077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Font typeface="Arial" panose="020B0604020202020204" pitchFamily="34" charset="0"/>
            <a:buChar char="•"/>
          </a:pPr>
          <a:r>
            <a:rPr lang="en-US" sz="2500" b="0" kern="1200" dirty="0"/>
            <a:t>Examining all the evidence before making judgments</a:t>
          </a:r>
        </a:p>
        <a:p>
          <a:pPr marL="228600" lvl="1" indent="-228600" algn="l" defTabSz="1111250">
            <a:lnSpc>
              <a:spcPct val="90000"/>
            </a:lnSpc>
            <a:spcBef>
              <a:spcPct val="0"/>
            </a:spcBef>
            <a:spcAft>
              <a:spcPct val="15000"/>
            </a:spcAft>
            <a:buFont typeface="Arial" panose="020B0604020202020204" pitchFamily="34" charset="0"/>
            <a:buChar char="•"/>
          </a:pPr>
          <a:r>
            <a:rPr lang="en-US" sz="2500" b="0" kern="1200" dirty="0"/>
            <a:t>Letting the data tell its own story</a:t>
          </a:r>
        </a:p>
        <a:p>
          <a:pPr marL="228600" lvl="1" indent="-228600" algn="l" defTabSz="1111250">
            <a:lnSpc>
              <a:spcPct val="90000"/>
            </a:lnSpc>
            <a:spcBef>
              <a:spcPct val="0"/>
            </a:spcBef>
            <a:spcAft>
              <a:spcPct val="15000"/>
            </a:spcAft>
            <a:buChar char="•"/>
          </a:pPr>
          <a:r>
            <a:rPr lang="en-US" sz="2500" b="0" kern="1200" dirty="0"/>
            <a:t>Building a solid foundation for deeper analysis</a:t>
          </a:r>
        </a:p>
      </dsp:txBody>
      <dsp:txXfrm>
        <a:off x="5601764" y="842856"/>
        <a:ext cx="4913783" cy="2607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BFC4E-CB1A-6C47-92B4-D8254CDB41E8}">
      <dsp:nvSpPr>
        <dsp:cNvPr id="0" name=""/>
        <dsp:cNvSpPr/>
      </dsp:nvSpPr>
      <dsp:spPr>
        <a:xfrm>
          <a:off x="3286" y="55755"/>
          <a:ext cx="3203971" cy="777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b="0" kern="1200" dirty="0"/>
            <a:t>What is Sorting?</a:t>
          </a:r>
          <a:endParaRPr lang="en-US" sz="2700" kern="1200" dirty="0"/>
        </a:p>
      </dsp:txBody>
      <dsp:txXfrm>
        <a:off x="3286" y="55755"/>
        <a:ext cx="3203971" cy="777600"/>
      </dsp:txXfrm>
    </dsp:sp>
    <dsp:sp modelId="{1CFDBF10-58B8-E746-9573-AB7A96C92371}">
      <dsp:nvSpPr>
        <dsp:cNvPr id="0" name=""/>
        <dsp:cNvSpPr/>
      </dsp:nvSpPr>
      <dsp:spPr>
        <a:xfrm>
          <a:off x="3286" y="833355"/>
          <a:ext cx="3203971" cy="268435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None/>
          </a:pPr>
          <a:r>
            <a:rPr lang="en-US" sz="2700" b="0" kern="1200" dirty="0"/>
            <a:t>Arranging data in order (highest to lowest, alphabetical, etc.)</a:t>
          </a:r>
        </a:p>
      </dsp:txBody>
      <dsp:txXfrm>
        <a:off x="3286" y="833355"/>
        <a:ext cx="3203971" cy="2684352"/>
      </dsp:txXfrm>
    </dsp:sp>
    <dsp:sp modelId="{2024A5EC-7B9A-CF49-9D70-CA4A6248D142}">
      <dsp:nvSpPr>
        <dsp:cNvPr id="0" name=""/>
        <dsp:cNvSpPr/>
      </dsp:nvSpPr>
      <dsp:spPr>
        <a:xfrm>
          <a:off x="3655814" y="55755"/>
          <a:ext cx="3203971" cy="777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b="0" kern="1200"/>
            <a:t>Why Sort?</a:t>
          </a:r>
        </a:p>
      </dsp:txBody>
      <dsp:txXfrm>
        <a:off x="3655814" y="55755"/>
        <a:ext cx="3203971" cy="777600"/>
      </dsp:txXfrm>
    </dsp:sp>
    <dsp:sp modelId="{590ABC27-EA7B-3D48-92EC-2B90D22793BF}">
      <dsp:nvSpPr>
        <dsp:cNvPr id="0" name=""/>
        <dsp:cNvSpPr/>
      </dsp:nvSpPr>
      <dsp:spPr>
        <a:xfrm>
          <a:off x="3655814" y="833355"/>
          <a:ext cx="3203971" cy="268435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None/>
          </a:pPr>
          <a:r>
            <a:rPr lang="en-US" sz="2700" b="0" kern="1200" dirty="0"/>
            <a:t>Quickly find extreme values (highest/lowest scores)</a:t>
          </a:r>
        </a:p>
      </dsp:txBody>
      <dsp:txXfrm>
        <a:off x="3655814" y="833355"/>
        <a:ext cx="3203971" cy="2684352"/>
      </dsp:txXfrm>
    </dsp:sp>
    <dsp:sp modelId="{FF1F51AD-227F-D945-ACFD-87934BFE4072}">
      <dsp:nvSpPr>
        <dsp:cNvPr id="0" name=""/>
        <dsp:cNvSpPr/>
      </dsp:nvSpPr>
      <dsp:spPr>
        <a:xfrm>
          <a:off x="7308342" y="55755"/>
          <a:ext cx="3203971" cy="777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b="0" kern="1200" dirty="0"/>
            <a:t>Example</a:t>
          </a:r>
        </a:p>
      </dsp:txBody>
      <dsp:txXfrm>
        <a:off x="7308342" y="55755"/>
        <a:ext cx="3203971" cy="777600"/>
      </dsp:txXfrm>
    </dsp:sp>
    <dsp:sp modelId="{957592C9-AB0E-3A4F-B43D-7871D610D30A}">
      <dsp:nvSpPr>
        <dsp:cNvPr id="0" name=""/>
        <dsp:cNvSpPr/>
      </dsp:nvSpPr>
      <dsp:spPr>
        <a:xfrm>
          <a:off x="7308342" y="833355"/>
          <a:ext cx="3203971" cy="268435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b="0" kern="1200" dirty="0"/>
            <a:t>Sorting exam scores shows Carlos (95) is top performer, Brian (72) scored lowest</a:t>
          </a:r>
        </a:p>
      </dsp:txBody>
      <dsp:txXfrm>
        <a:off x="7308342" y="833355"/>
        <a:ext cx="3203971" cy="26843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9608B-CA0E-9D4E-A456-7E251199BEAE}">
      <dsp:nvSpPr>
        <dsp:cNvPr id="0" name=""/>
        <dsp:cNvSpPr/>
      </dsp:nvSpPr>
      <dsp:spPr>
        <a:xfrm>
          <a:off x="51" y="56301"/>
          <a:ext cx="4913783" cy="748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b="0" kern="1200" dirty="0"/>
            <a:t>Categorical (Qualitative)</a:t>
          </a:r>
          <a:endParaRPr lang="en-US" sz="2600" kern="1200" dirty="0"/>
        </a:p>
      </dsp:txBody>
      <dsp:txXfrm>
        <a:off x="51" y="56301"/>
        <a:ext cx="4913783" cy="748800"/>
      </dsp:txXfrm>
    </dsp:sp>
    <dsp:sp modelId="{064ABF8D-A594-424C-B600-2E8915B83AB8}">
      <dsp:nvSpPr>
        <dsp:cNvPr id="0" name=""/>
        <dsp:cNvSpPr/>
      </dsp:nvSpPr>
      <dsp:spPr>
        <a:xfrm>
          <a:off x="51" y="805101"/>
          <a:ext cx="4913783" cy="27120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Font typeface="Arial" panose="020B0604020202020204" pitchFamily="34" charset="0"/>
            <a:buChar char="•"/>
          </a:pPr>
          <a:r>
            <a:rPr lang="en-US" sz="2600" b="0" kern="1200" dirty="0"/>
            <a:t>Limited set of categories or labels</a:t>
          </a:r>
        </a:p>
        <a:p>
          <a:pPr marL="228600" lvl="1" indent="-228600" algn="l" defTabSz="1155700">
            <a:lnSpc>
              <a:spcPct val="90000"/>
            </a:lnSpc>
            <a:spcBef>
              <a:spcPct val="0"/>
            </a:spcBef>
            <a:spcAft>
              <a:spcPct val="15000"/>
            </a:spcAft>
            <a:buFont typeface="Arial" panose="020B0604020202020204" pitchFamily="34" charset="0"/>
            <a:buChar char="•"/>
          </a:pPr>
          <a:r>
            <a:rPr lang="en-US" sz="2600" b="0" kern="1200" dirty="0"/>
            <a:t>Examples: blood type, favorite subject, letter grade</a:t>
          </a:r>
        </a:p>
        <a:p>
          <a:pPr marL="228600" lvl="1" indent="-228600" algn="l" defTabSz="1155700">
            <a:lnSpc>
              <a:spcPct val="90000"/>
            </a:lnSpc>
            <a:spcBef>
              <a:spcPct val="0"/>
            </a:spcBef>
            <a:spcAft>
              <a:spcPct val="15000"/>
            </a:spcAft>
            <a:buChar char="•"/>
          </a:pPr>
          <a:r>
            <a:rPr lang="en-US" sz="2600" b="0" kern="1200" dirty="0"/>
            <a:t>Analyze with: frequency tables, bar charts</a:t>
          </a:r>
        </a:p>
      </dsp:txBody>
      <dsp:txXfrm>
        <a:off x="51" y="805101"/>
        <a:ext cx="4913783" cy="2712060"/>
      </dsp:txXfrm>
    </dsp:sp>
    <dsp:sp modelId="{04CD4DA1-7018-5A44-918A-A2984D75A181}">
      <dsp:nvSpPr>
        <dsp:cNvPr id="0" name=""/>
        <dsp:cNvSpPr/>
      </dsp:nvSpPr>
      <dsp:spPr>
        <a:xfrm>
          <a:off x="5601764" y="56301"/>
          <a:ext cx="4913783" cy="748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b="0" kern="1200" dirty="0"/>
            <a:t>Numerical (Quantitative)</a:t>
          </a:r>
          <a:endParaRPr lang="en-US" sz="2600" kern="1200" dirty="0"/>
        </a:p>
      </dsp:txBody>
      <dsp:txXfrm>
        <a:off x="5601764" y="56301"/>
        <a:ext cx="4913783" cy="748800"/>
      </dsp:txXfrm>
    </dsp:sp>
    <dsp:sp modelId="{8C54035A-013B-C646-9A54-B7002FB2C95A}">
      <dsp:nvSpPr>
        <dsp:cNvPr id="0" name=""/>
        <dsp:cNvSpPr/>
      </dsp:nvSpPr>
      <dsp:spPr>
        <a:xfrm>
          <a:off x="5601764" y="805101"/>
          <a:ext cx="4913783" cy="27120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Font typeface="Arial" panose="020B0604020202020204" pitchFamily="34" charset="0"/>
            <a:buChar char="•"/>
          </a:pPr>
          <a:r>
            <a:rPr lang="en-US" sz="2600" b="0" kern="1200" dirty="0"/>
            <a:t>Measured in numbers</a:t>
          </a:r>
        </a:p>
        <a:p>
          <a:pPr marL="228600" lvl="1" indent="-228600" algn="l" defTabSz="1155700">
            <a:lnSpc>
              <a:spcPct val="90000"/>
            </a:lnSpc>
            <a:spcBef>
              <a:spcPct val="0"/>
            </a:spcBef>
            <a:spcAft>
              <a:spcPct val="15000"/>
            </a:spcAft>
            <a:buFont typeface="Arial" panose="020B0604020202020204" pitchFamily="34" charset="0"/>
            <a:buChar char="•"/>
          </a:pPr>
          <a:r>
            <a:rPr lang="en-US" sz="2600" b="0" kern="1200" dirty="0"/>
            <a:t>Examples: height, test score, hours of sleep</a:t>
          </a:r>
        </a:p>
        <a:p>
          <a:pPr marL="228600" lvl="1" indent="-228600" algn="l" defTabSz="1155700">
            <a:lnSpc>
              <a:spcPct val="90000"/>
            </a:lnSpc>
            <a:spcBef>
              <a:spcPct val="0"/>
            </a:spcBef>
            <a:spcAft>
              <a:spcPct val="15000"/>
            </a:spcAft>
            <a:buChar char="•"/>
          </a:pPr>
          <a:r>
            <a:rPr lang="en-US" sz="2600" b="0" kern="1200" dirty="0"/>
            <a:t>Analyze with: mean, median, histograms, boxplots</a:t>
          </a:r>
        </a:p>
      </dsp:txBody>
      <dsp:txXfrm>
        <a:off x="5601764" y="805101"/>
        <a:ext cx="4913783" cy="27120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60A6A-9E19-5D46-9CFD-325052DAE0D6}">
      <dsp:nvSpPr>
        <dsp:cNvPr id="0" name=""/>
        <dsp:cNvSpPr/>
      </dsp:nvSpPr>
      <dsp:spPr>
        <a:xfrm>
          <a:off x="0" y="387133"/>
          <a:ext cx="10515600" cy="8489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58216" rIns="816127" bIns="128016" numCol="1" spcCol="1270" anchor="t" anchorCtr="0">
          <a:noAutofit/>
        </a:bodyPr>
        <a:lstStyle/>
        <a:p>
          <a:pPr marL="171450" lvl="1" indent="-171450" algn="l" defTabSz="800100">
            <a:lnSpc>
              <a:spcPct val="90000"/>
            </a:lnSpc>
            <a:spcBef>
              <a:spcPct val="0"/>
            </a:spcBef>
            <a:spcAft>
              <a:spcPct val="15000"/>
            </a:spcAft>
            <a:buNone/>
          </a:pPr>
          <a:r>
            <a:rPr lang="en-US" sz="1800" kern="1200" dirty="0"/>
            <a:t>You don’t do math on them – instead, you count how often each category appears.</a:t>
          </a:r>
        </a:p>
      </dsp:txBody>
      <dsp:txXfrm>
        <a:off x="0" y="387133"/>
        <a:ext cx="10515600" cy="848925"/>
      </dsp:txXfrm>
    </dsp:sp>
    <dsp:sp modelId="{C48F37F6-BD11-B043-803F-D0AFC833C8D4}">
      <dsp:nvSpPr>
        <dsp:cNvPr id="0" name=""/>
        <dsp:cNvSpPr/>
      </dsp:nvSpPr>
      <dsp:spPr>
        <a:xfrm>
          <a:off x="525780" y="62413"/>
          <a:ext cx="736092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b="1" kern="1200" dirty="0"/>
            <a:t>Categorical variables</a:t>
          </a:r>
          <a:r>
            <a:rPr lang="en-US" sz="1800" kern="1200" dirty="0"/>
            <a:t xml:space="preserve"> are like labels – they name or group things (e.g., blood type, favorite subject, or grades like A/B/C).</a:t>
          </a:r>
        </a:p>
      </dsp:txBody>
      <dsp:txXfrm>
        <a:off x="557483" y="94116"/>
        <a:ext cx="7297514" cy="586034"/>
      </dsp:txXfrm>
    </dsp:sp>
    <dsp:sp modelId="{6AD8ABED-C1A7-044A-B0A5-5077415B37FA}">
      <dsp:nvSpPr>
        <dsp:cNvPr id="0" name=""/>
        <dsp:cNvSpPr/>
      </dsp:nvSpPr>
      <dsp:spPr>
        <a:xfrm>
          <a:off x="0" y="1679579"/>
          <a:ext cx="10515600" cy="8489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58216" rIns="816127" bIns="128016" numCol="1" spcCol="1270" anchor="t" anchorCtr="0">
          <a:noAutofit/>
        </a:bodyPr>
        <a:lstStyle/>
        <a:p>
          <a:pPr marL="171450" lvl="1" indent="-171450" algn="l" defTabSz="800100">
            <a:lnSpc>
              <a:spcPct val="90000"/>
            </a:lnSpc>
            <a:spcBef>
              <a:spcPct val="0"/>
            </a:spcBef>
            <a:spcAft>
              <a:spcPct val="15000"/>
            </a:spcAft>
            <a:buNone/>
          </a:pPr>
          <a:r>
            <a:rPr lang="en-US" sz="1800" b="1" kern="1200" dirty="0"/>
            <a:t>Relative frequency</a:t>
          </a:r>
          <a:r>
            <a:rPr lang="en-US" sz="1800" kern="1200" dirty="0"/>
            <a:t xml:space="preserve"> tells you the </a:t>
          </a:r>
          <a:r>
            <a:rPr lang="en-US" sz="1800" i="1" kern="1200" dirty="0"/>
            <a:t>proportion</a:t>
          </a:r>
          <a:r>
            <a:rPr lang="en-US" sz="1800" kern="1200" dirty="0"/>
            <a:t xml:space="preserve"> – like “30% of students got an A.”</a:t>
          </a:r>
        </a:p>
      </dsp:txBody>
      <dsp:txXfrm>
        <a:off x="0" y="1679579"/>
        <a:ext cx="10515600" cy="848925"/>
      </dsp:txXfrm>
    </dsp:sp>
    <dsp:sp modelId="{B0B1C96F-4FC4-D240-A431-C14988A02BC0}">
      <dsp:nvSpPr>
        <dsp:cNvPr id="0" name=""/>
        <dsp:cNvSpPr/>
      </dsp:nvSpPr>
      <dsp:spPr>
        <a:xfrm>
          <a:off x="525780" y="1354858"/>
          <a:ext cx="736092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b="1" kern="1200"/>
            <a:t>Frequency tables</a:t>
          </a:r>
          <a:r>
            <a:rPr lang="en-US" sz="1800" kern="1200"/>
            <a:t xml:space="preserve"> show how many times each label shows up.</a:t>
          </a:r>
        </a:p>
      </dsp:txBody>
      <dsp:txXfrm>
        <a:off x="557483" y="1386561"/>
        <a:ext cx="7297514" cy="586034"/>
      </dsp:txXfrm>
    </dsp:sp>
    <dsp:sp modelId="{919B2CE9-E7ED-5E45-A1FA-E9EDC16EA5C7}">
      <dsp:nvSpPr>
        <dsp:cNvPr id="0" name=""/>
        <dsp:cNvSpPr/>
      </dsp:nvSpPr>
      <dsp:spPr>
        <a:xfrm>
          <a:off x="0" y="2972024"/>
          <a:ext cx="10515600" cy="109147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58216"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Great for spotting trends, like which subject is most popular or which grade is most common.</a:t>
          </a:r>
        </a:p>
      </dsp:txBody>
      <dsp:txXfrm>
        <a:off x="0" y="2972024"/>
        <a:ext cx="10515600" cy="1091475"/>
      </dsp:txXfrm>
    </dsp:sp>
    <dsp:sp modelId="{3C7EF0B8-8C08-5048-A31E-EE16789E2D09}">
      <dsp:nvSpPr>
        <dsp:cNvPr id="0" name=""/>
        <dsp:cNvSpPr/>
      </dsp:nvSpPr>
      <dsp:spPr>
        <a:xfrm>
          <a:off x="525780" y="2647304"/>
          <a:ext cx="736092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b="1" kern="1200"/>
            <a:t>Bar charts</a:t>
          </a:r>
          <a:r>
            <a:rPr lang="en-US" sz="1800" kern="1200"/>
            <a:t xml:space="preserve"> are perfect visuals: categories on the x-axis, bar heights show counts or percentages.</a:t>
          </a:r>
        </a:p>
      </dsp:txBody>
      <dsp:txXfrm>
        <a:off x="557483" y="2679007"/>
        <a:ext cx="7297514" cy="5860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F9332-5608-7D41-A4F2-6EE14AFCA3CA}">
      <dsp:nvSpPr>
        <dsp:cNvPr id="0" name=""/>
        <dsp:cNvSpPr/>
      </dsp:nvSpPr>
      <dsp:spPr>
        <a:xfrm>
          <a:off x="3286" y="20571"/>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0" kern="1200" dirty="0"/>
            <a:t>Symmetric vs. Skewed</a:t>
          </a:r>
          <a:endParaRPr lang="en-US" sz="2200" kern="1200" dirty="0"/>
        </a:p>
      </dsp:txBody>
      <dsp:txXfrm>
        <a:off x="3286" y="20571"/>
        <a:ext cx="3203971" cy="633600"/>
      </dsp:txXfrm>
    </dsp:sp>
    <dsp:sp modelId="{C4CE8E29-D0C2-EA40-9FD7-ADC5A536606F}">
      <dsp:nvSpPr>
        <dsp:cNvPr id="0" name=""/>
        <dsp:cNvSpPr/>
      </dsp:nvSpPr>
      <dsp:spPr>
        <a:xfrm>
          <a:off x="3286" y="654171"/>
          <a:ext cx="3203971" cy="28987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b="0" kern="1200"/>
            <a:t>Symmetric: balanced on both sides</a:t>
          </a:r>
        </a:p>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Right-skewed: long tail on right (mean &gt; median)</a:t>
          </a:r>
        </a:p>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Left-skewed: long tail on left (mean &lt; median)</a:t>
          </a:r>
        </a:p>
      </dsp:txBody>
      <dsp:txXfrm>
        <a:off x="3286" y="654171"/>
        <a:ext cx="3203971" cy="2898720"/>
      </dsp:txXfrm>
    </dsp:sp>
    <dsp:sp modelId="{98415F23-0696-C744-8A11-46500C98BAE8}">
      <dsp:nvSpPr>
        <dsp:cNvPr id="0" name=""/>
        <dsp:cNvSpPr/>
      </dsp:nvSpPr>
      <dsp:spPr>
        <a:xfrm>
          <a:off x="3655814" y="20571"/>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0" kern="1200"/>
            <a:t>Peaks</a:t>
          </a:r>
        </a:p>
      </dsp:txBody>
      <dsp:txXfrm>
        <a:off x="3655814" y="20571"/>
        <a:ext cx="3203971" cy="633600"/>
      </dsp:txXfrm>
    </dsp:sp>
    <dsp:sp modelId="{1451D9E9-9C2D-C54C-B6B6-04633D5F4C38}">
      <dsp:nvSpPr>
        <dsp:cNvPr id="0" name=""/>
        <dsp:cNvSpPr/>
      </dsp:nvSpPr>
      <dsp:spPr>
        <a:xfrm>
          <a:off x="3655814" y="654171"/>
          <a:ext cx="3203971" cy="28987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Unimodal: one clear peak</a:t>
          </a:r>
        </a:p>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Bimodal: two distinct peaks (two groups)</a:t>
          </a:r>
        </a:p>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Multimodal: multiple peaks</a:t>
          </a:r>
        </a:p>
      </dsp:txBody>
      <dsp:txXfrm>
        <a:off x="3655814" y="654171"/>
        <a:ext cx="3203971" cy="2898720"/>
      </dsp:txXfrm>
    </dsp:sp>
    <dsp:sp modelId="{E6D55FDA-0414-8241-8954-E18D826236F6}">
      <dsp:nvSpPr>
        <dsp:cNvPr id="0" name=""/>
        <dsp:cNvSpPr/>
      </dsp:nvSpPr>
      <dsp:spPr>
        <a:xfrm>
          <a:off x="7308342" y="20571"/>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0" kern="1200"/>
            <a:t>Spread</a:t>
          </a:r>
        </a:p>
      </dsp:txBody>
      <dsp:txXfrm>
        <a:off x="7308342" y="20571"/>
        <a:ext cx="3203971" cy="633600"/>
      </dsp:txXfrm>
    </dsp:sp>
    <dsp:sp modelId="{ADA56709-3760-084F-9651-FE94CA5B6E24}">
      <dsp:nvSpPr>
        <dsp:cNvPr id="0" name=""/>
        <dsp:cNvSpPr/>
      </dsp:nvSpPr>
      <dsp:spPr>
        <a:xfrm>
          <a:off x="7308342" y="654171"/>
          <a:ext cx="3203971" cy="28987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Narrow: values clustered together</a:t>
          </a:r>
        </a:p>
        <a:p>
          <a:pPr marL="228600" lvl="1" indent="-228600" algn="l" defTabSz="977900">
            <a:lnSpc>
              <a:spcPct val="90000"/>
            </a:lnSpc>
            <a:spcBef>
              <a:spcPct val="0"/>
            </a:spcBef>
            <a:spcAft>
              <a:spcPct val="15000"/>
            </a:spcAft>
            <a:buFont typeface="Arial" panose="020B0604020202020204" pitchFamily="34" charset="0"/>
            <a:buChar char="•"/>
          </a:pPr>
          <a:r>
            <a:rPr lang="en-US" sz="2200" b="0" kern="1200" dirty="0"/>
            <a:t>Wide: values spread out</a:t>
          </a:r>
        </a:p>
        <a:p>
          <a:pPr marL="228600" lvl="1" indent="-228600" algn="l" defTabSz="977900">
            <a:lnSpc>
              <a:spcPct val="90000"/>
            </a:lnSpc>
            <a:spcBef>
              <a:spcPct val="0"/>
            </a:spcBef>
            <a:spcAft>
              <a:spcPct val="15000"/>
            </a:spcAft>
            <a:buChar char="•"/>
          </a:pPr>
          <a:r>
            <a:rPr lang="en-US" sz="2200" b="0" kern="1200" dirty="0"/>
            <a:t>Gaps: missing ranges of values</a:t>
          </a:r>
        </a:p>
      </dsp:txBody>
      <dsp:txXfrm>
        <a:off x="7308342" y="654171"/>
        <a:ext cx="3203971" cy="28987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70C251-C8B1-49E7-965A-EAC1F813685D}">
      <dsp:nvSpPr>
        <dsp:cNvPr id="0" name=""/>
        <dsp:cNvSpPr/>
      </dsp:nvSpPr>
      <dsp:spPr>
        <a:xfrm>
          <a:off x="0" y="1805"/>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928F30-F428-4397-B67C-513ABAF63ED8}">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0A2DCB-C0C8-41C1-BAF3-A32320C37BA6}">
      <dsp:nvSpPr>
        <dsp:cNvPr id="0" name=""/>
        <dsp:cNvSpPr/>
      </dsp:nvSpPr>
      <dsp:spPr>
        <a:xfrm>
          <a:off x="1057183" y="1805"/>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i="1" kern="1200"/>
            <a:t>Objective:</a:t>
          </a:r>
          <a:r>
            <a:rPr lang="en-US" sz="1800" kern="1200"/>
            <a:t xml:space="preserve"> Examine relationships between two variables using real data. </a:t>
          </a:r>
        </a:p>
      </dsp:txBody>
      <dsp:txXfrm>
        <a:off x="1057183" y="1805"/>
        <a:ext cx="4124416" cy="915310"/>
      </dsp:txXfrm>
    </dsp:sp>
    <dsp:sp modelId="{700CA656-91CF-4288-9E37-4E42053858FB}">
      <dsp:nvSpPr>
        <dsp:cNvPr id="0" name=""/>
        <dsp:cNvSpPr/>
      </dsp:nvSpPr>
      <dsp:spPr>
        <a:xfrm>
          <a:off x="0" y="1145944"/>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6D2B5E-6999-4380-9A86-59936875F379}">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0E97B8-7188-498C-BC15-F390385CEBD5}">
      <dsp:nvSpPr>
        <dsp:cNvPr id="0" name=""/>
        <dsp:cNvSpPr/>
      </dsp:nvSpPr>
      <dsp:spPr>
        <a:xfrm>
          <a:off x="1057183" y="1145944"/>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kern="1200" dirty="0"/>
            <a:t xml:space="preserve">Use: </a:t>
          </a:r>
          <a:r>
            <a:rPr lang="en-US" sz="1800" kern="1200" dirty="0" err="1"/>
            <a:t>high_school_student_survey.csv</a:t>
          </a:r>
          <a:endParaRPr lang="en-US" sz="1800" kern="1200" dirty="0"/>
        </a:p>
      </dsp:txBody>
      <dsp:txXfrm>
        <a:off x="1057183" y="1145944"/>
        <a:ext cx="4124416" cy="915310"/>
      </dsp:txXfrm>
    </dsp:sp>
    <dsp:sp modelId="{E2E1ADD3-902F-4481-A9A8-716CD1EFF2AC}">
      <dsp:nvSpPr>
        <dsp:cNvPr id="0" name=""/>
        <dsp:cNvSpPr/>
      </dsp:nvSpPr>
      <dsp:spPr>
        <a:xfrm>
          <a:off x="0" y="2290082"/>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E4679C-9569-432C-8067-8BAE31659622}">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243D54-9870-44DF-A34B-154ED3A99970}">
      <dsp:nvSpPr>
        <dsp:cNvPr id="0" name=""/>
        <dsp:cNvSpPr/>
      </dsp:nvSpPr>
      <dsp:spPr>
        <a:xfrm>
          <a:off x="1057183" y="2290082"/>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kern="1200"/>
            <a:t>Get a scatterplot for GPA and Hour Sleep Per Night</a:t>
          </a:r>
        </a:p>
      </dsp:txBody>
      <dsp:txXfrm>
        <a:off x="1057183" y="2290082"/>
        <a:ext cx="4124416" cy="915310"/>
      </dsp:txXfrm>
    </dsp:sp>
    <dsp:sp modelId="{461F7E1A-2AC1-409A-BF58-B46ACA3032B9}">
      <dsp:nvSpPr>
        <dsp:cNvPr id="0" name=""/>
        <dsp:cNvSpPr/>
      </dsp:nvSpPr>
      <dsp:spPr>
        <a:xfrm>
          <a:off x="0" y="3434221"/>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B577D8-43AF-4F84-8BB5-8B4DE189942B}">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34DF52-9EDC-42A4-9A5B-B29A059A0228}">
      <dsp:nvSpPr>
        <dsp:cNvPr id="0" name=""/>
        <dsp:cNvSpPr/>
      </dsp:nvSpPr>
      <dsp:spPr>
        <a:xfrm>
          <a:off x="1057183" y="3434221"/>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kern="1200"/>
            <a:t>Use R or Python</a:t>
          </a:r>
        </a:p>
      </dsp:txBody>
      <dsp:txXfrm>
        <a:off x="1057183" y="3434221"/>
        <a:ext cx="4124416" cy="9153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2B6042-BCB5-43A4-BFC8-D89EBC841AF3}">
      <dsp:nvSpPr>
        <dsp:cNvPr id="0" name=""/>
        <dsp:cNvSpPr/>
      </dsp:nvSpPr>
      <dsp:spPr>
        <a:xfrm>
          <a:off x="0" y="1805"/>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E72FF-8AC6-4B4C-8BE3-F83031814817}">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6F4CD5-4FC0-41CF-AA08-9F559C766696}">
      <dsp:nvSpPr>
        <dsp:cNvPr id="0" name=""/>
        <dsp:cNvSpPr/>
      </dsp:nvSpPr>
      <dsp:spPr>
        <a:xfrm>
          <a:off x="1057183" y="1805"/>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Take grade level and Hours_Homework_Per_Week</a:t>
          </a:r>
        </a:p>
      </dsp:txBody>
      <dsp:txXfrm>
        <a:off x="1057183" y="1805"/>
        <a:ext cx="4124416" cy="915310"/>
      </dsp:txXfrm>
    </dsp:sp>
    <dsp:sp modelId="{15369AB9-D147-4319-9B07-87A5835FF0AC}">
      <dsp:nvSpPr>
        <dsp:cNvPr id="0" name=""/>
        <dsp:cNvSpPr/>
      </dsp:nvSpPr>
      <dsp:spPr>
        <a:xfrm>
          <a:off x="0" y="1145944"/>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7748F1-63B6-476B-9DED-270A389598CD}">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AE1F3E-1DA8-4556-A4EE-1836695EAE94}">
      <dsp:nvSpPr>
        <dsp:cNvPr id="0" name=""/>
        <dsp:cNvSpPr/>
      </dsp:nvSpPr>
      <dsp:spPr>
        <a:xfrm>
          <a:off x="1057183" y="1145944"/>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dirty="0"/>
            <a:t xml:space="preserve">Compute the group means and medians. </a:t>
          </a:r>
        </a:p>
      </dsp:txBody>
      <dsp:txXfrm>
        <a:off x="1057183" y="1145944"/>
        <a:ext cx="4124416" cy="915310"/>
      </dsp:txXfrm>
    </dsp:sp>
    <dsp:sp modelId="{5844E4EC-692A-4C96-A09D-E5A2CCEFF1CB}">
      <dsp:nvSpPr>
        <dsp:cNvPr id="0" name=""/>
        <dsp:cNvSpPr/>
      </dsp:nvSpPr>
      <dsp:spPr>
        <a:xfrm>
          <a:off x="0" y="2290082"/>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ECEF87-B224-4E57-A02F-D94782179020}">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F68ADE-1967-4B1B-AE59-CCED0EBBE06E}">
      <dsp:nvSpPr>
        <dsp:cNvPr id="0" name=""/>
        <dsp:cNvSpPr/>
      </dsp:nvSpPr>
      <dsp:spPr>
        <a:xfrm>
          <a:off x="1057183" y="2290082"/>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Create a side-by-side boxplot.</a:t>
          </a:r>
        </a:p>
      </dsp:txBody>
      <dsp:txXfrm>
        <a:off x="1057183" y="2290082"/>
        <a:ext cx="4124416" cy="915310"/>
      </dsp:txXfrm>
    </dsp:sp>
    <dsp:sp modelId="{241FCD7C-7656-4382-B3E1-8D918FC8BD05}">
      <dsp:nvSpPr>
        <dsp:cNvPr id="0" name=""/>
        <dsp:cNvSpPr/>
      </dsp:nvSpPr>
      <dsp:spPr>
        <a:xfrm>
          <a:off x="0" y="3434221"/>
          <a:ext cx="51816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93CFD5-167C-4D22-ACF9-9A0D98277524}">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70A311-3976-486D-8802-EA4050985B08}">
      <dsp:nvSpPr>
        <dsp:cNvPr id="0" name=""/>
        <dsp:cNvSpPr/>
      </dsp:nvSpPr>
      <dsp:spPr>
        <a:xfrm>
          <a:off x="1057183" y="3434221"/>
          <a:ext cx="4124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Which group tends to have higher values? How do their variabilities compare?</a:t>
          </a:r>
        </a:p>
      </dsp:txBody>
      <dsp:txXfrm>
        <a:off x="1057183" y="3434221"/>
        <a:ext cx="4124416" cy="915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E898F-22CD-CB4B-9221-650BE169A071}">
      <dsp:nvSpPr>
        <dsp:cNvPr id="0" name=""/>
        <dsp:cNvSpPr/>
      </dsp:nvSpPr>
      <dsp:spPr>
        <a:xfrm>
          <a:off x="0" y="41544"/>
          <a:ext cx="5181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Is there a relationship between grade level and extracurricular activity?</a:t>
          </a:r>
        </a:p>
      </dsp:txBody>
      <dsp:txXfrm>
        <a:off x="67110" y="108654"/>
        <a:ext cx="5047380" cy="1240530"/>
      </dsp:txXfrm>
    </dsp:sp>
    <dsp:sp modelId="{833FBBCC-64D8-6049-9F7E-08BF7132C571}">
      <dsp:nvSpPr>
        <dsp:cNvPr id="0" name=""/>
        <dsp:cNvSpPr/>
      </dsp:nvSpPr>
      <dsp:spPr>
        <a:xfrm>
          <a:off x="0" y="1488294"/>
          <a:ext cx="5181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Make a small table of counts for each combination.</a:t>
          </a:r>
        </a:p>
      </dsp:txBody>
      <dsp:txXfrm>
        <a:off x="67110" y="1555404"/>
        <a:ext cx="5047380" cy="1240530"/>
      </dsp:txXfrm>
    </dsp:sp>
    <dsp:sp modelId="{7B2D44AC-14A4-6B45-9698-20BF1E302EF8}">
      <dsp:nvSpPr>
        <dsp:cNvPr id="0" name=""/>
        <dsp:cNvSpPr/>
      </dsp:nvSpPr>
      <dsp:spPr>
        <a:xfrm>
          <a:off x="0" y="2935044"/>
          <a:ext cx="5181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Create a bar chart.</a:t>
          </a:r>
        </a:p>
      </dsp:txBody>
      <dsp:txXfrm>
        <a:off x="67110" y="3002154"/>
        <a:ext cx="5047380" cy="12405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D5692-E780-5641-97B4-ECE53F17AE84}">
      <dsp:nvSpPr>
        <dsp:cNvPr id="0" name=""/>
        <dsp:cNvSpPr/>
      </dsp:nvSpPr>
      <dsp:spPr>
        <a:xfrm>
          <a:off x="0" y="3668635"/>
          <a:ext cx="6172199" cy="120412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The Dataset</a:t>
          </a:r>
        </a:p>
      </dsp:txBody>
      <dsp:txXfrm>
        <a:off x="0" y="3668635"/>
        <a:ext cx="6172199" cy="650229"/>
      </dsp:txXfrm>
    </dsp:sp>
    <dsp:sp modelId="{8FA80421-7A1F-4E4A-974F-E644CF5A4BB9}">
      <dsp:nvSpPr>
        <dsp:cNvPr id="0" name=""/>
        <dsp:cNvSpPr/>
      </dsp:nvSpPr>
      <dsp:spPr>
        <a:xfrm>
          <a:off x="3013"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Hours of homework per week</a:t>
          </a:r>
        </a:p>
      </dsp:txBody>
      <dsp:txXfrm>
        <a:off x="3013" y="4294782"/>
        <a:ext cx="1027695" cy="553898"/>
      </dsp:txXfrm>
    </dsp:sp>
    <dsp:sp modelId="{0D757A82-E4A6-DA4D-821F-A78A3AB45A15}">
      <dsp:nvSpPr>
        <dsp:cNvPr id="0" name=""/>
        <dsp:cNvSpPr/>
      </dsp:nvSpPr>
      <dsp:spPr>
        <a:xfrm>
          <a:off x="1030709"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GPA</a:t>
          </a:r>
        </a:p>
      </dsp:txBody>
      <dsp:txXfrm>
        <a:off x="1030709" y="4294782"/>
        <a:ext cx="1027695" cy="553898"/>
      </dsp:txXfrm>
    </dsp:sp>
    <dsp:sp modelId="{B80A87E7-651F-F846-A636-027A77620E5D}">
      <dsp:nvSpPr>
        <dsp:cNvPr id="0" name=""/>
        <dsp:cNvSpPr/>
      </dsp:nvSpPr>
      <dsp:spPr>
        <a:xfrm>
          <a:off x="2058404"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Hours of sleep per night</a:t>
          </a:r>
        </a:p>
      </dsp:txBody>
      <dsp:txXfrm>
        <a:off x="2058404" y="4294782"/>
        <a:ext cx="1027695" cy="553898"/>
      </dsp:txXfrm>
    </dsp:sp>
    <dsp:sp modelId="{969E4E10-7A93-1648-8470-B333F11C4EB7}">
      <dsp:nvSpPr>
        <dsp:cNvPr id="0" name=""/>
        <dsp:cNvSpPr/>
      </dsp:nvSpPr>
      <dsp:spPr>
        <a:xfrm>
          <a:off x="3086099"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Grade level (9,10, 11, 12)</a:t>
          </a:r>
        </a:p>
      </dsp:txBody>
      <dsp:txXfrm>
        <a:off x="3086099" y="4294782"/>
        <a:ext cx="1027695" cy="553898"/>
      </dsp:txXfrm>
    </dsp:sp>
    <dsp:sp modelId="{AD63EB60-1C3E-B246-AEBE-2E54872AB858}">
      <dsp:nvSpPr>
        <dsp:cNvPr id="0" name=""/>
        <dsp:cNvSpPr/>
      </dsp:nvSpPr>
      <dsp:spPr>
        <a:xfrm>
          <a:off x="4113795"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Gender</a:t>
          </a:r>
        </a:p>
      </dsp:txBody>
      <dsp:txXfrm>
        <a:off x="4113795" y="4294782"/>
        <a:ext cx="1027695" cy="553898"/>
      </dsp:txXfrm>
    </dsp:sp>
    <dsp:sp modelId="{72150350-596A-3B4F-9A07-FF4399E7B1D7}">
      <dsp:nvSpPr>
        <dsp:cNvPr id="0" name=""/>
        <dsp:cNvSpPr/>
      </dsp:nvSpPr>
      <dsp:spPr>
        <a:xfrm>
          <a:off x="5141490" y="4294782"/>
          <a:ext cx="1027695" cy="5538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kern="1200"/>
            <a:t>Extracurricular participation (Yes/No)</a:t>
          </a:r>
        </a:p>
      </dsp:txBody>
      <dsp:txXfrm>
        <a:off x="5141490" y="4294782"/>
        <a:ext cx="1027695" cy="553898"/>
      </dsp:txXfrm>
    </dsp:sp>
    <dsp:sp modelId="{933ABA92-11E9-564D-A78A-3F5DE4238BA1}">
      <dsp:nvSpPr>
        <dsp:cNvPr id="0" name=""/>
        <dsp:cNvSpPr/>
      </dsp:nvSpPr>
      <dsp:spPr>
        <a:xfrm rot="10800000">
          <a:off x="0" y="1834748"/>
          <a:ext cx="6172199" cy="1851948"/>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Explore this dataset to find interesting patterns and insights about student life and academic performance.</a:t>
          </a:r>
        </a:p>
      </dsp:txBody>
      <dsp:txXfrm rot="10800000">
        <a:off x="0" y="1834748"/>
        <a:ext cx="6172199" cy="1203340"/>
      </dsp:txXfrm>
    </dsp:sp>
    <dsp:sp modelId="{DA4C63CB-6C97-5D49-B922-318AACDE44B7}">
      <dsp:nvSpPr>
        <dsp:cNvPr id="0" name=""/>
        <dsp:cNvSpPr/>
      </dsp:nvSpPr>
      <dsp:spPr>
        <a:xfrm rot="10800000">
          <a:off x="0" y="861"/>
          <a:ext cx="6172199" cy="1851948"/>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Use highschool_student_survey.csv</a:t>
          </a:r>
        </a:p>
      </dsp:txBody>
      <dsp:txXfrm rot="10800000">
        <a:off x="0" y="861"/>
        <a:ext cx="6172199" cy="12033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7B2E6D-3214-4ECB-A573-0EE20805F4A8}">
      <dsp:nvSpPr>
        <dsp:cNvPr id="0" name=""/>
        <dsp:cNvSpPr/>
      </dsp:nvSpPr>
      <dsp:spPr>
        <a:xfrm>
          <a:off x="212335" y="146843"/>
          <a:ext cx="1335915" cy="133591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7FB9BB-3F0D-499E-8D90-B4C4AAAF55CB}">
      <dsp:nvSpPr>
        <dsp:cNvPr id="0" name=""/>
        <dsp:cNvSpPr/>
      </dsp:nvSpPr>
      <dsp:spPr>
        <a:xfrm>
          <a:off x="492877" y="427385"/>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24FB25-FF08-4E84-A8F5-669A2D5F6E2C}">
      <dsp:nvSpPr>
        <dsp:cNvPr id="0" name=""/>
        <dsp:cNvSpPr/>
      </dsp:nvSpPr>
      <dsp:spPr>
        <a:xfrm>
          <a:off x="1834517" y="146843"/>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 xml:space="preserve">Plot a histogram of GPA. </a:t>
          </a:r>
        </a:p>
      </dsp:txBody>
      <dsp:txXfrm>
        <a:off x="1834517" y="146843"/>
        <a:ext cx="3148942" cy="1335915"/>
      </dsp:txXfrm>
    </dsp:sp>
    <dsp:sp modelId="{1FE9BA9F-FCD8-4D76-8B54-A8990D9CF411}">
      <dsp:nvSpPr>
        <dsp:cNvPr id="0" name=""/>
        <dsp:cNvSpPr/>
      </dsp:nvSpPr>
      <dsp:spPr>
        <a:xfrm>
          <a:off x="5532139" y="146843"/>
          <a:ext cx="1335915" cy="133591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CC3EB7-4BC6-46FC-8BC8-5115607FAE22}">
      <dsp:nvSpPr>
        <dsp:cNvPr id="0" name=""/>
        <dsp:cNvSpPr/>
      </dsp:nvSpPr>
      <dsp:spPr>
        <a:xfrm>
          <a:off x="5812681" y="427385"/>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115B13-279E-40EB-A4BE-CEC60144D1F8}">
      <dsp:nvSpPr>
        <dsp:cNvPr id="0" name=""/>
        <dsp:cNvSpPr/>
      </dsp:nvSpPr>
      <dsp:spPr>
        <a:xfrm>
          <a:off x="7154322" y="146843"/>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Check a bar chart of extracurricular participation.</a:t>
          </a:r>
        </a:p>
      </dsp:txBody>
      <dsp:txXfrm>
        <a:off x="7154322" y="146843"/>
        <a:ext cx="3148942" cy="1335915"/>
      </dsp:txXfrm>
    </dsp:sp>
    <dsp:sp modelId="{1B2622BB-55BA-4478-9D4A-3B2817346780}">
      <dsp:nvSpPr>
        <dsp:cNvPr id="0" name=""/>
        <dsp:cNvSpPr/>
      </dsp:nvSpPr>
      <dsp:spPr>
        <a:xfrm>
          <a:off x="212335" y="2090152"/>
          <a:ext cx="1335915" cy="133591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AA3154-B3CD-4B87-87C3-F0C6018A8166}">
      <dsp:nvSpPr>
        <dsp:cNvPr id="0" name=""/>
        <dsp:cNvSpPr/>
      </dsp:nvSpPr>
      <dsp:spPr>
        <a:xfrm>
          <a:off x="492877" y="2370695"/>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AF7C34-AAC6-47C8-A4B8-FB29D2010C6B}">
      <dsp:nvSpPr>
        <dsp:cNvPr id="0" name=""/>
        <dsp:cNvSpPr/>
      </dsp:nvSpPr>
      <dsp:spPr>
        <a:xfrm>
          <a:off x="1834517" y="209015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Look at a boxplot of hours of homework and grade level.</a:t>
          </a:r>
        </a:p>
      </dsp:txBody>
      <dsp:txXfrm>
        <a:off x="1834517" y="2090152"/>
        <a:ext cx="3148942" cy="1335915"/>
      </dsp:txXfrm>
    </dsp:sp>
    <dsp:sp modelId="{ADE99DAA-F2AD-49EA-9BE4-D1CD57E5B9E6}">
      <dsp:nvSpPr>
        <dsp:cNvPr id="0" name=""/>
        <dsp:cNvSpPr/>
      </dsp:nvSpPr>
      <dsp:spPr>
        <a:xfrm>
          <a:off x="5532139" y="2090152"/>
          <a:ext cx="1335915" cy="133591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28C5A3-C0B8-44EC-90C3-62E0A491F9D6}">
      <dsp:nvSpPr>
        <dsp:cNvPr id="0" name=""/>
        <dsp:cNvSpPr/>
      </dsp:nvSpPr>
      <dsp:spPr>
        <a:xfrm>
          <a:off x="5812681" y="2370695"/>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F642FB-7D65-4136-B425-720AD6730823}">
      <dsp:nvSpPr>
        <dsp:cNvPr id="0" name=""/>
        <dsp:cNvSpPr/>
      </dsp:nvSpPr>
      <dsp:spPr>
        <a:xfrm>
          <a:off x="7154322" y="209015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Summarize hours of sleep.</a:t>
          </a:r>
        </a:p>
      </dsp:txBody>
      <dsp:txXfrm>
        <a:off x="7154322" y="2090152"/>
        <a:ext cx="3148942" cy="133591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C7BF7-DA80-5B41-A773-46311E4C740B}">
      <dsp:nvSpPr>
        <dsp:cNvPr id="0" name=""/>
        <dsp:cNvSpPr/>
      </dsp:nvSpPr>
      <dsp:spPr>
        <a:xfrm>
          <a:off x="884853" y="720819"/>
          <a:ext cx="699671" cy="71"/>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1F820C8F-4488-804B-ACEE-38ABF35EEF93}">
      <dsp:nvSpPr>
        <dsp:cNvPr id="0" name=""/>
        <dsp:cNvSpPr/>
      </dsp:nvSpPr>
      <dsp:spPr>
        <a:xfrm>
          <a:off x="1626505" y="662025"/>
          <a:ext cx="80462" cy="151276"/>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806AF909-A0A5-5742-AC87-882DAEDC53AC}">
      <dsp:nvSpPr>
        <dsp:cNvPr id="0" name=""/>
        <dsp:cNvSpPr/>
      </dsp:nvSpPr>
      <dsp:spPr>
        <a:xfrm>
          <a:off x="459981"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1</a:t>
          </a:r>
          <a:endParaRPr lang="en-US" sz="3200" kern="1200" dirty="0"/>
        </a:p>
      </dsp:txBody>
      <dsp:txXfrm>
        <a:off x="558807" y="482268"/>
        <a:ext cx="477174" cy="477174"/>
      </dsp:txXfrm>
    </dsp:sp>
    <dsp:sp modelId="{4DFFDD83-42C6-8D4A-97E2-0D5BB250CE0A}">
      <dsp:nvSpPr>
        <dsp:cNvPr id="0" name=""/>
        <dsp:cNvSpPr/>
      </dsp:nvSpPr>
      <dsp:spPr>
        <a:xfrm>
          <a:off x="10264"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dirty="0"/>
            <a:t xml:space="preserve">Numeric vs Numeric: Plot hours of homework vs GPA. </a:t>
          </a:r>
        </a:p>
      </dsp:txBody>
      <dsp:txXfrm>
        <a:off x="10264" y="1538720"/>
        <a:ext cx="1574260" cy="1650748"/>
      </dsp:txXfrm>
    </dsp:sp>
    <dsp:sp modelId="{9296280E-E2D0-A941-ABCF-D4171F801E1D}">
      <dsp:nvSpPr>
        <dsp:cNvPr id="0" name=""/>
        <dsp:cNvSpPr/>
      </dsp:nvSpPr>
      <dsp:spPr>
        <a:xfrm>
          <a:off x="1759442" y="720819"/>
          <a:ext cx="157426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AC66E4D4-3DC1-FB4B-86DA-1993C8902478}">
      <dsp:nvSpPr>
        <dsp:cNvPr id="0" name=""/>
        <dsp:cNvSpPr/>
      </dsp:nvSpPr>
      <dsp:spPr>
        <a:xfrm>
          <a:off x="3375683" y="662025"/>
          <a:ext cx="80462" cy="151276"/>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CA35B055-E577-EE43-9BFB-E6298C2A1FF3}">
      <dsp:nvSpPr>
        <dsp:cNvPr id="0" name=""/>
        <dsp:cNvSpPr/>
      </dsp:nvSpPr>
      <dsp:spPr>
        <a:xfrm>
          <a:off x="2209159"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2</a:t>
          </a:r>
        </a:p>
      </dsp:txBody>
      <dsp:txXfrm>
        <a:off x="2307985" y="482268"/>
        <a:ext cx="477174" cy="477174"/>
      </dsp:txXfrm>
    </dsp:sp>
    <dsp:sp modelId="{E8D3F804-BF29-5449-91AF-C58114B55E2B}">
      <dsp:nvSpPr>
        <dsp:cNvPr id="0" name=""/>
        <dsp:cNvSpPr/>
      </dsp:nvSpPr>
      <dsp:spPr>
        <a:xfrm>
          <a:off x="1759442"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dirty="0"/>
            <a:t xml:space="preserve">Calculate a correlation matrix for numeric vars (homework, GPA, sleep). </a:t>
          </a:r>
        </a:p>
      </dsp:txBody>
      <dsp:txXfrm>
        <a:off x="1759442" y="1538720"/>
        <a:ext cx="1574260" cy="1650748"/>
      </dsp:txXfrm>
    </dsp:sp>
    <dsp:sp modelId="{03E844E7-0C86-294D-B84B-9A7CC75FECC9}">
      <dsp:nvSpPr>
        <dsp:cNvPr id="0" name=""/>
        <dsp:cNvSpPr/>
      </dsp:nvSpPr>
      <dsp:spPr>
        <a:xfrm>
          <a:off x="3508621" y="720819"/>
          <a:ext cx="157426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A2896294-EFB3-4C48-85D1-DD2361EF0DE7}">
      <dsp:nvSpPr>
        <dsp:cNvPr id="0" name=""/>
        <dsp:cNvSpPr/>
      </dsp:nvSpPr>
      <dsp:spPr>
        <a:xfrm>
          <a:off x="5124862" y="662025"/>
          <a:ext cx="80462" cy="151276"/>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69A2D616-A57F-0A45-9CF1-2B9FAE497830}">
      <dsp:nvSpPr>
        <dsp:cNvPr id="0" name=""/>
        <dsp:cNvSpPr/>
      </dsp:nvSpPr>
      <dsp:spPr>
        <a:xfrm>
          <a:off x="3958338"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3</a:t>
          </a:r>
        </a:p>
      </dsp:txBody>
      <dsp:txXfrm>
        <a:off x="4057164" y="482268"/>
        <a:ext cx="477174" cy="477174"/>
      </dsp:txXfrm>
    </dsp:sp>
    <dsp:sp modelId="{74822052-A8A9-C34B-9685-C91450B4B114}">
      <dsp:nvSpPr>
        <dsp:cNvPr id="0" name=""/>
        <dsp:cNvSpPr/>
      </dsp:nvSpPr>
      <dsp:spPr>
        <a:xfrm>
          <a:off x="3508621"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dirty="0"/>
            <a:t xml:space="preserve">Compare GPA by extracurricular participation via boxplot. </a:t>
          </a:r>
        </a:p>
      </dsp:txBody>
      <dsp:txXfrm>
        <a:off x="3508621" y="1538720"/>
        <a:ext cx="1574260" cy="1650748"/>
      </dsp:txXfrm>
    </dsp:sp>
    <dsp:sp modelId="{3629FABF-FEAF-EA4E-B162-7680A568D680}">
      <dsp:nvSpPr>
        <dsp:cNvPr id="0" name=""/>
        <dsp:cNvSpPr/>
      </dsp:nvSpPr>
      <dsp:spPr>
        <a:xfrm>
          <a:off x="5257800" y="720819"/>
          <a:ext cx="157426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160DD9E8-529B-174D-8B24-BA7A8BFFCF7F}">
      <dsp:nvSpPr>
        <dsp:cNvPr id="0" name=""/>
        <dsp:cNvSpPr/>
      </dsp:nvSpPr>
      <dsp:spPr>
        <a:xfrm>
          <a:off x="6874041" y="662025"/>
          <a:ext cx="80462" cy="151276"/>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2BCCAE32-19ED-3342-A534-A9D9E43698ED}">
      <dsp:nvSpPr>
        <dsp:cNvPr id="0" name=""/>
        <dsp:cNvSpPr/>
      </dsp:nvSpPr>
      <dsp:spPr>
        <a:xfrm>
          <a:off x="5707517"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4</a:t>
          </a:r>
        </a:p>
      </dsp:txBody>
      <dsp:txXfrm>
        <a:off x="5806343" y="482268"/>
        <a:ext cx="477174" cy="477174"/>
      </dsp:txXfrm>
    </dsp:sp>
    <dsp:sp modelId="{32BC8A43-534C-FF4D-A819-7EA4D9549888}">
      <dsp:nvSpPr>
        <dsp:cNvPr id="0" name=""/>
        <dsp:cNvSpPr/>
      </dsp:nvSpPr>
      <dsp:spPr>
        <a:xfrm>
          <a:off x="5257800"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a:t>Compare hours of homework by grade level.</a:t>
          </a:r>
        </a:p>
      </dsp:txBody>
      <dsp:txXfrm>
        <a:off x="5257800" y="1538720"/>
        <a:ext cx="1574260" cy="1650748"/>
      </dsp:txXfrm>
    </dsp:sp>
    <dsp:sp modelId="{890B6082-E672-A540-B3F7-183D4DDA2D8B}">
      <dsp:nvSpPr>
        <dsp:cNvPr id="0" name=""/>
        <dsp:cNvSpPr/>
      </dsp:nvSpPr>
      <dsp:spPr>
        <a:xfrm>
          <a:off x="7006978" y="720819"/>
          <a:ext cx="157426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2F66E930-3574-6E4C-814B-2726826C5374}">
      <dsp:nvSpPr>
        <dsp:cNvPr id="0" name=""/>
        <dsp:cNvSpPr/>
      </dsp:nvSpPr>
      <dsp:spPr>
        <a:xfrm>
          <a:off x="8623219" y="662025"/>
          <a:ext cx="80462" cy="151276"/>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8FA755C1-2A64-7C4D-9EAC-F2807A08BFEF}">
      <dsp:nvSpPr>
        <dsp:cNvPr id="0" name=""/>
        <dsp:cNvSpPr/>
      </dsp:nvSpPr>
      <dsp:spPr>
        <a:xfrm>
          <a:off x="7456695"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5</a:t>
          </a:r>
        </a:p>
      </dsp:txBody>
      <dsp:txXfrm>
        <a:off x="7555521" y="482268"/>
        <a:ext cx="477174" cy="477174"/>
      </dsp:txXfrm>
    </dsp:sp>
    <dsp:sp modelId="{5E8E5BC9-E0A6-464A-B691-A6923B72BE4D}">
      <dsp:nvSpPr>
        <dsp:cNvPr id="0" name=""/>
        <dsp:cNvSpPr/>
      </dsp:nvSpPr>
      <dsp:spPr>
        <a:xfrm>
          <a:off x="7006978"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dirty="0"/>
            <a:t xml:space="preserve">Look at a table of extracurricular participation by grade level. </a:t>
          </a:r>
        </a:p>
      </dsp:txBody>
      <dsp:txXfrm>
        <a:off x="7006978" y="1538720"/>
        <a:ext cx="1574260" cy="1650748"/>
      </dsp:txXfrm>
    </dsp:sp>
    <dsp:sp modelId="{C5B18FA6-3095-294E-ACA2-813EA31746C2}">
      <dsp:nvSpPr>
        <dsp:cNvPr id="0" name=""/>
        <dsp:cNvSpPr/>
      </dsp:nvSpPr>
      <dsp:spPr>
        <a:xfrm>
          <a:off x="8756157" y="720819"/>
          <a:ext cx="78713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05B9ABF-7D89-BF40-BB56-2269D2DD2135}">
      <dsp:nvSpPr>
        <dsp:cNvPr id="0" name=""/>
        <dsp:cNvSpPr/>
      </dsp:nvSpPr>
      <dsp:spPr>
        <a:xfrm>
          <a:off x="9205874" y="383442"/>
          <a:ext cx="674826" cy="674826"/>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6187" tIns="26187" rIns="26187" bIns="26187" numCol="1" spcCol="1270" anchor="ctr" anchorCtr="0">
          <a:noAutofit/>
        </a:bodyPr>
        <a:lstStyle/>
        <a:p>
          <a:pPr marL="0" lvl="0" indent="0" algn="ctr" defTabSz="1422400">
            <a:lnSpc>
              <a:spcPct val="90000"/>
            </a:lnSpc>
            <a:spcBef>
              <a:spcPct val="0"/>
            </a:spcBef>
            <a:spcAft>
              <a:spcPct val="35000"/>
            </a:spcAft>
            <a:buNone/>
          </a:pPr>
          <a:r>
            <a:rPr lang="en-US" sz="3200" kern="1200"/>
            <a:t>6</a:t>
          </a:r>
        </a:p>
      </dsp:txBody>
      <dsp:txXfrm>
        <a:off x="9304700" y="482268"/>
        <a:ext cx="477174" cy="477174"/>
      </dsp:txXfrm>
    </dsp:sp>
    <dsp:sp modelId="{A2A613CD-646A-014E-8E7A-05E4AAE61329}">
      <dsp:nvSpPr>
        <dsp:cNvPr id="0" name=""/>
        <dsp:cNvSpPr/>
      </dsp:nvSpPr>
      <dsp:spPr>
        <a:xfrm>
          <a:off x="8756157" y="1223868"/>
          <a:ext cx="1574260"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4179" tIns="165100" rIns="124179" bIns="165100" numCol="1" spcCol="1270" anchor="t" anchorCtr="0">
          <a:noAutofit/>
        </a:bodyPr>
        <a:lstStyle/>
        <a:p>
          <a:pPr marL="0" lvl="0" indent="0" algn="l" defTabSz="711200">
            <a:lnSpc>
              <a:spcPct val="90000"/>
            </a:lnSpc>
            <a:spcBef>
              <a:spcPct val="0"/>
            </a:spcBef>
            <a:spcAft>
              <a:spcPct val="35000"/>
            </a:spcAft>
            <a:buNone/>
          </a:pPr>
          <a:r>
            <a:rPr lang="en-US" sz="1600" kern="1200"/>
            <a:t>Check gender vs hours of sleep with boxplot.</a:t>
          </a:r>
        </a:p>
      </dsp:txBody>
      <dsp:txXfrm>
        <a:off x="8756157" y="1538720"/>
        <a:ext cx="1574260" cy="165074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CE14B-76C5-FB4F-B2E4-EA5B4B5FD97D}">
      <dsp:nvSpPr>
        <dsp:cNvPr id="0" name=""/>
        <dsp:cNvSpPr/>
      </dsp:nvSpPr>
      <dsp:spPr>
        <a:xfrm>
          <a:off x="3364992" y="1570"/>
          <a:ext cx="3785616" cy="6864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Note down patterns.</a:t>
          </a:r>
        </a:p>
      </dsp:txBody>
      <dsp:txXfrm>
        <a:off x="3398504" y="35082"/>
        <a:ext cx="3718592" cy="619470"/>
      </dsp:txXfrm>
    </dsp:sp>
    <dsp:sp modelId="{5B1EA367-AB11-3744-8747-ED597CB9F299}">
      <dsp:nvSpPr>
        <dsp:cNvPr id="0" name=""/>
        <dsp:cNvSpPr/>
      </dsp:nvSpPr>
      <dsp:spPr>
        <a:xfrm>
          <a:off x="3364992" y="722389"/>
          <a:ext cx="3785616" cy="6864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 xml:space="preserve">Trend </a:t>
          </a:r>
        </a:p>
      </dsp:txBody>
      <dsp:txXfrm>
        <a:off x="3398504" y="755901"/>
        <a:ext cx="3718592" cy="619470"/>
      </dsp:txXfrm>
    </dsp:sp>
    <dsp:sp modelId="{F8F1510A-AD7B-464D-A1D8-6F7C1FE01A7B}">
      <dsp:nvSpPr>
        <dsp:cNvPr id="0" name=""/>
        <dsp:cNvSpPr/>
      </dsp:nvSpPr>
      <dsp:spPr>
        <a:xfrm>
          <a:off x="3364992" y="1443208"/>
          <a:ext cx="3785616" cy="6864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 xml:space="preserve">Difference </a:t>
          </a:r>
        </a:p>
      </dsp:txBody>
      <dsp:txXfrm>
        <a:off x="3398504" y="1476720"/>
        <a:ext cx="3718592" cy="619470"/>
      </dsp:txXfrm>
    </dsp:sp>
    <dsp:sp modelId="{83FDAAC5-C2CD-FA46-9A17-F0CACA49A819}">
      <dsp:nvSpPr>
        <dsp:cNvPr id="0" name=""/>
        <dsp:cNvSpPr/>
      </dsp:nvSpPr>
      <dsp:spPr>
        <a:xfrm>
          <a:off x="3364992" y="2164027"/>
          <a:ext cx="3785616" cy="6864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 xml:space="preserve">Outlier </a:t>
          </a:r>
        </a:p>
      </dsp:txBody>
      <dsp:txXfrm>
        <a:off x="3398504" y="2197539"/>
        <a:ext cx="3718592" cy="619470"/>
      </dsp:txXfrm>
    </dsp:sp>
    <dsp:sp modelId="{145CA84B-79A5-0C4A-8E18-EC885666EA33}">
      <dsp:nvSpPr>
        <dsp:cNvPr id="0" name=""/>
        <dsp:cNvSpPr/>
      </dsp:nvSpPr>
      <dsp:spPr>
        <a:xfrm>
          <a:off x="3364992" y="2884846"/>
          <a:ext cx="3785616" cy="686494"/>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No relation</a:t>
          </a:r>
        </a:p>
      </dsp:txBody>
      <dsp:txXfrm>
        <a:off x="3398504" y="2918358"/>
        <a:ext cx="3718592" cy="61947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xml:space="preserve">
            <a:bodyPr/>
            <a:lstStyle/>
            <a:p>
              <a:r>
                <a:t>1</a:t>
              </a:r>
            </a:p>
          </dgm:t>
        </dgm:pt>
        <dgm:pt modelId="201" type="sibTrans" cxnId="5">
          <dgm:prSet phldrT="2"/>
          <dgm:t xml:space="preserve">
            <a:bodyPr/>
            <a:lstStyle/>
            <a:p>
              <a:r>
                <a:t>2</a:t>
              </a:r>
            </a:p>
          </dgm:t>
        </dgm:pt>
        <dgm:pt modelId="301" type="sibTrans" cxnId="6">
          <dgm:prSet phldrT="3"/>
          <dgm:t xml:space="preserve">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3146E-F6A3-455D-A8F7-7C094566E426}"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67100-4AF5-4440-9AA8-F24E6DD39EB4}" type="slidenum">
              <a:rPr lang="en-US" smtClean="0"/>
              <a:t>‹#›</a:t>
            </a:fld>
            <a:endParaRPr lang="en-US"/>
          </a:p>
        </p:txBody>
      </p:sp>
    </p:spTree>
    <p:extLst>
      <p:ext uri="{BB962C8B-B14F-4D97-AF65-F5344CB8AC3E}">
        <p14:creationId xmlns:p14="http://schemas.microsoft.com/office/powerpoint/2010/main" val="40837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a:t>
            </a:fld>
            <a:endParaRPr lang="en-US"/>
          </a:p>
        </p:txBody>
      </p:sp>
    </p:spTree>
    <p:extLst>
      <p:ext uri="{BB962C8B-B14F-4D97-AF65-F5344CB8AC3E}">
        <p14:creationId xmlns:p14="http://schemas.microsoft.com/office/powerpoint/2010/main" val="3676605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6</a:t>
            </a:fld>
            <a:endParaRPr lang="en-US"/>
          </a:p>
        </p:txBody>
      </p:sp>
    </p:spTree>
    <p:extLst>
      <p:ext uri="{BB962C8B-B14F-4D97-AF65-F5344CB8AC3E}">
        <p14:creationId xmlns:p14="http://schemas.microsoft.com/office/powerpoint/2010/main" val="3434259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21</a:t>
            </a:fld>
            <a:endParaRPr lang="en-US"/>
          </a:p>
        </p:txBody>
      </p:sp>
    </p:spTree>
    <p:extLst>
      <p:ext uri="{BB962C8B-B14F-4D97-AF65-F5344CB8AC3E}">
        <p14:creationId xmlns:p14="http://schemas.microsoft.com/office/powerpoint/2010/main" val="5500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31</a:t>
            </a:fld>
            <a:endParaRPr lang="en-US"/>
          </a:p>
        </p:txBody>
      </p:sp>
    </p:spTree>
    <p:extLst>
      <p:ext uri="{BB962C8B-B14F-4D97-AF65-F5344CB8AC3E}">
        <p14:creationId xmlns:p14="http://schemas.microsoft.com/office/powerpoint/2010/main" val="113012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36</a:t>
            </a:fld>
            <a:endParaRPr lang="en-US"/>
          </a:p>
        </p:txBody>
      </p:sp>
    </p:spTree>
    <p:extLst>
      <p:ext uri="{BB962C8B-B14F-4D97-AF65-F5344CB8AC3E}">
        <p14:creationId xmlns:p14="http://schemas.microsoft.com/office/powerpoint/2010/main" val="1232495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37</a:t>
            </a:fld>
            <a:endParaRPr lang="en-US"/>
          </a:p>
        </p:txBody>
      </p:sp>
    </p:spTree>
    <p:extLst>
      <p:ext uri="{BB962C8B-B14F-4D97-AF65-F5344CB8AC3E}">
        <p14:creationId xmlns:p14="http://schemas.microsoft.com/office/powerpoint/2010/main" val="3431014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53</a:t>
            </a:fld>
            <a:endParaRPr lang="en-US"/>
          </a:p>
        </p:txBody>
      </p:sp>
    </p:spTree>
    <p:extLst>
      <p:ext uri="{BB962C8B-B14F-4D97-AF65-F5344CB8AC3E}">
        <p14:creationId xmlns:p14="http://schemas.microsoft.com/office/powerpoint/2010/main" val="2825756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62</a:t>
            </a:fld>
            <a:endParaRPr lang="en-US"/>
          </a:p>
        </p:txBody>
      </p:sp>
    </p:spTree>
    <p:extLst>
      <p:ext uri="{BB962C8B-B14F-4D97-AF65-F5344CB8AC3E}">
        <p14:creationId xmlns:p14="http://schemas.microsoft.com/office/powerpoint/2010/main" val="2112566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78</a:t>
            </a:fld>
            <a:endParaRPr lang="en-US"/>
          </a:p>
        </p:txBody>
      </p:sp>
    </p:spTree>
    <p:extLst>
      <p:ext uri="{BB962C8B-B14F-4D97-AF65-F5344CB8AC3E}">
        <p14:creationId xmlns:p14="http://schemas.microsoft.com/office/powerpoint/2010/main" val="2920558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CF46D04F-A2E9-9037-5671-AE76970CC35D}"/>
              </a:ext>
            </a:extLst>
          </p:cNvPr>
          <p:cNvSpPr/>
          <p:nvPr userDrawn="1"/>
        </p:nvSpPr>
        <p:spPr>
          <a:xfrm>
            <a:off x="65675" y="3778845"/>
            <a:ext cx="3849574" cy="2942629"/>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8C0CB8-D0C2-1404-F91A-420744DD29B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64EACBD-CAF3-E652-16CC-1B0FAD472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30A456-AC01-F904-F218-7B4540D7D75B}"/>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4/21/2026</a:t>
            </a:fld>
            <a:endParaRPr lang="en-US" dirty="0"/>
          </a:p>
        </p:txBody>
      </p:sp>
      <p:sp>
        <p:nvSpPr>
          <p:cNvPr id="5" name="Footer Placeholder 4">
            <a:extLst>
              <a:ext uri="{FF2B5EF4-FFF2-40B4-BE49-F238E27FC236}">
                <a16:creationId xmlns:a16="http://schemas.microsoft.com/office/drawing/2014/main" id="{8744CB47-B3B7-6135-DE12-0C6A78EAA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E3DA9-A3A9-44B9-1EE5-DEE572AFBD0B}"/>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5571BE6C-6E5B-8994-D6FC-7B0CF7008156}"/>
              </a:ext>
            </a:extLst>
          </p:cNvPr>
          <p:cNvSpPr/>
          <p:nvPr userDrawn="1"/>
        </p:nvSpPr>
        <p:spPr>
          <a:xfrm rot="2253748">
            <a:off x="-395637" y="5046769"/>
            <a:ext cx="5087528" cy="134460"/>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37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28F5-7EB8-E462-7F02-DEC7DD59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8FE9F-8043-0471-3245-103B67027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662F2-0F81-38B4-96ED-B28DF9DDA87F}"/>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E04059D3-130F-CB1C-C4BD-AB74DE5C8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01768-0D49-C454-6289-60FB4C0AA2D9}"/>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38345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005EB2AA-5849-99F5-8BFB-632AC33BE750}"/>
              </a:ext>
            </a:extLst>
          </p:cNvPr>
          <p:cNvSpPr/>
          <p:nvPr userDrawn="1"/>
        </p:nvSpPr>
        <p:spPr>
          <a:xfrm>
            <a:off x="65675" y="4703350"/>
            <a:ext cx="3000849" cy="2018124"/>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A21169-83DD-8851-E599-FEA45E149DDB}"/>
              </a:ext>
            </a:extLst>
          </p:cNvPr>
          <p:cNvSpPr>
            <a:spLocks noGrp="1"/>
          </p:cNvSpPr>
          <p:nvPr>
            <p:ph type="title"/>
          </p:nvPr>
        </p:nvSpPr>
        <p:spPr>
          <a:xfrm>
            <a:off x="1631774" y="1709738"/>
            <a:ext cx="9715675" cy="235706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FA66E-E2F5-038E-BF7C-F544B78441A8}"/>
              </a:ext>
            </a:extLst>
          </p:cNvPr>
          <p:cNvSpPr>
            <a:spLocks noGrp="1"/>
          </p:cNvSpPr>
          <p:nvPr>
            <p:ph type="body" idx="1"/>
          </p:nvPr>
        </p:nvSpPr>
        <p:spPr>
          <a:xfrm>
            <a:off x="1677242" y="4289092"/>
            <a:ext cx="9670207" cy="136907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CDE55D8-8CBA-9F43-B01D-D7082DC964C2}"/>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4/21/2026</a:t>
            </a:fld>
            <a:endParaRPr lang="en-US" dirty="0"/>
          </a:p>
        </p:txBody>
      </p:sp>
      <p:sp>
        <p:nvSpPr>
          <p:cNvPr id="5" name="Footer Placeholder 4">
            <a:extLst>
              <a:ext uri="{FF2B5EF4-FFF2-40B4-BE49-F238E27FC236}">
                <a16:creationId xmlns:a16="http://schemas.microsoft.com/office/drawing/2014/main" id="{48B051CF-3BF6-AF09-6011-B52C3C683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4DF-802E-7327-8627-9511A495EA58}"/>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3D31E67B-A6F8-DF75-FF70-FDB89861438B}"/>
              </a:ext>
            </a:extLst>
          </p:cNvPr>
          <p:cNvSpPr/>
          <p:nvPr userDrawn="1"/>
        </p:nvSpPr>
        <p:spPr>
          <a:xfrm rot="2037324">
            <a:off x="-227242" y="5530392"/>
            <a:ext cx="3899903" cy="111444"/>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65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0E4A-4368-4C69-3C64-37AFD71E5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0C132-4FE6-22EA-BAA6-8CA300CAE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F67368-3DE6-C552-433F-568EC0B61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D78C7-6BC7-56DC-CA02-5C90A7A9C46E}"/>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3F2F206C-92E1-28B7-AB9E-7FD2BB751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92DCA-BE48-5290-3278-3EC28D13C23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61901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2AE3-93B7-61C1-B756-59838E053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E1FB3-F727-DBA4-FBA9-234073858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F2CAC-BACD-7BE3-43DD-71043AC67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B31440-2DA2-FA84-9167-5FC181DCA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8932E-9F32-AA7A-2F1E-17F50265BE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7CD880-75C8-7990-30C3-51E10FE870E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8" name="Footer Placeholder 7">
            <a:extLst>
              <a:ext uri="{FF2B5EF4-FFF2-40B4-BE49-F238E27FC236}">
                <a16:creationId xmlns:a16="http://schemas.microsoft.com/office/drawing/2014/main" id="{9DDEF02E-78D7-F804-7839-C3354BF3F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5FA79-FDE3-8906-39A3-A5C937F0834F}"/>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170275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978E-2D2F-D341-2FA9-7D6D8ABF6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67CD-2EC9-4F23-858C-B85DCE903D46}"/>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4" name="Footer Placeholder 3">
            <a:extLst>
              <a:ext uri="{FF2B5EF4-FFF2-40B4-BE49-F238E27FC236}">
                <a16:creationId xmlns:a16="http://schemas.microsoft.com/office/drawing/2014/main" id="{F325F275-AA05-AA90-BFF9-94CFF0801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8933A-5A98-47C0-0FDC-35C9BCEA33B8}"/>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50517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A021B-9E90-5F87-7450-DC7257801FE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3" name="Footer Placeholder 2">
            <a:extLst>
              <a:ext uri="{FF2B5EF4-FFF2-40B4-BE49-F238E27FC236}">
                <a16:creationId xmlns:a16="http://schemas.microsoft.com/office/drawing/2014/main" id="{227CC1AD-0010-A189-0E43-BE96BA395D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2B049-6B92-60D9-D26F-9C4603F930A6}"/>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62909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72C-E996-AF0C-1FE4-F8CE41D2C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2E048-3033-FD5E-D3EE-710DA0B0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110ED7-5C65-0E15-895B-7C830D74A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0457B-797B-C6DE-EC6A-CB73EB2600E4}"/>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5030F16C-84B6-9D3E-10C7-4B359FD7B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A5764-25FE-49B4-7825-61267D9E518D}"/>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251350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A7B5-D51E-0EBA-DA75-9E1B86392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D8D80-69D5-682D-6788-8F3A45253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C84A4-2F9F-DC4F-74C1-19F1EB3CF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80B86-C717-EA60-2269-392FD0F72C5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2A658424-657A-53FD-0817-B7752742B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5CE37-62D2-1E15-6CB6-04D76FAE4FE5}"/>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772120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41E0-17E7-2015-B9F8-B897CA6329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C2268-93A1-B778-5028-5783DE4D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89D27-0D85-8C7B-142A-74403B21FF51}"/>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27006D02-609F-7F78-2288-E43B0E23B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58CFA-4B7F-0DBD-C99B-E464A43A4EA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2517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441BA-3638-2B1C-D3CA-F862A6C0309E}"/>
              </a:ext>
            </a:extLst>
          </p:cNvPr>
          <p:cNvSpPr>
            <a:spLocks noGrp="1"/>
          </p:cNvSpPr>
          <p:nvPr>
            <p:ph type="title" orient="vert"/>
          </p:nvPr>
        </p:nvSpPr>
        <p:spPr>
          <a:xfrm>
            <a:off x="8724900" y="1156893"/>
            <a:ext cx="2628900" cy="502007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E47DF25-5E8D-D4BD-6759-5EB82BA5A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AFB57-7D5C-F3CC-330C-934B10E41D67}"/>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596FCFFC-8250-D8A0-8181-3ECD823B9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CBCFC-BE45-2CEE-8C2D-480BF7B683A7}"/>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850083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5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3946824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5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54876143"/>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988B7-8CA8-8706-C4A7-E1290D2D7C8E}"/>
              </a:ext>
            </a:extLst>
          </p:cNvPr>
          <p:cNvSpPr>
            <a:spLocks noGrp="1"/>
          </p:cNvSpPr>
          <p:nvPr>
            <p:ph type="title"/>
          </p:nvPr>
        </p:nvSpPr>
        <p:spPr>
          <a:xfrm>
            <a:off x="838200" y="10991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9097779-7EE0-B5F0-D625-DCEDCF087519}"/>
              </a:ext>
            </a:extLst>
          </p:cNvPr>
          <p:cNvSpPr>
            <a:spLocks noGrp="1"/>
          </p:cNvSpPr>
          <p:nvPr>
            <p:ph type="body" idx="1"/>
          </p:nvPr>
        </p:nvSpPr>
        <p:spPr>
          <a:xfrm>
            <a:off x="838200" y="2604051"/>
            <a:ext cx="10515600" cy="35729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6A9E4-6456-C2F9-73BB-C32B468DE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589DF-59BF-4BA7-8495-56F0F1B65344}" type="datetimeFigureOut">
              <a:rPr lang="en-US" smtClean="0"/>
              <a:t>4/21/2026</a:t>
            </a:fld>
            <a:endParaRPr lang="en-US" dirty="0"/>
          </a:p>
        </p:txBody>
      </p:sp>
      <p:sp>
        <p:nvSpPr>
          <p:cNvPr id="5" name="Footer Placeholder 4">
            <a:extLst>
              <a:ext uri="{FF2B5EF4-FFF2-40B4-BE49-F238E27FC236}">
                <a16:creationId xmlns:a16="http://schemas.microsoft.com/office/drawing/2014/main" id="{9D8F09A6-E403-39ED-FCDD-D2B49BE77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All Rights Reserved @Nexellence</a:t>
            </a:r>
          </a:p>
        </p:txBody>
      </p:sp>
      <p:sp>
        <p:nvSpPr>
          <p:cNvPr id="6" name="Slide Number Placeholder 5">
            <a:extLst>
              <a:ext uri="{FF2B5EF4-FFF2-40B4-BE49-F238E27FC236}">
                <a16:creationId xmlns:a16="http://schemas.microsoft.com/office/drawing/2014/main" id="{55A1CF5F-1237-1539-FFB2-2128023A2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93C485-DB5A-4C7E-867A-4FFBAFD4DD2E}" type="slidenum">
              <a:rPr lang="en-US" smtClean="0"/>
              <a:t>‹#›</a:t>
            </a:fld>
            <a:endParaRPr lang="en-US"/>
          </a:p>
        </p:txBody>
      </p:sp>
      <p:pic>
        <p:nvPicPr>
          <p:cNvPr id="8" name="Picture 7" descr="A logo of a company  AI-generated content may be incorrect.">
            <a:extLst>
              <a:ext uri="{FF2B5EF4-FFF2-40B4-BE49-F238E27FC236}">
                <a16:creationId xmlns:a16="http://schemas.microsoft.com/office/drawing/2014/main" id="{625393FF-C7FE-64BE-F32C-440050D74E5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8809383" y="86258"/>
            <a:ext cx="3138446" cy="717936"/>
          </a:xfrm>
          <a:prstGeom prst="rect">
            <a:avLst/>
          </a:prstGeom>
        </p:spPr>
      </p:pic>
    </p:spTree>
    <p:extLst>
      <p:ext uri="{BB962C8B-B14F-4D97-AF65-F5344CB8AC3E}">
        <p14:creationId xmlns:p14="http://schemas.microsoft.com/office/powerpoint/2010/main" val="210482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1.xml.rels><?xml version="1.0" encoding="UTF-8"?><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7.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0.xml.rels><?xml version="1.0" encoding="UTF-8"?><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8.xml"/><Relationship Id="rId4" Type="http://schemas.openxmlformats.org/officeDocument/2006/relationships/image" Target="../media/image63.png"/></Relationships>
</file>

<file path=ppt/slides/_rels/slide53.xml.rels><?xml version="1.0" encoding="UTF-8"?><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5.xml.rels><?xml version="1.0" encoding="UTF-8"?><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6.xml.rels><?xml version="1.0" encoding="UTF-8"?><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68.png"/><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8.xml.rels><?xml version="1.0" encoding="UTF-8"?><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73.png"/><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9.xml.rels><?xml version="1.0" encoding="UTF-8"?><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78.png"/><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63.xml.rels><?xml version="1.0" encoding="UTF-8"?><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4.xml.rels><?xml version="1.0" encoding="UTF-8"?><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5.xml.rels><?xml version="1.0" encoding="UTF-8"?><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6.xml.rels><?xml version="1.0" encoding="UTF-8"?><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7.xml.rels><?xml version="1.0" encoding="UTF-8"?><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8.xml.rels><?xml version="1.0" encoding="UTF-8"?><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6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8.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71.xml.rels><?xml version="1.0" encoding="UTF-8"?><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72.xml.rels><?xml version="1.0" encoding="UTF-8"?><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73.xml.rels><?xml version="1.0" encoding="UTF-8"?><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76.xml.rels><?xml version="1.0" encoding="UTF-8"?><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77.xml.rels><?xml version="1.0" encoding="UTF-8"?><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4.png"/><Relationship Id="rId7" Type="http://schemas.openxmlformats.org/officeDocument/2006/relationships/image" Target="../media/image106.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05.png"/><Relationship Id="rId4" Type="http://schemas.openxmlformats.org/officeDocument/2006/relationships/image" Target="../media/image20.png"/><Relationship Id="rId9" Type="http://schemas.openxmlformats.org/officeDocument/2006/relationships/image" Target="../media/image107.png"/></Relationships>
</file>

<file path=ppt/slides/_rels/slide78.xml.rels><?xml version="1.0" encoding="UTF-8"?><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80.xml.rels><?xml version="1.0" encoding="UTF-8"?><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83.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84.xml.rels><?xml version="1.0" encoding="UTF-8"?><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5.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fontScale="90000"/>
          </a:bodyPr>
          <a:lstStyle/>
          <a:p>
            <a:r>
              <a:rPr lang="en-US" dirty="0"/>
              <a:t>Chapter 8: Exploring the Clues – Intro to Exploratory Data Analysis (EDA)</a:t>
            </a:r>
          </a:p>
        </p:txBody>
      </p:sp>
      <p:sp>
        <p:nvSpPr>
          <p:cNvPr id="3" name="Subtitle 2"/>
          <p:cNvSpPr>
            <a:spLocks noGrp="1"/>
          </p:cNvSpPr>
          <p:nvPr>
            <p:ph type="subTitle" idx="1"/>
          </p:nvPr>
        </p:nvSpPr>
        <p:spPr>
          <a:xfrm>
            <a:off x="1524000" y="4231758"/>
            <a:ext cx="9144000" cy="1026042"/>
          </a:xfrm>
        </p:spPr>
        <p:txBody>
          <a:bodyPr/>
          <a:lstStyle/>
          <a:p>
            <a:r>
              <a:rPr dirty="0"/>
              <a:t>From Raw Numbers to Real Insights — The Art of Asking the Right Questions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D3AAA-A386-D32C-5004-0A6C36B87200}"/>
              </a:ext>
            </a:extLst>
          </p:cNvPr>
          <p:cNvSpPr>
            <a:spLocks noGrp="1"/>
          </p:cNvSpPr>
          <p:nvPr>
            <p:ph type="title"/>
          </p:nvPr>
        </p:nvSpPr>
        <p:spPr>
          <a:xfrm>
            <a:off x="838200" y="1099100"/>
            <a:ext cx="10515600" cy="1325563"/>
          </a:xfrm>
        </p:spPr>
        <p:txBody>
          <a:bodyPr anchor="ctr">
            <a:normAutofit/>
          </a:bodyPr>
          <a:lstStyle/>
          <a:p>
            <a:r>
              <a:rPr lang="en-US" dirty="0"/>
              <a:t>Exploring the Clues: Intro to Exploratory Data Analysis</a:t>
            </a:r>
          </a:p>
        </p:txBody>
      </p:sp>
      <p:sp>
        <p:nvSpPr>
          <p:cNvPr id="3" name="Content Placeholder 2">
            <a:extLst>
              <a:ext uri="{FF2B5EF4-FFF2-40B4-BE49-F238E27FC236}">
                <a16:creationId xmlns:a16="http://schemas.microsoft.com/office/drawing/2014/main" id="{1968E239-9ADE-5A01-13A2-B68A915F97D0}"/>
              </a:ext>
            </a:extLst>
          </p:cNvPr>
          <p:cNvSpPr>
            <a:spLocks noGrp="1"/>
          </p:cNvSpPr>
          <p:nvPr>
            <p:ph sz="half" idx="1"/>
          </p:nvPr>
        </p:nvSpPr>
        <p:spPr>
          <a:xfrm>
            <a:off x="838200" y="3200399"/>
            <a:ext cx="5181600" cy="2976563"/>
          </a:xfrm>
        </p:spPr>
        <p:txBody>
          <a:bodyPr>
            <a:normAutofit/>
          </a:bodyPr>
          <a:lstStyle/>
          <a:p>
            <a:pPr marL="0" indent="0">
              <a:buNone/>
            </a:pPr>
            <a:r>
              <a:rPr lang="en-US" dirty="0"/>
              <a:t>Welcome to the world of data detective work! In this chapter, we'll learn how to explore and understand data before jumping to conclusions.</a:t>
            </a:r>
          </a:p>
          <a:p>
            <a:endParaRPr lang="en-US" dirty="0"/>
          </a:p>
        </p:txBody>
      </p:sp>
      <p:pic>
        <p:nvPicPr>
          <p:cNvPr id="4" name="Image 0" descr="preencoded.png">
            <a:extLst>
              <a:ext uri="{FF2B5EF4-FFF2-40B4-BE49-F238E27FC236}">
                <a16:creationId xmlns:a16="http://schemas.microsoft.com/office/drawing/2014/main" id="{D6C80B0E-5003-807A-EADD-AB5847296E62}"/>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172202" y="1968500"/>
            <a:ext cx="5181600" cy="4351338"/>
          </a:xfrm>
          <a:prstGeom prst="rect">
            <a:avLst/>
          </a:prstGeom>
          <a:noFill/>
        </p:spPr>
      </p:pic>
    </p:spTree>
    <p:extLst>
      <p:ext uri="{BB962C8B-B14F-4D97-AF65-F5344CB8AC3E}">
        <p14:creationId xmlns:p14="http://schemas.microsoft.com/office/powerpoint/2010/main" val="3199634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8EDD-FDEA-8628-89BA-1E890EA8C7D5}"/>
              </a:ext>
            </a:extLst>
          </p:cNvPr>
          <p:cNvSpPr>
            <a:spLocks noGrp="1"/>
          </p:cNvSpPr>
          <p:nvPr>
            <p:ph type="title"/>
          </p:nvPr>
        </p:nvSpPr>
        <p:spPr>
          <a:xfrm>
            <a:off x="838200" y="881792"/>
            <a:ext cx="10515600" cy="1325563"/>
          </a:xfrm>
        </p:spPr>
        <p:txBody>
          <a:bodyPr/>
          <a:lstStyle/>
          <a:p>
            <a:r>
              <a:rPr lang="en-US" dirty="0"/>
              <a:t>What is Exploratory Data Analysis?</a:t>
            </a:r>
          </a:p>
        </p:txBody>
      </p:sp>
      <p:sp>
        <p:nvSpPr>
          <p:cNvPr id="6" name="Shape 1">
            <a:extLst>
              <a:ext uri="{FF2B5EF4-FFF2-40B4-BE49-F238E27FC236}">
                <a16:creationId xmlns:a16="http://schemas.microsoft.com/office/drawing/2014/main" id="{DA32215A-8BAB-F1E2-9DE9-934692822944}"/>
              </a:ext>
            </a:extLst>
          </p:cNvPr>
          <p:cNvSpPr/>
          <p:nvPr/>
        </p:nvSpPr>
        <p:spPr>
          <a:xfrm>
            <a:off x="838200" y="2526184"/>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7" name="Image 1" descr="preencoded.png">
            <a:extLst>
              <a:ext uri="{FF2B5EF4-FFF2-40B4-BE49-F238E27FC236}">
                <a16:creationId xmlns:a16="http://schemas.microsoft.com/office/drawing/2014/main" id="{2C203465-AB11-4F21-CDAF-476071478678}"/>
              </a:ext>
            </a:extLst>
          </p:cNvPr>
          <p:cNvPicPr>
            <a:picLocks noChangeAspect="1"/>
          </p:cNvPicPr>
          <p:nvPr/>
        </p:nvPicPr>
        <p:blipFill>
          <a:blip r:embed="rId2"/>
          <a:stretch>
            <a:fillRect/>
          </a:stretch>
        </p:blipFill>
        <p:spPr>
          <a:xfrm>
            <a:off x="923270" y="2568690"/>
            <a:ext cx="340162" cy="425291"/>
          </a:xfrm>
          <a:prstGeom prst="rect">
            <a:avLst/>
          </a:prstGeom>
        </p:spPr>
      </p:pic>
      <p:sp>
        <p:nvSpPr>
          <p:cNvPr id="8" name="Text 2">
            <a:extLst>
              <a:ext uri="{FF2B5EF4-FFF2-40B4-BE49-F238E27FC236}">
                <a16:creationId xmlns:a16="http://schemas.microsoft.com/office/drawing/2014/main" id="{660185BC-E13C-FEEE-F901-A8A6F7C7FAD2}"/>
              </a:ext>
            </a:extLst>
          </p:cNvPr>
          <p:cNvSpPr/>
          <p:nvPr/>
        </p:nvSpPr>
        <p:spPr>
          <a:xfrm>
            <a:off x="1575316" y="2604051"/>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000000"/>
                </a:solidFill>
                <a:latin typeface="Aptos" panose="020B0004020202020204" pitchFamily="34" charset="0"/>
                <a:ea typeface="Playfair Display Bold" pitchFamily="34" charset="-122"/>
                <a:cs typeface="Playfair Display Bold" pitchFamily="34" charset="-120"/>
              </a:rPr>
              <a:t>Detective Work</a:t>
            </a:r>
            <a:endParaRPr lang="en-US" sz="2800" dirty="0">
              <a:latin typeface="Aptos" panose="020B0004020202020204" pitchFamily="34" charset="0"/>
            </a:endParaRPr>
          </a:p>
        </p:txBody>
      </p:sp>
      <p:sp>
        <p:nvSpPr>
          <p:cNvPr id="9" name="Text 3">
            <a:extLst>
              <a:ext uri="{FF2B5EF4-FFF2-40B4-BE49-F238E27FC236}">
                <a16:creationId xmlns:a16="http://schemas.microsoft.com/office/drawing/2014/main" id="{8FB2FBEA-3619-1BF6-991D-D668EBD1B387}"/>
              </a:ext>
            </a:extLst>
          </p:cNvPr>
          <p:cNvSpPr/>
          <p:nvPr/>
        </p:nvSpPr>
        <p:spPr>
          <a:xfrm>
            <a:off x="1575316" y="3094470"/>
            <a:ext cx="2899410" cy="1451610"/>
          </a:xfrm>
          <a:prstGeom prst="rect">
            <a:avLst/>
          </a:prstGeom>
          <a:noFill/>
          <a:ln/>
        </p:spPr>
        <p:txBody>
          <a:bodyPr wrap="square" lIns="0" tIns="0" rIns="0" bIns="0" rtlCol="0" anchor="t"/>
          <a:lstStyle/>
          <a:p>
            <a:pPr marL="0" indent="0" algn="l">
              <a:lnSpc>
                <a:spcPts val="2850"/>
              </a:lnSpc>
              <a:buNone/>
            </a:pPr>
            <a:r>
              <a:rPr lang="en-US" sz="2000" dirty="0">
                <a:solidFill>
                  <a:srgbClr val="000000"/>
                </a:solidFill>
                <a:latin typeface="Aptos" panose="020B0004020202020204" pitchFamily="34" charset="0"/>
                <a:ea typeface="Inter" pitchFamily="34" charset="-122"/>
                <a:cs typeface="Inter" pitchFamily="34" charset="-120"/>
              </a:rPr>
              <a:t>EDA is like using a magnifying glass to inspect data and understand its story.</a:t>
            </a:r>
            <a:endParaRPr lang="en-US" sz="2000" dirty="0">
              <a:latin typeface="Aptos" panose="020B0004020202020204" pitchFamily="34" charset="0"/>
            </a:endParaRPr>
          </a:p>
        </p:txBody>
      </p:sp>
      <p:sp>
        <p:nvSpPr>
          <p:cNvPr id="10" name="Shape 4">
            <a:extLst>
              <a:ext uri="{FF2B5EF4-FFF2-40B4-BE49-F238E27FC236}">
                <a16:creationId xmlns:a16="http://schemas.microsoft.com/office/drawing/2014/main" id="{CF365300-B485-72FA-E140-B9A46EC17893}"/>
              </a:ext>
            </a:extLst>
          </p:cNvPr>
          <p:cNvSpPr/>
          <p:nvPr/>
        </p:nvSpPr>
        <p:spPr>
          <a:xfrm>
            <a:off x="4758213" y="2526184"/>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11" name="Image 2" descr="preencoded.png">
            <a:extLst>
              <a:ext uri="{FF2B5EF4-FFF2-40B4-BE49-F238E27FC236}">
                <a16:creationId xmlns:a16="http://schemas.microsoft.com/office/drawing/2014/main" id="{FAA09340-AC70-BB1A-1F2E-8B0011742BE6}"/>
              </a:ext>
            </a:extLst>
          </p:cNvPr>
          <p:cNvPicPr>
            <a:picLocks noChangeAspect="1"/>
          </p:cNvPicPr>
          <p:nvPr/>
        </p:nvPicPr>
        <p:blipFill>
          <a:blip r:embed="rId3"/>
          <a:stretch>
            <a:fillRect/>
          </a:stretch>
        </p:blipFill>
        <p:spPr>
          <a:xfrm>
            <a:off x="4843284" y="2568690"/>
            <a:ext cx="340162" cy="425291"/>
          </a:xfrm>
          <a:prstGeom prst="rect">
            <a:avLst/>
          </a:prstGeom>
        </p:spPr>
      </p:pic>
      <p:sp>
        <p:nvSpPr>
          <p:cNvPr id="12" name="Text 5">
            <a:extLst>
              <a:ext uri="{FF2B5EF4-FFF2-40B4-BE49-F238E27FC236}">
                <a16:creationId xmlns:a16="http://schemas.microsoft.com/office/drawing/2014/main" id="{0AE33185-614B-14B2-6191-AB139EC917C2}"/>
              </a:ext>
            </a:extLst>
          </p:cNvPr>
          <p:cNvSpPr/>
          <p:nvPr/>
        </p:nvSpPr>
        <p:spPr>
          <a:xfrm>
            <a:off x="5495329" y="2604051"/>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000000"/>
                </a:solidFill>
                <a:latin typeface="Aptos" panose="020B0004020202020204" pitchFamily="34" charset="0"/>
                <a:ea typeface="Playfair Display Bold" pitchFamily="34" charset="-122"/>
                <a:cs typeface="Playfair Display Bold" pitchFamily="34" charset="-120"/>
              </a:rPr>
              <a:t>Visual Methods</a:t>
            </a:r>
            <a:endParaRPr lang="en-US" sz="2800" dirty="0">
              <a:latin typeface="Aptos" panose="020B0004020202020204" pitchFamily="34" charset="0"/>
            </a:endParaRPr>
          </a:p>
        </p:txBody>
      </p:sp>
      <p:sp>
        <p:nvSpPr>
          <p:cNvPr id="13" name="Text 6">
            <a:extLst>
              <a:ext uri="{FF2B5EF4-FFF2-40B4-BE49-F238E27FC236}">
                <a16:creationId xmlns:a16="http://schemas.microsoft.com/office/drawing/2014/main" id="{88AF07D3-667F-A10A-E381-E4A894CB0E18}"/>
              </a:ext>
            </a:extLst>
          </p:cNvPr>
          <p:cNvSpPr/>
          <p:nvPr/>
        </p:nvSpPr>
        <p:spPr>
          <a:xfrm>
            <a:off x="5495329" y="3094470"/>
            <a:ext cx="2899410" cy="1088708"/>
          </a:xfrm>
          <a:prstGeom prst="rect">
            <a:avLst/>
          </a:prstGeom>
          <a:noFill/>
          <a:ln/>
        </p:spPr>
        <p:txBody>
          <a:bodyPr wrap="square" lIns="0" tIns="0" rIns="0" bIns="0" rtlCol="0" anchor="t"/>
          <a:lstStyle/>
          <a:p>
            <a:pPr marL="0" indent="0" algn="l">
              <a:lnSpc>
                <a:spcPts val="2850"/>
              </a:lnSpc>
              <a:buNone/>
            </a:pPr>
            <a:r>
              <a:rPr lang="en-US" sz="2000" dirty="0">
                <a:solidFill>
                  <a:srgbClr val="000000"/>
                </a:solidFill>
                <a:latin typeface="Aptos" panose="020B0004020202020204" pitchFamily="34" charset="0"/>
                <a:ea typeface="Inter" pitchFamily="34" charset="-122"/>
                <a:cs typeface="Inter" pitchFamily="34" charset="-120"/>
              </a:rPr>
              <a:t>We use charts and graphs to see patterns that might be hidden in numbers.</a:t>
            </a:r>
            <a:endParaRPr lang="en-US" sz="2000" dirty="0">
              <a:latin typeface="Aptos" panose="020B0004020202020204" pitchFamily="34" charset="0"/>
            </a:endParaRPr>
          </a:p>
        </p:txBody>
      </p:sp>
      <p:sp>
        <p:nvSpPr>
          <p:cNvPr id="14" name="Shape 7">
            <a:extLst>
              <a:ext uri="{FF2B5EF4-FFF2-40B4-BE49-F238E27FC236}">
                <a16:creationId xmlns:a16="http://schemas.microsoft.com/office/drawing/2014/main" id="{14CBA89B-FC42-598B-C658-295B8B5D7F68}"/>
              </a:ext>
            </a:extLst>
          </p:cNvPr>
          <p:cNvSpPr/>
          <p:nvPr/>
        </p:nvSpPr>
        <p:spPr>
          <a:xfrm>
            <a:off x="838200" y="4999708"/>
            <a:ext cx="510302" cy="510302"/>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pic>
        <p:nvPicPr>
          <p:cNvPr id="15" name="Image 3" descr="preencoded.png">
            <a:extLst>
              <a:ext uri="{FF2B5EF4-FFF2-40B4-BE49-F238E27FC236}">
                <a16:creationId xmlns:a16="http://schemas.microsoft.com/office/drawing/2014/main" id="{8CF28652-8A19-2E3B-1C6C-D71D4BA86E7B}"/>
              </a:ext>
            </a:extLst>
          </p:cNvPr>
          <p:cNvPicPr>
            <a:picLocks noChangeAspect="1"/>
          </p:cNvPicPr>
          <p:nvPr/>
        </p:nvPicPr>
        <p:blipFill>
          <a:blip r:embed="rId4"/>
          <a:stretch>
            <a:fillRect/>
          </a:stretch>
        </p:blipFill>
        <p:spPr>
          <a:xfrm>
            <a:off x="923270" y="5042213"/>
            <a:ext cx="340162" cy="425291"/>
          </a:xfrm>
          <a:prstGeom prst="rect">
            <a:avLst/>
          </a:prstGeom>
        </p:spPr>
      </p:pic>
      <p:sp>
        <p:nvSpPr>
          <p:cNvPr id="16" name="Text 8">
            <a:extLst>
              <a:ext uri="{FF2B5EF4-FFF2-40B4-BE49-F238E27FC236}">
                <a16:creationId xmlns:a16="http://schemas.microsoft.com/office/drawing/2014/main" id="{5EBCC974-58F6-27A4-1782-CC70302D3D30}"/>
              </a:ext>
            </a:extLst>
          </p:cNvPr>
          <p:cNvSpPr/>
          <p:nvPr/>
        </p:nvSpPr>
        <p:spPr>
          <a:xfrm>
            <a:off x="1575316" y="5077575"/>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000000"/>
                </a:solidFill>
                <a:latin typeface="Aptos" panose="020B0004020202020204" pitchFamily="34" charset="0"/>
                <a:ea typeface="Playfair Display Bold" pitchFamily="34" charset="-122"/>
                <a:cs typeface="Playfair Display Bold" pitchFamily="34" charset="-120"/>
              </a:rPr>
              <a:t>Creating a Map</a:t>
            </a:r>
            <a:endParaRPr lang="en-US" sz="2800" dirty="0">
              <a:latin typeface="Aptos" panose="020B0004020202020204" pitchFamily="34" charset="0"/>
            </a:endParaRPr>
          </a:p>
        </p:txBody>
      </p:sp>
      <p:sp>
        <p:nvSpPr>
          <p:cNvPr id="17" name="Text 9">
            <a:extLst>
              <a:ext uri="{FF2B5EF4-FFF2-40B4-BE49-F238E27FC236}">
                <a16:creationId xmlns:a16="http://schemas.microsoft.com/office/drawing/2014/main" id="{0BDBF05D-AF6D-B98A-FBAB-3469530A2B23}"/>
              </a:ext>
            </a:extLst>
          </p:cNvPr>
          <p:cNvSpPr/>
          <p:nvPr/>
        </p:nvSpPr>
        <p:spPr>
          <a:xfrm>
            <a:off x="1575316" y="5567993"/>
            <a:ext cx="6819305" cy="725805"/>
          </a:xfrm>
          <a:prstGeom prst="rect">
            <a:avLst/>
          </a:prstGeom>
          <a:noFill/>
          <a:ln/>
        </p:spPr>
        <p:txBody>
          <a:bodyPr wrap="square" lIns="0" tIns="0" rIns="0" bIns="0" rtlCol="0" anchor="t"/>
          <a:lstStyle/>
          <a:p>
            <a:pPr marL="0" indent="0" algn="l">
              <a:lnSpc>
                <a:spcPts val="2850"/>
              </a:lnSpc>
              <a:buNone/>
            </a:pPr>
            <a:r>
              <a:rPr lang="en-US" sz="2000" dirty="0">
                <a:solidFill>
                  <a:srgbClr val="000000"/>
                </a:solidFill>
                <a:latin typeface="Aptos" panose="020B0004020202020204" pitchFamily="34" charset="0"/>
                <a:ea typeface="Inter" pitchFamily="34" charset="-122"/>
                <a:cs typeface="Inter" pitchFamily="34" charset="-120"/>
              </a:rPr>
              <a:t>EDA gives us a "map" of the data landscape before we dive deeper.</a:t>
            </a:r>
            <a:endParaRPr lang="en-US" sz="2000" dirty="0">
              <a:latin typeface="Aptos" panose="020B0004020202020204" pitchFamily="34" charset="0"/>
            </a:endParaRPr>
          </a:p>
        </p:txBody>
      </p:sp>
      <p:pic>
        <p:nvPicPr>
          <p:cNvPr id="18" name="Image 0" descr="preencoded.png">
            <a:extLst>
              <a:ext uri="{FF2B5EF4-FFF2-40B4-BE49-F238E27FC236}">
                <a16:creationId xmlns:a16="http://schemas.microsoft.com/office/drawing/2014/main" id="{C054B86A-9FCC-B369-52D7-AEECC1282C8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42283" y="1826875"/>
            <a:ext cx="3141738" cy="4712606"/>
          </a:xfrm>
          <a:prstGeom prst="rect">
            <a:avLst/>
          </a:prstGeom>
        </p:spPr>
      </p:pic>
    </p:spTree>
    <p:extLst>
      <p:ext uri="{BB962C8B-B14F-4D97-AF65-F5344CB8AC3E}">
        <p14:creationId xmlns:p14="http://schemas.microsoft.com/office/powerpoint/2010/main" val="314907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CFEE-8A74-4AB7-2561-920969B06E12}"/>
              </a:ext>
            </a:extLst>
          </p:cNvPr>
          <p:cNvSpPr>
            <a:spLocks noGrp="1"/>
          </p:cNvSpPr>
          <p:nvPr>
            <p:ph type="title"/>
          </p:nvPr>
        </p:nvSpPr>
        <p:spPr/>
        <p:txBody>
          <a:bodyPr/>
          <a:lstStyle/>
          <a:p>
            <a:r>
              <a:rPr lang="en-US" dirty="0"/>
              <a:t>Why EDA Matters</a:t>
            </a:r>
          </a:p>
        </p:txBody>
      </p:sp>
      <p:graphicFrame>
        <p:nvGraphicFramePr>
          <p:cNvPr id="19" name="Content Placeholder 18">
            <a:extLst>
              <a:ext uri="{FF2B5EF4-FFF2-40B4-BE49-F238E27FC236}">
                <a16:creationId xmlns:a16="http://schemas.microsoft.com/office/drawing/2014/main" id="{F161E269-67E7-801A-AA07-D4CB4C16BA9B}"/>
              </a:ext>
            </a:extLst>
          </p:cNvPr>
          <p:cNvGraphicFramePr>
            <a:graphicFrameLocks noGrp="1"/>
          </p:cNvGraphicFramePr>
          <p:nvPr>
            <p:ph idx="1"/>
            <p:extLst>
              <p:ext uri="{D42A27DB-BD31-4B8C-83A1-F6EECF244321}">
                <p14:modId xmlns:p14="http://schemas.microsoft.com/office/powerpoint/2010/main" val="1213327403"/>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2705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47C0-C3C8-FEE6-8303-F392451B35E5}"/>
              </a:ext>
            </a:extLst>
          </p:cNvPr>
          <p:cNvSpPr>
            <a:spLocks noGrp="1"/>
          </p:cNvSpPr>
          <p:nvPr>
            <p:ph type="title"/>
          </p:nvPr>
        </p:nvSpPr>
        <p:spPr/>
        <p:txBody>
          <a:bodyPr/>
          <a:lstStyle/>
          <a:p>
            <a:r>
              <a:rPr lang="en-US" dirty="0"/>
              <a:t>The Purpose of EDA</a:t>
            </a:r>
          </a:p>
        </p:txBody>
      </p:sp>
      <p:sp>
        <p:nvSpPr>
          <p:cNvPr id="5" name="Shape 1">
            <a:extLst>
              <a:ext uri="{FF2B5EF4-FFF2-40B4-BE49-F238E27FC236}">
                <a16:creationId xmlns:a16="http://schemas.microsoft.com/office/drawing/2014/main" id="{F3A0B1F8-D83F-878D-C9A6-DA6D4B406697}"/>
              </a:ext>
            </a:extLst>
          </p:cNvPr>
          <p:cNvSpPr/>
          <p:nvPr/>
        </p:nvSpPr>
        <p:spPr>
          <a:xfrm>
            <a:off x="534293" y="3109363"/>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6" name="Text 2">
            <a:extLst>
              <a:ext uri="{FF2B5EF4-FFF2-40B4-BE49-F238E27FC236}">
                <a16:creationId xmlns:a16="http://schemas.microsoft.com/office/drawing/2014/main" id="{EE68FB3A-DCB3-FFEA-7E6B-EABA33F70595}"/>
              </a:ext>
            </a:extLst>
          </p:cNvPr>
          <p:cNvSpPr/>
          <p:nvPr/>
        </p:nvSpPr>
        <p:spPr>
          <a:xfrm>
            <a:off x="718740" y="3293812"/>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Understand Variables</a:t>
            </a:r>
            <a:endParaRPr lang="en-US" sz="2400" dirty="0">
              <a:latin typeface="Aptos" panose="020B0004020202020204" pitchFamily="34" charset="0"/>
            </a:endParaRPr>
          </a:p>
        </p:txBody>
      </p:sp>
      <p:sp>
        <p:nvSpPr>
          <p:cNvPr id="7" name="Text 3">
            <a:extLst>
              <a:ext uri="{FF2B5EF4-FFF2-40B4-BE49-F238E27FC236}">
                <a16:creationId xmlns:a16="http://schemas.microsoft.com/office/drawing/2014/main" id="{DE7774BA-ECDA-6332-8ABC-F8E3E41A15B1}"/>
              </a:ext>
            </a:extLst>
          </p:cNvPr>
          <p:cNvSpPr/>
          <p:nvPr/>
        </p:nvSpPr>
        <p:spPr>
          <a:xfrm>
            <a:off x="718741" y="3678978"/>
            <a:ext cx="5014714" cy="284957"/>
          </a:xfrm>
          <a:prstGeom prst="rect">
            <a:avLst/>
          </a:prstGeom>
          <a:noFill/>
          <a:ln/>
        </p:spPr>
        <p:txBody>
          <a:bodyPr wrap="non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What data do we have and what does it represent?</a:t>
            </a:r>
            <a:endParaRPr lang="en-US" dirty="0">
              <a:latin typeface="Aptos" panose="020B0004020202020204" pitchFamily="34" charset="0"/>
            </a:endParaRPr>
          </a:p>
        </p:txBody>
      </p:sp>
      <p:sp>
        <p:nvSpPr>
          <p:cNvPr id="8" name="Shape 4">
            <a:extLst>
              <a:ext uri="{FF2B5EF4-FFF2-40B4-BE49-F238E27FC236}">
                <a16:creationId xmlns:a16="http://schemas.microsoft.com/office/drawing/2014/main" id="{FA125CDB-D925-1F4F-DB3E-F7082903FE39}"/>
              </a:ext>
            </a:extLst>
          </p:cNvPr>
          <p:cNvSpPr/>
          <p:nvPr/>
        </p:nvSpPr>
        <p:spPr>
          <a:xfrm>
            <a:off x="6096000" y="3109363"/>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9" name="Text 5">
            <a:extLst>
              <a:ext uri="{FF2B5EF4-FFF2-40B4-BE49-F238E27FC236}">
                <a16:creationId xmlns:a16="http://schemas.microsoft.com/office/drawing/2014/main" id="{FA34CA7A-D6D7-8E7F-8EAA-E5EDCECAB93B}"/>
              </a:ext>
            </a:extLst>
          </p:cNvPr>
          <p:cNvSpPr/>
          <p:nvPr/>
        </p:nvSpPr>
        <p:spPr>
          <a:xfrm>
            <a:off x="6280447" y="3293812"/>
            <a:ext cx="2324794"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Examine Distributions</a:t>
            </a:r>
            <a:endParaRPr lang="en-US" sz="2400" dirty="0">
              <a:latin typeface="Aptos" panose="020B0004020202020204" pitchFamily="34" charset="0"/>
            </a:endParaRPr>
          </a:p>
        </p:txBody>
      </p:sp>
      <p:sp>
        <p:nvSpPr>
          <p:cNvPr id="10" name="Text 6">
            <a:extLst>
              <a:ext uri="{FF2B5EF4-FFF2-40B4-BE49-F238E27FC236}">
                <a16:creationId xmlns:a16="http://schemas.microsoft.com/office/drawing/2014/main" id="{BB74D319-0751-C480-9C11-78BDFCC8881B}"/>
              </a:ext>
            </a:extLst>
          </p:cNvPr>
          <p:cNvSpPr/>
          <p:nvPr/>
        </p:nvSpPr>
        <p:spPr>
          <a:xfrm>
            <a:off x="6280447" y="3678978"/>
            <a:ext cx="5014714" cy="569913"/>
          </a:xfrm>
          <a:prstGeom prst="rect">
            <a:avLst/>
          </a:prstGeom>
          <a:noFill/>
          <a:ln/>
        </p:spPr>
        <p:txBody>
          <a:bodyPr wrap="squar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How are values spread out? Are scores mostly high, low, or even?</a:t>
            </a:r>
            <a:endParaRPr lang="en-US" dirty="0">
              <a:latin typeface="Aptos" panose="020B0004020202020204" pitchFamily="34" charset="0"/>
            </a:endParaRPr>
          </a:p>
        </p:txBody>
      </p:sp>
      <p:sp>
        <p:nvSpPr>
          <p:cNvPr id="11" name="Shape 7">
            <a:extLst>
              <a:ext uri="{FF2B5EF4-FFF2-40B4-BE49-F238E27FC236}">
                <a16:creationId xmlns:a16="http://schemas.microsoft.com/office/drawing/2014/main" id="{8F57021D-4A31-4B6B-7869-76A1740497F0}"/>
              </a:ext>
            </a:extLst>
          </p:cNvPr>
          <p:cNvSpPr/>
          <p:nvPr/>
        </p:nvSpPr>
        <p:spPr>
          <a:xfrm>
            <a:off x="534293" y="4611437"/>
            <a:ext cx="5383609" cy="1039019"/>
          </a:xfrm>
          <a:prstGeom prst="roundRect">
            <a:avLst>
              <a:gd name="adj" fmla="val 720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2" name="Text 8">
            <a:extLst>
              <a:ext uri="{FF2B5EF4-FFF2-40B4-BE49-F238E27FC236}">
                <a16:creationId xmlns:a16="http://schemas.microsoft.com/office/drawing/2014/main" id="{ABFF578E-1466-F9A0-F7CE-8CA1A3F9383E}"/>
              </a:ext>
            </a:extLst>
          </p:cNvPr>
          <p:cNvSpPr/>
          <p:nvPr/>
        </p:nvSpPr>
        <p:spPr>
          <a:xfrm>
            <a:off x="718740" y="4795884"/>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Find Relationships</a:t>
            </a:r>
            <a:endParaRPr lang="en-US" sz="2400" dirty="0">
              <a:latin typeface="Aptos" panose="020B0004020202020204" pitchFamily="34" charset="0"/>
            </a:endParaRPr>
          </a:p>
        </p:txBody>
      </p:sp>
      <p:sp>
        <p:nvSpPr>
          <p:cNvPr id="13" name="Text 9">
            <a:extLst>
              <a:ext uri="{FF2B5EF4-FFF2-40B4-BE49-F238E27FC236}">
                <a16:creationId xmlns:a16="http://schemas.microsoft.com/office/drawing/2014/main" id="{C147A862-F360-A225-B7F2-62D28FBDDBEB}"/>
              </a:ext>
            </a:extLst>
          </p:cNvPr>
          <p:cNvSpPr/>
          <p:nvPr/>
        </p:nvSpPr>
        <p:spPr>
          <a:xfrm>
            <a:off x="718741" y="5074192"/>
            <a:ext cx="4639072" cy="819699"/>
          </a:xfrm>
          <a:prstGeom prst="rect">
            <a:avLst/>
          </a:prstGeom>
          <a:noFill/>
          <a:ln/>
        </p:spPr>
        <p:txBody>
          <a:bodyPr wrap="non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 xml:space="preserve">Do students who study more tend to have higher </a:t>
            </a:r>
          </a:p>
          <a:p>
            <a:pPr>
              <a:lnSpc>
                <a:spcPts val="2208"/>
              </a:lnSpc>
            </a:pPr>
            <a:r>
              <a:rPr lang="en-US" dirty="0">
                <a:solidFill>
                  <a:srgbClr val="000000"/>
                </a:solidFill>
                <a:latin typeface="Aptos" panose="020B0004020202020204" pitchFamily="34" charset="0"/>
                <a:ea typeface="Inter" pitchFamily="34" charset="-122"/>
                <a:cs typeface="Inter" pitchFamily="34" charset="-120"/>
              </a:rPr>
              <a:t>grades?</a:t>
            </a:r>
            <a:endParaRPr lang="en-US" dirty="0">
              <a:latin typeface="Aptos" panose="020B0004020202020204" pitchFamily="34" charset="0"/>
            </a:endParaRPr>
          </a:p>
        </p:txBody>
      </p:sp>
      <p:sp>
        <p:nvSpPr>
          <p:cNvPr id="14" name="Shape 10">
            <a:extLst>
              <a:ext uri="{FF2B5EF4-FFF2-40B4-BE49-F238E27FC236}">
                <a16:creationId xmlns:a16="http://schemas.microsoft.com/office/drawing/2014/main" id="{1BE61A08-CB25-5BE8-46C1-8FCA7647D7D9}"/>
              </a:ext>
            </a:extLst>
          </p:cNvPr>
          <p:cNvSpPr/>
          <p:nvPr/>
        </p:nvSpPr>
        <p:spPr>
          <a:xfrm>
            <a:off x="6096000" y="4611437"/>
            <a:ext cx="5383609" cy="1039019"/>
          </a:xfrm>
          <a:prstGeom prst="roundRect">
            <a:avLst>
              <a:gd name="adj" fmla="val 720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5" name="Text 11">
            <a:extLst>
              <a:ext uri="{FF2B5EF4-FFF2-40B4-BE49-F238E27FC236}">
                <a16:creationId xmlns:a16="http://schemas.microsoft.com/office/drawing/2014/main" id="{1872146D-4AE8-D9D2-AF6B-9BC610E3E0B6}"/>
              </a:ext>
            </a:extLst>
          </p:cNvPr>
          <p:cNvSpPr/>
          <p:nvPr/>
        </p:nvSpPr>
        <p:spPr>
          <a:xfrm>
            <a:off x="6280447" y="4795884"/>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Spot Errors</a:t>
            </a:r>
            <a:endParaRPr lang="en-US" sz="2400" dirty="0">
              <a:latin typeface="Aptos" panose="020B0004020202020204" pitchFamily="34" charset="0"/>
            </a:endParaRPr>
          </a:p>
        </p:txBody>
      </p:sp>
      <p:sp>
        <p:nvSpPr>
          <p:cNvPr id="16" name="Text 12">
            <a:extLst>
              <a:ext uri="{FF2B5EF4-FFF2-40B4-BE49-F238E27FC236}">
                <a16:creationId xmlns:a16="http://schemas.microsoft.com/office/drawing/2014/main" id="{1FCFBBB7-8F65-E9AA-51D5-54B21D39BE7F}"/>
              </a:ext>
            </a:extLst>
          </p:cNvPr>
          <p:cNvSpPr/>
          <p:nvPr/>
        </p:nvSpPr>
        <p:spPr>
          <a:xfrm>
            <a:off x="6280447" y="5181051"/>
            <a:ext cx="5014714" cy="284957"/>
          </a:xfrm>
          <a:prstGeom prst="rect">
            <a:avLst/>
          </a:prstGeom>
          <a:noFill/>
          <a:ln/>
        </p:spPr>
        <p:txBody>
          <a:bodyPr wrap="non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Is a student's age listed as 200? That's clearly wrong!</a:t>
            </a:r>
            <a:endParaRPr lang="en-US" dirty="0">
              <a:latin typeface="Aptos" panose="020B0004020202020204" pitchFamily="34" charset="0"/>
            </a:endParaRPr>
          </a:p>
        </p:txBody>
      </p:sp>
    </p:spTree>
    <p:extLst>
      <p:ext uri="{BB962C8B-B14F-4D97-AF65-F5344CB8AC3E}">
        <p14:creationId xmlns:p14="http://schemas.microsoft.com/office/powerpoint/2010/main" val="66070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1FE2C-7F8D-3D85-B0C4-F2313A653D78}"/>
              </a:ext>
            </a:extLst>
          </p:cNvPr>
          <p:cNvSpPr>
            <a:spLocks noGrp="1"/>
          </p:cNvSpPr>
          <p:nvPr>
            <p:ph type="title"/>
          </p:nvPr>
        </p:nvSpPr>
        <p:spPr/>
        <p:txBody>
          <a:bodyPr/>
          <a:lstStyle/>
          <a:p>
            <a:r>
              <a:rPr lang="en-US" dirty="0"/>
              <a:t>EDA is Like Solving a Mystery</a:t>
            </a:r>
          </a:p>
        </p:txBody>
      </p:sp>
      <p:graphicFrame>
        <p:nvGraphicFramePr>
          <p:cNvPr id="4" name="Content Placeholder 3">
            <a:extLst>
              <a:ext uri="{FF2B5EF4-FFF2-40B4-BE49-F238E27FC236}">
                <a16:creationId xmlns:a16="http://schemas.microsoft.com/office/drawing/2014/main" id="{367D7F3B-C139-32D6-4164-F9F35443E47F}"/>
              </a:ext>
            </a:extLst>
          </p:cNvPr>
          <p:cNvGraphicFramePr>
            <a:graphicFrameLocks noGrp="1"/>
          </p:cNvGraphicFramePr>
          <p:nvPr>
            <p:ph idx="1"/>
            <p:extLst>
              <p:ext uri="{D42A27DB-BD31-4B8C-83A1-F6EECF244321}">
                <p14:modId xmlns:p14="http://schemas.microsoft.com/office/powerpoint/2010/main" val="2627697271"/>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864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3246-AF65-2BD3-10C2-E0A05A6DB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058C8-1CCF-1383-0343-8E35D468A2BD}"/>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1BADCD28-9506-2A5A-0235-BC89F7396852}"/>
              </a:ext>
            </a:extLst>
          </p:cNvPr>
          <p:cNvSpPr>
            <a:spLocks noGrp="1"/>
          </p:cNvSpPr>
          <p:nvPr>
            <p:ph type="subTitle" idx="1"/>
          </p:nvPr>
        </p:nvSpPr>
        <p:spPr>
          <a:xfrm>
            <a:off x="1524000" y="4231758"/>
            <a:ext cx="9144000" cy="1026042"/>
          </a:xfrm>
        </p:spPr>
        <p:txBody>
          <a:bodyPr/>
          <a:lstStyle/>
          <a:p>
            <a:r>
              <a:rPr lang="en-US" dirty="0"/>
              <a:t>Getting Started: Sorting, Filtering, and Grouping Data</a:t>
            </a:r>
          </a:p>
        </p:txBody>
      </p:sp>
    </p:spTree>
    <p:extLst>
      <p:ext uri="{BB962C8B-B14F-4D97-AF65-F5344CB8AC3E}">
        <p14:creationId xmlns:p14="http://schemas.microsoft.com/office/powerpoint/2010/main" val="819926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B623-4D77-41C8-EAFD-AB91AB17124A}"/>
              </a:ext>
            </a:extLst>
          </p:cNvPr>
          <p:cNvSpPr>
            <a:spLocks noGrp="1"/>
          </p:cNvSpPr>
          <p:nvPr>
            <p:ph type="title"/>
          </p:nvPr>
        </p:nvSpPr>
        <p:spPr/>
        <p:txBody>
          <a:bodyPr/>
          <a:lstStyle/>
          <a:p>
            <a:r>
              <a:rPr lang="en-US" dirty="0"/>
              <a:t>Basic Tools: Sorting</a:t>
            </a:r>
          </a:p>
        </p:txBody>
      </p:sp>
      <p:graphicFrame>
        <p:nvGraphicFramePr>
          <p:cNvPr id="4" name="Content Placeholder 3">
            <a:extLst>
              <a:ext uri="{FF2B5EF4-FFF2-40B4-BE49-F238E27FC236}">
                <a16:creationId xmlns:a16="http://schemas.microsoft.com/office/drawing/2014/main" id="{9CE2F34E-B7B3-FC4D-58EF-116E952048FF}"/>
              </a:ext>
            </a:extLst>
          </p:cNvPr>
          <p:cNvGraphicFramePr>
            <a:graphicFrameLocks noGrp="1"/>
          </p:cNvGraphicFramePr>
          <p:nvPr>
            <p:ph idx="1"/>
            <p:extLst>
              <p:ext uri="{D42A27DB-BD31-4B8C-83A1-F6EECF244321}">
                <p14:modId xmlns:p14="http://schemas.microsoft.com/office/powerpoint/2010/main" val="518367698"/>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9050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EC77-38BC-2740-9CA2-DD9F15A59AF8}"/>
              </a:ext>
            </a:extLst>
          </p:cNvPr>
          <p:cNvSpPr>
            <a:spLocks noGrp="1"/>
          </p:cNvSpPr>
          <p:nvPr>
            <p:ph type="title"/>
          </p:nvPr>
        </p:nvSpPr>
        <p:spPr>
          <a:xfrm>
            <a:off x="839788" y="457200"/>
            <a:ext cx="4960937" cy="985838"/>
          </a:xfrm>
        </p:spPr>
        <p:txBody>
          <a:bodyPr anchor="b">
            <a:normAutofit/>
          </a:bodyPr>
          <a:lstStyle/>
          <a:p>
            <a:r>
              <a:rPr lang="en-US" sz="4000" dirty="0"/>
              <a:t>Let’s Sort it out!</a:t>
            </a:r>
          </a:p>
        </p:txBody>
      </p:sp>
      <p:sp>
        <p:nvSpPr>
          <p:cNvPr id="3" name="Content Placeholder 2">
            <a:extLst>
              <a:ext uri="{FF2B5EF4-FFF2-40B4-BE49-F238E27FC236}">
                <a16:creationId xmlns:a16="http://schemas.microsoft.com/office/drawing/2014/main" id="{05B896A0-7AC3-4B10-5073-28EB054EC071}"/>
              </a:ext>
            </a:extLst>
          </p:cNvPr>
          <p:cNvSpPr>
            <a:spLocks noGrp="1"/>
          </p:cNvSpPr>
          <p:nvPr>
            <p:ph type="body" sz="half" idx="2"/>
          </p:nvPr>
        </p:nvSpPr>
        <p:spPr>
          <a:xfrm>
            <a:off x="839788" y="2314576"/>
            <a:ext cx="3932237" cy="3340100"/>
          </a:xfrm>
        </p:spPr>
        <p:txBody>
          <a:bodyPr>
            <a:normAutofit/>
          </a:bodyPr>
          <a:lstStyle/>
          <a:p>
            <a:pPr marL="342900" indent="-342900">
              <a:buFont typeface="Arial" panose="020B0604020202020204" pitchFamily="34" charset="0"/>
              <a:buChar char="•"/>
            </a:pPr>
            <a:r>
              <a:rPr lang="en-US" sz="2400" dirty="0"/>
              <a:t>Here is the data</a:t>
            </a:r>
          </a:p>
          <a:p>
            <a:pPr marL="342900" indent="-342900">
              <a:buFont typeface="Arial" panose="020B0604020202020204" pitchFamily="34" charset="0"/>
              <a:buChar char="•"/>
            </a:pPr>
            <a:r>
              <a:rPr lang="en-US" sz="2400" dirty="0"/>
              <a:t>Use R and Python to sort by Exam Scores</a:t>
            </a:r>
          </a:p>
        </p:txBody>
      </p:sp>
      <p:graphicFrame>
        <p:nvGraphicFramePr>
          <p:cNvPr id="4" name="Table 3">
            <a:extLst>
              <a:ext uri="{FF2B5EF4-FFF2-40B4-BE49-F238E27FC236}">
                <a16:creationId xmlns:a16="http://schemas.microsoft.com/office/drawing/2014/main" id="{2F9A4B1A-D2FF-0BFA-1B4B-BBFF978B97C0}"/>
              </a:ext>
            </a:extLst>
          </p:cNvPr>
          <p:cNvGraphicFramePr>
            <a:graphicFrameLocks noGrp="1"/>
          </p:cNvGraphicFramePr>
          <p:nvPr>
            <p:extLst>
              <p:ext uri="{D42A27DB-BD31-4B8C-83A1-F6EECF244321}">
                <p14:modId xmlns:p14="http://schemas.microsoft.com/office/powerpoint/2010/main" val="3695326478"/>
              </p:ext>
            </p:extLst>
          </p:nvPr>
        </p:nvGraphicFramePr>
        <p:xfrm>
          <a:off x="5180010" y="2057400"/>
          <a:ext cx="6172202" cy="4301353"/>
        </p:xfrm>
        <a:graphic>
          <a:graphicData uri="http://schemas.openxmlformats.org/drawingml/2006/table">
            <a:tbl>
              <a:tblPr firstRow="1" firstCol="1" bandRow="1">
                <a:tableStyleId>{5C22544A-7EE6-4342-B048-85BDC9FD1C3A}</a:tableStyleId>
              </a:tblPr>
              <a:tblGrid>
                <a:gridCol w="1767996">
                  <a:extLst>
                    <a:ext uri="{9D8B030D-6E8A-4147-A177-3AD203B41FA5}">
                      <a16:colId xmlns:a16="http://schemas.microsoft.com/office/drawing/2014/main" val="4104968275"/>
                    </a:ext>
                  </a:extLst>
                </a:gridCol>
                <a:gridCol w="1614295">
                  <a:extLst>
                    <a:ext uri="{9D8B030D-6E8A-4147-A177-3AD203B41FA5}">
                      <a16:colId xmlns:a16="http://schemas.microsoft.com/office/drawing/2014/main" val="2168488256"/>
                    </a:ext>
                  </a:extLst>
                </a:gridCol>
                <a:gridCol w="2789911">
                  <a:extLst>
                    <a:ext uri="{9D8B030D-6E8A-4147-A177-3AD203B41FA5}">
                      <a16:colId xmlns:a16="http://schemas.microsoft.com/office/drawing/2014/main" val="1756966735"/>
                    </a:ext>
                  </a:extLst>
                </a:gridCol>
              </a:tblGrid>
              <a:tr h="614479">
                <a:tc>
                  <a:txBody>
                    <a:bodyPr/>
                    <a:lstStyle/>
                    <a:p>
                      <a:pPr marL="0" marR="0">
                        <a:lnSpc>
                          <a:spcPct val="115000"/>
                        </a:lnSpc>
                        <a:spcAft>
                          <a:spcPts val="800"/>
                        </a:spcAft>
                        <a:buNone/>
                      </a:pPr>
                      <a:r>
                        <a:rPr lang="en-US" sz="3100" kern="100">
                          <a:effectLst/>
                        </a:rPr>
                        <a:t>Name</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Class</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Exam Score</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2526781137"/>
                  </a:ext>
                </a:extLst>
              </a:tr>
              <a:tr h="614479">
                <a:tc>
                  <a:txBody>
                    <a:bodyPr/>
                    <a:lstStyle/>
                    <a:p>
                      <a:pPr marL="0" marR="0">
                        <a:lnSpc>
                          <a:spcPct val="115000"/>
                        </a:lnSpc>
                        <a:spcAft>
                          <a:spcPts val="800"/>
                        </a:spcAft>
                        <a:buNone/>
                      </a:pPr>
                      <a:r>
                        <a:rPr lang="en-US" sz="3100" kern="100">
                          <a:effectLst/>
                        </a:rPr>
                        <a:t>Alice</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A</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88</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3653723390"/>
                  </a:ext>
                </a:extLst>
              </a:tr>
              <a:tr h="614479">
                <a:tc>
                  <a:txBody>
                    <a:bodyPr/>
                    <a:lstStyle/>
                    <a:p>
                      <a:pPr marL="0" marR="0">
                        <a:lnSpc>
                          <a:spcPct val="115000"/>
                        </a:lnSpc>
                        <a:spcAft>
                          <a:spcPts val="800"/>
                        </a:spcAft>
                        <a:buNone/>
                      </a:pPr>
                      <a:r>
                        <a:rPr lang="en-US" sz="3100" kern="100">
                          <a:effectLst/>
                        </a:rPr>
                        <a:t>Brian</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B</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72</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3433795036"/>
                  </a:ext>
                </a:extLst>
              </a:tr>
              <a:tr h="614479">
                <a:tc>
                  <a:txBody>
                    <a:bodyPr/>
                    <a:lstStyle/>
                    <a:p>
                      <a:pPr marL="0" marR="0">
                        <a:lnSpc>
                          <a:spcPct val="115000"/>
                        </a:lnSpc>
                        <a:spcAft>
                          <a:spcPts val="800"/>
                        </a:spcAft>
                        <a:buNone/>
                      </a:pPr>
                      <a:r>
                        <a:rPr lang="en-US" sz="3100" kern="100">
                          <a:effectLst/>
                        </a:rPr>
                        <a:t>Carlos</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A</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95</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579152458"/>
                  </a:ext>
                </a:extLst>
              </a:tr>
              <a:tr h="614479">
                <a:tc>
                  <a:txBody>
                    <a:bodyPr/>
                    <a:lstStyle/>
                    <a:p>
                      <a:pPr marL="0" marR="0">
                        <a:lnSpc>
                          <a:spcPct val="115000"/>
                        </a:lnSpc>
                        <a:spcAft>
                          <a:spcPts val="800"/>
                        </a:spcAft>
                        <a:buNone/>
                      </a:pPr>
                      <a:r>
                        <a:rPr lang="en-US" sz="3100" kern="100">
                          <a:effectLst/>
                        </a:rPr>
                        <a:t>Diana</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B</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85</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3816116378"/>
                  </a:ext>
                </a:extLst>
              </a:tr>
              <a:tr h="614479">
                <a:tc>
                  <a:txBody>
                    <a:bodyPr/>
                    <a:lstStyle/>
                    <a:p>
                      <a:pPr marL="0" marR="0">
                        <a:lnSpc>
                          <a:spcPct val="115000"/>
                        </a:lnSpc>
                        <a:spcAft>
                          <a:spcPts val="800"/>
                        </a:spcAft>
                        <a:buNone/>
                      </a:pPr>
                      <a:r>
                        <a:rPr lang="en-US" sz="3100" kern="100">
                          <a:effectLst/>
                        </a:rPr>
                        <a:t>Eva</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A</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91</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1929712539"/>
                  </a:ext>
                </a:extLst>
              </a:tr>
              <a:tr h="614479">
                <a:tc>
                  <a:txBody>
                    <a:bodyPr/>
                    <a:lstStyle/>
                    <a:p>
                      <a:pPr marL="0" marR="0">
                        <a:lnSpc>
                          <a:spcPct val="115000"/>
                        </a:lnSpc>
                        <a:spcAft>
                          <a:spcPts val="800"/>
                        </a:spcAft>
                        <a:buNone/>
                      </a:pPr>
                      <a:r>
                        <a:rPr lang="en-US" sz="3100" kern="100">
                          <a:effectLst/>
                        </a:rPr>
                        <a:t>Frank</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a:effectLst/>
                        </a:rPr>
                        <a:t>B</a:t>
                      </a:r>
                      <a:endParaRPr lang="en-US" sz="3100" kern="10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tc>
                  <a:txBody>
                    <a:bodyPr/>
                    <a:lstStyle/>
                    <a:p>
                      <a:pPr marL="0" marR="0">
                        <a:lnSpc>
                          <a:spcPct val="115000"/>
                        </a:lnSpc>
                        <a:spcAft>
                          <a:spcPts val="800"/>
                        </a:spcAft>
                        <a:buNone/>
                      </a:pPr>
                      <a:r>
                        <a:rPr lang="en-US" sz="3100" kern="100" dirty="0">
                          <a:effectLst/>
                        </a:rPr>
                        <a:t>78</a:t>
                      </a:r>
                      <a:endParaRPr lang="en-US" sz="31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79458" marR="179458" marT="0" marB="0"/>
                </a:tc>
                <a:extLst>
                  <a:ext uri="{0D108BD9-81ED-4DB2-BD59-A6C34878D82A}">
                    <a16:rowId xmlns:a16="http://schemas.microsoft.com/office/drawing/2014/main" val="2684800591"/>
                  </a:ext>
                </a:extLst>
              </a:tr>
            </a:tbl>
          </a:graphicData>
        </a:graphic>
      </p:graphicFrame>
    </p:spTree>
    <p:extLst>
      <p:ext uri="{BB962C8B-B14F-4D97-AF65-F5344CB8AC3E}">
        <p14:creationId xmlns:p14="http://schemas.microsoft.com/office/powerpoint/2010/main" val="270505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366AF-9607-3ED1-11C0-494D402D3E3E}"/>
              </a:ext>
            </a:extLst>
          </p:cNvPr>
          <p:cNvSpPr>
            <a:spLocks noGrp="1"/>
          </p:cNvSpPr>
          <p:nvPr>
            <p:ph type="title"/>
          </p:nvPr>
        </p:nvSpPr>
        <p:spPr/>
        <p:txBody>
          <a:bodyPr/>
          <a:lstStyle/>
          <a:p>
            <a:r>
              <a:rPr lang="en-US" dirty="0"/>
              <a:t>Sort it with R</a:t>
            </a:r>
          </a:p>
        </p:txBody>
      </p:sp>
      <p:sp>
        <p:nvSpPr>
          <p:cNvPr id="5" name="TextBox 4">
            <a:extLst>
              <a:ext uri="{FF2B5EF4-FFF2-40B4-BE49-F238E27FC236}">
                <a16:creationId xmlns:a16="http://schemas.microsoft.com/office/drawing/2014/main" id="{00E7F939-2E59-DBDF-12D0-ED2B5D3B1EAE}"/>
              </a:ext>
            </a:extLst>
          </p:cNvPr>
          <p:cNvSpPr txBox="1"/>
          <p:nvPr/>
        </p:nvSpPr>
        <p:spPr>
          <a:xfrm>
            <a:off x="664368" y="2604051"/>
            <a:ext cx="6100762" cy="2585323"/>
          </a:xfrm>
          <a:prstGeom prst="rect">
            <a:avLst/>
          </a:prstGeom>
          <a:noFill/>
        </p:spPr>
        <p:txBody>
          <a:bodyPr wrap="square">
            <a:spAutoFit/>
          </a:bodyPr>
          <a:lstStyle/>
          <a:p>
            <a:r>
              <a:rPr lang="en-US" dirty="0"/>
              <a:t># Create the data</a:t>
            </a:r>
          </a:p>
          <a:p>
            <a:r>
              <a:rPr lang="en-US" dirty="0" err="1"/>
              <a:t>df</a:t>
            </a:r>
            <a:r>
              <a:rPr lang="en-US" dirty="0"/>
              <a:t xml:space="preserve"> &lt;- </a:t>
            </a:r>
            <a:r>
              <a:rPr lang="en-US" dirty="0" err="1"/>
              <a:t>data.frame</a:t>
            </a:r>
            <a:r>
              <a:rPr lang="en-US" dirty="0"/>
              <a:t>(</a:t>
            </a:r>
          </a:p>
          <a:p>
            <a:r>
              <a:rPr lang="en-US" dirty="0"/>
              <a:t xml:space="preserve">  Name = c("Alice", "Brian", "Carlos", "Diana", "Eva", "Frank"),</a:t>
            </a:r>
          </a:p>
          <a:p>
            <a:r>
              <a:rPr lang="en-US" dirty="0"/>
              <a:t xml:space="preserve">  Class = c("A", "B", "A", "B", "A", "B"),</a:t>
            </a:r>
          </a:p>
          <a:p>
            <a:r>
              <a:rPr lang="en-US" dirty="0"/>
              <a:t xml:space="preserve">  </a:t>
            </a:r>
            <a:r>
              <a:rPr lang="en-US" dirty="0" err="1"/>
              <a:t>Exam_Score</a:t>
            </a:r>
            <a:r>
              <a:rPr lang="en-US" dirty="0"/>
              <a:t xml:space="preserve"> = c(88, 72, 95, 85, 91, 78)</a:t>
            </a:r>
          </a:p>
          <a:p>
            <a:r>
              <a:rPr lang="en-US" dirty="0"/>
              <a:t>)</a:t>
            </a:r>
          </a:p>
          <a:p>
            <a:endParaRPr lang="en-US" dirty="0"/>
          </a:p>
          <a:p>
            <a:r>
              <a:rPr lang="en-US" dirty="0"/>
              <a:t># View the data</a:t>
            </a:r>
          </a:p>
          <a:p>
            <a:r>
              <a:rPr lang="en-US" dirty="0"/>
              <a:t>print(</a:t>
            </a:r>
            <a:r>
              <a:rPr lang="en-US" dirty="0" err="1"/>
              <a:t>df</a:t>
            </a:r>
            <a:r>
              <a:rPr lang="en-US" dirty="0"/>
              <a:t>)</a:t>
            </a:r>
          </a:p>
        </p:txBody>
      </p:sp>
      <p:pic>
        <p:nvPicPr>
          <p:cNvPr id="9" name="Picture 8" descr="A screenshot of a computer  AI-generated content may be incorrect.">
            <a:extLst>
              <a:ext uri="{FF2B5EF4-FFF2-40B4-BE49-F238E27FC236}">
                <a16:creationId xmlns:a16="http://schemas.microsoft.com/office/drawing/2014/main" id="{6485F50B-3FA3-7B06-AAAB-C262BE7ED22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008018" y="3135311"/>
            <a:ext cx="3966370" cy="2909755"/>
          </a:xfrm>
          <a:prstGeom prst="rect">
            <a:avLst/>
          </a:prstGeom>
        </p:spPr>
      </p:pic>
    </p:spTree>
    <p:extLst>
      <p:ext uri="{BB962C8B-B14F-4D97-AF65-F5344CB8AC3E}">
        <p14:creationId xmlns:p14="http://schemas.microsoft.com/office/powerpoint/2010/main" val="2857569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E752-F189-CFFA-AA39-D74C388DCD8E}"/>
              </a:ext>
            </a:extLst>
          </p:cNvPr>
          <p:cNvSpPr>
            <a:spLocks noGrp="1"/>
          </p:cNvSpPr>
          <p:nvPr>
            <p:ph type="title"/>
          </p:nvPr>
        </p:nvSpPr>
        <p:spPr/>
        <p:txBody>
          <a:bodyPr/>
          <a:lstStyle/>
          <a:p>
            <a:r>
              <a:rPr lang="en-US" dirty="0"/>
              <a:t>Sort it with R - 2</a:t>
            </a:r>
          </a:p>
        </p:txBody>
      </p:sp>
      <p:sp>
        <p:nvSpPr>
          <p:cNvPr id="5" name="TextBox 4">
            <a:extLst>
              <a:ext uri="{FF2B5EF4-FFF2-40B4-BE49-F238E27FC236}">
                <a16:creationId xmlns:a16="http://schemas.microsoft.com/office/drawing/2014/main" id="{963A6C4A-4C62-956B-3323-61DE8C74CF83}"/>
              </a:ext>
            </a:extLst>
          </p:cNvPr>
          <p:cNvSpPr txBox="1"/>
          <p:nvPr/>
        </p:nvSpPr>
        <p:spPr>
          <a:xfrm>
            <a:off x="838200" y="2555177"/>
            <a:ext cx="4733925"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 Option 1</a:t>
            </a:r>
          </a:p>
          <a:p>
            <a:r>
              <a:rPr lang="en-US" dirty="0" err="1"/>
              <a:t>df</a:t>
            </a:r>
            <a:r>
              <a:rPr lang="en-US" dirty="0"/>
              <a:t>[order(</a:t>
            </a:r>
            <a:r>
              <a:rPr lang="en-US" dirty="0" err="1"/>
              <a:t>df$Exam_Score</a:t>
            </a:r>
            <a:r>
              <a:rPr lang="en-US" dirty="0"/>
              <a:t>, decreasing=TRUE), ]</a:t>
            </a:r>
          </a:p>
        </p:txBody>
      </p:sp>
      <p:sp>
        <p:nvSpPr>
          <p:cNvPr id="7" name="TextBox 6">
            <a:extLst>
              <a:ext uri="{FF2B5EF4-FFF2-40B4-BE49-F238E27FC236}">
                <a16:creationId xmlns:a16="http://schemas.microsoft.com/office/drawing/2014/main" id="{35515207-6516-A09D-D622-518D66A7D8EA}"/>
              </a:ext>
            </a:extLst>
          </p:cNvPr>
          <p:cNvSpPr txBox="1"/>
          <p:nvPr/>
        </p:nvSpPr>
        <p:spPr>
          <a:xfrm>
            <a:off x="838200" y="4624685"/>
            <a:ext cx="4733925"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 Option 2</a:t>
            </a:r>
          </a:p>
          <a:p>
            <a:r>
              <a:rPr lang="en-US" dirty="0"/>
              <a:t>library(</a:t>
            </a:r>
            <a:r>
              <a:rPr lang="en-US" dirty="0" err="1"/>
              <a:t>dplyr</a:t>
            </a:r>
            <a:r>
              <a:rPr lang="en-US" dirty="0"/>
              <a:t>)</a:t>
            </a:r>
          </a:p>
          <a:p>
            <a:r>
              <a:rPr lang="en-US" dirty="0" err="1"/>
              <a:t>df</a:t>
            </a:r>
            <a:r>
              <a:rPr lang="en-US" dirty="0"/>
              <a:t xml:space="preserve"> %&gt;% arrange(desc(</a:t>
            </a:r>
            <a:r>
              <a:rPr lang="en-US" dirty="0" err="1"/>
              <a:t>Exam_Score</a:t>
            </a:r>
            <a:r>
              <a:rPr lang="en-US" dirty="0"/>
              <a:t>))</a:t>
            </a:r>
          </a:p>
        </p:txBody>
      </p:sp>
      <p:pic>
        <p:nvPicPr>
          <p:cNvPr id="9" name="Picture 8" descr="A screenshot of a computer  AI-generated content may be incorrect.">
            <a:extLst>
              <a:ext uri="{FF2B5EF4-FFF2-40B4-BE49-F238E27FC236}">
                <a16:creationId xmlns:a16="http://schemas.microsoft.com/office/drawing/2014/main" id="{96F9795E-7D0D-AF9C-B883-A549E17D8A0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00800" y="1309985"/>
            <a:ext cx="5791200" cy="5270500"/>
          </a:xfrm>
          <a:prstGeom prst="rect">
            <a:avLst/>
          </a:prstGeom>
        </p:spPr>
      </p:pic>
    </p:spTree>
    <p:extLst>
      <p:ext uri="{BB962C8B-B14F-4D97-AF65-F5344CB8AC3E}">
        <p14:creationId xmlns:p14="http://schemas.microsoft.com/office/powerpoint/2010/main" val="1873309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F913-B807-B666-FCA7-380B6412CC1F}"/>
              </a:ext>
            </a:extLst>
          </p:cNvPr>
          <p:cNvSpPr>
            <a:spLocks noGrp="1"/>
          </p:cNvSpPr>
          <p:nvPr>
            <p:ph type="title"/>
          </p:nvPr>
        </p:nvSpPr>
        <p:spPr>
          <a:xfrm>
            <a:off x="838200" y="18256"/>
            <a:ext cx="10515600" cy="1325563"/>
          </a:xfrm>
        </p:spPr>
        <p:txBody>
          <a:bodyPr/>
          <a:lstStyle/>
          <a:p>
            <a:r>
              <a:rPr lang="en-US" dirty="0"/>
              <a:t>Sort it with Python</a:t>
            </a:r>
          </a:p>
        </p:txBody>
      </p:sp>
      <p:sp>
        <p:nvSpPr>
          <p:cNvPr id="4" name="TextBox 3">
            <a:extLst>
              <a:ext uri="{FF2B5EF4-FFF2-40B4-BE49-F238E27FC236}">
                <a16:creationId xmlns:a16="http://schemas.microsoft.com/office/drawing/2014/main" id="{72DCFE9B-9222-D236-35C4-B91F40E6A636}"/>
              </a:ext>
            </a:extLst>
          </p:cNvPr>
          <p:cNvSpPr txBox="1"/>
          <p:nvPr/>
        </p:nvSpPr>
        <p:spPr>
          <a:xfrm>
            <a:off x="723899" y="1343819"/>
            <a:ext cx="6100762" cy="5078313"/>
          </a:xfrm>
          <a:prstGeom prst="rect">
            <a:avLst/>
          </a:prstGeom>
          <a:noFill/>
        </p:spPr>
        <p:txBody>
          <a:bodyPr wrap="square">
            <a:spAutoFit/>
          </a:bodyPr>
          <a:lstStyle/>
          <a:p>
            <a:r>
              <a:rPr lang="en-US" dirty="0"/>
              <a:t>import pandas as pd</a:t>
            </a:r>
          </a:p>
          <a:p>
            <a:r>
              <a:rPr lang="en-US" dirty="0"/>
              <a:t># Example data as a list of dictionaries</a:t>
            </a:r>
          </a:p>
          <a:p>
            <a:r>
              <a:rPr lang="en-US" dirty="0"/>
              <a:t>students = [</a:t>
            </a:r>
          </a:p>
          <a:p>
            <a:r>
              <a:rPr lang="en-US" dirty="0"/>
              <a:t xml:space="preserve">    {"Name": "Alice", "Class": "A", "Score": 88},</a:t>
            </a:r>
          </a:p>
          <a:p>
            <a:r>
              <a:rPr lang="en-US" dirty="0"/>
              <a:t xml:space="preserve">    {"Name": "Brian", "Class": "B", "Score": 72},</a:t>
            </a:r>
          </a:p>
          <a:p>
            <a:r>
              <a:rPr lang="en-US" dirty="0"/>
              <a:t xml:space="preserve">    {"Name": "Carlos", "Class": "A", "Score": 95},</a:t>
            </a:r>
          </a:p>
          <a:p>
            <a:r>
              <a:rPr lang="en-US" dirty="0"/>
              <a:t xml:space="preserve">    {"Name": "Diana", "Class": "B", "Score": 85},</a:t>
            </a:r>
          </a:p>
          <a:p>
            <a:r>
              <a:rPr lang="en-US" dirty="0"/>
              <a:t xml:space="preserve">    {"Name": "Eva", "Class": "A", "Score": 91},</a:t>
            </a:r>
          </a:p>
          <a:p>
            <a:r>
              <a:rPr lang="en-US" dirty="0"/>
              <a:t xml:space="preserve">    {"Name": "Frank", "Class": "B", "Score": 78}</a:t>
            </a:r>
          </a:p>
          <a:p>
            <a:r>
              <a:rPr lang="en-US" dirty="0"/>
              <a:t>]</a:t>
            </a:r>
          </a:p>
          <a:p>
            <a:r>
              <a:rPr lang="en-US" dirty="0" err="1"/>
              <a:t>df</a:t>
            </a:r>
            <a:r>
              <a:rPr lang="en-US" dirty="0"/>
              <a:t xml:space="preserve"> = </a:t>
            </a:r>
            <a:r>
              <a:rPr lang="en-US" dirty="0" err="1"/>
              <a:t>pd.DataFrame</a:t>
            </a:r>
            <a:r>
              <a:rPr lang="en-US" dirty="0"/>
              <a:t>(students)</a:t>
            </a:r>
          </a:p>
          <a:p>
            <a:r>
              <a:rPr lang="en-US" dirty="0"/>
              <a:t>print("Not Sorted Data")</a:t>
            </a:r>
          </a:p>
          <a:p>
            <a:r>
              <a:rPr lang="en-US" dirty="0"/>
              <a:t>print(</a:t>
            </a:r>
            <a:r>
              <a:rPr lang="en-US" dirty="0" err="1"/>
              <a:t>df</a:t>
            </a:r>
            <a:r>
              <a:rPr lang="en-US" dirty="0"/>
              <a:t>)</a:t>
            </a:r>
          </a:p>
          <a:p>
            <a:endParaRPr lang="en-US" dirty="0"/>
          </a:p>
          <a:p>
            <a:r>
              <a:rPr lang="en-US" dirty="0"/>
              <a:t># Sort by Score in descending order</a:t>
            </a:r>
          </a:p>
          <a:p>
            <a:r>
              <a:rPr lang="en-US" dirty="0" err="1"/>
              <a:t>sorted_df</a:t>
            </a:r>
            <a:r>
              <a:rPr lang="en-US" dirty="0"/>
              <a:t xml:space="preserve"> = </a:t>
            </a:r>
            <a:r>
              <a:rPr lang="en-US" dirty="0" err="1"/>
              <a:t>df.sort_values</a:t>
            </a:r>
            <a:r>
              <a:rPr lang="en-US" dirty="0"/>
              <a:t>(by="Score", ascending=False)</a:t>
            </a:r>
          </a:p>
          <a:p>
            <a:r>
              <a:rPr lang="en-US" dirty="0"/>
              <a:t>print("Sorted Data")</a:t>
            </a:r>
          </a:p>
          <a:p>
            <a:r>
              <a:rPr lang="en-US" dirty="0"/>
              <a:t>print(</a:t>
            </a:r>
            <a:r>
              <a:rPr lang="en-US" dirty="0" err="1"/>
              <a:t>sorted_df</a:t>
            </a:r>
            <a:r>
              <a:rPr lang="en-US" dirty="0"/>
              <a:t>)</a:t>
            </a:r>
          </a:p>
        </p:txBody>
      </p:sp>
      <p:pic>
        <p:nvPicPr>
          <p:cNvPr id="6" name="Picture 5" descr="A table of names and numbers  AI-generated content may be incorrect.">
            <a:extLst>
              <a:ext uri="{FF2B5EF4-FFF2-40B4-BE49-F238E27FC236}">
                <a16:creationId xmlns:a16="http://schemas.microsoft.com/office/drawing/2014/main" id="{E3BF7431-30F4-CE44-8AE5-46FB8AA463E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91424" y="1177796"/>
            <a:ext cx="3762376" cy="5410359"/>
          </a:xfrm>
          <a:prstGeom prst="rect">
            <a:avLst/>
          </a:prstGeom>
        </p:spPr>
      </p:pic>
    </p:spTree>
    <p:extLst>
      <p:ext uri="{BB962C8B-B14F-4D97-AF65-F5344CB8AC3E}">
        <p14:creationId xmlns:p14="http://schemas.microsoft.com/office/powerpoint/2010/main" val="2449807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146B4-D775-0E7A-64B2-251CEF66715B}"/>
              </a:ext>
            </a:extLst>
          </p:cNvPr>
          <p:cNvSpPr>
            <a:spLocks noGrp="1"/>
          </p:cNvSpPr>
          <p:nvPr>
            <p:ph type="title"/>
          </p:nvPr>
        </p:nvSpPr>
        <p:spPr>
          <a:xfrm>
            <a:off x="838200" y="382262"/>
            <a:ext cx="10515600" cy="1325563"/>
          </a:xfrm>
        </p:spPr>
        <p:txBody>
          <a:bodyPr/>
          <a:lstStyle/>
          <a:p>
            <a:r>
              <a:rPr lang="en-US" dirty="0"/>
              <a:t>Basic Tools: Filtering</a:t>
            </a:r>
          </a:p>
        </p:txBody>
      </p:sp>
      <p:pic>
        <p:nvPicPr>
          <p:cNvPr id="7" name="Image 1" descr="preencoded.png">
            <a:extLst>
              <a:ext uri="{FF2B5EF4-FFF2-40B4-BE49-F238E27FC236}">
                <a16:creationId xmlns:a16="http://schemas.microsoft.com/office/drawing/2014/main" id="{012858DB-300E-FB61-15D0-2DCE13DFC52E}"/>
              </a:ext>
            </a:extLst>
          </p:cNvPr>
          <p:cNvPicPr>
            <a:picLocks noChangeAspect="1"/>
          </p:cNvPicPr>
          <p:nvPr/>
        </p:nvPicPr>
        <p:blipFill>
          <a:blip r:embed="rId2"/>
          <a:stretch>
            <a:fillRect/>
          </a:stretch>
        </p:blipFill>
        <p:spPr>
          <a:xfrm>
            <a:off x="5404942" y="2150766"/>
            <a:ext cx="945058" cy="1134070"/>
          </a:xfrm>
          <a:prstGeom prst="rect">
            <a:avLst/>
          </a:prstGeom>
        </p:spPr>
      </p:pic>
      <p:sp>
        <p:nvSpPr>
          <p:cNvPr id="8" name="Text 1">
            <a:extLst>
              <a:ext uri="{FF2B5EF4-FFF2-40B4-BE49-F238E27FC236}">
                <a16:creationId xmlns:a16="http://schemas.microsoft.com/office/drawing/2014/main" id="{A14A768D-CB80-DB64-30EE-3C3C8C453D8E}"/>
              </a:ext>
            </a:extLst>
          </p:cNvPr>
          <p:cNvSpPr/>
          <p:nvPr/>
        </p:nvSpPr>
        <p:spPr>
          <a:xfrm>
            <a:off x="6633469" y="2339777"/>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What is Filtering?</a:t>
            </a:r>
            <a:endParaRPr lang="en-US" sz="2400" dirty="0">
              <a:latin typeface="Aptos" panose="020B0004020202020204" pitchFamily="34" charset="0"/>
            </a:endParaRPr>
          </a:p>
        </p:txBody>
      </p:sp>
      <p:sp>
        <p:nvSpPr>
          <p:cNvPr id="9" name="Text 2">
            <a:extLst>
              <a:ext uri="{FF2B5EF4-FFF2-40B4-BE49-F238E27FC236}">
                <a16:creationId xmlns:a16="http://schemas.microsoft.com/office/drawing/2014/main" id="{FBEF5B85-E068-E0FD-B8C5-B4CEB32A8A81}"/>
              </a:ext>
            </a:extLst>
          </p:cNvPr>
          <p:cNvSpPr/>
          <p:nvPr/>
        </p:nvSpPr>
        <p:spPr>
          <a:xfrm>
            <a:off x="6633469" y="2748459"/>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Selecting only rows that meet certain conditions</a:t>
            </a:r>
            <a:endParaRPr lang="en-US" dirty="0">
              <a:latin typeface="Aptos" panose="020B0004020202020204" pitchFamily="34" charset="0"/>
            </a:endParaRPr>
          </a:p>
        </p:txBody>
      </p:sp>
      <p:pic>
        <p:nvPicPr>
          <p:cNvPr id="10" name="Image 2" descr="preencoded.png">
            <a:extLst>
              <a:ext uri="{FF2B5EF4-FFF2-40B4-BE49-F238E27FC236}">
                <a16:creationId xmlns:a16="http://schemas.microsoft.com/office/drawing/2014/main" id="{1BAA4C32-D091-93B4-B8EC-341165DBA53B}"/>
              </a:ext>
            </a:extLst>
          </p:cNvPr>
          <p:cNvPicPr>
            <a:picLocks noChangeAspect="1"/>
          </p:cNvPicPr>
          <p:nvPr/>
        </p:nvPicPr>
        <p:blipFill>
          <a:blip r:embed="rId3"/>
          <a:stretch>
            <a:fillRect/>
          </a:stretch>
        </p:blipFill>
        <p:spPr>
          <a:xfrm>
            <a:off x="5404942" y="3284836"/>
            <a:ext cx="945058" cy="1391543"/>
          </a:xfrm>
          <a:prstGeom prst="rect">
            <a:avLst/>
          </a:prstGeom>
        </p:spPr>
      </p:pic>
      <p:sp>
        <p:nvSpPr>
          <p:cNvPr id="11" name="Text 3">
            <a:extLst>
              <a:ext uri="{FF2B5EF4-FFF2-40B4-BE49-F238E27FC236}">
                <a16:creationId xmlns:a16="http://schemas.microsoft.com/office/drawing/2014/main" id="{D651A941-DC93-3135-CC5D-AE491D9F2F47}"/>
              </a:ext>
            </a:extLst>
          </p:cNvPr>
          <p:cNvSpPr/>
          <p:nvPr/>
        </p:nvSpPr>
        <p:spPr>
          <a:xfrm>
            <a:off x="6633469" y="3473847"/>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Why Filter?</a:t>
            </a:r>
            <a:endParaRPr lang="en-US" sz="2400" dirty="0">
              <a:latin typeface="Aptos" panose="020B0004020202020204" pitchFamily="34" charset="0"/>
            </a:endParaRPr>
          </a:p>
        </p:txBody>
      </p:sp>
      <p:sp>
        <p:nvSpPr>
          <p:cNvPr id="12" name="Text 4">
            <a:extLst>
              <a:ext uri="{FF2B5EF4-FFF2-40B4-BE49-F238E27FC236}">
                <a16:creationId xmlns:a16="http://schemas.microsoft.com/office/drawing/2014/main" id="{E2C6B920-ECA2-D561-2D01-9E088B10580E}"/>
              </a:ext>
            </a:extLst>
          </p:cNvPr>
          <p:cNvSpPr/>
          <p:nvPr/>
        </p:nvSpPr>
        <p:spPr>
          <a:xfrm>
            <a:off x="6633469" y="3882530"/>
            <a:ext cx="5068491"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Focus on relevant subsets of data (e.g., only Class A students)</a:t>
            </a:r>
            <a:endParaRPr lang="en-US" dirty="0">
              <a:latin typeface="Aptos" panose="020B0004020202020204" pitchFamily="34" charset="0"/>
            </a:endParaRPr>
          </a:p>
        </p:txBody>
      </p:sp>
      <p:pic>
        <p:nvPicPr>
          <p:cNvPr id="13" name="Image 3" descr="preencoded.png">
            <a:extLst>
              <a:ext uri="{FF2B5EF4-FFF2-40B4-BE49-F238E27FC236}">
                <a16:creationId xmlns:a16="http://schemas.microsoft.com/office/drawing/2014/main" id="{233A896B-D6B0-CA1C-5597-C2D573CAA9E0}"/>
              </a:ext>
            </a:extLst>
          </p:cNvPr>
          <p:cNvPicPr>
            <a:picLocks noChangeAspect="1"/>
          </p:cNvPicPr>
          <p:nvPr/>
        </p:nvPicPr>
        <p:blipFill>
          <a:blip r:embed="rId4"/>
          <a:stretch>
            <a:fillRect/>
          </a:stretch>
        </p:blipFill>
        <p:spPr>
          <a:xfrm>
            <a:off x="5404942" y="4676379"/>
            <a:ext cx="945058" cy="1504950"/>
          </a:xfrm>
          <a:prstGeom prst="rect">
            <a:avLst/>
          </a:prstGeom>
        </p:spPr>
      </p:pic>
      <p:sp>
        <p:nvSpPr>
          <p:cNvPr id="14" name="Text 5">
            <a:extLst>
              <a:ext uri="{FF2B5EF4-FFF2-40B4-BE49-F238E27FC236}">
                <a16:creationId xmlns:a16="http://schemas.microsoft.com/office/drawing/2014/main" id="{F83075F7-835D-3053-D6DB-5F28264B329C}"/>
              </a:ext>
            </a:extLst>
          </p:cNvPr>
          <p:cNvSpPr/>
          <p:nvPr/>
        </p:nvSpPr>
        <p:spPr>
          <a:xfrm>
            <a:off x="6633469" y="486539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Example Uses</a:t>
            </a:r>
            <a:endParaRPr lang="en-US" sz="2400" dirty="0">
              <a:latin typeface="Aptos" panose="020B0004020202020204" pitchFamily="34" charset="0"/>
            </a:endParaRPr>
          </a:p>
        </p:txBody>
      </p:sp>
      <p:sp>
        <p:nvSpPr>
          <p:cNvPr id="15" name="Text 6">
            <a:extLst>
              <a:ext uri="{FF2B5EF4-FFF2-40B4-BE49-F238E27FC236}">
                <a16:creationId xmlns:a16="http://schemas.microsoft.com/office/drawing/2014/main" id="{39B97CE5-B901-194A-3680-263BFAC5AC0A}"/>
              </a:ext>
            </a:extLst>
          </p:cNvPr>
          <p:cNvSpPr/>
          <p:nvPr/>
        </p:nvSpPr>
        <p:spPr>
          <a:xfrm>
            <a:off x="6633469" y="5274073"/>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Show only failing grades that need attention</a:t>
            </a:r>
            <a:endParaRPr lang="en-US" dirty="0">
              <a:latin typeface="Aptos" panose="020B0004020202020204" pitchFamily="34" charset="0"/>
            </a:endParaRPr>
          </a:p>
        </p:txBody>
      </p:sp>
      <p:sp>
        <p:nvSpPr>
          <p:cNvPr id="16" name="Text 7">
            <a:extLst>
              <a:ext uri="{FF2B5EF4-FFF2-40B4-BE49-F238E27FC236}">
                <a16:creationId xmlns:a16="http://schemas.microsoft.com/office/drawing/2014/main" id="{ACCAA9EC-E075-0217-C204-3FCAD8072494}"/>
              </a:ext>
            </a:extLst>
          </p:cNvPr>
          <p:cNvSpPr/>
          <p:nvPr/>
        </p:nvSpPr>
        <p:spPr>
          <a:xfrm>
            <a:off x="6633469" y="5689899"/>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Focus on responses from a specific time period</a:t>
            </a:r>
            <a:endParaRPr lang="en-US" dirty="0">
              <a:latin typeface="Aptos" panose="020B0004020202020204" pitchFamily="34" charset="0"/>
            </a:endParaRPr>
          </a:p>
        </p:txBody>
      </p:sp>
      <p:pic>
        <p:nvPicPr>
          <p:cNvPr id="17" name="Image 0" descr="preencoded.png">
            <a:extLst>
              <a:ext uri="{FF2B5EF4-FFF2-40B4-BE49-F238E27FC236}">
                <a16:creationId xmlns:a16="http://schemas.microsoft.com/office/drawing/2014/main" id="{DEF841B6-4B95-B441-6824-7687EA985FA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71574" y="1549326"/>
            <a:ext cx="3110938" cy="4666407"/>
          </a:xfrm>
          <a:prstGeom prst="rect">
            <a:avLst/>
          </a:prstGeom>
        </p:spPr>
      </p:pic>
    </p:spTree>
    <p:extLst>
      <p:ext uri="{BB962C8B-B14F-4D97-AF65-F5344CB8AC3E}">
        <p14:creationId xmlns:p14="http://schemas.microsoft.com/office/powerpoint/2010/main" val="3877634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23C34-3795-2D73-D889-290EC62E7830}"/>
              </a:ext>
            </a:extLst>
          </p:cNvPr>
          <p:cNvSpPr>
            <a:spLocks noGrp="1"/>
          </p:cNvSpPr>
          <p:nvPr>
            <p:ph type="title"/>
          </p:nvPr>
        </p:nvSpPr>
        <p:spPr/>
        <p:txBody>
          <a:bodyPr/>
          <a:lstStyle/>
          <a:p>
            <a:r>
              <a:rPr lang="en-US" dirty="0"/>
              <a:t>Let’s Filter with R</a:t>
            </a:r>
          </a:p>
        </p:txBody>
      </p:sp>
      <p:sp>
        <p:nvSpPr>
          <p:cNvPr id="3" name="Content Placeholder 2">
            <a:extLst>
              <a:ext uri="{FF2B5EF4-FFF2-40B4-BE49-F238E27FC236}">
                <a16:creationId xmlns:a16="http://schemas.microsoft.com/office/drawing/2014/main" id="{1563AED6-4118-56B6-D800-75295DB667DC}"/>
              </a:ext>
            </a:extLst>
          </p:cNvPr>
          <p:cNvSpPr>
            <a:spLocks noGrp="1"/>
          </p:cNvSpPr>
          <p:nvPr>
            <p:ph idx="1"/>
          </p:nvPr>
        </p:nvSpPr>
        <p:spPr/>
        <p:txBody>
          <a:bodyPr/>
          <a:lstStyle/>
          <a:p>
            <a:r>
              <a:rPr lang="en-US" dirty="0"/>
              <a:t xml:space="preserve">You can use either subset or filter (under </a:t>
            </a:r>
            <a:r>
              <a:rPr lang="en-US" dirty="0" err="1"/>
              <a:t>dplyr</a:t>
            </a:r>
            <a:r>
              <a:rPr lang="en-US" dirty="0"/>
              <a:t xml:space="preserve"> package).</a:t>
            </a:r>
          </a:p>
        </p:txBody>
      </p:sp>
      <p:sp>
        <p:nvSpPr>
          <p:cNvPr id="4" name="TextBox 3">
            <a:extLst>
              <a:ext uri="{FF2B5EF4-FFF2-40B4-BE49-F238E27FC236}">
                <a16:creationId xmlns:a16="http://schemas.microsoft.com/office/drawing/2014/main" id="{E38BAA30-9875-298F-AE67-2560A14765F5}"/>
              </a:ext>
            </a:extLst>
          </p:cNvPr>
          <p:cNvSpPr txBox="1"/>
          <p:nvPr/>
        </p:nvSpPr>
        <p:spPr>
          <a:xfrm>
            <a:off x="1085850" y="3651842"/>
            <a:ext cx="2757486" cy="1477328"/>
          </a:xfrm>
          <a:prstGeom prst="rect">
            <a:avLst/>
          </a:prstGeom>
          <a:noFill/>
        </p:spPr>
        <p:txBody>
          <a:bodyPr wrap="none" rtlCol="0">
            <a:spAutoFit/>
          </a:bodyPr>
          <a:lstStyle/>
          <a:p>
            <a:r>
              <a:rPr lang="en-US" dirty="0"/>
              <a:t># Option 1</a:t>
            </a:r>
          </a:p>
          <a:p>
            <a:r>
              <a:rPr lang="en-US" dirty="0"/>
              <a:t>subset(</a:t>
            </a:r>
            <a:r>
              <a:rPr lang="en-US" dirty="0" err="1"/>
              <a:t>df</a:t>
            </a:r>
            <a:r>
              <a:rPr lang="en-US" dirty="0"/>
              <a:t>, Class == "A")</a:t>
            </a:r>
          </a:p>
          <a:p>
            <a:endParaRPr lang="en-US" dirty="0"/>
          </a:p>
          <a:p>
            <a:r>
              <a:rPr lang="en-US" dirty="0"/>
              <a:t># Option 2</a:t>
            </a:r>
          </a:p>
          <a:p>
            <a:r>
              <a:rPr lang="en-US" dirty="0" err="1"/>
              <a:t>df</a:t>
            </a:r>
            <a:r>
              <a:rPr lang="en-US" dirty="0"/>
              <a:t xml:space="preserve"> %&gt;% filter(Class == "A")</a:t>
            </a:r>
          </a:p>
        </p:txBody>
      </p:sp>
      <p:pic>
        <p:nvPicPr>
          <p:cNvPr id="6" name="Picture 5" descr="A screenshot of a computer  AI-generated content may be incorrect.">
            <a:extLst>
              <a:ext uri="{FF2B5EF4-FFF2-40B4-BE49-F238E27FC236}">
                <a16:creationId xmlns:a16="http://schemas.microsoft.com/office/drawing/2014/main" id="{E1D8A4B9-4FFC-DEC8-D732-091DDB83020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916738" y="3219450"/>
            <a:ext cx="3530600" cy="3136900"/>
          </a:xfrm>
          <a:prstGeom prst="rect">
            <a:avLst/>
          </a:prstGeom>
        </p:spPr>
      </p:pic>
    </p:spTree>
    <p:extLst>
      <p:ext uri="{BB962C8B-B14F-4D97-AF65-F5344CB8AC3E}">
        <p14:creationId xmlns:p14="http://schemas.microsoft.com/office/powerpoint/2010/main" val="314885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9BE6-E7AA-E960-A8E3-19190F997CB2}"/>
              </a:ext>
            </a:extLst>
          </p:cNvPr>
          <p:cNvSpPr>
            <a:spLocks noGrp="1"/>
          </p:cNvSpPr>
          <p:nvPr>
            <p:ph type="title"/>
          </p:nvPr>
        </p:nvSpPr>
        <p:spPr/>
        <p:txBody>
          <a:bodyPr/>
          <a:lstStyle/>
          <a:p>
            <a:r>
              <a:rPr lang="en-US" dirty="0"/>
              <a:t>Let’s Filter with R</a:t>
            </a:r>
          </a:p>
        </p:txBody>
      </p:sp>
      <p:sp>
        <p:nvSpPr>
          <p:cNvPr id="3" name="Content Placeholder 2">
            <a:extLst>
              <a:ext uri="{FF2B5EF4-FFF2-40B4-BE49-F238E27FC236}">
                <a16:creationId xmlns:a16="http://schemas.microsoft.com/office/drawing/2014/main" id="{8CE2359D-EA4D-4765-DBB1-2E74D366988B}"/>
              </a:ext>
            </a:extLst>
          </p:cNvPr>
          <p:cNvSpPr>
            <a:spLocks noGrp="1"/>
          </p:cNvSpPr>
          <p:nvPr>
            <p:ph idx="1"/>
          </p:nvPr>
        </p:nvSpPr>
        <p:spPr/>
        <p:txBody>
          <a:bodyPr/>
          <a:lstStyle/>
          <a:p>
            <a:r>
              <a:rPr lang="en-US" dirty="0"/>
              <a:t>You can also filter based on multiple conditions</a:t>
            </a:r>
          </a:p>
        </p:txBody>
      </p:sp>
      <p:sp>
        <p:nvSpPr>
          <p:cNvPr id="5" name="TextBox 4">
            <a:extLst>
              <a:ext uri="{FF2B5EF4-FFF2-40B4-BE49-F238E27FC236}">
                <a16:creationId xmlns:a16="http://schemas.microsoft.com/office/drawing/2014/main" id="{EAB66DEF-95CD-F2EE-A7DD-32710DB7B920}"/>
              </a:ext>
            </a:extLst>
          </p:cNvPr>
          <p:cNvSpPr txBox="1"/>
          <p:nvPr/>
        </p:nvSpPr>
        <p:spPr>
          <a:xfrm>
            <a:off x="838200" y="3429000"/>
            <a:ext cx="6100762" cy="1754326"/>
          </a:xfrm>
          <a:prstGeom prst="rect">
            <a:avLst/>
          </a:prstGeom>
          <a:noFill/>
        </p:spPr>
        <p:txBody>
          <a:bodyPr wrap="square">
            <a:spAutoFit/>
          </a:bodyPr>
          <a:lstStyle/>
          <a:p>
            <a:r>
              <a:rPr lang="en-US" dirty="0"/>
              <a:t># Filter with multiple conditions</a:t>
            </a:r>
          </a:p>
          <a:p>
            <a:r>
              <a:rPr lang="en-US" dirty="0"/>
              <a:t># Option 1</a:t>
            </a:r>
          </a:p>
          <a:p>
            <a:r>
              <a:rPr lang="en-US" dirty="0"/>
              <a:t>subset(</a:t>
            </a:r>
            <a:r>
              <a:rPr lang="en-US" dirty="0" err="1"/>
              <a:t>df</a:t>
            </a:r>
            <a:r>
              <a:rPr lang="en-US" dirty="0"/>
              <a:t xml:space="preserve">, Class == "A" &amp; </a:t>
            </a:r>
            <a:r>
              <a:rPr lang="en-US" dirty="0" err="1"/>
              <a:t>Exam_Score</a:t>
            </a:r>
            <a:r>
              <a:rPr lang="en-US" dirty="0"/>
              <a:t xml:space="preserve"> &gt; 90)</a:t>
            </a:r>
          </a:p>
          <a:p>
            <a:endParaRPr lang="en-US" dirty="0"/>
          </a:p>
          <a:p>
            <a:r>
              <a:rPr lang="en-US" dirty="0"/>
              <a:t># Option 2</a:t>
            </a:r>
          </a:p>
          <a:p>
            <a:r>
              <a:rPr lang="en-US" dirty="0" err="1"/>
              <a:t>df</a:t>
            </a:r>
            <a:r>
              <a:rPr lang="en-US" dirty="0"/>
              <a:t xml:space="preserve"> %&gt;% filter(Class == "A", </a:t>
            </a:r>
            <a:r>
              <a:rPr lang="en-US" dirty="0" err="1"/>
              <a:t>Exam_Score</a:t>
            </a:r>
            <a:r>
              <a:rPr lang="en-US" dirty="0"/>
              <a:t xml:space="preserve"> &gt; 90)</a:t>
            </a:r>
          </a:p>
        </p:txBody>
      </p:sp>
      <p:pic>
        <p:nvPicPr>
          <p:cNvPr id="7" name="Picture 6" descr="A white background with black text  AI-generated content may be incorrect.">
            <a:extLst>
              <a:ext uri="{FF2B5EF4-FFF2-40B4-BE49-F238E27FC236}">
                <a16:creationId xmlns:a16="http://schemas.microsoft.com/office/drawing/2014/main" id="{6C6EF448-06AC-791A-7200-DDB7C73BC36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994400" y="3308350"/>
            <a:ext cx="5575300" cy="3048000"/>
          </a:xfrm>
          <a:prstGeom prst="rect">
            <a:avLst/>
          </a:prstGeom>
        </p:spPr>
      </p:pic>
    </p:spTree>
    <p:extLst>
      <p:ext uri="{BB962C8B-B14F-4D97-AF65-F5344CB8AC3E}">
        <p14:creationId xmlns:p14="http://schemas.microsoft.com/office/powerpoint/2010/main" val="1763262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6DA44-1D5D-934B-1482-A56446790568}"/>
              </a:ext>
            </a:extLst>
          </p:cNvPr>
          <p:cNvSpPr>
            <a:spLocks noGrp="1"/>
          </p:cNvSpPr>
          <p:nvPr>
            <p:ph type="title"/>
          </p:nvPr>
        </p:nvSpPr>
        <p:spPr/>
        <p:txBody>
          <a:bodyPr/>
          <a:lstStyle/>
          <a:p>
            <a:r>
              <a:rPr lang="en-US" dirty="0"/>
              <a:t>Let’s Filter with Python</a:t>
            </a:r>
          </a:p>
        </p:txBody>
      </p:sp>
      <p:sp>
        <p:nvSpPr>
          <p:cNvPr id="5" name="TextBox 4">
            <a:extLst>
              <a:ext uri="{FF2B5EF4-FFF2-40B4-BE49-F238E27FC236}">
                <a16:creationId xmlns:a16="http://schemas.microsoft.com/office/drawing/2014/main" id="{0E52F9EF-89FC-9B19-D8BA-FD89FB290624}"/>
              </a:ext>
            </a:extLst>
          </p:cNvPr>
          <p:cNvSpPr txBox="1"/>
          <p:nvPr/>
        </p:nvSpPr>
        <p:spPr>
          <a:xfrm>
            <a:off x="1352551" y="2829342"/>
            <a:ext cx="6100762" cy="646331"/>
          </a:xfrm>
          <a:prstGeom prst="rect">
            <a:avLst/>
          </a:prstGeom>
          <a:noFill/>
        </p:spPr>
        <p:txBody>
          <a:bodyPr wrap="square">
            <a:spAutoFit/>
          </a:bodyPr>
          <a:lstStyle/>
          <a:p>
            <a:r>
              <a:rPr lang="en-US" dirty="0" err="1"/>
              <a:t>class_a_df</a:t>
            </a:r>
            <a:r>
              <a:rPr lang="en-US" dirty="0"/>
              <a:t xml:space="preserve"> = </a:t>
            </a:r>
            <a:r>
              <a:rPr lang="en-US" dirty="0" err="1"/>
              <a:t>df</a:t>
            </a:r>
            <a:r>
              <a:rPr lang="en-US" dirty="0"/>
              <a:t>[</a:t>
            </a:r>
            <a:r>
              <a:rPr lang="en-US" dirty="0" err="1"/>
              <a:t>df</a:t>
            </a:r>
            <a:r>
              <a:rPr lang="en-US" dirty="0"/>
              <a:t>["Class"] == "A"]</a:t>
            </a:r>
          </a:p>
          <a:p>
            <a:r>
              <a:rPr lang="en-US" dirty="0"/>
              <a:t>print(</a:t>
            </a:r>
            <a:r>
              <a:rPr lang="en-US" dirty="0" err="1"/>
              <a:t>class_a_df</a:t>
            </a:r>
            <a:r>
              <a:rPr lang="en-US" dirty="0"/>
              <a:t>)</a:t>
            </a:r>
          </a:p>
        </p:txBody>
      </p:sp>
      <p:pic>
        <p:nvPicPr>
          <p:cNvPr id="7" name="Picture 6" descr="A group of black text  AI-generated content may be incorrect.">
            <a:extLst>
              <a:ext uri="{FF2B5EF4-FFF2-40B4-BE49-F238E27FC236}">
                <a16:creationId xmlns:a16="http://schemas.microsoft.com/office/drawing/2014/main" id="{E4724343-7476-05C5-22D3-50A80161935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40488" y="2654166"/>
            <a:ext cx="3225800" cy="1244600"/>
          </a:xfrm>
          <a:prstGeom prst="rect">
            <a:avLst/>
          </a:prstGeom>
        </p:spPr>
      </p:pic>
      <p:sp>
        <p:nvSpPr>
          <p:cNvPr id="10" name="TextBox 9">
            <a:extLst>
              <a:ext uri="{FF2B5EF4-FFF2-40B4-BE49-F238E27FC236}">
                <a16:creationId xmlns:a16="http://schemas.microsoft.com/office/drawing/2014/main" id="{8E99286C-C443-4257-56E4-18793C83F86F}"/>
              </a:ext>
            </a:extLst>
          </p:cNvPr>
          <p:cNvSpPr txBox="1"/>
          <p:nvPr/>
        </p:nvSpPr>
        <p:spPr>
          <a:xfrm>
            <a:off x="1164431" y="4835570"/>
            <a:ext cx="6936581" cy="646331"/>
          </a:xfrm>
          <a:prstGeom prst="rect">
            <a:avLst/>
          </a:prstGeom>
          <a:noFill/>
        </p:spPr>
        <p:txBody>
          <a:bodyPr wrap="square">
            <a:spAutoFit/>
          </a:bodyPr>
          <a:lstStyle/>
          <a:p>
            <a:r>
              <a:rPr lang="en-US" dirty="0"/>
              <a:t xml:space="preserve">class_a_df_over90 = </a:t>
            </a:r>
            <a:r>
              <a:rPr lang="en-US" dirty="0" err="1"/>
              <a:t>df</a:t>
            </a:r>
            <a:r>
              <a:rPr lang="en-US" dirty="0"/>
              <a:t>[(</a:t>
            </a:r>
            <a:r>
              <a:rPr lang="en-US" dirty="0" err="1"/>
              <a:t>df</a:t>
            </a:r>
            <a:r>
              <a:rPr lang="en-US" dirty="0"/>
              <a:t>["Class"]=="A") &amp; (</a:t>
            </a:r>
            <a:r>
              <a:rPr lang="en-US" dirty="0" err="1"/>
              <a:t>df</a:t>
            </a:r>
            <a:r>
              <a:rPr lang="en-US" dirty="0"/>
              <a:t>["Score"] &gt; 90)]</a:t>
            </a:r>
          </a:p>
          <a:p>
            <a:r>
              <a:rPr lang="en-US" dirty="0"/>
              <a:t>print(class_a_df_over90)</a:t>
            </a:r>
          </a:p>
        </p:txBody>
      </p:sp>
      <p:pic>
        <p:nvPicPr>
          <p:cNvPr id="12" name="Picture 11" descr="A close-up of a sign  AI-generated content may be incorrect.">
            <a:extLst>
              <a:ext uri="{FF2B5EF4-FFF2-40B4-BE49-F238E27FC236}">
                <a16:creationId xmlns:a16="http://schemas.microsoft.com/office/drawing/2014/main" id="{ABE03FF7-07C9-2303-4026-CD0D2686653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101012" y="4961201"/>
            <a:ext cx="3425826" cy="1165634"/>
          </a:xfrm>
          <a:prstGeom prst="rect">
            <a:avLst/>
          </a:prstGeom>
        </p:spPr>
      </p:pic>
    </p:spTree>
    <p:extLst>
      <p:ext uri="{BB962C8B-B14F-4D97-AF65-F5344CB8AC3E}">
        <p14:creationId xmlns:p14="http://schemas.microsoft.com/office/powerpoint/2010/main" val="3304553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12E2-69EA-BE85-2CFD-4B14E9D46EBD}"/>
              </a:ext>
            </a:extLst>
          </p:cNvPr>
          <p:cNvSpPr>
            <a:spLocks noGrp="1"/>
          </p:cNvSpPr>
          <p:nvPr>
            <p:ph type="title"/>
          </p:nvPr>
        </p:nvSpPr>
        <p:spPr/>
        <p:txBody>
          <a:bodyPr/>
          <a:lstStyle/>
          <a:p>
            <a:r>
              <a:rPr lang="en-US" dirty="0"/>
              <a:t>Basic Tools: Grouping &amp; Summarizing</a:t>
            </a:r>
          </a:p>
        </p:txBody>
      </p:sp>
      <p:sp>
        <p:nvSpPr>
          <p:cNvPr id="18" name="Text 1">
            <a:extLst>
              <a:ext uri="{FF2B5EF4-FFF2-40B4-BE49-F238E27FC236}">
                <a16:creationId xmlns:a16="http://schemas.microsoft.com/office/drawing/2014/main" id="{4B7DF064-D3D9-77D5-7900-F1A537CE3972}"/>
              </a:ext>
            </a:extLst>
          </p:cNvPr>
          <p:cNvSpPr/>
          <p:nvPr/>
        </p:nvSpPr>
        <p:spPr>
          <a:xfrm>
            <a:off x="1371004" y="3055834"/>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Group</a:t>
            </a:r>
            <a:endParaRPr lang="en-US" sz="2400" dirty="0">
              <a:latin typeface="Aptos" panose="020B0004020202020204" pitchFamily="34" charset="0"/>
            </a:endParaRPr>
          </a:p>
        </p:txBody>
      </p:sp>
      <p:sp>
        <p:nvSpPr>
          <p:cNvPr id="19" name="Text 2">
            <a:extLst>
              <a:ext uri="{FF2B5EF4-FFF2-40B4-BE49-F238E27FC236}">
                <a16:creationId xmlns:a16="http://schemas.microsoft.com/office/drawing/2014/main" id="{7FE916BB-B1B8-EE7B-2669-1381A0C69E6C}"/>
              </a:ext>
            </a:extLst>
          </p:cNvPr>
          <p:cNvSpPr/>
          <p:nvPr/>
        </p:nvSpPr>
        <p:spPr>
          <a:xfrm>
            <a:off x="484782" y="3464517"/>
            <a:ext cx="3248918"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Split data into categories</a:t>
            </a:r>
            <a:endParaRPr lang="en-US" dirty="0">
              <a:latin typeface="Aptos" panose="020B0004020202020204" pitchFamily="34" charset="0"/>
            </a:endParaRPr>
          </a:p>
        </p:txBody>
      </p:sp>
      <p:pic>
        <p:nvPicPr>
          <p:cNvPr id="20" name="Image 0" descr="preencoded.png">
            <a:extLst>
              <a:ext uri="{FF2B5EF4-FFF2-40B4-BE49-F238E27FC236}">
                <a16:creationId xmlns:a16="http://schemas.microsoft.com/office/drawing/2014/main" id="{3BDEBA49-2D6E-202A-8DB0-270DC9637D2D}"/>
              </a:ext>
            </a:extLst>
          </p:cNvPr>
          <p:cNvPicPr>
            <a:picLocks noChangeAspect="1"/>
          </p:cNvPicPr>
          <p:nvPr/>
        </p:nvPicPr>
        <p:blipFill>
          <a:blip r:embed="rId2"/>
          <a:stretch>
            <a:fillRect/>
          </a:stretch>
        </p:blipFill>
        <p:spPr>
          <a:xfrm>
            <a:off x="4017168" y="2531265"/>
            <a:ext cx="3804146" cy="3804146"/>
          </a:xfrm>
          <a:prstGeom prst="rect">
            <a:avLst/>
          </a:prstGeom>
        </p:spPr>
      </p:pic>
      <p:pic>
        <p:nvPicPr>
          <p:cNvPr id="21" name="Image 1" descr="preencoded.png">
            <a:extLst>
              <a:ext uri="{FF2B5EF4-FFF2-40B4-BE49-F238E27FC236}">
                <a16:creationId xmlns:a16="http://schemas.microsoft.com/office/drawing/2014/main" id="{77761726-C06F-4978-4D76-0164E0CCD0A1}"/>
              </a:ext>
            </a:extLst>
          </p:cNvPr>
          <p:cNvPicPr>
            <a:picLocks noChangeAspect="1"/>
          </p:cNvPicPr>
          <p:nvPr/>
        </p:nvPicPr>
        <p:blipFill>
          <a:blip r:embed="rId3"/>
          <a:stretch>
            <a:fillRect/>
          </a:stretch>
        </p:blipFill>
        <p:spPr>
          <a:xfrm>
            <a:off x="5012233" y="3167158"/>
            <a:ext cx="282773" cy="353517"/>
          </a:xfrm>
          <a:prstGeom prst="rect">
            <a:avLst/>
          </a:prstGeom>
        </p:spPr>
      </p:pic>
      <p:sp>
        <p:nvSpPr>
          <p:cNvPr id="22" name="Text 3">
            <a:extLst>
              <a:ext uri="{FF2B5EF4-FFF2-40B4-BE49-F238E27FC236}">
                <a16:creationId xmlns:a16="http://schemas.microsoft.com/office/drawing/2014/main" id="{615030B2-D233-FDD9-A942-BE06CCE26C42}"/>
              </a:ext>
            </a:extLst>
          </p:cNvPr>
          <p:cNvSpPr/>
          <p:nvPr/>
        </p:nvSpPr>
        <p:spPr>
          <a:xfrm>
            <a:off x="8104782" y="3055834"/>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Summarize</a:t>
            </a:r>
            <a:endParaRPr lang="en-US" sz="2400" dirty="0">
              <a:latin typeface="Aptos" panose="020B0004020202020204" pitchFamily="34" charset="0"/>
            </a:endParaRPr>
          </a:p>
        </p:txBody>
      </p:sp>
      <p:sp>
        <p:nvSpPr>
          <p:cNvPr id="23" name="Text 4">
            <a:extLst>
              <a:ext uri="{FF2B5EF4-FFF2-40B4-BE49-F238E27FC236}">
                <a16:creationId xmlns:a16="http://schemas.microsoft.com/office/drawing/2014/main" id="{17C5B6B2-A7BF-04D3-DF82-97F1902A4D4A}"/>
              </a:ext>
            </a:extLst>
          </p:cNvPr>
          <p:cNvSpPr/>
          <p:nvPr/>
        </p:nvSpPr>
        <p:spPr>
          <a:xfrm>
            <a:off x="8104782" y="3464517"/>
            <a:ext cx="324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Calculate statistics for each group</a:t>
            </a:r>
            <a:endParaRPr lang="en-US" dirty="0">
              <a:latin typeface="Aptos" panose="020B0004020202020204" pitchFamily="34" charset="0"/>
            </a:endParaRPr>
          </a:p>
        </p:txBody>
      </p:sp>
      <p:pic>
        <p:nvPicPr>
          <p:cNvPr id="24" name="Image 2" descr="preencoded.png">
            <a:extLst>
              <a:ext uri="{FF2B5EF4-FFF2-40B4-BE49-F238E27FC236}">
                <a16:creationId xmlns:a16="http://schemas.microsoft.com/office/drawing/2014/main" id="{C73AB144-4475-9CB7-EC0D-059503B69B53}"/>
              </a:ext>
            </a:extLst>
          </p:cNvPr>
          <p:cNvPicPr>
            <a:picLocks noChangeAspect="1"/>
          </p:cNvPicPr>
          <p:nvPr/>
        </p:nvPicPr>
        <p:blipFill>
          <a:blip r:embed="rId4"/>
          <a:stretch>
            <a:fillRect/>
          </a:stretch>
        </p:blipFill>
        <p:spPr>
          <a:xfrm>
            <a:off x="4017168" y="2531265"/>
            <a:ext cx="3804146" cy="3804146"/>
          </a:xfrm>
          <a:prstGeom prst="rect">
            <a:avLst/>
          </a:prstGeom>
        </p:spPr>
      </p:pic>
      <p:pic>
        <p:nvPicPr>
          <p:cNvPr id="25" name="Image 3" descr="preencoded.png">
            <a:extLst>
              <a:ext uri="{FF2B5EF4-FFF2-40B4-BE49-F238E27FC236}">
                <a16:creationId xmlns:a16="http://schemas.microsoft.com/office/drawing/2014/main" id="{7A2B6968-73EA-6060-C33A-5ADC469B3EA4}"/>
              </a:ext>
            </a:extLst>
          </p:cNvPr>
          <p:cNvPicPr>
            <a:picLocks noChangeAspect="1"/>
          </p:cNvPicPr>
          <p:nvPr/>
        </p:nvPicPr>
        <p:blipFill>
          <a:blip r:embed="rId5"/>
          <a:stretch>
            <a:fillRect/>
          </a:stretch>
        </p:blipFill>
        <p:spPr>
          <a:xfrm>
            <a:off x="6867127" y="3490908"/>
            <a:ext cx="282773" cy="353517"/>
          </a:xfrm>
          <a:prstGeom prst="rect">
            <a:avLst/>
          </a:prstGeom>
        </p:spPr>
      </p:pic>
      <p:sp>
        <p:nvSpPr>
          <p:cNvPr id="26" name="Text 5">
            <a:extLst>
              <a:ext uri="{FF2B5EF4-FFF2-40B4-BE49-F238E27FC236}">
                <a16:creationId xmlns:a16="http://schemas.microsoft.com/office/drawing/2014/main" id="{71B33E53-984C-5864-6653-AC7A2734E484}"/>
              </a:ext>
            </a:extLst>
          </p:cNvPr>
          <p:cNvSpPr/>
          <p:nvPr/>
        </p:nvSpPr>
        <p:spPr>
          <a:xfrm>
            <a:off x="8104782" y="509964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Compare</a:t>
            </a:r>
            <a:endParaRPr lang="en-US" sz="2400" dirty="0">
              <a:latin typeface="Aptos" panose="020B0004020202020204" pitchFamily="34" charset="0"/>
            </a:endParaRPr>
          </a:p>
        </p:txBody>
      </p:sp>
      <p:sp>
        <p:nvSpPr>
          <p:cNvPr id="27" name="Text 6">
            <a:extLst>
              <a:ext uri="{FF2B5EF4-FFF2-40B4-BE49-F238E27FC236}">
                <a16:creationId xmlns:a16="http://schemas.microsoft.com/office/drawing/2014/main" id="{EC20D945-FDD6-5A7E-64A9-948B1B8AFC77}"/>
              </a:ext>
            </a:extLst>
          </p:cNvPr>
          <p:cNvSpPr/>
          <p:nvPr/>
        </p:nvSpPr>
        <p:spPr>
          <a:xfrm>
            <a:off x="8104782" y="5508323"/>
            <a:ext cx="324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See differences between groups</a:t>
            </a:r>
            <a:endParaRPr lang="en-US" dirty="0">
              <a:latin typeface="Aptos" panose="020B0004020202020204" pitchFamily="34" charset="0"/>
            </a:endParaRPr>
          </a:p>
        </p:txBody>
      </p:sp>
      <p:pic>
        <p:nvPicPr>
          <p:cNvPr id="28" name="Image 4" descr="preencoded.png">
            <a:extLst>
              <a:ext uri="{FF2B5EF4-FFF2-40B4-BE49-F238E27FC236}">
                <a16:creationId xmlns:a16="http://schemas.microsoft.com/office/drawing/2014/main" id="{C79ECCE2-B746-4A9C-22D6-EA8C0F8BF132}"/>
              </a:ext>
            </a:extLst>
          </p:cNvPr>
          <p:cNvPicPr>
            <a:picLocks noChangeAspect="1"/>
          </p:cNvPicPr>
          <p:nvPr/>
        </p:nvPicPr>
        <p:blipFill>
          <a:blip r:embed="rId6"/>
          <a:stretch>
            <a:fillRect/>
          </a:stretch>
        </p:blipFill>
        <p:spPr>
          <a:xfrm>
            <a:off x="4017168" y="2531265"/>
            <a:ext cx="3804146" cy="3804146"/>
          </a:xfrm>
          <a:prstGeom prst="rect">
            <a:avLst/>
          </a:prstGeom>
        </p:spPr>
      </p:pic>
      <p:pic>
        <p:nvPicPr>
          <p:cNvPr id="29" name="Image 5" descr="preencoded.png">
            <a:extLst>
              <a:ext uri="{FF2B5EF4-FFF2-40B4-BE49-F238E27FC236}">
                <a16:creationId xmlns:a16="http://schemas.microsoft.com/office/drawing/2014/main" id="{23747551-3DE2-6E50-ABE3-F1EF68F68A2F}"/>
              </a:ext>
            </a:extLst>
          </p:cNvPr>
          <p:cNvPicPr>
            <a:picLocks noChangeAspect="1"/>
          </p:cNvPicPr>
          <p:nvPr/>
        </p:nvPicPr>
        <p:blipFill>
          <a:blip r:embed="rId7"/>
          <a:stretch>
            <a:fillRect/>
          </a:stretch>
        </p:blipFill>
        <p:spPr>
          <a:xfrm>
            <a:off x="6543376" y="5345803"/>
            <a:ext cx="282773" cy="353517"/>
          </a:xfrm>
          <a:prstGeom prst="rect">
            <a:avLst/>
          </a:prstGeom>
        </p:spPr>
      </p:pic>
      <p:sp>
        <p:nvSpPr>
          <p:cNvPr id="30" name="Text 7">
            <a:extLst>
              <a:ext uri="{FF2B5EF4-FFF2-40B4-BE49-F238E27FC236}">
                <a16:creationId xmlns:a16="http://schemas.microsoft.com/office/drawing/2014/main" id="{9EEA1E80-0D38-A5D3-ABCA-C01FD104BB34}"/>
              </a:ext>
            </a:extLst>
          </p:cNvPr>
          <p:cNvSpPr/>
          <p:nvPr/>
        </p:nvSpPr>
        <p:spPr>
          <a:xfrm>
            <a:off x="1371004" y="5099641"/>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Insight</a:t>
            </a:r>
            <a:endParaRPr lang="en-US" sz="2400" dirty="0">
              <a:latin typeface="Aptos" panose="020B0004020202020204" pitchFamily="34" charset="0"/>
            </a:endParaRPr>
          </a:p>
        </p:txBody>
      </p:sp>
      <p:sp>
        <p:nvSpPr>
          <p:cNvPr id="31" name="Text 8">
            <a:extLst>
              <a:ext uri="{FF2B5EF4-FFF2-40B4-BE49-F238E27FC236}">
                <a16:creationId xmlns:a16="http://schemas.microsoft.com/office/drawing/2014/main" id="{4C51A68A-86A1-8770-AE39-9344DF760D13}"/>
              </a:ext>
            </a:extLst>
          </p:cNvPr>
          <p:cNvSpPr/>
          <p:nvPr/>
        </p:nvSpPr>
        <p:spPr>
          <a:xfrm>
            <a:off x="484782" y="5508323"/>
            <a:ext cx="3248918"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Draw conclusions from patterns</a:t>
            </a:r>
            <a:endParaRPr lang="en-US" dirty="0">
              <a:latin typeface="Aptos" panose="020B0004020202020204" pitchFamily="34" charset="0"/>
            </a:endParaRPr>
          </a:p>
        </p:txBody>
      </p:sp>
      <p:pic>
        <p:nvPicPr>
          <p:cNvPr id="32" name="Image 6" descr="preencoded.png">
            <a:extLst>
              <a:ext uri="{FF2B5EF4-FFF2-40B4-BE49-F238E27FC236}">
                <a16:creationId xmlns:a16="http://schemas.microsoft.com/office/drawing/2014/main" id="{2FA58698-DF31-BEBF-80BF-89D8E76A7B4D}"/>
              </a:ext>
            </a:extLst>
          </p:cNvPr>
          <p:cNvPicPr>
            <a:picLocks noChangeAspect="1"/>
          </p:cNvPicPr>
          <p:nvPr/>
        </p:nvPicPr>
        <p:blipFill>
          <a:blip r:embed="rId8"/>
          <a:stretch>
            <a:fillRect/>
          </a:stretch>
        </p:blipFill>
        <p:spPr>
          <a:xfrm>
            <a:off x="4017168" y="2531265"/>
            <a:ext cx="3804146" cy="3804146"/>
          </a:xfrm>
          <a:prstGeom prst="rect">
            <a:avLst/>
          </a:prstGeom>
        </p:spPr>
      </p:pic>
      <p:pic>
        <p:nvPicPr>
          <p:cNvPr id="33" name="Image 7" descr="preencoded.png">
            <a:extLst>
              <a:ext uri="{FF2B5EF4-FFF2-40B4-BE49-F238E27FC236}">
                <a16:creationId xmlns:a16="http://schemas.microsoft.com/office/drawing/2014/main" id="{49AC19BD-C3F7-EE01-1B3E-7D650740346C}"/>
              </a:ext>
            </a:extLst>
          </p:cNvPr>
          <p:cNvPicPr>
            <a:picLocks noChangeAspect="1"/>
          </p:cNvPicPr>
          <p:nvPr/>
        </p:nvPicPr>
        <p:blipFill>
          <a:blip r:embed="rId9"/>
          <a:stretch>
            <a:fillRect/>
          </a:stretch>
        </p:blipFill>
        <p:spPr>
          <a:xfrm>
            <a:off x="4688482" y="5022052"/>
            <a:ext cx="282773" cy="353517"/>
          </a:xfrm>
          <a:prstGeom prst="rect">
            <a:avLst/>
          </a:prstGeom>
        </p:spPr>
      </p:pic>
    </p:spTree>
    <p:extLst>
      <p:ext uri="{BB962C8B-B14F-4D97-AF65-F5344CB8AC3E}">
        <p14:creationId xmlns:p14="http://schemas.microsoft.com/office/powerpoint/2010/main" val="2507753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DD682-B803-C8E5-0721-698316AC7CAB}"/>
              </a:ext>
            </a:extLst>
          </p:cNvPr>
          <p:cNvSpPr>
            <a:spLocks noGrp="1"/>
          </p:cNvSpPr>
          <p:nvPr>
            <p:ph type="title"/>
          </p:nvPr>
        </p:nvSpPr>
        <p:spPr/>
        <p:txBody>
          <a:bodyPr/>
          <a:lstStyle/>
          <a:p>
            <a:r>
              <a:rPr lang="en-US" dirty="0"/>
              <a:t>Let’s Get Averages By Class - R</a:t>
            </a:r>
          </a:p>
        </p:txBody>
      </p:sp>
      <p:pic>
        <p:nvPicPr>
          <p:cNvPr id="5" name="Content Placeholder 4" descr="A close-up of a math problem  AI-generated content may be incorrect.">
            <a:extLst>
              <a:ext uri="{FF2B5EF4-FFF2-40B4-BE49-F238E27FC236}">
                <a16:creationId xmlns:a16="http://schemas.microsoft.com/office/drawing/2014/main" id="{CFD5484C-D47A-AF4B-59CB-16EF9D45C60F}"/>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988719" y="4119563"/>
            <a:ext cx="6781800" cy="2552700"/>
          </a:xfrm>
        </p:spPr>
      </p:pic>
      <p:sp>
        <p:nvSpPr>
          <p:cNvPr id="7" name="TextBox 6">
            <a:extLst>
              <a:ext uri="{FF2B5EF4-FFF2-40B4-BE49-F238E27FC236}">
                <a16:creationId xmlns:a16="http://schemas.microsoft.com/office/drawing/2014/main" id="{E911E9E5-CDBD-654A-F814-1401D9069387}"/>
              </a:ext>
            </a:extLst>
          </p:cNvPr>
          <p:cNvSpPr txBox="1"/>
          <p:nvPr/>
        </p:nvSpPr>
        <p:spPr>
          <a:xfrm>
            <a:off x="707231" y="2764817"/>
            <a:ext cx="6100762" cy="1200329"/>
          </a:xfrm>
          <a:prstGeom prst="rect">
            <a:avLst/>
          </a:prstGeom>
          <a:noFill/>
        </p:spPr>
        <p:txBody>
          <a:bodyPr wrap="square">
            <a:spAutoFit/>
          </a:bodyPr>
          <a:lstStyle/>
          <a:p>
            <a:r>
              <a:rPr lang="en-US" dirty="0"/>
              <a:t># Group and Summarize</a:t>
            </a:r>
          </a:p>
          <a:p>
            <a:r>
              <a:rPr lang="en-US" dirty="0" err="1"/>
              <a:t>df</a:t>
            </a:r>
            <a:r>
              <a:rPr lang="en-US" dirty="0"/>
              <a:t xml:space="preserve"> %&gt;% </a:t>
            </a:r>
          </a:p>
          <a:p>
            <a:r>
              <a:rPr lang="en-US" dirty="0"/>
              <a:t xml:space="preserve">  </a:t>
            </a:r>
            <a:r>
              <a:rPr lang="en-US" dirty="0" err="1"/>
              <a:t>group_by</a:t>
            </a:r>
            <a:r>
              <a:rPr lang="en-US" dirty="0"/>
              <a:t xml:space="preserve">(Class) %&gt;% </a:t>
            </a:r>
          </a:p>
          <a:p>
            <a:r>
              <a:rPr lang="en-US" dirty="0"/>
              <a:t xml:space="preserve">  summarize(</a:t>
            </a:r>
            <a:r>
              <a:rPr lang="en-US" dirty="0" err="1"/>
              <a:t>mean_score</a:t>
            </a:r>
            <a:r>
              <a:rPr lang="en-US" dirty="0"/>
              <a:t xml:space="preserve"> = mean(</a:t>
            </a:r>
            <a:r>
              <a:rPr lang="en-US" dirty="0" err="1"/>
              <a:t>Exam_Score</a:t>
            </a:r>
            <a:r>
              <a:rPr lang="en-US" dirty="0"/>
              <a:t>), count = n())</a:t>
            </a:r>
          </a:p>
        </p:txBody>
      </p:sp>
    </p:spTree>
    <p:extLst>
      <p:ext uri="{BB962C8B-B14F-4D97-AF65-F5344CB8AC3E}">
        <p14:creationId xmlns:p14="http://schemas.microsoft.com/office/powerpoint/2010/main" val="1388796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492CEAE-088D-C66A-2CD0-8D6804B0F9B4}"/>
              </a:ext>
            </a:extLst>
          </p:cNvPr>
          <p:cNvSpPr>
            <a:spLocks noGrp="1"/>
          </p:cNvSpPr>
          <p:nvPr>
            <p:ph idx="1"/>
          </p:nvPr>
        </p:nvSpPr>
        <p:spPr/>
        <p:txBody>
          <a:bodyPr/>
          <a:lstStyle/>
          <a:p>
            <a:r>
              <a:rPr lang="en-US" dirty="0"/>
              <a:t xml:space="preserve">You can use </a:t>
            </a:r>
            <a:r>
              <a:rPr lang="en-US" dirty="0" err="1"/>
              <a:t>group_by</a:t>
            </a:r>
            <a:r>
              <a:rPr lang="en-US" dirty="0"/>
              <a:t xml:space="preserve"> within </a:t>
            </a:r>
            <a:r>
              <a:rPr lang="en-US" dirty="0" err="1"/>
              <a:t>dplyr</a:t>
            </a:r>
            <a:r>
              <a:rPr lang="en-US" dirty="0"/>
              <a:t xml:space="preserve"> to group</a:t>
            </a:r>
          </a:p>
          <a:p>
            <a:r>
              <a:rPr lang="en-US" dirty="0"/>
              <a:t>Summarize to get the mean scores</a:t>
            </a:r>
          </a:p>
        </p:txBody>
      </p:sp>
      <p:sp>
        <p:nvSpPr>
          <p:cNvPr id="8" name="Title 1">
            <a:extLst>
              <a:ext uri="{FF2B5EF4-FFF2-40B4-BE49-F238E27FC236}">
                <a16:creationId xmlns:a16="http://schemas.microsoft.com/office/drawing/2014/main" id="{D6B46B33-03C5-04A6-B124-F5D0797C1905}"/>
              </a:ext>
            </a:extLst>
          </p:cNvPr>
          <p:cNvSpPr>
            <a:spLocks noGrp="1"/>
          </p:cNvSpPr>
          <p:nvPr>
            <p:ph type="title"/>
          </p:nvPr>
        </p:nvSpPr>
        <p:spPr>
          <a:xfrm>
            <a:off x="838200" y="1099100"/>
            <a:ext cx="10515600" cy="1325563"/>
          </a:xfrm>
        </p:spPr>
        <p:txBody>
          <a:bodyPr/>
          <a:lstStyle/>
          <a:p>
            <a:r>
              <a:rPr lang="en-US" dirty="0"/>
              <a:t>Let’s Get Averages By Class - R</a:t>
            </a:r>
          </a:p>
        </p:txBody>
      </p:sp>
      <p:pic>
        <p:nvPicPr>
          <p:cNvPr id="9" name="Content Placeholder 4" descr="A close-up of a math problem  AI-generated content may be incorrect.">
            <a:extLst>
              <a:ext uri="{FF2B5EF4-FFF2-40B4-BE49-F238E27FC236}">
                <a16:creationId xmlns:a16="http://schemas.microsoft.com/office/drawing/2014/main" id="{E714E62E-BC1D-5D0E-F9AE-48A64BB941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10200" y="3852820"/>
            <a:ext cx="6781800" cy="2552700"/>
          </a:xfrm>
          <a:prstGeom prst="rect">
            <a:avLst/>
          </a:prstGeom>
        </p:spPr>
      </p:pic>
      <p:sp>
        <p:nvSpPr>
          <p:cNvPr id="10" name="TextBox 9">
            <a:extLst>
              <a:ext uri="{FF2B5EF4-FFF2-40B4-BE49-F238E27FC236}">
                <a16:creationId xmlns:a16="http://schemas.microsoft.com/office/drawing/2014/main" id="{6570DE49-4CD2-D77E-8D15-CD17D9057566}"/>
              </a:ext>
            </a:extLst>
          </p:cNvPr>
          <p:cNvSpPr txBox="1"/>
          <p:nvPr/>
        </p:nvSpPr>
        <p:spPr>
          <a:xfrm>
            <a:off x="1221581" y="3885638"/>
            <a:ext cx="3350419" cy="1477328"/>
          </a:xfrm>
          <a:prstGeom prst="rect">
            <a:avLst/>
          </a:prstGeom>
          <a:noFill/>
        </p:spPr>
        <p:txBody>
          <a:bodyPr wrap="square">
            <a:spAutoFit/>
          </a:bodyPr>
          <a:lstStyle/>
          <a:p>
            <a:r>
              <a:rPr lang="en-US" dirty="0"/>
              <a:t># Group and Summarize</a:t>
            </a:r>
          </a:p>
          <a:p>
            <a:r>
              <a:rPr lang="en-US" dirty="0" err="1"/>
              <a:t>df</a:t>
            </a:r>
            <a:r>
              <a:rPr lang="en-US" dirty="0"/>
              <a:t xml:space="preserve"> %&gt;% </a:t>
            </a:r>
          </a:p>
          <a:p>
            <a:r>
              <a:rPr lang="en-US" dirty="0"/>
              <a:t xml:space="preserve">  </a:t>
            </a:r>
            <a:r>
              <a:rPr lang="en-US" dirty="0" err="1"/>
              <a:t>group_by</a:t>
            </a:r>
            <a:r>
              <a:rPr lang="en-US" dirty="0"/>
              <a:t xml:space="preserve">(Class) %&gt;% </a:t>
            </a:r>
          </a:p>
          <a:p>
            <a:r>
              <a:rPr lang="en-US" dirty="0"/>
              <a:t xml:space="preserve">  summarize(</a:t>
            </a:r>
            <a:r>
              <a:rPr lang="en-US" dirty="0" err="1"/>
              <a:t>mean_score</a:t>
            </a:r>
            <a:r>
              <a:rPr lang="en-US" dirty="0"/>
              <a:t xml:space="preserve"> = mean(</a:t>
            </a:r>
            <a:r>
              <a:rPr lang="en-US" dirty="0" err="1"/>
              <a:t>Exam_Score</a:t>
            </a:r>
            <a:r>
              <a:rPr lang="en-US" dirty="0"/>
              <a:t>), count = n())</a:t>
            </a:r>
          </a:p>
        </p:txBody>
      </p:sp>
    </p:spTree>
    <p:extLst>
      <p:ext uri="{BB962C8B-B14F-4D97-AF65-F5344CB8AC3E}">
        <p14:creationId xmlns:p14="http://schemas.microsoft.com/office/powerpoint/2010/main" val="1412525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4328-BFC2-2186-3CAB-4E6AAB3B0043}"/>
              </a:ext>
            </a:extLst>
          </p:cNvPr>
          <p:cNvSpPr>
            <a:spLocks noGrp="1"/>
          </p:cNvSpPr>
          <p:nvPr>
            <p:ph type="title"/>
          </p:nvPr>
        </p:nvSpPr>
        <p:spPr/>
        <p:txBody>
          <a:bodyPr/>
          <a:lstStyle/>
          <a:p>
            <a:r>
              <a:rPr lang="en-US" dirty="0"/>
              <a:t>Let’s Get Averages By Class - Python</a:t>
            </a:r>
          </a:p>
        </p:txBody>
      </p:sp>
      <p:sp>
        <p:nvSpPr>
          <p:cNvPr id="5" name="TextBox 4">
            <a:extLst>
              <a:ext uri="{FF2B5EF4-FFF2-40B4-BE49-F238E27FC236}">
                <a16:creationId xmlns:a16="http://schemas.microsoft.com/office/drawing/2014/main" id="{AF5E9DD3-BF22-E1BB-31CA-EB2A5BE72F17}"/>
              </a:ext>
            </a:extLst>
          </p:cNvPr>
          <p:cNvSpPr txBox="1"/>
          <p:nvPr/>
        </p:nvSpPr>
        <p:spPr>
          <a:xfrm>
            <a:off x="650081" y="2604051"/>
            <a:ext cx="6100762" cy="1200329"/>
          </a:xfrm>
          <a:prstGeom prst="rect">
            <a:avLst/>
          </a:prstGeom>
          <a:noFill/>
        </p:spPr>
        <p:txBody>
          <a:bodyPr wrap="square">
            <a:spAutoFit/>
          </a:bodyPr>
          <a:lstStyle/>
          <a:p>
            <a:r>
              <a:rPr lang="en-US" dirty="0"/>
              <a:t># Option 1</a:t>
            </a:r>
          </a:p>
          <a:p>
            <a:r>
              <a:rPr lang="en-US" dirty="0"/>
              <a:t># Group by Class and calculate mean Score</a:t>
            </a:r>
          </a:p>
          <a:p>
            <a:r>
              <a:rPr lang="en-US" dirty="0" err="1"/>
              <a:t>mean_scores</a:t>
            </a:r>
            <a:r>
              <a:rPr lang="en-US" dirty="0"/>
              <a:t xml:space="preserve"> = </a:t>
            </a:r>
            <a:r>
              <a:rPr lang="en-US" dirty="0" err="1"/>
              <a:t>df.groupby</a:t>
            </a:r>
            <a:r>
              <a:rPr lang="en-US" dirty="0"/>
              <a:t>("Class")["Score"].mean()</a:t>
            </a:r>
          </a:p>
          <a:p>
            <a:r>
              <a:rPr lang="en-US" dirty="0"/>
              <a:t>print(</a:t>
            </a:r>
            <a:r>
              <a:rPr lang="en-US" dirty="0" err="1"/>
              <a:t>mean_scores</a:t>
            </a:r>
            <a:r>
              <a:rPr lang="en-US" dirty="0"/>
              <a:t>)</a:t>
            </a:r>
          </a:p>
        </p:txBody>
      </p:sp>
      <p:sp>
        <p:nvSpPr>
          <p:cNvPr id="7" name="TextBox 6">
            <a:extLst>
              <a:ext uri="{FF2B5EF4-FFF2-40B4-BE49-F238E27FC236}">
                <a16:creationId xmlns:a16="http://schemas.microsoft.com/office/drawing/2014/main" id="{4311AC03-7BE4-5B30-8BBA-275E59931A24}"/>
              </a:ext>
            </a:extLst>
          </p:cNvPr>
          <p:cNvSpPr txBox="1"/>
          <p:nvPr/>
        </p:nvSpPr>
        <p:spPr>
          <a:xfrm>
            <a:off x="650081" y="4971961"/>
            <a:ext cx="6100762" cy="1200329"/>
          </a:xfrm>
          <a:prstGeom prst="rect">
            <a:avLst/>
          </a:prstGeom>
          <a:noFill/>
        </p:spPr>
        <p:txBody>
          <a:bodyPr wrap="square">
            <a:spAutoFit/>
          </a:bodyPr>
          <a:lstStyle/>
          <a:p>
            <a:r>
              <a:rPr lang="en-US" dirty="0"/>
              <a:t># Option 2</a:t>
            </a:r>
          </a:p>
          <a:p>
            <a:r>
              <a:rPr lang="en-US" dirty="0"/>
              <a:t xml:space="preserve"># Group by Class and calculate mean Score using </a:t>
            </a:r>
            <a:r>
              <a:rPr lang="en-US" dirty="0" err="1"/>
              <a:t>agg</a:t>
            </a:r>
            <a:r>
              <a:rPr lang="en-US" dirty="0"/>
              <a:t>()</a:t>
            </a:r>
          </a:p>
          <a:p>
            <a:r>
              <a:rPr lang="en-US" dirty="0" err="1"/>
              <a:t>mean_scores</a:t>
            </a:r>
            <a:r>
              <a:rPr lang="en-US" dirty="0"/>
              <a:t xml:space="preserve"> = </a:t>
            </a:r>
            <a:r>
              <a:rPr lang="en-US" dirty="0" err="1"/>
              <a:t>df.groupby</a:t>
            </a:r>
            <a:r>
              <a:rPr lang="en-US" dirty="0"/>
              <a:t>("Class").</a:t>
            </a:r>
            <a:r>
              <a:rPr lang="en-US" dirty="0" err="1"/>
              <a:t>agg</a:t>
            </a:r>
            <a:r>
              <a:rPr lang="en-US" dirty="0"/>
              <a:t>({"Score": "mean"})</a:t>
            </a:r>
          </a:p>
          <a:p>
            <a:r>
              <a:rPr lang="en-US" dirty="0"/>
              <a:t>print(</a:t>
            </a:r>
            <a:r>
              <a:rPr lang="en-US" dirty="0" err="1"/>
              <a:t>mean_scores</a:t>
            </a:r>
            <a:r>
              <a:rPr lang="en-US" dirty="0"/>
              <a:t>)</a:t>
            </a:r>
          </a:p>
        </p:txBody>
      </p:sp>
      <p:pic>
        <p:nvPicPr>
          <p:cNvPr id="9" name="Picture 8" descr="A black text on a white background  AI-generated content may be incorrect.">
            <a:extLst>
              <a:ext uri="{FF2B5EF4-FFF2-40B4-BE49-F238E27FC236}">
                <a16:creationId xmlns:a16="http://schemas.microsoft.com/office/drawing/2014/main" id="{89E5070F-2793-DBF2-E879-C455860CE28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89813" y="2626365"/>
            <a:ext cx="3670300" cy="1155700"/>
          </a:xfrm>
          <a:prstGeom prst="rect">
            <a:avLst/>
          </a:prstGeom>
        </p:spPr>
      </p:pic>
      <p:pic>
        <p:nvPicPr>
          <p:cNvPr id="11" name="Picture 10" descr="A number of numbers on a white background  AI-generated content may be incorrect.">
            <a:extLst>
              <a:ext uri="{FF2B5EF4-FFF2-40B4-BE49-F238E27FC236}">
                <a16:creationId xmlns:a16="http://schemas.microsoft.com/office/drawing/2014/main" id="{22AD7340-3ACA-5E57-1CC7-8A25DFD223F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89813" y="4799013"/>
            <a:ext cx="2489200" cy="1117600"/>
          </a:xfrm>
          <a:prstGeom prst="rect">
            <a:avLst/>
          </a:prstGeom>
        </p:spPr>
      </p:pic>
    </p:spTree>
    <p:extLst>
      <p:ext uri="{BB962C8B-B14F-4D97-AF65-F5344CB8AC3E}">
        <p14:creationId xmlns:p14="http://schemas.microsoft.com/office/powerpoint/2010/main" val="2704451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D9464-1EEE-1758-CE10-70F099EABBC9}"/>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6B89283E-63DE-FED9-4478-26E6E87B1E3B}"/>
              </a:ext>
            </a:extLst>
          </p:cNvPr>
          <p:cNvSpPr>
            <a:spLocks noGrp="1"/>
          </p:cNvSpPr>
          <p:nvPr>
            <p:ph idx="1"/>
          </p:nvPr>
        </p:nvSpPr>
        <p:spPr>
          <a:xfrm>
            <a:off x="838200" y="2424663"/>
            <a:ext cx="10515600" cy="3752299"/>
          </a:xfrm>
        </p:spPr>
        <p:txBody>
          <a:bodyPr>
            <a:normAutofit fontScale="85000" lnSpcReduction="20000"/>
          </a:bodyPr>
          <a:lstStyle/>
          <a:p>
            <a:r>
              <a:rPr lang="en-US" dirty="0"/>
              <a:t xml:space="preserve">Use the </a:t>
            </a:r>
            <a:r>
              <a:rPr lang="en-US" dirty="0" err="1"/>
              <a:t>student_community_service.csv</a:t>
            </a:r>
            <a:r>
              <a:rPr lang="en-US" dirty="0"/>
              <a:t xml:space="preserve"> data</a:t>
            </a:r>
          </a:p>
          <a:p>
            <a:pPr marL="514350" lvl="0" indent="-514350">
              <a:buFont typeface="+mj-lt"/>
              <a:buAutoNum type="arabicPeriod"/>
            </a:pPr>
            <a:r>
              <a:rPr lang="en-US" dirty="0"/>
              <a:t xml:space="preserve">Sort by service hours: </a:t>
            </a:r>
            <a:r>
              <a:rPr lang="en-US" i="1" dirty="0"/>
              <a:t>Which student has the highest hours? Which has the lowest?</a:t>
            </a:r>
            <a:endParaRPr lang="en-US" dirty="0"/>
          </a:p>
          <a:p>
            <a:pPr marL="514350" lvl="0" indent="-514350">
              <a:buFont typeface="+mj-lt"/>
              <a:buAutoNum type="arabicPeriod"/>
            </a:pPr>
            <a:r>
              <a:rPr lang="en-US" dirty="0"/>
              <a:t xml:space="preserve">Filter by grade: </a:t>
            </a:r>
            <a:r>
              <a:rPr lang="en-US" i="1" dirty="0"/>
              <a:t>How many seniors are there in the dataset? What is the range of service hours among seniors?</a:t>
            </a:r>
            <a:endParaRPr lang="en-US" dirty="0"/>
          </a:p>
          <a:p>
            <a:pPr marL="514350" lvl="0" indent="-514350">
              <a:buFont typeface="+mj-lt"/>
              <a:buAutoNum type="arabicPeriod"/>
            </a:pPr>
            <a:r>
              <a:rPr lang="en-US" dirty="0"/>
              <a:t xml:space="preserve">Group by grade and summarize: Calculate the average service hours for each grade (9, 10, 11, 12). </a:t>
            </a:r>
            <a:r>
              <a:rPr lang="en-US" i="1" dirty="0"/>
              <a:t>Which grade level, on average, has done the most community service?</a:t>
            </a:r>
            <a:endParaRPr lang="en-US" dirty="0"/>
          </a:p>
          <a:p>
            <a:pPr marL="514350" lvl="0" indent="-514350">
              <a:buFont typeface="+mj-lt"/>
              <a:buAutoNum type="arabicPeriod"/>
            </a:pPr>
            <a:r>
              <a:rPr lang="en-US" dirty="0"/>
              <a:t>Challenge: Can you find a variable that might explain the pattern you see? Write a hypothesis: “I think [X] is associated with higher service hours because...” How would you test it?</a:t>
            </a:r>
          </a:p>
          <a:p>
            <a:endParaRPr lang="en-US" dirty="0"/>
          </a:p>
        </p:txBody>
      </p:sp>
    </p:spTree>
    <p:extLst>
      <p:ext uri="{BB962C8B-B14F-4D97-AF65-F5344CB8AC3E}">
        <p14:creationId xmlns:p14="http://schemas.microsoft.com/office/powerpoint/2010/main" val="677220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C7C6-FEC9-9A60-CC17-B634583CF0D2}"/>
              </a:ext>
            </a:extLst>
          </p:cNvPr>
          <p:cNvSpPr>
            <a:spLocks noGrp="1"/>
          </p:cNvSpPr>
          <p:nvPr>
            <p:ph type="title"/>
          </p:nvPr>
        </p:nvSpPr>
        <p:spPr/>
        <p:txBody>
          <a:bodyPr/>
          <a:lstStyle/>
          <a:p>
            <a:r>
              <a:rPr lang="en-US" dirty="0"/>
              <a:t>Check your answers</a:t>
            </a:r>
          </a:p>
        </p:txBody>
      </p:sp>
      <p:sp>
        <p:nvSpPr>
          <p:cNvPr id="3" name="Content Placeholder 2">
            <a:extLst>
              <a:ext uri="{FF2B5EF4-FFF2-40B4-BE49-F238E27FC236}">
                <a16:creationId xmlns:a16="http://schemas.microsoft.com/office/drawing/2014/main" id="{168F5388-6295-FD29-58D6-0E81FD890EFD}"/>
              </a:ext>
            </a:extLst>
          </p:cNvPr>
          <p:cNvSpPr>
            <a:spLocks noGrp="1"/>
          </p:cNvSpPr>
          <p:nvPr>
            <p:ph idx="1"/>
          </p:nvPr>
        </p:nvSpPr>
        <p:spPr/>
        <p:txBody>
          <a:bodyPr/>
          <a:lstStyle/>
          <a:p>
            <a:r>
              <a:rPr lang="en-US" dirty="0"/>
              <a:t>Find the example answers for R: Ch8_HandsOnActivitySortingFiltering.R</a:t>
            </a:r>
          </a:p>
          <a:p>
            <a:r>
              <a:rPr lang="en-US" dirty="0"/>
              <a:t>For Python: Ch8_HandsOnActivitySortingFiltering.ipynb</a:t>
            </a:r>
          </a:p>
        </p:txBody>
      </p:sp>
    </p:spTree>
    <p:extLst>
      <p:ext uri="{BB962C8B-B14F-4D97-AF65-F5344CB8AC3E}">
        <p14:creationId xmlns:p14="http://schemas.microsoft.com/office/powerpoint/2010/main" val="2634837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2139A-DD14-A2B9-6346-04C0F8EC7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8374D-C4CE-3DE4-758E-09425C966798}"/>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D7EF2C3A-6AEC-0399-38EE-D21EDFB0B560}"/>
              </a:ext>
            </a:extLst>
          </p:cNvPr>
          <p:cNvSpPr>
            <a:spLocks noGrp="1"/>
          </p:cNvSpPr>
          <p:nvPr>
            <p:ph type="subTitle" idx="1"/>
          </p:nvPr>
        </p:nvSpPr>
        <p:spPr>
          <a:xfrm>
            <a:off x="1524000" y="4231758"/>
            <a:ext cx="9144000" cy="1026042"/>
          </a:xfrm>
        </p:spPr>
        <p:txBody>
          <a:bodyPr/>
          <a:lstStyle/>
          <a:p>
            <a:r>
              <a:rPr lang="en-US" dirty="0"/>
              <a:t>Univariate Exploration: Looking at One Variable at a Time</a:t>
            </a:r>
          </a:p>
        </p:txBody>
      </p:sp>
    </p:spTree>
    <p:extLst>
      <p:ext uri="{BB962C8B-B14F-4D97-AF65-F5344CB8AC3E}">
        <p14:creationId xmlns:p14="http://schemas.microsoft.com/office/powerpoint/2010/main" val="3330428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6E70-51AF-F0C4-7594-68A625415A1D}"/>
              </a:ext>
            </a:extLst>
          </p:cNvPr>
          <p:cNvSpPr>
            <a:spLocks noGrp="1"/>
          </p:cNvSpPr>
          <p:nvPr>
            <p:ph type="title"/>
          </p:nvPr>
        </p:nvSpPr>
        <p:spPr>
          <a:xfrm>
            <a:off x="4557712" y="1099100"/>
            <a:ext cx="6796087" cy="1325563"/>
          </a:xfrm>
        </p:spPr>
        <p:txBody>
          <a:bodyPr>
            <a:normAutofit/>
          </a:bodyPr>
          <a:lstStyle/>
          <a:p>
            <a:r>
              <a:rPr lang="en-US" dirty="0"/>
              <a:t>Univariate Analysis: One Variable at a Time</a:t>
            </a:r>
          </a:p>
        </p:txBody>
      </p:sp>
      <p:pic>
        <p:nvPicPr>
          <p:cNvPr id="4" name="Image 0" descr="preencoded.png">
            <a:extLst>
              <a:ext uri="{FF2B5EF4-FFF2-40B4-BE49-F238E27FC236}">
                <a16:creationId xmlns:a16="http://schemas.microsoft.com/office/drawing/2014/main" id="{8B0CD44C-26AD-F69A-94E7-BB86CB731E6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7175" y="340519"/>
            <a:ext cx="4117974" cy="6176961"/>
          </a:xfrm>
          <a:prstGeom prst="rect">
            <a:avLst/>
          </a:prstGeom>
        </p:spPr>
      </p:pic>
      <p:pic>
        <p:nvPicPr>
          <p:cNvPr id="5" name="Image 1" descr="preencoded.png">
            <a:extLst>
              <a:ext uri="{FF2B5EF4-FFF2-40B4-BE49-F238E27FC236}">
                <a16:creationId xmlns:a16="http://schemas.microsoft.com/office/drawing/2014/main" id="{9D588240-9532-DDA1-B30A-FCADDFB96D37}"/>
              </a:ext>
            </a:extLst>
          </p:cNvPr>
          <p:cNvPicPr>
            <a:picLocks noChangeAspect="1"/>
          </p:cNvPicPr>
          <p:nvPr/>
        </p:nvPicPr>
        <p:blipFill>
          <a:blip r:embed="rId3"/>
          <a:stretch>
            <a:fillRect/>
          </a:stretch>
        </p:blipFill>
        <p:spPr>
          <a:xfrm>
            <a:off x="4867473" y="2703115"/>
            <a:ext cx="945058" cy="1134070"/>
          </a:xfrm>
          <a:prstGeom prst="rect">
            <a:avLst/>
          </a:prstGeom>
        </p:spPr>
      </p:pic>
      <p:sp>
        <p:nvSpPr>
          <p:cNvPr id="6" name="Text 1">
            <a:extLst>
              <a:ext uri="{FF2B5EF4-FFF2-40B4-BE49-F238E27FC236}">
                <a16:creationId xmlns:a16="http://schemas.microsoft.com/office/drawing/2014/main" id="{BD0DC9CC-625D-4A77-B7DC-1C7B2D1B6BB5}"/>
              </a:ext>
            </a:extLst>
          </p:cNvPr>
          <p:cNvSpPr/>
          <p:nvPr/>
        </p:nvSpPr>
        <p:spPr>
          <a:xfrm>
            <a:off x="6096000" y="2892127"/>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Examine One Clue</a:t>
            </a:r>
            <a:endParaRPr lang="en-US" sz="2800" dirty="0">
              <a:latin typeface="Aptos" panose="020B0004020202020204" pitchFamily="34" charset="0"/>
            </a:endParaRPr>
          </a:p>
        </p:txBody>
      </p:sp>
      <p:sp>
        <p:nvSpPr>
          <p:cNvPr id="7" name="Text 2">
            <a:extLst>
              <a:ext uri="{FF2B5EF4-FFF2-40B4-BE49-F238E27FC236}">
                <a16:creationId xmlns:a16="http://schemas.microsoft.com/office/drawing/2014/main" id="{0CDAAE43-FA91-4CE3-9693-DFCFCCBB36E4}"/>
              </a:ext>
            </a:extLst>
          </p:cNvPr>
          <p:cNvSpPr/>
          <p:nvPr/>
        </p:nvSpPr>
        <p:spPr>
          <a:xfrm>
            <a:off x="6096000" y="3300809"/>
            <a:ext cx="5068491"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Look at one variable in isolation</a:t>
            </a:r>
            <a:endParaRPr lang="en-US" sz="2000" dirty="0">
              <a:latin typeface="Aptos" panose="020B0004020202020204" pitchFamily="34" charset="0"/>
            </a:endParaRPr>
          </a:p>
        </p:txBody>
      </p:sp>
      <p:pic>
        <p:nvPicPr>
          <p:cNvPr id="8" name="Image 2" descr="preencoded.png">
            <a:extLst>
              <a:ext uri="{FF2B5EF4-FFF2-40B4-BE49-F238E27FC236}">
                <a16:creationId xmlns:a16="http://schemas.microsoft.com/office/drawing/2014/main" id="{550FAB7D-E29D-08E7-391C-D3B38CE69DD4}"/>
              </a:ext>
            </a:extLst>
          </p:cNvPr>
          <p:cNvPicPr>
            <a:picLocks noChangeAspect="1"/>
          </p:cNvPicPr>
          <p:nvPr/>
        </p:nvPicPr>
        <p:blipFill>
          <a:blip r:embed="rId4"/>
          <a:stretch>
            <a:fillRect/>
          </a:stretch>
        </p:blipFill>
        <p:spPr>
          <a:xfrm>
            <a:off x="4867473" y="3837185"/>
            <a:ext cx="945058" cy="1134070"/>
          </a:xfrm>
          <a:prstGeom prst="rect">
            <a:avLst/>
          </a:prstGeom>
        </p:spPr>
      </p:pic>
      <p:sp>
        <p:nvSpPr>
          <p:cNvPr id="9" name="Text 3">
            <a:extLst>
              <a:ext uri="{FF2B5EF4-FFF2-40B4-BE49-F238E27FC236}">
                <a16:creationId xmlns:a16="http://schemas.microsoft.com/office/drawing/2014/main" id="{D5F494E9-600F-3351-CF82-89D9267052F7}"/>
              </a:ext>
            </a:extLst>
          </p:cNvPr>
          <p:cNvSpPr/>
          <p:nvPr/>
        </p:nvSpPr>
        <p:spPr>
          <a:xfrm>
            <a:off x="6096000" y="4026197"/>
            <a:ext cx="2680494"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Understand Distribution</a:t>
            </a:r>
            <a:endParaRPr lang="en-US" sz="2800" dirty="0">
              <a:latin typeface="Aptos" panose="020B0004020202020204" pitchFamily="34" charset="0"/>
            </a:endParaRPr>
          </a:p>
        </p:txBody>
      </p:sp>
      <p:sp>
        <p:nvSpPr>
          <p:cNvPr id="10" name="Text 4">
            <a:extLst>
              <a:ext uri="{FF2B5EF4-FFF2-40B4-BE49-F238E27FC236}">
                <a16:creationId xmlns:a16="http://schemas.microsoft.com/office/drawing/2014/main" id="{F7463945-B691-0EF4-9BF8-847FCA0BEAB6}"/>
              </a:ext>
            </a:extLst>
          </p:cNvPr>
          <p:cNvSpPr/>
          <p:nvPr/>
        </p:nvSpPr>
        <p:spPr>
          <a:xfrm>
            <a:off x="6096000" y="4434880"/>
            <a:ext cx="5068491"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See how values are spread out</a:t>
            </a:r>
            <a:endParaRPr lang="en-US" sz="2000" dirty="0">
              <a:latin typeface="Aptos" panose="020B0004020202020204" pitchFamily="34" charset="0"/>
            </a:endParaRPr>
          </a:p>
        </p:txBody>
      </p:sp>
      <p:pic>
        <p:nvPicPr>
          <p:cNvPr id="11" name="Image 3" descr="preencoded.png">
            <a:extLst>
              <a:ext uri="{FF2B5EF4-FFF2-40B4-BE49-F238E27FC236}">
                <a16:creationId xmlns:a16="http://schemas.microsoft.com/office/drawing/2014/main" id="{A99E8E1A-6D1C-0F9B-D183-2C494D24E22F}"/>
              </a:ext>
            </a:extLst>
          </p:cNvPr>
          <p:cNvPicPr>
            <a:picLocks noChangeAspect="1"/>
          </p:cNvPicPr>
          <p:nvPr/>
        </p:nvPicPr>
        <p:blipFill>
          <a:blip r:embed="rId5"/>
          <a:stretch>
            <a:fillRect/>
          </a:stretch>
        </p:blipFill>
        <p:spPr>
          <a:xfrm>
            <a:off x="4867473" y="4971255"/>
            <a:ext cx="945058" cy="1134070"/>
          </a:xfrm>
          <a:prstGeom prst="rect">
            <a:avLst/>
          </a:prstGeom>
        </p:spPr>
      </p:pic>
      <p:sp>
        <p:nvSpPr>
          <p:cNvPr id="12" name="Text 5">
            <a:extLst>
              <a:ext uri="{FF2B5EF4-FFF2-40B4-BE49-F238E27FC236}">
                <a16:creationId xmlns:a16="http://schemas.microsoft.com/office/drawing/2014/main" id="{C3D9EDA1-794F-E7E9-55A7-47162D250B54}"/>
              </a:ext>
            </a:extLst>
          </p:cNvPr>
          <p:cNvSpPr/>
          <p:nvPr/>
        </p:nvSpPr>
        <p:spPr>
          <a:xfrm>
            <a:off x="6096000" y="5160268"/>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Calculate Statistics</a:t>
            </a:r>
            <a:endParaRPr lang="en-US" sz="2800" dirty="0">
              <a:latin typeface="Aptos" panose="020B0004020202020204" pitchFamily="34" charset="0"/>
            </a:endParaRPr>
          </a:p>
        </p:txBody>
      </p:sp>
      <p:sp>
        <p:nvSpPr>
          <p:cNvPr id="13" name="Text 6">
            <a:extLst>
              <a:ext uri="{FF2B5EF4-FFF2-40B4-BE49-F238E27FC236}">
                <a16:creationId xmlns:a16="http://schemas.microsoft.com/office/drawing/2014/main" id="{F74F9431-7430-937C-48AB-DB802501FF0E}"/>
              </a:ext>
            </a:extLst>
          </p:cNvPr>
          <p:cNvSpPr/>
          <p:nvPr/>
        </p:nvSpPr>
        <p:spPr>
          <a:xfrm>
            <a:off x="6096000" y="5568950"/>
            <a:ext cx="5068491"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Find center, spread, shape, outliers</a:t>
            </a:r>
            <a:endParaRPr lang="en-US" sz="2000" dirty="0">
              <a:latin typeface="Aptos" panose="020B0004020202020204" pitchFamily="34" charset="0"/>
            </a:endParaRPr>
          </a:p>
        </p:txBody>
      </p:sp>
    </p:spTree>
    <p:extLst>
      <p:ext uri="{BB962C8B-B14F-4D97-AF65-F5344CB8AC3E}">
        <p14:creationId xmlns:p14="http://schemas.microsoft.com/office/powerpoint/2010/main" val="1781683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56D8-51A0-E519-0034-559CDE965617}"/>
              </a:ext>
            </a:extLst>
          </p:cNvPr>
          <p:cNvSpPr>
            <a:spLocks noGrp="1"/>
          </p:cNvSpPr>
          <p:nvPr>
            <p:ph type="title"/>
          </p:nvPr>
        </p:nvSpPr>
        <p:spPr>
          <a:xfrm>
            <a:off x="4471988" y="531117"/>
            <a:ext cx="6767512" cy="1325563"/>
          </a:xfrm>
        </p:spPr>
        <p:txBody>
          <a:bodyPr>
            <a:normAutofit/>
          </a:bodyPr>
          <a:lstStyle/>
          <a:p>
            <a:r>
              <a:rPr lang="en-US" dirty="0"/>
              <a:t>Key Questions for One Variable</a:t>
            </a:r>
          </a:p>
        </p:txBody>
      </p:sp>
      <p:pic>
        <p:nvPicPr>
          <p:cNvPr id="4" name="Image 0" descr="preencoded.png">
            <a:extLst>
              <a:ext uri="{FF2B5EF4-FFF2-40B4-BE49-F238E27FC236}">
                <a16:creationId xmlns:a16="http://schemas.microsoft.com/office/drawing/2014/main" id="{A1AEC6A9-CBC9-9DD0-DA98-5F3D1993F2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4755" y="492225"/>
            <a:ext cx="3788619" cy="5684737"/>
          </a:xfrm>
          <a:prstGeom prst="rect">
            <a:avLst/>
          </a:prstGeom>
        </p:spPr>
      </p:pic>
      <p:sp>
        <p:nvSpPr>
          <p:cNvPr id="5" name="Shape 1">
            <a:extLst>
              <a:ext uri="{FF2B5EF4-FFF2-40B4-BE49-F238E27FC236}">
                <a16:creationId xmlns:a16="http://schemas.microsoft.com/office/drawing/2014/main" id="{4B9A655C-3BC9-A2D1-9D3C-EBCA789282D9}"/>
              </a:ext>
            </a:extLst>
          </p:cNvPr>
          <p:cNvSpPr/>
          <p:nvPr/>
        </p:nvSpPr>
        <p:spPr>
          <a:xfrm>
            <a:off x="5216227" y="2056905"/>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6" name="Image 1" descr="preencoded.png">
            <a:extLst>
              <a:ext uri="{FF2B5EF4-FFF2-40B4-BE49-F238E27FC236}">
                <a16:creationId xmlns:a16="http://schemas.microsoft.com/office/drawing/2014/main" id="{C2A04C93-C56C-A0D0-3A97-24FFEBC39F6E}"/>
              </a:ext>
            </a:extLst>
          </p:cNvPr>
          <p:cNvPicPr>
            <a:picLocks noChangeAspect="1"/>
          </p:cNvPicPr>
          <p:nvPr/>
        </p:nvPicPr>
        <p:blipFill>
          <a:blip r:embed="rId3"/>
          <a:stretch>
            <a:fillRect/>
          </a:stretch>
        </p:blipFill>
        <p:spPr>
          <a:xfrm>
            <a:off x="5285282" y="2091433"/>
            <a:ext cx="276027" cy="345083"/>
          </a:xfrm>
          <a:prstGeom prst="rect">
            <a:avLst/>
          </a:prstGeom>
        </p:spPr>
      </p:pic>
      <p:sp>
        <p:nvSpPr>
          <p:cNvPr id="7" name="Text 2">
            <a:extLst>
              <a:ext uri="{FF2B5EF4-FFF2-40B4-BE49-F238E27FC236}">
                <a16:creationId xmlns:a16="http://schemas.microsoft.com/office/drawing/2014/main" id="{65C25CDB-A188-806A-EEE9-B8B30FC06E35}"/>
              </a:ext>
            </a:extLst>
          </p:cNvPr>
          <p:cNvSpPr/>
          <p:nvPr/>
        </p:nvSpPr>
        <p:spPr>
          <a:xfrm>
            <a:off x="5814417" y="2120107"/>
            <a:ext cx="3337223"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What values are most common?</a:t>
            </a:r>
            <a:endParaRPr lang="en-US" sz="2400" dirty="0">
              <a:latin typeface="Aptos" panose="020B0004020202020204" pitchFamily="34" charset="0"/>
            </a:endParaRPr>
          </a:p>
        </p:txBody>
      </p:sp>
      <p:sp>
        <p:nvSpPr>
          <p:cNvPr id="8" name="Text 3">
            <a:extLst>
              <a:ext uri="{FF2B5EF4-FFF2-40B4-BE49-F238E27FC236}">
                <a16:creationId xmlns:a16="http://schemas.microsoft.com/office/drawing/2014/main" id="{2DADBE39-81B9-F15A-00E7-47D6719A360A}"/>
              </a:ext>
            </a:extLst>
          </p:cNvPr>
          <p:cNvSpPr/>
          <p:nvPr/>
        </p:nvSpPr>
        <p:spPr>
          <a:xfrm>
            <a:off x="5814417" y="2518074"/>
            <a:ext cx="5733356" cy="588963"/>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Which categories appear most often? Where do most numeric values fall?</a:t>
            </a:r>
            <a:endParaRPr lang="en-US" sz="2000" dirty="0">
              <a:latin typeface="Aptos" panose="020B0004020202020204" pitchFamily="34" charset="0"/>
            </a:endParaRPr>
          </a:p>
        </p:txBody>
      </p:sp>
      <p:sp>
        <p:nvSpPr>
          <p:cNvPr id="9" name="Shape 4">
            <a:extLst>
              <a:ext uri="{FF2B5EF4-FFF2-40B4-BE49-F238E27FC236}">
                <a16:creationId xmlns:a16="http://schemas.microsoft.com/office/drawing/2014/main" id="{0F106F7D-F599-A0E5-0E12-FEF4AD1A2A72}"/>
              </a:ext>
            </a:extLst>
          </p:cNvPr>
          <p:cNvSpPr/>
          <p:nvPr/>
        </p:nvSpPr>
        <p:spPr>
          <a:xfrm>
            <a:off x="5216228" y="3350816"/>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0" name="Image 2" descr="preencoded.png">
            <a:extLst>
              <a:ext uri="{FF2B5EF4-FFF2-40B4-BE49-F238E27FC236}">
                <a16:creationId xmlns:a16="http://schemas.microsoft.com/office/drawing/2014/main" id="{CB3141CB-671F-5C0A-1550-4AB0BC49AFC1}"/>
              </a:ext>
            </a:extLst>
          </p:cNvPr>
          <p:cNvPicPr>
            <a:picLocks noChangeAspect="1"/>
          </p:cNvPicPr>
          <p:nvPr/>
        </p:nvPicPr>
        <p:blipFill>
          <a:blip r:embed="rId4"/>
          <a:stretch>
            <a:fillRect/>
          </a:stretch>
        </p:blipFill>
        <p:spPr>
          <a:xfrm>
            <a:off x="5285283" y="3385344"/>
            <a:ext cx="276027" cy="345083"/>
          </a:xfrm>
          <a:prstGeom prst="rect">
            <a:avLst/>
          </a:prstGeom>
        </p:spPr>
      </p:pic>
      <p:sp>
        <p:nvSpPr>
          <p:cNvPr id="11" name="Text 5">
            <a:extLst>
              <a:ext uri="{FF2B5EF4-FFF2-40B4-BE49-F238E27FC236}">
                <a16:creationId xmlns:a16="http://schemas.microsoft.com/office/drawing/2014/main" id="{2BB63F83-8FA7-11FB-9AE5-D04DD3349D03}"/>
              </a:ext>
            </a:extLst>
          </p:cNvPr>
          <p:cNvSpPr/>
          <p:nvPr/>
        </p:nvSpPr>
        <p:spPr>
          <a:xfrm>
            <a:off x="5814417" y="3414019"/>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Where is the center?</a:t>
            </a:r>
            <a:endParaRPr lang="en-US" sz="2400" dirty="0">
              <a:latin typeface="Aptos" panose="020B0004020202020204" pitchFamily="34" charset="0"/>
            </a:endParaRPr>
          </a:p>
        </p:txBody>
      </p:sp>
      <p:sp>
        <p:nvSpPr>
          <p:cNvPr id="12" name="Text 6">
            <a:extLst>
              <a:ext uri="{FF2B5EF4-FFF2-40B4-BE49-F238E27FC236}">
                <a16:creationId xmlns:a16="http://schemas.microsoft.com/office/drawing/2014/main" id="{B6B7AE91-8CD4-0DD5-EE9A-50517A3D178A}"/>
              </a:ext>
            </a:extLst>
          </p:cNvPr>
          <p:cNvSpPr/>
          <p:nvPr/>
        </p:nvSpPr>
        <p:spPr>
          <a:xfrm>
            <a:off x="5814418" y="3811984"/>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What's the average or median value? What's typical?</a:t>
            </a:r>
            <a:endParaRPr lang="en-US" sz="2000" dirty="0">
              <a:latin typeface="Aptos" panose="020B0004020202020204" pitchFamily="34" charset="0"/>
            </a:endParaRPr>
          </a:p>
        </p:txBody>
      </p:sp>
      <p:sp>
        <p:nvSpPr>
          <p:cNvPr id="13" name="Shape 7">
            <a:extLst>
              <a:ext uri="{FF2B5EF4-FFF2-40B4-BE49-F238E27FC236}">
                <a16:creationId xmlns:a16="http://schemas.microsoft.com/office/drawing/2014/main" id="{FA7F73D4-774C-DB70-2AF3-8ABA5EE653AA}"/>
              </a:ext>
            </a:extLst>
          </p:cNvPr>
          <p:cNvSpPr/>
          <p:nvPr/>
        </p:nvSpPr>
        <p:spPr>
          <a:xfrm>
            <a:off x="5216228" y="4474568"/>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4" name="Image 3" descr="preencoded.png">
            <a:extLst>
              <a:ext uri="{FF2B5EF4-FFF2-40B4-BE49-F238E27FC236}">
                <a16:creationId xmlns:a16="http://schemas.microsoft.com/office/drawing/2014/main" id="{E6E4F1C2-9CE1-D3D2-1F61-FBE5ABA48E95}"/>
              </a:ext>
            </a:extLst>
          </p:cNvPr>
          <p:cNvPicPr>
            <a:picLocks noChangeAspect="1"/>
          </p:cNvPicPr>
          <p:nvPr/>
        </p:nvPicPr>
        <p:blipFill>
          <a:blip r:embed="rId5"/>
          <a:stretch>
            <a:fillRect/>
          </a:stretch>
        </p:blipFill>
        <p:spPr>
          <a:xfrm>
            <a:off x="5285283" y="4509095"/>
            <a:ext cx="276027" cy="345083"/>
          </a:xfrm>
          <a:prstGeom prst="rect">
            <a:avLst/>
          </a:prstGeom>
        </p:spPr>
      </p:pic>
      <p:sp>
        <p:nvSpPr>
          <p:cNvPr id="15" name="Text 8">
            <a:extLst>
              <a:ext uri="{FF2B5EF4-FFF2-40B4-BE49-F238E27FC236}">
                <a16:creationId xmlns:a16="http://schemas.microsoft.com/office/drawing/2014/main" id="{D848BD37-62E9-FAE4-6D09-4EF95577301A}"/>
              </a:ext>
            </a:extLst>
          </p:cNvPr>
          <p:cNvSpPr/>
          <p:nvPr/>
        </p:nvSpPr>
        <p:spPr>
          <a:xfrm>
            <a:off x="5814417" y="4537770"/>
            <a:ext cx="2901157"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How spread out is the data?</a:t>
            </a:r>
            <a:endParaRPr lang="en-US" sz="2400" dirty="0">
              <a:latin typeface="Aptos" panose="020B0004020202020204" pitchFamily="34" charset="0"/>
            </a:endParaRPr>
          </a:p>
        </p:txBody>
      </p:sp>
      <p:sp>
        <p:nvSpPr>
          <p:cNvPr id="16" name="Text 9">
            <a:extLst>
              <a:ext uri="{FF2B5EF4-FFF2-40B4-BE49-F238E27FC236}">
                <a16:creationId xmlns:a16="http://schemas.microsoft.com/office/drawing/2014/main" id="{CBC095B9-744B-AECC-4E95-033D6DDBF993}"/>
              </a:ext>
            </a:extLst>
          </p:cNvPr>
          <p:cNvSpPr/>
          <p:nvPr/>
        </p:nvSpPr>
        <p:spPr>
          <a:xfrm>
            <a:off x="5814418" y="4935736"/>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Are values clustered together or widely scattered?</a:t>
            </a:r>
            <a:endParaRPr lang="en-US" sz="2000" dirty="0">
              <a:latin typeface="Aptos" panose="020B0004020202020204" pitchFamily="34" charset="0"/>
            </a:endParaRPr>
          </a:p>
        </p:txBody>
      </p:sp>
      <p:sp>
        <p:nvSpPr>
          <p:cNvPr id="17" name="Shape 10">
            <a:extLst>
              <a:ext uri="{FF2B5EF4-FFF2-40B4-BE49-F238E27FC236}">
                <a16:creationId xmlns:a16="http://schemas.microsoft.com/office/drawing/2014/main" id="{E6BC949B-4BA3-35B1-A38C-65DF6EB13B3C}"/>
              </a:ext>
            </a:extLst>
          </p:cNvPr>
          <p:cNvSpPr/>
          <p:nvPr/>
        </p:nvSpPr>
        <p:spPr>
          <a:xfrm>
            <a:off x="5216228" y="5598319"/>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8" name="Text 11">
            <a:extLst>
              <a:ext uri="{FF2B5EF4-FFF2-40B4-BE49-F238E27FC236}">
                <a16:creationId xmlns:a16="http://schemas.microsoft.com/office/drawing/2014/main" id="{896B58C0-2B54-F206-9F15-F137EADF0A99}"/>
              </a:ext>
            </a:extLst>
          </p:cNvPr>
          <p:cNvSpPr/>
          <p:nvPr/>
        </p:nvSpPr>
        <p:spPr>
          <a:xfrm>
            <a:off x="5814417" y="5661521"/>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Any unusual values?</a:t>
            </a:r>
            <a:endParaRPr lang="en-US" sz="2400" dirty="0">
              <a:latin typeface="Aptos" panose="020B0004020202020204" pitchFamily="34" charset="0"/>
            </a:endParaRPr>
          </a:p>
        </p:txBody>
      </p:sp>
      <p:sp>
        <p:nvSpPr>
          <p:cNvPr id="19" name="Text 12">
            <a:extLst>
              <a:ext uri="{FF2B5EF4-FFF2-40B4-BE49-F238E27FC236}">
                <a16:creationId xmlns:a16="http://schemas.microsoft.com/office/drawing/2014/main" id="{4072C2C1-F4B8-B591-3E42-930D1BC1B341}"/>
              </a:ext>
            </a:extLst>
          </p:cNvPr>
          <p:cNvSpPr/>
          <p:nvPr/>
        </p:nvSpPr>
        <p:spPr>
          <a:xfrm>
            <a:off x="5814418" y="6059487"/>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Are there outliers that stand far from the rest?</a:t>
            </a:r>
            <a:endParaRPr lang="en-US" sz="2000" dirty="0">
              <a:latin typeface="Aptos" panose="020B0004020202020204" pitchFamily="34" charset="0"/>
            </a:endParaRPr>
          </a:p>
        </p:txBody>
      </p:sp>
    </p:spTree>
    <p:extLst>
      <p:ext uri="{BB962C8B-B14F-4D97-AF65-F5344CB8AC3E}">
        <p14:creationId xmlns:p14="http://schemas.microsoft.com/office/powerpoint/2010/main" val="183708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373F-3135-1BF3-1AB3-B0CF3F3DFA8F}"/>
              </a:ext>
            </a:extLst>
          </p:cNvPr>
          <p:cNvSpPr>
            <a:spLocks noGrp="1"/>
          </p:cNvSpPr>
          <p:nvPr>
            <p:ph type="title"/>
          </p:nvPr>
        </p:nvSpPr>
        <p:spPr/>
        <p:txBody>
          <a:bodyPr/>
          <a:lstStyle/>
          <a:p>
            <a:r>
              <a:rPr lang="en-US" dirty="0"/>
              <a:t>Categorical vs. Numerical Variables</a:t>
            </a:r>
          </a:p>
        </p:txBody>
      </p:sp>
      <p:graphicFrame>
        <p:nvGraphicFramePr>
          <p:cNvPr id="4" name="Content Placeholder 3">
            <a:extLst>
              <a:ext uri="{FF2B5EF4-FFF2-40B4-BE49-F238E27FC236}">
                <a16:creationId xmlns:a16="http://schemas.microsoft.com/office/drawing/2014/main" id="{07AAC5AE-0967-2380-A801-8C20EB278A14}"/>
              </a:ext>
            </a:extLst>
          </p:cNvPr>
          <p:cNvGraphicFramePr>
            <a:graphicFrameLocks noGrp="1"/>
          </p:cNvGraphicFramePr>
          <p:nvPr>
            <p:ph idx="1"/>
            <p:extLst>
              <p:ext uri="{D42A27DB-BD31-4B8C-83A1-F6EECF244321}">
                <p14:modId xmlns:p14="http://schemas.microsoft.com/office/powerpoint/2010/main" val="2097164565"/>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7478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26111-DA06-06CE-9993-E3EE51BA1AE0}"/>
              </a:ext>
            </a:extLst>
          </p:cNvPr>
          <p:cNvSpPr>
            <a:spLocks noGrp="1"/>
          </p:cNvSpPr>
          <p:nvPr>
            <p:ph type="title"/>
          </p:nvPr>
        </p:nvSpPr>
        <p:spPr/>
        <p:txBody>
          <a:bodyPr/>
          <a:lstStyle/>
          <a:p>
            <a:r>
              <a:rPr lang="en-US" dirty="0"/>
              <a:t>Exploring Categorical Data</a:t>
            </a:r>
          </a:p>
        </p:txBody>
      </p:sp>
      <p:graphicFrame>
        <p:nvGraphicFramePr>
          <p:cNvPr id="4" name="Content Placeholder 3">
            <a:extLst>
              <a:ext uri="{FF2B5EF4-FFF2-40B4-BE49-F238E27FC236}">
                <a16:creationId xmlns:a16="http://schemas.microsoft.com/office/drawing/2014/main" id="{81DF5F68-72FD-573D-4E52-47CC5DF733A2}"/>
              </a:ext>
            </a:extLst>
          </p:cNvPr>
          <p:cNvGraphicFramePr>
            <a:graphicFrameLocks noGrp="1"/>
          </p:cNvGraphicFramePr>
          <p:nvPr>
            <p:ph idx="1"/>
            <p:extLst>
              <p:ext uri="{D42A27DB-BD31-4B8C-83A1-F6EECF244321}">
                <p14:modId xmlns:p14="http://schemas.microsoft.com/office/powerpoint/2010/main" val="4016913392"/>
              </p:ext>
            </p:extLst>
          </p:nvPr>
        </p:nvGraphicFramePr>
        <p:xfrm>
          <a:off x="838200" y="2603500"/>
          <a:ext cx="10515600" cy="4125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7366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BD00D-3D70-F184-FB4E-B621623272B9}"/>
              </a:ext>
            </a:extLst>
          </p:cNvPr>
          <p:cNvSpPr>
            <a:spLocks noGrp="1"/>
          </p:cNvSpPr>
          <p:nvPr>
            <p:ph type="title"/>
          </p:nvPr>
        </p:nvSpPr>
        <p:spPr/>
        <p:txBody>
          <a:bodyPr/>
          <a:lstStyle/>
          <a:p>
            <a:r>
              <a:rPr lang="en-US" dirty="0"/>
              <a:t>Example</a:t>
            </a:r>
          </a:p>
        </p:txBody>
      </p:sp>
      <p:pic>
        <p:nvPicPr>
          <p:cNvPr id="5" name="Content Placeholder 4" descr="A graph of different types of music  AI-generated content may be incorrect.">
            <a:extLst>
              <a:ext uri="{FF2B5EF4-FFF2-40B4-BE49-F238E27FC236}">
                <a16:creationId xmlns:a16="http://schemas.microsoft.com/office/drawing/2014/main" id="{A0BD4C81-B98B-33BA-E861-ACB0506F7FD9}"/>
              </a:ext>
            </a:extLst>
          </p:cNvPr>
          <p:cNvPicPr>
            <a:picLocks noGrp="1" noChangeAspect="1"/>
          </p:cNvPicPr>
          <p:nvPr>
            <p:ph idx="1"/>
          </p:nvPr>
        </p:nvPicPr>
        <p:blipFill>
          <a:blip r:embed="rId2">
            <a:extLst>
              <a:ext uri="{28A0092B-C50C-407E-A947-70E740481C1C}">
                <a14:useLocalDpi xmlns:a14="http://schemas.microsoft.com/office/drawing/2010/main"/>
              </a:ext>
            </a:extLst>
          </a:blip>
          <a:srcRect/>
          <a:stretch>
            <a:fillRect/>
          </a:stretch>
        </p:blipFill>
        <p:spPr bwMode="auto">
          <a:xfrm>
            <a:off x="5408930" y="2646606"/>
            <a:ext cx="5717540" cy="3573463"/>
          </a:xfrm>
          <a:prstGeom prst="rect">
            <a:avLst/>
          </a:prstGeom>
          <a:noFill/>
          <a:ln>
            <a:noFill/>
          </a:ln>
        </p:spPr>
      </p:pic>
      <p:sp>
        <p:nvSpPr>
          <p:cNvPr id="8" name="TextBox 7">
            <a:extLst>
              <a:ext uri="{FF2B5EF4-FFF2-40B4-BE49-F238E27FC236}">
                <a16:creationId xmlns:a16="http://schemas.microsoft.com/office/drawing/2014/main" id="{846DA509-E49F-CE12-538E-EEF0E3EFDA22}"/>
              </a:ext>
            </a:extLst>
          </p:cNvPr>
          <p:cNvSpPr txBox="1"/>
          <p:nvPr/>
        </p:nvSpPr>
        <p:spPr>
          <a:xfrm>
            <a:off x="838200" y="2886075"/>
            <a:ext cx="430530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Supposed we surveyed 30 students on their favorite type of music.</a:t>
            </a:r>
          </a:p>
          <a:p>
            <a:pPr marL="342900" indent="-342900">
              <a:buFont typeface="Arial" panose="020B0604020202020204" pitchFamily="34" charset="0"/>
              <a:buChar char="•"/>
            </a:pPr>
            <a:r>
              <a:rPr lang="en-US" sz="2400" dirty="0"/>
              <a:t>With this plot we can see Pop is the most popular genre in this sample, and Classical the least.</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988083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BC962-8B34-45F9-4980-7E084F4EF6ED}"/>
              </a:ext>
            </a:extLst>
          </p:cNvPr>
          <p:cNvSpPr>
            <a:spLocks noGrp="1"/>
          </p:cNvSpPr>
          <p:nvPr>
            <p:ph type="title"/>
          </p:nvPr>
        </p:nvSpPr>
        <p:spPr>
          <a:xfrm>
            <a:off x="838200" y="769638"/>
            <a:ext cx="10515600" cy="1325563"/>
          </a:xfrm>
        </p:spPr>
        <p:txBody>
          <a:bodyPr>
            <a:normAutofit/>
          </a:bodyPr>
          <a:lstStyle/>
          <a:p>
            <a:r>
              <a:rPr lang="en-US" dirty="0"/>
              <a:t>Exploring Numerical Data: Summary Statistics</a:t>
            </a:r>
          </a:p>
        </p:txBody>
      </p:sp>
      <p:pic>
        <p:nvPicPr>
          <p:cNvPr id="4" name="Image 0" descr="preencoded.png">
            <a:extLst>
              <a:ext uri="{FF2B5EF4-FFF2-40B4-BE49-F238E27FC236}">
                <a16:creationId xmlns:a16="http://schemas.microsoft.com/office/drawing/2014/main" id="{4D5BBF3F-E6EC-09EC-1D88-0E3BDD2F8F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05850" y="2000250"/>
            <a:ext cx="2981325" cy="4471988"/>
          </a:xfrm>
          <a:prstGeom prst="rect">
            <a:avLst/>
          </a:prstGeom>
        </p:spPr>
      </p:pic>
      <p:sp>
        <p:nvSpPr>
          <p:cNvPr id="5" name="Shape 1">
            <a:extLst>
              <a:ext uri="{FF2B5EF4-FFF2-40B4-BE49-F238E27FC236}">
                <a16:creationId xmlns:a16="http://schemas.microsoft.com/office/drawing/2014/main" id="{1A5EDB6F-A06C-850D-9817-08788BCD76B8}"/>
              </a:ext>
            </a:extLst>
          </p:cNvPr>
          <p:cNvSpPr/>
          <p:nvPr/>
        </p:nvSpPr>
        <p:spPr>
          <a:xfrm>
            <a:off x="715268" y="2095201"/>
            <a:ext cx="3294854" cy="2220913"/>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6" name="Text 2">
            <a:extLst>
              <a:ext uri="{FF2B5EF4-FFF2-40B4-BE49-F238E27FC236}">
                <a16:creationId xmlns:a16="http://schemas.microsoft.com/office/drawing/2014/main" id="{6D144FAF-6F08-14AF-9A74-541FF5D5DF17}"/>
              </a:ext>
            </a:extLst>
          </p:cNvPr>
          <p:cNvSpPr/>
          <p:nvPr/>
        </p:nvSpPr>
        <p:spPr>
          <a:xfrm>
            <a:off x="893266" y="2273200"/>
            <a:ext cx="2146300" cy="268188"/>
          </a:xfrm>
          <a:prstGeom prst="rect">
            <a:avLst/>
          </a:prstGeom>
          <a:noFill/>
          <a:ln/>
        </p:spPr>
        <p:txBody>
          <a:bodyPr wrap="none" lIns="0" tIns="0" rIns="0" bIns="0" rtlCol="0" anchor="t"/>
          <a:lstStyle/>
          <a:p>
            <a:pPr>
              <a:lnSpc>
                <a:spcPts val="208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Measures of Center</a:t>
            </a:r>
            <a:endParaRPr lang="en-US" sz="2400" dirty="0">
              <a:latin typeface="Aptos" panose="020B0004020202020204" pitchFamily="34" charset="0"/>
            </a:endParaRPr>
          </a:p>
        </p:txBody>
      </p:sp>
      <p:sp>
        <p:nvSpPr>
          <p:cNvPr id="7" name="Text 3">
            <a:extLst>
              <a:ext uri="{FF2B5EF4-FFF2-40B4-BE49-F238E27FC236}">
                <a16:creationId xmlns:a16="http://schemas.microsoft.com/office/drawing/2014/main" id="{D5F7909C-086B-ACEA-09D2-CC89D53E7FD2}"/>
              </a:ext>
            </a:extLst>
          </p:cNvPr>
          <p:cNvSpPr/>
          <p:nvPr/>
        </p:nvSpPr>
        <p:spPr>
          <a:xfrm>
            <a:off x="893266" y="2644377"/>
            <a:ext cx="2767211" cy="549473"/>
          </a:xfrm>
          <a:prstGeom prst="rect">
            <a:avLst/>
          </a:prstGeom>
          <a:noFill/>
          <a:ln/>
        </p:spPr>
        <p:txBody>
          <a:bodyPr wrap="squar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Mean (average): sum divided by count — sensitive to outliers</a:t>
            </a:r>
            <a:endParaRPr lang="en-US" dirty="0">
              <a:latin typeface="Aptos" panose="020B0004020202020204" pitchFamily="34" charset="0"/>
            </a:endParaRPr>
          </a:p>
        </p:txBody>
      </p:sp>
      <p:sp>
        <p:nvSpPr>
          <p:cNvPr id="8" name="Text 4">
            <a:extLst>
              <a:ext uri="{FF2B5EF4-FFF2-40B4-BE49-F238E27FC236}">
                <a16:creationId xmlns:a16="http://schemas.microsoft.com/office/drawing/2014/main" id="{CDBEEF3E-A2CD-C5DC-C7C1-8E8BA6B3AB1E}"/>
              </a:ext>
            </a:extLst>
          </p:cNvPr>
          <p:cNvSpPr/>
          <p:nvPr/>
        </p:nvSpPr>
        <p:spPr>
          <a:xfrm>
            <a:off x="893266" y="3253878"/>
            <a:ext cx="2767211" cy="549473"/>
          </a:xfrm>
          <a:prstGeom prst="rect">
            <a:avLst/>
          </a:prstGeom>
          <a:noFill/>
          <a:ln/>
        </p:spPr>
        <p:txBody>
          <a:bodyPr wrap="squar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Median: middle value when ordered — robust to outliers (use for skewed data)</a:t>
            </a:r>
            <a:endParaRPr lang="en-US" dirty="0">
              <a:latin typeface="Aptos" panose="020B0004020202020204" pitchFamily="34" charset="0"/>
            </a:endParaRPr>
          </a:p>
        </p:txBody>
      </p:sp>
      <p:sp>
        <p:nvSpPr>
          <p:cNvPr id="9" name="Text 5">
            <a:extLst>
              <a:ext uri="{FF2B5EF4-FFF2-40B4-BE49-F238E27FC236}">
                <a16:creationId xmlns:a16="http://schemas.microsoft.com/office/drawing/2014/main" id="{BAC5C4AF-F81A-A26F-9013-9B9A4C32E580}"/>
              </a:ext>
            </a:extLst>
          </p:cNvPr>
          <p:cNvSpPr/>
          <p:nvPr/>
        </p:nvSpPr>
        <p:spPr>
          <a:xfrm>
            <a:off x="893266" y="3863378"/>
            <a:ext cx="2767211"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Mode: most common value</a:t>
            </a:r>
            <a:endParaRPr lang="en-US" dirty="0">
              <a:latin typeface="Aptos" panose="020B0004020202020204" pitchFamily="34" charset="0"/>
            </a:endParaRPr>
          </a:p>
        </p:txBody>
      </p:sp>
      <p:sp>
        <p:nvSpPr>
          <p:cNvPr id="10" name="Shape 6">
            <a:extLst>
              <a:ext uri="{FF2B5EF4-FFF2-40B4-BE49-F238E27FC236}">
                <a16:creationId xmlns:a16="http://schemas.microsoft.com/office/drawing/2014/main" id="{8084610A-744B-A67B-B3E9-BC1BF83B3302}"/>
              </a:ext>
            </a:extLst>
          </p:cNvPr>
          <p:cNvSpPr/>
          <p:nvPr/>
        </p:nvSpPr>
        <p:spPr>
          <a:xfrm>
            <a:off x="4146897" y="2119707"/>
            <a:ext cx="3554064" cy="2220913"/>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1" name="Text 7">
            <a:extLst>
              <a:ext uri="{FF2B5EF4-FFF2-40B4-BE49-F238E27FC236}">
                <a16:creationId xmlns:a16="http://schemas.microsoft.com/office/drawing/2014/main" id="{7A5A70D3-5729-FED4-800A-9BFEBFC1F467}"/>
              </a:ext>
            </a:extLst>
          </p:cNvPr>
          <p:cNvSpPr/>
          <p:nvPr/>
        </p:nvSpPr>
        <p:spPr>
          <a:xfrm>
            <a:off x="4188122" y="2273200"/>
            <a:ext cx="2146300" cy="268188"/>
          </a:xfrm>
          <a:prstGeom prst="rect">
            <a:avLst/>
          </a:prstGeom>
          <a:noFill/>
          <a:ln/>
        </p:spPr>
        <p:txBody>
          <a:bodyPr wrap="none" lIns="0" tIns="0" rIns="0" bIns="0" rtlCol="0" anchor="t"/>
          <a:lstStyle/>
          <a:p>
            <a:pPr>
              <a:lnSpc>
                <a:spcPts val="208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Measures of Spread</a:t>
            </a:r>
            <a:endParaRPr lang="en-US" sz="2400" dirty="0">
              <a:latin typeface="Aptos" panose="020B0004020202020204" pitchFamily="34" charset="0"/>
            </a:endParaRPr>
          </a:p>
        </p:txBody>
      </p:sp>
      <p:sp>
        <p:nvSpPr>
          <p:cNvPr id="12" name="Text 8">
            <a:extLst>
              <a:ext uri="{FF2B5EF4-FFF2-40B4-BE49-F238E27FC236}">
                <a16:creationId xmlns:a16="http://schemas.microsoft.com/office/drawing/2014/main" id="{3482D6B9-D209-49E4-C6B3-AFE9A675B0AE}"/>
              </a:ext>
            </a:extLst>
          </p:cNvPr>
          <p:cNvSpPr/>
          <p:nvPr/>
        </p:nvSpPr>
        <p:spPr>
          <a:xfrm>
            <a:off x="4188122" y="2644377"/>
            <a:ext cx="2767211"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Range: maximum - minimum</a:t>
            </a:r>
            <a:endParaRPr lang="en-US" dirty="0">
              <a:latin typeface="Aptos" panose="020B0004020202020204" pitchFamily="34" charset="0"/>
            </a:endParaRPr>
          </a:p>
        </p:txBody>
      </p:sp>
      <p:sp>
        <p:nvSpPr>
          <p:cNvPr id="13" name="Text 9">
            <a:extLst>
              <a:ext uri="{FF2B5EF4-FFF2-40B4-BE49-F238E27FC236}">
                <a16:creationId xmlns:a16="http://schemas.microsoft.com/office/drawing/2014/main" id="{4E2A91DA-2512-474E-970A-D7D83006BE7E}"/>
              </a:ext>
            </a:extLst>
          </p:cNvPr>
          <p:cNvSpPr/>
          <p:nvPr/>
        </p:nvSpPr>
        <p:spPr>
          <a:xfrm>
            <a:off x="4188122" y="2979140"/>
            <a:ext cx="3184228" cy="549473"/>
          </a:xfrm>
          <a:prstGeom prst="rect">
            <a:avLst/>
          </a:prstGeom>
          <a:noFill/>
          <a:ln/>
        </p:spPr>
        <p:txBody>
          <a:bodyPr wrap="squar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Standard deviation (SD): avg distance from mean — ~68% of data falls within 1 SD</a:t>
            </a:r>
            <a:endParaRPr lang="en-US" dirty="0">
              <a:latin typeface="Aptos" panose="020B0004020202020204" pitchFamily="34" charset="0"/>
            </a:endParaRPr>
          </a:p>
        </p:txBody>
      </p:sp>
      <p:sp>
        <p:nvSpPr>
          <p:cNvPr id="14" name="Text 10">
            <a:extLst>
              <a:ext uri="{FF2B5EF4-FFF2-40B4-BE49-F238E27FC236}">
                <a16:creationId xmlns:a16="http://schemas.microsoft.com/office/drawing/2014/main" id="{359CC720-F0AC-C8CF-688C-9DC48E348C94}"/>
              </a:ext>
            </a:extLst>
          </p:cNvPr>
          <p:cNvSpPr/>
          <p:nvPr/>
        </p:nvSpPr>
        <p:spPr>
          <a:xfrm>
            <a:off x="4188122" y="3588641"/>
            <a:ext cx="2767211" cy="549473"/>
          </a:xfrm>
          <a:prstGeom prst="rect">
            <a:avLst/>
          </a:prstGeom>
          <a:noFill/>
          <a:ln/>
        </p:spPr>
        <p:txBody>
          <a:bodyPr wrap="squar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Interquartile range (IQR): middle 50% spread</a:t>
            </a:r>
            <a:endParaRPr lang="en-US" dirty="0">
              <a:latin typeface="Aptos" panose="020B0004020202020204" pitchFamily="34" charset="0"/>
            </a:endParaRPr>
          </a:p>
        </p:txBody>
      </p:sp>
      <p:sp>
        <p:nvSpPr>
          <p:cNvPr id="15" name="Shape 11">
            <a:extLst>
              <a:ext uri="{FF2B5EF4-FFF2-40B4-BE49-F238E27FC236}">
                <a16:creationId xmlns:a16="http://schemas.microsoft.com/office/drawing/2014/main" id="{FEFADC15-F7A2-FAAA-AE28-74C6DD7ADF9A}"/>
              </a:ext>
            </a:extLst>
          </p:cNvPr>
          <p:cNvSpPr/>
          <p:nvPr/>
        </p:nvSpPr>
        <p:spPr>
          <a:xfrm>
            <a:off x="715267" y="4487762"/>
            <a:ext cx="6985693" cy="2006203"/>
          </a:xfrm>
          <a:prstGeom prst="roundRect">
            <a:avLst>
              <a:gd name="adj" fmla="val 3595"/>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6" name="Text 12">
            <a:extLst>
              <a:ext uri="{FF2B5EF4-FFF2-40B4-BE49-F238E27FC236}">
                <a16:creationId xmlns:a16="http://schemas.microsoft.com/office/drawing/2014/main" id="{0474CEC8-AB45-381F-2DC0-A6932490AA26}"/>
              </a:ext>
            </a:extLst>
          </p:cNvPr>
          <p:cNvSpPr/>
          <p:nvPr/>
        </p:nvSpPr>
        <p:spPr>
          <a:xfrm>
            <a:off x="893265" y="4665760"/>
            <a:ext cx="2234307" cy="268188"/>
          </a:xfrm>
          <a:prstGeom prst="rect">
            <a:avLst/>
          </a:prstGeom>
          <a:noFill/>
          <a:ln/>
        </p:spPr>
        <p:txBody>
          <a:bodyPr wrap="none" lIns="0" tIns="0" rIns="0" bIns="0" rtlCol="0" anchor="t"/>
          <a:lstStyle/>
          <a:p>
            <a:pPr>
              <a:lnSpc>
                <a:spcPts val="208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Example: Exam Scores</a:t>
            </a:r>
            <a:endParaRPr lang="en-US" sz="2400" dirty="0">
              <a:latin typeface="Aptos" panose="020B0004020202020204" pitchFamily="34" charset="0"/>
            </a:endParaRPr>
          </a:p>
        </p:txBody>
      </p:sp>
      <p:sp>
        <p:nvSpPr>
          <p:cNvPr id="17" name="Text 13">
            <a:extLst>
              <a:ext uri="{FF2B5EF4-FFF2-40B4-BE49-F238E27FC236}">
                <a16:creationId xmlns:a16="http://schemas.microsoft.com/office/drawing/2014/main" id="{735D8DBE-CA5D-1A30-1CC9-967864F6314E}"/>
              </a:ext>
            </a:extLst>
          </p:cNvPr>
          <p:cNvSpPr/>
          <p:nvPr/>
        </p:nvSpPr>
        <p:spPr>
          <a:xfrm>
            <a:off x="893266" y="5036938"/>
            <a:ext cx="6062068"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Mean: 83</a:t>
            </a:r>
            <a:endParaRPr lang="en-US" dirty="0">
              <a:latin typeface="Aptos" panose="020B0004020202020204" pitchFamily="34" charset="0"/>
            </a:endParaRPr>
          </a:p>
        </p:txBody>
      </p:sp>
      <p:sp>
        <p:nvSpPr>
          <p:cNvPr id="18" name="Text 14">
            <a:extLst>
              <a:ext uri="{FF2B5EF4-FFF2-40B4-BE49-F238E27FC236}">
                <a16:creationId xmlns:a16="http://schemas.microsoft.com/office/drawing/2014/main" id="{D72E185D-E4C4-2F46-7B91-E60790CD1B05}"/>
              </a:ext>
            </a:extLst>
          </p:cNvPr>
          <p:cNvSpPr/>
          <p:nvPr/>
        </p:nvSpPr>
        <p:spPr>
          <a:xfrm>
            <a:off x="893266" y="5371702"/>
            <a:ext cx="6062068"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Median: 82.5</a:t>
            </a:r>
            <a:endParaRPr lang="en-US" dirty="0">
              <a:latin typeface="Aptos" panose="020B0004020202020204" pitchFamily="34" charset="0"/>
            </a:endParaRPr>
          </a:p>
        </p:txBody>
      </p:sp>
      <p:sp>
        <p:nvSpPr>
          <p:cNvPr id="19" name="Text 15">
            <a:extLst>
              <a:ext uri="{FF2B5EF4-FFF2-40B4-BE49-F238E27FC236}">
                <a16:creationId xmlns:a16="http://schemas.microsoft.com/office/drawing/2014/main" id="{A2F42A7A-0DBC-1D8C-B4E6-0FFCF0D80617}"/>
              </a:ext>
            </a:extLst>
          </p:cNvPr>
          <p:cNvSpPr/>
          <p:nvPr/>
        </p:nvSpPr>
        <p:spPr>
          <a:xfrm>
            <a:off x="893266" y="5706465"/>
            <a:ext cx="6062068"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Range: 25 (max 94 - min 69)</a:t>
            </a:r>
            <a:endParaRPr lang="en-US" dirty="0">
              <a:latin typeface="Aptos" panose="020B0004020202020204" pitchFamily="34" charset="0"/>
            </a:endParaRPr>
          </a:p>
        </p:txBody>
      </p:sp>
      <p:sp>
        <p:nvSpPr>
          <p:cNvPr id="20" name="Text 16">
            <a:extLst>
              <a:ext uri="{FF2B5EF4-FFF2-40B4-BE49-F238E27FC236}">
                <a16:creationId xmlns:a16="http://schemas.microsoft.com/office/drawing/2014/main" id="{50EBB244-28E3-A4F7-E72E-016C0DD80966}"/>
              </a:ext>
            </a:extLst>
          </p:cNvPr>
          <p:cNvSpPr/>
          <p:nvPr/>
        </p:nvSpPr>
        <p:spPr>
          <a:xfrm>
            <a:off x="893266" y="6041229"/>
            <a:ext cx="6062068" cy="274737"/>
          </a:xfrm>
          <a:prstGeom prst="rect">
            <a:avLst/>
          </a:prstGeom>
          <a:noFill/>
          <a:ln/>
        </p:spPr>
        <p:txBody>
          <a:bodyPr wrap="none" lIns="0" tIns="0" rIns="0" bIns="0" rtlCol="0" anchor="t"/>
          <a:lstStyle/>
          <a:p>
            <a:pPr marL="285739" indent="-285739">
              <a:lnSpc>
                <a:spcPts val="2125"/>
              </a:lnSpc>
              <a:buSzPct val="100000"/>
              <a:buChar char="•"/>
            </a:pPr>
            <a:r>
              <a:rPr lang="en-US" dirty="0">
                <a:solidFill>
                  <a:srgbClr val="000000"/>
                </a:solidFill>
                <a:latin typeface="Aptos" panose="020B0004020202020204" pitchFamily="34" charset="0"/>
                <a:ea typeface="Inter" pitchFamily="34" charset="-122"/>
                <a:cs typeface="Inter" pitchFamily="34" charset="-120"/>
              </a:rPr>
              <a:t>Standard deviation: ~10 (most scores within 73–93)</a:t>
            </a:r>
            <a:endParaRPr lang="en-US" dirty="0">
              <a:latin typeface="Aptos" panose="020B0004020202020204" pitchFamily="34" charset="0"/>
            </a:endParaRPr>
          </a:p>
        </p:txBody>
      </p:sp>
    </p:spTree>
    <p:extLst>
      <p:ext uri="{BB962C8B-B14F-4D97-AF65-F5344CB8AC3E}">
        <p14:creationId xmlns:p14="http://schemas.microsoft.com/office/powerpoint/2010/main" val="1076992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BD71E5A-96FA-4452-5901-EFDC874D9BB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620000" y="1086680"/>
            <a:ext cx="4572000" cy="5446644"/>
          </a:xfrm>
          <a:prstGeom prst="rect">
            <a:avLst/>
          </a:prstGeom>
        </p:spPr>
      </p:pic>
      <p:sp>
        <p:nvSpPr>
          <p:cNvPr id="3" name="Text 0">
            <a:extLst>
              <a:ext uri="{FF2B5EF4-FFF2-40B4-BE49-F238E27FC236}">
                <a16:creationId xmlns:a16="http://schemas.microsoft.com/office/drawing/2014/main" id="{FC3DDBF0-FD15-73E7-DE26-B5F99D45FA9B}"/>
              </a:ext>
            </a:extLst>
          </p:cNvPr>
          <p:cNvSpPr/>
          <p:nvPr/>
        </p:nvSpPr>
        <p:spPr>
          <a:xfrm>
            <a:off x="661492" y="1020465"/>
            <a:ext cx="6297018" cy="1181298"/>
          </a:xfrm>
          <a:prstGeom prst="rect">
            <a:avLst/>
          </a:prstGeom>
          <a:noFill/>
          <a:ln/>
        </p:spPr>
        <p:txBody>
          <a:bodyPr wrap="square" lIns="0" tIns="0" rIns="0" bIns="0" rtlCol="0" anchor="t"/>
          <a:lstStyle/>
          <a:p>
            <a:pPr>
              <a:lnSpc>
                <a:spcPts val="4625"/>
              </a:lnSpc>
            </a:pPr>
            <a:r>
              <a:rPr lang="en-US" sz="3708" b="1" dirty="0">
                <a:solidFill>
                  <a:srgbClr val="000000"/>
                </a:solidFill>
                <a:ea typeface="Playfair Display Bold" pitchFamily="34" charset="-122"/>
                <a:cs typeface="Playfair Display Bold" pitchFamily="34" charset="-120"/>
              </a:rPr>
              <a:t>Exploring Numerical Data: Histogram</a:t>
            </a:r>
            <a:endParaRPr lang="en-US" sz="3708" dirty="0"/>
          </a:p>
        </p:txBody>
      </p:sp>
      <p:sp>
        <p:nvSpPr>
          <p:cNvPr id="4" name="Text 1">
            <a:extLst>
              <a:ext uri="{FF2B5EF4-FFF2-40B4-BE49-F238E27FC236}">
                <a16:creationId xmlns:a16="http://schemas.microsoft.com/office/drawing/2014/main" id="{B5A6B899-27CB-0C56-D148-0960F753EAF8}"/>
              </a:ext>
            </a:extLst>
          </p:cNvPr>
          <p:cNvSpPr/>
          <p:nvPr/>
        </p:nvSpPr>
        <p:spPr>
          <a:xfrm>
            <a:off x="661492" y="2485231"/>
            <a:ext cx="6297018" cy="604838"/>
          </a:xfrm>
          <a:prstGeom prst="rect">
            <a:avLst/>
          </a:prstGeom>
          <a:noFill/>
          <a:ln/>
        </p:spPr>
        <p:txBody>
          <a:bodyPr wrap="square" lIns="0" tIns="0" rIns="0" bIns="0" rtlCol="0" anchor="t"/>
          <a:lstStyle/>
          <a:p>
            <a:pPr>
              <a:lnSpc>
                <a:spcPts val="2375"/>
              </a:lnSpc>
            </a:pPr>
            <a:r>
              <a:rPr lang="en-US" sz="1458" dirty="0">
                <a:solidFill>
                  <a:srgbClr val="000000"/>
                </a:solidFill>
                <a:ea typeface="Inter" pitchFamily="34" charset="-122"/>
                <a:cs typeface="Inter" pitchFamily="34" charset="-120"/>
              </a:rPr>
              <a:t>A histogram shows the distribution of numeric data by dividing it into bins (ranges) and counting how many values fall in each bin.</a:t>
            </a:r>
            <a:endParaRPr lang="en-US" sz="1458" dirty="0"/>
          </a:p>
        </p:txBody>
      </p:sp>
      <p:sp>
        <p:nvSpPr>
          <p:cNvPr id="5" name="Shape 2">
            <a:extLst>
              <a:ext uri="{FF2B5EF4-FFF2-40B4-BE49-F238E27FC236}">
                <a16:creationId xmlns:a16="http://schemas.microsoft.com/office/drawing/2014/main" id="{DDFFB74C-9521-EEDE-4C68-342E10B94D92}"/>
              </a:ext>
            </a:extLst>
          </p:cNvPr>
          <p:cNvSpPr/>
          <p:nvPr/>
        </p:nvSpPr>
        <p:spPr>
          <a:xfrm>
            <a:off x="661491" y="3302694"/>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p>
        </p:txBody>
      </p:sp>
      <p:sp>
        <p:nvSpPr>
          <p:cNvPr id="6" name="Text 3">
            <a:extLst>
              <a:ext uri="{FF2B5EF4-FFF2-40B4-BE49-F238E27FC236}">
                <a16:creationId xmlns:a16="http://schemas.microsoft.com/office/drawing/2014/main" id="{B9458640-A3C1-E9AE-7805-6A94A9D6916F}"/>
              </a:ext>
            </a:extLst>
          </p:cNvPr>
          <p:cNvSpPr/>
          <p:nvPr/>
        </p:nvSpPr>
        <p:spPr>
          <a:xfrm>
            <a:off x="1275755" y="336758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Bell-shaped</a:t>
            </a:r>
            <a:endParaRPr lang="en-US" sz="1833" dirty="0"/>
          </a:p>
        </p:txBody>
      </p:sp>
      <p:sp>
        <p:nvSpPr>
          <p:cNvPr id="7" name="Text 4">
            <a:extLst>
              <a:ext uri="{FF2B5EF4-FFF2-40B4-BE49-F238E27FC236}">
                <a16:creationId xmlns:a16="http://schemas.microsoft.com/office/drawing/2014/main" id="{6B059E64-02AD-5308-821C-F345666E00DE}"/>
              </a:ext>
            </a:extLst>
          </p:cNvPr>
          <p:cNvSpPr/>
          <p:nvPr/>
        </p:nvSpPr>
        <p:spPr>
          <a:xfrm>
            <a:off x="1275755" y="3776266"/>
            <a:ext cx="2416175" cy="907257"/>
          </a:xfrm>
          <a:prstGeom prst="rect">
            <a:avLst/>
          </a:prstGeom>
          <a:noFill/>
          <a:ln/>
        </p:spPr>
        <p:txBody>
          <a:bodyPr wrap="square" lIns="0" tIns="0" rIns="0" bIns="0" rtlCol="0" anchor="t"/>
          <a:lstStyle/>
          <a:p>
            <a:pPr>
              <a:lnSpc>
                <a:spcPts val="2375"/>
              </a:lnSpc>
            </a:pPr>
            <a:r>
              <a:rPr lang="en-US" sz="1458" dirty="0">
                <a:solidFill>
                  <a:srgbClr val="000000"/>
                </a:solidFill>
                <a:ea typeface="Inter" pitchFamily="34" charset="-122"/>
                <a:cs typeface="Inter" pitchFamily="34" charset="-120"/>
              </a:rPr>
              <a:t>Symmetric around the middle (normal distribution)</a:t>
            </a:r>
            <a:endParaRPr lang="en-US" sz="1458" dirty="0"/>
          </a:p>
        </p:txBody>
      </p:sp>
      <p:sp>
        <p:nvSpPr>
          <p:cNvPr id="8" name="Shape 5">
            <a:extLst>
              <a:ext uri="{FF2B5EF4-FFF2-40B4-BE49-F238E27FC236}">
                <a16:creationId xmlns:a16="http://schemas.microsoft.com/office/drawing/2014/main" id="{75280916-6EED-1BC0-C205-031D18B2BDCB}"/>
              </a:ext>
            </a:extLst>
          </p:cNvPr>
          <p:cNvSpPr/>
          <p:nvPr/>
        </p:nvSpPr>
        <p:spPr>
          <a:xfrm>
            <a:off x="3928169" y="3302694"/>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p>
        </p:txBody>
      </p:sp>
      <p:sp>
        <p:nvSpPr>
          <p:cNvPr id="9" name="Text 6">
            <a:extLst>
              <a:ext uri="{FF2B5EF4-FFF2-40B4-BE49-F238E27FC236}">
                <a16:creationId xmlns:a16="http://schemas.microsoft.com/office/drawing/2014/main" id="{7BBF2321-6A47-C735-EFE6-EA71C442DE59}"/>
              </a:ext>
            </a:extLst>
          </p:cNvPr>
          <p:cNvSpPr/>
          <p:nvPr/>
        </p:nvSpPr>
        <p:spPr>
          <a:xfrm>
            <a:off x="4542433" y="336758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Right-skewed</a:t>
            </a:r>
            <a:endParaRPr lang="en-US" sz="1833" dirty="0"/>
          </a:p>
        </p:txBody>
      </p:sp>
      <p:sp>
        <p:nvSpPr>
          <p:cNvPr id="10" name="Text 7">
            <a:extLst>
              <a:ext uri="{FF2B5EF4-FFF2-40B4-BE49-F238E27FC236}">
                <a16:creationId xmlns:a16="http://schemas.microsoft.com/office/drawing/2014/main" id="{355D6363-E55E-718E-24FE-88528B671134}"/>
              </a:ext>
            </a:extLst>
          </p:cNvPr>
          <p:cNvSpPr/>
          <p:nvPr/>
        </p:nvSpPr>
        <p:spPr>
          <a:xfrm>
            <a:off x="4542433" y="3776266"/>
            <a:ext cx="2416175" cy="907257"/>
          </a:xfrm>
          <a:prstGeom prst="rect">
            <a:avLst/>
          </a:prstGeom>
          <a:noFill/>
          <a:ln/>
        </p:spPr>
        <p:txBody>
          <a:bodyPr wrap="square" lIns="0" tIns="0" rIns="0" bIns="0" rtlCol="0" anchor="t"/>
          <a:lstStyle/>
          <a:p>
            <a:pPr>
              <a:lnSpc>
                <a:spcPts val="2375"/>
              </a:lnSpc>
            </a:pPr>
            <a:r>
              <a:rPr lang="en-US" sz="1458" dirty="0">
                <a:solidFill>
                  <a:srgbClr val="000000"/>
                </a:solidFill>
                <a:ea typeface="Inter" pitchFamily="34" charset="-122"/>
                <a:cs typeface="Inter" pitchFamily="34" charset="-120"/>
              </a:rPr>
              <a:t>Tail extends to the right (most values low, few high values)</a:t>
            </a:r>
            <a:endParaRPr lang="en-US" sz="1458" dirty="0"/>
          </a:p>
        </p:txBody>
      </p:sp>
      <p:sp>
        <p:nvSpPr>
          <p:cNvPr id="11" name="Shape 8">
            <a:extLst>
              <a:ext uri="{FF2B5EF4-FFF2-40B4-BE49-F238E27FC236}">
                <a16:creationId xmlns:a16="http://schemas.microsoft.com/office/drawing/2014/main" id="{30513289-72ED-2D2C-55D1-C26F74E53B10}"/>
              </a:ext>
            </a:extLst>
          </p:cNvPr>
          <p:cNvSpPr/>
          <p:nvPr/>
        </p:nvSpPr>
        <p:spPr>
          <a:xfrm>
            <a:off x="661491" y="5061545"/>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p>
        </p:txBody>
      </p:sp>
      <p:sp>
        <p:nvSpPr>
          <p:cNvPr id="12" name="Text 9">
            <a:extLst>
              <a:ext uri="{FF2B5EF4-FFF2-40B4-BE49-F238E27FC236}">
                <a16:creationId xmlns:a16="http://schemas.microsoft.com/office/drawing/2014/main" id="{71288830-89AA-2403-A416-CD18AC39F9AB}"/>
              </a:ext>
            </a:extLst>
          </p:cNvPr>
          <p:cNvSpPr/>
          <p:nvPr/>
        </p:nvSpPr>
        <p:spPr>
          <a:xfrm>
            <a:off x="1275755" y="5126434"/>
            <a:ext cx="2362696" cy="295275"/>
          </a:xfrm>
          <a:prstGeom prst="rect">
            <a:avLst/>
          </a:prstGeom>
          <a:noFill/>
          <a:ln/>
        </p:spPr>
        <p:txBody>
          <a:bodyPr wrap="none" lIns="0" tIns="0" rIns="0" bIns="0" rtlCol="0" anchor="t"/>
          <a:lstStyle/>
          <a:p>
            <a:pPr>
              <a:lnSpc>
                <a:spcPts val="2292"/>
              </a:lnSpc>
            </a:pPr>
            <a:r>
              <a:rPr lang="en-US" sz="1833" b="1" dirty="0">
                <a:solidFill>
                  <a:srgbClr val="000000"/>
                </a:solidFill>
                <a:ea typeface="Playfair Display Bold" pitchFamily="34" charset="-122"/>
                <a:cs typeface="Playfair Display Bold" pitchFamily="34" charset="-120"/>
              </a:rPr>
              <a:t>Left-skewed</a:t>
            </a:r>
            <a:endParaRPr lang="en-US" sz="1833" dirty="0"/>
          </a:p>
        </p:txBody>
      </p:sp>
      <p:sp>
        <p:nvSpPr>
          <p:cNvPr id="13" name="Text 10">
            <a:extLst>
              <a:ext uri="{FF2B5EF4-FFF2-40B4-BE49-F238E27FC236}">
                <a16:creationId xmlns:a16="http://schemas.microsoft.com/office/drawing/2014/main" id="{6B0C9141-EBC1-F792-710A-2CF94DA90643}"/>
              </a:ext>
            </a:extLst>
          </p:cNvPr>
          <p:cNvSpPr/>
          <p:nvPr/>
        </p:nvSpPr>
        <p:spPr>
          <a:xfrm>
            <a:off x="1275756" y="5535117"/>
            <a:ext cx="5682754" cy="302419"/>
          </a:xfrm>
          <a:prstGeom prst="rect">
            <a:avLst/>
          </a:prstGeom>
          <a:noFill/>
          <a:ln/>
        </p:spPr>
        <p:txBody>
          <a:bodyPr wrap="none" lIns="0" tIns="0" rIns="0" bIns="0" rtlCol="0" anchor="t"/>
          <a:lstStyle/>
          <a:p>
            <a:pPr>
              <a:lnSpc>
                <a:spcPts val="2375"/>
              </a:lnSpc>
            </a:pPr>
            <a:r>
              <a:rPr lang="en-US" sz="1458" dirty="0">
                <a:solidFill>
                  <a:srgbClr val="000000"/>
                </a:solidFill>
                <a:ea typeface="Inter" pitchFamily="34" charset="-122"/>
                <a:cs typeface="Inter" pitchFamily="34" charset="-120"/>
              </a:rPr>
              <a:t>Tail extends to the left (most values high, few low values)</a:t>
            </a:r>
            <a:endParaRPr lang="en-US" sz="1458" dirty="0"/>
          </a:p>
        </p:txBody>
      </p:sp>
    </p:spTree>
    <p:extLst>
      <p:ext uri="{BB962C8B-B14F-4D97-AF65-F5344CB8AC3E}">
        <p14:creationId xmlns:p14="http://schemas.microsoft.com/office/powerpoint/2010/main" val="2188013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984F-0AF6-AFF1-7C63-27BC8A9F67B1}"/>
              </a:ext>
            </a:extLst>
          </p:cNvPr>
          <p:cNvSpPr>
            <a:spLocks noGrp="1"/>
          </p:cNvSpPr>
          <p:nvPr>
            <p:ph type="title"/>
          </p:nvPr>
        </p:nvSpPr>
        <p:spPr/>
        <p:txBody>
          <a:bodyPr/>
          <a:lstStyle/>
          <a:p>
            <a:r>
              <a:rPr lang="en-US" dirty="0">
                <a:latin typeface="+mn-lt"/>
              </a:rPr>
              <a:t>Exploring Numerical Data: Histogram</a:t>
            </a:r>
          </a:p>
        </p:txBody>
      </p:sp>
      <p:sp>
        <p:nvSpPr>
          <p:cNvPr id="3" name="Content Placeholder 2">
            <a:extLst>
              <a:ext uri="{FF2B5EF4-FFF2-40B4-BE49-F238E27FC236}">
                <a16:creationId xmlns:a16="http://schemas.microsoft.com/office/drawing/2014/main" id="{7AF0C6D3-DF12-F585-AC6A-4B0F94660210}"/>
              </a:ext>
            </a:extLst>
          </p:cNvPr>
          <p:cNvSpPr>
            <a:spLocks noGrp="1"/>
          </p:cNvSpPr>
          <p:nvPr>
            <p:ph idx="1"/>
          </p:nvPr>
        </p:nvSpPr>
        <p:spPr/>
        <p:txBody>
          <a:bodyPr/>
          <a:lstStyle/>
          <a:p>
            <a:r>
              <a:rPr lang="en-US" dirty="0">
                <a:solidFill>
                  <a:srgbClr val="000000"/>
                </a:solidFill>
                <a:ea typeface="Inter" pitchFamily="34" charset="-122"/>
                <a:cs typeface="Inter" pitchFamily="34" charset="-120"/>
              </a:rPr>
              <a:t>A histogram shows the distribution of numeric data by dividing it into bins (ranges) and counting how many values fall in each bin.</a:t>
            </a:r>
            <a:endParaRPr lang="en-US" dirty="0"/>
          </a:p>
          <a:p>
            <a:endParaRPr lang="en-US" dirty="0"/>
          </a:p>
        </p:txBody>
      </p:sp>
      <p:sp>
        <p:nvSpPr>
          <p:cNvPr id="4" name="Shape 2">
            <a:extLst>
              <a:ext uri="{FF2B5EF4-FFF2-40B4-BE49-F238E27FC236}">
                <a16:creationId xmlns:a16="http://schemas.microsoft.com/office/drawing/2014/main" id="{DE3698DF-CE47-CF7A-7F52-BA32274937EB}"/>
              </a:ext>
            </a:extLst>
          </p:cNvPr>
          <p:cNvSpPr/>
          <p:nvPr/>
        </p:nvSpPr>
        <p:spPr>
          <a:xfrm>
            <a:off x="838200" y="3713557"/>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5" name="Text 3">
            <a:extLst>
              <a:ext uri="{FF2B5EF4-FFF2-40B4-BE49-F238E27FC236}">
                <a16:creationId xmlns:a16="http://schemas.microsoft.com/office/drawing/2014/main" id="{A55B7E62-F510-B508-85FA-61AE34DFCD9D}"/>
              </a:ext>
            </a:extLst>
          </p:cNvPr>
          <p:cNvSpPr/>
          <p:nvPr/>
        </p:nvSpPr>
        <p:spPr>
          <a:xfrm>
            <a:off x="1452464" y="377844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ea typeface="Playfair Display Bold" pitchFamily="34" charset="-122"/>
                <a:cs typeface="Playfair Display Bold" pitchFamily="34" charset="-120"/>
              </a:rPr>
              <a:t>Bell-shaped</a:t>
            </a:r>
            <a:endParaRPr lang="en-US" sz="2400" dirty="0"/>
          </a:p>
        </p:txBody>
      </p:sp>
      <p:sp>
        <p:nvSpPr>
          <p:cNvPr id="6" name="Text 4">
            <a:extLst>
              <a:ext uri="{FF2B5EF4-FFF2-40B4-BE49-F238E27FC236}">
                <a16:creationId xmlns:a16="http://schemas.microsoft.com/office/drawing/2014/main" id="{160C3128-D562-EBF4-584A-D19215FD87CC}"/>
              </a:ext>
            </a:extLst>
          </p:cNvPr>
          <p:cNvSpPr/>
          <p:nvPr/>
        </p:nvSpPr>
        <p:spPr>
          <a:xfrm>
            <a:off x="1452464" y="4187129"/>
            <a:ext cx="2416175" cy="907257"/>
          </a:xfrm>
          <a:prstGeom prst="rect">
            <a:avLst/>
          </a:prstGeom>
          <a:noFill/>
          <a:ln/>
        </p:spPr>
        <p:txBody>
          <a:bodyPr wrap="square" lIns="0" tIns="0" rIns="0" bIns="0" rtlCol="0" anchor="t"/>
          <a:lstStyle/>
          <a:p>
            <a:pPr>
              <a:lnSpc>
                <a:spcPts val="2375"/>
              </a:lnSpc>
            </a:pPr>
            <a:r>
              <a:rPr lang="en-US" dirty="0">
                <a:solidFill>
                  <a:srgbClr val="000000"/>
                </a:solidFill>
                <a:ea typeface="Inter" pitchFamily="34" charset="-122"/>
                <a:cs typeface="Inter" pitchFamily="34" charset="-120"/>
              </a:rPr>
              <a:t>Symmetric around the middle (normal distribution)</a:t>
            </a:r>
            <a:endParaRPr lang="en-US" dirty="0"/>
          </a:p>
        </p:txBody>
      </p:sp>
      <p:sp>
        <p:nvSpPr>
          <p:cNvPr id="7" name="Shape 5">
            <a:extLst>
              <a:ext uri="{FF2B5EF4-FFF2-40B4-BE49-F238E27FC236}">
                <a16:creationId xmlns:a16="http://schemas.microsoft.com/office/drawing/2014/main" id="{649A44B7-E990-B10B-024A-0D9E5DE1A2D2}"/>
              </a:ext>
            </a:extLst>
          </p:cNvPr>
          <p:cNvSpPr/>
          <p:nvPr/>
        </p:nvSpPr>
        <p:spPr>
          <a:xfrm>
            <a:off x="4104878" y="3713557"/>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8" name="Text 6">
            <a:extLst>
              <a:ext uri="{FF2B5EF4-FFF2-40B4-BE49-F238E27FC236}">
                <a16:creationId xmlns:a16="http://schemas.microsoft.com/office/drawing/2014/main" id="{C8139C25-53A9-8952-1128-BAD0771CE0D1}"/>
              </a:ext>
            </a:extLst>
          </p:cNvPr>
          <p:cNvSpPr/>
          <p:nvPr/>
        </p:nvSpPr>
        <p:spPr>
          <a:xfrm>
            <a:off x="4719142" y="377844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ea typeface="Playfair Display Bold" pitchFamily="34" charset="-122"/>
                <a:cs typeface="Playfair Display Bold" pitchFamily="34" charset="-120"/>
              </a:rPr>
              <a:t>Right-skewed</a:t>
            </a:r>
            <a:endParaRPr lang="en-US" sz="2400" dirty="0"/>
          </a:p>
        </p:txBody>
      </p:sp>
      <p:sp>
        <p:nvSpPr>
          <p:cNvPr id="9" name="Text 7">
            <a:extLst>
              <a:ext uri="{FF2B5EF4-FFF2-40B4-BE49-F238E27FC236}">
                <a16:creationId xmlns:a16="http://schemas.microsoft.com/office/drawing/2014/main" id="{56B6FF34-B7A7-C1A1-7BA1-01B176760DD3}"/>
              </a:ext>
            </a:extLst>
          </p:cNvPr>
          <p:cNvSpPr/>
          <p:nvPr/>
        </p:nvSpPr>
        <p:spPr>
          <a:xfrm>
            <a:off x="4719142" y="4187129"/>
            <a:ext cx="2416175" cy="907257"/>
          </a:xfrm>
          <a:prstGeom prst="rect">
            <a:avLst/>
          </a:prstGeom>
          <a:noFill/>
          <a:ln/>
        </p:spPr>
        <p:txBody>
          <a:bodyPr wrap="square" lIns="0" tIns="0" rIns="0" bIns="0" rtlCol="0" anchor="t"/>
          <a:lstStyle/>
          <a:p>
            <a:pPr>
              <a:lnSpc>
                <a:spcPts val="2375"/>
              </a:lnSpc>
            </a:pPr>
            <a:r>
              <a:rPr lang="en-US" dirty="0">
                <a:solidFill>
                  <a:srgbClr val="000000"/>
                </a:solidFill>
                <a:ea typeface="Inter" pitchFamily="34" charset="-122"/>
                <a:cs typeface="Inter" pitchFamily="34" charset="-120"/>
              </a:rPr>
              <a:t>Tail extends to the right (most values low, few high values)</a:t>
            </a:r>
            <a:endParaRPr lang="en-US" dirty="0"/>
          </a:p>
        </p:txBody>
      </p:sp>
      <p:sp>
        <p:nvSpPr>
          <p:cNvPr id="10" name="Shape 8">
            <a:extLst>
              <a:ext uri="{FF2B5EF4-FFF2-40B4-BE49-F238E27FC236}">
                <a16:creationId xmlns:a16="http://schemas.microsoft.com/office/drawing/2014/main" id="{E084F796-B889-66C7-FE9E-518476E804EA}"/>
              </a:ext>
            </a:extLst>
          </p:cNvPr>
          <p:cNvSpPr/>
          <p:nvPr/>
        </p:nvSpPr>
        <p:spPr>
          <a:xfrm>
            <a:off x="838200" y="5472408"/>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11" name="Text 9">
            <a:extLst>
              <a:ext uri="{FF2B5EF4-FFF2-40B4-BE49-F238E27FC236}">
                <a16:creationId xmlns:a16="http://schemas.microsoft.com/office/drawing/2014/main" id="{3D8567A3-B76B-226B-2310-1EC57204182B}"/>
              </a:ext>
            </a:extLst>
          </p:cNvPr>
          <p:cNvSpPr/>
          <p:nvPr/>
        </p:nvSpPr>
        <p:spPr>
          <a:xfrm>
            <a:off x="1452464" y="5537297"/>
            <a:ext cx="2362696" cy="295275"/>
          </a:xfrm>
          <a:prstGeom prst="rect">
            <a:avLst/>
          </a:prstGeom>
          <a:noFill/>
          <a:ln/>
        </p:spPr>
        <p:txBody>
          <a:bodyPr wrap="none" lIns="0" tIns="0" rIns="0" bIns="0" rtlCol="0" anchor="t"/>
          <a:lstStyle/>
          <a:p>
            <a:pPr>
              <a:lnSpc>
                <a:spcPts val="2292"/>
              </a:lnSpc>
            </a:pPr>
            <a:r>
              <a:rPr lang="en-US" sz="2400" b="1" dirty="0">
                <a:solidFill>
                  <a:srgbClr val="000000"/>
                </a:solidFill>
                <a:ea typeface="Playfair Display Bold" pitchFamily="34" charset="-122"/>
                <a:cs typeface="Playfair Display Bold" pitchFamily="34" charset="-120"/>
              </a:rPr>
              <a:t>Left-skewed</a:t>
            </a:r>
            <a:endParaRPr lang="en-US" sz="2400" dirty="0"/>
          </a:p>
        </p:txBody>
      </p:sp>
      <p:sp>
        <p:nvSpPr>
          <p:cNvPr id="12" name="Text 10">
            <a:extLst>
              <a:ext uri="{FF2B5EF4-FFF2-40B4-BE49-F238E27FC236}">
                <a16:creationId xmlns:a16="http://schemas.microsoft.com/office/drawing/2014/main" id="{F8668545-DE1F-7539-5B41-F48D1A62F4BF}"/>
              </a:ext>
            </a:extLst>
          </p:cNvPr>
          <p:cNvSpPr/>
          <p:nvPr/>
        </p:nvSpPr>
        <p:spPr>
          <a:xfrm>
            <a:off x="1452465" y="5945980"/>
            <a:ext cx="5682754" cy="302419"/>
          </a:xfrm>
          <a:prstGeom prst="rect">
            <a:avLst/>
          </a:prstGeom>
          <a:noFill/>
          <a:ln/>
        </p:spPr>
        <p:txBody>
          <a:bodyPr wrap="none" lIns="0" tIns="0" rIns="0" bIns="0" rtlCol="0" anchor="t"/>
          <a:lstStyle/>
          <a:p>
            <a:pPr>
              <a:lnSpc>
                <a:spcPts val="2375"/>
              </a:lnSpc>
            </a:pPr>
            <a:r>
              <a:rPr lang="en-US" dirty="0">
                <a:solidFill>
                  <a:srgbClr val="000000"/>
                </a:solidFill>
                <a:ea typeface="Inter" pitchFamily="34" charset="-122"/>
                <a:cs typeface="Inter" pitchFamily="34" charset="-120"/>
              </a:rPr>
              <a:t>Tail extends to the left (most values high, few low values)</a:t>
            </a:r>
            <a:endParaRPr lang="en-US" dirty="0"/>
          </a:p>
        </p:txBody>
      </p:sp>
      <p:pic>
        <p:nvPicPr>
          <p:cNvPr id="14" name="Picture 13" descr="A graph of a bar graph  AI-generated content may be incorrect.">
            <a:extLst>
              <a:ext uri="{FF2B5EF4-FFF2-40B4-BE49-F238E27FC236}">
                <a16:creationId xmlns:a16="http://schemas.microsoft.com/office/drawing/2014/main" id="{E7EEEB9E-DAA4-3AE9-EB99-14FDA6BF5DEC}"/>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7793156" y="3778446"/>
            <a:ext cx="3985895" cy="2988945"/>
          </a:xfrm>
          <a:prstGeom prst="rect">
            <a:avLst/>
          </a:prstGeom>
          <a:noFill/>
          <a:ln>
            <a:noFill/>
          </a:ln>
        </p:spPr>
      </p:pic>
    </p:spTree>
    <p:extLst>
      <p:ext uri="{BB962C8B-B14F-4D97-AF65-F5344CB8AC3E}">
        <p14:creationId xmlns:p14="http://schemas.microsoft.com/office/powerpoint/2010/main" val="996301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9F6B6-D96C-4198-A251-1CFB1F0DD31F}"/>
              </a:ext>
            </a:extLst>
          </p:cNvPr>
          <p:cNvSpPr>
            <a:spLocks noGrp="1"/>
          </p:cNvSpPr>
          <p:nvPr>
            <p:ph type="title"/>
          </p:nvPr>
        </p:nvSpPr>
        <p:spPr/>
        <p:txBody>
          <a:bodyPr/>
          <a:lstStyle/>
          <a:p>
            <a:r>
              <a:rPr lang="en-US" dirty="0"/>
              <a:t>Histogram in R</a:t>
            </a:r>
          </a:p>
        </p:txBody>
      </p:sp>
      <p:sp>
        <p:nvSpPr>
          <p:cNvPr id="5" name="TextBox 4">
            <a:extLst>
              <a:ext uri="{FF2B5EF4-FFF2-40B4-BE49-F238E27FC236}">
                <a16:creationId xmlns:a16="http://schemas.microsoft.com/office/drawing/2014/main" id="{68F7F93A-69A3-8727-7438-333D7A52E800}"/>
              </a:ext>
            </a:extLst>
          </p:cNvPr>
          <p:cNvSpPr txBox="1"/>
          <p:nvPr/>
        </p:nvSpPr>
        <p:spPr>
          <a:xfrm>
            <a:off x="735806" y="3103513"/>
            <a:ext cx="5360194" cy="2585323"/>
          </a:xfrm>
          <a:prstGeom prst="rect">
            <a:avLst/>
          </a:prstGeom>
          <a:noFill/>
        </p:spPr>
        <p:txBody>
          <a:bodyPr wrap="square">
            <a:spAutoFit/>
          </a:bodyPr>
          <a:lstStyle/>
          <a:p>
            <a:r>
              <a:rPr lang="en-US" dirty="0"/>
              <a:t>scores &lt;- c(83, 77, 84, 93, 76, 76, 94, 86, 73, 83, 73, 73, 80, 59, 61, 72, 68, 81, 69, 64, 93, 76, 79, 64, 73, 79, 66, 82, 72, 75)</a:t>
            </a:r>
          </a:p>
          <a:p>
            <a:endParaRPr lang="en-US" dirty="0"/>
          </a:p>
          <a:p>
            <a:r>
              <a:rPr lang="en-US" dirty="0"/>
              <a:t>hist(scores, breaks=10, main="Distribution of Exam Scores",</a:t>
            </a:r>
          </a:p>
          <a:p>
            <a:r>
              <a:rPr lang="en-US" dirty="0"/>
              <a:t xml:space="preserve">     </a:t>
            </a:r>
            <a:r>
              <a:rPr lang="en-US" dirty="0" err="1"/>
              <a:t>xlab</a:t>
            </a:r>
            <a:r>
              <a:rPr lang="en-US" dirty="0"/>
              <a:t xml:space="preserve">="Score", </a:t>
            </a:r>
            <a:r>
              <a:rPr lang="en-US" dirty="0" err="1"/>
              <a:t>ylab</a:t>
            </a:r>
            <a:r>
              <a:rPr lang="en-US" dirty="0"/>
              <a:t>="Number of Students",</a:t>
            </a:r>
          </a:p>
          <a:p>
            <a:r>
              <a:rPr lang="en-US" dirty="0"/>
              <a:t xml:space="preserve">     col = "</a:t>
            </a:r>
            <a:r>
              <a:rPr lang="en-US" dirty="0" err="1"/>
              <a:t>lightblue</a:t>
            </a:r>
            <a:r>
              <a:rPr lang="en-US" dirty="0"/>
              <a:t>",</a:t>
            </a:r>
          </a:p>
          <a:p>
            <a:r>
              <a:rPr lang="en-US" dirty="0"/>
              <a:t xml:space="preserve">        border = "black",)</a:t>
            </a:r>
          </a:p>
        </p:txBody>
      </p:sp>
      <p:pic>
        <p:nvPicPr>
          <p:cNvPr id="7" name="Picture 6" descr="A graph of a distribution of exam scores  AI-generated content may be incorrect.">
            <a:extLst>
              <a:ext uri="{FF2B5EF4-FFF2-40B4-BE49-F238E27FC236}">
                <a16:creationId xmlns:a16="http://schemas.microsoft.com/office/drawing/2014/main" id="{CBB222FE-35A3-6C07-D64D-69AEDEE468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65580" y="2114550"/>
            <a:ext cx="5153357" cy="4214812"/>
          </a:xfrm>
          <a:prstGeom prst="rect">
            <a:avLst/>
          </a:prstGeom>
        </p:spPr>
      </p:pic>
    </p:spTree>
    <p:extLst>
      <p:ext uri="{BB962C8B-B14F-4D97-AF65-F5344CB8AC3E}">
        <p14:creationId xmlns:p14="http://schemas.microsoft.com/office/powerpoint/2010/main" val="2117605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3F64-D316-8664-4E8E-E8B8BC6C1041}"/>
              </a:ext>
            </a:extLst>
          </p:cNvPr>
          <p:cNvSpPr>
            <a:spLocks noGrp="1"/>
          </p:cNvSpPr>
          <p:nvPr>
            <p:ph type="title"/>
          </p:nvPr>
        </p:nvSpPr>
        <p:spPr/>
        <p:txBody>
          <a:bodyPr/>
          <a:lstStyle/>
          <a:p>
            <a:r>
              <a:rPr lang="en-US" dirty="0"/>
              <a:t>Histogram in Python</a:t>
            </a:r>
          </a:p>
        </p:txBody>
      </p:sp>
      <p:sp>
        <p:nvSpPr>
          <p:cNvPr id="5" name="TextBox 4">
            <a:extLst>
              <a:ext uri="{FF2B5EF4-FFF2-40B4-BE49-F238E27FC236}">
                <a16:creationId xmlns:a16="http://schemas.microsoft.com/office/drawing/2014/main" id="{78401CE6-CF32-DB12-C29B-4DE94B6647CC}"/>
              </a:ext>
            </a:extLst>
          </p:cNvPr>
          <p:cNvSpPr txBox="1"/>
          <p:nvPr/>
        </p:nvSpPr>
        <p:spPr>
          <a:xfrm>
            <a:off x="838200" y="2820845"/>
            <a:ext cx="6100762" cy="3139321"/>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import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matplotlib.pyplot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a:solidFill>
                  <a:srgbClr val="0000FF"/>
                </a:solidFill>
                <a:effectLst/>
                <a:latin typeface="Consolas" panose="020B0609020204030204" pitchFamily="49" charset="0"/>
                <a:ea typeface="Times New Roman" panose="02020603050405020304" pitchFamily="18" charset="0"/>
                <a:cs typeface="Courier New" panose="02070309020205020404" pitchFamily="49" charset="0"/>
              </a:rPr>
              <a:t>as</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scores = [83, 77, 84, 93, 76, 76, 94, 86, 73, 83, 73, 73, 80, 59, 61, 72, 68, 81, 69, 64, 93, 76, 79, 64, 73, 79, 66, 82, 72, 75]</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plt.hist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(scores, bins=</a:t>
            </a:r>
            <a:r>
              <a:rPr lang="en-US" sz="1800" dirty="0">
                <a:solidFill>
                  <a:srgbClr val="006666"/>
                </a:solidFill>
                <a:effectLst/>
                <a:latin typeface="Consolas" panose="020B0609020204030204" pitchFamily="49" charset="0"/>
                <a:ea typeface="Times New Roman" panose="02020603050405020304" pitchFamily="18" charset="0"/>
                <a:cs typeface="Courier New" panose="02070309020205020404" pitchFamily="49" charset="0"/>
              </a:rPr>
              <a:t>10</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xml:space="preserve">,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edgecolor</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plt.title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Exam Scores"</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plt.xlabel</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"Score"</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plt.ylabel</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"Number of Students"</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plt.show</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p:txBody>
      </p:sp>
      <p:pic>
        <p:nvPicPr>
          <p:cNvPr id="6" name="Picture 5" descr="A graph of a bar graph  AI-generated content may be incorrect.">
            <a:extLst>
              <a:ext uri="{FF2B5EF4-FFF2-40B4-BE49-F238E27FC236}">
                <a16:creationId xmlns:a16="http://schemas.microsoft.com/office/drawing/2014/main" id="{817651D9-A861-568D-F34A-8CF3EDE33014}"/>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6938962" y="2424663"/>
            <a:ext cx="4881562" cy="3660588"/>
          </a:xfrm>
          <a:prstGeom prst="rect">
            <a:avLst/>
          </a:prstGeom>
          <a:noFill/>
          <a:ln>
            <a:noFill/>
          </a:ln>
        </p:spPr>
      </p:pic>
    </p:spTree>
    <p:extLst>
      <p:ext uri="{BB962C8B-B14F-4D97-AF65-F5344CB8AC3E}">
        <p14:creationId xmlns:p14="http://schemas.microsoft.com/office/powerpoint/2010/main" val="1338924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189BC-C89D-FE31-9455-5E8AFEE9B3CA}"/>
              </a:ext>
            </a:extLst>
          </p:cNvPr>
          <p:cNvSpPr>
            <a:spLocks noGrp="1"/>
          </p:cNvSpPr>
          <p:nvPr>
            <p:ph type="title"/>
          </p:nvPr>
        </p:nvSpPr>
        <p:spPr/>
        <p:txBody>
          <a:bodyPr/>
          <a:lstStyle/>
          <a:p>
            <a:r>
              <a:rPr lang="en-US" dirty="0"/>
              <a:t>Interpreting a Histogram</a:t>
            </a:r>
          </a:p>
        </p:txBody>
      </p:sp>
      <p:sp>
        <p:nvSpPr>
          <p:cNvPr id="3" name="Content Placeholder 2">
            <a:extLst>
              <a:ext uri="{FF2B5EF4-FFF2-40B4-BE49-F238E27FC236}">
                <a16:creationId xmlns:a16="http://schemas.microsoft.com/office/drawing/2014/main" id="{7559CF4C-358D-C82E-A421-CA72A063F339}"/>
              </a:ext>
            </a:extLst>
          </p:cNvPr>
          <p:cNvSpPr>
            <a:spLocks noGrp="1"/>
          </p:cNvSpPr>
          <p:nvPr>
            <p:ph idx="1"/>
          </p:nvPr>
        </p:nvSpPr>
        <p:spPr/>
        <p:txBody>
          <a:bodyPr>
            <a:normAutofit fontScale="77500" lnSpcReduction="20000"/>
          </a:bodyPr>
          <a:lstStyle/>
          <a:p>
            <a:r>
              <a:rPr lang="en-US" b="1" dirty="0"/>
              <a:t>Histogram Summary</a:t>
            </a:r>
            <a:r>
              <a:rPr lang="en-US" dirty="0"/>
              <a:t xml:space="preserve">: Most students scored between </a:t>
            </a:r>
            <a:r>
              <a:rPr lang="en-US" b="1" dirty="0"/>
              <a:t>70 and 90</a:t>
            </a:r>
            <a:r>
              <a:rPr lang="en-US" dirty="0"/>
              <a:t>, forming a clear cluster.</a:t>
            </a:r>
          </a:p>
          <a:p>
            <a:r>
              <a:rPr lang="en-US" b="1" dirty="0"/>
              <a:t>Peak Performance</a:t>
            </a:r>
            <a:r>
              <a:rPr lang="en-US" dirty="0"/>
              <a:t xml:space="preserve">: The highest bar (mode) is around </a:t>
            </a:r>
            <a:r>
              <a:rPr lang="en-US" b="1" dirty="0"/>
              <a:t>80–85</a:t>
            </a:r>
            <a:r>
              <a:rPr lang="en-US" dirty="0"/>
              <a:t>, showing the most common scores.</a:t>
            </a:r>
          </a:p>
          <a:p>
            <a:r>
              <a:rPr lang="en-US" b="1" dirty="0"/>
              <a:t>Shape of the Distribution</a:t>
            </a:r>
            <a:r>
              <a:rPr lang="en-US" dirty="0"/>
              <a:t xml:space="preserve">: The data is </a:t>
            </a:r>
            <a:r>
              <a:rPr lang="en-US" b="1" dirty="0"/>
              <a:t>roughly symmetric</a:t>
            </a:r>
            <a:r>
              <a:rPr lang="en-US" dirty="0"/>
              <a:t xml:space="preserve"> around 80 – meaning no major skew.</a:t>
            </a:r>
          </a:p>
          <a:p>
            <a:r>
              <a:rPr lang="en-US" b="1" dirty="0"/>
              <a:t>Outlier Alert</a:t>
            </a:r>
            <a:r>
              <a:rPr lang="en-US" dirty="0"/>
              <a:t xml:space="preserve">: One student scored </a:t>
            </a:r>
            <a:r>
              <a:rPr lang="en-US" b="1" dirty="0"/>
              <a:t>much lower</a:t>
            </a:r>
            <a:r>
              <a:rPr lang="en-US" dirty="0"/>
              <a:t xml:space="preserve">, in the </a:t>
            </a:r>
            <a:r>
              <a:rPr lang="en-US" b="1" dirty="0"/>
              <a:t>50–60</a:t>
            </a:r>
            <a:r>
              <a:rPr lang="en-US" dirty="0"/>
              <a:t xml:space="preserve"> range – an example of an </a:t>
            </a:r>
            <a:r>
              <a:rPr lang="en-US" b="1" dirty="0"/>
              <a:t>outlier</a:t>
            </a:r>
            <a:r>
              <a:rPr lang="en-US" dirty="0"/>
              <a:t>.</a:t>
            </a:r>
          </a:p>
          <a:p>
            <a:r>
              <a:rPr lang="en-US" b="1" dirty="0"/>
              <a:t>What It Suggests</a:t>
            </a:r>
            <a:r>
              <a:rPr lang="en-US" dirty="0"/>
              <a:t xml:space="preserve">: Most students performed reasonably well, but </a:t>
            </a:r>
            <a:r>
              <a:rPr lang="en-US" b="1" dirty="0"/>
              <a:t>one student may have struggled</a:t>
            </a:r>
            <a:r>
              <a:rPr lang="en-US" dirty="0"/>
              <a:t>.</a:t>
            </a:r>
          </a:p>
          <a:p>
            <a:r>
              <a:rPr lang="en-US" b="1" dirty="0"/>
              <a:t>Takeaway</a:t>
            </a:r>
            <a:r>
              <a:rPr lang="en-US" dirty="0"/>
              <a:t xml:space="preserve">: A histogram helps </a:t>
            </a:r>
            <a:r>
              <a:rPr lang="en-US" b="1" dirty="0"/>
              <a:t>tell the story</a:t>
            </a:r>
            <a:r>
              <a:rPr lang="en-US" dirty="0"/>
              <a:t xml:space="preserve"> of the data — where most students are, and who stands out.</a:t>
            </a:r>
          </a:p>
          <a:p>
            <a:endParaRPr lang="en-US" dirty="0"/>
          </a:p>
        </p:txBody>
      </p:sp>
    </p:spTree>
    <p:extLst>
      <p:ext uri="{BB962C8B-B14F-4D97-AF65-F5344CB8AC3E}">
        <p14:creationId xmlns:p14="http://schemas.microsoft.com/office/powerpoint/2010/main" val="283172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920C-7A01-218E-5774-906833B931EC}"/>
              </a:ext>
            </a:extLst>
          </p:cNvPr>
          <p:cNvSpPr>
            <a:spLocks noGrp="1"/>
          </p:cNvSpPr>
          <p:nvPr>
            <p:ph type="title"/>
          </p:nvPr>
        </p:nvSpPr>
        <p:spPr>
          <a:xfrm>
            <a:off x="838200" y="604386"/>
            <a:ext cx="10515600" cy="1325563"/>
          </a:xfrm>
        </p:spPr>
        <p:txBody>
          <a:bodyPr/>
          <a:lstStyle/>
          <a:p>
            <a:r>
              <a:rPr lang="en-US" dirty="0"/>
              <a:t>Exploring Numerical Data: Boxplot</a:t>
            </a:r>
          </a:p>
        </p:txBody>
      </p:sp>
      <p:pic>
        <p:nvPicPr>
          <p:cNvPr id="4" name="Image 0" descr="preencoded.png">
            <a:extLst>
              <a:ext uri="{FF2B5EF4-FFF2-40B4-BE49-F238E27FC236}">
                <a16:creationId xmlns:a16="http://schemas.microsoft.com/office/drawing/2014/main" id="{D0B7C61B-7FC0-9F72-6B47-2BE6C014E79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8200" y="1870174"/>
            <a:ext cx="3086100" cy="4629150"/>
          </a:xfrm>
          <a:prstGeom prst="rect">
            <a:avLst/>
          </a:prstGeom>
        </p:spPr>
      </p:pic>
      <p:sp>
        <p:nvSpPr>
          <p:cNvPr id="5" name="Shape 1">
            <a:extLst>
              <a:ext uri="{FF2B5EF4-FFF2-40B4-BE49-F238E27FC236}">
                <a16:creationId xmlns:a16="http://schemas.microsoft.com/office/drawing/2014/main" id="{4ACF790F-DB4C-E454-C512-8B5D768FCC42}"/>
              </a:ext>
            </a:extLst>
          </p:cNvPr>
          <p:cNvSpPr/>
          <p:nvPr/>
        </p:nvSpPr>
        <p:spPr>
          <a:xfrm>
            <a:off x="4490541" y="2095621"/>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6" name="Text 2">
            <a:extLst>
              <a:ext uri="{FF2B5EF4-FFF2-40B4-BE49-F238E27FC236}">
                <a16:creationId xmlns:a16="http://schemas.microsoft.com/office/drawing/2014/main" id="{CB996F75-A54F-70BA-163D-F5BF91AD8CF5}"/>
              </a:ext>
            </a:extLst>
          </p:cNvPr>
          <p:cNvSpPr/>
          <p:nvPr/>
        </p:nvSpPr>
        <p:spPr>
          <a:xfrm>
            <a:off x="5104804" y="2160510"/>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Box</a:t>
            </a:r>
            <a:endParaRPr lang="en-US" sz="2800" dirty="0">
              <a:latin typeface="Aptos" panose="020B0004020202020204" pitchFamily="34" charset="0"/>
            </a:endParaRPr>
          </a:p>
        </p:txBody>
      </p:sp>
      <p:sp>
        <p:nvSpPr>
          <p:cNvPr id="7" name="Text 3">
            <a:extLst>
              <a:ext uri="{FF2B5EF4-FFF2-40B4-BE49-F238E27FC236}">
                <a16:creationId xmlns:a16="http://schemas.microsoft.com/office/drawing/2014/main" id="{23B5341C-4D89-38F6-AF54-D09716C69E43}"/>
              </a:ext>
            </a:extLst>
          </p:cNvPr>
          <p:cNvSpPr/>
          <p:nvPr/>
        </p:nvSpPr>
        <p:spPr>
          <a:xfrm>
            <a:off x="5104805" y="2569193"/>
            <a:ext cx="5682754"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Shows the middle 50% of data (interquartile range)</a:t>
            </a:r>
            <a:endParaRPr lang="en-US" sz="2000" dirty="0">
              <a:latin typeface="Aptos" panose="020B0004020202020204" pitchFamily="34" charset="0"/>
            </a:endParaRPr>
          </a:p>
        </p:txBody>
      </p:sp>
      <p:sp>
        <p:nvSpPr>
          <p:cNvPr id="8" name="Shape 4">
            <a:extLst>
              <a:ext uri="{FF2B5EF4-FFF2-40B4-BE49-F238E27FC236}">
                <a16:creationId xmlns:a16="http://schemas.microsoft.com/office/drawing/2014/main" id="{7D7C9BF7-6C7D-9DE2-75B7-4418D30FCE52}"/>
              </a:ext>
            </a:extLst>
          </p:cNvPr>
          <p:cNvSpPr/>
          <p:nvPr/>
        </p:nvSpPr>
        <p:spPr>
          <a:xfrm>
            <a:off x="4490541" y="3249634"/>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9" name="Text 5">
            <a:extLst>
              <a:ext uri="{FF2B5EF4-FFF2-40B4-BE49-F238E27FC236}">
                <a16:creationId xmlns:a16="http://schemas.microsoft.com/office/drawing/2014/main" id="{2E97DC89-D925-A696-4986-5D932617B5BC}"/>
              </a:ext>
            </a:extLst>
          </p:cNvPr>
          <p:cNvSpPr/>
          <p:nvPr/>
        </p:nvSpPr>
        <p:spPr>
          <a:xfrm>
            <a:off x="5104804" y="331452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Line in Box</a:t>
            </a:r>
            <a:endParaRPr lang="en-US" sz="2800" dirty="0">
              <a:latin typeface="Aptos" panose="020B0004020202020204" pitchFamily="34" charset="0"/>
            </a:endParaRPr>
          </a:p>
        </p:txBody>
      </p:sp>
      <p:sp>
        <p:nvSpPr>
          <p:cNvPr id="10" name="Text 6">
            <a:extLst>
              <a:ext uri="{FF2B5EF4-FFF2-40B4-BE49-F238E27FC236}">
                <a16:creationId xmlns:a16="http://schemas.microsoft.com/office/drawing/2014/main" id="{06B98263-D5C8-FA99-7F3B-D9B46D88E4F6}"/>
              </a:ext>
            </a:extLst>
          </p:cNvPr>
          <p:cNvSpPr/>
          <p:nvPr/>
        </p:nvSpPr>
        <p:spPr>
          <a:xfrm>
            <a:off x="5104805" y="3723206"/>
            <a:ext cx="5682754"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Represents the median (middle value)</a:t>
            </a:r>
            <a:endParaRPr lang="en-US" sz="2000" dirty="0">
              <a:latin typeface="Aptos" panose="020B0004020202020204" pitchFamily="34" charset="0"/>
            </a:endParaRPr>
          </a:p>
        </p:txBody>
      </p:sp>
      <p:sp>
        <p:nvSpPr>
          <p:cNvPr id="11" name="Shape 7">
            <a:extLst>
              <a:ext uri="{FF2B5EF4-FFF2-40B4-BE49-F238E27FC236}">
                <a16:creationId xmlns:a16="http://schemas.microsoft.com/office/drawing/2014/main" id="{0CEE2E17-441A-DC78-156B-AF323F371C05}"/>
              </a:ext>
            </a:extLst>
          </p:cNvPr>
          <p:cNvSpPr/>
          <p:nvPr/>
        </p:nvSpPr>
        <p:spPr>
          <a:xfrm>
            <a:off x="4490541" y="4403647"/>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2" name="Text 8">
            <a:extLst>
              <a:ext uri="{FF2B5EF4-FFF2-40B4-BE49-F238E27FC236}">
                <a16:creationId xmlns:a16="http://schemas.microsoft.com/office/drawing/2014/main" id="{AF3A99CE-602D-8115-C7AE-8039156DCB2B}"/>
              </a:ext>
            </a:extLst>
          </p:cNvPr>
          <p:cNvSpPr/>
          <p:nvPr/>
        </p:nvSpPr>
        <p:spPr>
          <a:xfrm>
            <a:off x="5104804" y="4468536"/>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Whiskers</a:t>
            </a:r>
            <a:endParaRPr lang="en-US" sz="2800" dirty="0">
              <a:latin typeface="Aptos" panose="020B0004020202020204" pitchFamily="34" charset="0"/>
            </a:endParaRPr>
          </a:p>
        </p:txBody>
      </p:sp>
      <p:sp>
        <p:nvSpPr>
          <p:cNvPr id="13" name="Text 9">
            <a:extLst>
              <a:ext uri="{FF2B5EF4-FFF2-40B4-BE49-F238E27FC236}">
                <a16:creationId xmlns:a16="http://schemas.microsoft.com/office/drawing/2014/main" id="{1ADA914F-3F05-3FA5-9593-FC71AB33592A}"/>
              </a:ext>
            </a:extLst>
          </p:cNvPr>
          <p:cNvSpPr/>
          <p:nvPr/>
        </p:nvSpPr>
        <p:spPr>
          <a:xfrm>
            <a:off x="5104805" y="4877219"/>
            <a:ext cx="5682754"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Extend to show the range of typical values</a:t>
            </a:r>
            <a:endParaRPr lang="en-US" sz="2000" dirty="0">
              <a:latin typeface="Aptos" panose="020B0004020202020204" pitchFamily="34" charset="0"/>
            </a:endParaRPr>
          </a:p>
        </p:txBody>
      </p:sp>
      <p:sp>
        <p:nvSpPr>
          <p:cNvPr id="14" name="Shape 10">
            <a:extLst>
              <a:ext uri="{FF2B5EF4-FFF2-40B4-BE49-F238E27FC236}">
                <a16:creationId xmlns:a16="http://schemas.microsoft.com/office/drawing/2014/main" id="{65828803-71B2-6E97-BA5E-97F0A3AC5461}"/>
              </a:ext>
            </a:extLst>
          </p:cNvPr>
          <p:cNvSpPr/>
          <p:nvPr/>
        </p:nvSpPr>
        <p:spPr>
          <a:xfrm>
            <a:off x="4490541" y="5557660"/>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5" name="Text 11">
            <a:extLst>
              <a:ext uri="{FF2B5EF4-FFF2-40B4-BE49-F238E27FC236}">
                <a16:creationId xmlns:a16="http://schemas.microsoft.com/office/drawing/2014/main" id="{85E6C801-5673-4540-6D4B-3458D036B16B}"/>
              </a:ext>
            </a:extLst>
          </p:cNvPr>
          <p:cNvSpPr/>
          <p:nvPr/>
        </p:nvSpPr>
        <p:spPr>
          <a:xfrm>
            <a:off x="5104804" y="5622550"/>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Dots</a:t>
            </a:r>
            <a:endParaRPr lang="en-US" sz="2800" dirty="0">
              <a:latin typeface="Aptos" panose="020B0004020202020204" pitchFamily="34" charset="0"/>
            </a:endParaRPr>
          </a:p>
        </p:txBody>
      </p:sp>
      <p:sp>
        <p:nvSpPr>
          <p:cNvPr id="16" name="Text 12">
            <a:extLst>
              <a:ext uri="{FF2B5EF4-FFF2-40B4-BE49-F238E27FC236}">
                <a16:creationId xmlns:a16="http://schemas.microsoft.com/office/drawing/2014/main" id="{C5815F63-D503-8D28-8B1E-529021974E98}"/>
              </a:ext>
            </a:extLst>
          </p:cNvPr>
          <p:cNvSpPr/>
          <p:nvPr/>
        </p:nvSpPr>
        <p:spPr>
          <a:xfrm>
            <a:off x="5104805" y="6031233"/>
            <a:ext cx="5682754"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Individual points show outliers (unusual values)</a:t>
            </a:r>
            <a:endParaRPr lang="en-US" sz="2000" dirty="0">
              <a:latin typeface="Aptos" panose="020B0004020202020204" pitchFamily="34" charset="0"/>
            </a:endParaRPr>
          </a:p>
        </p:txBody>
      </p:sp>
    </p:spTree>
    <p:extLst>
      <p:ext uri="{BB962C8B-B14F-4D97-AF65-F5344CB8AC3E}">
        <p14:creationId xmlns:p14="http://schemas.microsoft.com/office/powerpoint/2010/main" val="3265918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1FB0-B944-7F33-72FC-27249E009CA3}"/>
              </a:ext>
            </a:extLst>
          </p:cNvPr>
          <p:cNvSpPr>
            <a:spLocks noGrp="1"/>
          </p:cNvSpPr>
          <p:nvPr>
            <p:ph type="title"/>
          </p:nvPr>
        </p:nvSpPr>
        <p:spPr/>
        <p:txBody>
          <a:bodyPr/>
          <a:lstStyle/>
          <a:p>
            <a:r>
              <a:rPr lang="en-US" dirty="0"/>
              <a:t>Interpreting Distributions</a:t>
            </a:r>
          </a:p>
        </p:txBody>
      </p:sp>
      <p:graphicFrame>
        <p:nvGraphicFramePr>
          <p:cNvPr id="4" name="Content Placeholder 3">
            <a:extLst>
              <a:ext uri="{FF2B5EF4-FFF2-40B4-BE49-F238E27FC236}">
                <a16:creationId xmlns:a16="http://schemas.microsoft.com/office/drawing/2014/main" id="{09BB5523-D21F-6FB2-B9FC-E4A966584B33}"/>
              </a:ext>
            </a:extLst>
          </p:cNvPr>
          <p:cNvGraphicFramePr>
            <a:graphicFrameLocks noGrp="1"/>
          </p:cNvGraphicFramePr>
          <p:nvPr>
            <p:ph idx="1"/>
            <p:extLst>
              <p:ext uri="{D42A27DB-BD31-4B8C-83A1-F6EECF244321}">
                <p14:modId xmlns:p14="http://schemas.microsoft.com/office/powerpoint/2010/main" val="2694629671"/>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5815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979EF-BAD9-7D15-DB66-0A72CB27FB97}"/>
              </a:ext>
            </a:extLst>
          </p:cNvPr>
          <p:cNvSpPr>
            <a:spLocks noGrp="1"/>
          </p:cNvSpPr>
          <p:nvPr>
            <p:ph type="title"/>
          </p:nvPr>
        </p:nvSpPr>
        <p:spPr/>
        <p:txBody>
          <a:bodyPr/>
          <a:lstStyle/>
          <a:p>
            <a:r>
              <a:rPr lang="en-US" dirty="0"/>
              <a:t xml:space="preserve">Hands-On Activity: Univariate Exploration </a:t>
            </a:r>
          </a:p>
        </p:txBody>
      </p:sp>
      <p:sp>
        <p:nvSpPr>
          <p:cNvPr id="3" name="Content Placeholder 2">
            <a:extLst>
              <a:ext uri="{FF2B5EF4-FFF2-40B4-BE49-F238E27FC236}">
                <a16:creationId xmlns:a16="http://schemas.microsoft.com/office/drawing/2014/main" id="{4E85EFCB-76F7-2C51-4CE6-7EB8F6C6F572}"/>
              </a:ext>
            </a:extLst>
          </p:cNvPr>
          <p:cNvSpPr>
            <a:spLocks noGrp="1"/>
          </p:cNvSpPr>
          <p:nvPr>
            <p:ph idx="1"/>
          </p:nvPr>
        </p:nvSpPr>
        <p:spPr/>
        <p:txBody>
          <a:bodyPr>
            <a:normAutofit/>
          </a:bodyPr>
          <a:lstStyle/>
          <a:p>
            <a:r>
              <a:rPr lang="en-US" i="1" dirty="0"/>
              <a:t>Objective:</a:t>
            </a:r>
            <a:r>
              <a:rPr lang="en-US" dirty="0"/>
              <a:t xml:space="preserve"> Develop skills in summarizing and visualizing one variable at a time.</a:t>
            </a:r>
          </a:p>
          <a:p>
            <a:pPr lvl="0"/>
            <a:r>
              <a:rPr lang="en-US" dirty="0"/>
              <a:t xml:space="preserve">Use the </a:t>
            </a:r>
            <a:r>
              <a:rPr lang="en-US" dirty="0" err="1"/>
              <a:t>combined_class.csv</a:t>
            </a:r>
            <a:r>
              <a:rPr lang="en-US" dirty="0"/>
              <a:t xml:space="preserve"> data from the previous session</a:t>
            </a:r>
          </a:p>
          <a:p>
            <a:pPr lvl="0"/>
            <a:r>
              <a:rPr lang="en-US" dirty="0"/>
              <a:t xml:space="preserve">Pick the Club column. Tally the frequencies of each category. </a:t>
            </a:r>
            <a:r>
              <a:rPr lang="en-US" i="1" dirty="0"/>
              <a:t>Create a bar chart</a:t>
            </a:r>
            <a:r>
              <a:rPr lang="en-US" dirty="0"/>
              <a:t>. Write a sentence about which category was most common and which was least.</a:t>
            </a:r>
          </a:p>
          <a:p>
            <a:endParaRPr lang="en-US" dirty="0"/>
          </a:p>
        </p:txBody>
      </p:sp>
    </p:spTree>
    <p:extLst>
      <p:ext uri="{BB962C8B-B14F-4D97-AF65-F5344CB8AC3E}">
        <p14:creationId xmlns:p14="http://schemas.microsoft.com/office/powerpoint/2010/main" val="309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28628-52BA-A9A3-8F26-6C6A8C9A8BBB}"/>
              </a:ext>
            </a:extLst>
          </p:cNvPr>
          <p:cNvSpPr>
            <a:spLocks noGrp="1"/>
          </p:cNvSpPr>
          <p:nvPr>
            <p:ph type="title"/>
          </p:nvPr>
        </p:nvSpPr>
        <p:spPr>
          <a:xfrm>
            <a:off x="821531" y="464921"/>
            <a:ext cx="10515600" cy="1325563"/>
          </a:xfrm>
        </p:spPr>
        <p:txBody>
          <a:bodyPr/>
          <a:lstStyle/>
          <a:p>
            <a:r>
              <a:rPr lang="en-US" dirty="0"/>
              <a:t>R</a:t>
            </a:r>
          </a:p>
        </p:txBody>
      </p:sp>
      <p:sp>
        <p:nvSpPr>
          <p:cNvPr id="5" name="TextBox 4">
            <a:extLst>
              <a:ext uri="{FF2B5EF4-FFF2-40B4-BE49-F238E27FC236}">
                <a16:creationId xmlns:a16="http://schemas.microsoft.com/office/drawing/2014/main" id="{F9913FD4-952E-C903-7054-C06900EA9BA6}"/>
              </a:ext>
            </a:extLst>
          </p:cNvPr>
          <p:cNvSpPr txBox="1"/>
          <p:nvPr/>
        </p:nvSpPr>
        <p:spPr>
          <a:xfrm>
            <a:off x="821531" y="1748837"/>
            <a:ext cx="5593557" cy="4801314"/>
          </a:xfrm>
          <a:prstGeom prst="rect">
            <a:avLst/>
          </a:prstGeom>
          <a:noFill/>
        </p:spPr>
        <p:txBody>
          <a:bodyPr wrap="square">
            <a:spAutoFit/>
          </a:bodyPr>
          <a:lstStyle/>
          <a:p>
            <a:r>
              <a:rPr lang="en-US" dirty="0"/>
              <a:t># Hands-on Activity</a:t>
            </a:r>
          </a:p>
          <a:p>
            <a:r>
              <a:rPr lang="en-US" dirty="0" err="1"/>
              <a:t>combined_class</a:t>
            </a:r>
            <a:r>
              <a:rPr lang="en-US" dirty="0"/>
              <a:t xml:space="preserve"> &lt;- </a:t>
            </a:r>
            <a:r>
              <a:rPr lang="en-US" dirty="0" err="1"/>
              <a:t>read.csv</a:t>
            </a:r>
            <a:r>
              <a:rPr lang="en-US" dirty="0"/>
              <a:t>("</a:t>
            </a:r>
            <a:r>
              <a:rPr lang="en-US" dirty="0" err="1"/>
              <a:t>combined_class.csv</a:t>
            </a:r>
            <a:r>
              <a:rPr lang="en-US" dirty="0"/>
              <a:t>")</a:t>
            </a:r>
          </a:p>
          <a:p>
            <a:r>
              <a:rPr lang="en-US" dirty="0"/>
              <a:t># Convert to factor</a:t>
            </a:r>
          </a:p>
          <a:p>
            <a:r>
              <a:rPr lang="en-US" dirty="0"/>
              <a:t>club &lt;- factor(</a:t>
            </a:r>
            <a:r>
              <a:rPr lang="en-US" dirty="0" err="1"/>
              <a:t>combined_class$Club</a:t>
            </a:r>
            <a:r>
              <a:rPr lang="en-US" dirty="0"/>
              <a:t>)</a:t>
            </a:r>
          </a:p>
          <a:p>
            <a:endParaRPr lang="en-US" dirty="0"/>
          </a:p>
          <a:p>
            <a:r>
              <a:rPr lang="en-US" dirty="0"/>
              <a:t># Use table to count frequencies</a:t>
            </a:r>
          </a:p>
          <a:p>
            <a:r>
              <a:rPr lang="en-US" dirty="0" err="1"/>
              <a:t>club_table</a:t>
            </a:r>
            <a:r>
              <a:rPr lang="en-US" dirty="0"/>
              <a:t xml:space="preserve"> &lt;- table(club)</a:t>
            </a:r>
          </a:p>
          <a:p>
            <a:r>
              <a:rPr lang="en-US" dirty="0" err="1"/>
              <a:t>club_table</a:t>
            </a:r>
            <a:endParaRPr lang="en-US" dirty="0"/>
          </a:p>
          <a:p>
            <a:endParaRPr lang="en-US" dirty="0"/>
          </a:p>
          <a:p>
            <a:r>
              <a:rPr lang="en-US" dirty="0"/>
              <a:t xml:space="preserve"># Plot using </a:t>
            </a:r>
            <a:r>
              <a:rPr lang="en-US" dirty="0" err="1"/>
              <a:t>barplot</a:t>
            </a:r>
            <a:r>
              <a:rPr lang="en-US" dirty="0"/>
              <a:t xml:space="preserve"> (not hist, since hist is for numeric data)</a:t>
            </a:r>
          </a:p>
          <a:p>
            <a:r>
              <a:rPr lang="en-US" dirty="0" err="1"/>
              <a:t>barplot</a:t>
            </a:r>
            <a:r>
              <a:rPr lang="en-US" dirty="0"/>
              <a:t>(</a:t>
            </a:r>
            <a:r>
              <a:rPr lang="en-US" dirty="0" err="1"/>
              <a:t>club_table</a:t>
            </a:r>
            <a:r>
              <a:rPr lang="en-US" dirty="0"/>
              <a:t>,</a:t>
            </a:r>
          </a:p>
          <a:p>
            <a:r>
              <a:rPr lang="en-US" dirty="0"/>
              <a:t xml:space="preserve">        col = "</a:t>
            </a:r>
            <a:r>
              <a:rPr lang="en-US" dirty="0" err="1"/>
              <a:t>skyblue</a:t>
            </a:r>
            <a:r>
              <a:rPr lang="en-US" dirty="0"/>
              <a:t>",</a:t>
            </a:r>
          </a:p>
          <a:p>
            <a:r>
              <a:rPr lang="en-US" dirty="0"/>
              <a:t xml:space="preserve">        border = "black",</a:t>
            </a:r>
          </a:p>
          <a:p>
            <a:r>
              <a:rPr lang="en-US" dirty="0"/>
              <a:t xml:space="preserve">        main = "Favorite Clubs Students",</a:t>
            </a:r>
          </a:p>
          <a:p>
            <a:r>
              <a:rPr lang="en-US" dirty="0"/>
              <a:t xml:space="preserve">        </a:t>
            </a:r>
            <a:r>
              <a:rPr lang="en-US" dirty="0" err="1"/>
              <a:t>xlab</a:t>
            </a:r>
            <a:r>
              <a:rPr lang="en-US" dirty="0"/>
              <a:t xml:space="preserve"> = "Club",</a:t>
            </a:r>
          </a:p>
          <a:p>
            <a:r>
              <a:rPr lang="en-US" dirty="0"/>
              <a:t xml:space="preserve">        </a:t>
            </a:r>
            <a:r>
              <a:rPr lang="en-US" dirty="0" err="1"/>
              <a:t>ylab</a:t>
            </a:r>
            <a:r>
              <a:rPr lang="en-US" dirty="0"/>
              <a:t xml:space="preserve"> = "Number of Students")</a:t>
            </a:r>
          </a:p>
        </p:txBody>
      </p:sp>
      <p:pic>
        <p:nvPicPr>
          <p:cNvPr id="9" name="Picture 8" descr="A graph of blue rectangular bars  AI-generated content may be incorrect.">
            <a:extLst>
              <a:ext uri="{FF2B5EF4-FFF2-40B4-BE49-F238E27FC236}">
                <a16:creationId xmlns:a16="http://schemas.microsoft.com/office/drawing/2014/main" id="{F6887C2B-8A92-5D02-0F26-FAFD1A20F2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15088" y="1983768"/>
            <a:ext cx="5583215" cy="4566383"/>
          </a:xfrm>
          <a:prstGeom prst="rect">
            <a:avLst/>
          </a:prstGeom>
        </p:spPr>
      </p:pic>
    </p:spTree>
    <p:extLst>
      <p:ext uri="{BB962C8B-B14F-4D97-AF65-F5344CB8AC3E}">
        <p14:creationId xmlns:p14="http://schemas.microsoft.com/office/powerpoint/2010/main" val="1823977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25DA-1331-2B10-2A8B-F82497EF02D8}"/>
              </a:ext>
            </a:extLst>
          </p:cNvPr>
          <p:cNvSpPr>
            <a:spLocks noGrp="1"/>
          </p:cNvSpPr>
          <p:nvPr>
            <p:ph type="title"/>
          </p:nvPr>
        </p:nvSpPr>
        <p:spPr>
          <a:xfrm>
            <a:off x="666750" y="141837"/>
            <a:ext cx="10515600" cy="1325563"/>
          </a:xfrm>
        </p:spPr>
        <p:txBody>
          <a:bodyPr/>
          <a:lstStyle/>
          <a:p>
            <a:r>
              <a:rPr lang="en-US" dirty="0"/>
              <a:t>Python</a:t>
            </a:r>
          </a:p>
        </p:txBody>
      </p:sp>
      <p:sp>
        <p:nvSpPr>
          <p:cNvPr id="5" name="TextBox 4">
            <a:extLst>
              <a:ext uri="{FF2B5EF4-FFF2-40B4-BE49-F238E27FC236}">
                <a16:creationId xmlns:a16="http://schemas.microsoft.com/office/drawing/2014/main" id="{39DE51CD-5673-233D-5FE6-29CFD3DB69DE}"/>
              </a:ext>
            </a:extLst>
          </p:cNvPr>
          <p:cNvSpPr txBox="1"/>
          <p:nvPr/>
        </p:nvSpPr>
        <p:spPr>
          <a:xfrm>
            <a:off x="666750" y="1360851"/>
            <a:ext cx="7948613" cy="5355312"/>
          </a:xfrm>
          <a:prstGeom prst="rect">
            <a:avLst/>
          </a:prstGeom>
          <a:noFill/>
        </p:spPr>
        <p:txBody>
          <a:bodyPr wrap="square">
            <a:spAutoFit/>
          </a:bodyPr>
          <a:lstStyle/>
          <a:p>
            <a:r>
              <a:rPr lang="en-US" dirty="0"/>
              <a:t>import pandas as pd</a:t>
            </a:r>
          </a:p>
          <a:p>
            <a:r>
              <a:rPr lang="en-US" dirty="0"/>
              <a:t xml:space="preserve">import </a:t>
            </a:r>
            <a:r>
              <a:rPr lang="en-US" dirty="0" err="1"/>
              <a:t>matplotlib.pyplot</a:t>
            </a:r>
            <a:r>
              <a:rPr lang="en-US" dirty="0"/>
              <a:t xml:space="preserve"> as </a:t>
            </a:r>
            <a:r>
              <a:rPr lang="en-US" dirty="0" err="1"/>
              <a:t>plt</a:t>
            </a:r>
            <a:endParaRPr lang="en-US" dirty="0"/>
          </a:p>
          <a:p>
            <a:endParaRPr lang="en-US" dirty="0"/>
          </a:p>
          <a:p>
            <a:r>
              <a:rPr lang="en-US" dirty="0"/>
              <a:t># Read the CSV file</a:t>
            </a:r>
          </a:p>
          <a:p>
            <a:r>
              <a:rPr lang="en-US" dirty="0" err="1"/>
              <a:t>combined_class</a:t>
            </a:r>
            <a:r>
              <a:rPr lang="en-US" dirty="0"/>
              <a:t xml:space="preserve"> = </a:t>
            </a:r>
            <a:r>
              <a:rPr lang="en-US" dirty="0" err="1"/>
              <a:t>pd.read_csv</a:t>
            </a:r>
            <a:r>
              <a:rPr lang="en-US" dirty="0"/>
              <a:t>("</a:t>
            </a:r>
            <a:r>
              <a:rPr lang="en-US" dirty="0" err="1"/>
              <a:t>combined_class.csv</a:t>
            </a:r>
            <a:r>
              <a:rPr lang="en-US" dirty="0"/>
              <a:t>")</a:t>
            </a:r>
          </a:p>
          <a:p>
            <a:endParaRPr lang="en-US" dirty="0"/>
          </a:p>
          <a:p>
            <a:r>
              <a:rPr lang="en-US" dirty="0"/>
              <a:t># Count frequencies of the 'Club' column</a:t>
            </a:r>
          </a:p>
          <a:p>
            <a:r>
              <a:rPr lang="en-US" dirty="0" err="1"/>
              <a:t>club_counts</a:t>
            </a:r>
            <a:r>
              <a:rPr lang="en-US" dirty="0"/>
              <a:t xml:space="preserve"> = </a:t>
            </a:r>
            <a:r>
              <a:rPr lang="en-US" dirty="0" err="1"/>
              <a:t>combined_class</a:t>
            </a:r>
            <a:r>
              <a:rPr lang="en-US" dirty="0"/>
              <a:t>['Club'].</a:t>
            </a:r>
            <a:r>
              <a:rPr lang="en-US" dirty="0" err="1"/>
              <a:t>value_counts</a:t>
            </a:r>
            <a:r>
              <a:rPr lang="en-US" dirty="0"/>
              <a:t>()</a:t>
            </a:r>
          </a:p>
          <a:p>
            <a:endParaRPr lang="en-US" dirty="0"/>
          </a:p>
          <a:p>
            <a:r>
              <a:rPr lang="en-US" dirty="0"/>
              <a:t># Plot the bar chart</a:t>
            </a:r>
          </a:p>
          <a:p>
            <a:r>
              <a:rPr lang="en-US" dirty="0" err="1"/>
              <a:t>club_counts.plot</a:t>
            </a:r>
            <a:r>
              <a:rPr lang="en-US" dirty="0"/>
              <a:t>(kind='bar',  color='</a:t>
            </a:r>
            <a:r>
              <a:rPr lang="en-US" dirty="0" err="1"/>
              <a:t>skyblue</a:t>
            </a:r>
            <a:r>
              <a:rPr lang="en-US" dirty="0"/>
              <a:t xml:space="preserve">', </a:t>
            </a:r>
          </a:p>
          <a:p>
            <a:r>
              <a:rPr lang="en-US" dirty="0"/>
              <a:t xml:space="preserve">                 </a:t>
            </a:r>
            <a:r>
              <a:rPr lang="en-US" dirty="0" err="1"/>
              <a:t>edgecolor</a:t>
            </a:r>
            <a:r>
              <a:rPr lang="en-US" dirty="0"/>
              <a:t>='black')</a:t>
            </a:r>
          </a:p>
          <a:p>
            <a:endParaRPr lang="en-US" dirty="0"/>
          </a:p>
          <a:p>
            <a:r>
              <a:rPr lang="en-US" dirty="0"/>
              <a:t># Add labels and title</a:t>
            </a:r>
          </a:p>
          <a:p>
            <a:r>
              <a:rPr lang="en-US" dirty="0" err="1"/>
              <a:t>plt.title</a:t>
            </a:r>
            <a:r>
              <a:rPr lang="en-US" dirty="0"/>
              <a:t>("Favorite Clubs Students")</a:t>
            </a:r>
          </a:p>
          <a:p>
            <a:r>
              <a:rPr lang="en-US" dirty="0" err="1"/>
              <a:t>plt.xlabel</a:t>
            </a:r>
            <a:r>
              <a:rPr lang="en-US" dirty="0"/>
              <a:t>("Club")</a:t>
            </a:r>
          </a:p>
          <a:p>
            <a:r>
              <a:rPr lang="en-US" dirty="0" err="1"/>
              <a:t>plt.ylabel</a:t>
            </a:r>
            <a:r>
              <a:rPr lang="en-US" dirty="0"/>
              <a:t>("Number of Students")</a:t>
            </a:r>
          </a:p>
          <a:p>
            <a:r>
              <a:rPr lang="en-US" dirty="0" err="1"/>
              <a:t>plt.tight_layout</a:t>
            </a:r>
            <a:r>
              <a:rPr lang="en-US" dirty="0"/>
              <a:t>()</a:t>
            </a:r>
          </a:p>
          <a:p>
            <a:r>
              <a:rPr lang="en-US" dirty="0" err="1"/>
              <a:t>plt.show</a:t>
            </a:r>
            <a:r>
              <a:rPr lang="en-US" dirty="0"/>
              <a:t>()</a:t>
            </a:r>
          </a:p>
        </p:txBody>
      </p:sp>
      <p:pic>
        <p:nvPicPr>
          <p:cNvPr id="9" name="Picture 8" descr="A graph of different colored bars  AI-generated content may be incorrect.">
            <a:extLst>
              <a:ext uri="{FF2B5EF4-FFF2-40B4-BE49-F238E27FC236}">
                <a16:creationId xmlns:a16="http://schemas.microsoft.com/office/drawing/2014/main" id="{4A635110-12A5-DBA0-C819-9AC1510356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74901" y="2026582"/>
            <a:ext cx="5731362" cy="4023850"/>
          </a:xfrm>
          <a:prstGeom prst="rect">
            <a:avLst/>
          </a:prstGeom>
        </p:spPr>
      </p:pic>
    </p:spTree>
    <p:extLst>
      <p:ext uri="{BB962C8B-B14F-4D97-AF65-F5344CB8AC3E}">
        <p14:creationId xmlns:p14="http://schemas.microsoft.com/office/powerpoint/2010/main" val="4272882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AA30-E84D-0205-C837-444D890C97D4}"/>
              </a:ext>
            </a:extLst>
          </p:cNvPr>
          <p:cNvSpPr>
            <a:spLocks noGrp="1"/>
          </p:cNvSpPr>
          <p:nvPr>
            <p:ph type="title"/>
          </p:nvPr>
        </p:nvSpPr>
        <p:spPr/>
        <p:txBody>
          <a:bodyPr/>
          <a:lstStyle/>
          <a:p>
            <a:r>
              <a:rPr lang="en-US" dirty="0"/>
              <a:t>Hands-On Activity: Univariate Exploration - 2</a:t>
            </a:r>
          </a:p>
        </p:txBody>
      </p:sp>
      <p:sp>
        <p:nvSpPr>
          <p:cNvPr id="3" name="Content Placeholder 2">
            <a:extLst>
              <a:ext uri="{FF2B5EF4-FFF2-40B4-BE49-F238E27FC236}">
                <a16:creationId xmlns:a16="http://schemas.microsoft.com/office/drawing/2014/main" id="{77680E11-6222-71E2-E4DC-9A1FBEC1CC0A}"/>
              </a:ext>
            </a:extLst>
          </p:cNvPr>
          <p:cNvSpPr>
            <a:spLocks noGrp="1"/>
          </p:cNvSpPr>
          <p:nvPr>
            <p:ph idx="1"/>
          </p:nvPr>
        </p:nvSpPr>
        <p:spPr/>
        <p:txBody>
          <a:bodyPr/>
          <a:lstStyle/>
          <a:p>
            <a:r>
              <a:rPr lang="en-US" dirty="0"/>
              <a:t xml:space="preserve">Use </a:t>
            </a:r>
            <a:r>
              <a:rPr lang="en-US" dirty="0" err="1"/>
              <a:t>students_scores.csv</a:t>
            </a:r>
            <a:endParaRPr lang="en-US" dirty="0"/>
          </a:p>
          <a:p>
            <a:r>
              <a:rPr lang="en-US" dirty="0"/>
              <a:t xml:space="preserve">Explore </a:t>
            </a:r>
            <a:r>
              <a:rPr lang="en-US" dirty="0" err="1"/>
              <a:t>Math_Score</a:t>
            </a:r>
            <a:r>
              <a:rPr lang="en-US" dirty="0"/>
              <a:t xml:space="preserve"> column</a:t>
            </a:r>
          </a:p>
          <a:p>
            <a:r>
              <a:rPr lang="en-US" dirty="0"/>
              <a:t xml:space="preserve">Calculate the mean, median, and range. </a:t>
            </a:r>
          </a:p>
          <a:p>
            <a:r>
              <a:rPr lang="en-US" dirty="0"/>
              <a:t xml:space="preserve">Create a histogram. </a:t>
            </a:r>
          </a:p>
          <a:p>
            <a:r>
              <a:rPr lang="en-US" dirty="0"/>
              <a:t>Does the data look symmetric or skewed? Identify any outliers.</a:t>
            </a:r>
          </a:p>
          <a:p>
            <a:endParaRPr lang="en-US" dirty="0"/>
          </a:p>
        </p:txBody>
      </p:sp>
    </p:spTree>
    <p:extLst>
      <p:ext uri="{BB962C8B-B14F-4D97-AF65-F5344CB8AC3E}">
        <p14:creationId xmlns:p14="http://schemas.microsoft.com/office/powerpoint/2010/main" val="2832137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4D7C8-B0D7-8EE0-AE1A-C139D5462257}"/>
              </a:ext>
            </a:extLst>
          </p:cNvPr>
          <p:cNvSpPr>
            <a:spLocks noGrp="1"/>
          </p:cNvSpPr>
          <p:nvPr>
            <p:ph type="title"/>
          </p:nvPr>
        </p:nvSpPr>
        <p:spPr>
          <a:xfrm>
            <a:off x="838200" y="681038"/>
            <a:ext cx="10515600" cy="1325563"/>
          </a:xfrm>
        </p:spPr>
        <p:txBody>
          <a:bodyPr/>
          <a:lstStyle/>
          <a:p>
            <a:r>
              <a:rPr lang="en-US" dirty="0"/>
              <a:t>Hands-On Activity: Univariate Exploration - 2</a:t>
            </a:r>
          </a:p>
        </p:txBody>
      </p:sp>
      <p:sp>
        <p:nvSpPr>
          <p:cNvPr id="5" name="TextBox 4">
            <a:extLst>
              <a:ext uri="{FF2B5EF4-FFF2-40B4-BE49-F238E27FC236}">
                <a16:creationId xmlns:a16="http://schemas.microsoft.com/office/drawing/2014/main" id="{6FA8E758-4B40-845F-2726-A73E83179F74}"/>
              </a:ext>
            </a:extLst>
          </p:cNvPr>
          <p:cNvSpPr txBox="1"/>
          <p:nvPr/>
        </p:nvSpPr>
        <p:spPr>
          <a:xfrm>
            <a:off x="542925" y="2309679"/>
            <a:ext cx="6100762" cy="4247317"/>
          </a:xfrm>
          <a:prstGeom prst="rect">
            <a:avLst/>
          </a:prstGeom>
          <a:noFill/>
        </p:spPr>
        <p:txBody>
          <a:bodyPr wrap="square">
            <a:spAutoFit/>
          </a:bodyPr>
          <a:lstStyle/>
          <a:p>
            <a:r>
              <a:rPr lang="en-US" dirty="0"/>
              <a:t># Hands-on Activity 2</a:t>
            </a:r>
          </a:p>
          <a:p>
            <a:r>
              <a:rPr lang="en-US" dirty="0" err="1"/>
              <a:t>students_scores</a:t>
            </a:r>
            <a:r>
              <a:rPr lang="en-US" dirty="0"/>
              <a:t xml:space="preserve"> &lt;- </a:t>
            </a:r>
            <a:r>
              <a:rPr lang="en-US" dirty="0" err="1"/>
              <a:t>read.csv</a:t>
            </a:r>
            <a:r>
              <a:rPr lang="en-US" dirty="0"/>
              <a:t>("</a:t>
            </a:r>
            <a:r>
              <a:rPr lang="en-US" dirty="0" err="1"/>
              <a:t>students_scores.csv</a:t>
            </a:r>
            <a:r>
              <a:rPr lang="en-US" dirty="0"/>
              <a:t>")</a:t>
            </a:r>
          </a:p>
          <a:p>
            <a:endParaRPr lang="en-US" dirty="0"/>
          </a:p>
          <a:p>
            <a:r>
              <a:rPr lang="en-US" dirty="0"/>
              <a:t xml:space="preserve"># Calculate the mean, median, and range. </a:t>
            </a:r>
          </a:p>
          <a:p>
            <a:r>
              <a:rPr lang="en-US" dirty="0"/>
              <a:t>cat("Mean Score:", mean(</a:t>
            </a:r>
            <a:r>
              <a:rPr lang="en-US" dirty="0" err="1"/>
              <a:t>students_scores$Math_Score</a:t>
            </a:r>
            <a:r>
              <a:rPr lang="en-US" dirty="0"/>
              <a:t>))</a:t>
            </a:r>
          </a:p>
          <a:p>
            <a:r>
              <a:rPr lang="en-US" dirty="0"/>
              <a:t>cat("Median Score:", median(</a:t>
            </a:r>
            <a:r>
              <a:rPr lang="en-US" dirty="0" err="1"/>
              <a:t>students_scores$Math_Score</a:t>
            </a:r>
            <a:r>
              <a:rPr lang="en-US" dirty="0"/>
              <a:t>))</a:t>
            </a:r>
          </a:p>
          <a:p>
            <a:r>
              <a:rPr lang="en-US" dirty="0"/>
              <a:t>cat("Score Range:", c(max(</a:t>
            </a:r>
            <a:r>
              <a:rPr lang="en-US" dirty="0" err="1"/>
              <a:t>students_scores$Math_Score</a:t>
            </a:r>
            <a:r>
              <a:rPr lang="en-US" dirty="0"/>
              <a:t>)-min(</a:t>
            </a:r>
            <a:r>
              <a:rPr lang="en-US" dirty="0" err="1"/>
              <a:t>students_scores$Math_Score</a:t>
            </a:r>
            <a:r>
              <a:rPr lang="en-US" dirty="0"/>
              <a:t>)))</a:t>
            </a:r>
          </a:p>
          <a:p>
            <a:endParaRPr lang="en-US" dirty="0"/>
          </a:p>
          <a:p>
            <a:r>
              <a:rPr lang="en-US" dirty="0"/>
              <a:t>hist(</a:t>
            </a:r>
            <a:r>
              <a:rPr lang="en-US" dirty="0" err="1"/>
              <a:t>students_scores$Math_Score</a:t>
            </a:r>
            <a:r>
              <a:rPr lang="en-US" dirty="0"/>
              <a:t>, breaks=10, main="Distribution of Math Scores",</a:t>
            </a:r>
          </a:p>
          <a:p>
            <a:r>
              <a:rPr lang="en-US" dirty="0"/>
              <a:t xml:space="preserve">     </a:t>
            </a:r>
            <a:r>
              <a:rPr lang="en-US" dirty="0" err="1"/>
              <a:t>xlab</a:t>
            </a:r>
            <a:r>
              <a:rPr lang="en-US" dirty="0"/>
              <a:t xml:space="preserve">="Score", </a:t>
            </a:r>
            <a:r>
              <a:rPr lang="en-US" dirty="0" err="1"/>
              <a:t>ylab</a:t>
            </a:r>
            <a:r>
              <a:rPr lang="en-US" dirty="0"/>
              <a:t>="Number of Students",</a:t>
            </a:r>
          </a:p>
          <a:p>
            <a:r>
              <a:rPr lang="en-US" dirty="0"/>
              <a:t xml:space="preserve">     col = "</a:t>
            </a:r>
            <a:r>
              <a:rPr lang="en-US" dirty="0" err="1"/>
              <a:t>lightblue</a:t>
            </a:r>
            <a:r>
              <a:rPr lang="en-US" dirty="0"/>
              <a:t>",</a:t>
            </a:r>
          </a:p>
          <a:p>
            <a:r>
              <a:rPr lang="en-US" dirty="0"/>
              <a:t xml:space="preserve">     border = "black",)</a:t>
            </a:r>
          </a:p>
        </p:txBody>
      </p:sp>
      <p:pic>
        <p:nvPicPr>
          <p:cNvPr id="6" name="Picture 5" descr="A graph of a distribution of math scores  AI-generated content may be incorrect.">
            <a:extLst>
              <a:ext uri="{FF2B5EF4-FFF2-40B4-BE49-F238E27FC236}">
                <a16:creationId xmlns:a16="http://schemas.microsoft.com/office/drawing/2014/main" id="{E6011D49-0CB9-CC18-B263-4A87F208E99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00668" y="2509808"/>
            <a:ext cx="4948407" cy="4047188"/>
          </a:xfrm>
          <a:prstGeom prst="rect">
            <a:avLst/>
          </a:prstGeom>
        </p:spPr>
      </p:pic>
    </p:spTree>
    <p:extLst>
      <p:ext uri="{BB962C8B-B14F-4D97-AF65-F5344CB8AC3E}">
        <p14:creationId xmlns:p14="http://schemas.microsoft.com/office/powerpoint/2010/main" val="16159029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90E1-64CE-B7F0-123C-D4EC3D8BACE6}"/>
              </a:ext>
            </a:extLst>
          </p:cNvPr>
          <p:cNvSpPr>
            <a:spLocks noGrp="1"/>
          </p:cNvSpPr>
          <p:nvPr>
            <p:ph type="title"/>
          </p:nvPr>
        </p:nvSpPr>
        <p:spPr>
          <a:xfrm>
            <a:off x="714376" y="300911"/>
            <a:ext cx="10515600" cy="1325563"/>
          </a:xfrm>
        </p:spPr>
        <p:txBody>
          <a:bodyPr/>
          <a:lstStyle/>
          <a:p>
            <a:r>
              <a:rPr lang="en-US" dirty="0"/>
              <a:t>Python</a:t>
            </a:r>
          </a:p>
        </p:txBody>
      </p:sp>
      <p:sp>
        <p:nvSpPr>
          <p:cNvPr id="5" name="TextBox 4">
            <a:extLst>
              <a:ext uri="{FF2B5EF4-FFF2-40B4-BE49-F238E27FC236}">
                <a16:creationId xmlns:a16="http://schemas.microsoft.com/office/drawing/2014/main" id="{FB975603-9A86-3E9D-4A62-12F554A2986E}"/>
              </a:ext>
            </a:extLst>
          </p:cNvPr>
          <p:cNvSpPr txBox="1"/>
          <p:nvPr/>
        </p:nvSpPr>
        <p:spPr>
          <a:xfrm>
            <a:off x="770838" y="1417248"/>
            <a:ext cx="5557837" cy="5262979"/>
          </a:xfrm>
          <a:prstGeom prst="rect">
            <a:avLst/>
          </a:prstGeom>
          <a:noFill/>
        </p:spPr>
        <p:txBody>
          <a:bodyPr wrap="square">
            <a:spAutoFit/>
          </a:bodyPr>
          <a:lstStyle/>
          <a:p>
            <a:r>
              <a:rPr lang="en-US" sz="1400" dirty="0"/>
              <a:t>import pandas as pd</a:t>
            </a:r>
          </a:p>
          <a:p>
            <a:r>
              <a:rPr lang="en-US" sz="1400" dirty="0"/>
              <a:t xml:space="preserve">import </a:t>
            </a:r>
            <a:r>
              <a:rPr lang="en-US" sz="1400" dirty="0" err="1"/>
              <a:t>matplotlib.pyplot</a:t>
            </a:r>
            <a:r>
              <a:rPr lang="en-US" sz="1400" dirty="0"/>
              <a:t xml:space="preserve"> as </a:t>
            </a:r>
            <a:r>
              <a:rPr lang="en-US" sz="1400" dirty="0" err="1"/>
              <a:t>plt</a:t>
            </a:r>
            <a:endParaRPr lang="en-US" sz="1400" dirty="0"/>
          </a:p>
          <a:p>
            <a:endParaRPr lang="en-US" sz="1400" dirty="0"/>
          </a:p>
          <a:p>
            <a:r>
              <a:rPr lang="en-US" sz="1400" dirty="0"/>
              <a:t># Read the CSV file</a:t>
            </a:r>
          </a:p>
          <a:p>
            <a:r>
              <a:rPr lang="en-US" sz="1400" dirty="0" err="1"/>
              <a:t>students_scores</a:t>
            </a:r>
            <a:r>
              <a:rPr lang="en-US" sz="1400" dirty="0"/>
              <a:t xml:space="preserve"> = </a:t>
            </a:r>
            <a:r>
              <a:rPr lang="en-US" sz="1400" dirty="0" err="1"/>
              <a:t>pd.read_csv</a:t>
            </a:r>
            <a:r>
              <a:rPr lang="en-US" sz="1400" dirty="0"/>
              <a:t>("</a:t>
            </a:r>
            <a:r>
              <a:rPr lang="en-US" sz="1400" dirty="0" err="1"/>
              <a:t>students_scores.csv</a:t>
            </a:r>
            <a:r>
              <a:rPr lang="en-US" sz="1400" dirty="0"/>
              <a:t>")</a:t>
            </a:r>
          </a:p>
          <a:p>
            <a:endParaRPr lang="en-US" sz="1400" dirty="0"/>
          </a:p>
          <a:p>
            <a:r>
              <a:rPr lang="en-US" sz="1400" dirty="0"/>
              <a:t># Calculate and print mean, median, and range</a:t>
            </a:r>
          </a:p>
          <a:p>
            <a:r>
              <a:rPr lang="en-US" sz="1400" dirty="0" err="1"/>
              <a:t>mean_score</a:t>
            </a:r>
            <a:r>
              <a:rPr lang="en-US" sz="1400" dirty="0"/>
              <a:t xml:space="preserve"> = </a:t>
            </a:r>
            <a:r>
              <a:rPr lang="en-US" sz="1400" dirty="0" err="1"/>
              <a:t>students_scores</a:t>
            </a:r>
            <a:r>
              <a:rPr lang="en-US" sz="1400" dirty="0"/>
              <a:t>['</a:t>
            </a:r>
            <a:r>
              <a:rPr lang="en-US" sz="1400" dirty="0" err="1"/>
              <a:t>Math_Score</a:t>
            </a:r>
            <a:r>
              <a:rPr lang="en-US" sz="1400" dirty="0"/>
              <a:t>'].mean()</a:t>
            </a:r>
          </a:p>
          <a:p>
            <a:r>
              <a:rPr lang="en-US" sz="1400" dirty="0" err="1"/>
              <a:t>median_score</a:t>
            </a:r>
            <a:r>
              <a:rPr lang="en-US" sz="1400" dirty="0"/>
              <a:t xml:space="preserve"> = </a:t>
            </a:r>
            <a:r>
              <a:rPr lang="en-US" sz="1400" dirty="0" err="1"/>
              <a:t>students_scores</a:t>
            </a:r>
            <a:r>
              <a:rPr lang="en-US" sz="1400" dirty="0"/>
              <a:t>['</a:t>
            </a:r>
            <a:r>
              <a:rPr lang="en-US" sz="1400" dirty="0" err="1"/>
              <a:t>Math_Score</a:t>
            </a:r>
            <a:r>
              <a:rPr lang="en-US" sz="1400" dirty="0"/>
              <a:t>'].median()</a:t>
            </a:r>
          </a:p>
          <a:p>
            <a:r>
              <a:rPr lang="en-US" sz="1400" dirty="0" err="1"/>
              <a:t>score_range</a:t>
            </a:r>
            <a:r>
              <a:rPr lang="en-US" sz="1400" dirty="0"/>
              <a:t xml:space="preserve"> = </a:t>
            </a:r>
            <a:r>
              <a:rPr lang="en-US" sz="1400" dirty="0" err="1"/>
              <a:t>students_scores</a:t>
            </a:r>
            <a:r>
              <a:rPr lang="en-US" sz="1400" dirty="0"/>
              <a:t>['</a:t>
            </a:r>
            <a:r>
              <a:rPr lang="en-US" sz="1400" dirty="0" err="1"/>
              <a:t>Math_Score</a:t>
            </a:r>
            <a:r>
              <a:rPr lang="en-US" sz="1400" dirty="0"/>
              <a:t xml:space="preserve">'].max() - </a:t>
            </a:r>
            <a:r>
              <a:rPr lang="en-US" sz="1400" dirty="0" err="1"/>
              <a:t>students_scores</a:t>
            </a:r>
            <a:r>
              <a:rPr lang="en-US" sz="1400" dirty="0"/>
              <a:t>['</a:t>
            </a:r>
            <a:r>
              <a:rPr lang="en-US" sz="1400" dirty="0" err="1"/>
              <a:t>Math_Score</a:t>
            </a:r>
            <a:r>
              <a:rPr lang="en-US" sz="1400" dirty="0"/>
              <a:t>'].min()</a:t>
            </a:r>
          </a:p>
          <a:p>
            <a:endParaRPr lang="en-US" sz="1400" dirty="0"/>
          </a:p>
          <a:p>
            <a:r>
              <a:rPr lang="en-US" sz="1400" dirty="0"/>
              <a:t xml:space="preserve">print("Mean Score:", </a:t>
            </a:r>
            <a:r>
              <a:rPr lang="en-US" sz="1400" dirty="0" err="1"/>
              <a:t>mean_score</a:t>
            </a:r>
            <a:r>
              <a:rPr lang="en-US" sz="1400" dirty="0"/>
              <a:t>)</a:t>
            </a:r>
          </a:p>
          <a:p>
            <a:r>
              <a:rPr lang="en-US" sz="1400" dirty="0"/>
              <a:t xml:space="preserve">print("Median Score:", </a:t>
            </a:r>
            <a:r>
              <a:rPr lang="en-US" sz="1400" dirty="0" err="1"/>
              <a:t>median_score</a:t>
            </a:r>
            <a:r>
              <a:rPr lang="en-US" sz="1400" dirty="0"/>
              <a:t>)</a:t>
            </a:r>
          </a:p>
          <a:p>
            <a:r>
              <a:rPr lang="en-US" sz="1400" dirty="0"/>
              <a:t xml:space="preserve">print("Score Range:", </a:t>
            </a:r>
            <a:r>
              <a:rPr lang="en-US" sz="1400" dirty="0" err="1"/>
              <a:t>score_range</a:t>
            </a:r>
            <a:r>
              <a:rPr lang="en-US" sz="1400" dirty="0"/>
              <a:t>)</a:t>
            </a:r>
          </a:p>
          <a:p>
            <a:endParaRPr lang="en-US" sz="1400" dirty="0"/>
          </a:p>
          <a:p>
            <a:r>
              <a:rPr lang="en-US" sz="1400" dirty="0"/>
              <a:t># Plot histogram</a:t>
            </a:r>
          </a:p>
          <a:p>
            <a:r>
              <a:rPr lang="en-US" sz="1400" dirty="0" err="1"/>
              <a:t>plt.hist</a:t>
            </a:r>
            <a:r>
              <a:rPr lang="en-US" sz="1400" dirty="0"/>
              <a:t>(</a:t>
            </a:r>
            <a:r>
              <a:rPr lang="en-US" sz="1400" dirty="0" err="1"/>
              <a:t>students_scores</a:t>
            </a:r>
            <a:r>
              <a:rPr lang="en-US" sz="1400" dirty="0"/>
              <a:t>['</a:t>
            </a:r>
            <a:r>
              <a:rPr lang="en-US" sz="1400" dirty="0" err="1"/>
              <a:t>Math_Score</a:t>
            </a:r>
            <a:r>
              <a:rPr lang="en-US" sz="1400" dirty="0"/>
              <a:t>'], bins=10, color='</a:t>
            </a:r>
            <a:r>
              <a:rPr lang="en-US" sz="1400" dirty="0" err="1"/>
              <a:t>lightblue</a:t>
            </a:r>
            <a:r>
              <a:rPr lang="en-US" sz="1400" dirty="0"/>
              <a:t xml:space="preserve">', </a:t>
            </a:r>
            <a:r>
              <a:rPr lang="en-US" sz="1400" dirty="0" err="1"/>
              <a:t>edgecolor</a:t>
            </a:r>
            <a:r>
              <a:rPr lang="en-US" sz="1400" dirty="0"/>
              <a:t>='black')</a:t>
            </a:r>
          </a:p>
          <a:p>
            <a:r>
              <a:rPr lang="en-US" sz="1400" dirty="0" err="1"/>
              <a:t>plt.title</a:t>
            </a:r>
            <a:r>
              <a:rPr lang="en-US" sz="1400" dirty="0"/>
              <a:t>("Distribution of Math Scores")</a:t>
            </a:r>
          </a:p>
          <a:p>
            <a:r>
              <a:rPr lang="en-US" sz="1400" dirty="0" err="1"/>
              <a:t>plt.xlabel</a:t>
            </a:r>
            <a:r>
              <a:rPr lang="en-US" sz="1400" dirty="0"/>
              <a:t>("Score")</a:t>
            </a:r>
          </a:p>
          <a:p>
            <a:r>
              <a:rPr lang="en-US" sz="1400" dirty="0" err="1"/>
              <a:t>plt.ylabel</a:t>
            </a:r>
            <a:r>
              <a:rPr lang="en-US" sz="1400" dirty="0"/>
              <a:t>("Number of Students")</a:t>
            </a:r>
          </a:p>
          <a:p>
            <a:r>
              <a:rPr lang="en-US" sz="1400" dirty="0" err="1"/>
              <a:t>plt.tight_layout</a:t>
            </a:r>
            <a:r>
              <a:rPr lang="en-US" sz="1400" dirty="0"/>
              <a:t>()</a:t>
            </a:r>
          </a:p>
          <a:p>
            <a:r>
              <a:rPr lang="en-US" sz="1400" dirty="0" err="1"/>
              <a:t>plt.show</a:t>
            </a:r>
            <a:r>
              <a:rPr lang="en-US" sz="1400" dirty="0"/>
              <a:t>()</a:t>
            </a:r>
          </a:p>
        </p:txBody>
      </p:sp>
      <p:pic>
        <p:nvPicPr>
          <p:cNvPr id="7" name="Picture 6" descr="A graph of a bar graph  AI-generated content may be incorrect.">
            <a:extLst>
              <a:ext uri="{FF2B5EF4-FFF2-40B4-BE49-F238E27FC236}">
                <a16:creationId xmlns:a16="http://schemas.microsoft.com/office/drawing/2014/main" id="{BA732FD9-83C5-20B6-195F-56B230C95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85137" y="1812223"/>
            <a:ext cx="5699836" cy="4473027"/>
          </a:xfrm>
          <a:prstGeom prst="rect">
            <a:avLst/>
          </a:prstGeom>
        </p:spPr>
      </p:pic>
    </p:spTree>
    <p:extLst>
      <p:ext uri="{BB962C8B-B14F-4D97-AF65-F5344CB8AC3E}">
        <p14:creationId xmlns:p14="http://schemas.microsoft.com/office/powerpoint/2010/main" val="12901287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349C-3F26-7C73-E1B2-A7405E476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A5686-9B49-D915-1CCF-A22260516111}"/>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56848766-1C41-02B6-EC10-3FCC5FEBC30C}"/>
              </a:ext>
            </a:extLst>
          </p:cNvPr>
          <p:cNvSpPr>
            <a:spLocks noGrp="1"/>
          </p:cNvSpPr>
          <p:nvPr>
            <p:ph type="subTitle" idx="1"/>
          </p:nvPr>
        </p:nvSpPr>
        <p:spPr>
          <a:xfrm>
            <a:off x="1524000" y="4231758"/>
            <a:ext cx="9144000" cy="1026042"/>
          </a:xfrm>
        </p:spPr>
        <p:txBody>
          <a:bodyPr/>
          <a:lstStyle/>
          <a:p>
            <a:r>
              <a:rPr lang="en-US" dirty="0"/>
              <a:t>Bivariate Exploration: Investigating Relationships Between Two Variables</a:t>
            </a:r>
          </a:p>
        </p:txBody>
      </p:sp>
    </p:spTree>
    <p:extLst>
      <p:ext uri="{BB962C8B-B14F-4D97-AF65-F5344CB8AC3E}">
        <p14:creationId xmlns:p14="http://schemas.microsoft.com/office/powerpoint/2010/main" val="754294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3C44-3D86-5596-312E-CAC4F1153A55}"/>
              </a:ext>
            </a:extLst>
          </p:cNvPr>
          <p:cNvSpPr>
            <a:spLocks noGrp="1"/>
          </p:cNvSpPr>
          <p:nvPr>
            <p:ph type="title"/>
          </p:nvPr>
        </p:nvSpPr>
        <p:spPr/>
        <p:txBody>
          <a:bodyPr>
            <a:normAutofit/>
          </a:bodyPr>
          <a:lstStyle/>
          <a:p>
            <a:r>
              <a:rPr lang="en-US" dirty="0"/>
              <a:t>Bivariate Analysis: Relationships Between Variables</a:t>
            </a:r>
          </a:p>
        </p:txBody>
      </p:sp>
      <p:pic>
        <p:nvPicPr>
          <p:cNvPr id="4" name="Image 0" descr="preencoded.png">
            <a:extLst>
              <a:ext uri="{FF2B5EF4-FFF2-40B4-BE49-F238E27FC236}">
                <a16:creationId xmlns:a16="http://schemas.microsoft.com/office/drawing/2014/main" id="{47991817-A4C3-BF9B-BF59-018FB44988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53499" y="2325962"/>
            <a:ext cx="2752725" cy="4129087"/>
          </a:xfrm>
          <a:prstGeom prst="rect">
            <a:avLst/>
          </a:prstGeom>
        </p:spPr>
      </p:pic>
      <p:pic>
        <p:nvPicPr>
          <p:cNvPr id="5" name="Image 1" descr="preencoded.png">
            <a:extLst>
              <a:ext uri="{FF2B5EF4-FFF2-40B4-BE49-F238E27FC236}">
                <a16:creationId xmlns:a16="http://schemas.microsoft.com/office/drawing/2014/main" id="{429AB743-7C2C-19DB-D3C9-BFBE01007ABA}"/>
              </a:ext>
            </a:extLst>
          </p:cNvPr>
          <p:cNvPicPr>
            <a:picLocks noChangeAspect="1"/>
          </p:cNvPicPr>
          <p:nvPr/>
        </p:nvPicPr>
        <p:blipFill>
          <a:blip r:embed="rId3"/>
          <a:stretch>
            <a:fillRect/>
          </a:stretch>
        </p:blipFill>
        <p:spPr>
          <a:xfrm>
            <a:off x="978299" y="3187754"/>
            <a:ext cx="472480" cy="472480"/>
          </a:xfrm>
          <a:prstGeom prst="rect">
            <a:avLst/>
          </a:prstGeom>
        </p:spPr>
      </p:pic>
      <p:sp>
        <p:nvSpPr>
          <p:cNvPr id="6" name="Text 1">
            <a:extLst>
              <a:ext uri="{FF2B5EF4-FFF2-40B4-BE49-F238E27FC236}">
                <a16:creationId xmlns:a16="http://schemas.microsoft.com/office/drawing/2014/main" id="{2910ABAC-360D-1F68-6DDF-1AF9BFD003AB}"/>
              </a:ext>
            </a:extLst>
          </p:cNvPr>
          <p:cNvSpPr/>
          <p:nvPr/>
        </p:nvSpPr>
        <p:spPr>
          <a:xfrm>
            <a:off x="978299" y="3849245"/>
            <a:ext cx="1941513"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Connections</a:t>
            </a:r>
            <a:endParaRPr lang="en-US" sz="2800" dirty="0">
              <a:latin typeface="Aptos" panose="020B0004020202020204" pitchFamily="34" charset="0"/>
            </a:endParaRPr>
          </a:p>
        </p:txBody>
      </p:sp>
      <p:sp>
        <p:nvSpPr>
          <p:cNvPr id="7" name="Text 2">
            <a:extLst>
              <a:ext uri="{FF2B5EF4-FFF2-40B4-BE49-F238E27FC236}">
                <a16:creationId xmlns:a16="http://schemas.microsoft.com/office/drawing/2014/main" id="{73DD0368-8CA5-8FD0-7FDF-8DE3AFD3AF97}"/>
              </a:ext>
            </a:extLst>
          </p:cNvPr>
          <p:cNvSpPr/>
          <p:nvPr/>
        </p:nvSpPr>
        <p:spPr>
          <a:xfrm>
            <a:off x="978299" y="4257927"/>
            <a:ext cx="1941513"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How two variables relate to each other</a:t>
            </a:r>
            <a:endParaRPr lang="en-US" sz="2000" dirty="0">
              <a:latin typeface="Aptos" panose="020B0004020202020204" pitchFamily="34" charset="0"/>
            </a:endParaRPr>
          </a:p>
        </p:txBody>
      </p:sp>
      <p:pic>
        <p:nvPicPr>
          <p:cNvPr id="8" name="Image 2" descr="preencoded.png">
            <a:extLst>
              <a:ext uri="{FF2B5EF4-FFF2-40B4-BE49-F238E27FC236}">
                <a16:creationId xmlns:a16="http://schemas.microsoft.com/office/drawing/2014/main" id="{2E32576A-B458-97E9-DF57-2AF4E3A82C36}"/>
              </a:ext>
            </a:extLst>
          </p:cNvPr>
          <p:cNvPicPr>
            <a:picLocks noChangeAspect="1"/>
          </p:cNvPicPr>
          <p:nvPr/>
        </p:nvPicPr>
        <p:blipFill>
          <a:blip r:embed="rId4"/>
          <a:stretch>
            <a:fillRect/>
          </a:stretch>
        </p:blipFill>
        <p:spPr>
          <a:xfrm>
            <a:off x="3655269" y="3192760"/>
            <a:ext cx="472480" cy="472480"/>
          </a:xfrm>
          <a:prstGeom prst="rect">
            <a:avLst/>
          </a:prstGeom>
        </p:spPr>
      </p:pic>
      <p:sp>
        <p:nvSpPr>
          <p:cNvPr id="9" name="Text 3">
            <a:extLst>
              <a:ext uri="{FF2B5EF4-FFF2-40B4-BE49-F238E27FC236}">
                <a16:creationId xmlns:a16="http://schemas.microsoft.com/office/drawing/2014/main" id="{52B6BDB4-6343-BD3B-4E02-DFC24A395BE1}"/>
              </a:ext>
            </a:extLst>
          </p:cNvPr>
          <p:cNvSpPr/>
          <p:nvPr/>
        </p:nvSpPr>
        <p:spPr>
          <a:xfrm>
            <a:off x="3655269" y="3854251"/>
            <a:ext cx="1941513"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Patterns</a:t>
            </a:r>
            <a:endParaRPr lang="en-US" sz="2800" dirty="0">
              <a:latin typeface="Aptos" panose="020B0004020202020204" pitchFamily="34" charset="0"/>
            </a:endParaRPr>
          </a:p>
        </p:txBody>
      </p:sp>
      <p:sp>
        <p:nvSpPr>
          <p:cNvPr id="10" name="Text 4">
            <a:extLst>
              <a:ext uri="{FF2B5EF4-FFF2-40B4-BE49-F238E27FC236}">
                <a16:creationId xmlns:a16="http://schemas.microsoft.com/office/drawing/2014/main" id="{FA5C7A87-77FB-D4E5-166A-BDDBE1EEEA4B}"/>
              </a:ext>
            </a:extLst>
          </p:cNvPr>
          <p:cNvSpPr/>
          <p:nvPr/>
        </p:nvSpPr>
        <p:spPr>
          <a:xfrm>
            <a:off x="3655269" y="4262933"/>
            <a:ext cx="1941513"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Trends, correlations, or groupings</a:t>
            </a:r>
            <a:endParaRPr lang="en-US" sz="2000" dirty="0">
              <a:latin typeface="Aptos" panose="020B0004020202020204" pitchFamily="34" charset="0"/>
            </a:endParaRPr>
          </a:p>
        </p:txBody>
      </p:sp>
      <p:pic>
        <p:nvPicPr>
          <p:cNvPr id="11" name="Image 3" descr="preencoded.png">
            <a:extLst>
              <a:ext uri="{FF2B5EF4-FFF2-40B4-BE49-F238E27FC236}">
                <a16:creationId xmlns:a16="http://schemas.microsoft.com/office/drawing/2014/main" id="{7166EBB5-6106-DD10-D6CF-F4CAB3008E54}"/>
              </a:ext>
            </a:extLst>
          </p:cNvPr>
          <p:cNvPicPr>
            <a:picLocks noChangeAspect="1"/>
          </p:cNvPicPr>
          <p:nvPr/>
        </p:nvPicPr>
        <p:blipFill>
          <a:blip r:embed="rId5"/>
          <a:stretch>
            <a:fillRect/>
          </a:stretch>
        </p:blipFill>
        <p:spPr>
          <a:xfrm>
            <a:off x="5859760" y="3192760"/>
            <a:ext cx="472480" cy="472480"/>
          </a:xfrm>
          <a:prstGeom prst="rect">
            <a:avLst/>
          </a:prstGeom>
        </p:spPr>
      </p:pic>
      <p:sp>
        <p:nvSpPr>
          <p:cNvPr id="12" name="Text 5">
            <a:extLst>
              <a:ext uri="{FF2B5EF4-FFF2-40B4-BE49-F238E27FC236}">
                <a16:creationId xmlns:a16="http://schemas.microsoft.com/office/drawing/2014/main" id="{A3EFD891-AAC3-0614-A383-4436FE5C5A98}"/>
              </a:ext>
            </a:extLst>
          </p:cNvPr>
          <p:cNvSpPr/>
          <p:nvPr/>
        </p:nvSpPr>
        <p:spPr>
          <a:xfrm>
            <a:off x="5859760" y="3854251"/>
            <a:ext cx="1941513"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Comparisons</a:t>
            </a:r>
            <a:endParaRPr lang="en-US" sz="2800" dirty="0">
              <a:latin typeface="Aptos" panose="020B0004020202020204" pitchFamily="34" charset="0"/>
            </a:endParaRPr>
          </a:p>
        </p:txBody>
      </p:sp>
      <p:sp>
        <p:nvSpPr>
          <p:cNvPr id="13" name="Text 6">
            <a:extLst>
              <a:ext uri="{FF2B5EF4-FFF2-40B4-BE49-F238E27FC236}">
                <a16:creationId xmlns:a16="http://schemas.microsoft.com/office/drawing/2014/main" id="{CCA7D71E-5130-8B2B-A96A-8C385BFC6DD7}"/>
              </a:ext>
            </a:extLst>
          </p:cNvPr>
          <p:cNvSpPr/>
          <p:nvPr/>
        </p:nvSpPr>
        <p:spPr>
          <a:xfrm>
            <a:off x="5859760" y="4262933"/>
            <a:ext cx="1941513" cy="604838"/>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Differences between groups</a:t>
            </a:r>
            <a:endParaRPr lang="en-US" sz="2000" dirty="0">
              <a:latin typeface="Aptos" panose="020B0004020202020204" pitchFamily="34" charset="0"/>
            </a:endParaRPr>
          </a:p>
        </p:txBody>
      </p:sp>
    </p:spTree>
    <p:extLst>
      <p:ext uri="{BB962C8B-B14F-4D97-AF65-F5344CB8AC3E}">
        <p14:creationId xmlns:p14="http://schemas.microsoft.com/office/powerpoint/2010/main" val="2332246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56F9-8D90-3F45-7F55-40454C9BE3CA}"/>
              </a:ext>
            </a:extLst>
          </p:cNvPr>
          <p:cNvSpPr>
            <a:spLocks noGrp="1"/>
          </p:cNvSpPr>
          <p:nvPr>
            <p:ph type="title"/>
          </p:nvPr>
        </p:nvSpPr>
        <p:spPr/>
        <p:txBody>
          <a:bodyPr/>
          <a:lstStyle/>
          <a:p>
            <a:r>
              <a:rPr lang="en-US" dirty="0"/>
              <a:t>Types of Bivariate Analysis</a:t>
            </a:r>
          </a:p>
        </p:txBody>
      </p:sp>
      <p:sp>
        <p:nvSpPr>
          <p:cNvPr id="4" name="Text 1">
            <a:extLst>
              <a:ext uri="{FF2B5EF4-FFF2-40B4-BE49-F238E27FC236}">
                <a16:creationId xmlns:a16="http://schemas.microsoft.com/office/drawing/2014/main" id="{444D2D30-46ED-0E20-4501-D191AB11FE34}"/>
              </a:ext>
            </a:extLst>
          </p:cNvPr>
          <p:cNvSpPr/>
          <p:nvPr/>
        </p:nvSpPr>
        <p:spPr>
          <a:xfrm>
            <a:off x="1833662" y="3349823"/>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Numeric vs. Numeric</a:t>
            </a:r>
            <a:endParaRPr lang="en-US" sz="2400" dirty="0">
              <a:latin typeface="Aptos" panose="020B0004020202020204" pitchFamily="34" charset="0"/>
            </a:endParaRPr>
          </a:p>
        </p:txBody>
      </p:sp>
      <p:sp>
        <p:nvSpPr>
          <p:cNvPr id="5" name="Text 2">
            <a:extLst>
              <a:ext uri="{FF2B5EF4-FFF2-40B4-BE49-F238E27FC236}">
                <a16:creationId xmlns:a16="http://schemas.microsoft.com/office/drawing/2014/main" id="{B0334C7F-ADEE-CF63-67C4-1AE389D19DB1}"/>
              </a:ext>
            </a:extLst>
          </p:cNvPr>
          <p:cNvSpPr/>
          <p:nvPr/>
        </p:nvSpPr>
        <p:spPr>
          <a:xfrm>
            <a:off x="661492" y="3758506"/>
            <a:ext cx="3534867"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Study hours vs. exam score</a:t>
            </a:r>
            <a:endParaRPr lang="en-US" dirty="0">
              <a:latin typeface="Aptos" panose="020B0004020202020204" pitchFamily="34" charset="0"/>
            </a:endParaRPr>
          </a:p>
        </p:txBody>
      </p:sp>
      <p:sp>
        <p:nvSpPr>
          <p:cNvPr id="6" name="Text 3">
            <a:extLst>
              <a:ext uri="{FF2B5EF4-FFF2-40B4-BE49-F238E27FC236}">
                <a16:creationId xmlns:a16="http://schemas.microsoft.com/office/drawing/2014/main" id="{1385462D-FA39-02BB-5801-7FFAA104BEA6}"/>
              </a:ext>
            </a:extLst>
          </p:cNvPr>
          <p:cNvSpPr/>
          <p:nvPr/>
        </p:nvSpPr>
        <p:spPr>
          <a:xfrm>
            <a:off x="661492" y="4174332"/>
            <a:ext cx="3534867"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Use: Scatterplots, correlation</a:t>
            </a:r>
            <a:endParaRPr lang="en-US" dirty="0">
              <a:latin typeface="Aptos" panose="020B0004020202020204" pitchFamily="34" charset="0"/>
            </a:endParaRPr>
          </a:p>
        </p:txBody>
      </p:sp>
      <p:pic>
        <p:nvPicPr>
          <p:cNvPr id="7" name="Image 0" descr="preencoded.png">
            <a:extLst>
              <a:ext uri="{FF2B5EF4-FFF2-40B4-BE49-F238E27FC236}">
                <a16:creationId xmlns:a16="http://schemas.microsoft.com/office/drawing/2014/main" id="{7EFFF841-389B-2CC7-7499-FC82082F943F}"/>
              </a:ext>
            </a:extLst>
          </p:cNvPr>
          <p:cNvPicPr>
            <a:picLocks noChangeAspect="1"/>
          </p:cNvPicPr>
          <p:nvPr/>
        </p:nvPicPr>
        <p:blipFill>
          <a:blip r:embed="rId2"/>
          <a:stretch>
            <a:fillRect/>
          </a:stretch>
        </p:blipFill>
        <p:spPr>
          <a:xfrm>
            <a:off x="4574382" y="2391669"/>
            <a:ext cx="3043238" cy="3043238"/>
          </a:xfrm>
          <a:prstGeom prst="rect">
            <a:avLst/>
          </a:prstGeom>
        </p:spPr>
      </p:pic>
      <p:sp>
        <p:nvSpPr>
          <p:cNvPr id="8" name="Shape 4">
            <a:extLst>
              <a:ext uri="{FF2B5EF4-FFF2-40B4-BE49-F238E27FC236}">
                <a16:creationId xmlns:a16="http://schemas.microsoft.com/office/drawing/2014/main" id="{3C513C5E-5709-3066-4DB0-81702ABF829D}"/>
              </a:ext>
            </a:extLst>
          </p:cNvPr>
          <p:cNvSpPr/>
          <p:nvPr/>
        </p:nvSpPr>
        <p:spPr>
          <a:xfrm>
            <a:off x="4395193" y="3677047"/>
            <a:ext cx="472480" cy="472480"/>
          </a:xfrm>
          <a:prstGeom prst="roundRect">
            <a:avLst>
              <a:gd name="adj" fmla="val 16111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9" name="Image 1" descr="preencoded.png">
            <a:extLst>
              <a:ext uri="{FF2B5EF4-FFF2-40B4-BE49-F238E27FC236}">
                <a16:creationId xmlns:a16="http://schemas.microsoft.com/office/drawing/2014/main" id="{765B5C88-D0B2-D579-AB27-2904C2672191}"/>
              </a:ext>
            </a:extLst>
          </p:cNvPr>
          <p:cNvPicPr>
            <a:picLocks noChangeAspect="1"/>
          </p:cNvPicPr>
          <p:nvPr/>
        </p:nvPicPr>
        <p:blipFill>
          <a:blip r:embed="rId3"/>
          <a:stretch>
            <a:fillRect/>
          </a:stretch>
        </p:blipFill>
        <p:spPr>
          <a:xfrm>
            <a:off x="4525070" y="3780333"/>
            <a:ext cx="212626" cy="265807"/>
          </a:xfrm>
          <a:prstGeom prst="rect">
            <a:avLst/>
          </a:prstGeom>
        </p:spPr>
      </p:pic>
      <p:sp>
        <p:nvSpPr>
          <p:cNvPr id="10" name="Text 5">
            <a:extLst>
              <a:ext uri="{FF2B5EF4-FFF2-40B4-BE49-F238E27FC236}">
                <a16:creationId xmlns:a16="http://schemas.microsoft.com/office/drawing/2014/main" id="{3DD6AA17-123A-F484-C931-DBDCF665D398}"/>
              </a:ext>
            </a:extLst>
          </p:cNvPr>
          <p:cNvSpPr/>
          <p:nvPr/>
        </p:nvSpPr>
        <p:spPr>
          <a:xfrm>
            <a:off x="7901087" y="2442468"/>
            <a:ext cx="2888953"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Categorical vs. Categorical</a:t>
            </a:r>
            <a:endParaRPr lang="en-US" sz="2400" dirty="0">
              <a:latin typeface="Aptos" panose="020B0004020202020204" pitchFamily="34" charset="0"/>
            </a:endParaRPr>
          </a:p>
        </p:txBody>
      </p:sp>
      <p:sp>
        <p:nvSpPr>
          <p:cNvPr id="11" name="Text 6">
            <a:extLst>
              <a:ext uri="{FF2B5EF4-FFF2-40B4-BE49-F238E27FC236}">
                <a16:creationId xmlns:a16="http://schemas.microsoft.com/office/drawing/2014/main" id="{2A7AD436-9B1A-61BA-BDBB-7162C1954512}"/>
              </a:ext>
            </a:extLst>
          </p:cNvPr>
          <p:cNvSpPr/>
          <p:nvPr/>
        </p:nvSpPr>
        <p:spPr>
          <a:xfrm>
            <a:off x="7901087" y="2851151"/>
            <a:ext cx="3629422"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Gender vs. club preference</a:t>
            </a:r>
            <a:endParaRPr lang="en-US" dirty="0">
              <a:latin typeface="Aptos" panose="020B0004020202020204" pitchFamily="34" charset="0"/>
            </a:endParaRPr>
          </a:p>
        </p:txBody>
      </p:sp>
      <p:sp>
        <p:nvSpPr>
          <p:cNvPr id="12" name="Text 7">
            <a:extLst>
              <a:ext uri="{FF2B5EF4-FFF2-40B4-BE49-F238E27FC236}">
                <a16:creationId xmlns:a16="http://schemas.microsoft.com/office/drawing/2014/main" id="{123071B1-825A-27AC-5279-E0C16729F434}"/>
              </a:ext>
            </a:extLst>
          </p:cNvPr>
          <p:cNvSpPr/>
          <p:nvPr/>
        </p:nvSpPr>
        <p:spPr>
          <a:xfrm>
            <a:off x="7901087" y="3266976"/>
            <a:ext cx="3629422"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Use: Contingency tables, bar charts</a:t>
            </a:r>
            <a:endParaRPr lang="en-US" dirty="0">
              <a:latin typeface="Aptos" panose="020B0004020202020204" pitchFamily="34" charset="0"/>
            </a:endParaRPr>
          </a:p>
        </p:txBody>
      </p:sp>
      <p:pic>
        <p:nvPicPr>
          <p:cNvPr id="13" name="Image 2" descr="preencoded.png">
            <a:extLst>
              <a:ext uri="{FF2B5EF4-FFF2-40B4-BE49-F238E27FC236}">
                <a16:creationId xmlns:a16="http://schemas.microsoft.com/office/drawing/2014/main" id="{2E8F14FD-01A4-4995-E1CF-9EDE4457BC5D}"/>
              </a:ext>
            </a:extLst>
          </p:cNvPr>
          <p:cNvPicPr>
            <a:picLocks noChangeAspect="1"/>
          </p:cNvPicPr>
          <p:nvPr/>
        </p:nvPicPr>
        <p:blipFill>
          <a:blip r:embed="rId4"/>
          <a:stretch>
            <a:fillRect/>
          </a:stretch>
        </p:blipFill>
        <p:spPr>
          <a:xfrm>
            <a:off x="4574382" y="2391669"/>
            <a:ext cx="3043238" cy="3043238"/>
          </a:xfrm>
          <a:prstGeom prst="rect">
            <a:avLst/>
          </a:prstGeom>
        </p:spPr>
      </p:pic>
      <p:sp>
        <p:nvSpPr>
          <p:cNvPr id="14" name="Shape 8">
            <a:extLst>
              <a:ext uri="{FF2B5EF4-FFF2-40B4-BE49-F238E27FC236}">
                <a16:creationId xmlns:a16="http://schemas.microsoft.com/office/drawing/2014/main" id="{9CFCCE26-44E7-B661-F19B-73B24427C7B3}"/>
              </a:ext>
            </a:extLst>
          </p:cNvPr>
          <p:cNvSpPr/>
          <p:nvPr/>
        </p:nvSpPr>
        <p:spPr>
          <a:xfrm>
            <a:off x="6591994" y="2408634"/>
            <a:ext cx="472480" cy="472480"/>
          </a:xfrm>
          <a:prstGeom prst="roundRect">
            <a:avLst>
              <a:gd name="adj" fmla="val 16111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5" name="Image 3" descr="preencoded.png">
            <a:extLst>
              <a:ext uri="{FF2B5EF4-FFF2-40B4-BE49-F238E27FC236}">
                <a16:creationId xmlns:a16="http://schemas.microsoft.com/office/drawing/2014/main" id="{CA9833ED-06A2-D3E3-9D79-B5029944BA92}"/>
              </a:ext>
            </a:extLst>
          </p:cNvPr>
          <p:cNvPicPr>
            <a:picLocks noChangeAspect="1"/>
          </p:cNvPicPr>
          <p:nvPr/>
        </p:nvPicPr>
        <p:blipFill>
          <a:blip r:embed="rId5"/>
          <a:stretch>
            <a:fillRect/>
          </a:stretch>
        </p:blipFill>
        <p:spPr>
          <a:xfrm>
            <a:off x="6721872" y="2511921"/>
            <a:ext cx="212626" cy="265807"/>
          </a:xfrm>
          <a:prstGeom prst="rect">
            <a:avLst/>
          </a:prstGeom>
        </p:spPr>
      </p:pic>
      <p:sp>
        <p:nvSpPr>
          <p:cNvPr id="16" name="Text 9">
            <a:extLst>
              <a:ext uri="{FF2B5EF4-FFF2-40B4-BE49-F238E27FC236}">
                <a16:creationId xmlns:a16="http://schemas.microsoft.com/office/drawing/2014/main" id="{C546689B-5162-A187-90BD-CCDBD40B1BC1}"/>
              </a:ext>
            </a:extLst>
          </p:cNvPr>
          <p:cNvSpPr/>
          <p:nvPr/>
        </p:nvSpPr>
        <p:spPr>
          <a:xfrm>
            <a:off x="7796809" y="4797722"/>
            <a:ext cx="2584153"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Categorical vs. Numeric</a:t>
            </a:r>
            <a:endParaRPr lang="en-US" sz="2400" dirty="0">
              <a:latin typeface="Aptos" panose="020B0004020202020204" pitchFamily="34" charset="0"/>
            </a:endParaRPr>
          </a:p>
        </p:txBody>
      </p:sp>
      <p:sp>
        <p:nvSpPr>
          <p:cNvPr id="17" name="Text 10">
            <a:extLst>
              <a:ext uri="{FF2B5EF4-FFF2-40B4-BE49-F238E27FC236}">
                <a16:creationId xmlns:a16="http://schemas.microsoft.com/office/drawing/2014/main" id="{B3D146E6-2E93-5FA4-0DD2-D2C126CAB4FF}"/>
              </a:ext>
            </a:extLst>
          </p:cNvPr>
          <p:cNvSpPr/>
          <p:nvPr/>
        </p:nvSpPr>
        <p:spPr>
          <a:xfrm>
            <a:off x="7796809" y="5206405"/>
            <a:ext cx="3629422"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Class (A/B) vs. test score</a:t>
            </a:r>
            <a:endParaRPr lang="en-US" dirty="0">
              <a:latin typeface="Aptos" panose="020B0004020202020204" pitchFamily="34" charset="0"/>
            </a:endParaRPr>
          </a:p>
        </p:txBody>
      </p:sp>
      <p:sp>
        <p:nvSpPr>
          <p:cNvPr id="18" name="Text 11">
            <a:extLst>
              <a:ext uri="{FF2B5EF4-FFF2-40B4-BE49-F238E27FC236}">
                <a16:creationId xmlns:a16="http://schemas.microsoft.com/office/drawing/2014/main" id="{B5C74150-62D5-5917-C493-00AA252FC2AB}"/>
              </a:ext>
            </a:extLst>
          </p:cNvPr>
          <p:cNvSpPr/>
          <p:nvPr/>
        </p:nvSpPr>
        <p:spPr>
          <a:xfrm>
            <a:off x="7796809" y="5622230"/>
            <a:ext cx="3629422"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Use: Side-by-side boxplots, group means</a:t>
            </a:r>
            <a:endParaRPr lang="en-US" dirty="0">
              <a:latin typeface="Aptos" panose="020B0004020202020204" pitchFamily="34" charset="0"/>
            </a:endParaRPr>
          </a:p>
        </p:txBody>
      </p:sp>
      <p:pic>
        <p:nvPicPr>
          <p:cNvPr id="19" name="Image 4" descr="preencoded.png">
            <a:extLst>
              <a:ext uri="{FF2B5EF4-FFF2-40B4-BE49-F238E27FC236}">
                <a16:creationId xmlns:a16="http://schemas.microsoft.com/office/drawing/2014/main" id="{A1CB0A14-4EE1-C12E-40EB-D4F2B03943E9}"/>
              </a:ext>
            </a:extLst>
          </p:cNvPr>
          <p:cNvPicPr>
            <a:picLocks noChangeAspect="1"/>
          </p:cNvPicPr>
          <p:nvPr/>
        </p:nvPicPr>
        <p:blipFill>
          <a:blip r:embed="rId6"/>
          <a:stretch>
            <a:fillRect/>
          </a:stretch>
        </p:blipFill>
        <p:spPr>
          <a:xfrm>
            <a:off x="4574382" y="2391669"/>
            <a:ext cx="3043238" cy="3043238"/>
          </a:xfrm>
          <a:prstGeom prst="rect">
            <a:avLst/>
          </a:prstGeom>
        </p:spPr>
      </p:pic>
      <p:sp>
        <p:nvSpPr>
          <p:cNvPr id="20" name="Shape 12">
            <a:extLst>
              <a:ext uri="{FF2B5EF4-FFF2-40B4-BE49-F238E27FC236}">
                <a16:creationId xmlns:a16="http://schemas.microsoft.com/office/drawing/2014/main" id="{F3B8D509-D541-F901-3FD1-1439EFEA0C93}"/>
              </a:ext>
            </a:extLst>
          </p:cNvPr>
          <p:cNvSpPr/>
          <p:nvPr/>
        </p:nvSpPr>
        <p:spPr>
          <a:xfrm>
            <a:off x="6591994" y="4945360"/>
            <a:ext cx="472480" cy="472480"/>
          </a:xfrm>
          <a:prstGeom prst="roundRect">
            <a:avLst>
              <a:gd name="adj" fmla="val 16111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21" name="Image 5" descr="preencoded.png">
            <a:extLst>
              <a:ext uri="{FF2B5EF4-FFF2-40B4-BE49-F238E27FC236}">
                <a16:creationId xmlns:a16="http://schemas.microsoft.com/office/drawing/2014/main" id="{168F1BE7-65FB-8A8B-268D-F8E96053B5AE}"/>
              </a:ext>
            </a:extLst>
          </p:cNvPr>
          <p:cNvPicPr>
            <a:picLocks noChangeAspect="1"/>
          </p:cNvPicPr>
          <p:nvPr/>
        </p:nvPicPr>
        <p:blipFill>
          <a:blip r:embed="rId7"/>
          <a:stretch>
            <a:fillRect/>
          </a:stretch>
        </p:blipFill>
        <p:spPr>
          <a:xfrm>
            <a:off x="6721872" y="5048647"/>
            <a:ext cx="212626" cy="265807"/>
          </a:xfrm>
          <a:prstGeom prst="rect">
            <a:avLst/>
          </a:prstGeom>
        </p:spPr>
      </p:pic>
    </p:spTree>
    <p:extLst>
      <p:ext uri="{BB962C8B-B14F-4D97-AF65-F5344CB8AC3E}">
        <p14:creationId xmlns:p14="http://schemas.microsoft.com/office/powerpoint/2010/main" val="179981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B9244707-87F7-6A86-606C-95FEF27C9F3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60659" y="1820368"/>
            <a:ext cx="3093141" cy="4639712"/>
          </a:xfrm>
          <a:prstGeom prst="rect">
            <a:avLst/>
          </a:prstGeom>
        </p:spPr>
      </p:pic>
      <p:sp>
        <p:nvSpPr>
          <p:cNvPr id="5" name="Text 0">
            <a:extLst>
              <a:ext uri="{FF2B5EF4-FFF2-40B4-BE49-F238E27FC236}">
                <a16:creationId xmlns:a16="http://schemas.microsoft.com/office/drawing/2014/main" id="{33C034C9-9064-1068-90EA-D91BBEB852B8}"/>
              </a:ext>
            </a:extLst>
          </p:cNvPr>
          <p:cNvSpPr/>
          <p:nvPr/>
        </p:nvSpPr>
        <p:spPr>
          <a:xfrm>
            <a:off x="617538" y="543619"/>
            <a:ext cx="6384925" cy="1102718"/>
          </a:xfrm>
          <a:prstGeom prst="rect">
            <a:avLst/>
          </a:prstGeom>
          <a:noFill/>
          <a:ln/>
        </p:spPr>
        <p:txBody>
          <a:bodyPr wrap="square" lIns="0" tIns="0" rIns="0" bIns="0" rtlCol="0" anchor="t"/>
          <a:lstStyle/>
          <a:p>
            <a:pPr>
              <a:lnSpc>
                <a:spcPts val="4333"/>
              </a:lnSpc>
            </a:pPr>
            <a:r>
              <a:rPr lang="en-US" sz="4000" dirty="0">
                <a:solidFill>
                  <a:srgbClr val="000000"/>
                </a:solidFill>
                <a:latin typeface="Aptos" panose="020B0004020202020204" pitchFamily="34" charset="0"/>
                <a:ea typeface="Playfair Display Bold" pitchFamily="34" charset="-122"/>
                <a:cs typeface="Playfair Display Bold" pitchFamily="34" charset="-120"/>
              </a:rPr>
              <a:t>Numeric vs. Numeric: Scatterplots</a:t>
            </a:r>
            <a:endParaRPr lang="en-US" sz="4000" dirty="0">
              <a:latin typeface="Aptos" panose="020B0004020202020204" pitchFamily="34" charset="0"/>
            </a:endParaRPr>
          </a:p>
        </p:txBody>
      </p:sp>
      <p:sp>
        <p:nvSpPr>
          <p:cNvPr id="6" name="Shape 1">
            <a:extLst>
              <a:ext uri="{FF2B5EF4-FFF2-40B4-BE49-F238E27FC236}">
                <a16:creationId xmlns:a16="http://schemas.microsoft.com/office/drawing/2014/main" id="{7D5AD137-A297-862E-DC66-16CD48E48AAB}"/>
              </a:ext>
            </a:extLst>
          </p:cNvPr>
          <p:cNvSpPr/>
          <p:nvPr/>
        </p:nvSpPr>
        <p:spPr>
          <a:xfrm>
            <a:off x="617538" y="2134990"/>
            <a:ext cx="396974" cy="396974"/>
          </a:xfrm>
          <a:prstGeom prst="roundRect">
            <a:avLst>
              <a:gd name="adj" fmla="val 1866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7" name="Text 2">
            <a:extLst>
              <a:ext uri="{FF2B5EF4-FFF2-40B4-BE49-F238E27FC236}">
                <a16:creationId xmlns:a16="http://schemas.microsoft.com/office/drawing/2014/main" id="{B26529AD-0C95-A900-4D47-8F17049F4A8B}"/>
              </a:ext>
            </a:extLst>
          </p:cNvPr>
          <p:cNvSpPr/>
          <p:nvPr/>
        </p:nvSpPr>
        <p:spPr>
          <a:xfrm>
            <a:off x="1190923" y="2195612"/>
            <a:ext cx="2205533" cy="275630"/>
          </a:xfrm>
          <a:prstGeom prst="rect">
            <a:avLst/>
          </a:prstGeom>
          <a:noFill/>
          <a:ln/>
        </p:spPr>
        <p:txBody>
          <a:bodyPr wrap="none" lIns="0" tIns="0" rIns="0" bIns="0" rtlCol="0" anchor="t"/>
          <a:lstStyle/>
          <a:p>
            <a:pPr>
              <a:lnSpc>
                <a:spcPts val="2167"/>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Each Point</a:t>
            </a:r>
            <a:endParaRPr lang="en-US" sz="2000" b="1" dirty="0">
              <a:latin typeface="Aptos" panose="020B0004020202020204" pitchFamily="34" charset="0"/>
            </a:endParaRPr>
          </a:p>
        </p:txBody>
      </p:sp>
      <p:sp>
        <p:nvSpPr>
          <p:cNvPr id="8" name="Text 3">
            <a:extLst>
              <a:ext uri="{FF2B5EF4-FFF2-40B4-BE49-F238E27FC236}">
                <a16:creationId xmlns:a16="http://schemas.microsoft.com/office/drawing/2014/main" id="{85811892-25A2-13B5-C026-CCDE0675FA1A}"/>
              </a:ext>
            </a:extLst>
          </p:cNvPr>
          <p:cNvSpPr/>
          <p:nvPr/>
        </p:nvSpPr>
        <p:spPr>
          <a:xfrm>
            <a:off x="1190923" y="2577009"/>
            <a:ext cx="5811540" cy="282178"/>
          </a:xfrm>
          <a:prstGeom prst="rect">
            <a:avLst/>
          </a:prstGeom>
          <a:noFill/>
          <a:ln/>
        </p:spPr>
        <p:txBody>
          <a:bodyPr wrap="none" lIns="0" tIns="0" rIns="0" bIns="0" rtlCol="0" anchor="t"/>
          <a:lstStyle/>
          <a:p>
            <a:pPr>
              <a:lnSpc>
                <a:spcPts val="2208"/>
              </a:lnSpc>
            </a:pPr>
            <a:r>
              <a:rPr lang="en-US" sz="1600" dirty="0">
                <a:solidFill>
                  <a:srgbClr val="000000"/>
                </a:solidFill>
                <a:latin typeface="Aptos" panose="020B0004020202020204" pitchFamily="34" charset="0"/>
                <a:ea typeface="Inter" pitchFamily="34" charset="-122"/>
                <a:cs typeface="Inter" pitchFamily="34" charset="-120"/>
              </a:rPr>
              <a:t>Represents one observation with two values (x,y)</a:t>
            </a:r>
            <a:endParaRPr lang="en-US" sz="1600" dirty="0">
              <a:latin typeface="Aptos" panose="020B0004020202020204" pitchFamily="34" charset="0"/>
            </a:endParaRPr>
          </a:p>
        </p:txBody>
      </p:sp>
      <p:sp>
        <p:nvSpPr>
          <p:cNvPr id="9" name="Shape 4">
            <a:extLst>
              <a:ext uri="{FF2B5EF4-FFF2-40B4-BE49-F238E27FC236}">
                <a16:creationId xmlns:a16="http://schemas.microsoft.com/office/drawing/2014/main" id="{1279FA50-E0E8-B0F9-A8F2-24DEB4C4B32A}"/>
              </a:ext>
            </a:extLst>
          </p:cNvPr>
          <p:cNvSpPr/>
          <p:nvPr/>
        </p:nvSpPr>
        <p:spPr>
          <a:xfrm>
            <a:off x="617538" y="3212009"/>
            <a:ext cx="396974" cy="396974"/>
          </a:xfrm>
          <a:prstGeom prst="roundRect">
            <a:avLst>
              <a:gd name="adj" fmla="val 1866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0" name="Text 5">
            <a:extLst>
              <a:ext uri="{FF2B5EF4-FFF2-40B4-BE49-F238E27FC236}">
                <a16:creationId xmlns:a16="http://schemas.microsoft.com/office/drawing/2014/main" id="{889E321A-5A36-2842-BC72-15EF4FBD54EE}"/>
              </a:ext>
            </a:extLst>
          </p:cNvPr>
          <p:cNvSpPr/>
          <p:nvPr/>
        </p:nvSpPr>
        <p:spPr>
          <a:xfrm>
            <a:off x="1190923" y="3272631"/>
            <a:ext cx="2205533" cy="275630"/>
          </a:xfrm>
          <a:prstGeom prst="rect">
            <a:avLst/>
          </a:prstGeom>
          <a:noFill/>
          <a:ln/>
        </p:spPr>
        <p:txBody>
          <a:bodyPr wrap="none" lIns="0" tIns="0" rIns="0" bIns="0" rtlCol="0" anchor="t"/>
          <a:lstStyle/>
          <a:p>
            <a:pPr>
              <a:lnSpc>
                <a:spcPts val="2167"/>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Trend</a:t>
            </a:r>
            <a:endParaRPr lang="en-US" sz="2000" b="1" dirty="0">
              <a:latin typeface="Aptos" panose="020B0004020202020204" pitchFamily="34" charset="0"/>
            </a:endParaRPr>
          </a:p>
        </p:txBody>
      </p:sp>
      <p:sp>
        <p:nvSpPr>
          <p:cNvPr id="11" name="Text 6">
            <a:extLst>
              <a:ext uri="{FF2B5EF4-FFF2-40B4-BE49-F238E27FC236}">
                <a16:creationId xmlns:a16="http://schemas.microsoft.com/office/drawing/2014/main" id="{8CFAFC04-DEE2-6E63-0732-ED6D48E2B670}"/>
              </a:ext>
            </a:extLst>
          </p:cNvPr>
          <p:cNvSpPr/>
          <p:nvPr/>
        </p:nvSpPr>
        <p:spPr>
          <a:xfrm>
            <a:off x="1190923" y="3654029"/>
            <a:ext cx="5811540" cy="282178"/>
          </a:xfrm>
          <a:prstGeom prst="rect">
            <a:avLst/>
          </a:prstGeom>
          <a:noFill/>
          <a:ln/>
        </p:spPr>
        <p:txBody>
          <a:bodyPr wrap="none" lIns="0" tIns="0" rIns="0" bIns="0" rtlCol="0" anchor="t"/>
          <a:lstStyle/>
          <a:p>
            <a:pPr>
              <a:lnSpc>
                <a:spcPts val="2208"/>
              </a:lnSpc>
            </a:pPr>
            <a:r>
              <a:rPr lang="en-US" sz="1600" dirty="0">
                <a:solidFill>
                  <a:srgbClr val="000000"/>
                </a:solidFill>
                <a:latin typeface="Aptos" panose="020B0004020202020204" pitchFamily="34" charset="0"/>
                <a:ea typeface="Inter" pitchFamily="34" charset="-122"/>
                <a:cs typeface="Inter" pitchFamily="34" charset="-120"/>
              </a:rPr>
              <a:t>Upward trend shows positive correlation, downward shows negative</a:t>
            </a:r>
            <a:endParaRPr lang="en-US" sz="1600" dirty="0">
              <a:latin typeface="Aptos" panose="020B0004020202020204" pitchFamily="34" charset="0"/>
            </a:endParaRPr>
          </a:p>
        </p:txBody>
      </p:sp>
      <p:sp>
        <p:nvSpPr>
          <p:cNvPr id="12" name="Shape 7">
            <a:extLst>
              <a:ext uri="{FF2B5EF4-FFF2-40B4-BE49-F238E27FC236}">
                <a16:creationId xmlns:a16="http://schemas.microsoft.com/office/drawing/2014/main" id="{C69CB4FA-590C-D377-BE05-469C3A253D75}"/>
              </a:ext>
            </a:extLst>
          </p:cNvPr>
          <p:cNvSpPr/>
          <p:nvPr/>
        </p:nvSpPr>
        <p:spPr>
          <a:xfrm>
            <a:off x="617538" y="4289029"/>
            <a:ext cx="396974" cy="396974"/>
          </a:xfrm>
          <a:prstGeom prst="roundRect">
            <a:avLst>
              <a:gd name="adj" fmla="val 1866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3" name="Text 8">
            <a:extLst>
              <a:ext uri="{FF2B5EF4-FFF2-40B4-BE49-F238E27FC236}">
                <a16:creationId xmlns:a16="http://schemas.microsoft.com/office/drawing/2014/main" id="{3F398922-E905-588F-70B7-CFCA3348DECC}"/>
              </a:ext>
            </a:extLst>
          </p:cNvPr>
          <p:cNvSpPr/>
          <p:nvPr/>
        </p:nvSpPr>
        <p:spPr>
          <a:xfrm>
            <a:off x="1190923" y="4349651"/>
            <a:ext cx="2205533" cy="275630"/>
          </a:xfrm>
          <a:prstGeom prst="rect">
            <a:avLst/>
          </a:prstGeom>
          <a:noFill/>
          <a:ln/>
        </p:spPr>
        <p:txBody>
          <a:bodyPr wrap="none" lIns="0" tIns="0" rIns="0" bIns="0" rtlCol="0" anchor="t"/>
          <a:lstStyle/>
          <a:p>
            <a:pPr>
              <a:lnSpc>
                <a:spcPts val="2167"/>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Strength</a:t>
            </a:r>
            <a:endParaRPr lang="en-US" sz="2000" b="1" dirty="0">
              <a:latin typeface="Aptos" panose="020B0004020202020204" pitchFamily="34" charset="0"/>
            </a:endParaRPr>
          </a:p>
        </p:txBody>
      </p:sp>
      <p:sp>
        <p:nvSpPr>
          <p:cNvPr id="14" name="Text 9">
            <a:extLst>
              <a:ext uri="{FF2B5EF4-FFF2-40B4-BE49-F238E27FC236}">
                <a16:creationId xmlns:a16="http://schemas.microsoft.com/office/drawing/2014/main" id="{2DD10E74-B1DB-BBD9-A504-3A894C7FCD4A}"/>
              </a:ext>
            </a:extLst>
          </p:cNvPr>
          <p:cNvSpPr/>
          <p:nvPr/>
        </p:nvSpPr>
        <p:spPr>
          <a:xfrm>
            <a:off x="1190923" y="4731048"/>
            <a:ext cx="5811540" cy="282178"/>
          </a:xfrm>
          <a:prstGeom prst="rect">
            <a:avLst/>
          </a:prstGeom>
          <a:noFill/>
          <a:ln/>
        </p:spPr>
        <p:txBody>
          <a:bodyPr wrap="none" lIns="0" tIns="0" rIns="0" bIns="0" rtlCol="0" anchor="t"/>
          <a:lstStyle/>
          <a:p>
            <a:pPr>
              <a:lnSpc>
                <a:spcPts val="2208"/>
              </a:lnSpc>
            </a:pPr>
            <a:r>
              <a:rPr lang="en-US" sz="1600" dirty="0">
                <a:solidFill>
                  <a:srgbClr val="000000"/>
                </a:solidFill>
                <a:latin typeface="Aptos" panose="020B0004020202020204" pitchFamily="34" charset="0"/>
                <a:ea typeface="Inter" pitchFamily="34" charset="-122"/>
                <a:cs typeface="Inter" pitchFamily="34" charset="-120"/>
              </a:rPr>
              <a:t>Tight cluster around line = strong relationship, scattered = weak</a:t>
            </a:r>
            <a:endParaRPr lang="en-US" sz="1600" dirty="0">
              <a:latin typeface="Aptos" panose="020B0004020202020204" pitchFamily="34" charset="0"/>
            </a:endParaRPr>
          </a:p>
        </p:txBody>
      </p:sp>
      <p:sp>
        <p:nvSpPr>
          <p:cNvPr id="15" name="Shape 10">
            <a:extLst>
              <a:ext uri="{FF2B5EF4-FFF2-40B4-BE49-F238E27FC236}">
                <a16:creationId xmlns:a16="http://schemas.microsoft.com/office/drawing/2014/main" id="{707187AB-CFFC-5946-63DE-073AD43D4A21}"/>
              </a:ext>
            </a:extLst>
          </p:cNvPr>
          <p:cNvSpPr/>
          <p:nvPr/>
        </p:nvSpPr>
        <p:spPr>
          <a:xfrm>
            <a:off x="617538" y="5366048"/>
            <a:ext cx="396974" cy="396974"/>
          </a:xfrm>
          <a:prstGeom prst="roundRect">
            <a:avLst>
              <a:gd name="adj" fmla="val 18668"/>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6" name="Text 11">
            <a:extLst>
              <a:ext uri="{FF2B5EF4-FFF2-40B4-BE49-F238E27FC236}">
                <a16:creationId xmlns:a16="http://schemas.microsoft.com/office/drawing/2014/main" id="{C327C0A2-7111-D32D-DFFC-EF591A87B7F8}"/>
              </a:ext>
            </a:extLst>
          </p:cNvPr>
          <p:cNvSpPr/>
          <p:nvPr/>
        </p:nvSpPr>
        <p:spPr>
          <a:xfrm>
            <a:off x="1190923" y="5426670"/>
            <a:ext cx="2205533" cy="275630"/>
          </a:xfrm>
          <a:prstGeom prst="rect">
            <a:avLst/>
          </a:prstGeom>
          <a:noFill/>
          <a:ln/>
        </p:spPr>
        <p:txBody>
          <a:bodyPr wrap="none" lIns="0" tIns="0" rIns="0" bIns="0" rtlCol="0" anchor="t"/>
          <a:lstStyle/>
          <a:p>
            <a:pPr>
              <a:lnSpc>
                <a:spcPts val="2167"/>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Outliers</a:t>
            </a:r>
            <a:endParaRPr lang="en-US" sz="2000" b="1" dirty="0">
              <a:latin typeface="Aptos" panose="020B0004020202020204" pitchFamily="34" charset="0"/>
            </a:endParaRPr>
          </a:p>
        </p:txBody>
      </p:sp>
      <p:sp>
        <p:nvSpPr>
          <p:cNvPr id="17" name="Text 12">
            <a:extLst>
              <a:ext uri="{FF2B5EF4-FFF2-40B4-BE49-F238E27FC236}">
                <a16:creationId xmlns:a16="http://schemas.microsoft.com/office/drawing/2014/main" id="{59523E37-5AED-6948-60EF-A2E19D70DDB7}"/>
              </a:ext>
            </a:extLst>
          </p:cNvPr>
          <p:cNvSpPr/>
          <p:nvPr/>
        </p:nvSpPr>
        <p:spPr>
          <a:xfrm>
            <a:off x="1190923" y="5808068"/>
            <a:ext cx="5811540" cy="282178"/>
          </a:xfrm>
          <a:prstGeom prst="rect">
            <a:avLst/>
          </a:prstGeom>
          <a:noFill/>
          <a:ln/>
        </p:spPr>
        <p:txBody>
          <a:bodyPr wrap="none" lIns="0" tIns="0" rIns="0" bIns="0" rtlCol="0" anchor="t"/>
          <a:lstStyle/>
          <a:p>
            <a:pPr>
              <a:lnSpc>
                <a:spcPts val="2208"/>
              </a:lnSpc>
            </a:pPr>
            <a:r>
              <a:rPr lang="en-US" sz="1600" dirty="0">
                <a:solidFill>
                  <a:srgbClr val="000000"/>
                </a:solidFill>
                <a:latin typeface="Aptos" panose="020B0004020202020204" pitchFamily="34" charset="0"/>
                <a:ea typeface="Inter" pitchFamily="34" charset="-122"/>
                <a:cs typeface="Inter" pitchFamily="34" charset="-120"/>
              </a:rPr>
              <a:t>Points that don't follow the general pattern</a:t>
            </a:r>
            <a:endParaRPr lang="en-US" sz="1600" dirty="0">
              <a:latin typeface="Aptos" panose="020B0004020202020204" pitchFamily="34" charset="0"/>
            </a:endParaRPr>
          </a:p>
        </p:txBody>
      </p:sp>
    </p:spTree>
    <p:extLst>
      <p:ext uri="{BB962C8B-B14F-4D97-AF65-F5344CB8AC3E}">
        <p14:creationId xmlns:p14="http://schemas.microsoft.com/office/powerpoint/2010/main" val="4081109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6490B-EFB2-A2BB-C51D-E3239CB89A5E}"/>
              </a:ext>
            </a:extLst>
          </p:cNvPr>
          <p:cNvSpPr>
            <a:spLocks noGrp="1"/>
          </p:cNvSpPr>
          <p:nvPr>
            <p:ph type="title"/>
          </p:nvPr>
        </p:nvSpPr>
        <p:spPr>
          <a:xfrm>
            <a:off x="838200" y="791468"/>
            <a:ext cx="10515600" cy="1325563"/>
          </a:xfrm>
        </p:spPr>
        <p:txBody>
          <a:bodyPr/>
          <a:lstStyle/>
          <a:p>
            <a:r>
              <a:rPr lang="en-US" dirty="0"/>
              <a:t>Correlation</a:t>
            </a:r>
          </a:p>
        </p:txBody>
      </p:sp>
      <p:sp>
        <p:nvSpPr>
          <p:cNvPr id="4" name="Text 1">
            <a:extLst>
              <a:ext uri="{FF2B5EF4-FFF2-40B4-BE49-F238E27FC236}">
                <a16:creationId xmlns:a16="http://schemas.microsoft.com/office/drawing/2014/main" id="{78E679F4-971A-3974-CE3D-0B51551511BC}"/>
              </a:ext>
            </a:extLst>
          </p:cNvPr>
          <p:cNvSpPr/>
          <p:nvPr/>
        </p:nvSpPr>
        <p:spPr>
          <a:xfrm>
            <a:off x="5218013" y="1454250"/>
            <a:ext cx="3025577" cy="609104"/>
          </a:xfrm>
          <a:prstGeom prst="rect">
            <a:avLst/>
          </a:prstGeom>
          <a:noFill/>
          <a:ln/>
        </p:spPr>
        <p:txBody>
          <a:bodyPr wrap="none" lIns="0" tIns="0" rIns="0" bIns="0" rtlCol="0" anchor="t"/>
          <a:lstStyle/>
          <a:p>
            <a:pPr algn="ctr">
              <a:lnSpc>
                <a:spcPts val="4791"/>
              </a:lnSpc>
            </a:pPr>
            <a:r>
              <a:rPr lang="en-US" sz="6000" b="1" dirty="0">
                <a:solidFill>
                  <a:srgbClr val="000000"/>
                </a:solidFill>
                <a:latin typeface="Aptos" panose="020B0004020202020204" pitchFamily="34" charset="0"/>
                <a:ea typeface="Playfair Display Bold" pitchFamily="34" charset="-122"/>
                <a:cs typeface="Playfair Display Bold" pitchFamily="34" charset="-120"/>
              </a:rPr>
              <a:t>+1.0</a:t>
            </a:r>
            <a:endParaRPr lang="en-US" sz="6000" dirty="0">
              <a:latin typeface="Aptos" panose="020B0004020202020204" pitchFamily="34" charset="0"/>
            </a:endParaRPr>
          </a:p>
        </p:txBody>
      </p:sp>
      <p:sp>
        <p:nvSpPr>
          <p:cNvPr id="5" name="Text 2">
            <a:extLst>
              <a:ext uri="{FF2B5EF4-FFF2-40B4-BE49-F238E27FC236}">
                <a16:creationId xmlns:a16="http://schemas.microsoft.com/office/drawing/2014/main" id="{77AF3F1B-2480-F863-7200-D37959B8ABFA}"/>
              </a:ext>
            </a:extLst>
          </p:cNvPr>
          <p:cNvSpPr/>
          <p:nvPr/>
        </p:nvSpPr>
        <p:spPr>
          <a:xfrm>
            <a:off x="5577185" y="2294037"/>
            <a:ext cx="2307233" cy="288330"/>
          </a:xfrm>
          <a:prstGeom prst="rect">
            <a:avLst/>
          </a:prstGeom>
          <a:noFill/>
          <a:ln/>
        </p:spPr>
        <p:txBody>
          <a:bodyPr wrap="none" lIns="0" tIns="0" rIns="0" bIns="0" rtlCol="0" anchor="t"/>
          <a:lstStyle/>
          <a:p>
            <a:pPr algn="ct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Perfect Positive</a:t>
            </a:r>
            <a:endParaRPr lang="en-US" sz="2400" dirty="0">
              <a:latin typeface="Aptos" panose="020B0004020202020204" pitchFamily="34" charset="0"/>
            </a:endParaRPr>
          </a:p>
        </p:txBody>
      </p:sp>
      <p:sp>
        <p:nvSpPr>
          <p:cNvPr id="6" name="Text 3">
            <a:extLst>
              <a:ext uri="{FF2B5EF4-FFF2-40B4-BE49-F238E27FC236}">
                <a16:creationId xmlns:a16="http://schemas.microsoft.com/office/drawing/2014/main" id="{7995CD89-3F87-FA6D-6091-90960D4109DA}"/>
              </a:ext>
            </a:extLst>
          </p:cNvPr>
          <p:cNvSpPr/>
          <p:nvPr/>
        </p:nvSpPr>
        <p:spPr>
          <a:xfrm>
            <a:off x="5218013" y="2693094"/>
            <a:ext cx="3025577" cy="885825"/>
          </a:xfrm>
          <a:prstGeom prst="rect">
            <a:avLst/>
          </a:prstGeom>
          <a:noFill/>
          <a:ln/>
        </p:spPr>
        <p:txBody>
          <a:bodyPr wrap="square" lIns="0" tIns="0" rIns="0" bIns="0" rtlCol="0" anchor="t"/>
          <a:lstStyle/>
          <a:p>
            <a:pPr algn="ctr">
              <a:lnSpc>
                <a:spcPts val="2292"/>
              </a:lnSpc>
            </a:pPr>
            <a:r>
              <a:rPr lang="en-US" sz="2000" dirty="0">
                <a:solidFill>
                  <a:srgbClr val="000000"/>
                </a:solidFill>
                <a:latin typeface="Aptos" panose="020B0004020202020204" pitchFamily="34" charset="0"/>
                <a:ea typeface="Inter" pitchFamily="34" charset="-122"/>
                <a:cs typeface="Inter" pitchFamily="34" charset="-120"/>
              </a:rPr>
              <a:t>As one variable increases, the other increases exactly proportionally</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6C62CC00-AA20-FC95-3273-B0601157F7EE}"/>
              </a:ext>
            </a:extLst>
          </p:cNvPr>
          <p:cNvSpPr/>
          <p:nvPr/>
        </p:nvSpPr>
        <p:spPr>
          <a:xfrm>
            <a:off x="8520410" y="1454250"/>
            <a:ext cx="3025577" cy="609104"/>
          </a:xfrm>
          <a:prstGeom prst="rect">
            <a:avLst/>
          </a:prstGeom>
          <a:noFill/>
          <a:ln/>
        </p:spPr>
        <p:txBody>
          <a:bodyPr wrap="none" lIns="0" tIns="0" rIns="0" bIns="0" rtlCol="0" anchor="t"/>
          <a:lstStyle/>
          <a:p>
            <a:pPr algn="ctr">
              <a:lnSpc>
                <a:spcPts val="4791"/>
              </a:lnSpc>
            </a:pPr>
            <a:r>
              <a:rPr lang="en-US" sz="6000" b="1" dirty="0">
                <a:solidFill>
                  <a:srgbClr val="000000"/>
                </a:solidFill>
                <a:latin typeface="Aptos" panose="020B0004020202020204" pitchFamily="34" charset="0"/>
                <a:ea typeface="Playfair Display Bold" pitchFamily="34" charset="-122"/>
                <a:cs typeface="Playfair Display Bold" pitchFamily="34" charset="-120"/>
              </a:rPr>
              <a:t>0</a:t>
            </a:r>
            <a:endParaRPr lang="en-US" sz="6000" dirty="0">
              <a:latin typeface="Aptos" panose="020B0004020202020204" pitchFamily="34" charset="0"/>
            </a:endParaRPr>
          </a:p>
        </p:txBody>
      </p:sp>
      <p:sp>
        <p:nvSpPr>
          <p:cNvPr id="8" name="Text 5">
            <a:extLst>
              <a:ext uri="{FF2B5EF4-FFF2-40B4-BE49-F238E27FC236}">
                <a16:creationId xmlns:a16="http://schemas.microsoft.com/office/drawing/2014/main" id="{E67637F0-CCEE-5420-F60B-41A88B833849}"/>
              </a:ext>
            </a:extLst>
          </p:cNvPr>
          <p:cNvSpPr/>
          <p:nvPr/>
        </p:nvSpPr>
        <p:spPr>
          <a:xfrm>
            <a:off x="8879582" y="2294037"/>
            <a:ext cx="2307233" cy="288330"/>
          </a:xfrm>
          <a:prstGeom prst="rect">
            <a:avLst/>
          </a:prstGeom>
          <a:noFill/>
          <a:ln/>
        </p:spPr>
        <p:txBody>
          <a:bodyPr wrap="none" lIns="0" tIns="0" rIns="0" bIns="0" rtlCol="0" anchor="t"/>
          <a:lstStyle/>
          <a:p>
            <a:pPr algn="ct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No Correlation</a:t>
            </a:r>
            <a:endParaRPr lang="en-US" sz="2400" dirty="0">
              <a:latin typeface="Aptos" panose="020B0004020202020204" pitchFamily="34" charset="0"/>
            </a:endParaRPr>
          </a:p>
        </p:txBody>
      </p:sp>
      <p:sp>
        <p:nvSpPr>
          <p:cNvPr id="9" name="Text 6">
            <a:extLst>
              <a:ext uri="{FF2B5EF4-FFF2-40B4-BE49-F238E27FC236}">
                <a16:creationId xmlns:a16="http://schemas.microsoft.com/office/drawing/2014/main" id="{0D759352-F98D-A443-4DE6-3064651854BF}"/>
              </a:ext>
            </a:extLst>
          </p:cNvPr>
          <p:cNvSpPr/>
          <p:nvPr/>
        </p:nvSpPr>
        <p:spPr>
          <a:xfrm>
            <a:off x="8520410" y="2693094"/>
            <a:ext cx="3025577" cy="590550"/>
          </a:xfrm>
          <a:prstGeom prst="rect">
            <a:avLst/>
          </a:prstGeom>
          <a:noFill/>
          <a:ln/>
        </p:spPr>
        <p:txBody>
          <a:bodyPr wrap="square" lIns="0" tIns="0" rIns="0" bIns="0" rtlCol="0" anchor="t"/>
          <a:lstStyle/>
          <a:p>
            <a:pPr algn="ctr">
              <a:lnSpc>
                <a:spcPts val="2292"/>
              </a:lnSpc>
            </a:pPr>
            <a:r>
              <a:rPr lang="en-US" sz="2000" dirty="0">
                <a:solidFill>
                  <a:srgbClr val="000000"/>
                </a:solidFill>
                <a:latin typeface="Aptos" panose="020B0004020202020204" pitchFamily="34" charset="0"/>
                <a:ea typeface="Inter" pitchFamily="34" charset="-122"/>
                <a:cs typeface="Inter" pitchFamily="34" charset="-120"/>
              </a:rPr>
              <a:t>No linear relationship between the variables</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F919A82A-043C-6539-6484-23F4DD4637C3}"/>
              </a:ext>
            </a:extLst>
          </p:cNvPr>
          <p:cNvSpPr/>
          <p:nvPr/>
        </p:nvSpPr>
        <p:spPr>
          <a:xfrm>
            <a:off x="6869212" y="4224834"/>
            <a:ext cx="3025577" cy="609104"/>
          </a:xfrm>
          <a:prstGeom prst="rect">
            <a:avLst/>
          </a:prstGeom>
          <a:noFill/>
          <a:ln/>
        </p:spPr>
        <p:txBody>
          <a:bodyPr wrap="none" lIns="0" tIns="0" rIns="0" bIns="0" rtlCol="0" anchor="t"/>
          <a:lstStyle/>
          <a:p>
            <a:pPr algn="ctr">
              <a:lnSpc>
                <a:spcPts val="4791"/>
              </a:lnSpc>
            </a:pPr>
            <a:r>
              <a:rPr lang="en-US" sz="6000" b="1" dirty="0">
                <a:solidFill>
                  <a:srgbClr val="000000"/>
                </a:solidFill>
                <a:latin typeface="Aptos" panose="020B0004020202020204" pitchFamily="34" charset="0"/>
                <a:ea typeface="Playfair Display Bold" pitchFamily="34" charset="-122"/>
                <a:cs typeface="Playfair Display Bold" pitchFamily="34" charset="-120"/>
              </a:rPr>
              <a:t>-1.0</a:t>
            </a:r>
            <a:endParaRPr lang="en-US" sz="6000" dirty="0">
              <a:latin typeface="Aptos" panose="020B0004020202020204" pitchFamily="34" charset="0"/>
            </a:endParaRPr>
          </a:p>
        </p:txBody>
      </p:sp>
      <p:sp>
        <p:nvSpPr>
          <p:cNvPr id="11" name="Text 8">
            <a:extLst>
              <a:ext uri="{FF2B5EF4-FFF2-40B4-BE49-F238E27FC236}">
                <a16:creationId xmlns:a16="http://schemas.microsoft.com/office/drawing/2014/main" id="{1B2CFAF9-C001-455C-6E5F-CC3CE31AA232}"/>
              </a:ext>
            </a:extLst>
          </p:cNvPr>
          <p:cNvSpPr/>
          <p:nvPr/>
        </p:nvSpPr>
        <p:spPr>
          <a:xfrm>
            <a:off x="7228384" y="5064621"/>
            <a:ext cx="2307233" cy="288330"/>
          </a:xfrm>
          <a:prstGeom prst="rect">
            <a:avLst/>
          </a:prstGeom>
          <a:noFill/>
          <a:ln/>
        </p:spPr>
        <p:txBody>
          <a:bodyPr wrap="none" lIns="0" tIns="0" rIns="0" bIns="0" rtlCol="0" anchor="t"/>
          <a:lstStyle/>
          <a:p>
            <a:pPr algn="ct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Perfect Negative</a:t>
            </a:r>
            <a:endParaRPr lang="en-US" sz="2400" dirty="0">
              <a:latin typeface="Aptos" panose="020B0004020202020204" pitchFamily="34" charset="0"/>
            </a:endParaRPr>
          </a:p>
        </p:txBody>
      </p:sp>
      <p:sp>
        <p:nvSpPr>
          <p:cNvPr id="12" name="Text 9">
            <a:extLst>
              <a:ext uri="{FF2B5EF4-FFF2-40B4-BE49-F238E27FC236}">
                <a16:creationId xmlns:a16="http://schemas.microsoft.com/office/drawing/2014/main" id="{20FD5542-7BED-2A73-B9BE-11743C5308CD}"/>
              </a:ext>
            </a:extLst>
          </p:cNvPr>
          <p:cNvSpPr/>
          <p:nvPr/>
        </p:nvSpPr>
        <p:spPr>
          <a:xfrm>
            <a:off x="6869212" y="5463679"/>
            <a:ext cx="3025577" cy="885825"/>
          </a:xfrm>
          <a:prstGeom prst="rect">
            <a:avLst/>
          </a:prstGeom>
          <a:noFill/>
          <a:ln/>
        </p:spPr>
        <p:txBody>
          <a:bodyPr wrap="square" lIns="0" tIns="0" rIns="0" bIns="0" rtlCol="0" anchor="t"/>
          <a:lstStyle/>
          <a:p>
            <a:pPr algn="ctr">
              <a:lnSpc>
                <a:spcPts val="2292"/>
              </a:lnSpc>
            </a:pPr>
            <a:r>
              <a:rPr lang="en-US" sz="2000" dirty="0">
                <a:solidFill>
                  <a:srgbClr val="000000"/>
                </a:solidFill>
                <a:latin typeface="Aptos" panose="020B0004020202020204" pitchFamily="34" charset="0"/>
                <a:ea typeface="Inter" pitchFamily="34" charset="-122"/>
                <a:cs typeface="Inter" pitchFamily="34" charset="-120"/>
              </a:rPr>
              <a:t>As one variable increases, the other decreases exactly proportionally</a:t>
            </a:r>
            <a:endParaRPr lang="en-US" sz="2000" dirty="0">
              <a:latin typeface="Aptos" panose="020B0004020202020204" pitchFamily="34" charset="0"/>
            </a:endParaRPr>
          </a:p>
        </p:txBody>
      </p:sp>
      <p:sp>
        <p:nvSpPr>
          <p:cNvPr id="13" name="TextBox 12">
            <a:extLst>
              <a:ext uri="{FF2B5EF4-FFF2-40B4-BE49-F238E27FC236}">
                <a16:creationId xmlns:a16="http://schemas.microsoft.com/office/drawing/2014/main" id="{9969EC5B-6397-224C-397C-330B1C47F307}"/>
              </a:ext>
            </a:extLst>
          </p:cNvPr>
          <p:cNvSpPr txBox="1"/>
          <p:nvPr/>
        </p:nvSpPr>
        <p:spPr>
          <a:xfrm>
            <a:off x="5257800" y="1314450"/>
            <a:ext cx="184731" cy="523220"/>
          </a:xfrm>
          <a:prstGeom prst="rect">
            <a:avLst/>
          </a:prstGeom>
          <a:noFill/>
        </p:spPr>
        <p:txBody>
          <a:bodyPr wrap="none" rtlCol="0">
            <a:spAutoFit/>
          </a:bodyPr>
          <a:lstStyle/>
          <a:p>
            <a:endParaRPr lang="en-US" sz="2800" dirty="0">
              <a:latin typeface="Aptos" panose="020B0004020202020204" pitchFamily="34" charset="0"/>
            </a:endParaRPr>
          </a:p>
        </p:txBody>
      </p:sp>
      <p:pic>
        <p:nvPicPr>
          <p:cNvPr id="14" name="Picture 13">
            <a:extLst>
              <a:ext uri="{FF2B5EF4-FFF2-40B4-BE49-F238E27FC236}">
                <a16:creationId xmlns:a16="http://schemas.microsoft.com/office/drawing/2014/main" id="{AA75B5A7-B293-9979-104D-0E9A39A9BDA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9780" y="3153832"/>
            <a:ext cx="4761413" cy="3174275"/>
          </a:xfrm>
          <a:prstGeom prst="rect">
            <a:avLst/>
          </a:prstGeom>
        </p:spPr>
      </p:pic>
    </p:spTree>
    <p:extLst>
      <p:ext uri="{BB962C8B-B14F-4D97-AF65-F5344CB8AC3E}">
        <p14:creationId xmlns:p14="http://schemas.microsoft.com/office/powerpoint/2010/main" val="2359982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
            <a:extLst>
              <a:ext uri="{FF2B5EF4-FFF2-40B4-BE49-F238E27FC236}">
                <a16:creationId xmlns:a16="http://schemas.microsoft.com/office/drawing/2014/main" id="{E6C5BD36-521C-36A3-E577-ED4F16166157}"/>
              </a:ext>
            </a:extLst>
          </p:cNvPr>
          <p:cNvSpPr/>
          <p:nvPr/>
        </p:nvSpPr>
        <p:spPr>
          <a:xfrm>
            <a:off x="9411296" y="2932239"/>
            <a:ext cx="2503290" cy="2985636"/>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0" name="Shape 1">
            <a:extLst>
              <a:ext uri="{FF2B5EF4-FFF2-40B4-BE49-F238E27FC236}">
                <a16:creationId xmlns:a16="http://schemas.microsoft.com/office/drawing/2014/main" id="{BC33DD0A-6543-93E0-EF16-0FDF067DC714}"/>
              </a:ext>
            </a:extLst>
          </p:cNvPr>
          <p:cNvSpPr/>
          <p:nvPr/>
        </p:nvSpPr>
        <p:spPr>
          <a:xfrm>
            <a:off x="715268" y="4494211"/>
            <a:ext cx="3916475" cy="1710774"/>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7" name="Shape 1">
            <a:extLst>
              <a:ext uri="{FF2B5EF4-FFF2-40B4-BE49-F238E27FC236}">
                <a16:creationId xmlns:a16="http://schemas.microsoft.com/office/drawing/2014/main" id="{E2DD8FFF-77C4-4F8C-9026-8438874A5F17}"/>
              </a:ext>
            </a:extLst>
          </p:cNvPr>
          <p:cNvSpPr/>
          <p:nvPr/>
        </p:nvSpPr>
        <p:spPr>
          <a:xfrm>
            <a:off x="4766370" y="2424664"/>
            <a:ext cx="4328220" cy="1710774"/>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6" name="Shape 1">
            <a:extLst>
              <a:ext uri="{FF2B5EF4-FFF2-40B4-BE49-F238E27FC236}">
                <a16:creationId xmlns:a16="http://schemas.microsoft.com/office/drawing/2014/main" id="{D3313BF0-B374-36B4-442E-D6A04216FB6C}"/>
              </a:ext>
            </a:extLst>
          </p:cNvPr>
          <p:cNvSpPr/>
          <p:nvPr/>
        </p:nvSpPr>
        <p:spPr>
          <a:xfrm>
            <a:off x="715268" y="2424664"/>
            <a:ext cx="3916475" cy="1710774"/>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2" name="Title 1">
            <a:extLst>
              <a:ext uri="{FF2B5EF4-FFF2-40B4-BE49-F238E27FC236}">
                <a16:creationId xmlns:a16="http://schemas.microsoft.com/office/drawing/2014/main" id="{BC40BDC6-AF85-151E-EB6D-7C4A64667287}"/>
              </a:ext>
            </a:extLst>
          </p:cNvPr>
          <p:cNvSpPr>
            <a:spLocks noGrp="1"/>
          </p:cNvSpPr>
          <p:nvPr>
            <p:ph type="title"/>
          </p:nvPr>
        </p:nvSpPr>
        <p:spPr/>
        <p:txBody>
          <a:bodyPr/>
          <a:lstStyle/>
          <a:p>
            <a:r>
              <a:rPr lang="en-US" dirty="0"/>
              <a:t xml:space="preserve">Numeric vs Numeric (Scatterplots): </a:t>
            </a:r>
          </a:p>
        </p:txBody>
      </p:sp>
      <p:sp>
        <p:nvSpPr>
          <p:cNvPr id="3" name="Content Placeholder 2">
            <a:extLst>
              <a:ext uri="{FF2B5EF4-FFF2-40B4-BE49-F238E27FC236}">
                <a16:creationId xmlns:a16="http://schemas.microsoft.com/office/drawing/2014/main" id="{4A6EFF84-CA80-4E1B-1872-4EBCF26648B9}"/>
              </a:ext>
            </a:extLst>
          </p:cNvPr>
          <p:cNvSpPr>
            <a:spLocks noGrp="1"/>
          </p:cNvSpPr>
          <p:nvPr>
            <p:ph idx="1"/>
          </p:nvPr>
        </p:nvSpPr>
        <p:spPr>
          <a:xfrm>
            <a:off x="838200" y="2604051"/>
            <a:ext cx="3805238" cy="1710773"/>
          </a:xfrm>
        </p:spPr>
        <p:txBody>
          <a:bodyPr>
            <a:normAutofit lnSpcReduction="10000"/>
          </a:bodyPr>
          <a:lstStyle/>
          <a:p>
            <a:pPr marL="0" indent="0">
              <a:buNone/>
            </a:pPr>
            <a:r>
              <a:rPr lang="en-US" sz="2000" b="1" dirty="0"/>
              <a:t>What is a Scatterplot?</a:t>
            </a:r>
            <a:endParaRPr lang="en-US" sz="2000" dirty="0"/>
          </a:p>
          <a:p>
            <a:pPr marL="0" indent="0">
              <a:buNone/>
            </a:pPr>
            <a:r>
              <a:rPr lang="en-US" sz="1800" dirty="0"/>
              <a:t xml:space="preserve">A graph where each </a:t>
            </a:r>
            <a:r>
              <a:rPr lang="en-US" sz="1800" b="1" dirty="0"/>
              <a:t>point</a:t>
            </a:r>
            <a:r>
              <a:rPr lang="en-US" sz="1800" dirty="0"/>
              <a:t xml:space="preserve"> represents one observation with two values — one on the </a:t>
            </a:r>
            <a:r>
              <a:rPr lang="en-US" sz="1800" b="1" dirty="0"/>
              <a:t>x-axis</a:t>
            </a:r>
            <a:r>
              <a:rPr lang="en-US" sz="1800" dirty="0"/>
              <a:t xml:space="preserve"> and one on the </a:t>
            </a:r>
            <a:r>
              <a:rPr lang="en-US" sz="1800" b="1" dirty="0"/>
              <a:t>y-axis</a:t>
            </a:r>
            <a:r>
              <a:rPr lang="en-US" sz="1800" dirty="0"/>
              <a:t xml:space="preserve"> (e.g., Hours Studied vs. Exam Score).</a:t>
            </a:r>
          </a:p>
        </p:txBody>
      </p:sp>
      <p:sp>
        <p:nvSpPr>
          <p:cNvPr id="5" name="TextBox 4">
            <a:extLst>
              <a:ext uri="{FF2B5EF4-FFF2-40B4-BE49-F238E27FC236}">
                <a16:creationId xmlns:a16="http://schemas.microsoft.com/office/drawing/2014/main" id="{38F1D3F5-5DA6-C503-D971-21A2386D74D3}"/>
              </a:ext>
            </a:extLst>
          </p:cNvPr>
          <p:cNvSpPr txBox="1"/>
          <p:nvPr/>
        </p:nvSpPr>
        <p:spPr>
          <a:xfrm>
            <a:off x="4924723" y="2541387"/>
            <a:ext cx="4169868" cy="1508105"/>
          </a:xfrm>
          <a:prstGeom prst="rect">
            <a:avLst/>
          </a:prstGeom>
          <a:noFill/>
        </p:spPr>
        <p:txBody>
          <a:bodyPr wrap="square">
            <a:spAutoFit/>
          </a:bodyPr>
          <a:lstStyle/>
          <a:p>
            <a:r>
              <a:rPr lang="en-US" sz="2000" b="1" dirty="0"/>
              <a:t>Trend / Correlation</a:t>
            </a:r>
            <a:endParaRPr lang="en-US" sz="2000" dirty="0"/>
          </a:p>
          <a:p>
            <a:r>
              <a:rPr lang="en-US" b="1" dirty="0"/>
              <a:t>Upward trend</a:t>
            </a:r>
            <a:r>
              <a:rPr lang="en-US" dirty="0"/>
              <a:t xml:space="preserve"> = Positive correlation (more study, higher score)</a:t>
            </a:r>
          </a:p>
          <a:p>
            <a:r>
              <a:rPr lang="en-US" b="1" dirty="0"/>
              <a:t>Downward trend</a:t>
            </a:r>
            <a:r>
              <a:rPr lang="en-US" dirty="0"/>
              <a:t xml:space="preserve"> = Negative correlation</a:t>
            </a:r>
          </a:p>
          <a:p>
            <a:r>
              <a:rPr lang="en-US" b="1" dirty="0"/>
              <a:t>No trend</a:t>
            </a:r>
            <a:r>
              <a:rPr lang="en-US" dirty="0"/>
              <a:t xml:space="preserve"> = No clear relationship</a:t>
            </a:r>
          </a:p>
        </p:txBody>
      </p:sp>
      <p:sp>
        <p:nvSpPr>
          <p:cNvPr id="9" name="TextBox 8">
            <a:extLst>
              <a:ext uri="{FF2B5EF4-FFF2-40B4-BE49-F238E27FC236}">
                <a16:creationId xmlns:a16="http://schemas.microsoft.com/office/drawing/2014/main" id="{93426C9E-58A3-AA8C-8753-1343F552F11B}"/>
              </a:ext>
            </a:extLst>
          </p:cNvPr>
          <p:cNvSpPr txBox="1"/>
          <p:nvPr/>
        </p:nvSpPr>
        <p:spPr>
          <a:xfrm>
            <a:off x="715267" y="4696880"/>
            <a:ext cx="3916475" cy="1508105"/>
          </a:xfrm>
          <a:prstGeom prst="rect">
            <a:avLst/>
          </a:prstGeom>
          <a:noFill/>
        </p:spPr>
        <p:txBody>
          <a:bodyPr wrap="square">
            <a:spAutoFit/>
          </a:bodyPr>
          <a:lstStyle/>
          <a:p>
            <a:r>
              <a:rPr lang="en-US" sz="2000" b="1" dirty="0"/>
              <a:t>Strength of Relationship</a:t>
            </a:r>
            <a:endParaRPr lang="en-US" sz="2000" dirty="0"/>
          </a:p>
          <a:p>
            <a:r>
              <a:rPr lang="en-US" dirty="0"/>
              <a:t xml:space="preserve">Points tightly packed = </a:t>
            </a:r>
            <a:r>
              <a:rPr lang="en-US" b="1" dirty="0"/>
              <a:t>Strong</a:t>
            </a:r>
            <a:r>
              <a:rPr lang="en-US" dirty="0"/>
              <a:t xml:space="preserve"> relationship</a:t>
            </a:r>
          </a:p>
          <a:p>
            <a:r>
              <a:rPr lang="en-US" dirty="0"/>
              <a:t xml:space="preserve">Points widely scattered = </a:t>
            </a:r>
            <a:r>
              <a:rPr lang="en-US" b="1" dirty="0"/>
              <a:t>Weak</a:t>
            </a:r>
            <a:r>
              <a:rPr lang="en-US" dirty="0"/>
              <a:t xml:space="preserve"> relationship</a:t>
            </a:r>
          </a:p>
        </p:txBody>
      </p:sp>
      <p:sp>
        <p:nvSpPr>
          <p:cNvPr id="13" name="Shape 1">
            <a:extLst>
              <a:ext uri="{FF2B5EF4-FFF2-40B4-BE49-F238E27FC236}">
                <a16:creationId xmlns:a16="http://schemas.microsoft.com/office/drawing/2014/main" id="{9B2D8034-B718-3EC4-41AA-475FA7595831}"/>
              </a:ext>
            </a:extLst>
          </p:cNvPr>
          <p:cNvSpPr/>
          <p:nvPr/>
        </p:nvSpPr>
        <p:spPr>
          <a:xfrm>
            <a:off x="4766370" y="4517683"/>
            <a:ext cx="4328220" cy="1710774"/>
          </a:xfrm>
          <a:prstGeom prst="roundRect">
            <a:avLst>
              <a:gd name="adj" fmla="val 324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2" name="TextBox 11">
            <a:extLst>
              <a:ext uri="{FF2B5EF4-FFF2-40B4-BE49-F238E27FC236}">
                <a16:creationId xmlns:a16="http://schemas.microsoft.com/office/drawing/2014/main" id="{E4C9AE19-B945-ACE0-2D82-8A6A13CB431D}"/>
              </a:ext>
            </a:extLst>
          </p:cNvPr>
          <p:cNvSpPr txBox="1"/>
          <p:nvPr/>
        </p:nvSpPr>
        <p:spPr>
          <a:xfrm>
            <a:off x="4766370" y="4686769"/>
            <a:ext cx="4149030" cy="1231106"/>
          </a:xfrm>
          <a:prstGeom prst="rect">
            <a:avLst/>
          </a:prstGeom>
          <a:noFill/>
        </p:spPr>
        <p:txBody>
          <a:bodyPr wrap="square">
            <a:spAutoFit/>
          </a:bodyPr>
          <a:lstStyle/>
          <a:p>
            <a:r>
              <a:rPr lang="en-US" sz="2000" b="1" dirty="0"/>
              <a:t>Outliers</a:t>
            </a:r>
            <a:endParaRPr lang="en-US" dirty="0"/>
          </a:p>
          <a:p>
            <a:r>
              <a:rPr lang="en-US" dirty="0"/>
              <a:t xml:space="preserve">Look for students who </a:t>
            </a:r>
            <a:r>
              <a:rPr lang="en-US" b="1" dirty="0"/>
              <a:t>don’t fit the pattern</a:t>
            </a:r>
            <a:r>
              <a:rPr lang="en-US" dirty="0"/>
              <a:t xml:space="preserve"> — like studying a lot but scoring low (or the opposite).</a:t>
            </a:r>
          </a:p>
        </p:txBody>
      </p:sp>
      <p:sp>
        <p:nvSpPr>
          <p:cNvPr id="15" name="TextBox 14">
            <a:extLst>
              <a:ext uri="{FF2B5EF4-FFF2-40B4-BE49-F238E27FC236}">
                <a16:creationId xmlns:a16="http://schemas.microsoft.com/office/drawing/2014/main" id="{0FF27B58-B3DC-CA79-6F44-471953152930}"/>
              </a:ext>
            </a:extLst>
          </p:cNvPr>
          <p:cNvSpPr txBox="1"/>
          <p:nvPr/>
        </p:nvSpPr>
        <p:spPr>
          <a:xfrm>
            <a:off x="9422991" y="3160662"/>
            <a:ext cx="2635151" cy="2646878"/>
          </a:xfrm>
          <a:prstGeom prst="rect">
            <a:avLst/>
          </a:prstGeom>
          <a:noFill/>
        </p:spPr>
        <p:txBody>
          <a:bodyPr wrap="square">
            <a:spAutoFit/>
          </a:bodyPr>
          <a:lstStyle/>
          <a:p>
            <a:r>
              <a:rPr lang="en-US" sz="2000" b="1" dirty="0"/>
              <a:t>Shape of Relationship</a:t>
            </a:r>
            <a:endParaRPr lang="en-US" sz="2000" dirty="0"/>
          </a:p>
          <a:p>
            <a:r>
              <a:rPr lang="en-US" b="1" dirty="0"/>
              <a:t>Linear</a:t>
            </a:r>
            <a:r>
              <a:rPr lang="en-US" dirty="0"/>
              <a:t xml:space="preserve"> = Points form a straight line</a:t>
            </a:r>
          </a:p>
          <a:p>
            <a:r>
              <a:rPr lang="en-US" b="1" dirty="0"/>
              <a:t>Non-linear</a:t>
            </a:r>
            <a:r>
              <a:rPr lang="en-US" dirty="0"/>
              <a:t xml:space="preserve"> = Relationship curves or flattens (e.g., diminishing returns on study time)</a:t>
            </a:r>
          </a:p>
        </p:txBody>
      </p:sp>
    </p:spTree>
    <p:extLst>
      <p:ext uri="{BB962C8B-B14F-4D97-AF65-F5344CB8AC3E}">
        <p14:creationId xmlns:p14="http://schemas.microsoft.com/office/powerpoint/2010/main" val="38237964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06A5-9A8E-5EEE-070A-48DCA4736CB1}"/>
              </a:ext>
            </a:extLst>
          </p:cNvPr>
          <p:cNvSpPr>
            <a:spLocks noGrp="1"/>
          </p:cNvSpPr>
          <p:nvPr>
            <p:ph type="title"/>
          </p:nvPr>
        </p:nvSpPr>
        <p:spPr/>
        <p:txBody>
          <a:bodyPr/>
          <a:lstStyle/>
          <a:p>
            <a:r>
              <a:rPr lang="en-US" dirty="0"/>
              <a:t>Let’s Try It!</a:t>
            </a:r>
          </a:p>
        </p:txBody>
      </p:sp>
      <p:sp>
        <p:nvSpPr>
          <p:cNvPr id="3" name="Content Placeholder 2">
            <a:extLst>
              <a:ext uri="{FF2B5EF4-FFF2-40B4-BE49-F238E27FC236}">
                <a16:creationId xmlns:a16="http://schemas.microsoft.com/office/drawing/2014/main" id="{725C5E26-44EF-D4EC-FF6D-A2772D132FA9}"/>
              </a:ext>
            </a:extLst>
          </p:cNvPr>
          <p:cNvSpPr>
            <a:spLocks noGrp="1"/>
          </p:cNvSpPr>
          <p:nvPr>
            <p:ph idx="1"/>
          </p:nvPr>
        </p:nvSpPr>
        <p:spPr>
          <a:xfrm>
            <a:off x="838200" y="2604051"/>
            <a:ext cx="6791325" cy="3572911"/>
          </a:xfrm>
        </p:spPr>
        <p:txBody>
          <a:bodyPr/>
          <a:lstStyle/>
          <a:p>
            <a:r>
              <a:rPr lang="en-US" dirty="0"/>
              <a:t>Read the “Student_Data_Ch8.csv”</a:t>
            </a:r>
          </a:p>
          <a:p>
            <a:r>
              <a:rPr lang="en-US" dirty="0"/>
              <a:t>Create a scatterplot for Study Hours and Exam Score</a:t>
            </a:r>
          </a:p>
        </p:txBody>
      </p:sp>
      <p:sp>
        <p:nvSpPr>
          <p:cNvPr id="5" name="TextBox 4">
            <a:extLst>
              <a:ext uri="{FF2B5EF4-FFF2-40B4-BE49-F238E27FC236}">
                <a16:creationId xmlns:a16="http://schemas.microsoft.com/office/drawing/2014/main" id="{B9D5ADE5-DD16-7D26-90C4-5222AAB65480}"/>
              </a:ext>
            </a:extLst>
          </p:cNvPr>
          <p:cNvSpPr txBox="1"/>
          <p:nvPr/>
        </p:nvSpPr>
        <p:spPr>
          <a:xfrm>
            <a:off x="838200" y="4390506"/>
            <a:ext cx="6100762" cy="1477328"/>
          </a:xfrm>
          <a:prstGeom prst="rect">
            <a:avLst/>
          </a:prstGeom>
          <a:noFill/>
        </p:spPr>
        <p:txBody>
          <a:bodyPr wrap="square">
            <a:spAutoFit/>
          </a:bodyPr>
          <a:lstStyle/>
          <a:p>
            <a:r>
              <a:rPr lang="en-US" dirty="0"/>
              <a:t># Scatterplot</a:t>
            </a:r>
          </a:p>
          <a:p>
            <a:r>
              <a:rPr lang="en-US" dirty="0" err="1"/>
              <a:t>df</a:t>
            </a:r>
            <a:r>
              <a:rPr lang="en-US" dirty="0"/>
              <a:t xml:space="preserve"> &lt;- </a:t>
            </a:r>
            <a:r>
              <a:rPr lang="en-US" dirty="0" err="1"/>
              <a:t>read.csv</a:t>
            </a:r>
            <a:r>
              <a:rPr lang="en-US" dirty="0"/>
              <a:t>("Student_Data_Ch8.csv")</a:t>
            </a:r>
          </a:p>
          <a:p>
            <a:r>
              <a:rPr lang="en-US" dirty="0"/>
              <a:t>plot(</a:t>
            </a:r>
            <a:r>
              <a:rPr lang="en-US" dirty="0" err="1"/>
              <a:t>df$Study_Hours</a:t>
            </a:r>
            <a:r>
              <a:rPr lang="en-US" dirty="0"/>
              <a:t xml:space="preserve">, </a:t>
            </a:r>
            <a:r>
              <a:rPr lang="en-US" dirty="0" err="1"/>
              <a:t>df$Exam_Score</a:t>
            </a:r>
            <a:r>
              <a:rPr lang="en-US" dirty="0"/>
              <a:t xml:space="preserve">, </a:t>
            </a:r>
          </a:p>
          <a:p>
            <a:r>
              <a:rPr lang="en-US" dirty="0"/>
              <a:t xml:space="preserve">     </a:t>
            </a:r>
            <a:r>
              <a:rPr lang="en-US" dirty="0" err="1"/>
              <a:t>xlab</a:t>
            </a:r>
            <a:r>
              <a:rPr lang="en-US" dirty="0"/>
              <a:t xml:space="preserve">="Hours Studied", </a:t>
            </a:r>
            <a:r>
              <a:rPr lang="en-US" dirty="0" err="1"/>
              <a:t>ylab</a:t>
            </a:r>
            <a:r>
              <a:rPr lang="en-US" dirty="0"/>
              <a:t>="Exam Score",</a:t>
            </a:r>
          </a:p>
          <a:p>
            <a:r>
              <a:rPr lang="en-US" dirty="0"/>
              <a:t xml:space="preserve">     main="Study Time vs Exam Score")</a:t>
            </a:r>
          </a:p>
        </p:txBody>
      </p:sp>
      <p:pic>
        <p:nvPicPr>
          <p:cNvPr id="7" name="Picture 6" descr="A graph with dots and numbers  AI-generated content may be incorrect.">
            <a:extLst>
              <a:ext uri="{FF2B5EF4-FFF2-40B4-BE49-F238E27FC236}">
                <a16:creationId xmlns:a16="http://schemas.microsoft.com/office/drawing/2014/main" id="{4BA414B3-0C12-9C81-73E7-A20686FA8B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443788" y="2667532"/>
            <a:ext cx="4318024" cy="3531612"/>
          </a:xfrm>
          <a:prstGeom prst="rect">
            <a:avLst/>
          </a:prstGeom>
        </p:spPr>
      </p:pic>
    </p:spTree>
    <p:extLst>
      <p:ext uri="{BB962C8B-B14F-4D97-AF65-F5344CB8AC3E}">
        <p14:creationId xmlns:p14="http://schemas.microsoft.com/office/powerpoint/2010/main" val="1605473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C9A11-2013-3479-89D1-125D83D1C8AC}"/>
              </a:ext>
            </a:extLst>
          </p:cNvPr>
          <p:cNvSpPr>
            <a:spLocks noGrp="1"/>
          </p:cNvSpPr>
          <p:nvPr>
            <p:ph type="title"/>
          </p:nvPr>
        </p:nvSpPr>
        <p:spPr/>
        <p:txBody>
          <a:bodyPr/>
          <a:lstStyle/>
          <a:p>
            <a:r>
              <a:rPr lang="en-US" dirty="0"/>
              <a:t>Try with Python!</a:t>
            </a:r>
          </a:p>
        </p:txBody>
      </p:sp>
      <p:sp>
        <p:nvSpPr>
          <p:cNvPr id="5" name="TextBox 4">
            <a:extLst>
              <a:ext uri="{FF2B5EF4-FFF2-40B4-BE49-F238E27FC236}">
                <a16:creationId xmlns:a16="http://schemas.microsoft.com/office/drawing/2014/main" id="{1105E305-B9AF-4E33-7FE8-215349AC4432}"/>
              </a:ext>
            </a:extLst>
          </p:cNvPr>
          <p:cNvSpPr txBox="1"/>
          <p:nvPr/>
        </p:nvSpPr>
        <p:spPr>
          <a:xfrm>
            <a:off x="707231" y="2448179"/>
            <a:ext cx="6100762" cy="3970318"/>
          </a:xfrm>
          <a:prstGeom prst="rect">
            <a:avLst/>
          </a:prstGeom>
          <a:noFill/>
        </p:spPr>
        <p:txBody>
          <a:bodyPr wrap="square">
            <a:spAutoFit/>
          </a:bodyPr>
          <a:lstStyle/>
          <a:p>
            <a:r>
              <a:rPr lang="en-US" dirty="0"/>
              <a:t>import pandas as pd</a:t>
            </a:r>
          </a:p>
          <a:p>
            <a:r>
              <a:rPr lang="en-US" dirty="0"/>
              <a:t xml:space="preserve">import </a:t>
            </a:r>
            <a:r>
              <a:rPr lang="en-US" dirty="0" err="1"/>
              <a:t>matplotlib.pyplot</a:t>
            </a:r>
            <a:r>
              <a:rPr lang="en-US" dirty="0"/>
              <a:t xml:space="preserve"> as </a:t>
            </a:r>
            <a:r>
              <a:rPr lang="en-US" dirty="0" err="1"/>
              <a:t>plt</a:t>
            </a:r>
            <a:endParaRPr lang="en-US" dirty="0"/>
          </a:p>
          <a:p>
            <a:endParaRPr lang="en-US" dirty="0"/>
          </a:p>
          <a:p>
            <a:r>
              <a:rPr lang="en-US" dirty="0"/>
              <a:t># Load the dataset</a:t>
            </a:r>
          </a:p>
          <a:p>
            <a:r>
              <a:rPr lang="en-US" dirty="0" err="1"/>
              <a:t>df</a:t>
            </a:r>
            <a:r>
              <a:rPr lang="en-US" dirty="0"/>
              <a:t xml:space="preserve"> = </a:t>
            </a:r>
            <a:r>
              <a:rPr lang="en-US" dirty="0" err="1"/>
              <a:t>pd.read_csv</a:t>
            </a:r>
            <a:r>
              <a:rPr lang="en-US" dirty="0"/>
              <a:t>("Student_Data_Ch8.csv")</a:t>
            </a:r>
          </a:p>
          <a:p>
            <a:endParaRPr lang="en-US" dirty="0"/>
          </a:p>
          <a:p>
            <a:r>
              <a:rPr lang="en-US" dirty="0"/>
              <a:t># Create scatterplot</a:t>
            </a:r>
          </a:p>
          <a:p>
            <a:r>
              <a:rPr lang="en-US" dirty="0" err="1"/>
              <a:t>plt.figure</a:t>
            </a:r>
            <a:r>
              <a:rPr lang="en-US" dirty="0"/>
              <a:t>(</a:t>
            </a:r>
            <a:r>
              <a:rPr lang="en-US" dirty="0" err="1"/>
              <a:t>figsize</a:t>
            </a:r>
            <a:r>
              <a:rPr lang="en-US" dirty="0"/>
              <a:t>=(8, 6))</a:t>
            </a:r>
          </a:p>
          <a:p>
            <a:r>
              <a:rPr lang="en-US" dirty="0" err="1"/>
              <a:t>plt.scatter</a:t>
            </a:r>
            <a:r>
              <a:rPr lang="en-US" dirty="0"/>
              <a:t>(</a:t>
            </a:r>
            <a:r>
              <a:rPr lang="en-US" dirty="0" err="1"/>
              <a:t>df</a:t>
            </a:r>
            <a:r>
              <a:rPr lang="en-US" dirty="0"/>
              <a:t>["</a:t>
            </a:r>
            <a:r>
              <a:rPr lang="en-US" dirty="0" err="1"/>
              <a:t>Study_Hours</a:t>
            </a:r>
            <a:r>
              <a:rPr lang="en-US" dirty="0"/>
              <a:t xml:space="preserve">"], </a:t>
            </a:r>
            <a:r>
              <a:rPr lang="en-US" dirty="0" err="1"/>
              <a:t>df</a:t>
            </a:r>
            <a:r>
              <a:rPr lang="en-US" dirty="0"/>
              <a:t>["</a:t>
            </a:r>
            <a:r>
              <a:rPr lang="en-US" dirty="0" err="1"/>
              <a:t>Exam_Score</a:t>
            </a:r>
            <a:r>
              <a:rPr lang="en-US" dirty="0"/>
              <a:t>"])</a:t>
            </a:r>
          </a:p>
          <a:p>
            <a:r>
              <a:rPr lang="en-US" dirty="0" err="1"/>
              <a:t>plt.xlabel</a:t>
            </a:r>
            <a:r>
              <a:rPr lang="en-US" dirty="0"/>
              <a:t>("Hours Studied")</a:t>
            </a:r>
          </a:p>
          <a:p>
            <a:r>
              <a:rPr lang="en-US" dirty="0" err="1"/>
              <a:t>plt.ylabel</a:t>
            </a:r>
            <a:r>
              <a:rPr lang="en-US" dirty="0"/>
              <a:t>("Exam Score")</a:t>
            </a:r>
          </a:p>
          <a:p>
            <a:r>
              <a:rPr lang="en-US" dirty="0" err="1"/>
              <a:t>plt.title</a:t>
            </a:r>
            <a:r>
              <a:rPr lang="en-US" dirty="0"/>
              <a:t>("Study Time vs Exam Score")</a:t>
            </a:r>
          </a:p>
          <a:p>
            <a:r>
              <a:rPr lang="en-US" dirty="0" err="1"/>
              <a:t>plt.grid</a:t>
            </a:r>
            <a:r>
              <a:rPr lang="en-US" dirty="0"/>
              <a:t>(True)</a:t>
            </a:r>
          </a:p>
          <a:p>
            <a:r>
              <a:rPr lang="en-US" dirty="0" err="1"/>
              <a:t>plt.show</a:t>
            </a:r>
            <a:r>
              <a:rPr lang="en-US" dirty="0"/>
              <a:t>()</a:t>
            </a:r>
          </a:p>
        </p:txBody>
      </p:sp>
      <p:pic>
        <p:nvPicPr>
          <p:cNvPr id="9" name="Picture 8" descr="A graph with blue dots  AI-generated content may be incorrect.">
            <a:extLst>
              <a:ext uri="{FF2B5EF4-FFF2-40B4-BE49-F238E27FC236}">
                <a16:creationId xmlns:a16="http://schemas.microsoft.com/office/drawing/2014/main" id="{483EE1D5-378B-76EF-5791-AB454BBCBF6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86024" y="2323738"/>
            <a:ext cx="5398745" cy="4094759"/>
          </a:xfrm>
          <a:prstGeom prst="rect">
            <a:avLst/>
          </a:prstGeom>
        </p:spPr>
      </p:pic>
    </p:spTree>
    <p:extLst>
      <p:ext uri="{BB962C8B-B14F-4D97-AF65-F5344CB8AC3E}">
        <p14:creationId xmlns:p14="http://schemas.microsoft.com/office/powerpoint/2010/main" val="932722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459F9-AA51-B3DA-ECDA-4AB73B949239}"/>
              </a:ext>
            </a:extLst>
          </p:cNvPr>
          <p:cNvSpPr>
            <a:spLocks noGrp="1"/>
          </p:cNvSpPr>
          <p:nvPr>
            <p:ph type="title"/>
          </p:nvPr>
        </p:nvSpPr>
        <p:spPr>
          <a:xfrm>
            <a:off x="839788" y="188912"/>
            <a:ext cx="7061200" cy="1600200"/>
          </a:xfrm>
        </p:spPr>
        <p:txBody>
          <a:bodyPr anchor="b">
            <a:normAutofit/>
          </a:bodyPr>
          <a:lstStyle/>
          <a:p>
            <a:r>
              <a:rPr lang="en-US" dirty="0"/>
              <a:t>Categorical vs. Categorical</a:t>
            </a:r>
          </a:p>
        </p:txBody>
      </p:sp>
      <p:sp>
        <p:nvSpPr>
          <p:cNvPr id="3" name="Content Placeholder 2">
            <a:extLst>
              <a:ext uri="{FF2B5EF4-FFF2-40B4-BE49-F238E27FC236}">
                <a16:creationId xmlns:a16="http://schemas.microsoft.com/office/drawing/2014/main" id="{DE23D90D-6FEB-1E46-5BC1-E0AC3ED1699B}"/>
              </a:ext>
            </a:extLst>
          </p:cNvPr>
          <p:cNvSpPr>
            <a:spLocks noGrp="1"/>
          </p:cNvSpPr>
          <p:nvPr>
            <p:ph type="body" sz="half" idx="2"/>
          </p:nvPr>
        </p:nvSpPr>
        <p:spPr>
          <a:xfrm>
            <a:off x="839788" y="2057400"/>
            <a:ext cx="3932237" cy="3811588"/>
          </a:xfrm>
        </p:spPr>
        <p:txBody>
          <a:bodyPr>
            <a:normAutofit/>
          </a:bodyPr>
          <a:lstStyle/>
          <a:p>
            <a:pPr marL="342900" indent="-342900">
              <a:buFont typeface="Arial" panose="020B0604020202020204" pitchFamily="34" charset="0"/>
              <a:buChar char="•"/>
            </a:pPr>
            <a:r>
              <a:rPr lang="en-US" sz="2400" dirty="0"/>
              <a:t>This is often explored via contingency tables or bar charts. Such as on the right.</a:t>
            </a:r>
          </a:p>
          <a:p>
            <a:pPr marL="342900" indent="-342900">
              <a:buFont typeface="Arial" panose="020B0604020202020204" pitchFamily="34" charset="0"/>
              <a:buChar char="•"/>
            </a:pPr>
            <a:r>
              <a:rPr lang="en-US" sz="2400" dirty="0"/>
              <a:t xml:space="preserve">To visualize, a grouped bar chart, stacked bar chart or mosaic plot  could be used </a:t>
            </a:r>
          </a:p>
        </p:txBody>
      </p:sp>
      <p:graphicFrame>
        <p:nvGraphicFramePr>
          <p:cNvPr id="4" name="Table 3">
            <a:extLst>
              <a:ext uri="{FF2B5EF4-FFF2-40B4-BE49-F238E27FC236}">
                <a16:creationId xmlns:a16="http://schemas.microsoft.com/office/drawing/2014/main" id="{5B39E241-951A-A398-BA33-A16E1397BBF8}"/>
              </a:ext>
            </a:extLst>
          </p:cNvPr>
          <p:cNvGraphicFramePr>
            <a:graphicFrameLocks noGrp="1"/>
          </p:cNvGraphicFramePr>
          <p:nvPr>
            <p:extLst>
              <p:ext uri="{D42A27DB-BD31-4B8C-83A1-F6EECF244321}">
                <p14:modId xmlns:p14="http://schemas.microsoft.com/office/powerpoint/2010/main" val="1340899228"/>
              </p:ext>
            </p:extLst>
          </p:nvPr>
        </p:nvGraphicFramePr>
        <p:xfrm>
          <a:off x="5183188" y="2657190"/>
          <a:ext cx="6172202" cy="1534098"/>
        </p:xfrm>
        <a:graphic>
          <a:graphicData uri="http://schemas.openxmlformats.org/drawingml/2006/table">
            <a:tbl>
              <a:tblPr firstRow="1" firstCol="1" bandRow="1">
                <a:tableStyleId>{5C22544A-7EE6-4342-B048-85BDC9FD1C3A}</a:tableStyleId>
              </a:tblPr>
              <a:tblGrid>
                <a:gridCol w="1619970">
                  <a:extLst>
                    <a:ext uri="{9D8B030D-6E8A-4147-A177-3AD203B41FA5}">
                      <a16:colId xmlns:a16="http://schemas.microsoft.com/office/drawing/2014/main" val="3428340391"/>
                    </a:ext>
                  </a:extLst>
                </a:gridCol>
                <a:gridCol w="1474774">
                  <a:extLst>
                    <a:ext uri="{9D8B030D-6E8A-4147-A177-3AD203B41FA5}">
                      <a16:colId xmlns:a16="http://schemas.microsoft.com/office/drawing/2014/main" val="3747077668"/>
                    </a:ext>
                  </a:extLst>
                </a:gridCol>
                <a:gridCol w="1108328">
                  <a:extLst>
                    <a:ext uri="{9D8B030D-6E8A-4147-A177-3AD203B41FA5}">
                      <a16:colId xmlns:a16="http://schemas.microsoft.com/office/drawing/2014/main" val="2065232151"/>
                    </a:ext>
                  </a:extLst>
                </a:gridCol>
                <a:gridCol w="1969130">
                  <a:extLst>
                    <a:ext uri="{9D8B030D-6E8A-4147-A177-3AD203B41FA5}">
                      <a16:colId xmlns:a16="http://schemas.microsoft.com/office/drawing/2014/main" val="1146028680"/>
                    </a:ext>
                  </a:extLst>
                </a:gridCol>
              </a:tblGrid>
              <a:tr h="511366">
                <a:tc>
                  <a:txBody>
                    <a:bodyPr/>
                    <a:lstStyle/>
                    <a:p>
                      <a:endParaRPr lang="en-US" sz="2600" kern="100" dirty="0">
                        <a:effectLst/>
                        <a:latin typeface="Aptos" panose="020B0004020202020204" pitchFamily="34" charset="0"/>
                      </a:endParaRPr>
                    </a:p>
                  </a:txBody>
                  <a:tcPr marL="149344" marR="149344" marT="0" marB="0"/>
                </a:tc>
                <a:tc>
                  <a:txBody>
                    <a:bodyPr/>
                    <a:lstStyle/>
                    <a:p>
                      <a:pPr marL="0" marR="0">
                        <a:lnSpc>
                          <a:spcPct val="115000"/>
                        </a:lnSpc>
                        <a:spcAft>
                          <a:spcPts val="800"/>
                        </a:spcAft>
                        <a:buNone/>
                      </a:pPr>
                      <a:r>
                        <a:rPr lang="en-US" sz="2600" kern="100" dirty="0">
                          <a:effectLst/>
                        </a:rPr>
                        <a:t>Sports</a:t>
                      </a:r>
                      <a:endParaRPr lang="en-US" sz="2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a:effectLst/>
                        </a:rPr>
                        <a:t>Arts</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a:effectLst/>
                        </a:rPr>
                        <a:t>Academic</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extLst>
                  <a:ext uri="{0D108BD9-81ED-4DB2-BD59-A6C34878D82A}">
                    <a16:rowId xmlns:a16="http://schemas.microsoft.com/office/drawing/2014/main" val="3728162817"/>
                  </a:ext>
                </a:extLst>
              </a:tr>
              <a:tr h="511366">
                <a:tc>
                  <a:txBody>
                    <a:bodyPr/>
                    <a:lstStyle/>
                    <a:p>
                      <a:pPr marL="0" marR="0">
                        <a:lnSpc>
                          <a:spcPct val="115000"/>
                        </a:lnSpc>
                        <a:spcAft>
                          <a:spcPts val="800"/>
                        </a:spcAft>
                        <a:buNone/>
                      </a:pPr>
                      <a:r>
                        <a:rPr lang="en-US" sz="2600" kern="100">
                          <a:effectLst/>
                        </a:rPr>
                        <a:t>Male</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dirty="0">
                          <a:effectLst/>
                        </a:rPr>
                        <a:t>15</a:t>
                      </a:r>
                      <a:endParaRPr lang="en-US" sz="2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dirty="0">
                          <a:effectLst/>
                        </a:rPr>
                        <a:t>5</a:t>
                      </a:r>
                      <a:endParaRPr lang="en-US" sz="2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a:effectLst/>
                        </a:rPr>
                        <a:t>10</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extLst>
                  <a:ext uri="{0D108BD9-81ED-4DB2-BD59-A6C34878D82A}">
                    <a16:rowId xmlns:a16="http://schemas.microsoft.com/office/drawing/2014/main" val="1080063242"/>
                  </a:ext>
                </a:extLst>
              </a:tr>
              <a:tr h="511366">
                <a:tc>
                  <a:txBody>
                    <a:bodyPr/>
                    <a:lstStyle/>
                    <a:p>
                      <a:pPr marL="0" marR="0">
                        <a:lnSpc>
                          <a:spcPct val="115000"/>
                        </a:lnSpc>
                        <a:spcAft>
                          <a:spcPts val="800"/>
                        </a:spcAft>
                        <a:buNone/>
                      </a:pPr>
                      <a:r>
                        <a:rPr lang="en-US" sz="2600" kern="100">
                          <a:effectLst/>
                        </a:rPr>
                        <a:t>Female</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a:effectLst/>
                        </a:rPr>
                        <a:t>8</a:t>
                      </a:r>
                      <a:endParaRPr lang="en-US" sz="2600" kern="10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dirty="0">
                          <a:effectLst/>
                        </a:rPr>
                        <a:t>12</a:t>
                      </a:r>
                      <a:endParaRPr lang="en-US" sz="2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tc>
                  <a:txBody>
                    <a:bodyPr/>
                    <a:lstStyle/>
                    <a:p>
                      <a:pPr marL="0" marR="0">
                        <a:lnSpc>
                          <a:spcPct val="115000"/>
                        </a:lnSpc>
                        <a:spcAft>
                          <a:spcPts val="800"/>
                        </a:spcAft>
                        <a:buNone/>
                      </a:pPr>
                      <a:r>
                        <a:rPr lang="en-US" sz="2600" kern="100" dirty="0">
                          <a:effectLst/>
                        </a:rPr>
                        <a:t>10</a:t>
                      </a:r>
                      <a:endParaRPr lang="en-US" sz="2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149344" marR="149344" marT="0" marB="0"/>
                </a:tc>
                <a:extLst>
                  <a:ext uri="{0D108BD9-81ED-4DB2-BD59-A6C34878D82A}">
                    <a16:rowId xmlns:a16="http://schemas.microsoft.com/office/drawing/2014/main" val="2290633459"/>
                  </a:ext>
                </a:extLst>
              </a:tr>
            </a:tbl>
          </a:graphicData>
        </a:graphic>
      </p:graphicFrame>
    </p:spTree>
    <p:extLst>
      <p:ext uri="{BB962C8B-B14F-4D97-AF65-F5344CB8AC3E}">
        <p14:creationId xmlns:p14="http://schemas.microsoft.com/office/powerpoint/2010/main" val="1032215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of different colored bars  AI-generated content may be incorrect.">
            <a:extLst>
              <a:ext uri="{FF2B5EF4-FFF2-40B4-BE49-F238E27FC236}">
                <a16:creationId xmlns:a16="http://schemas.microsoft.com/office/drawing/2014/main" id="{7F37DB62-1A39-8232-83CF-385ADD237D43}"/>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96864" y="1700928"/>
            <a:ext cx="3636994" cy="2788642"/>
          </a:xfrm>
        </p:spPr>
      </p:pic>
      <p:pic>
        <p:nvPicPr>
          <p:cNvPr id="10" name="Picture 9" descr="A graph of different colored squares  AI-generated content may be incorrect.">
            <a:extLst>
              <a:ext uri="{FF2B5EF4-FFF2-40B4-BE49-F238E27FC236}">
                <a16:creationId xmlns:a16="http://schemas.microsoft.com/office/drawing/2014/main" id="{86CF1151-7879-3C33-AB79-6320295FFE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77490" y="1700928"/>
            <a:ext cx="3636993" cy="2852373"/>
          </a:xfrm>
          <a:prstGeom prst="rect">
            <a:avLst/>
          </a:prstGeom>
        </p:spPr>
      </p:pic>
      <p:pic>
        <p:nvPicPr>
          <p:cNvPr id="12" name="Picture 11" descr="A mosaic plot of activity by gender  AI-generated content may be incorrect.">
            <a:extLst>
              <a:ext uri="{FF2B5EF4-FFF2-40B4-BE49-F238E27FC236}">
                <a16:creationId xmlns:a16="http://schemas.microsoft.com/office/drawing/2014/main" id="{86AF8FF0-A3C6-DEC9-1BDC-CEA3CFB900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58144" y="1749648"/>
            <a:ext cx="3507463" cy="2852373"/>
          </a:xfrm>
          <a:prstGeom prst="rect">
            <a:avLst/>
          </a:prstGeom>
        </p:spPr>
      </p:pic>
      <p:sp>
        <p:nvSpPr>
          <p:cNvPr id="13" name="TextBox 12">
            <a:extLst>
              <a:ext uri="{FF2B5EF4-FFF2-40B4-BE49-F238E27FC236}">
                <a16:creationId xmlns:a16="http://schemas.microsoft.com/office/drawing/2014/main" id="{73176221-D742-2636-8F1C-F77246E770B2}"/>
              </a:ext>
            </a:extLst>
          </p:cNvPr>
          <p:cNvSpPr txBox="1"/>
          <p:nvPr/>
        </p:nvSpPr>
        <p:spPr>
          <a:xfrm>
            <a:off x="1548539" y="4602021"/>
            <a:ext cx="1133644" cy="369332"/>
          </a:xfrm>
          <a:prstGeom prst="rect">
            <a:avLst/>
          </a:prstGeom>
          <a:noFill/>
        </p:spPr>
        <p:txBody>
          <a:bodyPr wrap="none" rtlCol="0">
            <a:spAutoFit/>
          </a:bodyPr>
          <a:lstStyle/>
          <a:p>
            <a:r>
              <a:rPr lang="en-US" dirty="0"/>
              <a:t>Bar Chart</a:t>
            </a:r>
          </a:p>
        </p:txBody>
      </p:sp>
      <p:sp>
        <p:nvSpPr>
          <p:cNvPr id="14" name="TextBox 13">
            <a:extLst>
              <a:ext uri="{FF2B5EF4-FFF2-40B4-BE49-F238E27FC236}">
                <a16:creationId xmlns:a16="http://schemas.microsoft.com/office/drawing/2014/main" id="{FF68C1D5-DDA6-AEED-0671-364E065DBBAE}"/>
              </a:ext>
            </a:extLst>
          </p:cNvPr>
          <p:cNvSpPr txBox="1"/>
          <p:nvPr/>
        </p:nvSpPr>
        <p:spPr>
          <a:xfrm>
            <a:off x="5101977" y="4602021"/>
            <a:ext cx="1988045" cy="369332"/>
          </a:xfrm>
          <a:prstGeom prst="rect">
            <a:avLst/>
          </a:prstGeom>
          <a:noFill/>
        </p:spPr>
        <p:txBody>
          <a:bodyPr wrap="none" rtlCol="0">
            <a:spAutoFit/>
          </a:bodyPr>
          <a:lstStyle/>
          <a:p>
            <a:r>
              <a:rPr lang="en-US" dirty="0"/>
              <a:t>Stacked Bar Chart</a:t>
            </a:r>
          </a:p>
        </p:txBody>
      </p:sp>
      <p:sp>
        <p:nvSpPr>
          <p:cNvPr id="15" name="TextBox 14">
            <a:extLst>
              <a:ext uri="{FF2B5EF4-FFF2-40B4-BE49-F238E27FC236}">
                <a16:creationId xmlns:a16="http://schemas.microsoft.com/office/drawing/2014/main" id="{81F15EC6-B7E4-001F-8B5C-5E9FA73CCDE6}"/>
              </a:ext>
            </a:extLst>
          </p:cNvPr>
          <p:cNvSpPr txBox="1"/>
          <p:nvPr/>
        </p:nvSpPr>
        <p:spPr>
          <a:xfrm>
            <a:off x="9254296" y="4602021"/>
            <a:ext cx="1515158" cy="369332"/>
          </a:xfrm>
          <a:prstGeom prst="rect">
            <a:avLst/>
          </a:prstGeom>
          <a:noFill/>
        </p:spPr>
        <p:txBody>
          <a:bodyPr wrap="none" rtlCol="0">
            <a:spAutoFit/>
          </a:bodyPr>
          <a:lstStyle/>
          <a:p>
            <a:r>
              <a:rPr lang="en-US" dirty="0"/>
              <a:t>Mosaic Chart</a:t>
            </a:r>
          </a:p>
        </p:txBody>
      </p:sp>
      <p:sp>
        <p:nvSpPr>
          <p:cNvPr id="16" name="Title 1">
            <a:extLst>
              <a:ext uri="{FF2B5EF4-FFF2-40B4-BE49-F238E27FC236}">
                <a16:creationId xmlns:a16="http://schemas.microsoft.com/office/drawing/2014/main" id="{4C35FE1C-0217-B574-63DD-9597EC0D5A42}"/>
              </a:ext>
            </a:extLst>
          </p:cNvPr>
          <p:cNvSpPr>
            <a:spLocks noGrp="1"/>
          </p:cNvSpPr>
          <p:nvPr>
            <p:ph type="title"/>
          </p:nvPr>
        </p:nvSpPr>
        <p:spPr>
          <a:xfrm>
            <a:off x="839788" y="188912"/>
            <a:ext cx="7061200" cy="1111251"/>
          </a:xfrm>
        </p:spPr>
        <p:txBody>
          <a:bodyPr anchor="b">
            <a:normAutofit/>
          </a:bodyPr>
          <a:lstStyle/>
          <a:p>
            <a:r>
              <a:rPr lang="en-US" dirty="0"/>
              <a:t>Categorical vs. Categorical</a:t>
            </a:r>
          </a:p>
        </p:txBody>
      </p:sp>
    </p:spTree>
    <p:extLst>
      <p:ext uri="{BB962C8B-B14F-4D97-AF65-F5344CB8AC3E}">
        <p14:creationId xmlns:p14="http://schemas.microsoft.com/office/powerpoint/2010/main" val="13858504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AD15-2FC8-C1F3-16D4-B47CAB7B0597}"/>
              </a:ext>
            </a:extLst>
          </p:cNvPr>
          <p:cNvSpPr>
            <a:spLocks noGrp="1"/>
          </p:cNvSpPr>
          <p:nvPr>
            <p:ph type="title"/>
          </p:nvPr>
        </p:nvSpPr>
        <p:spPr/>
        <p:txBody>
          <a:bodyPr/>
          <a:lstStyle/>
          <a:p>
            <a:r>
              <a:rPr lang="en-US" dirty="0"/>
              <a:t>Categorical vs Numeric</a:t>
            </a:r>
          </a:p>
        </p:txBody>
      </p:sp>
      <p:sp>
        <p:nvSpPr>
          <p:cNvPr id="3" name="Content Placeholder 2">
            <a:extLst>
              <a:ext uri="{FF2B5EF4-FFF2-40B4-BE49-F238E27FC236}">
                <a16:creationId xmlns:a16="http://schemas.microsoft.com/office/drawing/2014/main" id="{4ED1EC08-BF37-5A93-2C41-6B48FAF37512}"/>
              </a:ext>
            </a:extLst>
          </p:cNvPr>
          <p:cNvSpPr>
            <a:spLocks noGrp="1"/>
          </p:cNvSpPr>
          <p:nvPr>
            <p:ph idx="1"/>
          </p:nvPr>
        </p:nvSpPr>
        <p:spPr>
          <a:xfrm>
            <a:off x="838200" y="2604051"/>
            <a:ext cx="6834188" cy="3572911"/>
          </a:xfrm>
        </p:spPr>
        <p:txBody>
          <a:bodyPr/>
          <a:lstStyle/>
          <a:p>
            <a:pPr lvl="0"/>
            <a:r>
              <a:rPr lang="en-US" dirty="0"/>
              <a:t>Example: Compare test scores (numeric) between two classes A and B (categorical).</a:t>
            </a:r>
          </a:p>
          <a:p>
            <a:pPr lvl="0"/>
            <a:r>
              <a:rPr lang="en-US" dirty="0"/>
              <a:t>Compare heights between boys and girls.</a:t>
            </a:r>
          </a:p>
          <a:p>
            <a:pPr lvl="0"/>
            <a:r>
              <a:rPr lang="en-US" dirty="0"/>
              <a:t>Compare some measurement across different categories (like income across different education levels).</a:t>
            </a:r>
          </a:p>
          <a:p>
            <a:pPr lvl="0"/>
            <a:r>
              <a:rPr lang="en-US" dirty="0"/>
              <a:t>A side-by-side boxplot is preferred choice.</a:t>
            </a:r>
          </a:p>
          <a:p>
            <a:endParaRPr lang="en-US" dirty="0"/>
          </a:p>
        </p:txBody>
      </p:sp>
      <p:pic>
        <p:nvPicPr>
          <p:cNvPr id="4" name="Image 0" descr="preencoded.png">
            <a:extLst>
              <a:ext uri="{FF2B5EF4-FFF2-40B4-BE49-F238E27FC236}">
                <a16:creationId xmlns:a16="http://schemas.microsoft.com/office/drawing/2014/main" id="{DEA192CD-5C1E-3A31-BE84-CFD9B54E3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86724" y="1750219"/>
            <a:ext cx="3405187" cy="5107781"/>
          </a:xfrm>
          <a:prstGeom prst="rect">
            <a:avLst/>
          </a:prstGeom>
        </p:spPr>
      </p:pic>
    </p:spTree>
    <p:extLst>
      <p:ext uri="{BB962C8B-B14F-4D97-AF65-F5344CB8AC3E}">
        <p14:creationId xmlns:p14="http://schemas.microsoft.com/office/powerpoint/2010/main" val="15099461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4F5A-A5ED-157F-9AE4-44780EDE890F}"/>
              </a:ext>
            </a:extLst>
          </p:cNvPr>
          <p:cNvSpPr>
            <a:spLocks noGrp="1"/>
          </p:cNvSpPr>
          <p:nvPr>
            <p:ph type="title"/>
          </p:nvPr>
        </p:nvSpPr>
        <p:spPr/>
        <p:txBody>
          <a:bodyPr/>
          <a:lstStyle/>
          <a:p>
            <a:r>
              <a:rPr lang="en-US" dirty="0"/>
              <a:t>Let’s Try! - R</a:t>
            </a:r>
          </a:p>
        </p:txBody>
      </p:sp>
      <p:sp>
        <p:nvSpPr>
          <p:cNvPr id="3" name="Content Placeholder 2">
            <a:extLst>
              <a:ext uri="{FF2B5EF4-FFF2-40B4-BE49-F238E27FC236}">
                <a16:creationId xmlns:a16="http://schemas.microsoft.com/office/drawing/2014/main" id="{D3CA0344-A2F2-55DF-682A-4D1704C7EDC7}"/>
              </a:ext>
            </a:extLst>
          </p:cNvPr>
          <p:cNvSpPr>
            <a:spLocks noGrp="1"/>
          </p:cNvSpPr>
          <p:nvPr>
            <p:ph idx="1"/>
          </p:nvPr>
        </p:nvSpPr>
        <p:spPr>
          <a:xfrm>
            <a:off x="753406" y="2225791"/>
            <a:ext cx="5925068" cy="3572911"/>
          </a:xfrm>
        </p:spPr>
        <p:txBody>
          <a:bodyPr/>
          <a:lstStyle/>
          <a:p>
            <a:r>
              <a:rPr lang="en-US" dirty="0"/>
              <a:t>Read the “Student_Data_Ch8.csv”</a:t>
            </a:r>
          </a:p>
          <a:p>
            <a:r>
              <a:rPr lang="en-US" dirty="0"/>
              <a:t>Create a side by side box plot for Grade and Exam Scores</a:t>
            </a:r>
          </a:p>
        </p:txBody>
      </p:sp>
      <p:sp>
        <p:nvSpPr>
          <p:cNvPr id="5" name="TextBox 4">
            <a:extLst>
              <a:ext uri="{FF2B5EF4-FFF2-40B4-BE49-F238E27FC236}">
                <a16:creationId xmlns:a16="http://schemas.microsoft.com/office/drawing/2014/main" id="{9022F307-E90D-842E-2692-5BD236CA254D}"/>
              </a:ext>
            </a:extLst>
          </p:cNvPr>
          <p:cNvSpPr txBox="1"/>
          <p:nvPr/>
        </p:nvSpPr>
        <p:spPr>
          <a:xfrm>
            <a:off x="492918" y="3936564"/>
            <a:ext cx="6100762" cy="2585323"/>
          </a:xfrm>
          <a:prstGeom prst="rect">
            <a:avLst/>
          </a:prstGeom>
          <a:noFill/>
        </p:spPr>
        <p:txBody>
          <a:bodyPr wrap="square">
            <a:spAutoFit/>
          </a:bodyPr>
          <a:lstStyle/>
          <a:p>
            <a:r>
              <a:rPr lang="en-US" dirty="0"/>
              <a:t># Read the data</a:t>
            </a:r>
          </a:p>
          <a:p>
            <a:r>
              <a:rPr lang="en-US" dirty="0" err="1"/>
              <a:t>df</a:t>
            </a:r>
            <a:r>
              <a:rPr lang="en-US" dirty="0"/>
              <a:t xml:space="preserve"> &lt;- </a:t>
            </a:r>
            <a:r>
              <a:rPr lang="en-US" dirty="0" err="1"/>
              <a:t>read.csv</a:t>
            </a:r>
            <a:r>
              <a:rPr lang="en-US" dirty="0"/>
              <a:t>("Student_Data_Ch8.csv")</a:t>
            </a:r>
          </a:p>
          <a:p>
            <a:endParaRPr lang="en-US" dirty="0"/>
          </a:p>
          <a:p>
            <a:r>
              <a:rPr lang="en-US" dirty="0"/>
              <a:t># Boxplot: Exam Score by Grade</a:t>
            </a:r>
          </a:p>
          <a:p>
            <a:r>
              <a:rPr lang="en-US" dirty="0"/>
              <a:t>boxplot(</a:t>
            </a:r>
            <a:r>
              <a:rPr lang="en-US" dirty="0" err="1"/>
              <a:t>Exam_Score</a:t>
            </a:r>
            <a:r>
              <a:rPr lang="en-US" dirty="0"/>
              <a:t xml:space="preserve"> ~ Grade, data = </a:t>
            </a:r>
            <a:r>
              <a:rPr lang="en-US" dirty="0" err="1"/>
              <a:t>df</a:t>
            </a:r>
            <a:r>
              <a:rPr lang="en-US" dirty="0"/>
              <a:t>,</a:t>
            </a:r>
          </a:p>
          <a:p>
            <a:r>
              <a:rPr lang="en-US" dirty="0"/>
              <a:t xml:space="preserve">        </a:t>
            </a:r>
            <a:r>
              <a:rPr lang="en-US" dirty="0" err="1"/>
              <a:t>xlab</a:t>
            </a:r>
            <a:r>
              <a:rPr lang="en-US" dirty="0"/>
              <a:t xml:space="preserve"> = "Grade",</a:t>
            </a:r>
          </a:p>
          <a:p>
            <a:r>
              <a:rPr lang="en-US" dirty="0"/>
              <a:t xml:space="preserve">        </a:t>
            </a:r>
            <a:r>
              <a:rPr lang="en-US" dirty="0" err="1"/>
              <a:t>ylab</a:t>
            </a:r>
            <a:r>
              <a:rPr lang="en-US" dirty="0"/>
              <a:t xml:space="preserve"> = "Exam Score",</a:t>
            </a:r>
          </a:p>
          <a:p>
            <a:r>
              <a:rPr lang="en-US" dirty="0"/>
              <a:t xml:space="preserve">        main = "Exam Scores by Grade",</a:t>
            </a:r>
          </a:p>
          <a:p>
            <a:r>
              <a:rPr lang="en-US" dirty="0"/>
              <a:t xml:space="preserve">        col = c("</a:t>
            </a:r>
            <a:r>
              <a:rPr lang="en-US" dirty="0" err="1"/>
              <a:t>lightblue</a:t>
            </a:r>
            <a:r>
              <a:rPr lang="en-US" dirty="0"/>
              <a:t>","blue","</a:t>
            </a:r>
            <a:r>
              <a:rPr lang="en-US" dirty="0" err="1"/>
              <a:t>darkgreen</a:t>
            </a:r>
            <a:r>
              <a:rPr lang="en-US" dirty="0"/>
              <a:t>","purple"))</a:t>
            </a:r>
          </a:p>
        </p:txBody>
      </p:sp>
      <p:pic>
        <p:nvPicPr>
          <p:cNvPr id="7" name="Picture 6" descr="A graph of a test results  AI-generated content may be incorrect.">
            <a:extLst>
              <a:ext uri="{FF2B5EF4-FFF2-40B4-BE49-F238E27FC236}">
                <a16:creationId xmlns:a16="http://schemas.microsoft.com/office/drawing/2014/main" id="{F40BA2E2-D246-3505-E971-88A7621C47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63268" y="2611552"/>
            <a:ext cx="4935814" cy="4027487"/>
          </a:xfrm>
          <a:prstGeom prst="rect">
            <a:avLst/>
          </a:prstGeom>
        </p:spPr>
      </p:pic>
    </p:spTree>
    <p:extLst>
      <p:ext uri="{BB962C8B-B14F-4D97-AF65-F5344CB8AC3E}">
        <p14:creationId xmlns:p14="http://schemas.microsoft.com/office/powerpoint/2010/main" val="13912630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D789-587F-F5E6-39E1-29537E8BBEF8}"/>
              </a:ext>
            </a:extLst>
          </p:cNvPr>
          <p:cNvSpPr>
            <a:spLocks noGrp="1"/>
          </p:cNvSpPr>
          <p:nvPr>
            <p:ph type="title"/>
          </p:nvPr>
        </p:nvSpPr>
        <p:spPr>
          <a:xfrm>
            <a:off x="652463" y="802785"/>
            <a:ext cx="10515600" cy="1325563"/>
          </a:xfrm>
        </p:spPr>
        <p:txBody>
          <a:bodyPr/>
          <a:lstStyle/>
          <a:p>
            <a:r>
              <a:rPr lang="en-US" dirty="0"/>
              <a:t>Let’s Try! - Python</a:t>
            </a:r>
          </a:p>
        </p:txBody>
      </p:sp>
      <p:pic>
        <p:nvPicPr>
          <p:cNvPr id="4" name="Picture 3">
            <a:extLst>
              <a:ext uri="{FF2B5EF4-FFF2-40B4-BE49-F238E27FC236}">
                <a16:creationId xmlns:a16="http://schemas.microsoft.com/office/drawing/2014/main" id="{5FAFCB45-39C1-0ABD-E1F8-3FFEBEC3782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86575" y="2710926"/>
            <a:ext cx="5230776" cy="3664739"/>
          </a:xfrm>
          <a:prstGeom prst="rect">
            <a:avLst/>
          </a:prstGeom>
        </p:spPr>
      </p:pic>
      <p:sp>
        <p:nvSpPr>
          <p:cNvPr id="6" name="TextBox 5">
            <a:extLst>
              <a:ext uri="{FF2B5EF4-FFF2-40B4-BE49-F238E27FC236}">
                <a16:creationId xmlns:a16="http://schemas.microsoft.com/office/drawing/2014/main" id="{FCBAF5F4-FF6C-42E8-F835-4ADCB91DE704}"/>
              </a:ext>
            </a:extLst>
          </p:cNvPr>
          <p:cNvSpPr txBox="1"/>
          <p:nvPr/>
        </p:nvSpPr>
        <p:spPr>
          <a:xfrm>
            <a:off x="542925" y="2128348"/>
            <a:ext cx="6343650" cy="4247317"/>
          </a:xfrm>
          <a:prstGeom prst="rect">
            <a:avLst/>
          </a:prstGeom>
          <a:noFill/>
        </p:spPr>
        <p:txBody>
          <a:bodyPr wrap="square">
            <a:spAutoFit/>
          </a:bodyPr>
          <a:lstStyle/>
          <a:p>
            <a:r>
              <a:rPr lang="en-US" dirty="0"/>
              <a:t>import pandas as pd</a:t>
            </a:r>
          </a:p>
          <a:p>
            <a:r>
              <a:rPr lang="en-US" dirty="0"/>
              <a:t xml:space="preserve">import seaborn as </a:t>
            </a:r>
            <a:r>
              <a:rPr lang="en-US" dirty="0" err="1"/>
              <a:t>sns</a:t>
            </a:r>
            <a:endParaRPr lang="en-US" dirty="0"/>
          </a:p>
          <a:p>
            <a:r>
              <a:rPr lang="en-US" dirty="0"/>
              <a:t xml:space="preserve">import </a:t>
            </a:r>
            <a:r>
              <a:rPr lang="en-US" dirty="0" err="1"/>
              <a:t>matplotlib.pyplot</a:t>
            </a:r>
            <a:r>
              <a:rPr lang="en-US" dirty="0"/>
              <a:t xml:space="preserve"> as </a:t>
            </a:r>
            <a:r>
              <a:rPr lang="en-US" dirty="0" err="1"/>
              <a:t>plt</a:t>
            </a:r>
            <a:endParaRPr lang="en-US" dirty="0"/>
          </a:p>
          <a:p>
            <a:endParaRPr lang="en-US" dirty="0"/>
          </a:p>
          <a:p>
            <a:r>
              <a:rPr lang="en-US" dirty="0"/>
              <a:t># Load the dataset</a:t>
            </a:r>
          </a:p>
          <a:p>
            <a:r>
              <a:rPr lang="en-US" dirty="0" err="1"/>
              <a:t>df</a:t>
            </a:r>
            <a:r>
              <a:rPr lang="en-US" dirty="0"/>
              <a:t xml:space="preserve"> = </a:t>
            </a:r>
            <a:r>
              <a:rPr lang="en-US" dirty="0" err="1"/>
              <a:t>pd.read_csv</a:t>
            </a:r>
            <a:r>
              <a:rPr lang="en-US" dirty="0"/>
              <a:t>("Student_Data_Ch8.csv")</a:t>
            </a:r>
          </a:p>
          <a:p>
            <a:endParaRPr lang="en-US" dirty="0"/>
          </a:p>
          <a:p>
            <a:r>
              <a:rPr lang="en-US" dirty="0" err="1"/>
              <a:t>plt.figure</a:t>
            </a:r>
            <a:r>
              <a:rPr lang="en-US" dirty="0"/>
              <a:t>(</a:t>
            </a:r>
            <a:r>
              <a:rPr lang="en-US" dirty="0" err="1"/>
              <a:t>figsize</a:t>
            </a:r>
            <a:r>
              <a:rPr lang="en-US" dirty="0"/>
              <a:t>=(8, 6))</a:t>
            </a:r>
          </a:p>
          <a:p>
            <a:r>
              <a:rPr lang="en-US" dirty="0" err="1"/>
              <a:t>sns.boxplot</a:t>
            </a:r>
            <a:r>
              <a:rPr lang="en-US" dirty="0"/>
              <a:t>(x="Grade", y="</a:t>
            </a:r>
            <a:r>
              <a:rPr lang="en-US" dirty="0" err="1"/>
              <a:t>Exam_Score</a:t>
            </a:r>
            <a:r>
              <a:rPr lang="en-US" dirty="0"/>
              <a:t>", hue="Grade", data=</a:t>
            </a:r>
            <a:r>
              <a:rPr lang="en-US" dirty="0" err="1"/>
              <a:t>df</a:t>
            </a:r>
            <a:r>
              <a:rPr lang="en-US" dirty="0"/>
              <a:t>, palette="pastel", legend=False)</a:t>
            </a:r>
          </a:p>
          <a:p>
            <a:r>
              <a:rPr lang="en-US" dirty="0" err="1"/>
              <a:t>plt.xlabel</a:t>
            </a:r>
            <a:r>
              <a:rPr lang="en-US" dirty="0"/>
              <a:t>("Grade")</a:t>
            </a:r>
          </a:p>
          <a:p>
            <a:r>
              <a:rPr lang="en-US" dirty="0" err="1"/>
              <a:t>plt.ylabel</a:t>
            </a:r>
            <a:r>
              <a:rPr lang="en-US" dirty="0"/>
              <a:t>("Exam Score")</a:t>
            </a:r>
          </a:p>
          <a:p>
            <a:r>
              <a:rPr lang="en-US" dirty="0" err="1"/>
              <a:t>plt.title</a:t>
            </a:r>
            <a:r>
              <a:rPr lang="en-US" dirty="0"/>
              <a:t>("Exam Scores by Grade")</a:t>
            </a:r>
          </a:p>
          <a:p>
            <a:r>
              <a:rPr lang="en-US" dirty="0" err="1"/>
              <a:t>plt.grid</a:t>
            </a:r>
            <a:r>
              <a:rPr lang="en-US" dirty="0"/>
              <a:t>(True)</a:t>
            </a:r>
          </a:p>
          <a:p>
            <a:r>
              <a:rPr lang="en-US" dirty="0" err="1"/>
              <a:t>plt.show</a:t>
            </a:r>
            <a:r>
              <a:rPr lang="en-US" dirty="0"/>
              <a:t>()</a:t>
            </a:r>
          </a:p>
        </p:txBody>
      </p:sp>
    </p:spTree>
    <p:extLst>
      <p:ext uri="{BB962C8B-B14F-4D97-AF65-F5344CB8AC3E}">
        <p14:creationId xmlns:p14="http://schemas.microsoft.com/office/powerpoint/2010/main" val="11298651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62ACA-E480-2C64-D06F-B0055CD730E9}"/>
              </a:ext>
            </a:extLst>
          </p:cNvPr>
          <p:cNvSpPr>
            <a:spLocks noGrp="1"/>
          </p:cNvSpPr>
          <p:nvPr>
            <p:ph type="title"/>
          </p:nvPr>
        </p:nvSpPr>
        <p:spPr>
          <a:xfrm>
            <a:off x="681038" y="128366"/>
            <a:ext cx="10515600" cy="1325563"/>
          </a:xfrm>
        </p:spPr>
        <p:txBody>
          <a:bodyPr/>
          <a:lstStyle/>
          <a:p>
            <a:r>
              <a:rPr lang="en-US" dirty="0"/>
              <a:t>Patterns in Bivariate Analysis</a:t>
            </a:r>
          </a:p>
        </p:txBody>
      </p:sp>
      <p:sp>
        <p:nvSpPr>
          <p:cNvPr id="4" name="Shape 1">
            <a:extLst>
              <a:ext uri="{FF2B5EF4-FFF2-40B4-BE49-F238E27FC236}">
                <a16:creationId xmlns:a16="http://schemas.microsoft.com/office/drawing/2014/main" id="{1B12C9DA-691C-CDA4-D339-A8CB7E31A4B9}"/>
              </a:ext>
            </a:extLst>
          </p:cNvPr>
          <p:cNvSpPr/>
          <p:nvPr/>
        </p:nvSpPr>
        <p:spPr>
          <a:xfrm>
            <a:off x="5324475" y="1453929"/>
            <a:ext cx="6457950" cy="1234778"/>
          </a:xfrm>
          <a:prstGeom prst="roundRect">
            <a:avLst>
              <a:gd name="adj" fmla="val 5647"/>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614033C8-7B50-378E-9332-B2817D2747F5}"/>
              </a:ext>
            </a:extLst>
          </p:cNvPr>
          <p:cNvSpPr/>
          <p:nvPr/>
        </p:nvSpPr>
        <p:spPr>
          <a:xfrm>
            <a:off x="5496819" y="1626271"/>
            <a:ext cx="2075358" cy="259457"/>
          </a:xfrm>
          <a:prstGeom prst="rect">
            <a:avLst/>
          </a:prstGeom>
          <a:noFill/>
          <a:ln/>
        </p:spPr>
        <p:txBody>
          <a:bodyPr wrap="none" lIns="0" tIns="0" rIns="0" bIns="0" rtlCol="0" anchor="t"/>
          <a:lstStyle/>
          <a:p>
            <a:pPr>
              <a:lnSpc>
                <a:spcPts val="204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Positive Association</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C8258762-E2F9-0F05-5B22-F35FE368F303}"/>
              </a:ext>
            </a:extLst>
          </p:cNvPr>
          <p:cNvSpPr/>
          <p:nvPr/>
        </p:nvSpPr>
        <p:spPr>
          <a:xfrm>
            <a:off x="5496819" y="1985344"/>
            <a:ext cx="6113264" cy="531019"/>
          </a:xfrm>
          <a:prstGeom prst="rect">
            <a:avLst/>
          </a:prstGeom>
          <a:noFill/>
          <a:ln/>
        </p:spPr>
        <p:txBody>
          <a:bodyPr wrap="square" lIns="0" tIns="0" rIns="0" bIns="0" rtlCol="0" anchor="t"/>
          <a:lstStyle/>
          <a:p>
            <a:pPr>
              <a:lnSpc>
                <a:spcPts val="2083"/>
              </a:lnSpc>
            </a:pPr>
            <a:r>
              <a:rPr lang="en-US" sz="1600" dirty="0">
                <a:solidFill>
                  <a:srgbClr val="000000"/>
                </a:solidFill>
                <a:latin typeface="Aptos" panose="020B0004020202020204" pitchFamily="34" charset="0"/>
                <a:ea typeface="Inter" pitchFamily="34" charset="-122"/>
                <a:cs typeface="Inter" pitchFamily="34" charset="-120"/>
              </a:rPr>
              <a:t>As one variable increases, the other tends to increase (more study time, higher scores)</a:t>
            </a:r>
            <a:endParaRPr lang="en-US" sz="1600" dirty="0">
              <a:latin typeface="Aptos" panose="020B0004020202020204" pitchFamily="34" charset="0"/>
            </a:endParaRPr>
          </a:p>
        </p:txBody>
      </p:sp>
      <p:sp>
        <p:nvSpPr>
          <p:cNvPr id="7" name="Shape 4">
            <a:extLst>
              <a:ext uri="{FF2B5EF4-FFF2-40B4-BE49-F238E27FC236}">
                <a16:creationId xmlns:a16="http://schemas.microsoft.com/office/drawing/2014/main" id="{CB72F943-DDA3-EC4B-6C80-259C48EEC117}"/>
              </a:ext>
            </a:extLst>
          </p:cNvPr>
          <p:cNvSpPr/>
          <p:nvPr/>
        </p:nvSpPr>
        <p:spPr>
          <a:xfrm>
            <a:off x="5324475" y="2854699"/>
            <a:ext cx="6457950" cy="1234778"/>
          </a:xfrm>
          <a:prstGeom prst="roundRect">
            <a:avLst>
              <a:gd name="adj" fmla="val 5647"/>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73BBF7B8-067C-2B37-6F73-14E60C2F6781}"/>
              </a:ext>
            </a:extLst>
          </p:cNvPr>
          <p:cNvSpPr/>
          <p:nvPr/>
        </p:nvSpPr>
        <p:spPr>
          <a:xfrm>
            <a:off x="5496819" y="3027042"/>
            <a:ext cx="2075358" cy="259457"/>
          </a:xfrm>
          <a:prstGeom prst="rect">
            <a:avLst/>
          </a:prstGeom>
          <a:noFill/>
          <a:ln/>
        </p:spPr>
        <p:txBody>
          <a:bodyPr wrap="none" lIns="0" tIns="0" rIns="0" bIns="0" rtlCol="0" anchor="t"/>
          <a:lstStyle/>
          <a:p>
            <a:pPr>
              <a:lnSpc>
                <a:spcPts val="204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Negative Association</a:t>
            </a:r>
            <a:endParaRPr lang="en-US" sz="2000" dirty="0">
              <a:latin typeface="Aptos" panose="020B0004020202020204" pitchFamily="34" charset="0"/>
            </a:endParaRPr>
          </a:p>
        </p:txBody>
      </p:sp>
      <p:sp>
        <p:nvSpPr>
          <p:cNvPr id="9" name="Text 6">
            <a:extLst>
              <a:ext uri="{FF2B5EF4-FFF2-40B4-BE49-F238E27FC236}">
                <a16:creationId xmlns:a16="http://schemas.microsoft.com/office/drawing/2014/main" id="{BB712CD5-E58E-4E0B-85EC-00821A515461}"/>
              </a:ext>
            </a:extLst>
          </p:cNvPr>
          <p:cNvSpPr/>
          <p:nvPr/>
        </p:nvSpPr>
        <p:spPr>
          <a:xfrm>
            <a:off x="5496819" y="3386115"/>
            <a:ext cx="6113264" cy="531019"/>
          </a:xfrm>
          <a:prstGeom prst="rect">
            <a:avLst/>
          </a:prstGeom>
          <a:noFill/>
          <a:ln/>
        </p:spPr>
        <p:txBody>
          <a:bodyPr wrap="square" lIns="0" tIns="0" rIns="0" bIns="0" rtlCol="0" anchor="t"/>
          <a:lstStyle/>
          <a:p>
            <a:pPr>
              <a:lnSpc>
                <a:spcPts val="2083"/>
              </a:lnSpc>
            </a:pPr>
            <a:r>
              <a:rPr lang="en-US" sz="1600" dirty="0">
                <a:solidFill>
                  <a:srgbClr val="000000"/>
                </a:solidFill>
                <a:latin typeface="Aptos" panose="020B0004020202020204" pitchFamily="34" charset="0"/>
                <a:ea typeface="Inter" pitchFamily="34" charset="-122"/>
                <a:cs typeface="Inter" pitchFamily="34" charset="-120"/>
              </a:rPr>
              <a:t>As one variable increases, the other tends to decrease (more absences, lower grades)</a:t>
            </a:r>
            <a:endParaRPr lang="en-US" sz="1600" dirty="0">
              <a:latin typeface="Aptos" panose="020B0004020202020204" pitchFamily="34" charset="0"/>
            </a:endParaRPr>
          </a:p>
        </p:txBody>
      </p:sp>
      <p:sp>
        <p:nvSpPr>
          <p:cNvPr id="10" name="Shape 7">
            <a:extLst>
              <a:ext uri="{FF2B5EF4-FFF2-40B4-BE49-F238E27FC236}">
                <a16:creationId xmlns:a16="http://schemas.microsoft.com/office/drawing/2014/main" id="{ACA2BF4A-82F0-C4CD-E3E7-B3BC4CC99242}"/>
              </a:ext>
            </a:extLst>
          </p:cNvPr>
          <p:cNvSpPr/>
          <p:nvPr/>
        </p:nvSpPr>
        <p:spPr>
          <a:xfrm>
            <a:off x="5324475" y="4255469"/>
            <a:ext cx="6457950" cy="969268"/>
          </a:xfrm>
          <a:prstGeom prst="roundRect">
            <a:avLst>
              <a:gd name="adj" fmla="val 719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90F3D6C1-D563-A16E-C2B3-822AF16143A5}"/>
              </a:ext>
            </a:extLst>
          </p:cNvPr>
          <p:cNvSpPr/>
          <p:nvPr/>
        </p:nvSpPr>
        <p:spPr>
          <a:xfrm>
            <a:off x="5496819" y="4427812"/>
            <a:ext cx="2075358" cy="259457"/>
          </a:xfrm>
          <a:prstGeom prst="rect">
            <a:avLst/>
          </a:prstGeom>
          <a:noFill/>
          <a:ln/>
        </p:spPr>
        <p:txBody>
          <a:bodyPr wrap="none" lIns="0" tIns="0" rIns="0" bIns="0" rtlCol="0" anchor="t"/>
          <a:lstStyle/>
          <a:p>
            <a:pPr>
              <a:lnSpc>
                <a:spcPts val="204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No Association</a:t>
            </a:r>
            <a:endParaRPr lang="en-US" sz="2000" dirty="0">
              <a:latin typeface="Aptos" panose="020B0004020202020204" pitchFamily="34" charset="0"/>
            </a:endParaRPr>
          </a:p>
        </p:txBody>
      </p:sp>
      <p:sp>
        <p:nvSpPr>
          <p:cNvPr id="12" name="Text 9">
            <a:extLst>
              <a:ext uri="{FF2B5EF4-FFF2-40B4-BE49-F238E27FC236}">
                <a16:creationId xmlns:a16="http://schemas.microsoft.com/office/drawing/2014/main" id="{97759710-D09F-D1BB-9A80-9C38B11B7A25}"/>
              </a:ext>
            </a:extLst>
          </p:cNvPr>
          <p:cNvSpPr/>
          <p:nvPr/>
        </p:nvSpPr>
        <p:spPr>
          <a:xfrm>
            <a:off x="5496819" y="4786885"/>
            <a:ext cx="6113264" cy="265509"/>
          </a:xfrm>
          <a:prstGeom prst="rect">
            <a:avLst/>
          </a:prstGeom>
          <a:noFill/>
          <a:ln/>
        </p:spPr>
        <p:txBody>
          <a:bodyPr wrap="none" lIns="0" tIns="0" rIns="0" bIns="0" rtlCol="0" anchor="t"/>
          <a:lstStyle/>
          <a:p>
            <a:pPr>
              <a:lnSpc>
                <a:spcPts val="2083"/>
              </a:lnSpc>
            </a:pPr>
            <a:r>
              <a:rPr lang="en-US" sz="1600" dirty="0">
                <a:solidFill>
                  <a:srgbClr val="000000"/>
                </a:solidFill>
                <a:latin typeface="Aptos" panose="020B0004020202020204" pitchFamily="34" charset="0"/>
                <a:ea typeface="Inter" pitchFamily="34" charset="-122"/>
                <a:cs typeface="Inter" pitchFamily="34" charset="-120"/>
              </a:rPr>
              <a:t>No clear relationship between variables (random cloud in scatterplot)</a:t>
            </a:r>
            <a:endParaRPr lang="en-US" sz="1600" dirty="0">
              <a:latin typeface="Aptos" panose="020B0004020202020204" pitchFamily="34" charset="0"/>
            </a:endParaRPr>
          </a:p>
        </p:txBody>
      </p:sp>
      <p:sp>
        <p:nvSpPr>
          <p:cNvPr id="13" name="Shape 10">
            <a:extLst>
              <a:ext uri="{FF2B5EF4-FFF2-40B4-BE49-F238E27FC236}">
                <a16:creationId xmlns:a16="http://schemas.microsoft.com/office/drawing/2014/main" id="{D9282FFA-5948-5455-0B71-B7E740CFEBF6}"/>
              </a:ext>
            </a:extLst>
          </p:cNvPr>
          <p:cNvSpPr/>
          <p:nvPr/>
        </p:nvSpPr>
        <p:spPr>
          <a:xfrm>
            <a:off x="5324475" y="5390730"/>
            <a:ext cx="6457950" cy="969268"/>
          </a:xfrm>
          <a:prstGeom prst="roundRect">
            <a:avLst>
              <a:gd name="adj" fmla="val 719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4" name="Text 11">
            <a:extLst>
              <a:ext uri="{FF2B5EF4-FFF2-40B4-BE49-F238E27FC236}">
                <a16:creationId xmlns:a16="http://schemas.microsoft.com/office/drawing/2014/main" id="{53085416-3F40-48E2-6BBB-25F547181AAB}"/>
              </a:ext>
            </a:extLst>
          </p:cNvPr>
          <p:cNvSpPr/>
          <p:nvPr/>
        </p:nvSpPr>
        <p:spPr>
          <a:xfrm>
            <a:off x="5496819" y="5563073"/>
            <a:ext cx="2075358" cy="259457"/>
          </a:xfrm>
          <a:prstGeom prst="rect">
            <a:avLst/>
          </a:prstGeom>
          <a:noFill/>
          <a:ln/>
        </p:spPr>
        <p:txBody>
          <a:bodyPr wrap="none" lIns="0" tIns="0" rIns="0" bIns="0" rtlCol="0" anchor="t"/>
          <a:lstStyle/>
          <a:p>
            <a:pPr>
              <a:lnSpc>
                <a:spcPts val="204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Group Differences</a:t>
            </a:r>
            <a:endParaRPr lang="en-US" sz="2000" dirty="0">
              <a:latin typeface="Aptos" panose="020B0004020202020204" pitchFamily="34" charset="0"/>
            </a:endParaRPr>
          </a:p>
        </p:txBody>
      </p:sp>
      <p:sp>
        <p:nvSpPr>
          <p:cNvPr id="15" name="Text 12">
            <a:extLst>
              <a:ext uri="{FF2B5EF4-FFF2-40B4-BE49-F238E27FC236}">
                <a16:creationId xmlns:a16="http://schemas.microsoft.com/office/drawing/2014/main" id="{7E230058-71A2-DE1A-B4D5-3075E66655AF}"/>
              </a:ext>
            </a:extLst>
          </p:cNvPr>
          <p:cNvSpPr/>
          <p:nvPr/>
        </p:nvSpPr>
        <p:spPr>
          <a:xfrm>
            <a:off x="5496819" y="5922146"/>
            <a:ext cx="6113264" cy="265509"/>
          </a:xfrm>
          <a:prstGeom prst="rect">
            <a:avLst/>
          </a:prstGeom>
          <a:noFill/>
          <a:ln/>
        </p:spPr>
        <p:txBody>
          <a:bodyPr wrap="none" lIns="0" tIns="0" rIns="0" bIns="0" rtlCol="0" anchor="t"/>
          <a:lstStyle/>
          <a:p>
            <a:pPr>
              <a:lnSpc>
                <a:spcPts val="2083"/>
              </a:lnSpc>
            </a:pPr>
            <a:r>
              <a:rPr lang="en-US" sz="1600" dirty="0">
                <a:solidFill>
                  <a:srgbClr val="000000"/>
                </a:solidFill>
                <a:latin typeface="Aptos" panose="020B0004020202020204" pitchFamily="34" charset="0"/>
                <a:ea typeface="Inter" pitchFamily="34" charset="-122"/>
                <a:cs typeface="Inter" pitchFamily="34" charset="-120"/>
              </a:rPr>
              <a:t>One category consistently has higher/lower values than another</a:t>
            </a:r>
            <a:endParaRPr lang="en-US" sz="1600" dirty="0">
              <a:latin typeface="Aptos" panose="020B0004020202020204" pitchFamily="34" charset="0"/>
            </a:endParaRPr>
          </a:p>
        </p:txBody>
      </p:sp>
      <p:pic>
        <p:nvPicPr>
          <p:cNvPr id="17" name="Image 0" descr="preencoded.png">
            <a:extLst>
              <a:ext uri="{FF2B5EF4-FFF2-40B4-BE49-F238E27FC236}">
                <a16:creationId xmlns:a16="http://schemas.microsoft.com/office/drawing/2014/main" id="{5BD08736-3747-C12B-3269-D9327924473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09575" y="1626271"/>
            <a:ext cx="4572000" cy="4468217"/>
          </a:xfrm>
          <a:prstGeom prst="rect">
            <a:avLst/>
          </a:prstGeom>
        </p:spPr>
      </p:pic>
    </p:spTree>
    <p:extLst>
      <p:ext uri="{BB962C8B-B14F-4D97-AF65-F5344CB8AC3E}">
        <p14:creationId xmlns:p14="http://schemas.microsoft.com/office/powerpoint/2010/main" val="624920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D18F1-627A-C42E-EAB1-23D4BAF39E4F}"/>
              </a:ext>
            </a:extLst>
          </p:cNvPr>
          <p:cNvSpPr>
            <a:spLocks noGrp="1"/>
          </p:cNvSpPr>
          <p:nvPr>
            <p:ph type="title"/>
          </p:nvPr>
        </p:nvSpPr>
        <p:spPr>
          <a:xfrm>
            <a:off x="838200" y="500062"/>
            <a:ext cx="10515600" cy="1325563"/>
          </a:xfrm>
        </p:spPr>
        <p:txBody>
          <a:bodyPr anchor="ctr">
            <a:normAutofit/>
          </a:bodyPr>
          <a:lstStyle/>
          <a:p>
            <a:r>
              <a:rPr lang="en-US" dirty="0"/>
              <a:t>Your Turn!</a:t>
            </a:r>
          </a:p>
        </p:txBody>
      </p:sp>
      <p:pic>
        <p:nvPicPr>
          <p:cNvPr id="8" name="Content Placeholder 7" descr="A graph of a sleep number  AI-generated content may be incorrect.">
            <a:extLst>
              <a:ext uri="{FF2B5EF4-FFF2-40B4-BE49-F238E27FC236}">
                <a16:creationId xmlns:a16="http://schemas.microsoft.com/office/drawing/2014/main" id="{882CC25A-91F3-C5C9-D653-3D0E934C79C1}"/>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6172200" y="1861068"/>
            <a:ext cx="5181600" cy="4280452"/>
          </a:xfrm>
        </p:spPr>
      </p:pic>
      <p:graphicFrame>
        <p:nvGraphicFramePr>
          <p:cNvPr id="11" name="Content Placeholder 2">
            <a:extLst>
              <a:ext uri="{FF2B5EF4-FFF2-40B4-BE49-F238E27FC236}">
                <a16:creationId xmlns:a16="http://schemas.microsoft.com/office/drawing/2014/main" id="{BFDD3E5A-5FE7-9EBC-DE31-413437E82A05}"/>
              </a:ext>
            </a:extLst>
          </p:cNvPr>
          <p:cNvGraphicFramePr>
            <a:graphicFrameLocks noGrp="1"/>
          </p:cNvGraphicFramePr>
          <p:nvPr>
            <p:ph sz="half" idx="1"/>
            <p:extLst>
              <p:ext uri="{D42A27DB-BD31-4B8C-83A1-F6EECF244321}">
                <p14:modId xmlns:p14="http://schemas.microsoft.com/office/powerpoint/2010/main" val="1784359568"/>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B843E693-EB2A-6EEB-D9A3-AF5C695458A3}"/>
              </a:ext>
            </a:extLst>
          </p:cNvPr>
          <p:cNvSpPr txBox="1"/>
          <p:nvPr/>
        </p:nvSpPr>
        <p:spPr>
          <a:xfrm>
            <a:off x="6770595" y="6173272"/>
            <a:ext cx="3984809" cy="369332"/>
          </a:xfrm>
          <a:prstGeom prst="rect">
            <a:avLst/>
          </a:prstGeom>
          <a:noFill/>
        </p:spPr>
        <p:txBody>
          <a:bodyPr wrap="none" rtlCol="0">
            <a:spAutoFit/>
          </a:bodyPr>
          <a:lstStyle/>
          <a:p>
            <a:r>
              <a:rPr lang="en-US" dirty="0"/>
              <a:t>Codes are under Ch8.R and Ch8.ipynb</a:t>
            </a:r>
          </a:p>
        </p:txBody>
      </p:sp>
    </p:spTree>
    <p:extLst>
      <p:ext uri="{BB962C8B-B14F-4D97-AF65-F5344CB8AC3E}">
        <p14:creationId xmlns:p14="http://schemas.microsoft.com/office/powerpoint/2010/main" val="2801868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83F0C-C1AA-24E3-A71A-C7C1C83ACDE2}"/>
              </a:ext>
            </a:extLst>
          </p:cNvPr>
          <p:cNvSpPr>
            <a:spLocks noGrp="1"/>
          </p:cNvSpPr>
          <p:nvPr>
            <p:ph type="title"/>
          </p:nvPr>
        </p:nvSpPr>
        <p:spPr>
          <a:xfrm>
            <a:off x="852487" y="384725"/>
            <a:ext cx="10515600" cy="1325563"/>
          </a:xfrm>
        </p:spPr>
        <p:txBody>
          <a:bodyPr anchor="ctr">
            <a:normAutofit/>
          </a:bodyPr>
          <a:lstStyle/>
          <a:p>
            <a:r>
              <a:rPr lang="en-US" dirty="0"/>
              <a:t>Your Turn! - 2</a:t>
            </a:r>
          </a:p>
        </p:txBody>
      </p:sp>
      <p:pic>
        <p:nvPicPr>
          <p:cNvPr id="7" name="Content Placeholder 6" descr="A graph of a number of colored squares  AI-generated content may be incorrect.">
            <a:extLst>
              <a:ext uri="{FF2B5EF4-FFF2-40B4-BE49-F238E27FC236}">
                <a16:creationId xmlns:a16="http://schemas.microsoft.com/office/drawing/2014/main" id="{C470F65A-906D-5919-4D66-1B3EDDA81E58}"/>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6172200" y="1891600"/>
            <a:ext cx="5181600" cy="4219388"/>
          </a:xfrm>
        </p:spPr>
      </p:pic>
      <p:graphicFrame>
        <p:nvGraphicFramePr>
          <p:cNvPr id="5" name="Content Placeholder 2">
            <a:extLst>
              <a:ext uri="{FF2B5EF4-FFF2-40B4-BE49-F238E27FC236}">
                <a16:creationId xmlns:a16="http://schemas.microsoft.com/office/drawing/2014/main" id="{DF3F6584-35A2-AC5A-AE57-05E5395E3E8F}"/>
              </a:ext>
            </a:extLst>
          </p:cNvPr>
          <p:cNvGraphicFramePr>
            <a:graphicFrameLocks noGrp="1"/>
          </p:cNvGraphicFramePr>
          <p:nvPr>
            <p:ph sz="half" idx="1"/>
            <p:extLst>
              <p:ext uri="{D42A27DB-BD31-4B8C-83A1-F6EECF244321}">
                <p14:modId xmlns:p14="http://schemas.microsoft.com/office/powerpoint/2010/main" val="3207052308"/>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332499C5-3440-D81F-7CF9-23031A914572}"/>
              </a:ext>
            </a:extLst>
          </p:cNvPr>
          <p:cNvSpPr txBox="1"/>
          <p:nvPr/>
        </p:nvSpPr>
        <p:spPr>
          <a:xfrm>
            <a:off x="6770595" y="6173272"/>
            <a:ext cx="3984809" cy="369332"/>
          </a:xfrm>
          <a:prstGeom prst="rect">
            <a:avLst/>
          </a:prstGeom>
          <a:noFill/>
        </p:spPr>
        <p:txBody>
          <a:bodyPr wrap="none" rtlCol="0">
            <a:spAutoFit/>
          </a:bodyPr>
          <a:lstStyle/>
          <a:p>
            <a:r>
              <a:rPr lang="en-US" dirty="0"/>
              <a:t>Codes are under Ch8.R and Ch8.ipynb</a:t>
            </a:r>
          </a:p>
        </p:txBody>
      </p:sp>
    </p:spTree>
    <p:extLst>
      <p:ext uri="{BB962C8B-B14F-4D97-AF65-F5344CB8AC3E}">
        <p14:creationId xmlns:p14="http://schemas.microsoft.com/office/powerpoint/2010/main" val="25569486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5A24-AEAC-1C2E-B62C-700209159C75}"/>
              </a:ext>
            </a:extLst>
          </p:cNvPr>
          <p:cNvSpPr>
            <a:spLocks noGrp="1"/>
          </p:cNvSpPr>
          <p:nvPr>
            <p:ph type="title"/>
          </p:nvPr>
        </p:nvSpPr>
        <p:spPr>
          <a:xfrm>
            <a:off x="914400" y="299000"/>
            <a:ext cx="10515600" cy="1325563"/>
          </a:xfrm>
        </p:spPr>
        <p:txBody>
          <a:bodyPr anchor="ctr">
            <a:normAutofit/>
          </a:bodyPr>
          <a:lstStyle/>
          <a:p>
            <a:r>
              <a:rPr lang="en-US" dirty="0"/>
              <a:t>Your Turn! - 3</a:t>
            </a:r>
          </a:p>
        </p:txBody>
      </p:sp>
      <p:graphicFrame>
        <p:nvGraphicFramePr>
          <p:cNvPr id="5" name="Content Placeholder 2">
            <a:extLst>
              <a:ext uri="{FF2B5EF4-FFF2-40B4-BE49-F238E27FC236}">
                <a16:creationId xmlns:a16="http://schemas.microsoft.com/office/drawing/2014/main" id="{2F5AF57F-D1CD-F1D4-5ECF-26B160AC18E7}"/>
              </a:ext>
            </a:extLst>
          </p:cNvPr>
          <p:cNvGraphicFramePr>
            <a:graphicFrameLocks noGrp="1"/>
          </p:cNvGraphicFramePr>
          <p:nvPr>
            <p:ph sz="half" idx="1"/>
            <p:extLst>
              <p:ext uri="{D42A27DB-BD31-4B8C-83A1-F6EECF244321}">
                <p14:modId xmlns:p14="http://schemas.microsoft.com/office/powerpoint/2010/main" val="1920428054"/>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Content Placeholder 12" descr="A graph of different colored bars  AI-generated content may be incorrect.">
            <a:extLst>
              <a:ext uri="{FF2B5EF4-FFF2-40B4-BE49-F238E27FC236}">
                <a16:creationId xmlns:a16="http://schemas.microsoft.com/office/drawing/2014/main" id="{2E224261-B062-F06C-0DB3-C0A3FFF6885A}"/>
              </a:ext>
            </a:extLst>
          </p:cNvPr>
          <p:cNvPicPr>
            <a:picLocks noGrp="1" noChangeAspect="1"/>
          </p:cNvPicPr>
          <p:nvPr>
            <p:ph sz="half" idx="2"/>
          </p:nvPr>
        </p:nvPicPr>
        <p:blipFill>
          <a:blip r:embed="rId7" cstate="screen">
            <a:extLst>
              <a:ext uri="{28A0092B-C50C-407E-A947-70E740481C1C}">
                <a14:useLocalDpi xmlns:a14="http://schemas.microsoft.com/office/drawing/2010/main"/>
              </a:ext>
            </a:extLst>
          </a:blip>
          <a:stretch>
            <a:fillRect/>
          </a:stretch>
        </p:blipFill>
        <p:spPr>
          <a:xfrm>
            <a:off x="6172200" y="1939601"/>
            <a:ext cx="5181600" cy="4123385"/>
          </a:xfrm>
          <a:prstGeom prst="rect">
            <a:avLst/>
          </a:prstGeom>
        </p:spPr>
      </p:pic>
    </p:spTree>
    <p:extLst>
      <p:ext uri="{BB962C8B-B14F-4D97-AF65-F5344CB8AC3E}">
        <p14:creationId xmlns:p14="http://schemas.microsoft.com/office/powerpoint/2010/main" val="1877832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E829-F6C4-A9E1-0381-B2E43BD3ABF8}"/>
              </a:ext>
            </a:extLst>
          </p:cNvPr>
          <p:cNvSpPr>
            <a:spLocks noGrp="1"/>
          </p:cNvSpPr>
          <p:nvPr>
            <p:ph type="title"/>
          </p:nvPr>
        </p:nvSpPr>
        <p:spPr/>
        <p:txBody>
          <a:bodyPr/>
          <a:lstStyle/>
          <a:p>
            <a:r>
              <a:rPr lang="en-US" dirty="0"/>
              <a:t>Your Turn! - 4</a:t>
            </a:r>
          </a:p>
        </p:txBody>
      </p:sp>
      <p:sp>
        <p:nvSpPr>
          <p:cNvPr id="3" name="Content Placeholder 2">
            <a:extLst>
              <a:ext uri="{FF2B5EF4-FFF2-40B4-BE49-F238E27FC236}">
                <a16:creationId xmlns:a16="http://schemas.microsoft.com/office/drawing/2014/main" id="{EF422D28-79B3-DE24-55B2-9F2B8C404493}"/>
              </a:ext>
            </a:extLst>
          </p:cNvPr>
          <p:cNvSpPr>
            <a:spLocks noGrp="1"/>
          </p:cNvSpPr>
          <p:nvPr>
            <p:ph idx="1"/>
          </p:nvPr>
        </p:nvSpPr>
        <p:spPr/>
        <p:txBody>
          <a:bodyPr/>
          <a:lstStyle/>
          <a:p>
            <a:r>
              <a:rPr lang="en-US" dirty="0"/>
              <a:t xml:space="preserve">For each exploration, write a brief summary of what you found. </a:t>
            </a:r>
          </a:p>
        </p:txBody>
      </p:sp>
    </p:spTree>
    <p:extLst>
      <p:ext uri="{BB962C8B-B14F-4D97-AF65-F5344CB8AC3E}">
        <p14:creationId xmlns:p14="http://schemas.microsoft.com/office/powerpoint/2010/main" val="12111908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612C-5CF2-CD16-1936-E67AF0C19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5DDD9-23DC-BCF4-0214-2C10D0410304}"/>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D31C2CAA-3F53-3F14-76DD-6420A7C5EAAC}"/>
              </a:ext>
            </a:extLst>
          </p:cNvPr>
          <p:cNvSpPr>
            <a:spLocks noGrp="1"/>
          </p:cNvSpPr>
          <p:nvPr>
            <p:ph type="subTitle" idx="1"/>
          </p:nvPr>
        </p:nvSpPr>
        <p:spPr>
          <a:xfrm>
            <a:off x="1524000" y="4231758"/>
            <a:ext cx="9144000" cy="1026042"/>
          </a:xfrm>
        </p:spPr>
        <p:txBody>
          <a:bodyPr/>
          <a:lstStyle/>
          <a:p>
            <a:r>
              <a:rPr lang="en-US" dirty="0"/>
              <a:t>Visual Tools for EDA: Charts that Tell a Story</a:t>
            </a:r>
          </a:p>
        </p:txBody>
      </p:sp>
    </p:spTree>
    <p:extLst>
      <p:ext uri="{BB962C8B-B14F-4D97-AF65-F5344CB8AC3E}">
        <p14:creationId xmlns:p14="http://schemas.microsoft.com/office/powerpoint/2010/main" val="10660482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65E173CA-DA11-35DD-2D4E-7AB15ECC4F49}"/>
              </a:ext>
            </a:extLst>
          </p:cNvPr>
          <p:cNvSpPr/>
          <p:nvPr/>
        </p:nvSpPr>
        <p:spPr>
          <a:xfrm>
            <a:off x="592932" y="1609229"/>
            <a:ext cx="4235351" cy="529432"/>
          </a:xfrm>
          <a:prstGeom prst="rect">
            <a:avLst/>
          </a:prstGeom>
          <a:noFill/>
          <a:ln/>
        </p:spPr>
        <p:txBody>
          <a:bodyPr wrap="none" lIns="0" tIns="0" rIns="0" bIns="0" rtlCol="0" anchor="t"/>
          <a:lstStyle/>
          <a:p>
            <a:pPr>
              <a:lnSpc>
                <a:spcPts val="4167"/>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Visual Tools for EDA</a:t>
            </a:r>
            <a:endParaRPr lang="en-US" sz="4400" dirty="0">
              <a:latin typeface="Aptos" panose="020B0004020202020204" pitchFamily="34" charset="0"/>
            </a:endParaRPr>
          </a:p>
        </p:txBody>
      </p:sp>
      <p:pic>
        <p:nvPicPr>
          <p:cNvPr id="5" name="Image 0" descr="preencoded.png">
            <a:extLst>
              <a:ext uri="{FF2B5EF4-FFF2-40B4-BE49-F238E27FC236}">
                <a16:creationId xmlns:a16="http://schemas.microsoft.com/office/drawing/2014/main" id="{31983F7B-B424-3698-2826-27F4E733819D}"/>
              </a:ext>
            </a:extLst>
          </p:cNvPr>
          <p:cNvPicPr>
            <a:picLocks noChangeAspect="1"/>
          </p:cNvPicPr>
          <p:nvPr/>
        </p:nvPicPr>
        <p:blipFill>
          <a:blip r:embed="rId3"/>
          <a:stretch>
            <a:fillRect/>
          </a:stretch>
        </p:blipFill>
        <p:spPr>
          <a:xfrm>
            <a:off x="599281" y="2587228"/>
            <a:ext cx="2090242" cy="2090242"/>
          </a:xfrm>
          <a:prstGeom prst="rect">
            <a:avLst/>
          </a:prstGeom>
        </p:spPr>
      </p:pic>
      <p:pic>
        <p:nvPicPr>
          <p:cNvPr id="6" name="Image 1" descr="preencoded.png">
            <a:extLst>
              <a:ext uri="{FF2B5EF4-FFF2-40B4-BE49-F238E27FC236}">
                <a16:creationId xmlns:a16="http://schemas.microsoft.com/office/drawing/2014/main" id="{339FE144-D8AC-4AB3-8348-3EFD78944248}"/>
              </a:ext>
            </a:extLst>
          </p:cNvPr>
          <p:cNvPicPr>
            <a:picLocks noChangeAspect="1"/>
          </p:cNvPicPr>
          <p:nvPr/>
        </p:nvPicPr>
        <p:blipFill>
          <a:blip r:embed="rId4"/>
          <a:stretch>
            <a:fillRect/>
          </a:stretch>
        </p:blipFill>
        <p:spPr>
          <a:xfrm>
            <a:off x="2825056" y="2587228"/>
            <a:ext cx="2090242" cy="2090242"/>
          </a:xfrm>
          <a:prstGeom prst="rect">
            <a:avLst/>
          </a:prstGeom>
        </p:spPr>
      </p:pic>
      <p:pic>
        <p:nvPicPr>
          <p:cNvPr id="7" name="Image 2" descr="preencoded.png">
            <a:extLst>
              <a:ext uri="{FF2B5EF4-FFF2-40B4-BE49-F238E27FC236}">
                <a16:creationId xmlns:a16="http://schemas.microsoft.com/office/drawing/2014/main" id="{38BE60E2-6C5C-1B60-A91F-420986F2585E}"/>
              </a:ext>
            </a:extLst>
          </p:cNvPr>
          <p:cNvPicPr>
            <a:picLocks noChangeAspect="1"/>
          </p:cNvPicPr>
          <p:nvPr/>
        </p:nvPicPr>
        <p:blipFill>
          <a:blip r:embed="rId5"/>
          <a:stretch>
            <a:fillRect/>
          </a:stretch>
        </p:blipFill>
        <p:spPr>
          <a:xfrm>
            <a:off x="5050830" y="2587228"/>
            <a:ext cx="2090242" cy="2090242"/>
          </a:xfrm>
          <a:prstGeom prst="rect">
            <a:avLst/>
          </a:prstGeom>
        </p:spPr>
      </p:pic>
      <p:pic>
        <p:nvPicPr>
          <p:cNvPr id="8" name="Image 3" descr="preencoded.png">
            <a:extLst>
              <a:ext uri="{FF2B5EF4-FFF2-40B4-BE49-F238E27FC236}">
                <a16:creationId xmlns:a16="http://schemas.microsoft.com/office/drawing/2014/main" id="{C3640790-6681-0CA4-DA18-0C4E217EA527}"/>
              </a:ext>
            </a:extLst>
          </p:cNvPr>
          <p:cNvPicPr>
            <a:picLocks noChangeAspect="1"/>
          </p:cNvPicPr>
          <p:nvPr/>
        </p:nvPicPr>
        <p:blipFill>
          <a:blip r:embed="rId6"/>
          <a:stretch>
            <a:fillRect/>
          </a:stretch>
        </p:blipFill>
        <p:spPr>
          <a:xfrm>
            <a:off x="7276604" y="2587228"/>
            <a:ext cx="2090242" cy="2090242"/>
          </a:xfrm>
          <a:prstGeom prst="rect">
            <a:avLst/>
          </a:prstGeom>
        </p:spPr>
      </p:pic>
      <p:pic>
        <p:nvPicPr>
          <p:cNvPr id="9" name="Image 4" descr="preencoded.png">
            <a:extLst>
              <a:ext uri="{FF2B5EF4-FFF2-40B4-BE49-F238E27FC236}">
                <a16:creationId xmlns:a16="http://schemas.microsoft.com/office/drawing/2014/main" id="{DE73FB0B-68E2-39E9-5096-66967FA8A17D}"/>
              </a:ext>
            </a:extLst>
          </p:cNvPr>
          <p:cNvPicPr>
            <a:picLocks noChangeAspect="1"/>
          </p:cNvPicPr>
          <p:nvPr/>
        </p:nvPicPr>
        <p:blipFill>
          <a:blip r:embed="rId7"/>
          <a:stretch>
            <a:fillRect/>
          </a:stretch>
        </p:blipFill>
        <p:spPr>
          <a:xfrm>
            <a:off x="9502378" y="2587228"/>
            <a:ext cx="2090242" cy="2090242"/>
          </a:xfrm>
          <a:prstGeom prst="rect">
            <a:avLst/>
          </a:prstGeom>
        </p:spPr>
      </p:pic>
      <p:sp>
        <p:nvSpPr>
          <p:cNvPr id="10" name="Text 1">
            <a:extLst>
              <a:ext uri="{FF2B5EF4-FFF2-40B4-BE49-F238E27FC236}">
                <a16:creationId xmlns:a16="http://schemas.microsoft.com/office/drawing/2014/main" id="{2E9B0971-1F03-7E3B-8AE2-1752A4184457}"/>
              </a:ext>
            </a:extLst>
          </p:cNvPr>
          <p:cNvSpPr/>
          <p:nvPr/>
        </p:nvSpPr>
        <p:spPr>
          <a:xfrm>
            <a:off x="592932" y="4977706"/>
            <a:ext cx="11006138" cy="271066"/>
          </a:xfrm>
          <a:prstGeom prst="rect">
            <a:avLst/>
          </a:prstGeom>
          <a:noFill/>
          <a:ln/>
        </p:spPr>
        <p:txBody>
          <a:bodyPr wrap="none" lIns="0" tIns="0" rIns="0" bIns="0" rtlCol="0" anchor="t"/>
          <a:lstStyle/>
          <a:p>
            <a:pPr>
              <a:lnSpc>
                <a:spcPts val="2125"/>
              </a:lnSpc>
            </a:pPr>
            <a:r>
              <a:rPr lang="en-US" dirty="0">
                <a:solidFill>
                  <a:srgbClr val="000000"/>
                </a:solidFill>
                <a:latin typeface="Aptos" panose="020B0004020202020204" pitchFamily="34" charset="0"/>
                <a:ea typeface="Inter" pitchFamily="34" charset="-122"/>
                <a:cs typeface="Inter" pitchFamily="34" charset="-120"/>
              </a:rPr>
              <a:t>Different charts help us see different aspects of our data. Choose the right visual for your data type and question.</a:t>
            </a:r>
            <a:endParaRPr lang="en-US" dirty="0">
              <a:latin typeface="Aptos" panose="020B0004020202020204" pitchFamily="34" charset="0"/>
            </a:endParaRPr>
          </a:p>
        </p:txBody>
      </p:sp>
    </p:spTree>
    <p:extLst>
      <p:ext uri="{BB962C8B-B14F-4D97-AF65-F5344CB8AC3E}">
        <p14:creationId xmlns:p14="http://schemas.microsoft.com/office/powerpoint/2010/main" val="16273397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9C76C-3762-D065-7BDD-BB2668DA979F}"/>
              </a:ext>
            </a:extLst>
          </p:cNvPr>
          <p:cNvSpPr>
            <a:spLocks noGrp="1"/>
          </p:cNvSpPr>
          <p:nvPr>
            <p:ph type="title"/>
          </p:nvPr>
        </p:nvSpPr>
        <p:spPr>
          <a:xfrm>
            <a:off x="838200" y="433786"/>
            <a:ext cx="10515600" cy="1325563"/>
          </a:xfrm>
        </p:spPr>
        <p:txBody>
          <a:bodyPr/>
          <a:lstStyle/>
          <a:p>
            <a:r>
              <a:rPr lang="en-US" dirty="0"/>
              <a:t>Bar Chart</a:t>
            </a:r>
          </a:p>
        </p:txBody>
      </p:sp>
      <p:sp>
        <p:nvSpPr>
          <p:cNvPr id="4" name="Text 1">
            <a:extLst>
              <a:ext uri="{FF2B5EF4-FFF2-40B4-BE49-F238E27FC236}">
                <a16:creationId xmlns:a16="http://schemas.microsoft.com/office/drawing/2014/main" id="{B1A2DE7F-45D3-6520-EEC2-00FA5779AF16}"/>
              </a:ext>
            </a:extLst>
          </p:cNvPr>
          <p:cNvSpPr/>
          <p:nvPr/>
        </p:nvSpPr>
        <p:spPr>
          <a:xfrm>
            <a:off x="661492" y="210780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When to Use</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28DC5F24-D25A-FED5-53C1-C44A88A6F8EB}"/>
              </a:ext>
            </a:extLst>
          </p:cNvPr>
          <p:cNvSpPr/>
          <p:nvPr/>
        </p:nvSpPr>
        <p:spPr>
          <a:xfrm>
            <a:off x="661492" y="259209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For categorical data</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79D626A0-6BE3-18FB-094F-4297C24C16F7}"/>
              </a:ext>
            </a:extLst>
          </p:cNvPr>
          <p:cNvSpPr/>
          <p:nvPr/>
        </p:nvSpPr>
        <p:spPr>
          <a:xfrm>
            <a:off x="661492" y="2960589"/>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show frequencies or counts</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F21FCAAF-A689-D909-06D3-DF711EDCD8E1}"/>
              </a:ext>
            </a:extLst>
          </p:cNvPr>
          <p:cNvSpPr/>
          <p:nvPr/>
        </p:nvSpPr>
        <p:spPr>
          <a:xfrm>
            <a:off x="661492" y="3329087"/>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compare categories</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3F0F39C2-D828-E4C1-A3E5-E6D7D4DE838E}"/>
              </a:ext>
            </a:extLst>
          </p:cNvPr>
          <p:cNvSpPr/>
          <p:nvPr/>
        </p:nvSpPr>
        <p:spPr>
          <a:xfrm>
            <a:off x="661492" y="3820518"/>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Tips</a:t>
            </a:r>
            <a:endParaRPr lang="en-US" sz="2800" dirty="0">
              <a:latin typeface="Aptos" panose="020B0004020202020204" pitchFamily="34" charset="0"/>
            </a:endParaRPr>
          </a:p>
        </p:txBody>
      </p:sp>
      <p:sp>
        <p:nvSpPr>
          <p:cNvPr id="9" name="Text 6">
            <a:extLst>
              <a:ext uri="{FF2B5EF4-FFF2-40B4-BE49-F238E27FC236}">
                <a16:creationId xmlns:a16="http://schemas.microsoft.com/office/drawing/2014/main" id="{47ADA979-E682-3507-2D15-A723CFDF97E8}"/>
              </a:ext>
            </a:extLst>
          </p:cNvPr>
          <p:cNvSpPr/>
          <p:nvPr/>
        </p:nvSpPr>
        <p:spPr>
          <a:xfrm>
            <a:off x="661492" y="4304805"/>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Label categories clearly</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8AF172E8-0EA4-3290-F25D-442B6731710E}"/>
              </a:ext>
            </a:extLst>
          </p:cNvPr>
          <p:cNvSpPr/>
          <p:nvPr/>
        </p:nvSpPr>
        <p:spPr>
          <a:xfrm>
            <a:off x="661492" y="4673303"/>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Consider sorting by height</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B623AA4E-704A-3050-D2A6-C7F427F826A5}"/>
              </a:ext>
            </a:extLst>
          </p:cNvPr>
          <p:cNvSpPr/>
          <p:nvPr/>
        </p:nvSpPr>
        <p:spPr>
          <a:xfrm>
            <a:off x="661492" y="504180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Use grouped bars for multiple categories</a:t>
            </a:r>
            <a:endParaRPr lang="en-US" sz="2000" dirty="0">
              <a:latin typeface="Aptos" panose="020B0004020202020204" pitchFamily="34" charset="0"/>
            </a:endParaRPr>
          </a:p>
        </p:txBody>
      </p:sp>
      <p:pic>
        <p:nvPicPr>
          <p:cNvPr id="12" name="Image 0" descr="preencoded.png">
            <a:extLst>
              <a:ext uri="{FF2B5EF4-FFF2-40B4-BE49-F238E27FC236}">
                <a16:creationId xmlns:a16="http://schemas.microsoft.com/office/drawing/2014/main" id="{A2C0F3E8-5216-2893-0C02-9EB23C6C3957}"/>
              </a:ext>
            </a:extLst>
          </p:cNvPr>
          <p:cNvPicPr>
            <a:picLocks noChangeAspect="1"/>
          </p:cNvPicPr>
          <p:nvPr/>
        </p:nvPicPr>
        <p:blipFill>
          <a:blip r:embed="rId2"/>
          <a:stretch>
            <a:fillRect/>
          </a:stretch>
        </p:blipFill>
        <p:spPr>
          <a:xfrm>
            <a:off x="6332935" y="2131418"/>
            <a:ext cx="5203924" cy="3469283"/>
          </a:xfrm>
          <a:prstGeom prst="rect">
            <a:avLst/>
          </a:prstGeom>
        </p:spPr>
      </p:pic>
    </p:spTree>
    <p:extLst>
      <p:ext uri="{BB962C8B-B14F-4D97-AF65-F5344CB8AC3E}">
        <p14:creationId xmlns:p14="http://schemas.microsoft.com/office/powerpoint/2010/main" val="15573792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7E72-5443-049D-21C7-F2A62357CC0A}"/>
              </a:ext>
            </a:extLst>
          </p:cNvPr>
          <p:cNvSpPr>
            <a:spLocks noGrp="1"/>
          </p:cNvSpPr>
          <p:nvPr>
            <p:ph type="title"/>
          </p:nvPr>
        </p:nvSpPr>
        <p:spPr>
          <a:xfrm>
            <a:off x="647205" y="681038"/>
            <a:ext cx="10515600" cy="1325563"/>
          </a:xfrm>
        </p:spPr>
        <p:txBody>
          <a:bodyPr/>
          <a:lstStyle/>
          <a:p>
            <a:r>
              <a:rPr lang="en-US" dirty="0"/>
              <a:t>Histogram</a:t>
            </a:r>
          </a:p>
        </p:txBody>
      </p:sp>
      <p:sp>
        <p:nvSpPr>
          <p:cNvPr id="4" name="Text 1">
            <a:extLst>
              <a:ext uri="{FF2B5EF4-FFF2-40B4-BE49-F238E27FC236}">
                <a16:creationId xmlns:a16="http://schemas.microsoft.com/office/drawing/2014/main" id="{7CEB9CC0-1718-A343-944A-18C1437A7CB1}"/>
              </a:ext>
            </a:extLst>
          </p:cNvPr>
          <p:cNvSpPr/>
          <p:nvPr/>
        </p:nvSpPr>
        <p:spPr>
          <a:xfrm>
            <a:off x="647205" y="2343251"/>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When to Use</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F6881C2E-11C5-2410-5D1C-5B5956DD3275}"/>
              </a:ext>
            </a:extLst>
          </p:cNvPr>
          <p:cNvSpPr/>
          <p:nvPr/>
        </p:nvSpPr>
        <p:spPr>
          <a:xfrm>
            <a:off x="647205" y="2827539"/>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For numerical data</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2A4C3C8F-B596-2FEF-C62B-119CD5CBE392}"/>
              </a:ext>
            </a:extLst>
          </p:cNvPr>
          <p:cNvSpPr/>
          <p:nvPr/>
        </p:nvSpPr>
        <p:spPr>
          <a:xfrm>
            <a:off x="647205" y="3196037"/>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show distribution</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69E5DE99-CDFA-9997-99B1-BD86A07B2A0E}"/>
              </a:ext>
            </a:extLst>
          </p:cNvPr>
          <p:cNvSpPr/>
          <p:nvPr/>
        </p:nvSpPr>
        <p:spPr>
          <a:xfrm>
            <a:off x="647205" y="3564535"/>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see shape, center, spread</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5FE1CF21-6133-3158-C51E-5C54532D9024}"/>
              </a:ext>
            </a:extLst>
          </p:cNvPr>
          <p:cNvSpPr/>
          <p:nvPr/>
        </p:nvSpPr>
        <p:spPr>
          <a:xfrm>
            <a:off x="647205" y="4055966"/>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Tips</a:t>
            </a:r>
            <a:endParaRPr lang="en-US" sz="2800" dirty="0">
              <a:latin typeface="Aptos" panose="020B0004020202020204" pitchFamily="34" charset="0"/>
            </a:endParaRPr>
          </a:p>
        </p:txBody>
      </p:sp>
      <p:sp>
        <p:nvSpPr>
          <p:cNvPr id="9" name="Text 6">
            <a:extLst>
              <a:ext uri="{FF2B5EF4-FFF2-40B4-BE49-F238E27FC236}">
                <a16:creationId xmlns:a16="http://schemas.microsoft.com/office/drawing/2014/main" id="{D24FAEFC-3EB9-66B9-0390-B98A73AE4546}"/>
              </a:ext>
            </a:extLst>
          </p:cNvPr>
          <p:cNvSpPr/>
          <p:nvPr/>
        </p:nvSpPr>
        <p:spPr>
          <a:xfrm>
            <a:off x="647205" y="4540253"/>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Choose appropriate bin width</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AF509C6B-0CAC-982D-8D14-41F6FA778D44}"/>
              </a:ext>
            </a:extLst>
          </p:cNvPr>
          <p:cNvSpPr/>
          <p:nvPr/>
        </p:nvSpPr>
        <p:spPr>
          <a:xfrm>
            <a:off x="647205" y="490875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Label axes clearly</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6AC74FC5-E2C3-C298-4F4B-49557CEC765F}"/>
              </a:ext>
            </a:extLst>
          </p:cNvPr>
          <p:cNvSpPr/>
          <p:nvPr/>
        </p:nvSpPr>
        <p:spPr>
          <a:xfrm>
            <a:off x="647205" y="5277249"/>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Look for patterns in shape</a:t>
            </a:r>
            <a:endParaRPr lang="en-US" sz="2000" dirty="0">
              <a:latin typeface="Aptos" panose="020B0004020202020204" pitchFamily="34" charset="0"/>
            </a:endParaRPr>
          </a:p>
        </p:txBody>
      </p:sp>
      <p:pic>
        <p:nvPicPr>
          <p:cNvPr id="12" name="Image 0" descr="preencoded.png">
            <a:extLst>
              <a:ext uri="{FF2B5EF4-FFF2-40B4-BE49-F238E27FC236}">
                <a16:creationId xmlns:a16="http://schemas.microsoft.com/office/drawing/2014/main" id="{654F66F2-E704-3012-2460-29A9D514179C}"/>
              </a:ext>
            </a:extLst>
          </p:cNvPr>
          <p:cNvPicPr>
            <a:picLocks noChangeAspect="1"/>
          </p:cNvPicPr>
          <p:nvPr/>
        </p:nvPicPr>
        <p:blipFill>
          <a:blip r:embed="rId2"/>
          <a:stretch>
            <a:fillRect/>
          </a:stretch>
        </p:blipFill>
        <p:spPr>
          <a:xfrm>
            <a:off x="6318648" y="2366866"/>
            <a:ext cx="5203924" cy="3469283"/>
          </a:xfrm>
          <a:prstGeom prst="rect">
            <a:avLst/>
          </a:prstGeom>
        </p:spPr>
      </p:pic>
    </p:spTree>
    <p:extLst>
      <p:ext uri="{BB962C8B-B14F-4D97-AF65-F5344CB8AC3E}">
        <p14:creationId xmlns:p14="http://schemas.microsoft.com/office/powerpoint/2010/main" val="42378919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2B943-93DC-FE27-613A-2D58C7F6650B}"/>
              </a:ext>
            </a:extLst>
          </p:cNvPr>
          <p:cNvSpPr>
            <a:spLocks noGrp="1"/>
          </p:cNvSpPr>
          <p:nvPr>
            <p:ph type="title"/>
          </p:nvPr>
        </p:nvSpPr>
        <p:spPr/>
        <p:txBody>
          <a:bodyPr/>
          <a:lstStyle/>
          <a:p>
            <a:r>
              <a:rPr lang="en-US" dirty="0"/>
              <a:t>Boxplot</a:t>
            </a:r>
          </a:p>
        </p:txBody>
      </p:sp>
      <p:sp>
        <p:nvSpPr>
          <p:cNvPr id="4" name="Text 1">
            <a:extLst>
              <a:ext uri="{FF2B5EF4-FFF2-40B4-BE49-F238E27FC236}">
                <a16:creationId xmlns:a16="http://schemas.microsoft.com/office/drawing/2014/main" id="{2838E7D8-6CBE-DF57-CE24-C05037C62BDE}"/>
              </a:ext>
            </a:extLst>
          </p:cNvPr>
          <p:cNvSpPr/>
          <p:nvPr/>
        </p:nvSpPr>
        <p:spPr>
          <a:xfrm>
            <a:off x="838200" y="2401048"/>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When to Use</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DDA6816F-3064-C334-1E9E-CB98D1C47FE0}"/>
              </a:ext>
            </a:extLst>
          </p:cNvPr>
          <p:cNvSpPr/>
          <p:nvPr/>
        </p:nvSpPr>
        <p:spPr>
          <a:xfrm>
            <a:off x="838200" y="2885336"/>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For numerical data</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32203E5A-9502-A3C0-0515-D2EF964A11AC}"/>
              </a:ext>
            </a:extLst>
          </p:cNvPr>
          <p:cNvSpPr/>
          <p:nvPr/>
        </p:nvSpPr>
        <p:spPr>
          <a:xfrm>
            <a:off x="838200" y="3253834"/>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show distribution summary</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9471D9E7-47A0-14E1-F086-BB6D93925F87}"/>
              </a:ext>
            </a:extLst>
          </p:cNvPr>
          <p:cNvSpPr/>
          <p:nvPr/>
        </p:nvSpPr>
        <p:spPr>
          <a:xfrm>
            <a:off x="838200" y="3622332"/>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compare groups</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A89C1D69-3C8B-3F7D-F8E9-102E70588A13}"/>
              </a:ext>
            </a:extLst>
          </p:cNvPr>
          <p:cNvSpPr/>
          <p:nvPr/>
        </p:nvSpPr>
        <p:spPr>
          <a:xfrm>
            <a:off x="838200" y="411376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Tips</a:t>
            </a:r>
            <a:endParaRPr lang="en-US" sz="2800" dirty="0">
              <a:latin typeface="Aptos" panose="020B0004020202020204" pitchFamily="34" charset="0"/>
            </a:endParaRPr>
          </a:p>
        </p:txBody>
      </p:sp>
      <p:sp>
        <p:nvSpPr>
          <p:cNvPr id="9" name="Text 6">
            <a:extLst>
              <a:ext uri="{FF2B5EF4-FFF2-40B4-BE49-F238E27FC236}">
                <a16:creationId xmlns:a16="http://schemas.microsoft.com/office/drawing/2014/main" id="{C1C69102-ABEF-2F10-9857-1AFF1DE60BED}"/>
              </a:ext>
            </a:extLst>
          </p:cNvPr>
          <p:cNvSpPr/>
          <p:nvPr/>
        </p:nvSpPr>
        <p:spPr>
          <a:xfrm>
            <a:off x="838200" y="4598050"/>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Note the median (middle line)</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E35A5E23-ECFD-0868-B24B-6A4166FE3A2C}"/>
              </a:ext>
            </a:extLst>
          </p:cNvPr>
          <p:cNvSpPr/>
          <p:nvPr/>
        </p:nvSpPr>
        <p:spPr>
          <a:xfrm>
            <a:off x="838200" y="4966548"/>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Check for outliers (dots)</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477C2525-5D58-C3EE-B032-01B62A106647}"/>
              </a:ext>
            </a:extLst>
          </p:cNvPr>
          <p:cNvSpPr/>
          <p:nvPr/>
        </p:nvSpPr>
        <p:spPr>
          <a:xfrm>
            <a:off x="838200" y="5335046"/>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Compare box sizes for spread</a:t>
            </a:r>
            <a:endParaRPr lang="en-US" sz="2000" dirty="0">
              <a:latin typeface="Aptos" panose="020B0004020202020204" pitchFamily="34" charset="0"/>
            </a:endParaRPr>
          </a:p>
        </p:txBody>
      </p:sp>
      <p:pic>
        <p:nvPicPr>
          <p:cNvPr id="12" name="Image 0" descr="preencoded.png">
            <a:extLst>
              <a:ext uri="{FF2B5EF4-FFF2-40B4-BE49-F238E27FC236}">
                <a16:creationId xmlns:a16="http://schemas.microsoft.com/office/drawing/2014/main" id="{944BB7A5-DB7C-7ABA-F2EC-F86C2E4C15E4}"/>
              </a:ext>
            </a:extLst>
          </p:cNvPr>
          <p:cNvPicPr>
            <a:picLocks noChangeAspect="1"/>
          </p:cNvPicPr>
          <p:nvPr/>
        </p:nvPicPr>
        <p:blipFill>
          <a:blip r:embed="rId2"/>
          <a:stretch>
            <a:fillRect/>
          </a:stretch>
        </p:blipFill>
        <p:spPr>
          <a:xfrm>
            <a:off x="6509643" y="2424663"/>
            <a:ext cx="5203924" cy="3469283"/>
          </a:xfrm>
          <a:prstGeom prst="rect">
            <a:avLst/>
          </a:prstGeom>
        </p:spPr>
      </p:pic>
    </p:spTree>
    <p:extLst>
      <p:ext uri="{BB962C8B-B14F-4D97-AF65-F5344CB8AC3E}">
        <p14:creationId xmlns:p14="http://schemas.microsoft.com/office/powerpoint/2010/main" val="38078537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0A54-2DC4-CC7A-C431-D7837F966841}"/>
              </a:ext>
            </a:extLst>
          </p:cNvPr>
          <p:cNvSpPr>
            <a:spLocks noGrp="1"/>
          </p:cNvSpPr>
          <p:nvPr>
            <p:ph type="title"/>
          </p:nvPr>
        </p:nvSpPr>
        <p:spPr/>
        <p:txBody>
          <a:bodyPr/>
          <a:lstStyle/>
          <a:p>
            <a:r>
              <a:rPr lang="en-US" dirty="0"/>
              <a:t>Scatterplot</a:t>
            </a:r>
          </a:p>
        </p:txBody>
      </p:sp>
      <p:sp>
        <p:nvSpPr>
          <p:cNvPr id="4" name="Text 1">
            <a:extLst>
              <a:ext uri="{FF2B5EF4-FFF2-40B4-BE49-F238E27FC236}">
                <a16:creationId xmlns:a16="http://schemas.microsoft.com/office/drawing/2014/main" id="{6E7D0562-3108-4EDB-CA8D-FC55878AFEA3}"/>
              </a:ext>
            </a:extLst>
          </p:cNvPr>
          <p:cNvSpPr/>
          <p:nvPr/>
        </p:nvSpPr>
        <p:spPr>
          <a:xfrm>
            <a:off x="732929" y="242466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When to Use</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6D101CF9-41F8-7157-4719-B12CB6959595}"/>
              </a:ext>
            </a:extLst>
          </p:cNvPr>
          <p:cNvSpPr/>
          <p:nvPr/>
        </p:nvSpPr>
        <p:spPr>
          <a:xfrm>
            <a:off x="732929" y="290895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For two numerical variables</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5AAD47D2-F716-F56A-427E-E5D7ECD32122}"/>
              </a:ext>
            </a:extLst>
          </p:cNvPr>
          <p:cNvSpPr/>
          <p:nvPr/>
        </p:nvSpPr>
        <p:spPr>
          <a:xfrm>
            <a:off x="732929" y="3277449"/>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show relationships</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6A3400C8-66C4-3B1E-D6CB-09D4FFDC0A92}"/>
              </a:ext>
            </a:extLst>
          </p:cNvPr>
          <p:cNvSpPr/>
          <p:nvPr/>
        </p:nvSpPr>
        <p:spPr>
          <a:xfrm>
            <a:off x="732929" y="3645947"/>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identify correlation</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E884C316-432A-7716-C5EA-2433E1F9F5B8}"/>
              </a:ext>
            </a:extLst>
          </p:cNvPr>
          <p:cNvSpPr/>
          <p:nvPr/>
        </p:nvSpPr>
        <p:spPr>
          <a:xfrm>
            <a:off x="732929" y="4137378"/>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Tips</a:t>
            </a:r>
            <a:endParaRPr lang="en-US" sz="2800" dirty="0">
              <a:latin typeface="Aptos" panose="020B0004020202020204" pitchFamily="34" charset="0"/>
            </a:endParaRPr>
          </a:p>
        </p:txBody>
      </p:sp>
      <p:sp>
        <p:nvSpPr>
          <p:cNvPr id="9" name="Text 6">
            <a:extLst>
              <a:ext uri="{FF2B5EF4-FFF2-40B4-BE49-F238E27FC236}">
                <a16:creationId xmlns:a16="http://schemas.microsoft.com/office/drawing/2014/main" id="{4EC392FE-2EE6-AD05-DD66-D473C7DA3362}"/>
              </a:ext>
            </a:extLst>
          </p:cNvPr>
          <p:cNvSpPr/>
          <p:nvPr/>
        </p:nvSpPr>
        <p:spPr>
          <a:xfrm>
            <a:off x="732929" y="4621665"/>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Look for trends (up/down)</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9CED167F-A714-E4DB-D2D9-63925D195093}"/>
              </a:ext>
            </a:extLst>
          </p:cNvPr>
          <p:cNvSpPr/>
          <p:nvPr/>
        </p:nvSpPr>
        <p:spPr>
          <a:xfrm>
            <a:off x="732929" y="4990163"/>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Check for outliers</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B554E528-532D-6B02-1AD1-C24E02452D18}"/>
              </a:ext>
            </a:extLst>
          </p:cNvPr>
          <p:cNvSpPr/>
          <p:nvPr/>
        </p:nvSpPr>
        <p:spPr>
          <a:xfrm>
            <a:off x="732929" y="5358661"/>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Consider adding a trend line</a:t>
            </a:r>
            <a:endParaRPr lang="en-US" sz="2000" dirty="0">
              <a:latin typeface="Aptos" panose="020B0004020202020204" pitchFamily="34" charset="0"/>
            </a:endParaRPr>
          </a:p>
        </p:txBody>
      </p:sp>
      <p:pic>
        <p:nvPicPr>
          <p:cNvPr id="12" name="Image 0" descr="preencoded.png">
            <a:extLst>
              <a:ext uri="{FF2B5EF4-FFF2-40B4-BE49-F238E27FC236}">
                <a16:creationId xmlns:a16="http://schemas.microsoft.com/office/drawing/2014/main" id="{C605E246-1753-2989-6F55-A1F648F47318}"/>
              </a:ext>
            </a:extLst>
          </p:cNvPr>
          <p:cNvPicPr>
            <a:picLocks noChangeAspect="1"/>
          </p:cNvPicPr>
          <p:nvPr/>
        </p:nvPicPr>
        <p:blipFill>
          <a:blip r:embed="rId2"/>
          <a:stretch>
            <a:fillRect/>
          </a:stretch>
        </p:blipFill>
        <p:spPr>
          <a:xfrm>
            <a:off x="6404372" y="2448278"/>
            <a:ext cx="5203924" cy="3469283"/>
          </a:xfrm>
          <a:prstGeom prst="rect">
            <a:avLst/>
          </a:prstGeom>
        </p:spPr>
      </p:pic>
    </p:spTree>
    <p:extLst>
      <p:ext uri="{BB962C8B-B14F-4D97-AF65-F5344CB8AC3E}">
        <p14:creationId xmlns:p14="http://schemas.microsoft.com/office/powerpoint/2010/main" val="31806070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03EA-DC14-CB57-C9A5-1ED38BF3E8E2}"/>
              </a:ext>
            </a:extLst>
          </p:cNvPr>
          <p:cNvSpPr>
            <a:spLocks noGrp="1"/>
          </p:cNvSpPr>
          <p:nvPr>
            <p:ph type="title"/>
          </p:nvPr>
        </p:nvSpPr>
        <p:spPr/>
        <p:txBody>
          <a:bodyPr/>
          <a:lstStyle/>
          <a:p>
            <a:r>
              <a:rPr lang="en-US" dirty="0"/>
              <a:t>Line Chart</a:t>
            </a:r>
          </a:p>
        </p:txBody>
      </p:sp>
      <p:sp>
        <p:nvSpPr>
          <p:cNvPr id="4" name="Text 1">
            <a:extLst>
              <a:ext uri="{FF2B5EF4-FFF2-40B4-BE49-F238E27FC236}">
                <a16:creationId xmlns:a16="http://schemas.microsoft.com/office/drawing/2014/main" id="{9DC5900C-44FF-141D-09DF-CC0673A17F3A}"/>
              </a:ext>
            </a:extLst>
          </p:cNvPr>
          <p:cNvSpPr/>
          <p:nvPr/>
        </p:nvSpPr>
        <p:spPr>
          <a:xfrm>
            <a:off x="892076" y="2456964"/>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When to Use</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EFB56958-7C0C-2118-6514-B6059D525199}"/>
              </a:ext>
            </a:extLst>
          </p:cNvPr>
          <p:cNvSpPr/>
          <p:nvPr/>
        </p:nvSpPr>
        <p:spPr>
          <a:xfrm>
            <a:off x="892076" y="2941252"/>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For data over time or sequence</a:t>
            </a:r>
            <a:endParaRPr lang="en-US" sz="2000" dirty="0">
              <a:latin typeface="Aptos" panose="020B0004020202020204" pitchFamily="34" charset="0"/>
            </a:endParaRPr>
          </a:p>
        </p:txBody>
      </p:sp>
      <p:sp>
        <p:nvSpPr>
          <p:cNvPr id="6" name="Text 3">
            <a:extLst>
              <a:ext uri="{FF2B5EF4-FFF2-40B4-BE49-F238E27FC236}">
                <a16:creationId xmlns:a16="http://schemas.microsoft.com/office/drawing/2014/main" id="{6A69F4A1-00B2-AFDB-615D-A403BF80D596}"/>
              </a:ext>
            </a:extLst>
          </p:cNvPr>
          <p:cNvSpPr/>
          <p:nvPr/>
        </p:nvSpPr>
        <p:spPr>
          <a:xfrm>
            <a:off x="892076" y="3309750"/>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show trends</a:t>
            </a:r>
            <a:endParaRPr lang="en-US" sz="2000" dirty="0">
              <a:latin typeface="Aptos" panose="020B0004020202020204" pitchFamily="34" charset="0"/>
            </a:endParaRPr>
          </a:p>
        </p:txBody>
      </p:sp>
      <p:sp>
        <p:nvSpPr>
          <p:cNvPr id="7" name="Text 4">
            <a:extLst>
              <a:ext uri="{FF2B5EF4-FFF2-40B4-BE49-F238E27FC236}">
                <a16:creationId xmlns:a16="http://schemas.microsoft.com/office/drawing/2014/main" id="{6EDBFD49-A379-170F-DE06-3ADB79F91789}"/>
              </a:ext>
            </a:extLst>
          </p:cNvPr>
          <p:cNvSpPr/>
          <p:nvPr/>
        </p:nvSpPr>
        <p:spPr>
          <a:xfrm>
            <a:off x="892076" y="3678248"/>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To track changes</a:t>
            </a:r>
            <a:endParaRPr lang="en-US" sz="2000" dirty="0">
              <a:latin typeface="Aptos" panose="020B0004020202020204" pitchFamily="34" charset="0"/>
            </a:endParaRPr>
          </a:p>
        </p:txBody>
      </p:sp>
      <p:sp>
        <p:nvSpPr>
          <p:cNvPr id="8" name="Text 5">
            <a:extLst>
              <a:ext uri="{FF2B5EF4-FFF2-40B4-BE49-F238E27FC236}">
                <a16:creationId xmlns:a16="http://schemas.microsoft.com/office/drawing/2014/main" id="{57A00BAA-2BB2-C988-EE07-519D22C5BF2C}"/>
              </a:ext>
            </a:extLst>
          </p:cNvPr>
          <p:cNvSpPr/>
          <p:nvPr/>
        </p:nvSpPr>
        <p:spPr>
          <a:xfrm>
            <a:off x="892076" y="4169679"/>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Tips</a:t>
            </a:r>
            <a:endParaRPr lang="en-US" sz="2800" dirty="0">
              <a:latin typeface="Aptos" panose="020B0004020202020204" pitchFamily="34" charset="0"/>
            </a:endParaRPr>
          </a:p>
        </p:txBody>
      </p:sp>
      <p:sp>
        <p:nvSpPr>
          <p:cNvPr id="9" name="Text 6">
            <a:extLst>
              <a:ext uri="{FF2B5EF4-FFF2-40B4-BE49-F238E27FC236}">
                <a16:creationId xmlns:a16="http://schemas.microsoft.com/office/drawing/2014/main" id="{F1F55AA7-A218-8258-B5E0-FA0AC34ADE65}"/>
              </a:ext>
            </a:extLst>
          </p:cNvPr>
          <p:cNvSpPr/>
          <p:nvPr/>
        </p:nvSpPr>
        <p:spPr>
          <a:xfrm>
            <a:off x="892076" y="4653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Only use when x-axis has natural order</a:t>
            </a:r>
            <a:endParaRPr lang="en-US" sz="2000" dirty="0">
              <a:latin typeface="Aptos" panose="020B0004020202020204" pitchFamily="34" charset="0"/>
            </a:endParaRPr>
          </a:p>
        </p:txBody>
      </p:sp>
      <p:sp>
        <p:nvSpPr>
          <p:cNvPr id="10" name="Text 7">
            <a:extLst>
              <a:ext uri="{FF2B5EF4-FFF2-40B4-BE49-F238E27FC236}">
                <a16:creationId xmlns:a16="http://schemas.microsoft.com/office/drawing/2014/main" id="{40B40B26-8387-BD44-BE09-B0FC3163A2E9}"/>
              </a:ext>
            </a:extLst>
          </p:cNvPr>
          <p:cNvSpPr/>
          <p:nvPr/>
        </p:nvSpPr>
        <p:spPr>
          <a:xfrm>
            <a:off x="892076" y="5022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Label time points clearly</a:t>
            </a:r>
            <a:endParaRPr lang="en-US" sz="2000" dirty="0">
              <a:latin typeface="Aptos" panose="020B0004020202020204" pitchFamily="34" charset="0"/>
            </a:endParaRPr>
          </a:p>
        </p:txBody>
      </p:sp>
      <p:sp>
        <p:nvSpPr>
          <p:cNvPr id="11" name="Text 8">
            <a:extLst>
              <a:ext uri="{FF2B5EF4-FFF2-40B4-BE49-F238E27FC236}">
                <a16:creationId xmlns:a16="http://schemas.microsoft.com/office/drawing/2014/main" id="{FD93AC13-4102-18DC-624C-311253F42D4B}"/>
              </a:ext>
            </a:extLst>
          </p:cNvPr>
          <p:cNvSpPr/>
          <p:nvPr/>
        </p:nvSpPr>
        <p:spPr>
          <a:xfrm>
            <a:off x="892076" y="5390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2000" dirty="0">
                <a:solidFill>
                  <a:srgbClr val="000000"/>
                </a:solidFill>
                <a:latin typeface="Aptos" panose="020B0004020202020204" pitchFamily="34" charset="0"/>
                <a:ea typeface="Inter" pitchFamily="34" charset="-122"/>
                <a:cs typeface="Inter" pitchFamily="34" charset="-120"/>
              </a:rPr>
              <a:t>Consider multiple lines for comparison</a:t>
            </a:r>
            <a:endParaRPr lang="en-US" sz="2000" dirty="0">
              <a:latin typeface="Aptos" panose="020B0004020202020204" pitchFamily="34" charset="0"/>
            </a:endParaRPr>
          </a:p>
        </p:txBody>
      </p:sp>
      <p:pic>
        <p:nvPicPr>
          <p:cNvPr id="12" name="Image 0" descr="preencoded.png">
            <a:extLst>
              <a:ext uri="{FF2B5EF4-FFF2-40B4-BE49-F238E27FC236}">
                <a16:creationId xmlns:a16="http://schemas.microsoft.com/office/drawing/2014/main" id="{AA09CB6C-6A69-C9D9-36A3-67327FB8AAB0}"/>
              </a:ext>
            </a:extLst>
          </p:cNvPr>
          <p:cNvPicPr>
            <a:picLocks noChangeAspect="1"/>
          </p:cNvPicPr>
          <p:nvPr/>
        </p:nvPicPr>
        <p:blipFill>
          <a:blip r:embed="rId2"/>
          <a:stretch>
            <a:fillRect/>
          </a:stretch>
        </p:blipFill>
        <p:spPr>
          <a:xfrm>
            <a:off x="6563519" y="2480579"/>
            <a:ext cx="5203924" cy="3469283"/>
          </a:xfrm>
          <a:prstGeom prst="rect">
            <a:avLst/>
          </a:prstGeom>
        </p:spPr>
      </p:pic>
    </p:spTree>
    <p:extLst>
      <p:ext uri="{BB962C8B-B14F-4D97-AF65-F5344CB8AC3E}">
        <p14:creationId xmlns:p14="http://schemas.microsoft.com/office/powerpoint/2010/main" val="23434319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3810D73F-B01F-6C9D-4CD5-A847A1CC208A}"/>
              </a:ext>
            </a:extLst>
          </p:cNvPr>
          <p:cNvPicPr>
            <a:picLocks noChangeAspect="1"/>
          </p:cNvPicPr>
          <p:nvPr/>
        </p:nvPicPr>
        <p:blipFill>
          <a:blip r:embed="rId2"/>
          <a:stretch>
            <a:fillRect/>
          </a:stretch>
        </p:blipFill>
        <p:spPr>
          <a:xfrm>
            <a:off x="0" y="0"/>
            <a:ext cx="4572000" cy="6858000"/>
          </a:xfrm>
          <a:prstGeom prst="rect">
            <a:avLst/>
          </a:prstGeom>
        </p:spPr>
      </p:pic>
      <p:sp>
        <p:nvSpPr>
          <p:cNvPr id="5" name="Text 0">
            <a:extLst>
              <a:ext uri="{FF2B5EF4-FFF2-40B4-BE49-F238E27FC236}">
                <a16:creationId xmlns:a16="http://schemas.microsoft.com/office/drawing/2014/main" id="{A1D84BA4-237A-7F4E-56EB-D6F56C938976}"/>
              </a:ext>
            </a:extLst>
          </p:cNvPr>
          <p:cNvSpPr/>
          <p:nvPr/>
        </p:nvSpPr>
        <p:spPr>
          <a:xfrm>
            <a:off x="5233492" y="872927"/>
            <a:ext cx="6002437" cy="590649"/>
          </a:xfrm>
          <a:prstGeom prst="rect">
            <a:avLst/>
          </a:prstGeom>
          <a:noFill/>
          <a:ln/>
        </p:spPr>
        <p:txBody>
          <a:bodyPr wrap="none" lIns="0" tIns="0" rIns="0" bIns="0" rtlCol="0" anchor="t"/>
          <a:lstStyle/>
          <a:p>
            <a:pPr>
              <a:lnSpc>
                <a:spcPts val="462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Visualization Best Practices</a:t>
            </a:r>
            <a:endParaRPr lang="en-US" sz="4400" dirty="0">
              <a:latin typeface="Aptos" panose="020B0004020202020204" pitchFamily="34" charset="0"/>
            </a:endParaRPr>
          </a:p>
        </p:txBody>
      </p:sp>
      <p:sp>
        <p:nvSpPr>
          <p:cNvPr id="6" name="Shape 1">
            <a:extLst>
              <a:ext uri="{FF2B5EF4-FFF2-40B4-BE49-F238E27FC236}">
                <a16:creationId xmlns:a16="http://schemas.microsoft.com/office/drawing/2014/main" id="{53446AEF-495B-8A2A-20F5-A07935725C53}"/>
              </a:ext>
            </a:extLst>
          </p:cNvPr>
          <p:cNvSpPr/>
          <p:nvPr/>
        </p:nvSpPr>
        <p:spPr>
          <a:xfrm>
            <a:off x="5233492" y="174704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7" name="Image 1" descr="preencoded.png">
            <a:extLst>
              <a:ext uri="{FF2B5EF4-FFF2-40B4-BE49-F238E27FC236}">
                <a16:creationId xmlns:a16="http://schemas.microsoft.com/office/drawing/2014/main" id="{55A8ECE3-B2F6-2DD6-06EB-8BBF2272288B}"/>
              </a:ext>
            </a:extLst>
          </p:cNvPr>
          <p:cNvPicPr>
            <a:picLocks noChangeAspect="1"/>
          </p:cNvPicPr>
          <p:nvPr/>
        </p:nvPicPr>
        <p:blipFill>
          <a:blip r:embed="rId3"/>
          <a:stretch>
            <a:fillRect/>
          </a:stretch>
        </p:blipFill>
        <p:spPr>
          <a:xfrm>
            <a:off x="5304384" y="1782466"/>
            <a:ext cx="283468" cy="354409"/>
          </a:xfrm>
          <a:prstGeom prst="rect">
            <a:avLst/>
          </a:prstGeom>
        </p:spPr>
      </p:pic>
      <p:sp>
        <p:nvSpPr>
          <p:cNvPr id="8" name="Text 2">
            <a:extLst>
              <a:ext uri="{FF2B5EF4-FFF2-40B4-BE49-F238E27FC236}">
                <a16:creationId xmlns:a16="http://schemas.microsoft.com/office/drawing/2014/main" id="{3362511C-AE94-92ED-348D-65B49E40BD71}"/>
              </a:ext>
            </a:extLst>
          </p:cNvPr>
          <p:cNvSpPr/>
          <p:nvPr/>
        </p:nvSpPr>
        <p:spPr>
          <a:xfrm>
            <a:off x="5847755" y="181193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Label Everything</a:t>
            </a:r>
            <a:endParaRPr lang="en-US" sz="2400" dirty="0">
              <a:latin typeface="Aptos" panose="020B0004020202020204" pitchFamily="34" charset="0"/>
            </a:endParaRPr>
          </a:p>
        </p:txBody>
      </p:sp>
      <p:sp>
        <p:nvSpPr>
          <p:cNvPr id="9" name="Text 3">
            <a:extLst>
              <a:ext uri="{FF2B5EF4-FFF2-40B4-BE49-F238E27FC236}">
                <a16:creationId xmlns:a16="http://schemas.microsoft.com/office/drawing/2014/main" id="{C4CA5A37-183F-DDA3-98F3-16438284072E}"/>
              </a:ext>
            </a:extLst>
          </p:cNvPr>
          <p:cNvSpPr/>
          <p:nvPr/>
        </p:nvSpPr>
        <p:spPr>
          <a:xfrm>
            <a:off x="5847756" y="2220616"/>
            <a:ext cx="5682754"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Include clear titles, axis labels, and legends</a:t>
            </a:r>
            <a:endParaRPr lang="en-US" dirty="0">
              <a:latin typeface="Aptos" panose="020B0004020202020204" pitchFamily="34" charset="0"/>
            </a:endParaRPr>
          </a:p>
        </p:txBody>
      </p:sp>
      <p:sp>
        <p:nvSpPr>
          <p:cNvPr id="10" name="Shape 4">
            <a:extLst>
              <a:ext uri="{FF2B5EF4-FFF2-40B4-BE49-F238E27FC236}">
                <a16:creationId xmlns:a16="http://schemas.microsoft.com/office/drawing/2014/main" id="{E149F4B3-326F-E992-B2C9-5C09EED5595B}"/>
              </a:ext>
            </a:extLst>
          </p:cNvPr>
          <p:cNvSpPr/>
          <p:nvPr/>
        </p:nvSpPr>
        <p:spPr>
          <a:xfrm>
            <a:off x="5233492" y="2901057"/>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1" name="Image 2" descr="preencoded.png">
            <a:extLst>
              <a:ext uri="{FF2B5EF4-FFF2-40B4-BE49-F238E27FC236}">
                <a16:creationId xmlns:a16="http://schemas.microsoft.com/office/drawing/2014/main" id="{7D78E93E-E178-B39A-EFD6-3084C5AD7893}"/>
              </a:ext>
            </a:extLst>
          </p:cNvPr>
          <p:cNvPicPr>
            <a:picLocks noChangeAspect="1"/>
          </p:cNvPicPr>
          <p:nvPr/>
        </p:nvPicPr>
        <p:blipFill>
          <a:blip r:embed="rId4"/>
          <a:stretch>
            <a:fillRect/>
          </a:stretch>
        </p:blipFill>
        <p:spPr>
          <a:xfrm>
            <a:off x="5304384" y="2936479"/>
            <a:ext cx="283468" cy="354409"/>
          </a:xfrm>
          <a:prstGeom prst="rect">
            <a:avLst/>
          </a:prstGeom>
        </p:spPr>
      </p:pic>
      <p:sp>
        <p:nvSpPr>
          <p:cNvPr id="12" name="Text 5">
            <a:extLst>
              <a:ext uri="{FF2B5EF4-FFF2-40B4-BE49-F238E27FC236}">
                <a16:creationId xmlns:a16="http://schemas.microsoft.com/office/drawing/2014/main" id="{78ADB871-4B15-9726-E51E-2871F0E3E672}"/>
              </a:ext>
            </a:extLst>
          </p:cNvPr>
          <p:cNvSpPr/>
          <p:nvPr/>
        </p:nvSpPr>
        <p:spPr>
          <a:xfrm>
            <a:off x="5847755" y="296594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Keep It Simple</a:t>
            </a:r>
            <a:endParaRPr lang="en-US" sz="2400" dirty="0">
              <a:latin typeface="Aptos" panose="020B0004020202020204" pitchFamily="34" charset="0"/>
            </a:endParaRPr>
          </a:p>
        </p:txBody>
      </p:sp>
      <p:sp>
        <p:nvSpPr>
          <p:cNvPr id="13" name="Text 6">
            <a:extLst>
              <a:ext uri="{FF2B5EF4-FFF2-40B4-BE49-F238E27FC236}">
                <a16:creationId xmlns:a16="http://schemas.microsoft.com/office/drawing/2014/main" id="{957FCBFB-F36F-5C56-5233-FC241C722C63}"/>
              </a:ext>
            </a:extLst>
          </p:cNvPr>
          <p:cNvSpPr/>
          <p:nvPr/>
        </p:nvSpPr>
        <p:spPr>
          <a:xfrm>
            <a:off x="5847756" y="3374629"/>
            <a:ext cx="5682754"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Don't overload one chart with too much information</a:t>
            </a:r>
            <a:endParaRPr lang="en-US" dirty="0">
              <a:latin typeface="Aptos" panose="020B0004020202020204" pitchFamily="34" charset="0"/>
            </a:endParaRPr>
          </a:p>
        </p:txBody>
      </p:sp>
      <p:sp>
        <p:nvSpPr>
          <p:cNvPr id="14" name="Shape 7">
            <a:extLst>
              <a:ext uri="{FF2B5EF4-FFF2-40B4-BE49-F238E27FC236}">
                <a16:creationId xmlns:a16="http://schemas.microsoft.com/office/drawing/2014/main" id="{A4E72481-50EE-3869-0800-0990C6325259}"/>
              </a:ext>
            </a:extLst>
          </p:cNvPr>
          <p:cNvSpPr/>
          <p:nvPr/>
        </p:nvSpPr>
        <p:spPr>
          <a:xfrm>
            <a:off x="5233492" y="4055070"/>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5" name="Image 3" descr="preencoded.png">
            <a:extLst>
              <a:ext uri="{FF2B5EF4-FFF2-40B4-BE49-F238E27FC236}">
                <a16:creationId xmlns:a16="http://schemas.microsoft.com/office/drawing/2014/main" id="{8C1D2560-D54C-A472-A323-3F7BD5878314}"/>
              </a:ext>
            </a:extLst>
          </p:cNvPr>
          <p:cNvPicPr>
            <a:picLocks noChangeAspect="1"/>
          </p:cNvPicPr>
          <p:nvPr/>
        </p:nvPicPr>
        <p:blipFill>
          <a:blip r:embed="rId5"/>
          <a:stretch>
            <a:fillRect/>
          </a:stretch>
        </p:blipFill>
        <p:spPr>
          <a:xfrm>
            <a:off x="5304384" y="4090492"/>
            <a:ext cx="283468" cy="354409"/>
          </a:xfrm>
          <a:prstGeom prst="rect">
            <a:avLst/>
          </a:prstGeom>
        </p:spPr>
      </p:pic>
      <p:sp>
        <p:nvSpPr>
          <p:cNvPr id="16" name="Text 8">
            <a:extLst>
              <a:ext uri="{FF2B5EF4-FFF2-40B4-BE49-F238E27FC236}">
                <a16:creationId xmlns:a16="http://schemas.microsoft.com/office/drawing/2014/main" id="{D4A175A0-E367-2BB9-D44C-6AF8C422B9F9}"/>
              </a:ext>
            </a:extLst>
          </p:cNvPr>
          <p:cNvSpPr/>
          <p:nvPr/>
        </p:nvSpPr>
        <p:spPr>
          <a:xfrm>
            <a:off x="5847755" y="4119959"/>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Use Color Wisely</a:t>
            </a:r>
            <a:endParaRPr lang="en-US" sz="2400" dirty="0">
              <a:latin typeface="Aptos" panose="020B0004020202020204" pitchFamily="34" charset="0"/>
            </a:endParaRPr>
          </a:p>
        </p:txBody>
      </p:sp>
      <p:sp>
        <p:nvSpPr>
          <p:cNvPr id="17" name="Text 9">
            <a:extLst>
              <a:ext uri="{FF2B5EF4-FFF2-40B4-BE49-F238E27FC236}">
                <a16:creationId xmlns:a16="http://schemas.microsoft.com/office/drawing/2014/main" id="{728EAF0A-13B7-28BC-8AA2-AAAA78685E89}"/>
              </a:ext>
            </a:extLst>
          </p:cNvPr>
          <p:cNvSpPr/>
          <p:nvPr/>
        </p:nvSpPr>
        <p:spPr>
          <a:xfrm>
            <a:off x="5847756" y="4528642"/>
            <a:ext cx="5682754"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Colors should enhance understanding, not confuse</a:t>
            </a:r>
            <a:endParaRPr lang="en-US" dirty="0">
              <a:latin typeface="Aptos" panose="020B0004020202020204" pitchFamily="34" charset="0"/>
            </a:endParaRPr>
          </a:p>
        </p:txBody>
      </p:sp>
      <p:sp>
        <p:nvSpPr>
          <p:cNvPr id="18" name="Shape 10">
            <a:extLst>
              <a:ext uri="{FF2B5EF4-FFF2-40B4-BE49-F238E27FC236}">
                <a16:creationId xmlns:a16="http://schemas.microsoft.com/office/drawing/2014/main" id="{71DDED42-8838-0280-1326-3FEB039921BE}"/>
              </a:ext>
            </a:extLst>
          </p:cNvPr>
          <p:cNvSpPr/>
          <p:nvPr/>
        </p:nvSpPr>
        <p:spPr>
          <a:xfrm>
            <a:off x="5233492" y="5209083"/>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9" name="Image 4" descr="preencoded.png">
            <a:extLst>
              <a:ext uri="{FF2B5EF4-FFF2-40B4-BE49-F238E27FC236}">
                <a16:creationId xmlns:a16="http://schemas.microsoft.com/office/drawing/2014/main" id="{C157C67F-8F89-D890-A0B5-7999791D1A34}"/>
              </a:ext>
            </a:extLst>
          </p:cNvPr>
          <p:cNvPicPr>
            <a:picLocks noChangeAspect="1"/>
          </p:cNvPicPr>
          <p:nvPr/>
        </p:nvPicPr>
        <p:blipFill>
          <a:blip r:embed="rId6"/>
          <a:stretch>
            <a:fillRect/>
          </a:stretch>
        </p:blipFill>
        <p:spPr>
          <a:xfrm>
            <a:off x="5304384" y="5244506"/>
            <a:ext cx="283468" cy="354409"/>
          </a:xfrm>
          <a:prstGeom prst="rect">
            <a:avLst/>
          </a:prstGeom>
        </p:spPr>
      </p:pic>
      <p:sp>
        <p:nvSpPr>
          <p:cNvPr id="20" name="Text 11">
            <a:extLst>
              <a:ext uri="{FF2B5EF4-FFF2-40B4-BE49-F238E27FC236}">
                <a16:creationId xmlns:a16="http://schemas.microsoft.com/office/drawing/2014/main" id="{A0D40C8B-F02A-0BCD-5835-EFE79977D298}"/>
              </a:ext>
            </a:extLst>
          </p:cNvPr>
          <p:cNvSpPr/>
          <p:nvPr/>
        </p:nvSpPr>
        <p:spPr>
          <a:xfrm>
            <a:off x="5847755" y="527397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Double-Check</a:t>
            </a:r>
            <a:endParaRPr lang="en-US" sz="2400" dirty="0">
              <a:latin typeface="Aptos" panose="020B0004020202020204" pitchFamily="34" charset="0"/>
            </a:endParaRPr>
          </a:p>
        </p:txBody>
      </p:sp>
      <p:sp>
        <p:nvSpPr>
          <p:cNvPr id="21" name="Text 12">
            <a:extLst>
              <a:ext uri="{FF2B5EF4-FFF2-40B4-BE49-F238E27FC236}">
                <a16:creationId xmlns:a16="http://schemas.microsoft.com/office/drawing/2014/main" id="{7FEB936B-026D-9A26-DE4E-0EE99F9FB6C7}"/>
              </a:ext>
            </a:extLst>
          </p:cNvPr>
          <p:cNvSpPr/>
          <p:nvPr/>
        </p:nvSpPr>
        <p:spPr>
          <a:xfrm>
            <a:off x="5847756" y="5682656"/>
            <a:ext cx="5682754"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If something looks odd, verify the data</a:t>
            </a:r>
            <a:endParaRPr lang="en-US" dirty="0">
              <a:latin typeface="Aptos" panose="020B0004020202020204" pitchFamily="34" charset="0"/>
            </a:endParaRPr>
          </a:p>
        </p:txBody>
      </p:sp>
    </p:spTree>
    <p:extLst>
      <p:ext uri="{BB962C8B-B14F-4D97-AF65-F5344CB8AC3E}">
        <p14:creationId xmlns:p14="http://schemas.microsoft.com/office/powerpoint/2010/main" val="1985558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D72D1-B98C-A0D7-B7D1-E51BF8E4D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1FFFB-C107-2F25-45EF-5426567B6345}"/>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7957A2C0-8EDF-CD3C-A3DB-7E266155ACEE}"/>
              </a:ext>
            </a:extLst>
          </p:cNvPr>
          <p:cNvSpPr>
            <a:spLocks noGrp="1"/>
          </p:cNvSpPr>
          <p:nvPr>
            <p:ph type="subTitle" idx="1"/>
          </p:nvPr>
        </p:nvSpPr>
        <p:spPr>
          <a:xfrm>
            <a:off x="1524000" y="4231758"/>
            <a:ext cx="9144000" cy="1026042"/>
          </a:xfrm>
        </p:spPr>
        <p:txBody>
          <a:bodyPr/>
          <a:lstStyle/>
          <a:p>
            <a:r>
              <a:rPr lang="en-US" dirty="0"/>
              <a:t xml:space="preserve">Case Study: EDA in Action </a:t>
            </a:r>
          </a:p>
        </p:txBody>
      </p:sp>
    </p:spTree>
    <p:extLst>
      <p:ext uri="{BB962C8B-B14F-4D97-AF65-F5344CB8AC3E}">
        <p14:creationId xmlns:p14="http://schemas.microsoft.com/office/powerpoint/2010/main" val="14440981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53959-884C-2165-B1F0-433B73963530}"/>
              </a:ext>
            </a:extLst>
          </p:cNvPr>
          <p:cNvSpPr>
            <a:spLocks noGrp="1"/>
          </p:cNvSpPr>
          <p:nvPr>
            <p:ph type="title"/>
          </p:nvPr>
        </p:nvSpPr>
        <p:spPr>
          <a:xfrm>
            <a:off x="839788" y="457200"/>
            <a:ext cx="3932237" cy="1600200"/>
          </a:xfrm>
        </p:spPr>
        <p:txBody>
          <a:bodyPr anchor="b">
            <a:normAutofit/>
          </a:bodyPr>
          <a:lstStyle/>
          <a:p>
            <a:r>
              <a:rPr lang="en-US" dirty="0"/>
              <a:t xml:space="preserve">Step 1: Overview and Quality Check </a:t>
            </a:r>
          </a:p>
        </p:txBody>
      </p:sp>
      <p:sp>
        <p:nvSpPr>
          <p:cNvPr id="9" name="Text Placeholder 3">
            <a:extLst>
              <a:ext uri="{FF2B5EF4-FFF2-40B4-BE49-F238E27FC236}">
                <a16:creationId xmlns:a16="http://schemas.microsoft.com/office/drawing/2014/main" id="{33742414-FE9C-A254-ED31-7332263DBA51}"/>
              </a:ext>
            </a:extLst>
          </p:cNvPr>
          <p:cNvSpPr>
            <a:spLocks noGrp="1"/>
          </p:cNvSpPr>
          <p:nvPr>
            <p:ph type="body" sz="half" idx="2"/>
          </p:nvPr>
        </p:nvSpPr>
        <p:spPr>
          <a:xfrm>
            <a:off x="839788" y="2057400"/>
            <a:ext cx="3932237" cy="3811588"/>
          </a:xfrm>
        </p:spPr>
        <p:txBody>
          <a:bodyPr>
            <a:normAutofit lnSpcReduction="10000"/>
          </a:bodyPr>
          <a:lstStyle/>
          <a:p>
            <a:pPr marL="285750" indent="-285750">
              <a:buFont typeface="Arial" panose="020B0604020202020204" pitchFamily="34" charset="0"/>
              <a:buChar char="•"/>
            </a:pPr>
            <a:r>
              <a:rPr lang="en-US" sz="2800" dirty="0"/>
              <a:t>Read in</a:t>
            </a:r>
          </a:p>
          <a:p>
            <a:pPr marL="285750" indent="-285750">
              <a:buFont typeface="Arial" panose="020B0604020202020204" pitchFamily="34" charset="0"/>
              <a:buChar char="•"/>
            </a:pPr>
            <a:r>
              <a:rPr lang="en-US" sz="2800" dirty="0"/>
              <a:t>Check the head</a:t>
            </a:r>
          </a:p>
          <a:p>
            <a:pPr marL="285750" indent="-285750">
              <a:buFont typeface="Arial" panose="020B0604020202020204" pitchFamily="34" charset="0"/>
              <a:buChar char="•"/>
            </a:pPr>
            <a:r>
              <a:rPr lang="en-US" sz="2800" dirty="0"/>
              <a:t xml:space="preserve">Calculate basic summary stats for numeric columns and frequencies for categorical ones. </a:t>
            </a:r>
          </a:p>
          <a:p>
            <a:pPr marL="285750" indent="-285750">
              <a:buFont typeface="Arial" panose="020B0604020202020204" pitchFamily="34" charset="0"/>
              <a:buChar char="•"/>
            </a:pPr>
            <a:r>
              <a:rPr lang="en-US" sz="2800" dirty="0"/>
              <a:t>Report/adjust if you see any weird values</a:t>
            </a:r>
          </a:p>
        </p:txBody>
      </p:sp>
      <p:graphicFrame>
        <p:nvGraphicFramePr>
          <p:cNvPr id="5" name="Content Placeholder 2">
            <a:extLst>
              <a:ext uri="{FF2B5EF4-FFF2-40B4-BE49-F238E27FC236}">
                <a16:creationId xmlns:a16="http://schemas.microsoft.com/office/drawing/2014/main" id="{5F8B2555-646A-262D-F871-6ACB1D4667D2}"/>
              </a:ext>
            </a:extLst>
          </p:cNvPr>
          <p:cNvGraphicFramePr>
            <a:graphicFrameLocks noGrp="1"/>
          </p:cNvGraphicFramePr>
          <p:nvPr>
            <p:ph idx="1"/>
            <p:extLst>
              <p:ext uri="{D42A27DB-BD31-4B8C-83A1-F6EECF244321}">
                <p14:modId xmlns:p14="http://schemas.microsoft.com/office/powerpoint/2010/main" val="284323528"/>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19170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6806-CE48-56DE-9900-AE4C911774BA}"/>
              </a:ext>
            </a:extLst>
          </p:cNvPr>
          <p:cNvSpPr>
            <a:spLocks noGrp="1"/>
          </p:cNvSpPr>
          <p:nvPr>
            <p:ph type="title"/>
          </p:nvPr>
        </p:nvSpPr>
        <p:spPr>
          <a:xfrm>
            <a:off x="838200" y="1099100"/>
            <a:ext cx="10515600" cy="1325563"/>
          </a:xfrm>
        </p:spPr>
        <p:txBody>
          <a:bodyPr anchor="ctr">
            <a:normAutofit/>
          </a:bodyPr>
          <a:lstStyle/>
          <a:p>
            <a:r>
              <a:rPr lang="en-US" dirty="0"/>
              <a:t xml:space="preserve">Step 2: Univariate EDA </a:t>
            </a:r>
          </a:p>
        </p:txBody>
      </p:sp>
      <p:graphicFrame>
        <p:nvGraphicFramePr>
          <p:cNvPr id="5" name="Content Placeholder 2">
            <a:extLst>
              <a:ext uri="{FF2B5EF4-FFF2-40B4-BE49-F238E27FC236}">
                <a16:creationId xmlns:a16="http://schemas.microsoft.com/office/drawing/2014/main" id="{342D80BC-BFE0-DDB6-E5C0-1104FFBE2CF0}"/>
              </a:ext>
            </a:extLst>
          </p:cNvPr>
          <p:cNvGraphicFramePr>
            <a:graphicFrameLocks noGrp="1"/>
          </p:cNvGraphicFramePr>
          <p:nvPr>
            <p:ph idx="1"/>
            <p:extLst>
              <p:ext uri="{D42A27DB-BD31-4B8C-83A1-F6EECF244321}">
                <p14:modId xmlns:p14="http://schemas.microsoft.com/office/powerpoint/2010/main" val="3550559874"/>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59371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CE649-21D6-D24B-97BB-D33B80E07053}"/>
              </a:ext>
            </a:extLst>
          </p:cNvPr>
          <p:cNvSpPr>
            <a:spLocks noGrp="1"/>
          </p:cNvSpPr>
          <p:nvPr>
            <p:ph type="title"/>
          </p:nvPr>
        </p:nvSpPr>
        <p:spPr>
          <a:xfrm>
            <a:off x="838200" y="1099100"/>
            <a:ext cx="10515600" cy="1325563"/>
          </a:xfrm>
        </p:spPr>
        <p:txBody>
          <a:bodyPr anchor="ctr">
            <a:normAutofit/>
          </a:bodyPr>
          <a:lstStyle/>
          <a:p>
            <a:r>
              <a:rPr lang="en-US" dirty="0"/>
              <a:t>Step 3: Bivariate EDA</a:t>
            </a:r>
          </a:p>
        </p:txBody>
      </p:sp>
      <p:graphicFrame>
        <p:nvGraphicFramePr>
          <p:cNvPr id="7" name="Content Placeholder 2">
            <a:extLst>
              <a:ext uri="{FF2B5EF4-FFF2-40B4-BE49-F238E27FC236}">
                <a16:creationId xmlns:a16="http://schemas.microsoft.com/office/drawing/2014/main" id="{2522D7E5-5BFB-CB92-7DB2-798D1825D89A}"/>
              </a:ext>
            </a:extLst>
          </p:cNvPr>
          <p:cNvGraphicFramePr>
            <a:graphicFrameLocks noGrp="1"/>
          </p:cNvGraphicFramePr>
          <p:nvPr>
            <p:ph idx="1"/>
            <p:extLst>
              <p:ext uri="{D42A27DB-BD31-4B8C-83A1-F6EECF244321}">
                <p14:modId xmlns:p14="http://schemas.microsoft.com/office/powerpoint/2010/main" val="3056773601"/>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43058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F3C65-90B9-7CAD-9408-1DCED1934AC8}"/>
              </a:ext>
            </a:extLst>
          </p:cNvPr>
          <p:cNvSpPr>
            <a:spLocks noGrp="1"/>
          </p:cNvSpPr>
          <p:nvPr>
            <p:ph type="title"/>
          </p:nvPr>
        </p:nvSpPr>
        <p:spPr>
          <a:xfrm>
            <a:off x="838200" y="1099100"/>
            <a:ext cx="10515600" cy="1325563"/>
          </a:xfrm>
        </p:spPr>
        <p:txBody>
          <a:bodyPr anchor="ctr">
            <a:normAutofit/>
          </a:bodyPr>
          <a:lstStyle/>
          <a:p>
            <a:r>
              <a:rPr lang="en-US" dirty="0"/>
              <a:t>Step 4: Patterns and Anomalies</a:t>
            </a:r>
          </a:p>
        </p:txBody>
      </p:sp>
      <p:graphicFrame>
        <p:nvGraphicFramePr>
          <p:cNvPr id="5" name="Content Placeholder 2">
            <a:extLst>
              <a:ext uri="{FF2B5EF4-FFF2-40B4-BE49-F238E27FC236}">
                <a16:creationId xmlns:a16="http://schemas.microsoft.com/office/drawing/2014/main" id="{D00AF3E1-6477-951F-0E9C-9664F1C2B2E8}"/>
              </a:ext>
            </a:extLst>
          </p:cNvPr>
          <p:cNvGraphicFramePr>
            <a:graphicFrameLocks noGrp="1"/>
          </p:cNvGraphicFramePr>
          <p:nvPr>
            <p:ph idx="1"/>
            <p:extLst>
              <p:ext uri="{D42A27DB-BD31-4B8C-83A1-F6EECF244321}">
                <p14:modId xmlns:p14="http://schemas.microsoft.com/office/powerpoint/2010/main" val="3985485210"/>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39542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A748-3D15-F763-040E-E32EED9E20BC}"/>
              </a:ext>
            </a:extLst>
          </p:cNvPr>
          <p:cNvSpPr>
            <a:spLocks noGrp="1"/>
          </p:cNvSpPr>
          <p:nvPr>
            <p:ph type="title"/>
          </p:nvPr>
        </p:nvSpPr>
        <p:spPr/>
        <p:txBody>
          <a:bodyPr/>
          <a:lstStyle/>
          <a:p>
            <a:r>
              <a:rPr lang="en-US" dirty="0"/>
              <a:t>Form Your Story!</a:t>
            </a:r>
          </a:p>
        </p:txBody>
      </p:sp>
      <p:sp>
        <p:nvSpPr>
          <p:cNvPr id="3" name="Content Placeholder 2">
            <a:extLst>
              <a:ext uri="{FF2B5EF4-FFF2-40B4-BE49-F238E27FC236}">
                <a16:creationId xmlns:a16="http://schemas.microsoft.com/office/drawing/2014/main" id="{6302CB2A-C6AA-1C5B-52A1-8B0472048D22}"/>
              </a:ext>
            </a:extLst>
          </p:cNvPr>
          <p:cNvSpPr>
            <a:spLocks noGrp="1"/>
          </p:cNvSpPr>
          <p:nvPr>
            <p:ph idx="1"/>
          </p:nvPr>
        </p:nvSpPr>
        <p:spPr/>
        <p:txBody>
          <a:bodyPr>
            <a:normAutofit/>
          </a:bodyPr>
          <a:lstStyle/>
          <a:p>
            <a:pPr marL="0" indent="0">
              <a:buNone/>
            </a:pPr>
            <a:r>
              <a:rPr lang="en-US" dirty="0"/>
              <a:t>Write Down Your Story</a:t>
            </a:r>
          </a:p>
          <a:p>
            <a:pPr marL="0" indent="0">
              <a:buNone/>
            </a:pPr>
            <a:endParaRPr lang="en-US" dirty="0"/>
          </a:p>
        </p:txBody>
      </p:sp>
      <p:sp>
        <p:nvSpPr>
          <p:cNvPr id="5" name="TextBox 4">
            <a:extLst>
              <a:ext uri="{FF2B5EF4-FFF2-40B4-BE49-F238E27FC236}">
                <a16:creationId xmlns:a16="http://schemas.microsoft.com/office/drawing/2014/main" id="{6721AD93-DC64-AAF9-8B53-45650E2E6B4E}"/>
              </a:ext>
            </a:extLst>
          </p:cNvPr>
          <p:cNvSpPr txBox="1"/>
          <p:nvPr/>
        </p:nvSpPr>
        <p:spPr>
          <a:xfrm>
            <a:off x="2114550" y="3429000"/>
            <a:ext cx="7550943" cy="2862322"/>
          </a:xfrm>
          <a:prstGeom prst="rect">
            <a:avLst/>
          </a:prstGeom>
          <a:solidFill>
            <a:schemeClr val="tx2">
              <a:lumMod val="25000"/>
              <a:lumOff val="75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US" dirty="0"/>
              <a:t>Example:</a:t>
            </a:r>
          </a:p>
          <a:p>
            <a:pPr marL="0" indent="0">
              <a:buNone/>
            </a:pPr>
            <a:r>
              <a:rPr lang="en-US" dirty="0"/>
              <a:t>“It appears that as students progress through grades, their homework load increases. Despite spending more time, their sleep tends to decrease slightly by senior year. We found that those involved in extracurricular activities tended to maintain slightly higher GPAs on average, though the causal relationship isn’t clear. Most students have moderate sleep (~7 hours), but a few are getting dangerously low amounts of sleep which is a concern. We also saw that study habits vary widely – even among those with similar GPAs, homework hours ranged a lot, suggesting different work strategies or course loads.”</a:t>
            </a:r>
          </a:p>
        </p:txBody>
      </p:sp>
    </p:spTree>
    <p:extLst>
      <p:ext uri="{BB962C8B-B14F-4D97-AF65-F5344CB8AC3E}">
        <p14:creationId xmlns:p14="http://schemas.microsoft.com/office/powerpoint/2010/main" val="4216781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8D24-FF14-E86F-98F1-CBDA0EA1BEB0}"/>
              </a:ext>
            </a:extLst>
          </p:cNvPr>
          <p:cNvSpPr>
            <a:spLocks noGrp="1"/>
          </p:cNvSpPr>
          <p:nvPr>
            <p:ph type="title"/>
          </p:nvPr>
        </p:nvSpPr>
        <p:spPr>
          <a:xfrm>
            <a:off x="530869" y="595169"/>
            <a:ext cx="10515600" cy="1325563"/>
          </a:xfrm>
        </p:spPr>
        <p:txBody>
          <a:bodyPr/>
          <a:lstStyle/>
          <a:p>
            <a:r>
              <a:rPr lang="en-US" dirty="0"/>
              <a:t>Common Patterns to Look For</a:t>
            </a:r>
          </a:p>
        </p:txBody>
      </p:sp>
      <p:pic>
        <p:nvPicPr>
          <p:cNvPr id="4" name="Image 0" descr="preencoded.png">
            <a:extLst>
              <a:ext uri="{FF2B5EF4-FFF2-40B4-BE49-F238E27FC236}">
                <a16:creationId xmlns:a16="http://schemas.microsoft.com/office/drawing/2014/main" id="{4C69A8F2-DFA2-6A19-9DD1-4A79C84168F6}"/>
              </a:ext>
            </a:extLst>
          </p:cNvPr>
          <p:cNvPicPr>
            <a:picLocks noChangeAspect="1"/>
          </p:cNvPicPr>
          <p:nvPr/>
        </p:nvPicPr>
        <p:blipFill>
          <a:blip r:embed="rId2"/>
          <a:stretch>
            <a:fillRect/>
          </a:stretch>
        </p:blipFill>
        <p:spPr>
          <a:xfrm>
            <a:off x="537219" y="2365722"/>
            <a:ext cx="2126457" cy="2126457"/>
          </a:xfrm>
          <a:prstGeom prst="rect">
            <a:avLst/>
          </a:prstGeom>
        </p:spPr>
      </p:pic>
      <p:pic>
        <p:nvPicPr>
          <p:cNvPr id="5" name="Image 1" descr="preencoded.png">
            <a:extLst>
              <a:ext uri="{FF2B5EF4-FFF2-40B4-BE49-F238E27FC236}">
                <a16:creationId xmlns:a16="http://schemas.microsoft.com/office/drawing/2014/main" id="{C1D55F7D-57D1-B6DF-924F-B6CA479F697A}"/>
              </a:ext>
            </a:extLst>
          </p:cNvPr>
          <p:cNvPicPr>
            <a:picLocks noChangeAspect="1"/>
          </p:cNvPicPr>
          <p:nvPr/>
        </p:nvPicPr>
        <p:blipFill>
          <a:blip r:embed="rId3"/>
          <a:stretch>
            <a:fillRect/>
          </a:stretch>
        </p:blipFill>
        <p:spPr>
          <a:xfrm>
            <a:off x="2784921" y="2365722"/>
            <a:ext cx="2126556" cy="2126556"/>
          </a:xfrm>
          <a:prstGeom prst="rect">
            <a:avLst/>
          </a:prstGeom>
        </p:spPr>
      </p:pic>
      <p:pic>
        <p:nvPicPr>
          <p:cNvPr id="6" name="Image 2" descr="preencoded.png">
            <a:extLst>
              <a:ext uri="{FF2B5EF4-FFF2-40B4-BE49-F238E27FC236}">
                <a16:creationId xmlns:a16="http://schemas.microsoft.com/office/drawing/2014/main" id="{7B2BC47C-D5C3-A236-CBA2-7858256EA6C3}"/>
              </a:ext>
            </a:extLst>
          </p:cNvPr>
          <p:cNvPicPr>
            <a:picLocks noChangeAspect="1"/>
          </p:cNvPicPr>
          <p:nvPr/>
        </p:nvPicPr>
        <p:blipFill>
          <a:blip r:embed="rId4"/>
          <a:stretch>
            <a:fillRect/>
          </a:stretch>
        </p:blipFill>
        <p:spPr>
          <a:xfrm>
            <a:off x="5032722" y="2365722"/>
            <a:ext cx="2126556" cy="2126556"/>
          </a:xfrm>
          <a:prstGeom prst="rect">
            <a:avLst/>
          </a:prstGeom>
        </p:spPr>
      </p:pic>
      <p:pic>
        <p:nvPicPr>
          <p:cNvPr id="7" name="Image 3" descr="preencoded.png">
            <a:extLst>
              <a:ext uri="{FF2B5EF4-FFF2-40B4-BE49-F238E27FC236}">
                <a16:creationId xmlns:a16="http://schemas.microsoft.com/office/drawing/2014/main" id="{36125579-53E1-6548-54EA-F1A2A0A95DC7}"/>
              </a:ext>
            </a:extLst>
          </p:cNvPr>
          <p:cNvPicPr>
            <a:picLocks noChangeAspect="1"/>
          </p:cNvPicPr>
          <p:nvPr/>
        </p:nvPicPr>
        <p:blipFill>
          <a:blip r:embed="rId5"/>
          <a:stretch>
            <a:fillRect/>
          </a:stretch>
        </p:blipFill>
        <p:spPr>
          <a:xfrm>
            <a:off x="7280523" y="2365722"/>
            <a:ext cx="2126556" cy="2126556"/>
          </a:xfrm>
          <a:prstGeom prst="rect">
            <a:avLst/>
          </a:prstGeom>
        </p:spPr>
      </p:pic>
      <p:pic>
        <p:nvPicPr>
          <p:cNvPr id="8" name="Image 4" descr="preencoded.png">
            <a:extLst>
              <a:ext uri="{FF2B5EF4-FFF2-40B4-BE49-F238E27FC236}">
                <a16:creationId xmlns:a16="http://schemas.microsoft.com/office/drawing/2014/main" id="{F9D830B9-E78A-F0B7-5837-D3F54E8A59FA}"/>
              </a:ext>
            </a:extLst>
          </p:cNvPr>
          <p:cNvPicPr>
            <a:picLocks noChangeAspect="1"/>
          </p:cNvPicPr>
          <p:nvPr/>
        </p:nvPicPr>
        <p:blipFill>
          <a:blip r:embed="rId6"/>
          <a:stretch>
            <a:fillRect/>
          </a:stretch>
        </p:blipFill>
        <p:spPr>
          <a:xfrm>
            <a:off x="9528324" y="2365722"/>
            <a:ext cx="2126556" cy="2126556"/>
          </a:xfrm>
          <a:prstGeom prst="rect">
            <a:avLst/>
          </a:prstGeom>
        </p:spPr>
      </p:pic>
      <p:sp>
        <p:nvSpPr>
          <p:cNvPr id="9" name="Shape 1">
            <a:extLst>
              <a:ext uri="{FF2B5EF4-FFF2-40B4-BE49-F238E27FC236}">
                <a16:creationId xmlns:a16="http://schemas.microsoft.com/office/drawing/2014/main" id="{3A630785-D256-9ECA-EE11-CD5EAB816B4A}"/>
              </a:ext>
            </a:extLst>
          </p:cNvPr>
          <p:cNvSpPr/>
          <p:nvPr/>
        </p:nvSpPr>
        <p:spPr>
          <a:xfrm>
            <a:off x="530869" y="4761656"/>
            <a:ext cx="341213" cy="341213"/>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sp>
        <p:nvSpPr>
          <p:cNvPr id="10" name="Text 2">
            <a:extLst>
              <a:ext uri="{FF2B5EF4-FFF2-40B4-BE49-F238E27FC236}">
                <a16:creationId xmlns:a16="http://schemas.microsoft.com/office/drawing/2014/main" id="{96F90196-332D-7109-A329-4C1AD9BF4B71}"/>
              </a:ext>
            </a:extLst>
          </p:cNvPr>
          <p:cNvSpPr/>
          <p:nvPr/>
        </p:nvSpPr>
        <p:spPr>
          <a:xfrm>
            <a:off x="1023689" y="4813746"/>
            <a:ext cx="1895872" cy="236934"/>
          </a:xfrm>
          <a:prstGeom prst="rect">
            <a:avLst/>
          </a:prstGeom>
          <a:noFill/>
          <a:ln/>
        </p:spPr>
        <p:txBody>
          <a:bodyPr wrap="none" lIns="0" tIns="0" rIns="0" bIns="0" rtlCol="0" anchor="t"/>
          <a:lstStyle/>
          <a:p>
            <a:pPr>
              <a:lnSpc>
                <a:spcPts val="183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Trends</a:t>
            </a:r>
            <a:endParaRPr lang="en-US" sz="2400" dirty="0">
              <a:latin typeface="Aptos" panose="020B0004020202020204" pitchFamily="34" charset="0"/>
            </a:endParaRPr>
          </a:p>
        </p:txBody>
      </p:sp>
      <p:sp>
        <p:nvSpPr>
          <p:cNvPr id="11" name="Text 3">
            <a:extLst>
              <a:ext uri="{FF2B5EF4-FFF2-40B4-BE49-F238E27FC236}">
                <a16:creationId xmlns:a16="http://schemas.microsoft.com/office/drawing/2014/main" id="{5BABA493-2E7C-9781-89F5-AD2B225B3CC8}"/>
              </a:ext>
            </a:extLst>
          </p:cNvPr>
          <p:cNvSpPr/>
          <p:nvPr/>
        </p:nvSpPr>
        <p:spPr>
          <a:xfrm>
            <a:off x="1023689" y="5141664"/>
            <a:ext cx="4977607" cy="242689"/>
          </a:xfrm>
          <a:prstGeom prst="rect">
            <a:avLst/>
          </a:prstGeom>
          <a:noFill/>
          <a:ln/>
        </p:spPr>
        <p:txBody>
          <a:bodyPr wrap="none" lIns="0" tIns="0" rIns="0" bIns="0" rtlCol="0" anchor="t"/>
          <a:lstStyle/>
          <a:p>
            <a:pPr>
              <a:lnSpc>
                <a:spcPts val="1875"/>
              </a:lnSpc>
            </a:pPr>
            <a:r>
              <a:rPr lang="en-US" dirty="0">
                <a:solidFill>
                  <a:srgbClr val="000000"/>
                </a:solidFill>
                <a:latin typeface="Aptos" panose="020B0004020202020204" pitchFamily="34" charset="0"/>
                <a:ea typeface="Inter" pitchFamily="34" charset="-122"/>
                <a:cs typeface="Inter" pitchFamily="34" charset="-120"/>
              </a:rPr>
              <a:t>General direction in data</a:t>
            </a:r>
            <a:endParaRPr lang="en-US" dirty="0">
              <a:latin typeface="Aptos" panose="020B0004020202020204" pitchFamily="34" charset="0"/>
            </a:endParaRPr>
          </a:p>
        </p:txBody>
      </p:sp>
      <p:sp>
        <p:nvSpPr>
          <p:cNvPr id="12" name="Shape 4">
            <a:extLst>
              <a:ext uri="{FF2B5EF4-FFF2-40B4-BE49-F238E27FC236}">
                <a16:creationId xmlns:a16="http://schemas.microsoft.com/office/drawing/2014/main" id="{0F15D2D1-E30D-E3F5-953F-2FB4FF63DC2D}"/>
              </a:ext>
            </a:extLst>
          </p:cNvPr>
          <p:cNvSpPr/>
          <p:nvPr/>
        </p:nvSpPr>
        <p:spPr>
          <a:xfrm>
            <a:off x="6190803" y="4761656"/>
            <a:ext cx="341213" cy="341213"/>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sp>
        <p:nvSpPr>
          <p:cNvPr id="13" name="Text 5">
            <a:extLst>
              <a:ext uri="{FF2B5EF4-FFF2-40B4-BE49-F238E27FC236}">
                <a16:creationId xmlns:a16="http://schemas.microsoft.com/office/drawing/2014/main" id="{59FDC5E4-8522-D6E8-C746-59F3F3882973}"/>
              </a:ext>
            </a:extLst>
          </p:cNvPr>
          <p:cNvSpPr/>
          <p:nvPr/>
        </p:nvSpPr>
        <p:spPr>
          <a:xfrm>
            <a:off x="6683622" y="4813746"/>
            <a:ext cx="1895872" cy="236934"/>
          </a:xfrm>
          <a:prstGeom prst="rect">
            <a:avLst/>
          </a:prstGeom>
          <a:noFill/>
          <a:ln/>
        </p:spPr>
        <p:txBody>
          <a:bodyPr wrap="none" lIns="0" tIns="0" rIns="0" bIns="0" rtlCol="0" anchor="t"/>
          <a:lstStyle/>
          <a:p>
            <a:pPr>
              <a:lnSpc>
                <a:spcPts val="183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Clusters</a:t>
            </a:r>
            <a:endParaRPr lang="en-US" sz="2400" dirty="0">
              <a:latin typeface="Aptos" panose="020B0004020202020204" pitchFamily="34" charset="0"/>
            </a:endParaRPr>
          </a:p>
        </p:txBody>
      </p:sp>
      <p:sp>
        <p:nvSpPr>
          <p:cNvPr id="14" name="Text 6">
            <a:extLst>
              <a:ext uri="{FF2B5EF4-FFF2-40B4-BE49-F238E27FC236}">
                <a16:creationId xmlns:a16="http://schemas.microsoft.com/office/drawing/2014/main" id="{1F8F45B2-AC11-843A-49F6-EB81559F8592}"/>
              </a:ext>
            </a:extLst>
          </p:cNvPr>
          <p:cNvSpPr/>
          <p:nvPr/>
        </p:nvSpPr>
        <p:spPr>
          <a:xfrm>
            <a:off x="6683622" y="5141664"/>
            <a:ext cx="4977607" cy="242689"/>
          </a:xfrm>
          <a:prstGeom prst="rect">
            <a:avLst/>
          </a:prstGeom>
          <a:noFill/>
          <a:ln/>
        </p:spPr>
        <p:txBody>
          <a:bodyPr wrap="none" lIns="0" tIns="0" rIns="0" bIns="0" rtlCol="0" anchor="t"/>
          <a:lstStyle/>
          <a:p>
            <a:pPr>
              <a:lnSpc>
                <a:spcPts val="1875"/>
              </a:lnSpc>
            </a:pPr>
            <a:r>
              <a:rPr lang="en-US" dirty="0">
                <a:solidFill>
                  <a:srgbClr val="000000"/>
                </a:solidFill>
                <a:latin typeface="Aptos" panose="020B0004020202020204" pitchFamily="34" charset="0"/>
                <a:ea typeface="Inter" pitchFamily="34" charset="-122"/>
                <a:cs typeface="Inter" pitchFamily="34" charset="-120"/>
              </a:rPr>
              <a:t>Groupings of observations</a:t>
            </a:r>
            <a:endParaRPr lang="en-US" dirty="0">
              <a:latin typeface="Aptos" panose="020B0004020202020204" pitchFamily="34" charset="0"/>
            </a:endParaRPr>
          </a:p>
        </p:txBody>
      </p:sp>
      <p:sp>
        <p:nvSpPr>
          <p:cNvPr id="15" name="Shape 7">
            <a:extLst>
              <a:ext uri="{FF2B5EF4-FFF2-40B4-BE49-F238E27FC236}">
                <a16:creationId xmlns:a16="http://schemas.microsoft.com/office/drawing/2014/main" id="{79959D99-4364-6654-43C2-0B86F8306177}"/>
              </a:ext>
            </a:extLst>
          </p:cNvPr>
          <p:cNvSpPr/>
          <p:nvPr/>
        </p:nvSpPr>
        <p:spPr>
          <a:xfrm>
            <a:off x="530869" y="5687664"/>
            <a:ext cx="341213" cy="341213"/>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sp>
        <p:nvSpPr>
          <p:cNvPr id="16" name="Text 8">
            <a:extLst>
              <a:ext uri="{FF2B5EF4-FFF2-40B4-BE49-F238E27FC236}">
                <a16:creationId xmlns:a16="http://schemas.microsoft.com/office/drawing/2014/main" id="{B1FA5B77-4759-6297-2798-05E20D2987A3}"/>
              </a:ext>
            </a:extLst>
          </p:cNvPr>
          <p:cNvSpPr/>
          <p:nvPr/>
        </p:nvSpPr>
        <p:spPr>
          <a:xfrm>
            <a:off x="1023689" y="5739755"/>
            <a:ext cx="1895872" cy="236934"/>
          </a:xfrm>
          <a:prstGeom prst="rect">
            <a:avLst/>
          </a:prstGeom>
          <a:noFill/>
          <a:ln/>
        </p:spPr>
        <p:txBody>
          <a:bodyPr wrap="none" lIns="0" tIns="0" rIns="0" bIns="0" rtlCol="0" anchor="t"/>
          <a:lstStyle/>
          <a:p>
            <a:pPr>
              <a:lnSpc>
                <a:spcPts val="183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Cycles</a:t>
            </a:r>
            <a:endParaRPr lang="en-US" sz="2400" dirty="0">
              <a:latin typeface="Aptos" panose="020B0004020202020204" pitchFamily="34" charset="0"/>
            </a:endParaRPr>
          </a:p>
        </p:txBody>
      </p:sp>
      <p:sp>
        <p:nvSpPr>
          <p:cNvPr id="17" name="Text 9">
            <a:extLst>
              <a:ext uri="{FF2B5EF4-FFF2-40B4-BE49-F238E27FC236}">
                <a16:creationId xmlns:a16="http://schemas.microsoft.com/office/drawing/2014/main" id="{39A4E23F-1E07-73DC-7502-996A6920DC2C}"/>
              </a:ext>
            </a:extLst>
          </p:cNvPr>
          <p:cNvSpPr/>
          <p:nvPr/>
        </p:nvSpPr>
        <p:spPr>
          <a:xfrm>
            <a:off x="1023689" y="6067672"/>
            <a:ext cx="4977607" cy="242689"/>
          </a:xfrm>
          <a:prstGeom prst="rect">
            <a:avLst/>
          </a:prstGeom>
          <a:noFill/>
          <a:ln/>
        </p:spPr>
        <p:txBody>
          <a:bodyPr wrap="none" lIns="0" tIns="0" rIns="0" bIns="0" rtlCol="0" anchor="t"/>
          <a:lstStyle/>
          <a:p>
            <a:pPr>
              <a:lnSpc>
                <a:spcPts val="1875"/>
              </a:lnSpc>
            </a:pPr>
            <a:r>
              <a:rPr lang="en-US" dirty="0">
                <a:solidFill>
                  <a:srgbClr val="000000"/>
                </a:solidFill>
                <a:latin typeface="Aptos" panose="020B0004020202020204" pitchFamily="34" charset="0"/>
                <a:ea typeface="Inter" pitchFamily="34" charset="-122"/>
                <a:cs typeface="Inter" pitchFamily="34" charset="-120"/>
              </a:rPr>
              <a:t>Repeating patterns</a:t>
            </a:r>
            <a:endParaRPr lang="en-US" dirty="0">
              <a:latin typeface="Aptos" panose="020B0004020202020204" pitchFamily="34" charset="0"/>
            </a:endParaRPr>
          </a:p>
        </p:txBody>
      </p:sp>
      <p:sp>
        <p:nvSpPr>
          <p:cNvPr id="18" name="Shape 10">
            <a:extLst>
              <a:ext uri="{FF2B5EF4-FFF2-40B4-BE49-F238E27FC236}">
                <a16:creationId xmlns:a16="http://schemas.microsoft.com/office/drawing/2014/main" id="{70E666E4-106A-83CC-8728-4064C4B3D15C}"/>
              </a:ext>
            </a:extLst>
          </p:cNvPr>
          <p:cNvSpPr/>
          <p:nvPr/>
        </p:nvSpPr>
        <p:spPr>
          <a:xfrm>
            <a:off x="6190803" y="5687664"/>
            <a:ext cx="341213" cy="341213"/>
          </a:xfrm>
          <a:prstGeom prst="roundRect">
            <a:avLst>
              <a:gd name="adj" fmla="val 18669"/>
            </a:avLst>
          </a:prstGeom>
          <a:solidFill>
            <a:srgbClr val="CCEDFF"/>
          </a:solidFill>
          <a:ln w="7620">
            <a:solidFill>
              <a:srgbClr val="B2D3E5"/>
            </a:solidFill>
            <a:prstDash val="solid"/>
          </a:ln>
        </p:spPr>
        <p:txBody>
          <a:bodyPr/>
          <a:lstStyle/>
          <a:p>
            <a:endParaRPr lang="en-US" sz="2400">
              <a:latin typeface="Aptos" panose="020B0004020202020204" pitchFamily="34" charset="0"/>
            </a:endParaRPr>
          </a:p>
        </p:txBody>
      </p:sp>
      <p:sp>
        <p:nvSpPr>
          <p:cNvPr id="19" name="Text 11">
            <a:extLst>
              <a:ext uri="{FF2B5EF4-FFF2-40B4-BE49-F238E27FC236}">
                <a16:creationId xmlns:a16="http://schemas.microsoft.com/office/drawing/2014/main" id="{68BE7A4F-C005-CEEA-BE8F-3F2E39CFD632}"/>
              </a:ext>
            </a:extLst>
          </p:cNvPr>
          <p:cNvSpPr/>
          <p:nvPr/>
        </p:nvSpPr>
        <p:spPr>
          <a:xfrm>
            <a:off x="6683622" y="5739755"/>
            <a:ext cx="1895872" cy="236934"/>
          </a:xfrm>
          <a:prstGeom prst="rect">
            <a:avLst/>
          </a:prstGeom>
          <a:noFill/>
          <a:ln/>
        </p:spPr>
        <p:txBody>
          <a:bodyPr wrap="none" lIns="0" tIns="0" rIns="0" bIns="0" rtlCol="0" anchor="t"/>
          <a:lstStyle/>
          <a:p>
            <a:pPr>
              <a:lnSpc>
                <a:spcPts val="1833"/>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Outliers</a:t>
            </a:r>
            <a:endParaRPr lang="en-US" sz="2400" dirty="0">
              <a:latin typeface="Aptos" panose="020B0004020202020204" pitchFamily="34" charset="0"/>
            </a:endParaRPr>
          </a:p>
        </p:txBody>
      </p:sp>
      <p:sp>
        <p:nvSpPr>
          <p:cNvPr id="20" name="Text 12">
            <a:extLst>
              <a:ext uri="{FF2B5EF4-FFF2-40B4-BE49-F238E27FC236}">
                <a16:creationId xmlns:a16="http://schemas.microsoft.com/office/drawing/2014/main" id="{42352F76-AD51-0DED-6400-92502721F546}"/>
              </a:ext>
            </a:extLst>
          </p:cNvPr>
          <p:cNvSpPr/>
          <p:nvPr/>
        </p:nvSpPr>
        <p:spPr>
          <a:xfrm>
            <a:off x="6683622" y="6067672"/>
            <a:ext cx="4977607" cy="242689"/>
          </a:xfrm>
          <a:prstGeom prst="rect">
            <a:avLst/>
          </a:prstGeom>
          <a:noFill/>
          <a:ln/>
        </p:spPr>
        <p:txBody>
          <a:bodyPr wrap="none" lIns="0" tIns="0" rIns="0" bIns="0" rtlCol="0" anchor="t"/>
          <a:lstStyle/>
          <a:p>
            <a:pPr>
              <a:lnSpc>
                <a:spcPts val="1875"/>
              </a:lnSpc>
            </a:pPr>
            <a:r>
              <a:rPr lang="en-US" dirty="0">
                <a:solidFill>
                  <a:srgbClr val="000000"/>
                </a:solidFill>
                <a:latin typeface="Aptos" panose="020B0004020202020204" pitchFamily="34" charset="0"/>
                <a:ea typeface="Inter" pitchFamily="34" charset="-122"/>
                <a:cs typeface="Inter" pitchFamily="34" charset="-120"/>
              </a:rPr>
              <a:t>Points that stand apart</a:t>
            </a:r>
            <a:endParaRPr lang="en-US" dirty="0">
              <a:latin typeface="Aptos" panose="020B0004020202020204" pitchFamily="34" charset="0"/>
            </a:endParaRPr>
          </a:p>
        </p:txBody>
      </p:sp>
    </p:spTree>
    <p:extLst>
      <p:ext uri="{BB962C8B-B14F-4D97-AF65-F5344CB8AC3E}">
        <p14:creationId xmlns:p14="http://schemas.microsoft.com/office/powerpoint/2010/main" val="4045040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2226668"/>
          </a:xfrm>
          <a:prstGeom prst="rect">
            <a:avLst/>
          </a:prstGeom>
        </p:spPr>
      </p:pic>
      <p:sp>
        <p:nvSpPr>
          <p:cNvPr id="3" name="Text 0"/>
          <p:cNvSpPr/>
          <p:nvPr/>
        </p:nvSpPr>
        <p:spPr>
          <a:xfrm>
            <a:off x="623392" y="2717404"/>
            <a:ext cx="6833493" cy="556618"/>
          </a:xfrm>
          <a:prstGeom prst="rect">
            <a:avLst/>
          </a:prstGeom>
          <a:noFill/>
          <a:ln/>
        </p:spPr>
        <p:txBody>
          <a:bodyPr wrap="none" lIns="0" tIns="0" rIns="0" bIns="0" rtlCol="0" anchor="t"/>
          <a:lstStyle/>
          <a:p>
            <a:pPr>
              <a:lnSpc>
                <a:spcPts val="437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Common Anomalies to Watch For</a:t>
            </a:r>
            <a:endParaRPr lang="en-US" sz="4400" dirty="0">
              <a:latin typeface="Aptos" panose="020B0004020202020204" pitchFamily="34" charset="0"/>
            </a:endParaRPr>
          </a:p>
        </p:txBody>
      </p:sp>
      <p:sp>
        <p:nvSpPr>
          <p:cNvPr id="4" name="Shape 1"/>
          <p:cNvSpPr/>
          <p:nvPr/>
        </p:nvSpPr>
        <p:spPr>
          <a:xfrm>
            <a:off x="623392" y="3541217"/>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5" name="Text 2"/>
          <p:cNvSpPr/>
          <p:nvPr/>
        </p:nvSpPr>
        <p:spPr>
          <a:xfrm>
            <a:off x="807839" y="3725664"/>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Outliers</a:t>
            </a:r>
            <a:endParaRPr lang="en-US" sz="2400" dirty="0">
              <a:latin typeface="Aptos" panose="020B0004020202020204" pitchFamily="34" charset="0"/>
            </a:endParaRPr>
          </a:p>
        </p:txBody>
      </p:sp>
      <p:sp>
        <p:nvSpPr>
          <p:cNvPr id="6" name="Text 3"/>
          <p:cNvSpPr/>
          <p:nvPr/>
        </p:nvSpPr>
        <p:spPr>
          <a:xfrm>
            <a:off x="807840" y="4110832"/>
            <a:ext cx="5014714" cy="569913"/>
          </a:xfrm>
          <a:prstGeom prst="rect">
            <a:avLst/>
          </a:prstGeom>
          <a:noFill/>
          <a:ln/>
        </p:spPr>
        <p:txBody>
          <a:bodyPr wrap="squar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Values far from the rest. Could be errors or interesting exceptions.</a:t>
            </a:r>
            <a:endParaRPr lang="en-US" dirty="0">
              <a:latin typeface="Aptos" panose="020B0004020202020204" pitchFamily="34" charset="0"/>
            </a:endParaRPr>
          </a:p>
        </p:txBody>
      </p:sp>
      <p:sp>
        <p:nvSpPr>
          <p:cNvPr id="7" name="Shape 4"/>
          <p:cNvSpPr/>
          <p:nvPr/>
        </p:nvSpPr>
        <p:spPr>
          <a:xfrm>
            <a:off x="6185099" y="3541217"/>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8" name="Text 5"/>
          <p:cNvSpPr/>
          <p:nvPr/>
        </p:nvSpPr>
        <p:spPr>
          <a:xfrm>
            <a:off x="6369546" y="3725664"/>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Gaps</a:t>
            </a:r>
            <a:endParaRPr lang="en-US" sz="2400" dirty="0">
              <a:latin typeface="Aptos" panose="020B0004020202020204" pitchFamily="34" charset="0"/>
            </a:endParaRPr>
          </a:p>
        </p:txBody>
      </p:sp>
      <p:sp>
        <p:nvSpPr>
          <p:cNvPr id="9" name="Text 6"/>
          <p:cNvSpPr/>
          <p:nvPr/>
        </p:nvSpPr>
        <p:spPr>
          <a:xfrm>
            <a:off x="6369546" y="4110832"/>
            <a:ext cx="5014714" cy="569913"/>
          </a:xfrm>
          <a:prstGeom prst="rect">
            <a:avLst/>
          </a:prstGeom>
          <a:noFill/>
          <a:ln/>
        </p:spPr>
        <p:txBody>
          <a:bodyPr wrap="squar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Ranges where no observations fall. Might indicate an interesting divide.</a:t>
            </a:r>
            <a:endParaRPr lang="en-US" dirty="0">
              <a:latin typeface="Aptos" panose="020B0004020202020204" pitchFamily="34" charset="0"/>
            </a:endParaRPr>
          </a:p>
        </p:txBody>
      </p:sp>
      <p:sp>
        <p:nvSpPr>
          <p:cNvPr id="10" name="Shape 7"/>
          <p:cNvSpPr/>
          <p:nvPr/>
        </p:nvSpPr>
        <p:spPr>
          <a:xfrm>
            <a:off x="623392" y="5043289"/>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1" name="Text 8"/>
          <p:cNvSpPr/>
          <p:nvPr/>
        </p:nvSpPr>
        <p:spPr>
          <a:xfrm>
            <a:off x="807839" y="5227737"/>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Unexpected Patterns</a:t>
            </a:r>
            <a:endParaRPr lang="en-US" sz="2400" dirty="0">
              <a:latin typeface="Aptos" panose="020B0004020202020204" pitchFamily="34" charset="0"/>
            </a:endParaRPr>
          </a:p>
        </p:txBody>
      </p:sp>
      <p:sp>
        <p:nvSpPr>
          <p:cNvPr id="12" name="Text 9"/>
          <p:cNvSpPr/>
          <p:nvPr/>
        </p:nvSpPr>
        <p:spPr>
          <a:xfrm>
            <a:off x="807840" y="5612904"/>
            <a:ext cx="5014714" cy="569913"/>
          </a:xfrm>
          <a:prstGeom prst="rect">
            <a:avLst/>
          </a:prstGeom>
          <a:noFill/>
          <a:ln/>
        </p:spPr>
        <p:txBody>
          <a:bodyPr wrap="squar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Relationships that don't match what you'd expect based on theory.</a:t>
            </a:r>
            <a:endParaRPr lang="en-US" dirty="0">
              <a:latin typeface="Aptos" panose="020B0004020202020204" pitchFamily="34" charset="0"/>
            </a:endParaRPr>
          </a:p>
        </p:txBody>
      </p:sp>
      <p:sp>
        <p:nvSpPr>
          <p:cNvPr id="13" name="Shape 10"/>
          <p:cNvSpPr/>
          <p:nvPr/>
        </p:nvSpPr>
        <p:spPr>
          <a:xfrm>
            <a:off x="6185099" y="5043289"/>
            <a:ext cx="5383609" cy="1323975"/>
          </a:xfrm>
          <a:prstGeom prst="roundRect">
            <a:avLst>
              <a:gd name="adj" fmla="val 5651"/>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4" name="Text 11"/>
          <p:cNvSpPr/>
          <p:nvPr/>
        </p:nvSpPr>
        <p:spPr>
          <a:xfrm>
            <a:off x="6369546" y="5227737"/>
            <a:ext cx="2226668" cy="278308"/>
          </a:xfrm>
          <a:prstGeom prst="rect">
            <a:avLst/>
          </a:prstGeom>
          <a:noFill/>
          <a:ln/>
        </p:spPr>
        <p:txBody>
          <a:bodyPr wrap="none" lIns="0" tIns="0" rIns="0" bIns="0" rtlCol="0" anchor="t"/>
          <a:lstStyle/>
          <a:p>
            <a:pPr>
              <a:lnSpc>
                <a:spcPts val="2167"/>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Data Errors</a:t>
            </a:r>
            <a:endParaRPr lang="en-US" sz="2400" dirty="0">
              <a:latin typeface="Aptos" panose="020B0004020202020204" pitchFamily="34" charset="0"/>
            </a:endParaRPr>
          </a:p>
        </p:txBody>
      </p:sp>
      <p:sp>
        <p:nvSpPr>
          <p:cNvPr id="15" name="Text 12"/>
          <p:cNvSpPr/>
          <p:nvPr/>
        </p:nvSpPr>
        <p:spPr>
          <a:xfrm>
            <a:off x="6369546" y="5612904"/>
            <a:ext cx="5014714" cy="569913"/>
          </a:xfrm>
          <a:prstGeom prst="rect">
            <a:avLst/>
          </a:prstGeom>
          <a:noFill/>
          <a:ln/>
        </p:spPr>
        <p:txBody>
          <a:bodyPr wrap="square" lIns="0" tIns="0" rIns="0" bIns="0" rtlCol="0" anchor="t"/>
          <a:lstStyle/>
          <a:p>
            <a:pPr>
              <a:lnSpc>
                <a:spcPts val="2208"/>
              </a:lnSpc>
            </a:pPr>
            <a:r>
              <a:rPr lang="en-US" dirty="0">
                <a:solidFill>
                  <a:srgbClr val="000000"/>
                </a:solidFill>
                <a:latin typeface="Aptos" panose="020B0004020202020204" pitchFamily="34" charset="0"/>
                <a:ea typeface="Inter" pitchFamily="34" charset="-122"/>
                <a:cs typeface="Inter" pitchFamily="34" charset="-120"/>
              </a:rPr>
              <a:t>Impossible values (negative heights) or duplicate records that don't make sense.</a:t>
            </a:r>
            <a:endParaRPr lang="en-US" dirty="0">
              <a:latin typeface="Aptos" panose="020B00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0953-FE37-EB12-0526-0D2992EAC5FE}"/>
              </a:ext>
            </a:extLst>
          </p:cNvPr>
          <p:cNvSpPr>
            <a:spLocks noGrp="1"/>
          </p:cNvSpPr>
          <p:nvPr>
            <p:ph type="title"/>
          </p:nvPr>
        </p:nvSpPr>
        <p:spPr>
          <a:xfrm>
            <a:off x="838200" y="384666"/>
            <a:ext cx="10515600" cy="1325563"/>
          </a:xfrm>
        </p:spPr>
        <p:txBody>
          <a:bodyPr/>
          <a:lstStyle/>
          <a:p>
            <a:r>
              <a:rPr lang="en-US" dirty="0"/>
              <a:t>The EDA Process</a:t>
            </a:r>
          </a:p>
        </p:txBody>
      </p:sp>
      <p:sp>
        <p:nvSpPr>
          <p:cNvPr id="4" name="Text 1">
            <a:extLst>
              <a:ext uri="{FF2B5EF4-FFF2-40B4-BE49-F238E27FC236}">
                <a16:creationId xmlns:a16="http://schemas.microsoft.com/office/drawing/2014/main" id="{8E8C6205-5D4B-3308-84B6-14E092CD9A6B}"/>
              </a:ext>
            </a:extLst>
          </p:cNvPr>
          <p:cNvSpPr/>
          <p:nvPr/>
        </p:nvSpPr>
        <p:spPr>
          <a:xfrm>
            <a:off x="1547763" y="2479323"/>
            <a:ext cx="2362696" cy="295275"/>
          </a:xfrm>
          <a:prstGeom prst="rect">
            <a:avLst/>
          </a:prstGeom>
          <a:noFill/>
          <a:ln/>
        </p:spPr>
        <p:txBody>
          <a:bodyPr wrap="none" lIns="0" tIns="0" rIns="0" bIns="0" rtlCol="0" anchor="t"/>
          <a:lstStyle/>
          <a:p>
            <a:pPr algn="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Ask Questions</a:t>
            </a:r>
            <a:endParaRPr lang="en-US" sz="2800" dirty="0">
              <a:latin typeface="Aptos" panose="020B0004020202020204" pitchFamily="34" charset="0"/>
            </a:endParaRPr>
          </a:p>
        </p:txBody>
      </p:sp>
      <p:sp>
        <p:nvSpPr>
          <p:cNvPr id="5" name="Text 2">
            <a:extLst>
              <a:ext uri="{FF2B5EF4-FFF2-40B4-BE49-F238E27FC236}">
                <a16:creationId xmlns:a16="http://schemas.microsoft.com/office/drawing/2014/main" id="{1BA4A8EF-4E3C-0775-1657-B2425DC888E6}"/>
              </a:ext>
            </a:extLst>
          </p:cNvPr>
          <p:cNvSpPr/>
          <p:nvPr/>
        </p:nvSpPr>
        <p:spPr>
          <a:xfrm>
            <a:off x="661541" y="2888006"/>
            <a:ext cx="3248918" cy="302419"/>
          </a:xfrm>
          <a:prstGeom prst="rect">
            <a:avLst/>
          </a:prstGeom>
          <a:noFill/>
          <a:ln/>
        </p:spPr>
        <p:txBody>
          <a:bodyPr wrap="none" lIns="0" tIns="0" rIns="0" bIns="0" rtlCol="0" anchor="t"/>
          <a:lstStyle/>
          <a:p>
            <a:pPr algn="r">
              <a:lnSpc>
                <a:spcPts val="2375"/>
              </a:lnSpc>
            </a:pPr>
            <a:r>
              <a:rPr lang="en-US" sz="2000" dirty="0">
                <a:solidFill>
                  <a:srgbClr val="000000"/>
                </a:solidFill>
                <a:latin typeface="Aptos" panose="020B0004020202020204" pitchFamily="34" charset="0"/>
                <a:ea typeface="Inter" pitchFamily="34" charset="-122"/>
                <a:cs typeface="Inter" pitchFamily="34" charset="-120"/>
              </a:rPr>
              <a:t>What do I want to know?</a:t>
            </a:r>
            <a:endParaRPr lang="en-US" sz="2000" dirty="0">
              <a:latin typeface="Aptos" panose="020B0004020202020204" pitchFamily="34" charset="0"/>
            </a:endParaRPr>
          </a:p>
        </p:txBody>
      </p:sp>
      <p:pic>
        <p:nvPicPr>
          <p:cNvPr id="6" name="Image 0" descr="preencoded.png">
            <a:extLst>
              <a:ext uri="{FF2B5EF4-FFF2-40B4-BE49-F238E27FC236}">
                <a16:creationId xmlns:a16="http://schemas.microsoft.com/office/drawing/2014/main" id="{9DD7E45B-1004-567A-AC99-4F0BB422409C}"/>
              </a:ext>
            </a:extLst>
          </p:cNvPr>
          <p:cNvPicPr>
            <a:picLocks noChangeAspect="1"/>
          </p:cNvPicPr>
          <p:nvPr/>
        </p:nvPicPr>
        <p:blipFill>
          <a:blip r:embed="rId2"/>
          <a:stretch>
            <a:fillRect/>
          </a:stretch>
        </p:blipFill>
        <p:spPr>
          <a:xfrm>
            <a:off x="4193927" y="1954754"/>
            <a:ext cx="3804146" cy="3804146"/>
          </a:xfrm>
          <a:prstGeom prst="rect">
            <a:avLst/>
          </a:prstGeom>
        </p:spPr>
      </p:pic>
      <p:pic>
        <p:nvPicPr>
          <p:cNvPr id="7" name="Image 1" descr="preencoded.png">
            <a:extLst>
              <a:ext uri="{FF2B5EF4-FFF2-40B4-BE49-F238E27FC236}">
                <a16:creationId xmlns:a16="http://schemas.microsoft.com/office/drawing/2014/main" id="{3E4BE45C-5EFE-1B05-6E2B-BC4AF2159EA9}"/>
              </a:ext>
            </a:extLst>
          </p:cNvPr>
          <p:cNvPicPr>
            <a:picLocks noChangeAspect="1"/>
          </p:cNvPicPr>
          <p:nvPr/>
        </p:nvPicPr>
        <p:blipFill>
          <a:blip r:embed="rId3"/>
          <a:stretch>
            <a:fillRect/>
          </a:stretch>
        </p:blipFill>
        <p:spPr>
          <a:xfrm>
            <a:off x="5188992" y="2590646"/>
            <a:ext cx="282773" cy="353517"/>
          </a:xfrm>
          <a:prstGeom prst="rect">
            <a:avLst/>
          </a:prstGeom>
        </p:spPr>
      </p:pic>
      <p:sp>
        <p:nvSpPr>
          <p:cNvPr id="8" name="Text 3">
            <a:extLst>
              <a:ext uri="{FF2B5EF4-FFF2-40B4-BE49-F238E27FC236}">
                <a16:creationId xmlns:a16="http://schemas.microsoft.com/office/drawing/2014/main" id="{435AACED-B915-46DA-9B36-02A46FD7FAFB}"/>
              </a:ext>
            </a:extLst>
          </p:cNvPr>
          <p:cNvSpPr/>
          <p:nvPr/>
        </p:nvSpPr>
        <p:spPr>
          <a:xfrm>
            <a:off x="8281541" y="247932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Explore</a:t>
            </a:r>
            <a:endParaRPr lang="en-US" sz="2800" dirty="0">
              <a:latin typeface="Aptos" panose="020B0004020202020204" pitchFamily="34" charset="0"/>
            </a:endParaRPr>
          </a:p>
        </p:txBody>
      </p:sp>
      <p:sp>
        <p:nvSpPr>
          <p:cNvPr id="9" name="Text 4">
            <a:extLst>
              <a:ext uri="{FF2B5EF4-FFF2-40B4-BE49-F238E27FC236}">
                <a16:creationId xmlns:a16="http://schemas.microsoft.com/office/drawing/2014/main" id="{0D23C693-931B-4ADD-5017-1EFB665D3BE0}"/>
              </a:ext>
            </a:extLst>
          </p:cNvPr>
          <p:cNvSpPr/>
          <p:nvPr/>
        </p:nvSpPr>
        <p:spPr>
          <a:xfrm>
            <a:off x="8281541" y="2888006"/>
            <a:ext cx="3249018"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Look at variables and relationships</a:t>
            </a:r>
            <a:endParaRPr lang="en-US" sz="2000" dirty="0">
              <a:latin typeface="Aptos" panose="020B0004020202020204" pitchFamily="34" charset="0"/>
            </a:endParaRPr>
          </a:p>
        </p:txBody>
      </p:sp>
      <p:pic>
        <p:nvPicPr>
          <p:cNvPr id="10" name="Image 2" descr="preencoded.png">
            <a:extLst>
              <a:ext uri="{FF2B5EF4-FFF2-40B4-BE49-F238E27FC236}">
                <a16:creationId xmlns:a16="http://schemas.microsoft.com/office/drawing/2014/main" id="{786331E1-167C-84EA-E7FA-11772C84E269}"/>
              </a:ext>
            </a:extLst>
          </p:cNvPr>
          <p:cNvPicPr>
            <a:picLocks noChangeAspect="1"/>
          </p:cNvPicPr>
          <p:nvPr/>
        </p:nvPicPr>
        <p:blipFill>
          <a:blip r:embed="rId4"/>
          <a:stretch>
            <a:fillRect/>
          </a:stretch>
        </p:blipFill>
        <p:spPr>
          <a:xfrm>
            <a:off x="4193927" y="1954754"/>
            <a:ext cx="3804146" cy="3804146"/>
          </a:xfrm>
          <a:prstGeom prst="rect">
            <a:avLst/>
          </a:prstGeom>
        </p:spPr>
      </p:pic>
      <p:pic>
        <p:nvPicPr>
          <p:cNvPr id="11" name="Image 3" descr="preencoded.png">
            <a:extLst>
              <a:ext uri="{FF2B5EF4-FFF2-40B4-BE49-F238E27FC236}">
                <a16:creationId xmlns:a16="http://schemas.microsoft.com/office/drawing/2014/main" id="{17A64B72-4AA5-2CF8-1677-20301A96B857}"/>
              </a:ext>
            </a:extLst>
          </p:cNvPr>
          <p:cNvPicPr>
            <a:picLocks noChangeAspect="1"/>
          </p:cNvPicPr>
          <p:nvPr/>
        </p:nvPicPr>
        <p:blipFill>
          <a:blip r:embed="rId5"/>
          <a:stretch>
            <a:fillRect/>
          </a:stretch>
        </p:blipFill>
        <p:spPr>
          <a:xfrm>
            <a:off x="7043886" y="2914397"/>
            <a:ext cx="282773" cy="353517"/>
          </a:xfrm>
          <a:prstGeom prst="rect">
            <a:avLst/>
          </a:prstGeom>
        </p:spPr>
      </p:pic>
      <p:sp>
        <p:nvSpPr>
          <p:cNvPr id="12" name="Text 5">
            <a:extLst>
              <a:ext uri="{FF2B5EF4-FFF2-40B4-BE49-F238E27FC236}">
                <a16:creationId xmlns:a16="http://schemas.microsoft.com/office/drawing/2014/main" id="{4EF193BD-723C-A0DB-2CB5-DF830A68A75A}"/>
              </a:ext>
            </a:extLst>
          </p:cNvPr>
          <p:cNvSpPr/>
          <p:nvPr/>
        </p:nvSpPr>
        <p:spPr>
          <a:xfrm>
            <a:off x="8281541" y="4523130"/>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Discover</a:t>
            </a:r>
            <a:endParaRPr lang="en-US" sz="2800" dirty="0">
              <a:latin typeface="Aptos" panose="020B0004020202020204" pitchFamily="34" charset="0"/>
            </a:endParaRPr>
          </a:p>
        </p:txBody>
      </p:sp>
      <p:sp>
        <p:nvSpPr>
          <p:cNvPr id="13" name="Text 6">
            <a:extLst>
              <a:ext uri="{FF2B5EF4-FFF2-40B4-BE49-F238E27FC236}">
                <a16:creationId xmlns:a16="http://schemas.microsoft.com/office/drawing/2014/main" id="{501CFD8C-2A25-29E4-3577-4C52700D67BC}"/>
              </a:ext>
            </a:extLst>
          </p:cNvPr>
          <p:cNvSpPr/>
          <p:nvPr/>
        </p:nvSpPr>
        <p:spPr>
          <a:xfrm>
            <a:off x="8281541" y="4931813"/>
            <a:ext cx="3249018"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Find patterns and anomalies</a:t>
            </a:r>
            <a:endParaRPr lang="en-US" sz="2000" dirty="0">
              <a:latin typeface="Aptos" panose="020B0004020202020204" pitchFamily="34" charset="0"/>
            </a:endParaRPr>
          </a:p>
        </p:txBody>
      </p:sp>
      <p:pic>
        <p:nvPicPr>
          <p:cNvPr id="14" name="Image 4" descr="preencoded.png">
            <a:extLst>
              <a:ext uri="{FF2B5EF4-FFF2-40B4-BE49-F238E27FC236}">
                <a16:creationId xmlns:a16="http://schemas.microsoft.com/office/drawing/2014/main" id="{723D8E02-4016-DC7F-24DC-5AA3A3BFFA8B}"/>
              </a:ext>
            </a:extLst>
          </p:cNvPr>
          <p:cNvPicPr>
            <a:picLocks noChangeAspect="1"/>
          </p:cNvPicPr>
          <p:nvPr/>
        </p:nvPicPr>
        <p:blipFill>
          <a:blip r:embed="rId6"/>
          <a:stretch>
            <a:fillRect/>
          </a:stretch>
        </p:blipFill>
        <p:spPr>
          <a:xfrm>
            <a:off x="4193927" y="1954754"/>
            <a:ext cx="3804146" cy="3804146"/>
          </a:xfrm>
          <a:prstGeom prst="rect">
            <a:avLst/>
          </a:prstGeom>
        </p:spPr>
      </p:pic>
      <p:pic>
        <p:nvPicPr>
          <p:cNvPr id="15" name="Image 5" descr="preencoded.png">
            <a:extLst>
              <a:ext uri="{FF2B5EF4-FFF2-40B4-BE49-F238E27FC236}">
                <a16:creationId xmlns:a16="http://schemas.microsoft.com/office/drawing/2014/main" id="{2945F520-464B-57B6-5E17-E03EBF72E588}"/>
              </a:ext>
            </a:extLst>
          </p:cNvPr>
          <p:cNvPicPr>
            <a:picLocks noChangeAspect="1"/>
          </p:cNvPicPr>
          <p:nvPr/>
        </p:nvPicPr>
        <p:blipFill>
          <a:blip r:embed="rId7"/>
          <a:stretch>
            <a:fillRect/>
          </a:stretch>
        </p:blipFill>
        <p:spPr>
          <a:xfrm>
            <a:off x="6720135" y="4769292"/>
            <a:ext cx="282773" cy="353517"/>
          </a:xfrm>
          <a:prstGeom prst="rect">
            <a:avLst/>
          </a:prstGeom>
        </p:spPr>
      </p:pic>
      <p:sp>
        <p:nvSpPr>
          <p:cNvPr id="16" name="Text 7">
            <a:extLst>
              <a:ext uri="{FF2B5EF4-FFF2-40B4-BE49-F238E27FC236}">
                <a16:creationId xmlns:a16="http://schemas.microsoft.com/office/drawing/2014/main" id="{369594A6-6981-4D4E-2586-E48240B82014}"/>
              </a:ext>
            </a:extLst>
          </p:cNvPr>
          <p:cNvSpPr/>
          <p:nvPr/>
        </p:nvSpPr>
        <p:spPr>
          <a:xfrm>
            <a:off x="1547763" y="4523130"/>
            <a:ext cx="2362696" cy="295275"/>
          </a:xfrm>
          <a:prstGeom prst="rect">
            <a:avLst/>
          </a:prstGeom>
          <a:noFill/>
          <a:ln/>
        </p:spPr>
        <p:txBody>
          <a:bodyPr wrap="none" lIns="0" tIns="0" rIns="0" bIns="0" rtlCol="0" anchor="t"/>
          <a:lstStyle/>
          <a:p>
            <a:pPr algn="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Refine</a:t>
            </a:r>
            <a:endParaRPr lang="en-US" sz="2800" dirty="0">
              <a:latin typeface="Aptos" panose="020B0004020202020204" pitchFamily="34" charset="0"/>
            </a:endParaRPr>
          </a:p>
        </p:txBody>
      </p:sp>
      <p:sp>
        <p:nvSpPr>
          <p:cNvPr id="17" name="Text 8">
            <a:extLst>
              <a:ext uri="{FF2B5EF4-FFF2-40B4-BE49-F238E27FC236}">
                <a16:creationId xmlns:a16="http://schemas.microsoft.com/office/drawing/2014/main" id="{7D267E6B-5836-6F29-7405-09150AA74F54}"/>
              </a:ext>
            </a:extLst>
          </p:cNvPr>
          <p:cNvSpPr/>
          <p:nvPr/>
        </p:nvSpPr>
        <p:spPr>
          <a:xfrm>
            <a:off x="661541" y="4931813"/>
            <a:ext cx="3248918" cy="302419"/>
          </a:xfrm>
          <a:prstGeom prst="rect">
            <a:avLst/>
          </a:prstGeom>
          <a:noFill/>
          <a:ln/>
        </p:spPr>
        <p:txBody>
          <a:bodyPr wrap="none" lIns="0" tIns="0" rIns="0" bIns="0" rtlCol="0" anchor="t"/>
          <a:lstStyle/>
          <a:p>
            <a:pPr algn="r">
              <a:lnSpc>
                <a:spcPts val="2375"/>
              </a:lnSpc>
            </a:pPr>
            <a:r>
              <a:rPr lang="en-US" sz="2000" dirty="0">
                <a:solidFill>
                  <a:srgbClr val="000000"/>
                </a:solidFill>
                <a:latin typeface="Aptos" panose="020B0004020202020204" pitchFamily="34" charset="0"/>
                <a:ea typeface="Inter" pitchFamily="34" charset="-122"/>
                <a:cs typeface="Inter" pitchFamily="34" charset="-120"/>
              </a:rPr>
              <a:t>Adjust and ask new questions</a:t>
            </a:r>
            <a:endParaRPr lang="en-US" sz="2000" dirty="0">
              <a:latin typeface="Aptos" panose="020B0004020202020204" pitchFamily="34" charset="0"/>
            </a:endParaRPr>
          </a:p>
        </p:txBody>
      </p:sp>
      <p:pic>
        <p:nvPicPr>
          <p:cNvPr id="18" name="Image 6" descr="preencoded.png">
            <a:extLst>
              <a:ext uri="{FF2B5EF4-FFF2-40B4-BE49-F238E27FC236}">
                <a16:creationId xmlns:a16="http://schemas.microsoft.com/office/drawing/2014/main" id="{5C680748-B2D2-5CE3-039F-D6332F0C0575}"/>
              </a:ext>
            </a:extLst>
          </p:cNvPr>
          <p:cNvPicPr>
            <a:picLocks noChangeAspect="1"/>
          </p:cNvPicPr>
          <p:nvPr/>
        </p:nvPicPr>
        <p:blipFill>
          <a:blip r:embed="rId8"/>
          <a:stretch>
            <a:fillRect/>
          </a:stretch>
        </p:blipFill>
        <p:spPr>
          <a:xfrm>
            <a:off x="4193927" y="1954754"/>
            <a:ext cx="3804146" cy="3804146"/>
          </a:xfrm>
          <a:prstGeom prst="rect">
            <a:avLst/>
          </a:prstGeom>
        </p:spPr>
      </p:pic>
      <p:pic>
        <p:nvPicPr>
          <p:cNvPr id="19" name="Image 7" descr="preencoded.png">
            <a:extLst>
              <a:ext uri="{FF2B5EF4-FFF2-40B4-BE49-F238E27FC236}">
                <a16:creationId xmlns:a16="http://schemas.microsoft.com/office/drawing/2014/main" id="{16699BDA-F385-3965-BC3A-660BDDC40F87}"/>
              </a:ext>
            </a:extLst>
          </p:cNvPr>
          <p:cNvPicPr>
            <a:picLocks noChangeAspect="1"/>
          </p:cNvPicPr>
          <p:nvPr/>
        </p:nvPicPr>
        <p:blipFill>
          <a:blip r:embed="rId9"/>
          <a:stretch>
            <a:fillRect/>
          </a:stretch>
        </p:blipFill>
        <p:spPr>
          <a:xfrm>
            <a:off x="4865241" y="4445541"/>
            <a:ext cx="282773" cy="353517"/>
          </a:xfrm>
          <a:prstGeom prst="rect">
            <a:avLst/>
          </a:prstGeom>
        </p:spPr>
      </p:pic>
      <p:sp>
        <p:nvSpPr>
          <p:cNvPr id="20" name="Text 9">
            <a:extLst>
              <a:ext uri="{FF2B5EF4-FFF2-40B4-BE49-F238E27FC236}">
                <a16:creationId xmlns:a16="http://schemas.microsoft.com/office/drawing/2014/main" id="{37EB44F8-6AF8-90F0-1B98-6B98741DBA8D}"/>
              </a:ext>
            </a:extLst>
          </p:cNvPr>
          <p:cNvSpPr/>
          <p:nvPr/>
        </p:nvSpPr>
        <p:spPr>
          <a:xfrm>
            <a:off x="661541" y="5971526"/>
            <a:ext cx="10869018"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EDA is iterative - one finding often leads to new questions and further exploration.</a:t>
            </a:r>
            <a:endParaRPr lang="en-US" sz="2000" dirty="0">
              <a:latin typeface="Aptos" panose="020B0004020202020204" pitchFamily="34" charset="0"/>
            </a:endParaRPr>
          </a:p>
        </p:txBody>
      </p:sp>
    </p:spTree>
    <p:extLst>
      <p:ext uri="{BB962C8B-B14F-4D97-AF65-F5344CB8AC3E}">
        <p14:creationId xmlns:p14="http://schemas.microsoft.com/office/powerpoint/2010/main" val="6057359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6A68A-BD52-8608-9D8D-9867740AD07D}"/>
              </a:ext>
            </a:extLst>
          </p:cNvPr>
          <p:cNvSpPr>
            <a:spLocks noGrp="1"/>
          </p:cNvSpPr>
          <p:nvPr>
            <p:ph type="title"/>
          </p:nvPr>
        </p:nvSpPr>
        <p:spPr>
          <a:xfrm>
            <a:off x="711349" y="429648"/>
            <a:ext cx="10515600" cy="515388"/>
          </a:xfrm>
        </p:spPr>
        <p:txBody>
          <a:bodyPr>
            <a:normAutofit fontScale="90000"/>
          </a:bodyPr>
          <a:lstStyle/>
          <a:p>
            <a:r>
              <a:rPr lang="en-US" dirty="0"/>
              <a:t>Key Takeaways</a:t>
            </a:r>
          </a:p>
        </p:txBody>
      </p:sp>
      <p:sp>
        <p:nvSpPr>
          <p:cNvPr id="4" name="Shape 1">
            <a:extLst>
              <a:ext uri="{FF2B5EF4-FFF2-40B4-BE49-F238E27FC236}">
                <a16:creationId xmlns:a16="http://schemas.microsoft.com/office/drawing/2014/main" id="{1E44E480-5EBA-2CD9-4765-4E44FD88C67F}"/>
              </a:ext>
            </a:extLst>
          </p:cNvPr>
          <p:cNvSpPr/>
          <p:nvPr/>
        </p:nvSpPr>
        <p:spPr>
          <a:xfrm>
            <a:off x="642541" y="1394489"/>
            <a:ext cx="413048" cy="413048"/>
          </a:xfrm>
          <a:prstGeom prst="roundRect">
            <a:avLst>
              <a:gd name="adj" fmla="val 1866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5" name="Text 2">
            <a:extLst>
              <a:ext uri="{FF2B5EF4-FFF2-40B4-BE49-F238E27FC236}">
                <a16:creationId xmlns:a16="http://schemas.microsoft.com/office/drawing/2014/main" id="{EF6F9349-E956-F613-4D5E-0FBACF46D421}"/>
              </a:ext>
            </a:extLst>
          </p:cNvPr>
          <p:cNvSpPr/>
          <p:nvPr/>
        </p:nvSpPr>
        <p:spPr>
          <a:xfrm>
            <a:off x="711349" y="1495129"/>
            <a:ext cx="275332" cy="344190"/>
          </a:xfrm>
          <a:prstGeom prst="rect">
            <a:avLst/>
          </a:prstGeom>
          <a:noFill/>
          <a:ln/>
        </p:spPr>
        <p:txBody>
          <a:bodyPr wrap="none" lIns="0" tIns="0" rIns="0" bIns="0" rtlCol="0" anchor="t"/>
          <a:lstStyle/>
          <a:p>
            <a:pPr algn="ctr">
              <a:lnSpc>
                <a:spcPts val="2167"/>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1</a:t>
            </a:r>
            <a:endParaRPr lang="en-US" sz="3200" dirty="0">
              <a:latin typeface="Aptos" panose="020B0004020202020204" pitchFamily="34" charset="0"/>
            </a:endParaRPr>
          </a:p>
        </p:txBody>
      </p:sp>
      <p:sp>
        <p:nvSpPr>
          <p:cNvPr id="6" name="Text 3">
            <a:extLst>
              <a:ext uri="{FF2B5EF4-FFF2-40B4-BE49-F238E27FC236}">
                <a16:creationId xmlns:a16="http://schemas.microsoft.com/office/drawing/2014/main" id="{7C03F1F4-E26A-A004-8DDF-519CBC84EED9}"/>
              </a:ext>
            </a:extLst>
          </p:cNvPr>
          <p:cNvSpPr/>
          <p:nvPr/>
        </p:nvSpPr>
        <p:spPr>
          <a:xfrm>
            <a:off x="1239143" y="1417836"/>
            <a:ext cx="2294732" cy="286842"/>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EDA is Essential</a:t>
            </a:r>
            <a:endParaRPr lang="en-US" sz="2400" dirty="0">
              <a:latin typeface="Aptos" panose="020B0004020202020204" pitchFamily="34" charset="0"/>
            </a:endParaRPr>
          </a:p>
        </p:txBody>
      </p:sp>
      <p:sp>
        <p:nvSpPr>
          <p:cNvPr id="7" name="Text 4">
            <a:extLst>
              <a:ext uri="{FF2B5EF4-FFF2-40B4-BE49-F238E27FC236}">
                <a16:creationId xmlns:a16="http://schemas.microsoft.com/office/drawing/2014/main" id="{90D7DA49-8D99-BC8C-E0AA-21B0ACE3625F}"/>
              </a:ext>
            </a:extLst>
          </p:cNvPr>
          <p:cNvSpPr/>
          <p:nvPr/>
        </p:nvSpPr>
        <p:spPr>
          <a:xfrm>
            <a:off x="1239143" y="1814810"/>
            <a:ext cx="5738317" cy="587375"/>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Always explore your data before jumping to conclusions or complex models.</a:t>
            </a:r>
            <a:endParaRPr lang="en-US" sz="2000" dirty="0">
              <a:latin typeface="Aptos" panose="020B0004020202020204" pitchFamily="34" charset="0"/>
            </a:endParaRPr>
          </a:p>
        </p:txBody>
      </p:sp>
      <p:sp>
        <p:nvSpPr>
          <p:cNvPr id="8" name="Shape 5">
            <a:extLst>
              <a:ext uri="{FF2B5EF4-FFF2-40B4-BE49-F238E27FC236}">
                <a16:creationId xmlns:a16="http://schemas.microsoft.com/office/drawing/2014/main" id="{0EE983D5-6F13-E55C-62A5-E2ADE7E92AAE}"/>
              </a:ext>
            </a:extLst>
          </p:cNvPr>
          <p:cNvSpPr/>
          <p:nvPr/>
        </p:nvSpPr>
        <p:spPr>
          <a:xfrm>
            <a:off x="642541" y="2795798"/>
            <a:ext cx="413048" cy="413048"/>
          </a:xfrm>
          <a:prstGeom prst="roundRect">
            <a:avLst>
              <a:gd name="adj" fmla="val 1866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9" name="Text 6">
            <a:extLst>
              <a:ext uri="{FF2B5EF4-FFF2-40B4-BE49-F238E27FC236}">
                <a16:creationId xmlns:a16="http://schemas.microsoft.com/office/drawing/2014/main" id="{923D653C-A0EB-0D2F-9744-D5A8F75483D3}"/>
              </a:ext>
            </a:extLst>
          </p:cNvPr>
          <p:cNvSpPr/>
          <p:nvPr/>
        </p:nvSpPr>
        <p:spPr>
          <a:xfrm>
            <a:off x="711349" y="2896438"/>
            <a:ext cx="275332" cy="344190"/>
          </a:xfrm>
          <a:prstGeom prst="rect">
            <a:avLst/>
          </a:prstGeom>
          <a:noFill/>
          <a:ln/>
        </p:spPr>
        <p:txBody>
          <a:bodyPr wrap="none" lIns="0" tIns="0" rIns="0" bIns="0" rtlCol="0" anchor="t"/>
          <a:lstStyle/>
          <a:p>
            <a:pPr algn="ctr">
              <a:lnSpc>
                <a:spcPts val="2167"/>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2</a:t>
            </a:r>
            <a:endParaRPr lang="en-US" sz="3200" dirty="0">
              <a:latin typeface="Aptos" panose="020B0004020202020204" pitchFamily="34" charset="0"/>
            </a:endParaRPr>
          </a:p>
        </p:txBody>
      </p:sp>
      <p:sp>
        <p:nvSpPr>
          <p:cNvPr id="10" name="Text 7">
            <a:extLst>
              <a:ext uri="{FF2B5EF4-FFF2-40B4-BE49-F238E27FC236}">
                <a16:creationId xmlns:a16="http://schemas.microsoft.com/office/drawing/2014/main" id="{DC0A63C5-30FA-3E34-88D4-0D58261A3332}"/>
              </a:ext>
            </a:extLst>
          </p:cNvPr>
          <p:cNvSpPr/>
          <p:nvPr/>
        </p:nvSpPr>
        <p:spPr>
          <a:xfrm>
            <a:off x="1239143" y="2832397"/>
            <a:ext cx="2294732" cy="286842"/>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Use Basic Operations</a:t>
            </a:r>
            <a:endParaRPr lang="en-US" sz="2400" dirty="0">
              <a:latin typeface="Aptos" panose="020B0004020202020204" pitchFamily="34" charset="0"/>
            </a:endParaRPr>
          </a:p>
        </p:txBody>
      </p:sp>
      <p:sp>
        <p:nvSpPr>
          <p:cNvPr id="11" name="Text 8">
            <a:extLst>
              <a:ext uri="{FF2B5EF4-FFF2-40B4-BE49-F238E27FC236}">
                <a16:creationId xmlns:a16="http://schemas.microsoft.com/office/drawing/2014/main" id="{8233AE27-54A3-692E-EB0F-00400A92FF6C}"/>
              </a:ext>
            </a:extLst>
          </p:cNvPr>
          <p:cNvSpPr/>
          <p:nvPr/>
        </p:nvSpPr>
        <p:spPr>
          <a:xfrm>
            <a:off x="1239143" y="3229372"/>
            <a:ext cx="5738317" cy="587375"/>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Sorting, filtering, and grouping help answer simple but important questions.</a:t>
            </a:r>
            <a:endParaRPr lang="en-US" sz="2000" dirty="0">
              <a:latin typeface="Aptos" panose="020B0004020202020204" pitchFamily="34" charset="0"/>
            </a:endParaRPr>
          </a:p>
        </p:txBody>
      </p:sp>
      <p:sp>
        <p:nvSpPr>
          <p:cNvPr id="12" name="Shape 9">
            <a:extLst>
              <a:ext uri="{FF2B5EF4-FFF2-40B4-BE49-F238E27FC236}">
                <a16:creationId xmlns:a16="http://schemas.microsoft.com/office/drawing/2014/main" id="{AAA1A681-05DE-7DAC-93DA-8F48B9F759A0}"/>
              </a:ext>
            </a:extLst>
          </p:cNvPr>
          <p:cNvSpPr/>
          <p:nvPr/>
        </p:nvSpPr>
        <p:spPr>
          <a:xfrm>
            <a:off x="642541" y="4210361"/>
            <a:ext cx="413048" cy="413048"/>
          </a:xfrm>
          <a:prstGeom prst="roundRect">
            <a:avLst>
              <a:gd name="adj" fmla="val 1866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3" name="Text 10">
            <a:extLst>
              <a:ext uri="{FF2B5EF4-FFF2-40B4-BE49-F238E27FC236}">
                <a16:creationId xmlns:a16="http://schemas.microsoft.com/office/drawing/2014/main" id="{8E7496F0-8C06-1A20-4901-B46E944C6C84}"/>
              </a:ext>
            </a:extLst>
          </p:cNvPr>
          <p:cNvSpPr/>
          <p:nvPr/>
        </p:nvSpPr>
        <p:spPr>
          <a:xfrm>
            <a:off x="711349" y="4324252"/>
            <a:ext cx="275332" cy="344190"/>
          </a:xfrm>
          <a:prstGeom prst="rect">
            <a:avLst/>
          </a:prstGeom>
          <a:noFill/>
          <a:ln/>
        </p:spPr>
        <p:txBody>
          <a:bodyPr wrap="none" lIns="0" tIns="0" rIns="0" bIns="0" rtlCol="0" anchor="t"/>
          <a:lstStyle/>
          <a:p>
            <a:pPr algn="ctr">
              <a:lnSpc>
                <a:spcPts val="2167"/>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3</a:t>
            </a:r>
            <a:endParaRPr lang="en-US" sz="3200" dirty="0">
              <a:latin typeface="Aptos" panose="020B0004020202020204" pitchFamily="34" charset="0"/>
            </a:endParaRPr>
          </a:p>
        </p:txBody>
      </p:sp>
      <p:sp>
        <p:nvSpPr>
          <p:cNvPr id="14" name="Text 11">
            <a:extLst>
              <a:ext uri="{FF2B5EF4-FFF2-40B4-BE49-F238E27FC236}">
                <a16:creationId xmlns:a16="http://schemas.microsoft.com/office/drawing/2014/main" id="{17E50A49-54D0-0B8D-B801-EAE555A48254}"/>
              </a:ext>
            </a:extLst>
          </p:cNvPr>
          <p:cNvSpPr/>
          <p:nvPr/>
        </p:nvSpPr>
        <p:spPr>
          <a:xfrm>
            <a:off x="1239144" y="4246959"/>
            <a:ext cx="3350121" cy="286842"/>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Examine One Variable at a Time</a:t>
            </a:r>
            <a:endParaRPr lang="en-US" sz="2400" dirty="0">
              <a:latin typeface="Aptos" panose="020B0004020202020204" pitchFamily="34" charset="0"/>
            </a:endParaRPr>
          </a:p>
        </p:txBody>
      </p:sp>
      <p:sp>
        <p:nvSpPr>
          <p:cNvPr id="15" name="Text 12">
            <a:extLst>
              <a:ext uri="{FF2B5EF4-FFF2-40B4-BE49-F238E27FC236}">
                <a16:creationId xmlns:a16="http://schemas.microsoft.com/office/drawing/2014/main" id="{38B3DF3F-B5A8-1F26-E78B-0F8707B020A7}"/>
              </a:ext>
            </a:extLst>
          </p:cNvPr>
          <p:cNvSpPr/>
          <p:nvPr/>
        </p:nvSpPr>
        <p:spPr>
          <a:xfrm>
            <a:off x="1239143" y="4643933"/>
            <a:ext cx="5738317" cy="587375"/>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Understand distributions using summary statistics and visualizations.</a:t>
            </a:r>
            <a:endParaRPr lang="en-US" sz="2000" dirty="0">
              <a:latin typeface="Aptos" panose="020B0004020202020204" pitchFamily="34" charset="0"/>
            </a:endParaRPr>
          </a:p>
        </p:txBody>
      </p:sp>
      <p:sp>
        <p:nvSpPr>
          <p:cNvPr id="16" name="Shape 13">
            <a:extLst>
              <a:ext uri="{FF2B5EF4-FFF2-40B4-BE49-F238E27FC236}">
                <a16:creationId xmlns:a16="http://schemas.microsoft.com/office/drawing/2014/main" id="{92B99639-C0AE-A0EE-2CC0-A539B893026D}"/>
              </a:ext>
            </a:extLst>
          </p:cNvPr>
          <p:cNvSpPr/>
          <p:nvPr/>
        </p:nvSpPr>
        <p:spPr>
          <a:xfrm>
            <a:off x="642541" y="5638175"/>
            <a:ext cx="413048" cy="413048"/>
          </a:xfrm>
          <a:prstGeom prst="roundRect">
            <a:avLst>
              <a:gd name="adj" fmla="val 18667"/>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7" name="Text 14">
            <a:extLst>
              <a:ext uri="{FF2B5EF4-FFF2-40B4-BE49-F238E27FC236}">
                <a16:creationId xmlns:a16="http://schemas.microsoft.com/office/drawing/2014/main" id="{93066EE3-22F8-38DD-7C78-17FBEBF0E815}"/>
              </a:ext>
            </a:extLst>
          </p:cNvPr>
          <p:cNvSpPr/>
          <p:nvPr/>
        </p:nvSpPr>
        <p:spPr>
          <a:xfrm>
            <a:off x="711349" y="5725562"/>
            <a:ext cx="275332" cy="344190"/>
          </a:xfrm>
          <a:prstGeom prst="rect">
            <a:avLst/>
          </a:prstGeom>
          <a:noFill/>
          <a:ln/>
        </p:spPr>
        <p:txBody>
          <a:bodyPr wrap="none" lIns="0" tIns="0" rIns="0" bIns="0" rtlCol="0" anchor="t"/>
          <a:lstStyle/>
          <a:p>
            <a:pPr algn="ctr">
              <a:lnSpc>
                <a:spcPts val="2167"/>
              </a:lnSpc>
            </a:pPr>
            <a:r>
              <a:rPr lang="en-US" sz="3200" b="1" dirty="0">
                <a:solidFill>
                  <a:srgbClr val="000000"/>
                </a:solidFill>
                <a:latin typeface="Aptos" panose="020B0004020202020204" pitchFamily="34" charset="0"/>
                <a:ea typeface="Playfair Display Bold" pitchFamily="34" charset="-122"/>
                <a:cs typeface="Playfair Display Bold" pitchFamily="34" charset="-120"/>
              </a:rPr>
              <a:t>4</a:t>
            </a:r>
            <a:endParaRPr lang="en-US" sz="3200" dirty="0">
              <a:latin typeface="Aptos" panose="020B0004020202020204" pitchFamily="34" charset="0"/>
            </a:endParaRPr>
          </a:p>
        </p:txBody>
      </p:sp>
      <p:sp>
        <p:nvSpPr>
          <p:cNvPr id="18" name="Text 15">
            <a:extLst>
              <a:ext uri="{FF2B5EF4-FFF2-40B4-BE49-F238E27FC236}">
                <a16:creationId xmlns:a16="http://schemas.microsoft.com/office/drawing/2014/main" id="{C6030D1D-DDDD-2391-8C76-D3F2B73405C2}"/>
              </a:ext>
            </a:extLst>
          </p:cNvPr>
          <p:cNvSpPr/>
          <p:nvPr/>
        </p:nvSpPr>
        <p:spPr>
          <a:xfrm>
            <a:off x="1239144" y="5661521"/>
            <a:ext cx="2394943" cy="286842"/>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Look for Relationships</a:t>
            </a:r>
            <a:endParaRPr lang="en-US" sz="2400" dirty="0">
              <a:latin typeface="Aptos" panose="020B0004020202020204" pitchFamily="34" charset="0"/>
            </a:endParaRPr>
          </a:p>
        </p:txBody>
      </p:sp>
      <p:sp>
        <p:nvSpPr>
          <p:cNvPr id="19" name="Text 16">
            <a:extLst>
              <a:ext uri="{FF2B5EF4-FFF2-40B4-BE49-F238E27FC236}">
                <a16:creationId xmlns:a16="http://schemas.microsoft.com/office/drawing/2014/main" id="{6C923DEC-0EA9-3185-C477-1BFA9721A468}"/>
              </a:ext>
            </a:extLst>
          </p:cNvPr>
          <p:cNvSpPr/>
          <p:nvPr/>
        </p:nvSpPr>
        <p:spPr>
          <a:xfrm>
            <a:off x="1239143" y="6058495"/>
            <a:ext cx="5738317" cy="293688"/>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Explore how pairs of variables relate to each other.</a:t>
            </a:r>
            <a:endParaRPr lang="en-US" sz="2000" dirty="0">
              <a:latin typeface="Aptos" panose="020B0004020202020204" pitchFamily="34" charset="0"/>
            </a:endParaRPr>
          </a:p>
        </p:txBody>
      </p:sp>
      <p:pic>
        <p:nvPicPr>
          <p:cNvPr id="20" name="Image 0" descr="preencoded.png">
            <a:extLst>
              <a:ext uri="{FF2B5EF4-FFF2-40B4-BE49-F238E27FC236}">
                <a16:creationId xmlns:a16="http://schemas.microsoft.com/office/drawing/2014/main" id="{2A68F56B-5F17-C4CA-A0D7-DA94C9115A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29551" y="1026816"/>
            <a:ext cx="3719908" cy="5579862"/>
          </a:xfrm>
          <a:prstGeom prst="rect">
            <a:avLst/>
          </a:prstGeom>
        </p:spPr>
      </p:pic>
    </p:spTree>
    <p:extLst>
      <p:ext uri="{BB962C8B-B14F-4D97-AF65-F5344CB8AC3E}">
        <p14:creationId xmlns:p14="http://schemas.microsoft.com/office/powerpoint/2010/main" val="1556871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2362696"/>
          </a:xfrm>
          <a:prstGeom prst="rect">
            <a:avLst/>
          </a:prstGeom>
        </p:spPr>
      </p:pic>
      <p:sp>
        <p:nvSpPr>
          <p:cNvPr id="3" name="Text 0"/>
          <p:cNvSpPr/>
          <p:nvPr/>
        </p:nvSpPr>
        <p:spPr>
          <a:xfrm>
            <a:off x="661492" y="2905820"/>
            <a:ext cx="4725492" cy="590649"/>
          </a:xfrm>
          <a:prstGeom prst="rect">
            <a:avLst/>
          </a:prstGeom>
          <a:noFill/>
          <a:ln/>
        </p:spPr>
        <p:txBody>
          <a:bodyPr wrap="none" lIns="0" tIns="0" rIns="0" bIns="0" rtlCol="0" anchor="t"/>
          <a:lstStyle/>
          <a:p>
            <a:pPr>
              <a:lnSpc>
                <a:spcPts val="462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More Key Takeaways</a:t>
            </a:r>
            <a:endParaRPr lang="en-US" sz="4400" dirty="0">
              <a:latin typeface="Aptos" panose="020B0004020202020204" pitchFamily="34" charset="0"/>
            </a:endParaRPr>
          </a:p>
        </p:txBody>
      </p:sp>
      <p:sp>
        <p:nvSpPr>
          <p:cNvPr id="4" name="Shape 1"/>
          <p:cNvSpPr/>
          <p:nvPr/>
        </p:nvSpPr>
        <p:spPr>
          <a:xfrm>
            <a:off x="661491" y="3779937"/>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p:cNvSpPr/>
          <p:nvPr/>
        </p:nvSpPr>
        <p:spPr>
          <a:xfrm>
            <a:off x="732383" y="3815358"/>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1</a:t>
            </a:r>
            <a:endParaRPr lang="en-US" sz="2800" dirty="0">
              <a:latin typeface="Aptos" panose="020B0004020202020204" pitchFamily="34" charset="0"/>
            </a:endParaRPr>
          </a:p>
        </p:txBody>
      </p:sp>
      <p:sp>
        <p:nvSpPr>
          <p:cNvPr id="6" name="Text 3"/>
          <p:cNvSpPr/>
          <p:nvPr/>
        </p:nvSpPr>
        <p:spPr>
          <a:xfrm>
            <a:off x="1275755" y="384482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Visualize</a:t>
            </a:r>
            <a:endParaRPr lang="en-US" sz="2400" dirty="0">
              <a:latin typeface="Aptos" panose="020B0004020202020204" pitchFamily="34" charset="0"/>
            </a:endParaRPr>
          </a:p>
        </p:txBody>
      </p:sp>
      <p:sp>
        <p:nvSpPr>
          <p:cNvPr id="7" name="Text 4"/>
          <p:cNvSpPr/>
          <p:nvPr/>
        </p:nvSpPr>
        <p:spPr>
          <a:xfrm>
            <a:off x="1275755" y="4253508"/>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A well-chosen plot can reveal insights at a glance that might be buried in numbers.</a:t>
            </a:r>
            <a:endParaRPr lang="en-US" dirty="0">
              <a:latin typeface="Aptos" panose="020B0004020202020204" pitchFamily="34" charset="0"/>
            </a:endParaRPr>
          </a:p>
        </p:txBody>
      </p:sp>
      <p:sp>
        <p:nvSpPr>
          <p:cNvPr id="8" name="Shape 5"/>
          <p:cNvSpPr/>
          <p:nvPr/>
        </p:nvSpPr>
        <p:spPr>
          <a:xfrm>
            <a:off x="6214169" y="3779937"/>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9" name="Text 6"/>
          <p:cNvSpPr/>
          <p:nvPr/>
        </p:nvSpPr>
        <p:spPr>
          <a:xfrm>
            <a:off x="6285062" y="3815358"/>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2</a:t>
            </a:r>
            <a:endParaRPr lang="en-US" sz="2800" dirty="0">
              <a:latin typeface="Aptos" panose="020B0004020202020204" pitchFamily="34" charset="0"/>
            </a:endParaRPr>
          </a:p>
        </p:txBody>
      </p:sp>
      <p:sp>
        <p:nvSpPr>
          <p:cNvPr id="10" name="Text 7"/>
          <p:cNvSpPr/>
          <p:nvPr/>
        </p:nvSpPr>
        <p:spPr>
          <a:xfrm>
            <a:off x="6828433" y="3844826"/>
            <a:ext cx="3674169"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Watch for Patterns and Anomalies</a:t>
            </a:r>
            <a:endParaRPr lang="en-US" sz="2400" dirty="0">
              <a:latin typeface="Aptos" panose="020B0004020202020204" pitchFamily="34" charset="0"/>
            </a:endParaRPr>
          </a:p>
        </p:txBody>
      </p:sp>
      <p:sp>
        <p:nvSpPr>
          <p:cNvPr id="11" name="Text 8"/>
          <p:cNvSpPr/>
          <p:nvPr/>
        </p:nvSpPr>
        <p:spPr>
          <a:xfrm>
            <a:off x="6828433" y="4253508"/>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Look for trends, clusters, outliers, and other interesting features.</a:t>
            </a:r>
            <a:endParaRPr lang="en-US" dirty="0">
              <a:latin typeface="Aptos" panose="020B0004020202020204" pitchFamily="34" charset="0"/>
            </a:endParaRPr>
          </a:p>
        </p:txBody>
      </p:sp>
      <p:sp>
        <p:nvSpPr>
          <p:cNvPr id="12" name="Shape 9"/>
          <p:cNvSpPr/>
          <p:nvPr/>
        </p:nvSpPr>
        <p:spPr>
          <a:xfrm>
            <a:off x="661491" y="5236369"/>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3" name="Text 10"/>
          <p:cNvSpPr/>
          <p:nvPr/>
        </p:nvSpPr>
        <p:spPr>
          <a:xfrm>
            <a:off x="732383" y="5271791"/>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3</a:t>
            </a:r>
            <a:endParaRPr lang="en-US" sz="2800" dirty="0">
              <a:latin typeface="Aptos" panose="020B0004020202020204" pitchFamily="34" charset="0"/>
            </a:endParaRPr>
          </a:p>
        </p:txBody>
      </p:sp>
      <p:sp>
        <p:nvSpPr>
          <p:cNvPr id="14" name="Text 11"/>
          <p:cNvSpPr/>
          <p:nvPr/>
        </p:nvSpPr>
        <p:spPr>
          <a:xfrm>
            <a:off x="1275755" y="530125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Be Iterative</a:t>
            </a:r>
            <a:endParaRPr lang="en-US" sz="2400" dirty="0">
              <a:latin typeface="Aptos" panose="020B0004020202020204" pitchFamily="34" charset="0"/>
            </a:endParaRPr>
          </a:p>
        </p:txBody>
      </p:sp>
      <p:sp>
        <p:nvSpPr>
          <p:cNvPr id="15" name="Text 12"/>
          <p:cNvSpPr/>
          <p:nvPr/>
        </p:nvSpPr>
        <p:spPr>
          <a:xfrm>
            <a:off x="1275755" y="5709940"/>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EDA is not a strict recipe but an exploration that follows your curiosity.</a:t>
            </a:r>
            <a:endParaRPr lang="en-US" dirty="0">
              <a:latin typeface="Aptos" panose="020B0004020202020204" pitchFamily="34" charset="0"/>
            </a:endParaRPr>
          </a:p>
        </p:txBody>
      </p:sp>
      <p:sp>
        <p:nvSpPr>
          <p:cNvPr id="16" name="Shape 13"/>
          <p:cNvSpPr/>
          <p:nvPr/>
        </p:nvSpPr>
        <p:spPr>
          <a:xfrm>
            <a:off x="6214169" y="5236369"/>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7" name="Text 14"/>
          <p:cNvSpPr/>
          <p:nvPr/>
        </p:nvSpPr>
        <p:spPr>
          <a:xfrm>
            <a:off x="6285062" y="5271791"/>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4</a:t>
            </a:r>
            <a:endParaRPr lang="en-US" sz="2800" dirty="0">
              <a:latin typeface="Aptos" panose="020B0004020202020204" pitchFamily="34" charset="0"/>
            </a:endParaRPr>
          </a:p>
        </p:txBody>
      </p:sp>
      <p:sp>
        <p:nvSpPr>
          <p:cNvPr id="18" name="Text 15"/>
          <p:cNvSpPr/>
          <p:nvPr/>
        </p:nvSpPr>
        <p:spPr>
          <a:xfrm>
            <a:off x="6828433" y="5301258"/>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Document Findings</a:t>
            </a:r>
            <a:endParaRPr lang="en-US" sz="2400" dirty="0">
              <a:latin typeface="Aptos" panose="020B0004020202020204" pitchFamily="34" charset="0"/>
            </a:endParaRPr>
          </a:p>
        </p:txBody>
      </p:sp>
      <p:sp>
        <p:nvSpPr>
          <p:cNvPr id="19" name="Text 16"/>
          <p:cNvSpPr/>
          <p:nvPr/>
        </p:nvSpPr>
        <p:spPr>
          <a:xfrm>
            <a:off x="6828433" y="5709940"/>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Keep track of what you discover to inform later analysis.</a:t>
            </a:r>
            <a:endParaRPr lang="en-US" dirty="0">
              <a:latin typeface="Aptos" panose="020B00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 Complete — You Are Now an EDA Detective!</a:t>
            </a:r>
          </a:p>
        </p:txBody>
      </p:sp>
      <p:sp>
        <p:nvSpPr>
          <p:cNvPr id="3" name="Body 1"/>
          <p:cNvSpPr>
            <a:spLocks noGrp="1"/>
          </p:cNvSpPr>
          <p:nvPr>
            <p:ph type="body" idx="1"/>
          </p:nvPr>
        </p:nvSpPr>
        <p:spPr/>
        <p:txBody>
          <a:bodyPr/>
          <a:lstStyle/>
          <a:p>
            <a:r>
              <a:rPr lang="en-US" sz="2000" b="1" dirty="0"/>
              <a:t>Skills you’ve mastered in Chapter 8:</a:t>
            </a:r>
          </a:p>
          <a:p>
            <a:pPr marL="285739" indent="-285739">
              <a:buChar char="✓"/>
            </a:pPr>
            <a:r>
              <a:rPr lang="en-US" sz="1800" dirty="0"/>
              <a:t>Sorting, filtering, and grouping data with R and Python</a:t>
            </a:r>
          </a:p>
          <a:p>
            <a:pPr marL="285739" indent="-285739">
              <a:buChar char="✓"/>
            </a:pPr>
            <a:r>
              <a:rPr lang="en-US" sz="1800" dirty="0"/>
              <a:t>Univariate analysis: histograms, boxplots, summary statistics</a:t>
            </a:r>
          </a:p>
          <a:p>
            <a:pPr marL="285739" indent="-285739">
              <a:buChar char="✓"/>
            </a:pPr>
            <a:r>
              <a:rPr lang="en-US" sz="1800" dirty="0"/>
              <a:t>Bivariate analysis: scatterplots, correlation, grouped boxplots</a:t>
            </a:r>
          </a:p>
          <a:p>
            <a:pPr marL="285739" indent="-285739">
              <a:buChar char="✓"/>
            </a:pPr>
            <a:r>
              <a:rPr lang="en-US" sz="1800" dirty="0"/>
              <a:t>Correlation ≠ causation — thinking critically about relationships</a:t>
            </a:r>
          </a:p>
          <a:p>
            <a:pPr marL="285739" indent="-285739">
              <a:buChar char="✓"/>
            </a:pPr>
            <a:r>
              <a:rPr lang="en-US" sz="1800" dirty="0"/>
              <a:t>Using a coding agent as a helper — prompting, verifying, and iterating</a:t>
            </a:r>
          </a:p>
          <a:p>
            <a:endParaRPr lang="en-US" sz="1800"/>
          </a:p>
          <a:p>
            <a:r>
              <a:rPr lang="en-US" sz="2000" b="1" dirty="0"/>
              <a:t>Coming Up: Chapter 9 — Making Inferences (from Sample to Population)</a:t>
            </a:r>
          </a:p>
          <a:p>
            <a:r>
              <a:rPr lang="en-US" sz="1800" dirty="0"/>
              <a:t>We’ll go beyond describing data to making conclusions — confidence intervals, hypothesis testing, and statistical significance.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3246-AF65-2BD3-10C2-E0A05A6DB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058C8-1CCF-1383-0343-8E35D468A2BD}"/>
              </a:ext>
            </a:extLst>
          </p:cNvPr>
          <p:cNvSpPr>
            <a:spLocks noGrp="1"/>
          </p:cNvSpPr>
          <p:nvPr>
            <p:ph type="ctrTitle"/>
          </p:nvPr>
        </p:nvSpPr>
        <p:spPr>
          <a:xfrm>
            <a:off x="1045535" y="1196791"/>
            <a:ext cx="10442944" cy="2387600"/>
          </a:xfrm>
        </p:spPr>
        <p:txBody>
          <a:bodyPr>
            <a:normAutofit/>
          </a:bodyPr>
          <a:lstStyle/>
          <a:p>
            <a:r>
              <a:rPr lang="en-US" dirty="0"/>
              <a:t>Chapter 8</a:t>
            </a:r>
          </a:p>
        </p:txBody>
      </p:sp>
      <p:sp>
        <p:nvSpPr>
          <p:cNvPr id="3" name="Subtitle 2">
            <a:extLst>
              <a:ext uri="{FF2B5EF4-FFF2-40B4-BE49-F238E27FC236}">
                <a16:creationId xmlns:a16="http://schemas.microsoft.com/office/drawing/2014/main" id="{1BADCD28-9506-2A5A-0235-BC89F7396852}"/>
              </a:ext>
            </a:extLst>
          </p:cNvPr>
          <p:cNvSpPr>
            <a:spLocks noGrp="1"/>
          </p:cNvSpPr>
          <p:nvPr>
            <p:ph type="subTitle" idx="1"/>
          </p:nvPr>
        </p:nvSpPr>
        <p:spPr>
          <a:xfrm>
            <a:off x="1524000" y="4231758"/>
            <a:ext cx="9144000" cy="1026042"/>
          </a:xfrm>
        </p:spPr>
        <p:txBody>
          <a:bodyPr/>
          <a:lstStyle/>
          <a:p>
            <a:r>
              <a:rPr lang="en-US" dirty="0"/>
              <a:t>Meet Your Coding Agent — AI-Assisted Data Analysis</a:t>
            </a:r>
          </a:p>
        </p:txBody>
      </p:sp>
    </p:spTree>
    <p:extLst>
      <p:ext uri="{BB962C8B-B14F-4D97-AF65-F5344CB8AC3E}">
        <p14:creationId xmlns:p14="http://schemas.microsoft.com/office/powerpoint/2010/main" val="8199263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000"/>
            <a:ext cx="10515600" cy="800000"/>
          </a:xfrm>
        </p:spPr>
        <p:txBody>
          <a:bodyPr>
            <a:normAutofit/>
          </a:bodyPr>
          <a:lstStyle/>
          <a:p>
            <a:r>
              <a:rPr lang="en-US" dirty="0"/>
              <a:t>What is a Coding Agent?</a:t>
            </a:r>
          </a:p>
        </p:txBody>
      </p:sp>
      <p:sp>
        <p:nvSpPr>
          <p:cNvPr id="3" name="Left Col"/>
          <p:cNvSpPr/>
          <p:nvPr/>
        </p:nvSpPr>
        <p:spPr>
          <a:xfrm>
            <a:off x="380000" y="1300000"/>
            <a:ext cx="5550000" cy="5200000"/>
          </a:xfrm>
          <a:prstGeom prst="roundRect">
            <a:avLst>
              <a:gd name="adj" fmla="val 3000"/>
            </a:avLst>
          </a:prstGeom>
          <a:solidFill>
            <a:srgbClr val="CCEDFF"/>
          </a:solidFill>
          <a:ln w="9525">
            <a:solidFill>
              <a:srgbClr val="B2D3E5"/>
            </a:solidFill>
          </a:ln>
        </p:spPr>
        <p:txBody>
          <a:bodyPr lIns="200000" tIns="200000" rIns="200000" bIns="200000" wrap="square"/>
          <a:lstStyle/>
          <a:p>
            <a:r>
              <a:rPr lang="en-US" sz="2000" b="1" dirty="0"/>
              <a:t>🤖 An AI Programming Partner</a:t>
            </a:r>
          </a:p>
          <a:p>
            <a:endParaRPr lang="en-US" sz="1700"/>
          </a:p>
          <a:p>
            <a:r>
              <a:rPr lang="en-US" sz="1700" dirty="0"/>
              <a:t>A coding agent is an AI (like Claude, GitHub Copilot, or ChatGPT) that understands your data goal, writes code, and explains results — like having a knowledgeable teammate.</a:t>
            </a:r>
          </a:p>
          <a:p>
            <a:endParaRPr lang="en-US" sz="1700"/>
          </a:p>
          <a:p>
            <a:r>
              <a:rPr lang="en-US" sz="2000" b="1" dirty="0"/>
              <a:t>💻 What Can It Do?</a:t>
            </a:r>
          </a:p>
          <a:p>
            <a:endParaRPr lang="en-US" sz="1700"/>
          </a:p>
          <a:p>
            <a:pPr marL="200000" indent="-200000">
              <a:buChar char="•"/>
            </a:pPr>
            <a:r>
              <a:rPr lang="en-US" sz="1700" dirty="0"/>
              <a:t>Generate R or Python code from plain English</a:t>
            </a:r>
          </a:p>
          <a:p>
            <a:pPr marL="200000" indent="-200000">
              <a:buChar char="•"/>
            </a:pPr>
            <a:r>
              <a:rPr lang="en-US" sz="1700" dirty="0"/>
              <a:t>Explain what code does, line by line</a:t>
            </a:r>
          </a:p>
          <a:p>
            <a:pPr marL="200000" indent="-200000">
              <a:buChar char="•"/>
            </a:pPr>
            <a:r>
              <a:rPr lang="en-US" sz="1700" dirty="0"/>
              <a:t>Debug errors when things go wrong</a:t>
            </a:r>
          </a:p>
          <a:p>
            <a:pPr marL="200000" indent="-200000">
              <a:buChar char="•"/>
            </a:pPr>
            <a:r>
              <a:rPr lang="en-US" sz="1700" dirty="0"/>
              <a:t>Suggest which charts to use and why</a:t>
            </a:r>
          </a:p>
          <a:p>
            <a:pPr marL="200000" indent="-200000">
              <a:buChar char="•"/>
            </a:pPr>
            <a:r>
              <a:rPr lang="en-US" sz="1700" dirty="0"/>
              <a:t>Summarize findings in plain language</a:t>
            </a:r>
          </a:p>
        </p:txBody>
      </p:sp>
      <p:sp>
        <p:nvSpPr>
          <p:cNvPr id="4" name="Right Col"/>
          <p:cNvSpPr/>
          <p:nvPr/>
        </p:nvSpPr>
        <p:spPr>
          <a:xfrm>
            <a:off x="6200000" y="1300000"/>
            <a:ext cx="5600000" cy="5200000"/>
          </a:xfrm>
          <a:prstGeom prst="roundRect">
            <a:avLst>
              <a:gd name="adj" fmla="val 3000"/>
            </a:avLst>
          </a:prstGeom>
          <a:solidFill>
            <a:srgbClr val="FFF3CD"/>
          </a:solidFill>
          <a:ln w="9525">
            <a:solidFill>
              <a:srgbClr val="E0A800"/>
            </a:solidFill>
          </a:ln>
        </p:spPr>
        <p:txBody>
          <a:bodyPr lIns="200000" tIns="200000" rIns="200000" bIns="200000" wrap="square"/>
          <a:lstStyle/>
          <a:p>
            <a:r>
              <a:rPr lang="en-US" sz="2000" b="1" dirty="0"/>
              <a:t>⚠️ What It Is NOT</a:t>
            </a:r>
          </a:p>
          <a:p>
            <a:endParaRPr lang="en-US" sz="1700"/>
          </a:p>
          <a:p>
            <a:r>
              <a:rPr lang="en-US" sz="1700" dirty="0"/>
              <a:t>Not a replacement for your thinking! You still need to understand the data, ask good questions, and critically evaluate the output.</a:t>
            </a:r>
          </a:p>
          <a:p>
            <a:endParaRPr lang="en-US" sz="1700"/>
          </a:p>
          <a:p>
            <a:r>
              <a:rPr lang="en-US" sz="1700" b="1" dirty="0"/>
              <a:t>Agents make mistakes — you are the expert.</a:t>
            </a:r>
          </a:p>
          <a:p>
            <a:endParaRPr lang="en-US" sz="1700"/>
          </a:p>
          <a:p>
            <a:r>
              <a:rPr lang="en-US" sz="2000" b="1" dirty="0"/>
              <a:t>🌐 Real Examples</a:t>
            </a:r>
          </a:p>
          <a:p>
            <a:endParaRPr lang="en-US" sz="1700"/>
          </a:p>
          <a:p>
            <a:pPr marL="200000" indent="-200000">
              <a:buChar char="•"/>
            </a:pPr>
            <a:r>
              <a:rPr lang="en-US" sz="1700" dirty="0"/>
              <a:t>Claude.ai — conversational, explains concepts</a:t>
            </a:r>
          </a:p>
          <a:p>
            <a:pPr marL="200000" indent="-200000">
              <a:buChar char="•"/>
            </a:pPr>
            <a:r>
              <a:rPr lang="en-US" sz="1700" dirty="0"/>
              <a:t>GitHub Copilot — autocompletes in VS Code</a:t>
            </a:r>
          </a:p>
          <a:p>
            <a:pPr marL="200000" indent="-200000">
              <a:buChar char="•"/>
            </a:pPr>
            <a:r>
              <a:rPr lang="en-US" sz="1700" dirty="0"/>
              <a:t>ChatGPT / Gemini — general-purpose assistants</a:t>
            </a:r>
          </a:p>
          <a:p>
            <a:endParaRPr lang="en-US" sz="1700"/>
          </a:p>
          <a:p>
            <a:r>
              <a:rPr lang="en-US" sz="1600" i="1" dirty="0"/>
              <a:t>All can write and explain data analysis code when given clear, specific instructions.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56D8-51A0-E519-0034-559CDE965617}"/>
              </a:ext>
            </a:extLst>
          </p:cNvPr>
          <p:cNvSpPr>
            <a:spLocks noGrp="1"/>
          </p:cNvSpPr>
          <p:nvPr>
            <p:ph type="title"/>
          </p:nvPr>
        </p:nvSpPr>
        <p:spPr>
          <a:xfrm>
            <a:off x="4471988" y="531117"/>
            <a:ext cx="6767512" cy="1325563"/>
          </a:xfrm>
        </p:spPr>
        <p:txBody>
          <a:bodyPr>
            <a:normAutofit/>
          </a:bodyPr>
          <a:lstStyle/>
          <a:p>
            <a:r>
              <a:rPr lang="en-US" dirty="0"/>
              <a:t>How Coding Agents Help Your EDA</a:t>
            </a:r>
          </a:p>
        </p:txBody>
      </p:sp>
      <p:pic>
        <p:nvPicPr>
          <p:cNvPr id="4" name="Image 0" descr="preencoded.png">
            <a:extLst>
              <a:ext uri="{FF2B5EF4-FFF2-40B4-BE49-F238E27FC236}">
                <a16:creationId xmlns:a16="http://schemas.microsoft.com/office/drawing/2014/main" id="{A1AEC6A9-CBC9-9DD0-DA98-5F3D1993F2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4755" y="492225"/>
            <a:ext cx="3788619" cy="5684737"/>
          </a:xfrm>
          <a:prstGeom prst="rect">
            <a:avLst/>
          </a:prstGeom>
        </p:spPr>
      </p:pic>
      <p:sp>
        <p:nvSpPr>
          <p:cNvPr id="5" name="Shape 1">
            <a:extLst>
              <a:ext uri="{FF2B5EF4-FFF2-40B4-BE49-F238E27FC236}">
                <a16:creationId xmlns:a16="http://schemas.microsoft.com/office/drawing/2014/main" id="{4B9A655C-3BC9-A2D1-9D3C-EBCA789282D9}"/>
              </a:ext>
            </a:extLst>
          </p:cNvPr>
          <p:cNvSpPr/>
          <p:nvPr/>
        </p:nvSpPr>
        <p:spPr>
          <a:xfrm>
            <a:off x="5216227" y="2056905"/>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6" name="Image 1" descr="preencoded.png">
            <a:extLst>
              <a:ext uri="{FF2B5EF4-FFF2-40B4-BE49-F238E27FC236}">
                <a16:creationId xmlns:a16="http://schemas.microsoft.com/office/drawing/2014/main" id="{C2A04C93-C56C-A0D0-3A97-24FFEBC39F6E}"/>
              </a:ext>
            </a:extLst>
          </p:cNvPr>
          <p:cNvPicPr>
            <a:picLocks noChangeAspect="1"/>
          </p:cNvPicPr>
          <p:nvPr/>
        </p:nvPicPr>
        <p:blipFill>
          <a:blip r:embed="rId3"/>
          <a:stretch>
            <a:fillRect/>
          </a:stretch>
        </p:blipFill>
        <p:spPr>
          <a:xfrm>
            <a:off x="5285282" y="2091433"/>
            <a:ext cx="276027" cy="345083"/>
          </a:xfrm>
          <a:prstGeom prst="rect">
            <a:avLst/>
          </a:prstGeom>
        </p:spPr>
      </p:pic>
      <p:sp>
        <p:nvSpPr>
          <p:cNvPr id="7" name="Text 2">
            <a:extLst>
              <a:ext uri="{FF2B5EF4-FFF2-40B4-BE49-F238E27FC236}">
                <a16:creationId xmlns:a16="http://schemas.microsoft.com/office/drawing/2014/main" id="{65C25CDB-A188-806A-EEE9-B8B30FC06E35}"/>
              </a:ext>
            </a:extLst>
          </p:cNvPr>
          <p:cNvSpPr/>
          <p:nvPr/>
        </p:nvSpPr>
        <p:spPr>
          <a:xfrm>
            <a:off x="5814417" y="2120107"/>
            <a:ext cx="3337223"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Instant Code Generation</a:t>
            </a:r>
            <a:endParaRPr lang="en-US" sz="2400" dirty="0">
              <a:latin typeface="Aptos" panose="020B0004020202020204" pitchFamily="34" charset="0"/>
            </a:endParaRPr>
          </a:p>
        </p:txBody>
      </p:sp>
      <p:sp>
        <p:nvSpPr>
          <p:cNvPr id="8" name="Text 3">
            <a:extLst>
              <a:ext uri="{FF2B5EF4-FFF2-40B4-BE49-F238E27FC236}">
                <a16:creationId xmlns:a16="http://schemas.microsoft.com/office/drawing/2014/main" id="{2DADBE39-81B9-F15A-00E7-47D6719A360A}"/>
              </a:ext>
            </a:extLst>
          </p:cNvPr>
          <p:cNvSpPr/>
          <p:nvPr/>
        </p:nvSpPr>
        <p:spPr>
          <a:xfrm>
            <a:off x="5814417" y="2518074"/>
            <a:ext cx="5733356" cy="588963"/>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Describe your goal in plain English: “Plot a histogram of Math scores colored by grade.” The agent writes the code instantly.</a:t>
            </a:r>
            <a:endParaRPr lang="en-US" sz="2000" dirty="0">
              <a:latin typeface="Aptos" panose="020B0004020202020204" pitchFamily="34" charset="0"/>
            </a:endParaRPr>
          </a:p>
        </p:txBody>
      </p:sp>
      <p:sp>
        <p:nvSpPr>
          <p:cNvPr id="9" name="Shape 4">
            <a:extLst>
              <a:ext uri="{FF2B5EF4-FFF2-40B4-BE49-F238E27FC236}">
                <a16:creationId xmlns:a16="http://schemas.microsoft.com/office/drawing/2014/main" id="{0F106F7D-F599-A0E5-0E12-FEF4AD1A2A72}"/>
              </a:ext>
            </a:extLst>
          </p:cNvPr>
          <p:cNvSpPr/>
          <p:nvPr/>
        </p:nvSpPr>
        <p:spPr>
          <a:xfrm>
            <a:off x="5216228" y="3350816"/>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0" name="Image 2" descr="preencoded.png">
            <a:extLst>
              <a:ext uri="{FF2B5EF4-FFF2-40B4-BE49-F238E27FC236}">
                <a16:creationId xmlns:a16="http://schemas.microsoft.com/office/drawing/2014/main" id="{CB3141CB-671F-5C0A-1550-4AB0BC49AFC1}"/>
              </a:ext>
            </a:extLst>
          </p:cNvPr>
          <p:cNvPicPr>
            <a:picLocks noChangeAspect="1"/>
          </p:cNvPicPr>
          <p:nvPr/>
        </p:nvPicPr>
        <p:blipFill>
          <a:blip r:embed="rId4"/>
          <a:stretch>
            <a:fillRect/>
          </a:stretch>
        </p:blipFill>
        <p:spPr>
          <a:xfrm>
            <a:off x="5285283" y="3385344"/>
            <a:ext cx="276027" cy="345083"/>
          </a:xfrm>
          <a:prstGeom prst="rect">
            <a:avLst/>
          </a:prstGeom>
        </p:spPr>
      </p:pic>
      <p:sp>
        <p:nvSpPr>
          <p:cNvPr id="11" name="Text 5">
            <a:extLst>
              <a:ext uri="{FF2B5EF4-FFF2-40B4-BE49-F238E27FC236}">
                <a16:creationId xmlns:a16="http://schemas.microsoft.com/office/drawing/2014/main" id="{2BB63F83-8FA7-11FB-9AE5-D04DD3349D03}"/>
              </a:ext>
            </a:extLst>
          </p:cNvPr>
          <p:cNvSpPr/>
          <p:nvPr/>
        </p:nvSpPr>
        <p:spPr>
          <a:xfrm>
            <a:off x="5814417" y="3414019"/>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Error Debugging</a:t>
            </a:r>
            <a:endParaRPr lang="en-US" sz="2400" dirty="0">
              <a:latin typeface="Aptos" panose="020B0004020202020204" pitchFamily="34" charset="0"/>
            </a:endParaRPr>
          </a:p>
        </p:txBody>
      </p:sp>
      <p:sp>
        <p:nvSpPr>
          <p:cNvPr id="12" name="Text 6">
            <a:extLst>
              <a:ext uri="{FF2B5EF4-FFF2-40B4-BE49-F238E27FC236}">
                <a16:creationId xmlns:a16="http://schemas.microsoft.com/office/drawing/2014/main" id="{B6B7AE91-8CD4-0DD5-EE9A-50517A3D178A}"/>
              </a:ext>
            </a:extLst>
          </p:cNvPr>
          <p:cNvSpPr/>
          <p:nvPr/>
        </p:nvSpPr>
        <p:spPr>
          <a:xfrm>
            <a:off x="5814418" y="3811984"/>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What's the average or median value? What's typical?</a:t>
            </a:r>
            <a:endParaRPr lang="en-US" sz="2000" dirty="0">
              <a:latin typeface="Aptos" panose="020B0004020202020204" pitchFamily="34" charset="0"/>
            </a:endParaRPr>
          </a:p>
        </p:txBody>
      </p:sp>
      <p:sp>
        <p:nvSpPr>
          <p:cNvPr id="13" name="Shape 7">
            <a:extLst>
              <a:ext uri="{FF2B5EF4-FFF2-40B4-BE49-F238E27FC236}">
                <a16:creationId xmlns:a16="http://schemas.microsoft.com/office/drawing/2014/main" id="{FA7F73D4-774C-DB70-2AF3-8ABA5EE653AA}"/>
              </a:ext>
            </a:extLst>
          </p:cNvPr>
          <p:cNvSpPr/>
          <p:nvPr/>
        </p:nvSpPr>
        <p:spPr>
          <a:xfrm>
            <a:off x="5216228" y="4474568"/>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4" name="Image 3" descr="preencoded.png">
            <a:extLst>
              <a:ext uri="{FF2B5EF4-FFF2-40B4-BE49-F238E27FC236}">
                <a16:creationId xmlns:a16="http://schemas.microsoft.com/office/drawing/2014/main" id="{E6E4F1C2-9CE1-D3D2-1F61-FBE5ABA48E95}"/>
              </a:ext>
            </a:extLst>
          </p:cNvPr>
          <p:cNvPicPr>
            <a:picLocks noChangeAspect="1"/>
          </p:cNvPicPr>
          <p:nvPr/>
        </p:nvPicPr>
        <p:blipFill>
          <a:blip r:embed="rId5"/>
          <a:stretch>
            <a:fillRect/>
          </a:stretch>
        </p:blipFill>
        <p:spPr>
          <a:xfrm>
            <a:off x="5285283" y="4509095"/>
            <a:ext cx="276027" cy="345083"/>
          </a:xfrm>
          <a:prstGeom prst="rect">
            <a:avLst/>
          </a:prstGeom>
        </p:spPr>
      </p:pic>
      <p:sp>
        <p:nvSpPr>
          <p:cNvPr id="15" name="Text 8">
            <a:extLst>
              <a:ext uri="{FF2B5EF4-FFF2-40B4-BE49-F238E27FC236}">
                <a16:creationId xmlns:a16="http://schemas.microsoft.com/office/drawing/2014/main" id="{D848BD37-62E9-FAE4-6D09-4EF95577301A}"/>
              </a:ext>
            </a:extLst>
          </p:cNvPr>
          <p:cNvSpPr/>
          <p:nvPr/>
        </p:nvSpPr>
        <p:spPr>
          <a:xfrm>
            <a:off x="5814417" y="4537770"/>
            <a:ext cx="2901157"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Chart Recommendations</a:t>
            </a:r>
            <a:endParaRPr lang="en-US" sz="2400" dirty="0">
              <a:latin typeface="Aptos" panose="020B0004020202020204" pitchFamily="34" charset="0"/>
            </a:endParaRPr>
          </a:p>
        </p:txBody>
      </p:sp>
      <p:sp>
        <p:nvSpPr>
          <p:cNvPr id="16" name="Text 9">
            <a:extLst>
              <a:ext uri="{FF2B5EF4-FFF2-40B4-BE49-F238E27FC236}">
                <a16:creationId xmlns:a16="http://schemas.microsoft.com/office/drawing/2014/main" id="{CBC095B9-744B-AECC-4E95-033D6DDBF993}"/>
              </a:ext>
            </a:extLst>
          </p:cNvPr>
          <p:cNvSpPr/>
          <p:nvPr/>
        </p:nvSpPr>
        <p:spPr>
          <a:xfrm>
            <a:off x="5814418" y="4935736"/>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Ask “What chart should I use to compare GPA across grade levels?” and get a justified answer.</a:t>
            </a:r>
            <a:endParaRPr lang="en-US" sz="2000" dirty="0">
              <a:latin typeface="Aptos" panose="020B0004020202020204" pitchFamily="34" charset="0"/>
            </a:endParaRPr>
          </a:p>
        </p:txBody>
      </p:sp>
      <p:sp>
        <p:nvSpPr>
          <p:cNvPr id="17" name="Shape 10">
            <a:extLst>
              <a:ext uri="{FF2B5EF4-FFF2-40B4-BE49-F238E27FC236}">
                <a16:creationId xmlns:a16="http://schemas.microsoft.com/office/drawing/2014/main" id="{E6BC949B-4BA3-35B1-A38C-65DF6EB13B3C}"/>
              </a:ext>
            </a:extLst>
          </p:cNvPr>
          <p:cNvSpPr/>
          <p:nvPr/>
        </p:nvSpPr>
        <p:spPr>
          <a:xfrm>
            <a:off x="5216228" y="5598319"/>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8" name="Text 11">
            <a:extLst>
              <a:ext uri="{FF2B5EF4-FFF2-40B4-BE49-F238E27FC236}">
                <a16:creationId xmlns:a16="http://schemas.microsoft.com/office/drawing/2014/main" id="{896B58C0-2B54-F206-9F15-F137EADF0A99}"/>
              </a:ext>
            </a:extLst>
          </p:cNvPr>
          <p:cNvSpPr/>
          <p:nvPr/>
        </p:nvSpPr>
        <p:spPr>
          <a:xfrm>
            <a:off x="5814417" y="5661521"/>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Interpretation Help</a:t>
            </a:r>
            <a:endParaRPr lang="en-US" sz="2400" dirty="0">
              <a:latin typeface="Aptos" panose="020B0004020202020204" pitchFamily="34" charset="0"/>
            </a:endParaRPr>
          </a:p>
        </p:txBody>
      </p:sp>
      <p:sp>
        <p:nvSpPr>
          <p:cNvPr id="19" name="Text 12">
            <a:extLst>
              <a:ext uri="{FF2B5EF4-FFF2-40B4-BE49-F238E27FC236}">
                <a16:creationId xmlns:a16="http://schemas.microsoft.com/office/drawing/2014/main" id="{4072C2C1-F4B8-B591-3E42-930D1BC1B341}"/>
              </a:ext>
            </a:extLst>
          </p:cNvPr>
          <p:cNvSpPr/>
          <p:nvPr/>
        </p:nvSpPr>
        <p:spPr>
          <a:xfrm>
            <a:off x="5814418" y="6059487"/>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Share output or a plot description and ask “What does this pattern tell us about the data?”</a:t>
            </a:r>
            <a:endParaRPr lang="en-US" sz="2000" dirty="0">
              <a:latin typeface="Aptos" panose="020B0004020202020204" pitchFamily="34" charset="0"/>
            </a:endParaRPr>
          </a:p>
        </p:txBody>
      </p:sp>
    </p:spTree>
    <p:extLst>
      <p:ext uri="{BB962C8B-B14F-4D97-AF65-F5344CB8AC3E}">
        <p14:creationId xmlns:p14="http://schemas.microsoft.com/office/powerpoint/2010/main" val="1837085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0000"/>
            <a:ext cx="10515600" cy="900000"/>
          </a:xfrm>
        </p:spPr>
        <p:txBody>
          <a:bodyPr>
            <a:normAutofit/>
          </a:bodyPr>
          <a:lstStyle/>
          <a:p>
            <a:r>
              <a:rPr lang="en-US" dirty="0"/>
              <a:t>Prompting a Coding Agent: The Art of Good Instructions</a:t>
            </a:r>
          </a:p>
        </p:txBody>
      </p:sp>
      <p:sp>
        <p:nvSpPr>
          <p:cNvPr id="3" name="Left Panel"/>
          <p:cNvSpPr/>
          <p:nvPr/>
        </p:nvSpPr>
        <p:spPr>
          <a:xfrm>
            <a:off x="400000" y="1400000"/>
            <a:ext cx="5500000" cy="5000000"/>
          </a:xfrm>
          <a:prstGeom prst="roundRect">
            <a:avLst>
              <a:gd name="adj" fmla="val 3000"/>
            </a:avLst>
          </a:prstGeom>
          <a:solidFill>
            <a:srgbClr val="FFF3CD"/>
          </a:solidFill>
          <a:ln w="12700">
            <a:solidFill>
              <a:srgbClr val="E0A800"/>
            </a:solidFill>
          </a:ln>
        </p:spPr>
        <p:txBody>
          <a:bodyPr lIns="180000" tIns="180000" rIns="180000" bIns="180000" wrap="square"/>
          <a:lstStyle/>
          <a:p>
            <a:r>
              <a:rPr lang="en-US" sz="2000" b="1" dirty="0"/>
              <a:t>❌ Weak Prompt (Vague)</a:t>
            </a:r>
          </a:p>
          <a:p>
            <a:endParaRPr lang="en-US" sz="1600"/>
          </a:p>
          <a:p>
            <a:r>
              <a:rPr lang="en-US" sz="1600" i="1" dirty="0"/>
              <a:t>“Plot my data”</a:t>
            </a:r>
          </a:p>
          <a:p>
            <a:endParaRPr lang="en-US" sz="1600"/>
          </a:p>
          <a:p>
            <a:r>
              <a:rPr lang="en-US" sz="1600" dirty="0"/>
              <a:t>Problems: No file mentioned. No column names. No chart type. No goal. The agent has to guess — and usually guesses wrong.</a:t>
            </a:r>
          </a:p>
          <a:p>
            <a:endParaRPr lang="en-US" sz="1600"/>
          </a:p>
          <a:p>
            <a:r>
              <a:rPr lang="en-US" sz="2000" b="1" dirty="0"/>
              <a:t>✅ Strong Prompt (Specific)</a:t>
            </a:r>
          </a:p>
          <a:p>
            <a:endParaRPr lang="en-US" sz="1600"/>
          </a:p>
          <a:p>
            <a:r>
              <a:rPr lang="en-US" sz="1600" i="1" dirty="0"/>
              <a:t>“I have students.csv with columns Grade (9–12), Math_Score, and Sleep_Hours. Using Python, create a boxplot comparing Math_Score distributions for each grade level. Use seaborn and label axes clearly.”</a:t>
            </a:r>
          </a:p>
        </p:txBody>
      </p:sp>
      <p:sp>
        <p:nvSpPr>
          <p:cNvPr id="4" name="Right Panel"/>
          <p:cNvSpPr/>
          <p:nvPr/>
        </p:nvSpPr>
        <p:spPr>
          <a:xfrm>
            <a:off x="6200000" y="1400000"/>
            <a:ext cx="5600000" cy="5000000"/>
          </a:xfrm>
          <a:prstGeom prst="roundRect">
            <a:avLst>
              <a:gd name="adj" fmla="val 3000"/>
            </a:avLst>
          </a:prstGeom>
          <a:solidFill>
            <a:srgbClr val="D4EDDA"/>
          </a:solidFill>
          <a:ln w="12700">
            <a:solidFill>
              <a:srgbClr val="28A745"/>
            </a:solidFill>
          </a:ln>
        </p:spPr>
        <p:txBody>
          <a:bodyPr lIns="180000" tIns="180000" rIns="180000" bIns="180000" wrap="square"/>
          <a:lstStyle/>
          <a:p>
            <a:r>
              <a:rPr lang="en-US" sz="2000" b="1" dirty="0"/>
              <a:t>Prompt Recipe (4 Ingredients)</a:t>
            </a:r>
          </a:p>
          <a:p>
            <a:endParaRPr lang="en-US" sz="1600"/>
          </a:p>
          <a:p>
            <a:r>
              <a:rPr lang="en-US" sz="1700" b="1" dirty="0"/>
              <a:t xml:space="preserve">1. Data: </a:t>
            </a:r>
            <a:r>
              <a:rPr lang="en-US" sz="1700" dirty="0"/>
              <a:t>Name the file and key columns</a:t>
            </a:r>
          </a:p>
          <a:p>
            <a:r>
              <a:rPr lang="en-US" sz="1700" b="1" dirty="0"/>
              <a:t xml:space="preserve">2. Language: </a:t>
            </a:r>
            <a:r>
              <a:rPr lang="en-US" sz="1700" dirty="0"/>
              <a:t>Specify R or Python</a:t>
            </a:r>
          </a:p>
          <a:p>
            <a:r>
              <a:rPr lang="en-US" sz="1700" b="1" dirty="0"/>
              <a:t xml:space="preserve">3. Goal: </a:t>
            </a:r>
            <a:r>
              <a:rPr lang="en-US" sz="1700" dirty="0"/>
              <a:t>Say exactly what you want to see or compute</a:t>
            </a:r>
          </a:p>
          <a:p>
            <a:r>
              <a:rPr lang="en-US" sz="1700" b="1" dirty="0"/>
              <a:t xml:space="preserve">4. Format: </a:t>
            </a:r>
            <a:r>
              <a:rPr lang="en-US" sz="1700" dirty="0"/>
              <a:t>Mention chart type, labels, colors if needed</a:t>
            </a:r>
          </a:p>
          <a:p>
            <a:endParaRPr lang="en-US" sz="1600"/>
          </a:p>
          <a:p>
            <a:r>
              <a:rPr lang="en-US" sz="1700" b="1" dirty="0"/>
              <a:t xml:space="preserve">Pro tip: </a:t>
            </a:r>
            <a:r>
              <a:rPr lang="en-US" sz="1700" dirty="0"/>
              <a:t>If the code fails, paste the error back and say “I got this error — can you fix it?”</a:t>
            </a:r>
          </a:p>
          <a:p>
            <a:endParaRPr lang="en-US" sz="1600"/>
          </a:p>
          <a:p>
            <a:r>
              <a:rPr lang="en-US" sz="1700" b="1" dirty="0"/>
              <a:t xml:space="preserve">Critical rule: </a:t>
            </a:r>
            <a:r>
              <a:rPr lang="en-US" sz="1700" dirty="0"/>
              <a:t>Always read and understand the code before running it. Never paste blindly!</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56D8-51A0-E519-0034-559CDE965617}"/>
              </a:ext>
            </a:extLst>
          </p:cNvPr>
          <p:cNvSpPr>
            <a:spLocks noGrp="1"/>
          </p:cNvSpPr>
          <p:nvPr>
            <p:ph type="title"/>
          </p:nvPr>
        </p:nvSpPr>
        <p:spPr>
          <a:xfrm>
            <a:off x="4471988" y="531117"/>
            <a:ext cx="6767512" cy="1325563"/>
          </a:xfrm>
        </p:spPr>
        <p:txBody>
          <a:bodyPr>
            <a:normAutofit/>
          </a:bodyPr>
          <a:lstStyle/>
          <a:p>
            <a:r>
              <a:rPr lang="en-US" dirty="0"/>
              <a:t>Working WITH a Coding Agent (Not FOR It)</a:t>
            </a:r>
          </a:p>
        </p:txBody>
      </p:sp>
      <p:pic>
        <p:nvPicPr>
          <p:cNvPr id="4" name="Image 0" descr="preencoded.png">
            <a:extLst>
              <a:ext uri="{FF2B5EF4-FFF2-40B4-BE49-F238E27FC236}">
                <a16:creationId xmlns:a16="http://schemas.microsoft.com/office/drawing/2014/main" id="{A1AEC6A9-CBC9-9DD0-DA98-5F3D1993F2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4755" y="492225"/>
            <a:ext cx="3788619" cy="5684737"/>
          </a:xfrm>
          <a:prstGeom prst="rect">
            <a:avLst/>
          </a:prstGeom>
        </p:spPr>
      </p:pic>
      <p:sp>
        <p:nvSpPr>
          <p:cNvPr id="5" name="Shape 1">
            <a:extLst>
              <a:ext uri="{FF2B5EF4-FFF2-40B4-BE49-F238E27FC236}">
                <a16:creationId xmlns:a16="http://schemas.microsoft.com/office/drawing/2014/main" id="{4B9A655C-3BC9-A2D1-9D3C-EBCA789282D9}"/>
              </a:ext>
            </a:extLst>
          </p:cNvPr>
          <p:cNvSpPr/>
          <p:nvPr/>
        </p:nvSpPr>
        <p:spPr>
          <a:xfrm>
            <a:off x="5216227" y="2056905"/>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6" name="Image 1" descr="preencoded.png">
            <a:extLst>
              <a:ext uri="{FF2B5EF4-FFF2-40B4-BE49-F238E27FC236}">
                <a16:creationId xmlns:a16="http://schemas.microsoft.com/office/drawing/2014/main" id="{C2A04C93-C56C-A0D0-3A97-24FFEBC39F6E}"/>
              </a:ext>
            </a:extLst>
          </p:cNvPr>
          <p:cNvPicPr>
            <a:picLocks noChangeAspect="1"/>
          </p:cNvPicPr>
          <p:nvPr/>
        </p:nvPicPr>
        <p:blipFill>
          <a:blip r:embed="rId3"/>
          <a:stretch>
            <a:fillRect/>
          </a:stretch>
        </p:blipFill>
        <p:spPr>
          <a:xfrm>
            <a:off x="5285282" y="2091433"/>
            <a:ext cx="276027" cy="345083"/>
          </a:xfrm>
          <a:prstGeom prst="rect">
            <a:avLst/>
          </a:prstGeom>
        </p:spPr>
      </p:pic>
      <p:sp>
        <p:nvSpPr>
          <p:cNvPr id="7" name="Text 2">
            <a:extLst>
              <a:ext uri="{FF2B5EF4-FFF2-40B4-BE49-F238E27FC236}">
                <a16:creationId xmlns:a16="http://schemas.microsoft.com/office/drawing/2014/main" id="{65C25CDB-A188-806A-EEE9-B8B30FC06E35}"/>
              </a:ext>
            </a:extLst>
          </p:cNvPr>
          <p:cNvSpPr/>
          <p:nvPr/>
        </p:nvSpPr>
        <p:spPr>
          <a:xfrm>
            <a:off x="5814417" y="2120107"/>
            <a:ext cx="3337223"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You Bring the Questions</a:t>
            </a:r>
            <a:endParaRPr lang="en-US" sz="2400" dirty="0">
              <a:latin typeface="Aptos" panose="020B0004020202020204" pitchFamily="34" charset="0"/>
            </a:endParaRPr>
          </a:p>
        </p:txBody>
      </p:sp>
      <p:sp>
        <p:nvSpPr>
          <p:cNvPr id="8" name="Text 3">
            <a:extLst>
              <a:ext uri="{FF2B5EF4-FFF2-40B4-BE49-F238E27FC236}">
                <a16:creationId xmlns:a16="http://schemas.microsoft.com/office/drawing/2014/main" id="{2DADBE39-81B9-F15A-00E7-47D6719A360A}"/>
              </a:ext>
            </a:extLst>
          </p:cNvPr>
          <p:cNvSpPr/>
          <p:nvPr/>
        </p:nvSpPr>
        <p:spPr>
          <a:xfrm>
            <a:off x="5814417" y="2518074"/>
            <a:ext cx="5733356" cy="588963"/>
          </a:xfrm>
          <a:prstGeom prst="rect">
            <a:avLst/>
          </a:prstGeom>
          <a:noFill/>
          <a:ln/>
        </p:spPr>
        <p:txBody>
          <a:bodyPr wrap="squar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Agents are powerful, but YOU decide what to investigate. Formulate your own hypotheses first, then ask the agent to help test them.</a:t>
            </a:r>
            <a:endParaRPr lang="en-US" sz="2000" dirty="0">
              <a:latin typeface="Aptos" panose="020B0004020202020204" pitchFamily="34" charset="0"/>
            </a:endParaRPr>
          </a:p>
        </p:txBody>
      </p:sp>
      <p:sp>
        <p:nvSpPr>
          <p:cNvPr id="9" name="Shape 4">
            <a:extLst>
              <a:ext uri="{FF2B5EF4-FFF2-40B4-BE49-F238E27FC236}">
                <a16:creationId xmlns:a16="http://schemas.microsoft.com/office/drawing/2014/main" id="{0F106F7D-F599-A0E5-0E12-FEF4AD1A2A72}"/>
              </a:ext>
            </a:extLst>
          </p:cNvPr>
          <p:cNvSpPr/>
          <p:nvPr/>
        </p:nvSpPr>
        <p:spPr>
          <a:xfrm>
            <a:off x="5216228" y="3350816"/>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0" name="Image 2" descr="preencoded.png">
            <a:extLst>
              <a:ext uri="{FF2B5EF4-FFF2-40B4-BE49-F238E27FC236}">
                <a16:creationId xmlns:a16="http://schemas.microsoft.com/office/drawing/2014/main" id="{CB3141CB-671F-5C0A-1550-4AB0BC49AFC1}"/>
              </a:ext>
            </a:extLst>
          </p:cNvPr>
          <p:cNvPicPr>
            <a:picLocks noChangeAspect="1"/>
          </p:cNvPicPr>
          <p:nvPr/>
        </p:nvPicPr>
        <p:blipFill>
          <a:blip r:embed="rId4"/>
          <a:stretch>
            <a:fillRect/>
          </a:stretch>
        </p:blipFill>
        <p:spPr>
          <a:xfrm>
            <a:off x="5285283" y="3385344"/>
            <a:ext cx="276027" cy="345083"/>
          </a:xfrm>
          <a:prstGeom prst="rect">
            <a:avLst/>
          </a:prstGeom>
        </p:spPr>
      </p:pic>
      <p:sp>
        <p:nvSpPr>
          <p:cNvPr id="11" name="Text 5">
            <a:extLst>
              <a:ext uri="{FF2B5EF4-FFF2-40B4-BE49-F238E27FC236}">
                <a16:creationId xmlns:a16="http://schemas.microsoft.com/office/drawing/2014/main" id="{2BB63F83-8FA7-11FB-9AE5-D04DD3349D03}"/>
              </a:ext>
            </a:extLst>
          </p:cNvPr>
          <p:cNvSpPr/>
          <p:nvPr/>
        </p:nvSpPr>
        <p:spPr>
          <a:xfrm>
            <a:off x="5814417" y="3414019"/>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Verify Every Output</a:t>
            </a:r>
            <a:endParaRPr lang="en-US" sz="2400" dirty="0">
              <a:latin typeface="Aptos" panose="020B0004020202020204" pitchFamily="34" charset="0"/>
            </a:endParaRPr>
          </a:p>
        </p:txBody>
      </p:sp>
      <p:sp>
        <p:nvSpPr>
          <p:cNvPr id="12" name="Text 6">
            <a:extLst>
              <a:ext uri="{FF2B5EF4-FFF2-40B4-BE49-F238E27FC236}">
                <a16:creationId xmlns:a16="http://schemas.microsoft.com/office/drawing/2014/main" id="{B6B7AE91-8CD4-0DD5-EE9A-50517A3D178A}"/>
              </a:ext>
            </a:extLst>
          </p:cNvPr>
          <p:cNvSpPr/>
          <p:nvPr/>
        </p:nvSpPr>
        <p:spPr>
          <a:xfrm>
            <a:off x="5814418" y="3811984"/>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What's the average or median value? What's typical?</a:t>
            </a:r>
            <a:endParaRPr lang="en-US" sz="2000" dirty="0">
              <a:latin typeface="Aptos" panose="020B0004020202020204" pitchFamily="34" charset="0"/>
            </a:endParaRPr>
          </a:p>
        </p:txBody>
      </p:sp>
      <p:sp>
        <p:nvSpPr>
          <p:cNvPr id="13" name="Shape 7">
            <a:extLst>
              <a:ext uri="{FF2B5EF4-FFF2-40B4-BE49-F238E27FC236}">
                <a16:creationId xmlns:a16="http://schemas.microsoft.com/office/drawing/2014/main" id="{FA7F73D4-774C-DB70-2AF3-8ABA5EE653AA}"/>
              </a:ext>
            </a:extLst>
          </p:cNvPr>
          <p:cNvSpPr/>
          <p:nvPr/>
        </p:nvSpPr>
        <p:spPr>
          <a:xfrm>
            <a:off x="5216228" y="4474568"/>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4" name="Image 3" descr="preencoded.png">
            <a:extLst>
              <a:ext uri="{FF2B5EF4-FFF2-40B4-BE49-F238E27FC236}">
                <a16:creationId xmlns:a16="http://schemas.microsoft.com/office/drawing/2014/main" id="{E6E4F1C2-9CE1-D3D2-1F61-FBE5ABA48E95}"/>
              </a:ext>
            </a:extLst>
          </p:cNvPr>
          <p:cNvPicPr>
            <a:picLocks noChangeAspect="1"/>
          </p:cNvPicPr>
          <p:nvPr/>
        </p:nvPicPr>
        <p:blipFill>
          <a:blip r:embed="rId5"/>
          <a:stretch>
            <a:fillRect/>
          </a:stretch>
        </p:blipFill>
        <p:spPr>
          <a:xfrm>
            <a:off x="5285283" y="4509095"/>
            <a:ext cx="276027" cy="345083"/>
          </a:xfrm>
          <a:prstGeom prst="rect">
            <a:avLst/>
          </a:prstGeom>
        </p:spPr>
      </p:pic>
      <p:sp>
        <p:nvSpPr>
          <p:cNvPr id="15" name="Text 8">
            <a:extLst>
              <a:ext uri="{FF2B5EF4-FFF2-40B4-BE49-F238E27FC236}">
                <a16:creationId xmlns:a16="http://schemas.microsoft.com/office/drawing/2014/main" id="{D848BD37-62E9-FAE4-6D09-4EF95577301A}"/>
              </a:ext>
            </a:extLst>
          </p:cNvPr>
          <p:cNvSpPr/>
          <p:nvPr/>
        </p:nvSpPr>
        <p:spPr>
          <a:xfrm>
            <a:off x="5814417" y="4537770"/>
            <a:ext cx="2901157"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Iterate and Refine</a:t>
            </a:r>
            <a:endParaRPr lang="en-US" sz="2400" dirty="0">
              <a:latin typeface="Aptos" panose="020B0004020202020204" pitchFamily="34" charset="0"/>
            </a:endParaRPr>
          </a:p>
        </p:txBody>
      </p:sp>
      <p:sp>
        <p:nvSpPr>
          <p:cNvPr id="16" name="Text 9">
            <a:extLst>
              <a:ext uri="{FF2B5EF4-FFF2-40B4-BE49-F238E27FC236}">
                <a16:creationId xmlns:a16="http://schemas.microsoft.com/office/drawing/2014/main" id="{CBC095B9-744B-AECC-4E95-033D6DDBF993}"/>
              </a:ext>
            </a:extLst>
          </p:cNvPr>
          <p:cNvSpPr/>
          <p:nvPr/>
        </p:nvSpPr>
        <p:spPr>
          <a:xfrm>
            <a:off x="5814418" y="4935736"/>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Good EDA is a conversation: run code, look at output, ask a follow-up. “The histogram is right-skewed — what might explain this?”</a:t>
            </a:r>
            <a:endParaRPr lang="en-US" sz="2000" dirty="0">
              <a:latin typeface="Aptos" panose="020B0004020202020204" pitchFamily="34" charset="0"/>
            </a:endParaRPr>
          </a:p>
        </p:txBody>
      </p:sp>
      <p:sp>
        <p:nvSpPr>
          <p:cNvPr id="17" name="Shape 10">
            <a:extLst>
              <a:ext uri="{FF2B5EF4-FFF2-40B4-BE49-F238E27FC236}">
                <a16:creationId xmlns:a16="http://schemas.microsoft.com/office/drawing/2014/main" id="{E6BC949B-4BA3-35B1-A38C-65DF6EB13B3C}"/>
              </a:ext>
            </a:extLst>
          </p:cNvPr>
          <p:cNvSpPr/>
          <p:nvPr/>
        </p:nvSpPr>
        <p:spPr>
          <a:xfrm>
            <a:off x="5216228" y="5598319"/>
            <a:ext cx="414139" cy="414139"/>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sp>
        <p:nvSpPr>
          <p:cNvPr id="18" name="Text 11">
            <a:extLst>
              <a:ext uri="{FF2B5EF4-FFF2-40B4-BE49-F238E27FC236}">
                <a16:creationId xmlns:a16="http://schemas.microsoft.com/office/drawing/2014/main" id="{896B58C0-2B54-F206-9F15-F137EADF0A99}"/>
              </a:ext>
            </a:extLst>
          </p:cNvPr>
          <p:cNvSpPr/>
          <p:nvPr/>
        </p:nvSpPr>
        <p:spPr>
          <a:xfrm>
            <a:off x="5814417" y="5661521"/>
            <a:ext cx="2300982" cy="287536"/>
          </a:xfrm>
          <a:prstGeom prst="rect">
            <a:avLst/>
          </a:prstGeom>
          <a:noFill/>
          <a:ln/>
        </p:spPr>
        <p:txBody>
          <a:bodyPr wrap="none" lIns="0" tIns="0" rIns="0" bIns="0" rtlCol="0" anchor="t"/>
          <a:lstStyle/>
          <a:p>
            <a:pPr>
              <a:lnSpc>
                <a:spcPts val="2250"/>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Cite Your Work</a:t>
            </a:r>
            <a:endParaRPr lang="en-US" sz="2400" dirty="0">
              <a:latin typeface="Aptos" panose="020B0004020202020204" pitchFamily="34" charset="0"/>
            </a:endParaRPr>
          </a:p>
        </p:txBody>
      </p:sp>
      <p:sp>
        <p:nvSpPr>
          <p:cNvPr id="19" name="Text 12">
            <a:extLst>
              <a:ext uri="{FF2B5EF4-FFF2-40B4-BE49-F238E27FC236}">
                <a16:creationId xmlns:a16="http://schemas.microsoft.com/office/drawing/2014/main" id="{4072C2C1-F4B8-B591-3E42-930D1BC1B341}"/>
              </a:ext>
            </a:extLst>
          </p:cNvPr>
          <p:cNvSpPr/>
          <p:nvPr/>
        </p:nvSpPr>
        <p:spPr>
          <a:xfrm>
            <a:off x="5814418" y="6059487"/>
            <a:ext cx="5733356" cy="294482"/>
          </a:xfrm>
          <a:prstGeom prst="rect">
            <a:avLst/>
          </a:prstGeom>
          <a:noFill/>
          <a:ln/>
        </p:spPr>
        <p:txBody>
          <a:bodyPr wrap="none" lIns="0" tIns="0" rIns="0" bIns="0" rtlCol="0" anchor="t"/>
          <a:lstStyle/>
          <a:p>
            <a:pPr>
              <a:lnSpc>
                <a:spcPts val="2292"/>
              </a:lnSpc>
            </a:pPr>
            <a:r>
              <a:rPr lang="en-US" sz="2000" dirty="0">
                <a:solidFill>
                  <a:srgbClr val="000000"/>
                </a:solidFill>
                <a:latin typeface="Aptos" panose="020B0004020202020204" pitchFamily="34" charset="0"/>
                <a:ea typeface="Inter" pitchFamily="34" charset="-122"/>
                <a:cs typeface="Inter" pitchFamily="34" charset="-120"/>
              </a:rPr>
              <a:t>When you use agent-generated code in a project, note it. Understand it well enough to explain every line if asked.</a:t>
            </a:r>
            <a:endParaRPr lang="en-US" sz="2000" dirty="0">
              <a:latin typeface="Aptos" panose="020B0004020202020204" pitchFamily="34" charset="0"/>
            </a:endParaRPr>
          </a:p>
        </p:txBody>
      </p:sp>
    </p:spTree>
    <p:extLst>
      <p:ext uri="{BB962C8B-B14F-4D97-AF65-F5344CB8AC3E}">
        <p14:creationId xmlns:p14="http://schemas.microsoft.com/office/powerpoint/2010/main" val="1837085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D9464-1EEE-1758-CE10-70F099EABBC9}"/>
              </a:ext>
            </a:extLst>
          </p:cNvPr>
          <p:cNvSpPr>
            <a:spLocks noGrp="1"/>
          </p:cNvSpPr>
          <p:nvPr>
            <p:ph type="title"/>
          </p:nvPr>
        </p:nvSpPr>
        <p:spPr/>
        <p:txBody>
          <a:bodyPr/>
          <a:lstStyle/>
          <a:p>
            <a:r>
              <a:rPr lang="en-US" dirty="0"/>
              <a:t>Hands-On: Use a Coding Agent to Analyze Data</a:t>
            </a:r>
          </a:p>
        </p:txBody>
      </p:sp>
      <p:sp>
        <p:nvSpPr>
          <p:cNvPr id="3" name="Content Placeholder 2">
            <a:extLst>
              <a:ext uri="{FF2B5EF4-FFF2-40B4-BE49-F238E27FC236}">
                <a16:creationId xmlns:a16="http://schemas.microsoft.com/office/drawing/2014/main" id="{6B89283E-63DE-FED9-4478-26E6E87B1E3B}"/>
              </a:ext>
            </a:extLst>
          </p:cNvPr>
          <p:cNvSpPr>
            <a:spLocks noGrp="1"/>
          </p:cNvSpPr>
          <p:nvPr>
            <p:ph idx="1"/>
          </p:nvPr>
        </p:nvSpPr>
        <p:spPr>
          <a:xfrm>
            <a:off x="838200" y="2424663"/>
            <a:ext cx="10515600" cy="3752299"/>
          </a:xfrm>
        </p:spPr>
        <p:txBody>
          <a:bodyPr>
            <a:normAutofit fontScale="85000" lnSpcReduction="20000"/>
          </a:bodyPr>
          <a:lstStyle/>
          <a:p>
            <a:r>
              <a:rPr lang="en-US" dirty="0"/>
              <a:t xml:space="preserve">Open Claude.ai (or GitHub Copilot). Use </a:t>
            </a:r>
            <a:r>
              <a:rPr lang="en-US" dirty="0" err="1"/>
              <a:t>Student_Data_Ch8.csv</a:t>
            </a:r>
            <a:r>
              <a:rPr lang="en-US" dirty="0"/>
              <a:t xml:space="preserve"> as your dataset for this activity</a:t>
            </a:r>
          </a:p>
          <a:p>
            <a:pPr marL="514350" lvl="0" indent="-514350">
              <a:buFont typeface="+mj-lt"/>
              <a:buAutoNum type="arabicPeriod"/>
            </a:pPr>
            <a:r>
              <a:rPr lang="en-US" dirty="0"/>
              <a:t xml:space="preserve">Task 1 — Write a prompt: </a:t>
            </a:r>
            <a:r>
              <a:rPr lang="en-US" i="1" dirty="0"/>
              <a:t>Ask the agent to calculate summary statistics for Math_Score and Study_Hours. Run the code, check if results make sense.</a:t>
            </a:r>
            <a:endParaRPr lang="en-US" dirty="0"/>
          </a:p>
          <a:p>
            <a:pPr marL="514350" lvl="0" indent="-514350">
              <a:buFont typeface="+mj-lt"/>
              <a:buAutoNum type="arabicPeriod"/>
            </a:pPr>
            <a:r>
              <a:rPr lang="en-US" dirty="0"/>
              <a:t xml:space="preserve">Task 2 — Visualize: </a:t>
            </a:r>
            <a:r>
              <a:rPr lang="en-US" i="1" dirty="0"/>
              <a:t>Prompt the agent to create a scatterplot of Study_Hours vs. Math_Score, colored by Grade. Describe what you see.</a:t>
            </a:r>
            <a:endParaRPr lang="en-US" dirty="0"/>
          </a:p>
          <a:p>
            <a:pPr marL="514350" lvl="0" indent="-514350">
              <a:buFont typeface="+mj-lt"/>
              <a:buAutoNum type="arabicPeriod"/>
            </a:pPr>
            <a:r>
              <a:rPr lang="en-US" dirty="0"/>
              <a:t xml:space="preserve">Task 3 — Dig deeper: </a:t>
            </a:r>
            <a:r>
              <a:rPr lang="en-US" i="1" dirty="0"/>
              <a:t>Ask: “Does the relationship between study hours and scores look different for different grades?” Prompt the agent to help investigate.</a:t>
            </a:r>
            <a:endParaRPr lang="en-US" dirty="0"/>
          </a:p>
          <a:p>
            <a:pPr marL="514350" lvl="0" indent="-514350">
              <a:buFont typeface="+mj-lt"/>
              <a:buAutoNum type="arabicPeriod"/>
            </a:pPr>
            <a:r>
              <a:rPr lang="en-US" dirty="0"/>
              <a:t>Reflect: Write 3–5 sentences summarizing your findings. What did the agent do well? What did you have to correct or clarify? What would you ask next?</a:t>
            </a:r>
          </a:p>
          <a:p>
            <a:endParaRPr lang="en-US" dirty="0"/>
          </a:p>
        </p:txBody>
      </p:sp>
    </p:spTree>
    <p:extLst>
      <p:ext uri="{BB962C8B-B14F-4D97-AF65-F5344CB8AC3E}">
        <p14:creationId xmlns:p14="http://schemas.microsoft.com/office/powerpoint/2010/main" val="6772206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0000"/>
            <a:ext cx="10515600" cy="900000"/>
          </a:xfrm>
        </p:spPr>
        <p:txBody>
          <a:bodyPr>
            <a:normAutofit/>
          </a:bodyPr>
          <a:lstStyle/>
          <a:p>
            <a:r>
              <a:rPr lang="en-US" dirty="0"/>
              <a:t>Correlation ≠ Causation: The Detective’s Most Important Warning</a:t>
            </a:r>
          </a:p>
        </p:txBody>
      </p:sp>
      <p:sp>
        <p:nvSpPr>
          <p:cNvPr id="3" name="Warning Box"/>
          <p:cNvSpPr/>
          <p:nvPr/>
        </p:nvSpPr>
        <p:spPr>
          <a:xfrm>
            <a:off x="400000" y="1400000"/>
            <a:ext cx="11400000" cy="950000"/>
          </a:xfrm>
          <a:prstGeom prst="roundRect">
            <a:avLst>
              <a:gd name="adj" fmla="val 3000"/>
            </a:avLst>
          </a:prstGeom>
          <a:solidFill>
            <a:srgbClr val="F8D7DA"/>
          </a:solidFill>
          <a:ln w="19050">
            <a:solidFill>
              <a:srgbClr val="721C24"/>
            </a:solidFill>
          </a:ln>
        </p:spPr>
        <p:txBody>
          <a:bodyPr lIns="180000" tIns="130000" rIns="180000" bIns="130000" anchor="ctr" wrap="square"/>
          <a:lstStyle/>
          <a:p>
            <a:pPr algn="ctr"/>
            <a:r>
              <a:rPr lang="en-US" sz="2400" b="1" dirty="0">
                <a:solidFill>
                  <a:srgbClr val="721C24"/>
                </a:solidFill>
              </a:rPr>
              <a:t>Just because two variables move together does NOT mean one causes the other!</a:t>
            </a:r>
          </a:p>
        </p:txBody>
      </p:sp>
      <p:sp>
        <p:nvSpPr>
          <p:cNvPr id="4" name="Examples Left"/>
          <p:cNvSpPr/>
          <p:nvPr/>
        </p:nvSpPr>
        <p:spPr>
          <a:xfrm>
            <a:off x="400000" y="2500000"/>
            <a:ext cx="5500000" cy="3900000"/>
          </a:xfrm>
          <a:prstGeom prst="roundRect">
            <a:avLst>
              <a:gd name="adj" fmla="val 3000"/>
            </a:avLst>
          </a:prstGeom>
          <a:solidFill>
            <a:srgbClr val="CCEDFF"/>
          </a:solidFill>
          <a:ln w="9525">
            <a:solidFill>
              <a:srgbClr val="B2D3E5"/>
            </a:solidFill>
          </a:ln>
        </p:spPr>
        <p:txBody>
          <a:bodyPr lIns="200000" tIns="200000" rIns="200000" bIns="200000" wrap="square"/>
          <a:lstStyle/>
          <a:p>
            <a:r>
              <a:rPr lang="en-US" sz="2000" b="1" dirty="0"/>
              <a:t>Classic “Spurious” Correlations</a:t>
            </a:r>
          </a:p>
          <a:p>
            <a:endParaRPr lang="en-US" sz="1700"/>
          </a:p>
          <a:p>
            <a:r>
              <a:rPr lang="en-US" sz="1700" b="1" dirty="0"/>
              <a:t xml:space="preserve">🍨 Ice cream sales &amp; shark attacks </a:t>
            </a:r>
            <a:r>
              <a:rPr lang="en-US" sz="1700" dirty="0"/>
              <a:t>Both rise in summer — but eating ice cream doesn’t attract sharks. The hidden cause is hot weather.</a:t>
            </a:r>
          </a:p>
          <a:p>
            <a:endParaRPr lang="en-US" sz="1700"/>
          </a:p>
          <a:p>
            <a:r>
              <a:rPr lang="en-US" sz="1700" b="1" dirty="0"/>
              <a:t xml:space="preserve">🧥 Nicolas Cage films &amp; pool drownings </a:t>
            </a:r>
            <a:r>
              <a:rPr lang="en-US" sz="1700" dirty="0"/>
              <a:t>A real statistical correlation — and completely meaningless. Pure coincidence.</a:t>
            </a:r>
          </a:p>
          <a:p>
            <a:endParaRPr lang="en-US" sz="1700"/>
          </a:p>
          <a:p>
            <a:r>
              <a:rPr lang="en-US" sz="1700" b="1" dirty="0"/>
              <a:t xml:space="preserve">🚲 Shoe size &amp; reading ability in children </a:t>
            </a:r>
            <a:r>
              <a:rPr lang="en-US" sz="1700" dirty="0"/>
              <a:t>Both increase with age — age is the real driver.</a:t>
            </a:r>
          </a:p>
        </p:txBody>
      </p:sp>
      <p:sp>
        <p:nvSpPr>
          <p:cNvPr id="5" name="Rules Right"/>
          <p:cNvSpPr/>
          <p:nvPr/>
        </p:nvSpPr>
        <p:spPr>
          <a:xfrm>
            <a:off x="6150000" y="2500000"/>
            <a:ext cx="5650000" cy="3900000"/>
          </a:xfrm>
          <a:prstGeom prst="roundRect">
            <a:avLst>
              <a:gd name="adj" fmla="val 3000"/>
            </a:avLst>
          </a:prstGeom>
          <a:solidFill>
            <a:srgbClr val="D4EDDA"/>
          </a:solidFill>
          <a:ln w="9525">
            <a:solidFill>
              <a:srgbClr val="28A745"/>
            </a:solidFill>
          </a:ln>
        </p:spPr>
        <p:txBody>
          <a:bodyPr lIns="200000" tIns="200000" rIns="200000" bIns="200000" wrap="square"/>
          <a:lstStyle/>
          <a:p>
            <a:r>
              <a:rPr lang="en-US" sz="2000" b="1" dirty="0"/>
              <a:t>How to Think About It</a:t>
            </a:r>
          </a:p>
          <a:p>
            <a:endParaRPr lang="en-US" sz="1700"/>
          </a:p>
          <a:p>
            <a:r>
              <a:rPr lang="en-US" sz="1700" b="1" dirty="0"/>
              <a:t xml:space="preserve">Ask: Could there be a lurking variable? </a:t>
            </a:r>
            <a:r>
              <a:rPr lang="en-US" sz="1700" dirty="0"/>
              <a:t>A hidden third variable that drives both (like “age” or “season”).</a:t>
            </a:r>
          </a:p>
          <a:p>
            <a:endParaRPr lang="en-US" sz="1700"/>
          </a:p>
          <a:p>
            <a:r>
              <a:rPr lang="en-US" sz="1700" b="1" dirty="0"/>
              <a:t xml:space="preserve">Ask: Does the direction make sense? </a:t>
            </a:r>
            <a:r>
              <a:rPr lang="en-US" sz="1700" dirty="0"/>
              <a:t>Causation requires a plausible mechanism — can you explain how A actually causes B?</a:t>
            </a:r>
          </a:p>
          <a:p>
            <a:endParaRPr lang="en-US" sz="1700"/>
          </a:p>
          <a:p>
            <a:r>
              <a:rPr lang="en-US" sz="1700" b="1" dirty="0"/>
              <a:t xml:space="preserve">In EDA, always say: </a:t>
            </a:r>
            <a:r>
              <a:rPr lang="en-US" sz="1700" i="1" dirty="0"/>
              <a:t xml:space="preserve">“associated with” not “causes” </a:t>
            </a:r>
            <a:r>
              <a:rPr lang="en-US" sz="1700" dirty="0"/>
              <a:t>unless you ran a controlled experiment.</a:t>
            </a:r>
          </a:p>
          <a:p>
            <a:endParaRPr lang="en-US" sz="1700"/>
          </a:p>
          <a:p>
            <a:r>
              <a:rPr lang="en-US" sz="1700" b="1" dirty="0"/>
              <a:t xml:space="preserve">Discussion: </a:t>
            </a:r>
            <a:r>
              <a:rPr lang="en-US" sz="1700" dirty="0"/>
              <a:t>In our student data, study hours and exam scores are correlated. Does studying cause higher scores? How would you test this?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345</TotalTime>
  <Words>4757</Words>
  <Application>Microsoft Office PowerPoint</Application>
  <PresentationFormat>Widescreen</PresentationFormat>
  <Paragraphs>688</Paragraphs>
  <Slides>80</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Aptos</vt:lpstr>
      <vt:lpstr>Aptos Display</vt:lpstr>
      <vt:lpstr>Arial</vt:lpstr>
      <vt:lpstr>Consolas</vt:lpstr>
      <vt:lpstr>Inter</vt:lpstr>
      <vt:lpstr>Playfair Display Bold</vt:lpstr>
      <vt:lpstr>Times New Roman</vt:lpstr>
      <vt:lpstr>Office Theme</vt:lpstr>
      <vt:lpstr>Chapter 8: Exploring the Clues – Intro to Exploratory Data Analysis (EDA)</vt:lpstr>
      <vt:lpstr>Exploring the Clues: Intro to Exploratory Data Analysis</vt:lpstr>
      <vt:lpstr>What is Exploratory Data Analysis?</vt:lpstr>
      <vt:lpstr>Why EDA Matters</vt:lpstr>
      <vt:lpstr>The Purpose of EDA</vt:lpstr>
      <vt:lpstr>EDA is Like Solving a Mystery</vt:lpstr>
      <vt:lpstr>Chapter 8</vt:lpstr>
      <vt:lpstr>Basic Tools: Sorting</vt:lpstr>
      <vt:lpstr>Let’s Sort it out!</vt:lpstr>
      <vt:lpstr>Sort it with R</vt:lpstr>
      <vt:lpstr>Sort it with R - 2</vt:lpstr>
      <vt:lpstr>Sort it with Python</vt:lpstr>
      <vt:lpstr>Basic Tools: Filtering</vt:lpstr>
      <vt:lpstr>Let’s Filter with R</vt:lpstr>
      <vt:lpstr>Let’s Filter with R</vt:lpstr>
      <vt:lpstr>Let’s Filter with Python</vt:lpstr>
      <vt:lpstr>Basic Tools: Grouping &amp; Summarizing</vt:lpstr>
      <vt:lpstr>Let’s Get Averages By Class - R</vt:lpstr>
      <vt:lpstr>Let’s Get Averages By Class - R</vt:lpstr>
      <vt:lpstr>Let’s Get Averages By Class - Python</vt:lpstr>
      <vt:lpstr>Your Turn!</vt:lpstr>
      <vt:lpstr>Check your answers</vt:lpstr>
      <vt:lpstr>Chapter 8</vt:lpstr>
      <vt:lpstr>Univariate Analysis: One Variable at a Time</vt:lpstr>
      <vt:lpstr>Key Questions for One Variable</vt:lpstr>
      <vt:lpstr>Categorical vs. Numerical Variables</vt:lpstr>
      <vt:lpstr>Exploring Categorical Data</vt:lpstr>
      <vt:lpstr>Example</vt:lpstr>
      <vt:lpstr>Exploring Numerical Data: Summary Statistics</vt:lpstr>
      <vt:lpstr>PowerPoint Presentation</vt:lpstr>
      <vt:lpstr>Exploring Numerical Data: Histogram</vt:lpstr>
      <vt:lpstr>Histogram in R</vt:lpstr>
      <vt:lpstr>Histogram in Python</vt:lpstr>
      <vt:lpstr>Interpreting a Histogram</vt:lpstr>
      <vt:lpstr>Exploring Numerical Data: Boxplot</vt:lpstr>
      <vt:lpstr>Interpreting Distributions</vt:lpstr>
      <vt:lpstr>Hands-On Activity: Univariate Exploration </vt:lpstr>
      <vt:lpstr>R</vt:lpstr>
      <vt:lpstr>Python</vt:lpstr>
      <vt:lpstr>Hands-On Activity: Univariate Exploration - 2</vt:lpstr>
      <vt:lpstr>Hands-On Activity: Univariate Exploration - 2</vt:lpstr>
      <vt:lpstr>Python</vt:lpstr>
      <vt:lpstr>Chapter 8</vt:lpstr>
      <vt:lpstr>Bivariate Analysis: Relationships Between Variables</vt:lpstr>
      <vt:lpstr>Types of Bivariate Analysis</vt:lpstr>
      <vt:lpstr>PowerPoint Presentation</vt:lpstr>
      <vt:lpstr>Correlation</vt:lpstr>
      <vt:lpstr>Numeric vs Numeric (Scatterplots): </vt:lpstr>
      <vt:lpstr>Let’s Try It!</vt:lpstr>
      <vt:lpstr>Try with Python!</vt:lpstr>
      <vt:lpstr>Categorical vs. Categorical</vt:lpstr>
      <vt:lpstr>Categorical vs. Categorical</vt:lpstr>
      <vt:lpstr>Categorical vs Numeric</vt:lpstr>
      <vt:lpstr>Let’s Try! - R</vt:lpstr>
      <vt:lpstr>Let’s Try! - Python</vt:lpstr>
      <vt:lpstr>Patterns in Bivariate Analysis</vt:lpstr>
      <vt:lpstr>Your Turn!</vt:lpstr>
      <vt:lpstr>Your Turn! - 2</vt:lpstr>
      <vt:lpstr>Your Turn! - 3</vt:lpstr>
      <vt:lpstr>Your Turn! - 4</vt:lpstr>
      <vt:lpstr>Chapter 8</vt:lpstr>
      <vt:lpstr>PowerPoint Presentation</vt:lpstr>
      <vt:lpstr>Bar Chart</vt:lpstr>
      <vt:lpstr>Histogram</vt:lpstr>
      <vt:lpstr>Boxplot</vt:lpstr>
      <vt:lpstr>Scatterplot</vt:lpstr>
      <vt:lpstr>Line Chart</vt:lpstr>
      <vt:lpstr>PowerPoint Presentation</vt:lpstr>
      <vt:lpstr>Chapter 8</vt:lpstr>
      <vt:lpstr>Step 1: Overview and Quality Check </vt:lpstr>
      <vt:lpstr>Step 2: Univariate EDA </vt:lpstr>
      <vt:lpstr>Step 3: Bivariate EDA</vt:lpstr>
      <vt:lpstr>Step 4: Patterns and Anomalies</vt:lpstr>
      <vt:lpstr>Form Your Story!</vt:lpstr>
      <vt:lpstr>Common Patterns to Look For</vt:lpstr>
      <vt:lpstr>PowerPoint Presentation</vt:lpstr>
      <vt:lpstr>The EDA Process</vt:lpstr>
      <vt:lpstr>Key Takeaways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Yin</dc:creator>
  <cp:lastModifiedBy>Burhan Ogut</cp:lastModifiedBy>
  <cp:revision>24</cp:revision>
  <dcterms:created xsi:type="dcterms:W3CDTF">2025-04-09T18:08:05Z</dcterms:created>
  <dcterms:modified xsi:type="dcterms:W3CDTF">2026-04-21T14:00:10Z</dcterms:modified>
</cp:coreProperties>
</file>