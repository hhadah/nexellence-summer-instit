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98" r:id="rId2"/>
    <p:sldId id="499" r:id="rId3"/>
    <p:sldId id="500" r:id="rId4"/>
    <p:sldId id="501" r:id="rId5"/>
    <p:sldId id="502" r:id="rId6"/>
    <p:sldId id="503" r:id="rId7"/>
    <p:sldId id="504" r:id="rId8"/>
    <p:sldId id="505" r:id="rId9"/>
    <p:sldId id="506" r:id="rId10"/>
    <p:sldId id="507" r:id="rId11"/>
    <p:sldId id="508" r:id="rId12"/>
    <p:sldId id="509" r:id="rId13"/>
    <p:sldId id="510" r:id="rId14"/>
    <p:sldId id="511" r:id="rId15"/>
    <p:sldId id="512" r:id="rId16"/>
    <p:sldId id="513" r:id="rId17"/>
    <p:sldId id="514" r:id="rId18"/>
    <p:sldId id="515" r:id="rId19"/>
    <p:sldId id="516" r:id="rId20"/>
    <p:sldId id="517" r:id="rId21"/>
    <p:sldId id="518" r:id="rId22"/>
    <p:sldId id="519" r:id="rId23"/>
    <p:sldId id="520" r:id="rId24"/>
    <p:sldId id="521" r:id="rId25"/>
    <p:sldId id="522" r:id="rId26"/>
    <p:sldId id="523" r:id="rId27"/>
    <p:sldId id="524" r:id="rId28"/>
    <p:sldId id="525" r:id="rId29"/>
    <p:sldId id="526" r:id="rId30"/>
    <p:sldId id="527" r:id="rId31"/>
    <p:sldId id="528" r:id="rId32"/>
    <p:sldId id="529" r:id="rId33"/>
    <p:sldId id="530" r:id="rId34"/>
    <p:sldId id="531" r:id="rId35"/>
    <p:sldId id="532" r:id="rId36"/>
    <p:sldId id="533" r:id="rId37"/>
    <p:sldId id="534" r:id="rId38"/>
    <p:sldId id="535" r:id="rId39"/>
    <p:sldId id="536" r:id="rId40"/>
    <p:sldId id="537" r:id="rId41"/>
    <p:sldId id="538" r:id="rId42"/>
    <p:sldId id="539" r:id="rId43"/>
    <p:sldId id="540" r:id="rId44"/>
    <p:sldId id="54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1429"/>
  </p:normalViewPr>
  <p:slideViewPr>
    <p:cSldViewPr snapToGrid="0">
      <p:cViewPr varScale="1">
        <p:scale>
          <a:sx n="45" d="100"/>
          <a:sy n="45" d="100"/>
        </p:scale>
        <p:origin x="3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88F22-8C7A-5461-A6E5-8E92BB572B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A1590F-0632-CD78-A1E5-0592621B6C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056CB8-79A6-F622-8EEF-567C7E42CCF2}"/>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5" name="Footer Placeholder 4">
            <a:extLst>
              <a:ext uri="{FF2B5EF4-FFF2-40B4-BE49-F238E27FC236}">
                <a16:creationId xmlns:a16="http://schemas.microsoft.com/office/drawing/2014/main" id="{A86B8F66-65E5-E63D-DF60-FC41D29D85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72E23-690F-D45E-4B7D-42F029D9B9EF}"/>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2551105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D82E-86C6-1870-C769-0DA4F5927D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8BEDF2-B7F4-1CC2-2A50-D477B474DF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2B01C5-8908-1A96-1E63-B0203C683C07}"/>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5" name="Footer Placeholder 4">
            <a:extLst>
              <a:ext uri="{FF2B5EF4-FFF2-40B4-BE49-F238E27FC236}">
                <a16:creationId xmlns:a16="http://schemas.microsoft.com/office/drawing/2014/main" id="{FE0B1BB9-7951-8A2E-2107-0DFEAC632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81685-BCB1-7552-03FA-B09C7D59B690}"/>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2999279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15CB-EA4C-0CFD-5A83-2D80068F1B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3A9CF9-4C59-C16E-AF2D-4B908BB85F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026CC8-758E-2A19-9C20-9C743B35E15F}"/>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5" name="Footer Placeholder 4">
            <a:extLst>
              <a:ext uri="{FF2B5EF4-FFF2-40B4-BE49-F238E27FC236}">
                <a16:creationId xmlns:a16="http://schemas.microsoft.com/office/drawing/2014/main" id="{0D070D73-CCE9-5BED-5411-EDACE4543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6149D9-76A8-BC96-CAC8-8368D73C44AD}"/>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494994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9BC2-9758-6DC3-460B-DBE5C40AB7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157EE-BD11-E778-0443-1FBDA3CE5B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5358B5-06B7-9E5F-F22A-597660B395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ABA740-B6A8-BC34-1905-C82F41394F67}"/>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6" name="Footer Placeholder 5">
            <a:extLst>
              <a:ext uri="{FF2B5EF4-FFF2-40B4-BE49-F238E27FC236}">
                <a16:creationId xmlns:a16="http://schemas.microsoft.com/office/drawing/2014/main" id="{132047C3-5AC1-DE96-EDAA-D49E1CB6E1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917054-43E8-A7C1-1729-4155A1E372C0}"/>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956192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A34B5-7848-03D3-B536-24D9A5E41E1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F4EF85-7DCD-2E6B-7BD6-997F71CCD7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9FC399-4848-6EE5-E672-79AA3E1CB1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40D1DC-C2C6-D71C-65D4-5674262613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700B16-1044-E78D-463B-B1788D7F6F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072F5F-4028-DF80-8B4D-3F68E07D9B50}"/>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8" name="Footer Placeholder 7">
            <a:extLst>
              <a:ext uri="{FF2B5EF4-FFF2-40B4-BE49-F238E27FC236}">
                <a16:creationId xmlns:a16="http://schemas.microsoft.com/office/drawing/2014/main" id="{6C79F3E8-6F8C-7CEE-23DD-54BE3E4013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65F0F4-B4AE-A419-A583-95FE02352191}"/>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1219980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E5653-7907-2894-DC54-E47FC8AF60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3C06D4-8A07-A99F-DAED-15934B527633}"/>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4" name="Footer Placeholder 3">
            <a:extLst>
              <a:ext uri="{FF2B5EF4-FFF2-40B4-BE49-F238E27FC236}">
                <a16:creationId xmlns:a16="http://schemas.microsoft.com/office/drawing/2014/main" id="{142AEF70-678A-B932-7A05-81C24EE5D6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2258C4-5DC6-EA14-AD6D-BE6F08DEB95B}"/>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632376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E1DC2B-1DB2-4905-68B9-850F9876E5A7}"/>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3" name="Footer Placeholder 2">
            <a:extLst>
              <a:ext uri="{FF2B5EF4-FFF2-40B4-BE49-F238E27FC236}">
                <a16:creationId xmlns:a16="http://schemas.microsoft.com/office/drawing/2014/main" id="{90EE3506-E22A-5AB5-6D6F-63CCF24659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9E6F62-198A-0498-C432-F15B10332F88}"/>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2282015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A1A9A-04A8-9F14-D721-9DD36BE81F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FF413E-213D-B0BD-D40E-F29B5ACC61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8042A0-435B-1E4B-17A7-BA55D70918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E28519-E089-03E3-BDE8-44122BB54FDC}"/>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6" name="Footer Placeholder 5">
            <a:extLst>
              <a:ext uri="{FF2B5EF4-FFF2-40B4-BE49-F238E27FC236}">
                <a16:creationId xmlns:a16="http://schemas.microsoft.com/office/drawing/2014/main" id="{23F5F541-3D94-331C-EF01-09E433F0FD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4C23DE-4B4E-37AF-C268-FF86468686DB}"/>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3018806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A1E14-952D-1238-375A-835CBD4119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08A4EC-04A1-299F-09A7-B46AFA6350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AE611D-EB5E-00CD-D36D-AC12A14CC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3460AD-F6A4-424F-BC5F-DC76C21DB245}"/>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6" name="Footer Placeholder 5">
            <a:extLst>
              <a:ext uri="{FF2B5EF4-FFF2-40B4-BE49-F238E27FC236}">
                <a16:creationId xmlns:a16="http://schemas.microsoft.com/office/drawing/2014/main" id="{8631DBD6-123A-0BCB-3FD1-536929301E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107EF1-1F32-5257-8CD3-EDC4218EDD99}"/>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3026922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0B0D7-4C99-5935-F09E-FDFB22575A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C79E43-2A2D-55F0-04BA-08162D1891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CAA277-EE5B-138B-B154-326CDDDBF483}"/>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5" name="Footer Placeholder 4">
            <a:extLst>
              <a:ext uri="{FF2B5EF4-FFF2-40B4-BE49-F238E27FC236}">
                <a16:creationId xmlns:a16="http://schemas.microsoft.com/office/drawing/2014/main" id="{7C08ACBC-E2D5-2907-97EA-AA66A8C78A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680FB4-C42A-65A2-F74A-14DC06008032}"/>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2334910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D8E31B-E994-8D4D-DA47-F0BFAB4B58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EF978A-54C7-2274-AC69-773AA89705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944D60-25D4-6991-A40A-7DB957B8B78B}"/>
              </a:ext>
            </a:extLst>
          </p:cNvPr>
          <p:cNvSpPr>
            <a:spLocks noGrp="1"/>
          </p:cNvSpPr>
          <p:nvPr>
            <p:ph type="dt" sz="half" idx="10"/>
          </p:nvPr>
        </p:nvSpPr>
        <p:spPr/>
        <p:txBody>
          <a:bodyPr/>
          <a:lstStyle/>
          <a:p>
            <a:fld id="{E0E36571-48A5-EF49-9F92-3372665C0371}" type="datetimeFigureOut">
              <a:rPr lang="en-US" smtClean="0"/>
              <a:t>6/12/26</a:t>
            </a:fld>
            <a:endParaRPr lang="en-US"/>
          </a:p>
        </p:txBody>
      </p:sp>
      <p:sp>
        <p:nvSpPr>
          <p:cNvPr id="5" name="Footer Placeholder 4">
            <a:extLst>
              <a:ext uri="{FF2B5EF4-FFF2-40B4-BE49-F238E27FC236}">
                <a16:creationId xmlns:a16="http://schemas.microsoft.com/office/drawing/2014/main" id="{1878516B-04AB-1E1E-38D0-AFD356667C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C8D55F-8E6C-BAF8-E948-788F4732944B}"/>
              </a:ext>
            </a:extLst>
          </p:cNvPr>
          <p:cNvSpPr>
            <a:spLocks noGrp="1"/>
          </p:cNvSpPr>
          <p:nvPr>
            <p:ph type="sldNum" sz="quarter" idx="12"/>
          </p:nvPr>
        </p:nvSpPr>
        <p:spPr/>
        <p:txBody>
          <a:bodyPr/>
          <a:lstStyle/>
          <a:p>
            <a:fld id="{DDC40905-EB7B-F24D-BCDF-53E50B588841}" type="slidenum">
              <a:rPr lang="en-US" smtClean="0"/>
              <a:t>‹#›</a:t>
            </a:fld>
            <a:endParaRPr lang="en-US"/>
          </a:p>
        </p:txBody>
      </p:sp>
    </p:spTree>
    <p:extLst>
      <p:ext uri="{BB962C8B-B14F-4D97-AF65-F5344CB8AC3E}">
        <p14:creationId xmlns:p14="http://schemas.microsoft.com/office/powerpoint/2010/main" val="2577365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Slide 1 master">
    <p:spTree>
      <p:nvGrpSpPr>
        <p:cNvPr id="1" name=""/>
        <p:cNvGrpSpPr/>
        <p:nvPr/>
      </p:nvGrpSpPr>
      <p:grpSpPr>
        <a:xfrm>
          <a:off x="0" y="0"/>
          <a:ext cx="0" cy="0"/>
          <a:chOff x="0" y="0"/>
          <a:chExt cx="0" cy="0"/>
        </a:xfrm>
      </p:grpSpPr>
      <p:pic>
        <p:nvPicPr>
          <p:cNvPr id="94" name="Picture 7" descr="Picture 7"/>
          <p:cNvPicPr>
            <a:picLocks noChangeAspect="1"/>
          </p:cNvPicPr>
          <p:nvPr/>
        </p:nvPicPr>
        <p:blipFill>
          <a:blip r:embed="rId2"/>
          <a:stretch>
            <a:fillRect/>
          </a:stretch>
        </p:blipFill>
        <p:spPr>
          <a:xfrm>
            <a:off x="9627038" y="1277"/>
            <a:ext cx="2564962" cy="586750"/>
          </a:xfrm>
          <a:prstGeom prst="rect">
            <a:avLst/>
          </a:prstGeom>
          <a:ln w="12700">
            <a:miter lim="400000"/>
          </a:ln>
        </p:spPr>
      </p:pic>
      <p:pic>
        <p:nvPicPr>
          <p:cNvPr id="95" name="Picture 9" descr="Picture 9"/>
          <p:cNvPicPr>
            <a:picLocks noChangeAspect="1"/>
          </p:cNvPicPr>
          <p:nvPr/>
        </p:nvPicPr>
        <p:blipFill>
          <a:blip r:embed="rId3"/>
          <a:stretch>
            <a:fillRect/>
          </a:stretch>
        </p:blipFill>
        <p:spPr>
          <a:xfrm>
            <a:off x="4474788" y="6486580"/>
            <a:ext cx="3389313" cy="166688"/>
          </a:xfrm>
          <a:prstGeom prst="rect">
            <a:avLst/>
          </a:prstGeom>
          <a:ln w="12700">
            <a:miter lim="400000"/>
          </a:ln>
        </p:spPr>
      </p:pic>
      <p:sp>
        <p:nvSpPr>
          <p:cNvPr id="96" name="Slide Number"/>
          <p:cNvSpPr txBox="1">
            <a:spLocks noGrp="1"/>
          </p:cNvSpPr>
          <p:nvPr>
            <p:ph type="sldNum" sz="quarter" idx="2"/>
          </p:nvPr>
        </p:nvSpPr>
        <p:spPr>
          <a:xfrm>
            <a:off x="5892800" y="6173787"/>
            <a:ext cx="2844801" cy="36512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9505711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22F149-13E5-A1FA-4AEB-2C670DAEFA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BA429C-D3A7-3E43-E817-571FF698A2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A7882-E319-4340-FA96-65DBBEE744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E36571-48A5-EF49-9F92-3372665C0371}" type="datetimeFigureOut">
              <a:rPr lang="en-US" smtClean="0"/>
              <a:t>6/12/26</a:t>
            </a:fld>
            <a:endParaRPr lang="en-US"/>
          </a:p>
        </p:txBody>
      </p:sp>
      <p:sp>
        <p:nvSpPr>
          <p:cNvPr id="5" name="Footer Placeholder 4">
            <a:extLst>
              <a:ext uri="{FF2B5EF4-FFF2-40B4-BE49-F238E27FC236}">
                <a16:creationId xmlns:a16="http://schemas.microsoft.com/office/drawing/2014/main" id="{C9A00700-7EEA-4FC7-6047-B0860418BE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FE4CCB-5EA1-A739-DC21-E21FF05A23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C40905-EB7B-F24D-BCDF-53E50B588841}" type="slidenum">
              <a:rPr lang="en-US" smtClean="0"/>
              <a:t>‹#›</a:t>
            </a:fld>
            <a:endParaRPr lang="en-US"/>
          </a:p>
        </p:txBody>
      </p:sp>
    </p:spTree>
    <p:extLst>
      <p:ext uri="{BB962C8B-B14F-4D97-AF65-F5344CB8AC3E}">
        <p14:creationId xmlns:p14="http://schemas.microsoft.com/office/powerpoint/2010/main" val="3080032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8" name="RESEARCH METHODS…"/>
          <p:cNvSpPr txBox="1"/>
          <p:nvPr/>
        </p:nvSpPr>
        <p:spPr>
          <a:xfrm>
            <a:off x="853752" y="1470895"/>
            <a:ext cx="10191636" cy="25800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pPr algn="ctr">
              <a:lnSpc>
                <a:spcPct val="90000"/>
              </a:lnSpc>
              <a:defRPr sz="6000" b="1">
                <a:latin typeface="Playfair Display Bold"/>
                <a:ea typeface="Playfair Display Bold"/>
                <a:cs typeface="Playfair Display Bold"/>
                <a:sym typeface="Playfair Display Bold"/>
              </a:defRPr>
            </a:pPr>
            <a:r>
              <a:rPr sz="5000"/>
              <a:t>RESEARCH METHODS</a:t>
            </a:r>
          </a:p>
          <a:p>
            <a:pPr algn="ctr">
              <a:lnSpc>
                <a:spcPct val="90000"/>
              </a:lnSpc>
              <a:defRPr sz="6000" b="1">
                <a:latin typeface="Playfair Display Bold"/>
                <a:ea typeface="Playfair Display Bold"/>
                <a:cs typeface="Playfair Display Bold"/>
                <a:sym typeface="Playfair Display Bold"/>
              </a:defRPr>
            </a:pPr>
            <a:endParaRPr sz="5000"/>
          </a:p>
          <a:p>
            <a:pPr algn="ctr">
              <a:lnSpc>
                <a:spcPct val="90000"/>
              </a:lnSpc>
              <a:defRPr sz="6000" b="1">
                <a:latin typeface="Playfair Display Bold"/>
                <a:ea typeface="Playfair Display Bold"/>
                <a:cs typeface="Playfair Display Bold"/>
                <a:sym typeface="Playfair Display Bold"/>
              </a:defRPr>
            </a:pPr>
            <a:r>
              <a:rPr sz="5000"/>
              <a:t>DAY 6</a:t>
            </a:r>
          </a:p>
          <a:p>
            <a:pPr algn="ctr" defTabSz="380985">
              <a:defRPr sz="1600">
                <a:latin typeface="Playfair Display Bold"/>
                <a:ea typeface="Playfair Display Bold"/>
                <a:cs typeface="Playfair Display Bold"/>
                <a:sym typeface="Playfair Display Bold"/>
              </a:defRPr>
            </a:pPr>
            <a:endParaRPr sz="1333"/>
          </a:p>
          <a:p>
            <a:pPr algn="ctr" defTabSz="380985">
              <a:defRPr sz="1600">
                <a:latin typeface="Playfair Display Bold"/>
                <a:ea typeface="Playfair Display Bold"/>
                <a:cs typeface="Playfair Display Bold"/>
                <a:sym typeface="Playfair Display Bold"/>
              </a:defRPr>
            </a:pPr>
            <a:endParaRPr sz="1333"/>
          </a:p>
        </p:txBody>
      </p:sp>
      <p:sp>
        <p:nvSpPr>
          <p:cNvPr id="3159" name="Rectangle"/>
          <p:cNvSpPr/>
          <p:nvPr/>
        </p:nvSpPr>
        <p:spPr>
          <a:xfrm>
            <a:off x="-62743" y="-81"/>
            <a:ext cx="9701771" cy="586749"/>
          </a:xfrm>
          <a:prstGeom prst="rect">
            <a:avLst/>
          </a:prstGeom>
          <a:solidFill>
            <a:srgbClr val="FFFFFF"/>
          </a:solidFill>
          <a:ln w="12700">
            <a:miter lim="400000"/>
          </a:ln>
        </p:spPr>
        <p:txBody>
          <a:bodyPr lIns="38099" rIns="38099" anchor="ctr"/>
          <a:lstStyle/>
          <a:p>
            <a:endParaRPr sz="150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1" name="Text 0"/>
          <p:cNvSpPr txBox="1"/>
          <p:nvPr/>
        </p:nvSpPr>
        <p:spPr>
          <a:xfrm>
            <a:off x="661492" y="1971278"/>
            <a:ext cx="6297018"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Welcome to Day 6! </a:t>
            </a:r>
          </a:p>
        </p:txBody>
      </p:sp>
      <p:sp>
        <p:nvSpPr>
          <p:cNvPr id="3162" name="Shape 2"/>
          <p:cNvSpPr/>
          <p:nvPr/>
        </p:nvSpPr>
        <p:spPr>
          <a:xfrm>
            <a:off x="661492" y="4570016"/>
            <a:ext cx="302420" cy="302420"/>
          </a:xfrm>
          <a:prstGeom prst="roundRect">
            <a:avLst>
              <a:gd name="adj" fmla="val 50000"/>
            </a:avLst>
          </a:prstGeom>
          <a:ln w="7620">
            <a:solidFill>
              <a:srgbClr val="FFFFFF"/>
            </a:solidFill>
          </a:ln>
        </p:spPr>
        <p:txBody>
          <a:bodyPr lIns="38099" rIns="38099"/>
          <a:lstStyle/>
          <a:p>
            <a:endParaRPr sz="1500"/>
          </a:p>
        </p:txBody>
      </p:sp>
      <p:sp>
        <p:nvSpPr>
          <p:cNvPr id="3163" name="Text 0"/>
          <p:cNvSpPr txBox="1"/>
          <p:nvPr/>
        </p:nvSpPr>
        <p:spPr>
          <a:xfrm>
            <a:off x="674074" y="2733397"/>
            <a:ext cx="7982634" cy="42676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583"/>
              </a:lnSpc>
              <a:defRPr sz="4400" b="1">
                <a:solidFill>
                  <a:srgbClr val="D7AA48"/>
                </a:solidFill>
                <a:latin typeface="Playfair Display Bold"/>
                <a:ea typeface="Playfair Display Bold"/>
                <a:cs typeface="Playfair Display Bold"/>
                <a:sym typeface="Playfair Display Bold"/>
              </a:defRPr>
            </a:pPr>
            <a:r>
              <a:rPr sz="3667"/>
              <a:t>Let’s learn more about data.</a:t>
            </a:r>
          </a:p>
          <a:p>
            <a:pPr marL="490155" indent="-490155">
              <a:lnSpc>
                <a:spcPct val="120000"/>
              </a:lnSpc>
              <a:buSzPct val="100000"/>
              <a:buChar char="-"/>
              <a:defRPr sz="3300" b="1">
                <a:latin typeface="Playfair Display Bold"/>
                <a:ea typeface="Playfair Display Bold"/>
                <a:cs typeface="Playfair Display Bold"/>
                <a:sym typeface="Playfair Display Bold"/>
              </a:defRPr>
            </a:pPr>
            <a:endParaRPr sz="2750"/>
          </a:p>
          <a:p>
            <a:pPr marL="490155" indent="-490155">
              <a:lnSpc>
                <a:spcPct val="120000"/>
              </a:lnSpc>
              <a:buSzPct val="100000"/>
              <a:buChar char="-"/>
              <a:defRPr sz="3300" b="1">
                <a:latin typeface="Playfair Display Bold"/>
                <a:ea typeface="Playfair Display Bold"/>
                <a:cs typeface="Playfair Display Bold"/>
                <a:sym typeface="Playfair Display Bold"/>
              </a:defRPr>
            </a:pPr>
            <a:r>
              <a:rPr sz="2750"/>
              <a:t>Understanding different types of data.</a:t>
            </a:r>
          </a:p>
          <a:p>
            <a:pPr marL="490155" indent="-490155">
              <a:lnSpc>
                <a:spcPct val="120000"/>
              </a:lnSpc>
              <a:buSzPct val="100000"/>
              <a:buChar char="-"/>
              <a:defRPr sz="3300" b="1">
                <a:latin typeface="Playfair Display Bold"/>
                <a:ea typeface="Playfair Display Bold"/>
                <a:cs typeface="Playfair Display Bold"/>
                <a:sym typeface="Playfair Display Bold"/>
              </a:defRPr>
            </a:pPr>
            <a:r>
              <a:rPr sz="2750"/>
              <a:t>Avoiding biases in data collection. </a:t>
            </a:r>
          </a:p>
          <a:p>
            <a:pPr marL="490155" indent="-490155">
              <a:lnSpc>
                <a:spcPct val="120000"/>
              </a:lnSpc>
              <a:buSzPct val="100000"/>
              <a:buChar char="-"/>
              <a:defRPr sz="3300" b="1">
                <a:latin typeface="Playfair Display Bold"/>
                <a:ea typeface="Playfair Display Bold"/>
                <a:cs typeface="Playfair Display Bold"/>
                <a:sym typeface="Playfair Display Bold"/>
              </a:defRPr>
            </a:pPr>
            <a:r>
              <a:rPr sz="2750"/>
              <a:t>Data recording: best practices.</a:t>
            </a:r>
          </a:p>
          <a:p>
            <a:pPr marL="490155" indent="-490155">
              <a:lnSpc>
                <a:spcPct val="120000"/>
              </a:lnSpc>
              <a:buSzPct val="100000"/>
              <a:buChar char="-"/>
              <a:defRPr sz="3300" b="1">
                <a:latin typeface="Playfair Display Bold"/>
                <a:ea typeface="Playfair Display Bold"/>
                <a:cs typeface="Playfair Display Bold"/>
                <a:sym typeface="Playfair Display Bold"/>
              </a:defRPr>
            </a:pPr>
            <a:r>
              <a:rPr sz="2750"/>
              <a:t>Understanding &amp; reporting data: Tools to use.</a:t>
            </a:r>
          </a:p>
          <a:p>
            <a:pPr>
              <a:lnSpc>
                <a:spcPts val="4583"/>
              </a:lnSpc>
              <a:defRPr sz="4400" b="1">
                <a:solidFill>
                  <a:srgbClr val="D7AA48"/>
                </a:solidFill>
                <a:latin typeface="Playfair Display Bold"/>
                <a:ea typeface="Playfair Display Bold"/>
                <a:cs typeface="Playfair Display Bold"/>
                <a:sym typeface="Playfair Display Bold"/>
              </a:defRPr>
            </a:pPr>
            <a:r>
              <a:rPr sz="3667"/>
              <a:t> </a:t>
            </a:r>
          </a:p>
          <a:p>
            <a:pPr>
              <a:lnSpc>
                <a:spcPts val="4583"/>
              </a:lnSpc>
              <a:defRPr sz="4400" b="1">
                <a:solidFill>
                  <a:srgbClr val="D7AA48"/>
                </a:solidFill>
                <a:latin typeface="Playfair Display Bold"/>
                <a:ea typeface="Playfair Display Bold"/>
                <a:cs typeface="Playfair Display Bold"/>
                <a:sym typeface="Playfair Display Bold"/>
              </a:defRPr>
            </a:pPr>
            <a:r>
              <a:rPr sz="3667"/>
              <a:t>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5" name="Text 0"/>
          <p:cNvSpPr txBox="1"/>
          <p:nvPr/>
        </p:nvSpPr>
        <p:spPr>
          <a:xfrm>
            <a:off x="661492" y="1097657"/>
            <a:ext cx="2989601"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What is Data?</a:t>
            </a:r>
          </a:p>
        </p:txBody>
      </p:sp>
      <p:pic>
        <p:nvPicPr>
          <p:cNvPr id="3166" name="Image 0" descr="Image 0"/>
          <p:cNvPicPr>
            <a:picLocks noChangeAspect="1"/>
          </p:cNvPicPr>
          <p:nvPr/>
        </p:nvPicPr>
        <p:blipFill>
          <a:blip r:embed="rId2"/>
          <a:stretch>
            <a:fillRect/>
          </a:stretch>
        </p:blipFill>
        <p:spPr>
          <a:xfrm>
            <a:off x="661492" y="2066330"/>
            <a:ext cx="3465513" cy="2141836"/>
          </a:xfrm>
          <a:prstGeom prst="rect">
            <a:avLst/>
          </a:prstGeom>
          <a:ln w="12700">
            <a:miter lim="400000"/>
          </a:ln>
        </p:spPr>
      </p:pic>
      <p:sp>
        <p:nvSpPr>
          <p:cNvPr id="3167" name="Text 1"/>
          <p:cNvSpPr txBox="1"/>
          <p:nvPr/>
        </p:nvSpPr>
        <p:spPr>
          <a:xfrm>
            <a:off x="661491" y="4444405"/>
            <a:ext cx="981038"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Evidence</a:t>
            </a:r>
          </a:p>
        </p:txBody>
      </p:sp>
      <p:sp>
        <p:nvSpPr>
          <p:cNvPr id="3168" name="Text 2"/>
          <p:cNvSpPr txBox="1"/>
          <p:nvPr/>
        </p:nvSpPr>
        <p:spPr>
          <a:xfrm>
            <a:off x="661491" y="4853086"/>
            <a:ext cx="3465514" cy="676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Information collected to examine hypotheses, address questions, or describe phenomena.</a:t>
            </a:r>
          </a:p>
        </p:txBody>
      </p:sp>
      <p:pic>
        <p:nvPicPr>
          <p:cNvPr id="3169" name="Image 1" descr="Image 1"/>
          <p:cNvPicPr>
            <a:picLocks noChangeAspect="1"/>
          </p:cNvPicPr>
          <p:nvPr/>
        </p:nvPicPr>
        <p:blipFill>
          <a:blip r:embed="rId3"/>
          <a:stretch>
            <a:fillRect/>
          </a:stretch>
        </p:blipFill>
        <p:spPr>
          <a:xfrm>
            <a:off x="4363244" y="2066330"/>
            <a:ext cx="3465513" cy="2141836"/>
          </a:xfrm>
          <a:prstGeom prst="rect">
            <a:avLst/>
          </a:prstGeom>
          <a:ln w="12700">
            <a:miter lim="400000"/>
          </a:ln>
        </p:spPr>
      </p:pic>
      <p:sp>
        <p:nvSpPr>
          <p:cNvPr id="3170" name="Text 3"/>
          <p:cNvSpPr txBox="1"/>
          <p:nvPr/>
        </p:nvSpPr>
        <p:spPr>
          <a:xfrm>
            <a:off x="4363243" y="4444405"/>
            <a:ext cx="1256754"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Foundation</a:t>
            </a:r>
          </a:p>
        </p:txBody>
      </p:sp>
      <p:sp>
        <p:nvSpPr>
          <p:cNvPr id="3171" name="Text 4"/>
          <p:cNvSpPr txBox="1"/>
          <p:nvPr/>
        </p:nvSpPr>
        <p:spPr>
          <a:xfrm>
            <a:off x="4363244" y="4853086"/>
            <a:ext cx="3465513" cy="676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Transforms uncertainty into insight with observable reality.</a:t>
            </a:r>
          </a:p>
        </p:txBody>
      </p:sp>
      <p:pic>
        <p:nvPicPr>
          <p:cNvPr id="3172" name="Image 2" descr="Image 2"/>
          <p:cNvPicPr>
            <a:picLocks noChangeAspect="1"/>
          </p:cNvPicPr>
          <p:nvPr/>
        </p:nvPicPr>
        <p:blipFill>
          <a:blip r:embed="rId4"/>
          <a:stretch>
            <a:fillRect/>
          </a:stretch>
        </p:blipFill>
        <p:spPr>
          <a:xfrm>
            <a:off x="8064996" y="2066330"/>
            <a:ext cx="3465513" cy="2141836"/>
          </a:xfrm>
          <a:prstGeom prst="rect">
            <a:avLst/>
          </a:prstGeom>
          <a:ln w="12700">
            <a:miter lim="400000"/>
          </a:ln>
        </p:spPr>
      </p:pic>
      <p:sp>
        <p:nvSpPr>
          <p:cNvPr id="3173" name="Text 5"/>
          <p:cNvSpPr txBox="1"/>
          <p:nvPr/>
        </p:nvSpPr>
        <p:spPr>
          <a:xfrm>
            <a:off x="8064996" y="4444405"/>
            <a:ext cx="3547446"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Towards Replicable Conclusions</a:t>
            </a:r>
          </a:p>
        </p:txBody>
      </p:sp>
      <p:sp>
        <p:nvSpPr>
          <p:cNvPr id="3174" name="Text 6"/>
          <p:cNvSpPr txBox="1"/>
          <p:nvPr/>
        </p:nvSpPr>
        <p:spPr>
          <a:xfrm>
            <a:off x="8064996" y="4853086"/>
            <a:ext cx="3465513" cy="676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Moves beyond opinion toward supported, replicable conclusions.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6" name="Text 0"/>
          <p:cNvSpPr txBox="1"/>
          <p:nvPr/>
        </p:nvSpPr>
        <p:spPr>
          <a:xfrm>
            <a:off x="525562" y="412949"/>
            <a:ext cx="5592878" cy="5077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4400"/>
              </a:lnSpc>
              <a:defRPr sz="3500" b="1">
                <a:latin typeface="Playfair Display Bold"/>
                <a:ea typeface="Playfair Display Bold"/>
                <a:cs typeface="Playfair Display Bold"/>
                <a:sym typeface="Playfair Display Bold"/>
              </a:defRPr>
            </a:lvl1pPr>
          </a:lstStyle>
          <a:p>
            <a:r>
              <a:rPr sz="2917"/>
              <a:t>Quantitative vs. Qualitative Data</a:t>
            </a:r>
          </a:p>
        </p:txBody>
      </p:sp>
      <p:pic>
        <p:nvPicPr>
          <p:cNvPr id="3177" name="Image 0" descr="Image 0"/>
          <p:cNvPicPr>
            <a:picLocks noChangeAspect="1"/>
          </p:cNvPicPr>
          <p:nvPr/>
        </p:nvPicPr>
        <p:blipFill>
          <a:blip r:embed="rId2"/>
          <a:stretch>
            <a:fillRect/>
          </a:stretch>
        </p:blipFill>
        <p:spPr>
          <a:xfrm>
            <a:off x="825839" y="1182589"/>
            <a:ext cx="4160301" cy="2571236"/>
          </a:xfrm>
          <a:prstGeom prst="rect">
            <a:avLst/>
          </a:prstGeom>
          <a:ln w="12700">
            <a:miter lim="400000"/>
          </a:ln>
        </p:spPr>
      </p:pic>
      <p:pic>
        <p:nvPicPr>
          <p:cNvPr id="3178" name="Image 1" descr="Image 1"/>
          <p:cNvPicPr>
            <a:picLocks noChangeAspect="1"/>
          </p:cNvPicPr>
          <p:nvPr/>
        </p:nvPicPr>
        <p:blipFill>
          <a:blip r:embed="rId3"/>
          <a:srcRect l="55771" b="40355"/>
          <a:stretch>
            <a:fillRect/>
          </a:stretch>
        </p:blipFill>
        <p:spPr>
          <a:xfrm>
            <a:off x="6942348" y="1182661"/>
            <a:ext cx="3084838" cy="2571123"/>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0" name="Text 0"/>
          <p:cNvSpPr txBox="1"/>
          <p:nvPr/>
        </p:nvSpPr>
        <p:spPr>
          <a:xfrm>
            <a:off x="525562" y="412949"/>
            <a:ext cx="5592878" cy="5077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4400"/>
              </a:lnSpc>
              <a:defRPr sz="3500" b="1">
                <a:latin typeface="Playfair Display Bold"/>
                <a:ea typeface="Playfair Display Bold"/>
                <a:cs typeface="Playfair Display Bold"/>
                <a:sym typeface="Playfair Display Bold"/>
              </a:defRPr>
            </a:lvl1pPr>
          </a:lstStyle>
          <a:p>
            <a:r>
              <a:rPr sz="2917"/>
              <a:t>Quantitative vs. Qualitative Data</a:t>
            </a:r>
          </a:p>
        </p:txBody>
      </p:sp>
      <p:pic>
        <p:nvPicPr>
          <p:cNvPr id="3181" name="Image 0" descr="Image 0"/>
          <p:cNvPicPr>
            <a:picLocks noChangeAspect="1"/>
          </p:cNvPicPr>
          <p:nvPr/>
        </p:nvPicPr>
        <p:blipFill>
          <a:blip r:embed="rId2"/>
          <a:stretch>
            <a:fillRect/>
          </a:stretch>
        </p:blipFill>
        <p:spPr>
          <a:xfrm>
            <a:off x="825839" y="1182589"/>
            <a:ext cx="4160301" cy="2571236"/>
          </a:xfrm>
          <a:prstGeom prst="rect">
            <a:avLst/>
          </a:prstGeom>
          <a:ln w="12700">
            <a:miter lim="400000"/>
          </a:ln>
        </p:spPr>
      </p:pic>
      <p:sp>
        <p:nvSpPr>
          <p:cNvPr id="3182" name="Text 1"/>
          <p:cNvSpPr txBox="1"/>
          <p:nvPr/>
        </p:nvSpPr>
        <p:spPr>
          <a:xfrm>
            <a:off x="1340112" y="3922989"/>
            <a:ext cx="1998945"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200"/>
              </a:lnSpc>
              <a:defRPr sz="2300" b="1">
                <a:latin typeface="Playfair Display Bold"/>
                <a:ea typeface="Playfair Display Bold"/>
                <a:cs typeface="Playfair Display Bold"/>
                <a:sym typeface="Playfair Display Bold"/>
              </a:defRPr>
            </a:lvl1pPr>
          </a:lstStyle>
          <a:p>
            <a:r>
              <a:rPr sz="1917"/>
              <a:t>Quantitative Data</a:t>
            </a:r>
          </a:p>
        </p:txBody>
      </p:sp>
      <p:sp>
        <p:nvSpPr>
          <p:cNvPr id="3183" name="Text 2"/>
          <p:cNvSpPr txBox="1"/>
          <p:nvPr/>
        </p:nvSpPr>
        <p:spPr>
          <a:xfrm>
            <a:off x="1340112" y="4247733"/>
            <a:ext cx="4561120"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200"/>
              </a:lnSpc>
              <a:defRPr sz="2300">
                <a:latin typeface="Inter"/>
                <a:ea typeface="Inter"/>
                <a:cs typeface="Inter"/>
                <a:sym typeface="Inter"/>
              </a:defRPr>
            </a:lvl1pPr>
          </a:lstStyle>
          <a:p>
            <a:r>
              <a:rPr sz="1917"/>
              <a:t>Information that can be measured or counted</a:t>
            </a:r>
          </a:p>
        </p:txBody>
      </p:sp>
      <p:sp>
        <p:nvSpPr>
          <p:cNvPr id="3184" name="Text 3"/>
          <p:cNvSpPr txBox="1"/>
          <p:nvPr/>
        </p:nvSpPr>
        <p:spPr>
          <a:xfrm>
            <a:off x="1340112" y="4578132"/>
            <a:ext cx="1425583"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200"/>
              </a:lnSpc>
              <a:buSzPct val="100000"/>
              <a:buChar char="•"/>
              <a:defRPr sz="2300">
                <a:latin typeface="Inter"/>
                <a:ea typeface="Inter"/>
                <a:cs typeface="Inter"/>
                <a:sym typeface="Inter"/>
              </a:defRPr>
            </a:lvl1pPr>
          </a:lstStyle>
          <a:p>
            <a:r>
              <a:rPr sz="1917"/>
              <a:t>Test scores</a:t>
            </a:r>
          </a:p>
        </p:txBody>
      </p:sp>
      <p:sp>
        <p:nvSpPr>
          <p:cNvPr id="3185" name="Text 4"/>
          <p:cNvSpPr txBox="1"/>
          <p:nvPr/>
        </p:nvSpPr>
        <p:spPr>
          <a:xfrm>
            <a:off x="1340112" y="4870926"/>
            <a:ext cx="1744708"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200"/>
              </a:lnSpc>
              <a:buSzPct val="100000"/>
              <a:buChar char="•"/>
              <a:defRPr sz="2300">
                <a:latin typeface="Inter"/>
                <a:ea typeface="Inter"/>
                <a:cs typeface="Inter"/>
                <a:sym typeface="Inter"/>
              </a:defRPr>
            </a:lvl1pPr>
          </a:lstStyle>
          <a:p>
            <a:r>
              <a:rPr sz="1917"/>
              <a:t>Survey ratings</a:t>
            </a:r>
          </a:p>
        </p:txBody>
      </p:sp>
      <p:sp>
        <p:nvSpPr>
          <p:cNvPr id="3186" name="Text 5"/>
          <p:cNvSpPr txBox="1"/>
          <p:nvPr/>
        </p:nvSpPr>
        <p:spPr>
          <a:xfrm>
            <a:off x="1340112" y="5163721"/>
            <a:ext cx="3000373"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200"/>
              </a:lnSpc>
              <a:buSzPct val="100000"/>
              <a:buChar char="•"/>
              <a:defRPr sz="2300">
                <a:latin typeface="Inter"/>
                <a:ea typeface="Inter"/>
                <a:cs typeface="Inter"/>
                <a:sym typeface="Inter"/>
              </a:defRPr>
            </a:lvl1pPr>
          </a:lstStyle>
          <a:p>
            <a:r>
              <a:rPr sz="1917"/>
              <a:t>Hours spent on homework</a:t>
            </a:r>
          </a:p>
        </p:txBody>
      </p:sp>
      <p:sp>
        <p:nvSpPr>
          <p:cNvPr id="3187" name="Text 6"/>
          <p:cNvSpPr txBox="1"/>
          <p:nvPr/>
        </p:nvSpPr>
        <p:spPr>
          <a:xfrm>
            <a:off x="1340112" y="5456515"/>
            <a:ext cx="2646109"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200"/>
              </a:lnSpc>
              <a:buSzPct val="100000"/>
              <a:buChar char="•"/>
              <a:defRPr sz="2300">
                <a:latin typeface="Inter"/>
                <a:ea typeface="Inter"/>
                <a:cs typeface="Inter"/>
                <a:sym typeface="Inter"/>
              </a:defRPr>
            </a:lvl1pPr>
          </a:lstStyle>
          <a:p>
            <a:r>
              <a:rPr sz="1917"/>
              <a:t>Growth measurements</a:t>
            </a:r>
          </a:p>
        </p:txBody>
      </p:sp>
      <p:sp>
        <p:nvSpPr>
          <p:cNvPr id="3188" name="Text 7"/>
          <p:cNvSpPr txBox="1"/>
          <p:nvPr/>
        </p:nvSpPr>
        <p:spPr>
          <a:xfrm>
            <a:off x="1340112" y="5786914"/>
            <a:ext cx="2187009"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200"/>
              </a:lnSpc>
              <a:defRPr sz="2300">
                <a:latin typeface="Inter"/>
                <a:ea typeface="Inter"/>
                <a:cs typeface="Inter"/>
                <a:sym typeface="Inter"/>
              </a:defRPr>
            </a:lvl1pPr>
          </a:lstStyle>
          <a:p>
            <a:r>
              <a:rPr sz="1917"/>
              <a:t>Expressed in numbers</a:t>
            </a:r>
          </a:p>
        </p:txBody>
      </p:sp>
      <p:pic>
        <p:nvPicPr>
          <p:cNvPr id="3189" name="Image 1" descr="Image 1"/>
          <p:cNvPicPr>
            <a:picLocks noChangeAspect="1"/>
          </p:cNvPicPr>
          <p:nvPr/>
        </p:nvPicPr>
        <p:blipFill>
          <a:blip r:embed="rId3"/>
          <a:srcRect l="55771" b="40355"/>
          <a:stretch>
            <a:fillRect/>
          </a:stretch>
        </p:blipFill>
        <p:spPr>
          <a:xfrm>
            <a:off x="6942348" y="1182661"/>
            <a:ext cx="3084838" cy="2571123"/>
          </a:xfrm>
          <a:prstGeom prst="rect">
            <a:avLst/>
          </a:prstGeom>
          <a:ln w="12700">
            <a:miter lim="400000"/>
          </a:ln>
        </p:spPr>
      </p:pic>
      <p:sp>
        <p:nvSpPr>
          <p:cNvPr id="3190" name="Text 8"/>
          <p:cNvSpPr txBox="1"/>
          <p:nvPr/>
        </p:nvSpPr>
        <p:spPr>
          <a:xfrm>
            <a:off x="7004411" y="3922989"/>
            <a:ext cx="1838645"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200"/>
              </a:lnSpc>
              <a:defRPr sz="2300" b="1">
                <a:latin typeface="Playfair Display Bold"/>
                <a:ea typeface="Playfair Display Bold"/>
                <a:cs typeface="Playfair Display Bold"/>
                <a:sym typeface="Playfair Display Bold"/>
              </a:defRPr>
            </a:lvl1pPr>
          </a:lstStyle>
          <a:p>
            <a:r>
              <a:rPr sz="1917"/>
              <a:t>Qualitative Data</a:t>
            </a:r>
          </a:p>
        </p:txBody>
      </p:sp>
      <p:sp>
        <p:nvSpPr>
          <p:cNvPr id="3191" name="Text 9"/>
          <p:cNvSpPr txBox="1"/>
          <p:nvPr/>
        </p:nvSpPr>
        <p:spPr>
          <a:xfrm>
            <a:off x="7004411" y="4247733"/>
            <a:ext cx="3922612"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200"/>
              </a:lnSpc>
              <a:defRPr sz="2300">
                <a:latin typeface="Inter"/>
                <a:ea typeface="Inter"/>
                <a:cs typeface="Inter"/>
                <a:sym typeface="Inter"/>
              </a:defRPr>
            </a:lvl1pPr>
          </a:lstStyle>
          <a:p>
            <a:r>
              <a:rPr sz="1917"/>
              <a:t>Descriptive, non-numerical information</a:t>
            </a:r>
          </a:p>
        </p:txBody>
      </p:sp>
      <p:sp>
        <p:nvSpPr>
          <p:cNvPr id="3192" name="Text 10"/>
          <p:cNvSpPr txBox="1"/>
          <p:nvPr/>
        </p:nvSpPr>
        <p:spPr>
          <a:xfrm>
            <a:off x="7004411" y="4578132"/>
            <a:ext cx="3367845"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200"/>
              </a:lnSpc>
              <a:buSzPct val="100000"/>
              <a:buChar char="•"/>
              <a:defRPr sz="2300">
                <a:latin typeface="Inter"/>
                <a:ea typeface="Inter"/>
                <a:cs typeface="Inter"/>
                <a:sym typeface="Inter"/>
              </a:defRPr>
            </a:lvl1pPr>
          </a:lstStyle>
          <a:p>
            <a:r>
              <a:rPr sz="1917"/>
              <a:t>Open-ended survey responses</a:t>
            </a:r>
          </a:p>
        </p:txBody>
      </p:sp>
      <p:sp>
        <p:nvSpPr>
          <p:cNvPr id="3193" name="Text 11"/>
          <p:cNvSpPr txBox="1"/>
          <p:nvPr/>
        </p:nvSpPr>
        <p:spPr>
          <a:xfrm>
            <a:off x="7004411" y="4870926"/>
            <a:ext cx="2348976"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200"/>
              </a:lnSpc>
              <a:buSzPct val="100000"/>
              <a:buChar char="•"/>
              <a:defRPr sz="2300">
                <a:latin typeface="Inter"/>
                <a:ea typeface="Inter"/>
                <a:cs typeface="Inter"/>
                <a:sym typeface="Inter"/>
              </a:defRPr>
            </a:lvl1pPr>
          </a:lstStyle>
          <a:p>
            <a:r>
              <a:rPr sz="1917"/>
              <a:t>Observational notes</a:t>
            </a:r>
          </a:p>
        </p:txBody>
      </p:sp>
      <p:sp>
        <p:nvSpPr>
          <p:cNvPr id="3194" name="Text 12"/>
          <p:cNvSpPr txBox="1"/>
          <p:nvPr/>
        </p:nvSpPr>
        <p:spPr>
          <a:xfrm>
            <a:off x="7004411" y="5163721"/>
            <a:ext cx="2334806"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200"/>
              </a:lnSpc>
              <a:buSzPct val="100000"/>
              <a:buChar char="•"/>
              <a:defRPr sz="2300">
                <a:latin typeface="Inter"/>
                <a:ea typeface="Inter"/>
                <a:cs typeface="Inter"/>
                <a:sym typeface="Inter"/>
              </a:defRPr>
            </a:lvl1pPr>
          </a:lstStyle>
          <a:p>
            <a:r>
              <a:rPr sz="1917"/>
              <a:t>Interview narratives</a:t>
            </a:r>
          </a:p>
        </p:txBody>
      </p:sp>
      <p:sp>
        <p:nvSpPr>
          <p:cNvPr id="3195" name="Text 13"/>
          <p:cNvSpPr txBox="1"/>
          <p:nvPr/>
        </p:nvSpPr>
        <p:spPr>
          <a:xfrm>
            <a:off x="7004411" y="5456515"/>
            <a:ext cx="2428485"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200"/>
              </a:lnSpc>
              <a:buSzPct val="100000"/>
              <a:buChar char="•"/>
              <a:defRPr sz="2300">
                <a:latin typeface="Inter"/>
                <a:ea typeface="Inter"/>
                <a:cs typeface="Inter"/>
                <a:sym typeface="Inter"/>
              </a:defRPr>
            </a:lvl1pPr>
          </a:lstStyle>
          <a:p>
            <a:r>
              <a:rPr sz="1917"/>
              <a:t>Written explanations</a:t>
            </a:r>
          </a:p>
        </p:txBody>
      </p:sp>
      <p:sp>
        <p:nvSpPr>
          <p:cNvPr id="3196" name="Text 14"/>
          <p:cNvSpPr txBox="1"/>
          <p:nvPr/>
        </p:nvSpPr>
        <p:spPr>
          <a:xfrm>
            <a:off x="7004411" y="5786914"/>
            <a:ext cx="2732992" cy="282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200"/>
              </a:lnSpc>
              <a:defRPr sz="2300">
                <a:latin typeface="Inter"/>
                <a:ea typeface="Inter"/>
                <a:cs typeface="Inter"/>
                <a:sym typeface="Inter"/>
              </a:defRPr>
            </a:lvl1pPr>
          </a:lstStyle>
          <a:p>
            <a:r>
              <a:rPr sz="1917"/>
              <a:t>Provides context and depth</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8" name="Text 0"/>
          <p:cNvSpPr txBox="1"/>
          <p:nvPr/>
        </p:nvSpPr>
        <p:spPr>
          <a:xfrm>
            <a:off x="661492" y="1918097"/>
            <a:ext cx="4648708"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A Balanced Approach</a:t>
            </a:r>
          </a:p>
        </p:txBody>
      </p:sp>
      <p:sp>
        <p:nvSpPr>
          <p:cNvPr id="3199" name="Shape 1"/>
          <p:cNvSpPr/>
          <p:nvPr/>
        </p:nvSpPr>
        <p:spPr>
          <a:xfrm>
            <a:off x="661492" y="3453805"/>
            <a:ext cx="3433962" cy="189013"/>
          </a:xfrm>
          <a:prstGeom prst="roundRect">
            <a:avLst>
              <a:gd name="adj" fmla="val 42003"/>
            </a:avLst>
          </a:prstGeom>
          <a:solidFill>
            <a:srgbClr val="CCEDFF"/>
          </a:solidFill>
          <a:ln w="7620">
            <a:solidFill>
              <a:srgbClr val="B2D3E5"/>
            </a:solidFill>
          </a:ln>
        </p:spPr>
        <p:txBody>
          <a:bodyPr lIns="38099" rIns="38099"/>
          <a:lstStyle/>
          <a:p>
            <a:endParaRPr sz="1500"/>
          </a:p>
        </p:txBody>
      </p:sp>
      <p:sp>
        <p:nvSpPr>
          <p:cNvPr id="3200" name="Text 2"/>
          <p:cNvSpPr txBox="1"/>
          <p:nvPr/>
        </p:nvSpPr>
        <p:spPr>
          <a:xfrm>
            <a:off x="661491" y="3926284"/>
            <a:ext cx="2434962"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Quantitative Precision</a:t>
            </a:r>
          </a:p>
        </p:txBody>
      </p:sp>
      <p:sp>
        <p:nvSpPr>
          <p:cNvPr id="3201" name="Text 3"/>
          <p:cNvSpPr txBox="1"/>
          <p:nvPr/>
        </p:nvSpPr>
        <p:spPr>
          <a:xfrm>
            <a:off x="661491" y="4334966"/>
            <a:ext cx="3433963" cy="690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200">
                <a:latin typeface="Inter"/>
                <a:ea typeface="Inter"/>
                <a:cs typeface="Inter"/>
                <a:sym typeface="Inter"/>
              </a:defRPr>
            </a:lvl1pPr>
          </a:lstStyle>
          <a:p>
            <a:r>
              <a:rPr sz="1833"/>
              <a:t>Measures patterns with numerical accuracy</a:t>
            </a:r>
          </a:p>
        </p:txBody>
      </p:sp>
      <p:sp>
        <p:nvSpPr>
          <p:cNvPr id="3202" name="Shape 4"/>
          <p:cNvSpPr/>
          <p:nvPr/>
        </p:nvSpPr>
        <p:spPr>
          <a:xfrm>
            <a:off x="4378920" y="3170237"/>
            <a:ext cx="3434061" cy="189013"/>
          </a:xfrm>
          <a:prstGeom prst="roundRect">
            <a:avLst>
              <a:gd name="adj" fmla="val 42003"/>
            </a:avLst>
          </a:prstGeom>
          <a:solidFill>
            <a:srgbClr val="CCEDFF"/>
          </a:solidFill>
          <a:ln w="7620">
            <a:solidFill>
              <a:srgbClr val="B2D3E5"/>
            </a:solidFill>
          </a:ln>
        </p:spPr>
        <p:txBody>
          <a:bodyPr lIns="38099" rIns="38099"/>
          <a:lstStyle/>
          <a:p>
            <a:endParaRPr sz="1500"/>
          </a:p>
        </p:txBody>
      </p:sp>
      <p:sp>
        <p:nvSpPr>
          <p:cNvPr id="3203" name="Text 5"/>
          <p:cNvSpPr txBox="1"/>
          <p:nvPr/>
        </p:nvSpPr>
        <p:spPr>
          <a:xfrm>
            <a:off x="4378920" y="3642718"/>
            <a:ext cx="1920398"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Qualitative Depth</a:t>
            </a:r>
          </a:p>
        </p:txBody>
      </p:sp>
      <p:sp>
        <p:nvSpPr>
          <p:cNvPr id="3204" name="Text 6"/>
          <p:cNvSpPr txBox="1"/>
          <p:nvPr/>
        </p:nvSpPr>
        <p:spPr>
          <a:xfrm>
            <a:off x="4378920" y="4051399"/>
            <a:ext cx="3184622" cy="690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200">
                <a:latin typeface="Inter"/>
                <a:ea typeface="Inter"/>
                <a:cs typeface="Inter"/>
                <a:sym typeface="Inter"/>
              </a:defRPr>
            </a:lvl1pPr>
          </a:lstStyle>
          <a:p>
            <a:r>
              <a:rPr sz="1833"/>
              <a:t>Explains the "why" behind patterns</a:t>
            </a:r>
          </a:p>
        </p:txBody>
      </p:sp>
      <p:sp>
        <p:nvSpPr>
          <p:cNvPr id="3205" name="Shape 7"/>
          <p:cNvSpPr/>
          <p:nvPr/>
        </p:nvSpPr>
        <p:spPr>
          <a:xfrm>
            <a:off x="8096447" y="2886769"/>
            <a:ext cx="3434062" cy="189013"/>
          </a:xfrm>
          <a:prstGeom prst="roundRect">
            <a:avLst>
              <a:gd name="adj" fmla="val 42003"/>
            </a:avLst>
          </a:prstGeom>
          <a:solidFill>
            <a:srgbClr val="CCEDFF"/>
          </a:solidFill>
          <a:ln w="7620">
            <a:solidFill>
              <a:srgbClr val="B2D3E5"/>
            </a:solidFill>
          </a:ln>
        </p:spPr>
        <p:txBody>
          <a:bodyPr lIns="38099" rIns="38099"/>
          <a:lstStyle/>
          <a:p>
            <a:endParaRPr sz="1500"/>
          </a:p>
        </p:txBody>
      </p:sp>
      <p:sp>
        <p:nvSpPr>
          <p:cNvPr id="3206" name="Text 8"/>
          <p:cNvSpPr txBox="1"/>
          <p:nvPr/>
        </p:nvSpPr>
        <p:spPr>
          <a:xfrm>
            <a:off x="8096448" y="3359249"/>
            <a:ext cx="2191306"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Integrated Research</a:t>
            </a:r>
          </a:p>
        </p:txBody>
      </p:sp>
      <p:sp>
        <p:nvSpPr>
          <p:cNvPr id="3207" name="Text 9"/>
          <p:cNvSpPr txBox="1"/>
          <p:nvPr/>
        </p:nvSpPr>
        <p:spPr>
          <a:xfrm>
            <a:off x="8096447" y="3767931"/>
            <a:ext cx="3434062" cy="690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200">
                <a:latin typeface="Inter"/>
                <a:ea typeface="Inter"/>
                <a:cs typeface="Inter"/>
                <a:sym typeface="Inter"/>
              </a:defRPr>
            </a:lvl1pPr>
          </a:lstStyle>
          <a:p>
            <a:r>
              <a:rPr sz="1833"/>
              <a:t>Combines approaches for comprehensive understanding</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09" name="Image 0" descr="Image 0"/>
          <p:cNvPicPr>
            <a:picLocks noChangeAspect="1"/>
          </p:cNvPicPr>
          <p:nvPr/>
        </p:nvPicPr>
        <p:blipFill>
          <a:blip r:embed="rId2"/>
          <a:stretch>
            <a:fillRect/>
          </a:stretch>
        </p:blipFill>
        <p:spPr>
          <a:xfrm>
            <a:off x="8268138" y="972518"/>
            <a:ext cx="3923863" cy="5887666"/>
          </a:xfrm>
          <a:prstGeom prst="rect">
            <a:avLst/>
          </a:prstGeom>
          <a:ln w="12700">
            <a:miter lim="400000"/>
          </a:ln>
        </p:spPr>
      </p:pic>
      <p:sp>
        <p:nvSpPr>
          <p:cNvPr id="3210" name="Text 0"/>
          <p:cNvSpPr txBox="1"/>
          <p:nvPr/>
        </p:nvSpPr>
        <p:spPr>
          <a:xfrm>
            <a:off x="617537" y="485180"/>
            <a:ext cx="5613716" cy="5991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200"/>
              </a:lnSpc>
              <a:defRPr sz="4100" b="1">
                <a:latin typeface="Playfair Display Bold"/>
                <a:ea typeface="Playfair Display Bold"/>
                <a:cs typeface="Playfair Display Bold"/>
                <a:sym typeface="Playfair Display Bold"/>
              </a:defRPr>
            </a:lvl1pPr>
          </a:lstStyle>
          <a:p>
            <a:r>
              <a:rPr sz="3417"/>
              <a:t>Primary vs. Secondary Data</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12" name="Image 0" descr="Image 0"/>
          <p:cNvPicPr>
            <a:picLocks noChangeAspect="1"/>
          </p:cNvPicPr>
          <p:nvPr/>
        </p:nvPicPr>
        <p:blipFill>
          <a:blip r:embed="rId2"/>
          <a:stretch>
            <a:fillRect/>
          </a:stretch>
        </p:blipFill>
        <p:spPr>
          <a:xfrm>
            <a:off x="8268138" y="972518"/>
            <a:ext cx="3923863" cy="5887666"/>
          </a:xfrm>
          <a:prstGeom prst="rect">
            <a:avLst/>
          </a:prstGeom>
          <a:ln w="12700">
            <a:miter lim="400000"/>
          </a:ln>
        </p:spPr>
      </p:pic>
      <p:sp>
        <p:nvSpPr>
          <p:cNvPr id="3213" name="Text 0"/>
          <p:cNvSpPr txBox="1"/>
          <p:nvPr/>
        </p:nvSpPr>
        <p:spPr>
          <a:xfrm>
            <a:off x="617537" y="485180"/>
            <a:ext cx="5613716" cy="5991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200"/>
              </a:lnSpc>
              <a:defRPr sz="4100" b="1">
                <a:latin typeface="Playfair Display Bold"/>
                <a:ea typeface="Playfair Display Bold"/>
                <a:cs typeface="Playfair Display Bold"/>
                <a:sym typeface="Playfair Display Bold"/>
              </a:defRPr>
            </a:lvl1pPr>
          </a:lstStyle>
          <a:p>
            <a:r>
              <a:rPr sz="3417"/>
              <a:t>Primary vs. Secondary Data</a:t>
            </a:r>
          </a:p>
        </p:txBody>
      </p:sp>
      <p:sp>
        <p:nvSpPr>
          <p:cNvPr id="3214" name="Shape 1"/>
          <p:cNvSpPr/>
          <p:nvPr/>
        </p:nvSpPr>
        <p:spPr>
          <a:xfrm>
            <a:off x="617537" y="1301156"/>
            <a:ext cx="6354324" cy="2265959"/>
          </a:xfrm>
          <a:prstGeom prst="roundRect">
            <a:avLst>
              <a:gd name="adj" fmla="val 3026"/>
            </a:avLst>
          </a:prstGeom>
          <a:solidFill>
            <a:srgbClr val="CCEDFF"/>
          </a:solidFill>
          <a:ln w="7620">
            <a:solidFill>
              <a:srgbClr val="B2D3E5"/>
            </a:solidFill>
          </a:ln>
        </p:spPr>
        <p:txBody>
          <a:bodyPr lIns="38099" rIns="38099"/>
          <a:lstStyle/>
          <a:p>
            <a:pPr>
              <a:defRPr sz="2400"/>
            </a:pPr>
            <a:endParaRPr sz="2000"/>
          </a:p>
        </p:txBody>
      </p:sp>
      <p:sp>
        <p:nvSpPr>
          <p:cNvPr id="3215" name="Text 2"/>
          <p:cNvSpPr txBox="1"/>
          <p:nvPr/>
        </p:nvSpPr>
        <p:spPr>
          <a:xfrm>
            <a:off x="800298" y="1483916"/>
            <a:ext cx="1598194" cy="308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400" b="1">
                <a:latin typeface="Playfair Display Bold"/>
                <a:ea typeface="Playfair Display Bold"/>
                <a:cs typeface="Playfair Display Bold"/>
                <a:sym typeface="Playfair Display Bold"/>
              </a:defRPr>
            </a:lvl1pPr>
          </a:lstStyle>
          <a:p>
            <a:r>
              <a:rPr sz="2000"/>
              <a:t>Primary Data</a:t>
            </a:r>
          </a:p>
        </p:txBody>
      </p:sp>
      <p:sp>
        <p:nvSpPr>
          <p:cNvPr id="3216" name="Text 3"/>
          <p:cNvSpPr txBox="1"/>
          <p:nvPr/>
        </p:nvSpPr>
        <p:spPr>
          <a:xfrm>
            <a:off x="800299" y="1865313"/>
            <a:ext cx="5824543"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400">
                <a:latin typeface="Inter"/>
                <a:ea typeface="Inter"/>
                <a:cs typeface="Inter"/>
                <a:sym typeface="Inter"/>
              </a:defRPr>
            </a:lvl1pPr>
          </a:lstStyle>
          <a:p>
            <a:r>
              <a:rPr sz="2000"/>
              <a:t>Information you collect directly through your own effort</a:t>
            </a:r>
          </a:p>
        </p:txBody>
      </p:sp>
      <p:sp>
        <p:nvSpPr>
          <p:cNvPr id="3217" name="Text 4"/>
          <p:cNvSpPr txBox="1"/>
          <p:nvPr/>
        </p:nvSpPr>
        <p:spPr>
          <a:xfrm>
            <a:off x="800298" y="2253257"/>
            <a:ext cx="1647118"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600"/>
              </a:lnSpc>
              <a:buSzPct val="100000"/>
              <a:buChar char="•"/>
              <a:defRPr sz="2400">
                <a:latin typeface="Inter"/>
                <a:ea typeface="Inter"/>
                <a:cs typeface="Inter"/>
                <a:sym typeface="Inter"/>
              </a:defRPr>
            </a:lvl1pPr>
          </a:lstStyle>
          <a:p>
            <a:r>
              <a:rPr sz="2000"/>
              <a:t>Experiments</a:t>
            </a:r>
          </a:p>
        </p:txBody>
      </p:sp>
      <p:sp>
        <p:nvSpPr>
          <p:cNvPr id="3218" name="Text 5"/>
          <p:cNvSpPr txBox="1"/>
          <p:nvPr/>
        </p:nvSpPr>
        <p:spPr>
          <a:xfrm>
            <a:off x="800298" y="2597150"/>
            <a:ext cx="1145250"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600"/>
              </a:lnSpc>
              <a:buSzPct val="100000"/>
              <a:buChar char="•"/>
              <a:defRPr sz="2400">
                <a:latin typeface="Inter"/>
                <a:ea typeface="Inter"/>
                <a:cs typeface="Inter"/>
                <a:sym typeface="Inter"/>
              </a:defRPr>
            </a:lvl1pPr>
          </a:lstStyle>
          <a:p>
            <a:r>
              <a:rPr sz="2000"/>
              <a:t>Surveys</a:t>
            </a:r>
          </a:p>
        </p:txBody>
      </p:sp>
      <p:sp>
        <p:nvSpPr>
          <p:cNvPr id="3219" name="Text 6"/>
          <p:cNvSpPr txBox="1"/>
          <p:nvPr/>
        </p:nvSpPr>
        <p:spPr>
          <a:xfrm>
            <a:off x="800298" y="2941042"/>
            <a:ext cx="1430007"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600"/>
              </a:lnSpc>
              <a:buSzPct val="100000"/>
              <a:buChar char="•"/>
              <a:defRPr sz="2400">
                <a:latin typeface="Inter"/>
                <a:ea typeface="Inter"/>
                <a:cs typeface="Inter"/>
                <a:sym typeface="Inter"/>
              </a:defRPr>
            </a:lvl1pPr>
          </a:lstStyle>
          <a:p>
            <a:r>
              <a:rPr sz="2000"/>
              <a:t>Interviews</a:t>
            </a:r>
          </a:p>
        </p:txBody>
      </p:sp>
      <p:sp>
        <p:nvSpPr>
          <p:cNvPr id="3220" name="Text 7"/>
          <p:cNvSpPr txBox="1"/>
          <p:nvPr/>
        </p:nvSpPr>
        <p:spPr>
          <a:xfrm>
            <a:off x="800298" y="3284935"/>
            <a:ext cx="1719766"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600"/>
              </a:lnSpc>
              <a:buSzPct val="100000"/>
              <a:buChar char="•"/>
              <a:defRPr sz="2400">
                <a:latin typeface="Inter"/>
                <a:ea typeface="Inter"/>
                <a:cs typeface="Inter"/>
                <a:sym typeface="Inter"/>
              </a:defRPr>
            </a:lvl1pPr>
          </a:lstStyle>
          <a:p>
            <a:r>
              <a:rPr sz="2000"/>
              <a:t>Observations</a:t>
            </a:r>
          </a:p>
        </p:txBody>
      </p:sp>
      <p:sp>
        <p:nvSpPr>
          <p:cNvPr id="3221" name="Shape 8"/>
          <p:cNvSpPr/>
          <p:nvPr/>
        </p:nvSpPr>
        <p:spPr>
          <a:xfrm>
            <a:off x="617537" y="3926285"/>
            <a:ext cx="6354324" cy="2265959"/>
          </a:xfrm>
          <a:prstGeom prst="roundRect">
            <a:avLst>
              <a:gd name="adj" fmla="val 3026"/>
            </a:avLst>
          </a:prstGeom>
          <a:solidFill>
            <a:srgbClr val="CCEDFF"/>
          </a:solidFill>
          <a:ln w="7620">
            <a:solidFill>
              <a:srgbClr val="B2D3E5"/>
            </a:solidFill>
          </a:ln>
        </p:spPr>
        <p:txBody>
          <a:bodyPr lIns="38099" rIns="38099"/>
          <a:lstStyle/>
          <a:p>
            <a:pPr>
              <a:defRPr sz="2400"/>
            </a:pPr>
            <a:endParaRPr sz="2000"/>
          </a:p>
        </p:txBody>
      </p:sp>
      <p:sp>
        <p:nvSpPr>
          <p:cNvPr id="3222" name="Text 9"/>
          <p:cNvSpPr txBox="1"/>
          <p:nvPr/>
        </p:nvSpPr>
        <p:spPr>
          <a:xfrm>
            <a:off x="800299" y="4109046"/>
            <a:ext cx="1861087" cy="308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400" b="1">
                <a:latin typeface="Playfair Display Bold"/>
                <a:ea typeface="Playfair Display Bold"/>
                <a:cs typeface="Playfair Display Bold"/>
                <a:sym typeface="Playfair Display Bold"/>
              </a:defRPr>
            </a:lvl1pPr>
          </a:lstStyle>
          <a:p>
            <a:r>
              <a:rPr sz="2000"/>
              <a:t>Secondary Data</a:t>
            </a:r>
          </a:p>
        </p:txBody>
      </p:sp>
      <p:sp>
        <p:nvSpPr>
          <p:cNvPr id="3223" name="Text 10"/>
          <p:cNvSpPr txBox="1"/>
          <p:nvPr/>
        </p:nvSpPr>
        <p:spPr>
          <a:xfrm>
            <a:off x="800299" y="4490443"/>
            <a:ext cx="5289653"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400">
                <a:latin typeface="Inter"/>
                <a:ea typeface="Inter"/>
                <a:cs typeface="Inter"/>
                <a:sym typeface="Inter"/>
              </a:defRPr>
            </a:lvl1pPr>
          </a:lstStyle>
          <a:p>
            <a:r>
              <a:rPr sz="2000"/>
              <a:t>Information that already exists, collected by others</a:t>
            </a:r>
          </a:p>
        </p:txBody>
      </p:sp>
      <p:sp>
        <p:nvSpPr>
          <p:cNvPr id="3224" name="Text 11"/>
          <p:cNvSpPr txBox="1"/>
          <p:nvPr/>
        </p:nvSpPr>
        <p:spPr>
          <a:xfrm>
            <a:off x="800298" y="4878388"/>
            <a:ext cx="970650"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600"/>
              </a:lnSpc>
              <a:buSzPct val="100000"/>
              <a:buChar char="•"/>
              <a:defRPr sz="2400">
                <a:latin typeface="Inter"/>
                <a:ea typeface="Inter"/>
                <a:cs typeface="Inter"/>
                <a:sym typeface="Inter"/>
              </a:defRPr>
            </a:lvl1pPr>
          </a:lstStyle>
          <a:p>
            <a:r>
              <a:rPr sz="2000"/>
              <a:t>Books</a:t>
            </a:r>
          </a:p>
        </p:txBody>
      </p:sp>
      <p:sp>
        <p:nvSpPr>
          <p:cNvPr id="3225" name="Text 12"/>
          <p:cNvSpPr txBox="1"/>
          <p:nvPr/>
        </p:nvSpPr>
        <p:spPr>
          <a:xfrm>
            <a:off x="800298" y="5222280"/>
            <a:ext cx="1299458"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600"/>
              </a:lnSpc>
              <a:buSzPct val="100000"/>
              <a:buChar char="•"/>
              <a:defRPr sz="2400">
                <a:latin typeface="Inter"/>
                <a:ea typeface="Inter"/>
                <a:cs typeface="Inter"/>
                <a:sym typeface="Inter"/>
              </a:defRPr>
            </a:lvl1pPr>
          </a:lstStyle>
          <a:p>
            <a:r>
              <a:rPr sz="2000"/>
              <a:t>Websites</a:t>
            </a:r>
          </a:p>
        </p:txBody>
      </p:sp>
      <p:sp>
        <p:nvSpPr>
          <p:cNvPr id="3226" name="Text 13"/>
          <p:cNvSpPr txBox="1"/>
          <p:nvPr/>
        </p:nvSpPr>
        <p:spPr>
          <a:xfrm>
            <a:off x="800298" y="5566172"/>
            <a:ext cx="1128514"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600"/>
              </a:lnSpc>
              <a:buSzPct val="100000"/>
              <a:buChar char="•"/>
              <a:defRPr sz="2400">
                <a:latin typeface="Inter"/>
                <a:ea typeface="Inter"/>
                <a:cs typeface="Inter"/>
                <a:sym typeface="Inter"/>
              </a:defRPr>
            </a:lvl1pPr>
          </a:lstStyle>
          <a:p>
            <a:r>
              <a:rPr sz="2000"/>
              <a:t>Articles</a:t>
            </a:r>
          </a:p>
        </p:txBody>
      </p:sp>
      <p:sp>
        <p:nvSpPr>
          <p:cNvPr id="3227" name="Text 14"/>
          <p:cNvSpPr txBox="1"/>
          <p:nvPr/>
        </p:nvSpPr>
        <p:spPr>
          <a:xfrm>
            <a:off x="800298" y="5910065"/>
            <a:ext cx="1419556" cy="3177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600"/>
              </a:lnSpc>
              <a:buSzPct val="100000"/>
              <a:buChar char="•"/>
              <a:defRPr sz="2400">
                <a:latin typeface="Inter"/>
                <a:ea typeface="Inter"/>
                <a:cs typeface="Inter"/>
                <a:sym typeface="Inter"/>
              </a:defRPr>
            </a:lvl1pPr>
          </a:lstStyle>
          <a:p>
            <a:r>
              <a:rPr sz="2000"/>
              <a:t>Databases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9" name="Image 0" descr="Image 0"/>
          <p:cNvPicPr>
            <a:picLocks noChangeAspect="1"/>
          </p:cNvPicPr>
          <p:nvPr/>
        </p:nvPicPr>
        <p:blipFill>
          <a:blip r:embed="rId2"/>
          <a:stretch>
            <a:fillRect/>
          </a:stretch>
        </p:blipFill>
        <p:spPr>
          <a:xfrm>
            <a:off x="0" y="0"/>
            <a:ext cx="4245012" cy="6367518"/>
          </a:xfrm>
          <a:prstGeom prst="rect">
            <a:avLst/>
          </a:prstGeom>
          <a:ln w="12700">
            <a:miter lim="400000"/>
          </a:ln>
        </p:spPr>
      </p:pic>
      <p:sp>
        <p:nvSpPr>
          <p:cNvPr id="3230" name="Text 0"/>
          <p:cNvSpPr txBox="1"/>
          <p:nvPr/>
        </p:nvSpPr>
        <p:spPr>
          <a:xfrm>
            <a:off x="5233491" y="561677"/>
            <a:ext cx="5051063"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When to Use Each Type</a:t>
            </a:r>
          </a:p>
        </p:txBody>
      </p:sp>
      <p:sp>
        <p:nvSpPr>
          <p:cNvPr id="3231" name="Shape 1"/>
          <p:cNvSpPr/>
          <p:nvPr/>
        </p:nvSpPr>
        <p:spPr>
          <a:xfrm>
            <a:off x="5446117" y="1435793"/>
            <a:ext cx="25401" cy="4860430"/>
          </a:xfrm>
          <a:prstGeom prst="roundRect">
            <a:avLst>
              <a:gd name="adj" fmla="val 50000"/>
            </a:avLst>
          </a:prstGeom>
          <a:solidFill>
            <a:srgbClr val="B2D3E5"/>
          </a:solidFill>
          <a:ln w="12700">
            <a:miter lim="400000"/>
          </a:ln>
        </p:spPr>
        <p:txBody>
          <a:bodyPr lIns="38099" rIns="38099"/>
          <a:lstStyle/>
          <a:p>
            <a:endParaRPr sz="1500"/>
          </a:p>
        </p:txBody>
      </p:sp>
      <p:sp>
        <p:nvSpPr>
          <p:cNvPr id="3232" name="Shape 2"/>
          <p:cNvSpPr/>
          <p:nvPr/>
        </p:nvSpPr>
        <p:spPr>
          <a:xfrm>
            <a:off x="5633344" y="1635720"/>
            <a:ext cx="567036" cy="25401"/>
          </a:xfrm>
          <a:prstGeom prst="roundRect">
            <a:avLst>
              <a:gd name="adj" fmla="val 50000"/>
            </a:avLst>
          </a:prstGeom>
          <a:solidFill>
            <a:srgbClr val="B2D3E5"/>
          </a:solidFill>
          <a:ln w="12700">
            <a:miter lim="400000"/>
          </a:ln>
        </p:spPr>
        <p:txBody>
          <a:bodyPr lIns="38099" rIns="38099"/>
          <a:lstStyle/>
          <a:p>
            <a:endParaRPr sz="1500"/>
          </a:p>
        </p:txBody>
      </p:sp>
      <p:sp>
        <p:nvSpPr>
          <p:cNvPr id="3233" name="Shape 3"/>
          <p:cNvSpPr/>
          <p:nvPr/>
        </p:nvSpPr>
        <p:spPr>
          <a:xfrm>
            <a:off x="5233491" y="1435794"/>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sp>
        <p:nvSpPr>
          <p:cNvPr id="3234" name="Text 4"/>
          <p:cNvSpPr txBox="1"/>
          <p:nvPr/>
        </p:nvSpPr>
        <p:spPr>
          <a:xfrm>
            <a:off x="5393217" y="1471216"/>
            <a:ext cx="105799" cy="3334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gn="ctr">
              <a:lnSpc>
                <a:spcPts val="2600"/>
              </a:lnSpc>
              <a:defRPr sz="2600" b="1">
                <a:latin typeface="Playfair Display Bold"/>
                <a:ea typeface="Playfair Display Bold"/>
                <a:cs typeface="Playfair Display Bold"/>
                <a:sym typeface="Playfair Display Bold"/>
              </a:defRPr>
            </a:lvl1pPr>
          </a:lstStyle>
          <a:p>
            <a:r>
              <a:rPr sz="2167"/>
              <a:t>1</a:t>
            </a:r>
          </a:p>
        </p:txBody>
      </p:sp>
      <p:sp>
        <p:nvSpPr>
          <p:cNvPr id="3235" name="Text 5"/>
          <p:cNvSpPr txBox="1"/>
          <p:nvPr/>
        </p:nvSpPr>
        <p:spPr>
          <a:xfrm>
            <a:off x="6391175" y="1500683"/>
            <a:ext cx="3039294" cy="3176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400" b="1">
                <a:latin typeface="Playfair Display Bold"/>
                <a:ea typeface="Playfair Display Bold"/>
                <a:cs typeface="Playfair Display Bold"/>
                <a:sym typeface="Playfair Display Bold"/>
              </a:defRPr>
            </a:lvl1pPr>
          </a:lstStyle>
          <a:p>
            <a:r>
              <a:rPr sz="2000"/>
              <a:t>Use Primary Data When...</a:t>
            </a:r>
          </a:p>
        </p:txBody>
      </p:sp>
      <p:sp>
        <p:nvSpPr>
          <p:cNvPr id="3236" name="Text 6"/>
          <p:cNvSpPr txBox="1"/>
          <p:nvPr/>
        </p:nvSpPr>
        <p:spPr>
          <a:xfrm>
            <a:off x="6391175" y="1909366"/>
            <a:ext cx="4068806" cy="3370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400">
                <a:latin typeface="Inter"/>
                <a:ea typeface="Inter"/>
                <a:cs typeface="Inter"/>
                <a:sym typeface="Inter"/>
              </a:defRPr>
            </a:lvl1pPr>
          </a:lstStyle>
          <a:p>
            <a:r>
              <a:rPr sz="2000"/>
              <a:t>Your question is specific and unique</a:t>
            </a:r>
          </a:p>
        </p:txBody>
      </p:sp>
      <p:sp>
        <p:nvSpPr>
          <p:cNvPr id="3237" name="Text 7"/>
          <p:cNvSpPr txBox="1"/>
          <p:nvPr/>
        </p:nvSpPr>
        <p:spPr>
          <a:xfrm>
            <a:off x="6391175" y="2277865"/>
            <a:ext cx="4676665" cy="3370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400">
                <a:latin typeface="Inter"/>
                <a:ea typeface="Inter"/>
                <a:cs typeface="Inter"/>
                <a:sym typeface="Inter"/>
              </a:defRPr>
            </a:lvl1pPr>
          </a:lstStyle>
          <a:p>
            <a:r>
              <a:rPr sz="2000"/>
              <a:t>You need fresh data nobody has collected</a:t>
            </a:r>
          </a:p>
        </p:txBody>
      </p:sp>
      <p:sp>
        <p:nvSpPr>
          <p:cNvPr id="3238" name="Text 8"/>
          <p:cNvSpPr txBox="1"/>
          <p:nvPr/>
        </p:nvSpPr>
        <p:spPr>
          <a:xfrm>
            <a:off x="6391175" y="2646363"/>
            <a:ext cx="4857676" cy="3370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400">
                <a:latin typeface="Inter"/>
                <a:ea typeface="Inter"/>
                <a:cs typeface="Inter"/>
                <a:sym typeface="Inter"/>
              </a:defRPr>
            </a:lvl1pPr>
          </a:lstStyle>
          <a:p>
            <a:r>
              <a:rPr sz="2000"/>
              <a:t>You want control over how data is obtained</a:t>
            </a:r>
          </a:p>
        </p:txBody>
      </p:sp>
      <p:sp>
        <p:nvSpPr>
          <p:cNvPr id="3239" name="Shape 9"/>
          <p:cNvSpPr/>
          <p:nvPr/>
        </p:nvSpPr>
        <p:spPr>
          <a:xfrm>
            <a:off x="5633344" y="3526730"/>
            <a:ext cx="567036" cy="25401"/>
          </a:xfrm>
          <a:prstGeom prst="roundRect">
            <a:avLst>
              <a:gd name="adj" fmla="val 50000"/>
            </a:avLst>
          </a:prstGeom>
          <a:solidFill>
            <a:srgbClr val="B2D3E5"/>
          </a:solidFill>
          <a:ln w="12700">
            <a:miter lim="400000"/>
          </a:ln>
        </p:spPr>
        <p:txBody>
          <a:bodyPr lIns="38099" rIns="38099"/>
          <a:lstStyle/>
          <a:p>
            <a:endParaRPr sz="1500"/>
          </a:p>
        </p:txBody>
      </p:sp>
      <p:sp>
        <p:nvSpPr>
          <p:cNvPr id="3240" name="Shape 10"/>
          <p:cNvSpPr/>
          <p:nvPr/>
        </p:nvSpPr>
        <p:spPr>
          <a:xfrm>
            <a:off x="5233491" y="3326805"/>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sp>
        <p:nvSpPr>
          <p:cNvPr id="3241" name="Text 11"/>
          <p:cNvSpPr txBox="1"/>
          <p:nvPr/>
        </p:nvSpPr>
        <p:spPr>
          <a:xfrm>
            <a:off x="5373180" y="3362226"/>
            <a:ext cx="145874" cy="3334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gn="ctr">
              <a:lnSpc>
                <a:spcPts val="2600"/>
              </a:lnSpc>
              <a:defRPr sz="2600" b="1">
                <a:latin typeface="Playfair Display Bold"/>
                <a:ea typeface="Playfair Display Bold"/>
                <a:cs typeface="Playfair Display Bold"/>
                <a:sym typeface="Playfair Display Bold"/>
              </a:defRPr>
            </a:lvl1pPr>
          </a:lstStyle>
          <a:p>
            <a:r>
              <a:rPr sz="2167"/>
              <a:t>2</a:t>
            </a:r>
          </a:p>
        </p:txBody>
      </p:sp>
      <p:sp>
        <p:nvSpPr>
          <p:cNvPr id="3242" name="Text 12"/>
          <p:cNvSpPr txBox="1"/>
          <p:nvPr/>
        </p:nvSpPr>
        <p:spPr>
          <a:xfrm>
            <a:off x="6391175" y="3391694"/>
            <a:ext cx="3302186" cy="3176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400" b="1">
                <a:latin typeface="Playfair Display Bold"/>
                <a:ea typeface="Playfair Display Bold"/>
                <a:cs typeface="Playfair Display Bold"/>
                <a:sym typeface="Playfair Display Bold"/>
              </a:defRPr>
            </a:lvl1pPr>
          </a:lstStyle>
          <a:p>
            <a:r>
              <a:rPr sz="2000"/>
              <a:t>Use Secondary Data When...</a:t>
            </a:r>
          </a:p>
        </p:txBody>
      </p:sp>
      <p:sp>
        <p:nvSpPr>
          <p:cNvPr id="3243" name="Text 13"/>
          <p:cNvSpPr txBox="1"/>
          <p:nvPr/>
        </p:nvSpPr>
        <p:spPr>
          <a:xfrm>
            <a:off x="6391175" y="3800376"/>
            <a:ext cx="3048720" cy="3370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400">
                <a:latin typeface="Inter"/>
                <a:ea typeface="Inter"/>
                <a:cs typeface="Inter"/>
                <a:sym typeface="Inter"/>
              </a:defRPr>
            </a:lvl1pPr>
          </a:lstStyle>
          <a:p>
            <a:r>
              <a:rPr sz="2000"/>
              <a:t>Information already exists</a:t>
            </a:r>
          </a:p>
        </p:txBody>
      </p:sp>
      <p:sp>
        <p:nvSpPr>
          <p:cNvPr id="3244" name="Text 14"/>
          <p:cNvSpPr txBox="1"/>
          <p:nvPr/>
        </p:nvSpPr>
        <p:spPr>
          <a:xfrm>
            <a:off x="6391176" y="4168874"/>
            <a:ext cx="2637389" cy="3370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400">
                <a:latin typeface="Inter"/>
                <a:ea typeface="Inter"/>
                <a:cs typeface="Inter"/>
                <a:sym typeface="Inter"/>
              </a:defRPr>
            </a:lvl1pPr>
          </a:lstStyle>
          <a:p>
            <a:r>
              <a:rPr sz="2000"/>
              <a:t>You need to save time</a:t>
            </a:r>
          </a:p>
        </p:txBody>
      </p:sp>
      <p:sp>
        <p:nvSpPr>
          <p:cNvPr id="3245" name="Text 15"/>
          <p:cNvSpPr txBox="1"/>
          <p:nvPr/>
        </p:nvSpPr>
        <p:spPr>
          <a:xfrm>
            <a:off x="6391175" y="4537373"/>
            <a:ext cx="3031279" cy="3370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400">
                <a:latin typeface="Inter"/>
                <a:ea typeface="Inter"/>
                <a:cs typeface="Inter"/>
                <a:sym typeface="Inter"/>
              </a:defRPr>
            </a:lvl1pPr>
          </a:lstStyle>
          <a:p>
            <a:r>
              <a:rPr sz="2000"/>
              <a:t>You need broader context</a:t>
            </a:r>
          </a:p>
        </p:txBody>
      </p:sp>
      <p:sp>
        <p:nvSpPr>
          <p:cNvPr id="3246" name="Shape 16"/>
          <p:cNvSpPr/>
          <p:nvPr/>
        </p:nvSpPr>
        <p:spPr>
          <a:xfrm>
            <a:off x="5633344" y="5417740"/>
            <a:ext cx="567036" cy="25401"/>
          </a:xfrm>
          <a:prstGeom prst="roundRect">
            <a:avLst>
              <a:gd name="adj" fmla="val 50000"/>
            </a:avLst>
          </a:prstGeom>
          <a:solidFill>
            <a:srgbClr val="B2D3E5"/>
          </a:solidFill>
          <a:ln w="12700">
            <a:miter lim="400000"/>
          </a:ln>
        </p:spPr>
        <p:txBody>
          <a:bodyPr lIns="38099" rIns="38099"/>
          <a:lstStyle/>
          <a:p>
            <a:endParaRPr sz="1500"/>
          </a:p>
        </p:txBody>
      </p:sp>
      <p:sp>
        <p:nvSpPr>
          <p:cNvPr id="3247" name="Shape 17"/>
          <p:cNvSpPr/>
          <p:nvPr/>
        </p:nvSpPr>
        <p:spPr>
          <a:xfrm>
            <a:off x="5233491" y="5217814"/>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sp>
        <p:nvSpPr>
          <p:cNvPr id="3248" name="Text 18"/>
          <p:cNvSpPr txBox="1"/>
          <p:nvPr/>
        </p:nvSpPr>
        <p:spPr>
          <a:xfrm>
            <a:off x="5377990" y="5253236"/>
            <a:ext cx="136256" cy="3334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gn="ctr">
              <a:lnSpc>
                <a:spcPts val="2600"/>
              </a:lnSpc>
              <a:defRPr sz="2600" b="1">
                <a:latin typeface="Playfair Display Bold"/>
                <a:ea typeface="Playfair Display Bold"/>
                <a:cs typeface="Playfair Display Bold"/>
                <a:sym typeface="Playfair Display Bold"/>
              </a:defRPr>
            </a:lvl1pPr>
          </a:lstStyle>
          <a:p>
            <a:r>
              <a:rPr sz="2167"/>
              <a:t>3</a:t>
            </a:r>
          </a:p>
        </p:txBody>
      </p:sp>
      <p:sp>
        <p:nvSpPr>
          <p:cNvPr id="3249" name="Text 19"/>
          <p:cNvSpPr txBox="1"/>
          <p:nvPr/>
        </p:nvSpPr>
        <p:spPr>
          <a:xfrm>
            <a:off x="6391176" y="5282704"/>
            <a:ext cx="1542089" cy="3176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400" b="1">
                <a:latin typeface="Playfair Display Bold"/>
                <a:ea typeface="Playfair Display Bold"/>
                <a:cs typeface="Playfair Display Bold"/>
                <a:sym typeface="Playfair Display Bold"/>
              </a:defRPr>
            </a:lvl1pPr>
          </a:lstStyle>
          <a:p>
            <a:r>
              <a:rPr sz="2000"/>
              <a:t>Best Practice</a:t>
            </a:r>
          </a:p>
        </p:txBody>
      </p:sp>
      <p:sp>
        <p:nvSpPr>
          <p:cNvPr id="3250" name="Text 20"/>
          <p:cNvSpPr txBox="1"/>
          <p:nvPr/>
        </p:nvSpPr>
        <p:spPr>
          <a:xfrm>
            <a:off x="6391176" y="5691385"/>
            <a:ext cx="5139334" cy="6960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400">
                <a:latin typeface="Inter"/>
                <a:ea typeface="Inter"/>
                <a:cs typeface="Inter"/>
                <a:sym typeface="Inter"/>
              </a:defRPr>
            </a:lvl1pPr>
          </a:lstStyle>
          <a:p>
            <a:r>
              <a:rPr sz="2000"/>
              <a:t>Many strong research projects use both types for a fuller understanding</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52" name="Image 0" descr="Image 0"/>
          <p:cNvPicPr>
            <a:picLocks noChangeAspect="1"/>
          </p:cNvPicPr>
          <p:nvPr/>
        </p:nvPicPr>
        <p:blipFill>
          <a:blip r:embed="rId2"/>
          <a:stretch>
            <a:fillRect/>
          </a:stretch>
        </p:blipFill>
        <p:spPr>
          <a:xfrm>
            <a:off x="0" y="0"/>
            <a:ext cx="4149130" cy="6223695"/>
          </a:xfrm>
          <a:prstGeom prst="rect">
            <a:avLst/>
          </a:prstGeom>
          <a:ln w="12700">
            <a:miter lim="400000"/>
          </a:ln>
        </p:spPr>
      </p:pic>
      <p:sp>
        <p:nvSpPr>
          <p:cNvPr id="3253" name="Text 0"/>
          <p:cNvSpPr txBox="1"/>
          <p:nvPr/>
        </p:nvSpPr>
        <p:spPr>
          <a:xfrm>
            <a:off x="5198666" y="634207"/>
            <a:ext cx="6366668" cy="6015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200"/>
              </a:lnSpc>
              <a:defRPr sz="4200" b="1">
                <a:latin typeface="Playfair Display Bold"/>
                <a:ea typeface="Playfair Display Bold"/>
                <a:cs typeface="Playfair Display Bold"/>
                <a:sym typeface="Playfair Display Bold"/>
              </a:defRPr>
            </a:lvl1pPr>
          </a:lstStyle>
          <a:p>
            <a:r>
              <a:rPr sz="3500"/>
              <a:t>Common Mistakes in Research</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55" name="Image 0" descr="Image 0"/>
          <p:cNvPicPr>
            <a:picLocks noChangeAspect="1"/>
          </p:cNvPicPr>
          <p:nvPr/>
        </p:nvPicPr>
        <p:blipFill>
          <a:blip r:embed="rId2"/>
          <a:stretch>
            <a:fillRect/>
          </a:stretch>
        </p:blipFill>
        <p:spPr>
          <a:xfrm>
            <a:off x="0" y="0"/>
            <a:ext cx="4149130" cy="6223695"/>
          </a:xfrm>
          <a:prstGeom prst="rect">
            <a:avLst/>
          </a:prstGeom>
          <a:ln w="12700">
            <a:miter lim="400000"/>
          </a:ln>
        </p:spPr>
      </p:pic>
      <p:sp>
        <p:nvSpPr>
          <p:cNvPr id="3256" name="Text 0"/>
          <p:cNvSpPr txBox="1"/>
          <p:nvPr/>
        </p:nvSpPr>
        <p:spPr>
          <a:xfrm>
            <a:off x="5198666" y="634207"/>
            <a:ext cx="6366668" cy="6015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200"/>
              </a:lnSpc>
              <a:defRPr sz="4200" b="1">
                <a:latin typeface="Playfair Display Bold"/>
                <a:ea typeface="Playfair Display Bold"/>
                <a:cs typeface="Playfair Display Bold"/>
                <a:sym typeface="Playfair Display Bold"/>
              </a:defRPr>
            </a:lvl1pPr>
          </a:lstStyle>
          <a:p>
            <a:r>
              <a:rPr sz="3500"/>
              <a:t>Common Mistakes in Research</a:t>
            </a:r>
          </a:p>
        </p:txBody>
      </p:sp>
      <p:sp>
        <p:nvSpPr>
          <p:cNvPr id="3257" name="Text 2"/>
          <p:cNvSpPr txBox="1"/>
          <p:nvPr/>
        </p:nvSpPr>
        <p:spPr>
          <a:xfrm>
            <a:off x="5153633" y="2114986"/>
            <a:ext cx="5858783" cy="20846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1833"/>
              </a:lnSpc>
              <a:defRPr sz="2300">
                <a:latin typeface="Inter"/>
                <a:ea typeface="Inter"/>
                <a:cs typeface="Inter"/>
                <a:sym typeface="Inter"/>
              </a:defRPr>
            </a:pPr>
            <a:r>
              <a:rPr sz="1917"/>
              <a:t>We can make mistakes at every stage.</a:t>
            </a:r>
          </a:p>
          <a:p>
            <a:pPr>
              <a:lnSpc>
                <a:spcPts val="1833"/>
              </a:lnSpc>
              <a:defRPr sz="2300">
                <a:latin typeface="Inter"/>
                <a:ea typeface="Inter"/>
                <a:cs typeface="Inter"/>
                <a:sym typeface="Inter"/>
              </a:defRPr>
            </a:pPr>
            <a:endParaRPr sz="1917"/>
          </a:p>
          <a:p>
            <a:pPr marL="509650" lvl="1" indent="-192163">
              <a:lnSpc>
                <a:spcPts val="1833"/>
              </a:lnSpc>
              <a:buSzPct val="100000"/>
              <a:buChar char="•"/>
              <a:defRPr sz="2300">
                <a:latin typeface="Inter"/>
                <a:ea typeface="Inter"/>
                <a:cs typeface="Inter"/>
                <a:sym typeface="Inter"/>
              </a:defRPr>
            </a:pPr>
            <a:r>
              <a:rPr sz="1917"/>
              <a:t>When selecting participants - </a:t>
            </a:r>
            <a:r>
              <a:rPr sz="1917" b="1"/>
              <a:t>selection bias</a:t>
            </a:r>
          </a:p>
          <a:p>
            <a:pPr marL="509650" lvl="1" indent="-192163">
              <a:lnSpc>
                <a:spcPts val="1833"/>
              </a:lnSpc>
              <a:buSzPct val="100000"/>
              <a:buChar char="•"/>
              <a:defRPr sz="2300">
                <a:latin typeface="Inter"/>
                <a:ea typeface="Inter"/>
                <a:cs typeface="Inter"/>
                <a:sym typeface="Inter"/>
              </a:defRPr>
            </a:pPr>
            <a:endParaRPr sz="1917" b="1"/>
          </a:p>
          <a:p>
            <a:pPr marL="509650" lvl="1" indent="-192163">
              <a:lnSpc>
                <a:spcPts val="1833"/>
              </a:lnSpc>
              <a:buSzPct val="100000"/>
              <a:buChar char="•"/>
              <a:defRPr sz="2300">
                <a:latin typeface="Inter"/>
                <a:ea typeface="Inter"/>
                <a:cs typeface="Inter"/>
                <a:sym typeface="Inter"/>
              </a:defRPr>
            </a:pPr>
            <a:r>
              <a:rPr sz="1917"/>
              <a:t>When collecting data - </a:t>
            </a:r>
            <a:r>
              <a:rPr sz="1917" b="1"/>
              <a:t>measuring bias, response bias</a:t>
            </a:r>
          </a:p>
          <a:p>
            <a:pPr marL="509650" lvl="1" indent="-192163">
              <a:lnSpc>
                <a:spcPts val="1833"/>
              </a:lnSpc>
              <a:buSzPct val="100000"/>
              <a:buChar char="•"/>
              <a:defRPr sz="2300">
                <a:latin typeface="Inter"/>
                <a:ea typeface="Inter"/>
                <a:cs typeface="Inter"/>
                <a:sym typeface="Inter"/>
              </a:defRPr>
            </a:pPr>
            <a:endParaRPr sz="1917" b="1"/>
          </a:p>
          <a:p>
            <a:pPr marL="509650" lvl="1" indent="-192163">
              <a:lnSpc>
                <a:spcPts val="1833"/>
              </a:lnSpc>
              <a:buSzPct val="100000"/>
              <a:buChar char="•"/>
              <a:defRPr sz="2300">
                <a:latin typeface="Inter"/>
                <a:ea typeface="Inter"/>
                <a:cs typeface="Inter"/>
                <a:sym typeface="Inter"/>
              </a:defRPr>
            </a:pPr>
            <a:r>
              <a:rPr sz="1917"/>
              <a:t>When analyzing data - </a:t>
            </a:r>
            <a:r>
              <a:rPr sz="1917" b="1"/>
              <a:t>confirmation bias</a:t>
            </a:r>
          </a:p>
          <a:p>
            <a:pPr marL="509650" lvl="1" indent="-192163">
              <a:lnSpc>
                <a:spcPts val="1833"/>
              </a:lnSpc>
              <a:buSzPct val="100000"/>
              <a:buChar char="•"/>
              <a:defRPr sz="2300">
                <a:latin typeface="Inter"/>
                <a:ea typeface="Inter"/>
                <a:cs typeface="Inter"/>
                <a:sym typeface="Inter"/>
              </a:defRPr>
            </a:pPr>
            <a:endParaRPr sz="1917" b="1"/>
          </a:p>
          <a:p>
            <a:pPr marL="509650" lvl="1" indent="-192163">
              <a:lnSpc>
                <a:spcPts val="1833"/>
              </a:lnSpc>
              <a:buSzPct val="100000"/>
              <a:buChar char="•"/>
              <a:defRPr sz="2300">
                <a:latin typeface="Inter"/>
                <a:ea typeface="Inter"/>
                <a:cs typeface="Inter"/>
                <a:sym typeface="Inter"/>
              </a:defRPr>
            </a:pPr>
            <a:r>
              <a:rPr sz="1917"/>
              <a:t>When reporting results - </a:t>
            </a:r>
            <a:r>
              <a:rPr sz="1917" b="1"/>
              <a:t>reporting bias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59" name="Image 0" descr="Image 0"/>
          <p:cNvPicPr>
            <a:picLocks noChangeAspect="1"/>
          </p:cNvPicPr>
          <p:nvPr/>
        </p:nvPicPr>
        <p:blipFill>
          <a:blip r:embed="rId2"/>
          <a:stretch>
            <a:fillRect/>
          </a:stretch>
        </p:blipFill>
        <p:spPr>
          <a:xfrm>
            <a:off x="0" y="0"/>
            <a:ext cx="4149130" cy="6223695"/>
          </a:xfrm>
          <a:prstGeom prst="rect">
            <a:avLst/>
          </a:prstGeom>
          <a:ln w="12700">
            <a:miter lim="400000"/>
          </a:ln>
        </p:spPr>
      </p:pic>
      <p:sp>
        <p:nvSpPr>
          <p:cNvPr id="3260" name="Shape 1"/>
          <p:cNvSpPr/>
          <p:nvPr/>
        </p:nvSpPr>
        <p:spPr>
          <a:xfrm>
            <a:off x="5198666" y="2021978"/>
            <a:ext cx="3470872" cy="3654080"/>
          </a:xfrm>
          <a:prstGeom prst="roundRect">
            <a:avLst>
              <a:gd name="adj" fmla="val 2167"/>
            </a:avLst>
          </a:prstGeom>
          <a:solidFill>
            <a:srgbClr val="CCEDFF"/>
          </a:solidFill>
          <a:ln w="7620">
            <a:solidFill>
              <a:srgbClr val="B2D3E5"/>
            </a:solidFill>
          </a:ln>
        </p:spPr>
        <p:txBody>
          <a:bodyPr lIns="38099" rIns="38099"/>
          <a:lstStyle/>
          <a:p>
            <a:pPr>
              <a:defRPr sz="2200"/>
            </a:pPr>
            <a:endParaRPr sz="1833"/>
          </a:p>
        </p:txBody>
      </p:sp>
      <p:sp>
        <p:nvSpPr>
          <p:cNvPr id="3261" name="Text 2"/>
          <p:cNvSpPr txBox="1"/>
          <p:nvPr/>
        </p:nvSpPr>
        <p:spPr>
          <a:xfrm>
            <a:off x="5384006" y="2207319"/>
            <a:ext cx="1812997" cy="3031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200" b="1">
                <a:latin typeface="Playfair Display Bold"/>
                <a:ea typeface="Playfair Display Bold"/>
                <a:cs typeface="Playfair Display Bold"/>
                <a:sym typeface="Playfair Display Bold"/>
              </a:defRPr>
            </a:lvl1pPr>
          </a:lstStyle>
          <a:p>
            <a:r>
              <a:rPr sz="1833"/>
              <a:t>Biased Sampling</a:t>
            </a:r>
          </a:p>
        </p:txBody>
      </p:sp>
      <p:sp>
        <p:nvSpPr>
          <p:cNvPr id="3262" name="Text 3"/>
          <p:cNvSpPr txBox="1"/>
          <p:nvPr/>
        </p:nvSpPr>
        <p:spPr>
          <a:xfrm>
            <a:off x="5384006" y="2594471"/>
            <a:ext cx="3389313" cy="10142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Example: Only surveying students who participate in sports about favorite activities.</a:t>
            </a:r>
          </a:p>
        </p:txBody>
      </p:sp>
      <p:sp>
        <p:nvSpPr>
          <p:cNvPr id="3263" name="Text 4"/>
          <p:cNvSpPr txBox="1"/>
          <p:nvPr/>
        </p:nvSpPr>
        <p:spPr>
          <a:xfrm>
            <a:off x="5384006" y="3660493"/>
            <a:ext cx="3299490" cy="668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Fix: Include students with diverse interests and backgrounds.</a:t>
            </a:r>
          </a:p>
        </p:txBody>
      </p:sp>
      <p:sp>
        <p:nvSpPr>
          <p:cNvPr id="3264" name="Text 0"/>
          <p:cNvSpPr txBox="1"/>
          <p:nvPr/>
        </p:nvSpPr>
        <p:spPr>
          <a:xfrm>
            <a:off x="5198666" y="634207"/>
            <a:ext cx="6366668" cy="6015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200"/>
              </a:lnSpc>
              <a:defRPr sz="4200" b="1">
                <a:latin typeface="Playfair Display Bold"/>
                <a:ea typeface="Playfair Display Bold"/>
                <a:cs typeface="Playfair Display Bold"/>
                <a:sym typeface="Playfair Display Bold"/>
              </a:defRPr>
            </a:lvl1pPr>
          </a:lstStyle>
          <a:p>
            <a:r>
              <a:rPr sz="3500"/>
              <a:t>Common Mistakes in Research</a:t>
            </a:r>
          </a:p>
        </p:txBody>
      </p:sp>
      <p:sp>
        <p:nvSpPr>
          <p:cNvPr id="3265" name="Text 4"/>
          <p:cNvSpPr txBox="1"/>
          <p:nvPr/>
        </p:nvSpPr>
        <p:spPr>
          <a:xfrm>
            <a:off x="5384006" y="4726514"/>
            <a:ext cx="3299490" cy="668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Fix: Go for random sampling if it is possible.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7" name="Text 0"/>
          <p:cNvSpPr txBox="1"/>
          <p:nvPr/>
        </p:nvSpPr>
        <p:spPr>
          <a:xfrm>
            <a:off x="661492" y="1216521"/>
            <a:ext cx="7191071"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Importance of Random Sampling</a:t>
            </a:r>
          </a:p>
        </p:txBody>
      </p:sp>
      <p:sp>
        <p:nvSpPr>
          <p:cNvPr id="3268" name="Shape 1"/>
          <p:cNvSpPr/>
          <p:nvPr/>
        </p:nvSpPr>
        <p:spPr>
          <a:xfrm>
            <a:off x="661491" y="2185193"/>
            <a:ext cx="1811437" cy="1089125"/>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3269" name="Image 0" descr="Image 0"/>
          <p:cNvPicPr>
            <a:picLocks noChangeAspect="1"/>
          </p:cNvPicPr>
          <p:nvPr/>
        </p:nvPicPr>
        <p:blipFill>
          <a:blip r:embed="rId2"/>
          <a:stretch>
            <a:fillRect/>
          </a:stretch>
        </p:blipFill>
        <p:spPr>
          <a:xfrm>
            <a:off x="1434306" y="2563614"/>
            <a:ext cx="265808" cy="332185"/>
          </a:xfrm>
          <a:prstGeom prst="rect">
            <a:avLst/>
          </a:prstGeom>
          <a:ln w="12700">
            <a:miter lim="400000"/>
          </a:ln>
        </p:spPr>
      </p:pic>
      <p:sp>
        <p:nvSpPr>
          <p:cNvPr id="3270" name="Text 2"/>
          <p:cNvSpPr txBox="1"/>
          <p:nvPr/>
        </p:nvSpPr>
        <p:spPr>
          <a:xfrm>
            <a:off x="2661940" y="2374206"/>
            <a:ext cx="2584041" cy="3152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300" b="1">
                <a:latin typeface="Playfair Display Bold"/>
                <a:ea typeface="Playfair Display Bold"/>
                <a:cs typeface="Playfair Display Bold"/>
                <a:sym typeface="Playfair Display Bold"/>
              </a:defRPr>
            </a:lvl1pPr>
          </a:lstStyle>
          <a:p>
            <a:r>
              <a:rPr sz="1917"/>
              <a:t>Representative Results</a:t>
            </a:r>
          </a:p>
        </p:txBody>
      </p:sp>
      <p:sp>
        <p:nvSpPr>
          <p:cNvPr id="3271" name="Text 3"/>
          <p:cNvSpPr txBox="1"/>
          <p:nvPr/>
        </p:nvSpPr>
        <p:spPr>
          <a:xfrm>
            <a:off x="2661940" y="2782888"/>
            <a:ext cx="7369903" cy="33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2300">
                <a:latin typeface="Inter"/>
                <a:ea typeface="Inter"/>
                <a:cs typeface="Inter"/>
                <a:sym typeface="Inter"/>
              </a:defRPr>
            </a:lvl1pPr>
          </a:lstStyle>
          <a:p>
            <a:r>
              <a:rPr sz="1917"/>
              <a:t>Random sampling helps ensure your findings reflect the whole population</a:t>
            </a:r>
          </a:p>
        </p:txBody>
      </p:sp>
      <p:sp>
        <p:nvSpPr>
          <p:cNvPr id="3272" name="Shape 4"/>
          <p:cNvSpPr/>
          <p:nvPr/>
        </p:nvSpPr>
        <p:spPr>
          <a:xfrm>
            <a:off x="2567383" y="3261619"/>
            <a:ext cx="8868670" cy="12701"/>
          </a:xfrm>
          <a:prstGeom prst="roundRect">
            <a:avLst>
              <a:gd name="adj" fmla="val 50000"/>
            </a:avLst>
          </a:prstGeom>
          <a:solidFill>
            <a:srgbClr val="B2D3E5"/>
          </a:solidFill>
          <a:ln w="12700">
            <a:miter lim="400000"/>
          </a:ln>
        </p:spPr>
        <p:txBody>
          <a:bodyPr lIns="38099" rIns="38099"/>
          <a:lstStyle/>
          <a:p>
            <a:pPr>
              <a:defRPr sz="2300"/>
            </a:pPr>
            <a:endParaRPr sz="1917"/>
          </a:p>
        </p:txBody>
      </p:sp>
      <p:sp>
        <p:nvSpPr>
          <p:cNvPr id="3273" name="Shape 5"/>
          <p:cNvSpPr/>
          <p:nvPr/>
        </p:nvSpPr>
        <p:spPr>
          <a:xfrm>
            <a:off x="661492" y="3368773"/>
            <a:ext cx="3622973" cy="1089125"/>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3274" name="Image 1" descr="Image 1"/>
          <p:cNvPicPr>
            <a:picLocks noChangeAspect="1"/>
          </p:cNvPicPr>
          <p:nvPr/>
        </p:nvPicPr>
        <p:blipFill>
          <a:blip r:embed="rId3"/>
          <a:stretch>
            <a:fillRect/>
          </a:stretch>
        </p:blipFill>
        <p:spPr>
          <a:xfrm>
            <a:off x="2340074" y="3747193"/>
            <a:ext cx="265808" cy="332185"/>
          </a:xfrm>
          <a:prstGeom prst="rect">
            <a:avLst/>
          </a:prstGeom>
          <a:ln w="12700">
            <a:miter lim="400000"/>
          </a:ln>
        </p:spPr>
      </p:pic>
      <p:sp>
        <p:nvSpPr>
          <p:cNvPr id="3275" name="Text 6"/>
          <p:cNvSpPr txBox="1"/>
          <p:nvPr/>
        </p:nvSpPr>
        <p:spPr>
          <a:xfrm>
            <a:off x="4473476" y="3557785"/>
            <a:ext cx="1458733"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Reduced Bias</a:t>
            </a:r>
          </a:p>
        </p:txBody>
      </p:sp>
      <p:sp>
        <p:nvSpPr>
          <p:cNvPr id="3276" name="Text 7"/>
          <p:cNvSpPr txBox="1"/>
          <p:nvPr/>
        </p:nvSpPr>
        <p:spPr>
          <a:xfrm>
            <a:off x="4473476" y="3966468"/>
            <a:ext cx="4753289" cy="33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2300">
                <a:latin typeface="Inter"/>
                <a:ea typeface="Inter"/>
                <a:cs typeface="Inter"/>
                <a:sym typeface="Inter"/>
              </a:defRPr>
            </a:lvl1pPr>
          </a:lstStyle>
          <a:p>
            <a:r>
              <a:rPr sz="1917"/>
              <a:t>Everyone has an equal chance of being selected</a:t>
            </a:r>
          </a:p>
        </p:txBody>
      </p:sp>
      <p:sp>
        <p:nvSpPr>
          <p:cNvPr id="3277" name="Shape 8"/>
          <p:cNvSpPr/>
          <p:nvPr/>
        </p:nvSpPr>
        <p:spPr>
          <a:xfrm>
            <a:off x="4378920" y="4445198"/>
            <a:ext cx="7057133" cy="12701"/>
          </a:xfrm>
          <a:prstGeom prst="roundRect">
            <a:avLst>
              <a:gd name="adj" fmla="val 50000"/>
            </a:avLst>
          </a:prstGeom>
          <a:solidFill>
            <a:srgbClr val="B2D3E5"/>
          </a:solidFill>
          <a:ln w="12700">
            <a:miter lim="400000"/>
          </a:ln>
        </p:spPr>
        <p:txBody>
          <a:bodyPr lIns="38099" rIns="38099"/>
          <a:lstStyle/>
          <a:p>
            <a:pPr>
              <a:defRPr sz="2300"/>
            </a:pPr>
            <a:endParaRPr sz="1917"/>
          </a:p>
        </p:txBody>
      </p:sp>
      <p:sp>
        <p:nvSpPr>
          <p:cNvPr id="3278" name="Shape 9"/>
          <p:cNvSpPr/>
          <p:nvPr/>
        </p:nvSpPr>
        <p:spPr>
          <a:xfrm>
            <a:off x="661492" y="4552354"/>
            <a:ext cx="5434508" cy="1089125"/>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3279" name="Image 2" descr="Image 2"/>
          <p:cNvPicPr>
            <a:picLocks noChangeAspect="1"/>
          </p:cNvPicPr>
          <p:nvPr/>
        </p:nvPicPr>
        <p:blipFill>
          <a:blip r:embed="rId4"/>
          <a:stretch>
            <a:fillRect/>
          </a:stretch>
        </p:blipFill>
        <p:spPr>
          <a:xfrm>
            <a:off x="3245843" y="4930774"/>
            <a:ext cx="265808" cy="332185"/>
          </a:xfrm>
          <a:prstGeom prst="rect">
            <a:avLst/>
          </a:prstGeom>
          <a:ln w="12700">
            <a:miter lim="400000"/>
          </a:ln>
        </p:spPr>
      </p:pic>
      <p:sp>
        <p:nvSpPr>
          <p:cNvPr id="3280" name="Text 10"/>
          <p:cNvSpPr txBox="1"/>
          <p:nvPr/>
        </p:nvSpPr>
        <p:spPr>
          <a:xfrm>
            <a:off x="6285012" y="4741366"/>
            <a:ext cx="2064668" cy="3152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300" b="1">
                <a:latin typeface="Playfair Display Bold"/>
                <a:ea typeface="Playfair Display Bold"/>
                <a:cs typeface="Playfair Display Bold"/>
                <a:sym typeface="Playfair Display Bold"/>
              </a:defRPr>
            </a:lvl1pPr>
          </a:lstStyle>
          <a:p>
            <a:r>
              <a:rPr sz="1917"/>
              <a:t>Statistical Validity</a:t>
            </a:r>
          </a:p>
        </p:txBody>
      </p:sp>
      <p:sp>
        <p:nvSpPr>
          <p:cNvPr id="3281" name="Text 11"/>
          <p:cNvSpPr txBox="1"/>
          <p:nvPr/>
        </p:nvSpPr>
        <p:spPr>
          <a:xfrm>
            <a:off x="6285012" y="5150048"/>
            <a:ext cx="4309000" cy="33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2300">
                <a:latin typeface="Inter"/>
                <a:ea typeface="Inter"/>
                <a:cs typeface="Inter"/>
                <a:sym typeface="Inter"/>
              </a:defRPr>
            </a:lvl1pPr>
          </a:lstStyle>
          <a:p>
            <a:r>
              <a:rPr sz="1917"/>
              <a:t>Allows for more accurate statistical analysis</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83" name="Image 0" descr="Image 0"/>
          <p:cNvPicPr>
            <a:picLocks noChangeAspect="1"/>
          </p:cNvPicPr>
          <p:nvPr/>
        </p:nvPicPr>
        <p:blipFill>
          <a:blip r:embed="rId2"/>
          <a:stretch>
            <a:fillRect/>
          </a:stretch>
        </p:blipFill>
        <p:spPr>
          <a:xfrm>
            <a:off x="0" y="0"/>
            <a:ext cx="4149130" cy="6223695"/>
          </a:xfrm>
          <a:prstGeom prst="rect">
            <a:avLst/>
          </a:prstGeom>
          <a:ln w="12700">
            <a:miter lim="400000"/>
          </a:ln>
        </p:spPr>
      </p:pic>
      <p:sp>
        <p:nvSpPr>
          <p:cNvPr id="3284" name="Shape 1"/>
          <p:cNvSpPr/>
          <p:nvPr/>
        </p:nvSpPr>
        <p:spPr>
          <a:xfrm>
            <a:off x="5198666" y="2021979"/>
            <a:ext cx="3470872" cy="2584451"/>
          </a:xfrm>
          <a:prstGeom prst="roundRect">
            <a:avLst>
              <a:gd name="adj" fmla="val 2910"/>
            </a:avLst>
          </a:prstGeom>
          <a:solidFill>
            <a:srgbClr val="A7A7A7"/>
          </a:solidFill>
          <a:ln w="19050">
            <a:solidFill>
              <a:srgbClr val="AA5224"/>
            </a:solidFill>
            <a:miter/>
          </a:ln>
        </p:spPr>
        <p:txBody>
          <a:bodyPr lIns="38099" rIns="38099"/>
          <a:lstStyle/>
          <a:p>
            <a:pPr>
              <a:defRPr>
                <a:solidFill>
                  <a:srgbClr val="FFFFFF"/>
                </a:solidFill>
              </a:defRPr>
            </a:pPr>
            <a:endParaRPr sz="1500"/>
          </a:p>
        </p:txBody>
      </p:sp>
      <p:sp>
        <p:nvSpPr>
          <p:cNvPr id="3285" name="Text 2"/>
          <p:cNvSpPr txBox="1"/>
          <p:nvPr/>
        </p:nvSpPr>
        <p:spPr>
          <a:xfrm>
            <a:off x="5384006" y="2207319"/>
            <a:ext cx="1812997" cy="3031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200" b="1">
                <a:latin typeface="Playfair Display Bold"/>
                <a:ea typeface="Playfair Display Bold"/>
                <a:cs typeface="Playfair Display Bold"/>
                <a:sym typeface="Playfair Display Bold"/>
              </a:defRPr>
            </a:lvl1pPr>
          </a:lstStyle>
          <a:p>
            <a:r>
              <a:rPr sz="1833"/>
              <a:t>Biased Sampling</a:t>
            </a:r>
          </a:p>
        </p:txBody>
      </p:sp>
      <p:sp>
        <p:nvSpPr>
          <p:cNvPr id="3286" name="Text 3"/>
          <p:cNvSpPr txBox="1"/>
          <p:nvPr/>
        </p:nvSpPr>
        <p:spPr>
          <a:xfrm>
            <a:off x="5384006" y="2594471"/>
            <a:ext cx="3389313" cy="10142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Example: Only surveying students who participate in sports about favorite activities.</a:t>
            </a:r>
          </a:p>
        </p:txBody>
      </p:sp>
      <p:sp>
        <p:nvSpPr>
          <p:cNvPr id="3287" name="Text 4"/>
          <p:cNvSpPr txBox="1"/>
          <p:nvPr/>
        </p:nvSpPr>
        <p:spPr>
          <a:xfrm>
            <a:off x="5384006" y="3660493"/>
            <a:ext cx="3299490" cy="10142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Fix: Include students with diverse backgrounds. Go for random sampling if possible.</a:t>
            </a:r>
          </a:p>
        </p:txBody>
      </p:sp>
      <p:sp>
        <p:nvSpPr>
          <p:cNvPr id="3288" name="Shape 5"/>
          <p:cNvSpPr/>
          <p:nvPr/>
        </p:nvSpPr>
        <p:spPr>
          <a:xfrm>
            <a:off x="8857592" y="2021979"/>
            <a:ext cx="3093841" cy="2584451"/>
          </a:xfrm>
          <a:prstGeom prst="roundRect">
            <a:avLst>
              <a:gd name="adj" fmla="val 2910"/>
            </a:avLst>
          </a:prstGeom>
          <a:solidFill>
            <a:srgbClr val="CCEDFF"/>
          </a:solidFill>
          <a:ln w="7620">
            <a:solidFill>
              <a:srgbClr val="B2D3E5"/>
            </a:solidFill>
          </a:ln>
        </p:spPr>
        <p:txBody>
          <a:bodyPr lIns="38099" rIns="38099"/>
          <a:lstStyle/>
          <a:p>
            <a:pPr>
              <a:defRPr sz="2200"/>
            </a:pPr>
            <a:endParaRPr sz="1833"/>
          </a:p>
        </p:txBody>
      </p:sp>
      <p:sp>
        <p:nvSpPr>
          <p:cNvPr id="3289" name="Text 6"/>
          <p:cNvSpPr txBox="1"/>
          <p:nvPr/>
        </p:nvSpPr>
        <p:spPr>
          <a:xfrm>
            <a:off x="9059003" y="2207319"/>
            <a:ext cx="2027799" cy="3031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200" b="1">
                <a:latin typeface="Playfair Display Bold"/>
                <a:ea typeface="Playfair Display Bold"/>
                <a:cs typeface="Playfair Display Bold"/>
                <a:sym typeface="Playfair Display Bold"/>
              </a:defRPr>
            </a:lvl1pPr>
          </a:lstStyle>
          <a:p>
            <a:r>
              <a:rPr sz="1833"/>
              <a:t>Leading Questions</a:t>
            </a:r>
          </a:p>
        </p:txBody>
      </p:sp>
      <p:sp>
        <p:nvSpPr>
          <p:cNvPr id="3290" name="Text 7"/>
          <p:cNvSpPr txBox="1"/>
          <p:nvPr/>
        </p:nvSpPr>
        <p:spPr>
          <a:xfrm>
            <a:off x="9059003" y="2594471"/>
            <a:ext cx="2723158" cy="10142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Example: "Don't you agree that homework is too stressful?"</a:t>
            </a:r>
          </a:p>
        </p:txBody>
      </p:sp>
      <p:sp>
        <p:nvSpPr>
          <p:cNvPr id="3291" name="Text 8"/>
          <p:cNvSpPr txBox="1"/>
          <p:nvPr/>
        </p:nvSpPr>
        <p:spPr>
          <a:xfrm>
            <a:off x="9059003" y="3572041"/>
            <a:ext cx="2723158" cy="10142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Fix: "How would you describe your experience with homework?"</a:t>
            </a:r>
          </a:p>
        </p:txBody>
      </p:sp>
      <p:sp>
        <p:nvSpPr>
          <p:cNvPr id="3292" name="Text 0"/>
          <p:cNvSpPr txBox="1"/>
          <p:nvPr/>
        </p:nvSpPr>
        <p:spPr>
          <a:xfrm>
            <a:off x="5198666" y="634207"/>
            <a:ext cx="6366668" cy="6015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200"/>
              </a:lnSpc>
              <a:defRPr sz="4200" b="1">
                <a:latin typeface="Playfair Display Bold"/>
                <a:ea typeface="Playfair Display Bold"/>
                <a:cs typeface="Playfair Display Bold"/>
                <a:sym typeface="Playfair Display Bold"/>
              </a:defRPr>
            </a:lvl1pPr>
          </a:lstStyle>
          <a:p>
            <a:r>
              <a:rPr sz="3500"/>
              <a:t>Common Mistakes in Research</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4" name="Text 0"/>
          <p:cNvSpPr txBox="1"/>
          <p:nvPr/>
        </p:nvSpPr>
        <p:spPr>
          <a:xfrm>
            <a:off x="661492" y="1767085"/>
            <a:ext cx="5233805"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Fixing Biased Questions</a:t>
            </a:r>
          </a:p>
        </p:txBody>
      </p:sp>
      <p:sp>
        <p:nvSpPr>
          <p:cNvPr id="3295" name="Text 1"/>
          <p:cNvSpPr txBox="1"/>
          <p:nvPr/>
        </p:nvSpPr>
        <p:spPr>
          <a:xfrm>
            <a:off x="661491" y="2830214"/>
            <a:ext cx="1877117"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Biased Questions</a:t>
            </a:r>
          </a:p>
        </p:txBody>
      </p:sp>
      <p:sp>
        <p:nvSpPr>
          <p:cNvPr id="3296" name="Text 2"/>
          <p:cNvSpPr txBox="1"/>
          <p:nvPr/>
        </p:nvSpPr>
        <p:spPr>
          <a:xfrm>
            <a:off x="661491" y="3251002"/>
            <a:ext cx="4560736"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Don't you agree that school starts too early?</a:t>
            </a:r>
          </a:p>
        </p:txBody>
      </p:sp>
      <p:sp>
        <p:nvSpPr>
          <p:cNvPr id="3297" name="Text 3"/>
          <p:cNvSpPr txBox="1"/>
          <p:nvPr/>
        </p:nvSpPr>
        <p:spPr>
          <a:xfrm>
            <a:off x="661491" y="3683001"/>
            <a:ext cx="3992824"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Why is the new lunch policy so unfair?</a:t>
            </a:r>
          </a:p>
        </p:txBody>
      </p:sp>
      <p:sp>
        <p:nvSpPr>
          <p:cNvPr id="3298" name="Text 4"/>
          <p:cNvSpPr txBox="1"/>
          <p:nvPr/>
        </p:nvSpPr>
        <p:spPr>
          <a:xfrm>
            <a:off x="661491" y="4252533"/>
            <a:ext cx="4330866"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How much do you hate doing homework?</a:t>
            </a:r>
          </a:p>
        </p:txBody>
      </p:sp>
      <p:sp>
        <p:nvSpPr>
          <p:cNvPr id="3299" name="Text 5"/>
          <p:cNvSpPr txBox="1"/>
          <p:nvPr/>
        </p:nvSpPr>
        <p:spPr>
          <a:xfrm>
            <a:off x="640816" y="4853418"/>
            <a:ext cx="4746492"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Wouldn't you prefer having more recess time?</a:t>
            </a:r>
          </a:p>
        </p:txBody>
      </p:sp>
      <p:sp>
        <p:nvSpPr>
          <p:cNvPr id="3300" name="Text 6"/>
          <p:cNvSpPr txBox="1"/>
          <p:nvPr/>
        </p:nvSpPr>
        <p:spPr>
          <a:xfrm>
            <a:off x="6332934" y="2830214"/>
            <a:ext cx="2184893"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Neutral Alternatives</a:t>
            </a:r>
          </a:p>
        </p:txBody>
      </p:sp>
      <p:sp>
        <p:nvSpPr>
          <p:cNvPr id="3301" name="Text 7"/>
          <p:cNvSpPr txBox="1"/>
          <p:nvPr/>
        </p:nvSpPr>
        <p:spPr>
          <a:xfrm>
            <a:off x="6332934" y="3251002"/>
            <a:ext cx="4559710"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What time do you think school should start?</a:t>
            </a:r>
          </a:p>
        </p:txBody>
      </p:sp>
      <p:sp>
        <p:nvSpPr>
          <p:cNvPr id="3302" name="Text 8"/>
          <p:cNvSpPr txBox="1"/>
          <p:nvPr/>
        </p:nvSpPr>
        <p:spPr>
          <a:xfrm>
            <a:off x="6332933" y="3683001"/>
            <a:ext cx="5047728"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What are your thoughts on the new lunch policy?</a:t>
            </a:r>
          </a:p>
        </p:txBody>
      </p:sp>
      <p:sp>
        <p:nvSpPr>
          <p:cNvPr id="3303" name="Text 9"/>
          <p:cNvSpPr txBox="1"/>
          <p:nvPr/>
        </p:nvSpPr>
        <p:spPr>
          <a:xfrm>
            <a:off x="6332933" y="4135917"/>
            <a:ext cx="5203925" cy="690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How would you describe your experience with homework?</a:t>
            </a:r>
          </a:p>
        </p:txBody>
      </p:sp>
      <p:sp>
        <p:nvSpPr>
          <p:cNvPr id="3304" name="Text 10"/>
          <p:cNvSpPr txBox="1"/>
          <p:nvPr/>
        </p:nvSpPr>
        <p:spPr>
          <a:xfrm>
            <a:off x="6321401" y="4885168"/>
            <a:ext cx="4943213"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What is your opinion about current recess time?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2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3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2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33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32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330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329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3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6" grpId="0" animBg="1" advAuto="0"/>
      <p:bldP spid="3297" grpId="0" animBg="1" advAuto="0"/>
      <p:bldP spid="3298" grpId="0" animBg="1" advAuto="0"/>
      <p:bldP spid="3299" grpId="0" animBg="1" advAuto="0"/>
      <p:bldP spid="3301" grpId="0" animBg="1" advAuto="0"/>
      <p:bldP spid="3302" grpId="0" animBg="1" advAuto="0"/>
      <p:bldP spid="3303" grpId="0" animBg="1" advAuto="0"/>
      <p:bldP spid="3304"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06" name="Image 0" descr="Image 0"/>
          <p:cNvPicPr>
            <a:picLocks noChangeAspect="1"/>
          </p:cNvPicPr>
          <p:nvPr/>
        </p:nvPicPr>
        <p:blipFill>
          <a:blip r:embed="rId2"/>
          <a:stretch>
            <a:fillRect/>
          </a:stretch>
        </p:blipFill>
        <p:spPr>
          <a:xfrm>
            <a:off x="0" y="0"/>
            <a:ext cx="4149130" cy="6223695"/>
          </a:xfrm>
          <a:prstGeom prst="rect">
            <a:avLst/>
          </a:prstGeom>
          <a:ln w="12700">
            <a:miter lim="400000"/>
          </a:ln>
        </p:spPr>
      </p:pic>
      <p:sp>
        <p:nvSpPr>
          <p:cNvPr id="3307" name="Shape 1"/>
          <p:cNvSpPr/>
          <p:nvPr/>
        </p:nvSpPr>
        <p:spPr>
          <a:xfrm>
            <a:off x="5198666" y="2021979"/>
            <a:ext cx="3470872" cy="2584451"/>
          </a:xfrm>
          <a:prstGeom prst="roundRect">
            <a:avLst>
              <a:gd name="adj" fmla="val 2910"/>
            </a:avLst>
          </a:prstGeom>
          <a:solidFill>
            <a:srgbClr val="A7A7A7"/>
          </a:solidFill>
          <a:ln w="7620">
            <a:solidFill>
              <a:srgbClr val="B2D3E5"/>
            </a:solidFill>
          </a:ln>
        </p:spPr>
        <p:txBody>
          <a:bodyPr lIns="38099" rIns="38099"/>
          <a:lstStyle/>
          <a:p>
            <a:pPr>
              <a:defRPr sz="2200"/>
            </a:pPr>
            <a:endParaRPr sz="1833"/>
          </a:p>
        </p:txBody>
      </p:sp>
      <p:sp>
        <p:nvSpPr>
          <p:cNvPr id="3308" name="Text 2"/>
          <p:cNvSpPr txBox="1"/>
          <p:nvPr/>
        </p:nvSpPr>
        <p:spPr>
          <a:xfrm>
            <a:off x="5384006" y="2207319"/>
            <a:ext cx="1812997" cy="303160"/>
          </a:xfrm>
          <a:prstGeom prst="rect">
            <a:avLst/>
          </a:prstGeom>
          <a:solidFill>
            <a:srgbClr val="A7A7A7"/>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200" b="1">
                <a:latin typeface="Playfair Display Bold"/>
                <a:ea typeface="Playfair Display Bold"/>
                <a:cs typeface="Playfair Display Bold"/>
                <a:sym typeface="Playfair Display Bold"/>
              </a:defRPr>
            </a:lvl1pPr>
          </a:lstStyle>
          <a:p>
            <a:r>
              <a:rPr sz="1833"/>
              <a:t>Biased Sampling</a:t>
            </a:r>
          </a:p>
        </p:txBody>
      </p:sp>
      <p:sp>
        <p:nvSpPr>
          <p:cNvPr id="3309" name="Text 3"/>
          <p:cNvSpPr txBox="1"/>
          <p:nvPr/>
        </p:nvSpPr>
        <p:spPr>
          <a:xfrm>
            <a:off x="5384006" y="2594471"/>
            <a:ext cx="3183663" cy="1014252"/>
          </a:xfrm>
          <a:prstGeom prst="rect">
            <a:avLst/>
          </a:prstGeom>
          <a:solidFill>
            <a:srgbClr val="A7A7A7"/>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Example: Only surveying students who participate in sports about favorite activities.</a:t>
            </a:r>
          </a:p>
        </p:txBody>
      </p:sp>
      <p:sp>
        <p:nvSpPr>
          <p:cNvPr id="3310" name="Text 4"/>
          <p:cNvSpPr txBox="1"/>
          <p:nvPr/>
        </p:nvSpPr>
        <p:spPr>
          <a:xfrm>
            <a:off x="5384006" y="3660493"/>
            <a:ext cx="3299490" cy="10142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Fix: Include students with diverse backgrounds. Go for random sampling if possible.</a:t>
            </a:r>
          </a:p>
        </p:txBody>
      </p:sp>
      <p:sp>
        <p:nvSpPr>
          <p:cNvPr id="3311" name="Shape 5"/>
          <p:cNvSpPr/>
          <p:nvPr/>
        </p:nvSpPr>
        <p:spPr>
          <a:xfrm>
            <a:off x="8857592" y="2021979"/>
            <a:ext cx="3093841" cy="2584451"/>
          </a:xfrm>
          <a:prstGeom prst="roundRect">
            <a:avLst>
              <a:gd name="adj" fmla="val 2910"/>
            </a:avLst>
          </a:prstGeom>
          <a:solidFill>
            <a:srgbClr val="A7A7A7"/>
          </a:solidFill>
          <a:ln w="7620">
            <a:solidFill>
              <a:srgbClr val="B2D3E5"/>
            </a:solidFill>
          </a:ln>
        </p:spPr>
        <p:txBody>
          <a:bodyPr lIns="38099" rIns="38099"/>
          <a:lstStyle/>
          <a:p>
            <a:pPr>
              <a:defRPr sz="2200"/>
            </a:pPr>
            <a:endParaRPr sz="1833"/>
          </a:p>
        </p:txBody>
      </p:sp>
      <p:sp>
        <p:nvSpPr>
          <p:cNvPr id="3312" name="Text 6"/>
          <p:cNvSpPr txBox="1"/>
          <p:nvPr/>
        </p:nvSpPr>
        <p:spPr>
          <a:xfrm>
            <a:off x="9059003" y="2207319"/>
            <a:ext cx="2027799" cy="303160"/>
          </a:xfrm>
          <a:prstGeom prst="rect">
            <a:avLst/>
          </a:prstGeom>
          <a:solidFill>
            <a:srgbClr val="A7A7A7"/>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200" b="1">
                <a:latin typeface="Playfair Display Bold"/>
                <a:ea typeface="Playfair Display Bold"/>
                <a:cs typeface="Playfair Display Bold"/>
                <a:sym typeface="Playfair Display Bold"/>
              </a:defRPr>
            </a:lvl1pPr>
          </a:lstStyle>
          <a:p>
            <a:r>
              <a:rPr sz="1833"/>
              <a:t>Leading Questions</a:t>
            </a:r>
          </a:p>
        </p:txBody>
      </p:sp>
      <p:sp>
        <p:nvSpPr>
          <p:cNvPr id="3313" name="Text 7"/>
          <p:cNvSpPr txBox="1"/>
          <p:nvPr/>
        </p:nvSpPr>
        <p:spPr>
          <a:xfrm>
            <a:off x="9059003" y="2594471"/>
            <a:ext cx="2723158" cy="1014252"/>
          </a:xfrm>
          <a:prstGeom prst="rect">
            <a:avLst/>
          </a:prstGeom>
          <a:solidFill>
            <a:srgbClr val="A7A7A7"/>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Example: "Don't you agree that homework is too stressful?"</a:t>
            </a:r>
          </a:p>
        </p:txBody>
      </p:sp>
      <p:sp>
        <p:nvSpPr>
          <p:cNvPr id="3314" name="Text 8"/>
          <p:cNvSpPr txBox="1"/>
          <p:nvPr/>
        </p:nvSpPr>
        <p:spPr>
          <a:xfrm>
            <a:off x="9059003" y="3572041"/>
            <a:ext cx="2723158" cy="10142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a:latin typeface="Inter"/>
                <a:ea typeface="Inter"/>
                <a:cs typeface="Inter"/>
                <a:sym typeface="Inter"/>
              </a:defRPr>
            </a:lvl1pPr>
          </a:lstStyle>
          <a:p>
            <a:r>
              <a:rPr sz="1833"/>
              <a:t>Fix: "How would you describe your experience with homework?"</a:t>
            </a:r>
          </a:p>
        </p:txBody>
      </p:sp>
      <p:sp>
        <p:nvSpPr>
          <p:cNvPr id="3315" name="Shape 9"/>
          <p:cNvSpPr/>
          <p:nvPr/>
        </p:nvSpPr>
        <p:spPr>
          <a:xfrm>
            <a:off x="5198666" y="4785419"/>
            <a:ext cx="6742063" cy="1438276"/>
          </a:xfrm>
          <a:prstGeom prst="roundRect">
            <a:avLst>
              <a:gd name="adj" fmla="val 5229"/>
            </a:avLst>
          </a:prstGeom>
          <a:solidFill>
            <a:srgbClr val="CCEDFF"/>
          </a:solidFill>
          <a:ln w="7620">
            <a:solidFill>
              <a:srgbClr val="B2D3E5"/>
            </a:solidFill>
          </a:ln>
        </p:spPr>
        <p:txBody>
          <a:bodyPr lIns="38099" rIns="38099"/>
          <a:lstStyle/>
          <a:p>
            <a:pPr>
              <a:defRPr sz="2200"/>
            </a:pPr>
            <a:endParaRPr sz="1833"/>
          </a:p>
        </p:txBody>
      </p:sp>
      <p:sp>
        <p:nvSpPr>
          <p:cNvPr id="3316" name="Text 10"/>
          <p:cNvSpPr txBox="1"/>
          <p:nvPr/>
        </p:nvSpPr>
        <p:spPr>
          <a:xfrm>
            <a:off x="5384006" y="4970759"/>
            <a:ext cx="1995739" cy="3031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200" b="1">
                <a:latin typeface="Playfair Display Bold"/>
                <a:ea typeface="Playfair Display Bold"/>
                <a:cs typeface="Playfair Display Bold"/>
                <a:sym typeface="Playfair Display Bold"/>
              </a:defRPr>
            </a:lvl1pPr>
          </a:lstStyle>
          <a:p>
            <a:r>
              <a:rPr sz="1833"/>
              <a:t>Confirmation Bias</a:t>
            </a:r>
          </a:p>
        </p:txBody>
      </p:sp>
      <p:sp>
        <p:nvSpPr>
          <p:cNvPr id="3317" name="Text 11"/>
          <p:cNvSpPr txBox="1"/>
          <p:nvPr/>
        </p:nvSpPr>
        <p:spPr>
          <a:xfrm>
            <a:off x="5384006" y="5357911"/>
            <a:ext cx="5615961" cy="32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a:latin typeface="Inter"/>
                <a:ea typeface="Inter"/>
                <a:cs typeface="Inter"/>
                <a:sym typeface="Inter"/>
              </a:defRPr>
            </a:lvl1pPr>
          </a:lstStyle>
          <a:p>
            <a:r>
              <a:rPr sz="1833"/>
              <a:t>Example: Only noticing data that supports your hypothesis.</a:t>
            </a:r>
          </a:p>
        </p:txBody>
      </p:sp>
      <p:sp>
        <p:nvSpPr>
          <p:cNvPr id="3318" name="Text 12"/>
          <p:cNvSpPr txBox="1"/>
          <p:nvPr/>
        </p:nvSpPr>
        <p:spPr>
          <a:xfrm>
            <a:off x="5384006" y="5751810"/>
            <a:ext cx="6188810" cy="3217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a:latin typeface="Inter"/>
                <a:ea typeface="Inter"/>
                <a:cs typeface="Inter"/>
                <a:sym typeface="Inter"/>
              </a:defRPr>
            </a:lvl1pPr>
          </a:lstStyle>
          <a:p>
            <a:r>
              <a:rPr sz="1833"/>
              <a:t>Fix: Actively look for evidence that contradicts your expectations.</a:t>
            </a:r>
          </a:p>
        </p:txBody>
      </p:sp>
      <p:sp>
        <p:nvSpPr>
          <p:cNvPr id="3319" name="Text 0"/>
          <p:cNvSpPr txBox="1"/>
          <p:nvPr/>
        </p:nvSpPr>
        <p:spPr>
          <a:xfrm>
            <a:off x="5198666" y="634207"/>
            <a:ext cx="6366668" cy="6015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200"/>
              </a:lnSpc>
              <a:defRPr sz="4200" b="1">
                <a:latin typeface="Playfair Display Bold"/>
                <a:ea typeface="Playfair Display Bold"/>
                <a:cs typeface="Playfair Display Bold"/>
                <a:sym typeface="Playfair Display Bold"/>
              </a:defRPr>
            </a:lvl1pPr>
          </a:lstStyle>
          <a:p>
            <a:r>
              <a:rPr sz="3500"/>
              <a:t>Common Mistakes in Research</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1" name="Text 0"/>
          <p:cNvSpPr txBox="1"/>
          <p:nvPr/>
        </p:nvSpPr>
        <p:spPr>
          <a:xfrm>
            <a:off x="661492" y="1263750"/>
            <a:ext cx="6048131"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Accuracy in Data Recording</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3" name="Text 0"/>
          <p:cNvSpPr txBox="1"/>
          <p:nvPr/>
        </p:nvSpPr>
        <p:spPr>
          <a:xfrm>
            <a:off x="661492" y="1263750"/>
            <a:ext cx="6048131"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Accuracy in Data Recording</a:t>
            </a:r>
          </a:p>
        </p:txBody>
      </p:sp>
      <p:pic>
        <p:nvPicPr>
          <p:cNvPr id="3324" name="Image 0" descr="Image 0"/>
          <p:cNvPicPr>
            <a:picLocks noChangeAspect="1"/>
          </p:cNvPicPr>
          <p:nvPr/>
        </p:nvPicPr>
        <p:blipFill>
          <a:blip r:embed="rId2"/>
          <a:stretch>
            <a:fillRect/>
          </a:stretch>
        </p:blipFill>
        <p:spPr>
          <a:xfrm>
            <a:off x="2481957" y="2232422"/>
            <a:ext cx="1793380" cy="1089125"/>
          </a:xfrm>
          <a:prstGeom prst="rect">
            <a:avLst/>
          </a:prstGeom>
          <a:ln w="12700">
            <a:miter lim="400000"/>
          </a:ln>
        </p:spPr>
      </p:pic>
      <p:pic>
        <p:nvPicPr>
          <p:cNvPr id="3325" name="Image 1" descr="Image 1"/>
          <p:cNvPicPr>
            <a:picLocks noChangeAspect="1"/>
          </p:cNvPicPr>
          <p:nvPr/>
        </p:nvPicPr>
        <p:blipFill>
          <a:blip r:embed="rId3"/>
          <a:stretch>
            <a:fillRect/>
          </a:stretch>
        </p:blipFill>
        <p:spPr>
          <a:xfrm>
            <a:off x="3245744" y="2745780"/>
            <a:ext cx="265808" cy="332185"/>
          </a:xfrm>
          <a:prstGeom prst="rect">
            <a:avLst/>
          </a:prstGeom>
          <a:ln w="12700">
            <a:miter lim="400000"/>
          </a:ln>
        </p:spPr>
      </p:pic>
      <p:sp>
        <p:nvSpPr>
          <p:cNvPr id="3326" name="Text 1"/>
          <p:cNvSpPr txBox="1"/>
          <p:nvPr/>
        </p:nvSpPr>
        <p:spPr>
          <a:xfrm>
            <a:off x="4464348" y="2421433"/>
            <a:ext cx="1966885"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Valid Conclusions</a:t>
            </a:r>
          </a:p>
        </p:txBody>
      </p:sp>
      <p:sp>
        <p:nvSpPr>
          <p:cNvPr id="3327" name="Text 2"/>
          <p:cNvSpPr txBox="1"/>
          <p:nvPr/>
        </p:nvSpPr>
        <p:spPr>
          <a:xfrm>
            <a:off x="4464347" y="2830115"/>
            <a:ext cx="3182666"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Accurate data leads to trustworthy findings</a:t>
            </a:r>
          </a:p>
        </p:txBody>
      </p:sp>
      <p:sp>
        <p:nvSpPr>
          <p:cNvPr id="3328" name="Shape 3"/>
          <p:cNvSpPr/>
          <p:nvPr/>
        </p:nvSpPr>
        <p:spPr>
          <a:xfrm>
            <a:off x="4322564" y="3332460"/>
            <a:ext cx="7160718" cy="12701"/>
          </a:xfrm>
          <a:prstGeom prst="roundRect">
            <a:avLst>
              <a:gd name="adj" fmla="val 50000"/>
            </a:avLst>
          </a:prstGeom>
          <a:solidFill>
            <a:srgbClr val="B2D3E5"/>
          </a:solidFill>
          <a:ln w="12700">
            <a:miter lim="400000"/>
          </a:ln>
        </p:spPr>
        <p:txBody>
          <a:bodyPr lIns="38099" rIns="38099"/>
          <a:lstStyle/>
          <a:p>
            <a:endParaRPr sz="1500"/>
          </a:p>
        </p:txBody>
      </p:sp>
      <p:pic>
        <p:nvPicPr>
          <p:cNvPr id="3329" name="Image 2" descr="Image 2"/>
          <p:cNvPicPr>
            <a:picLocks noChangeAspect="1"/>
          </p:cNvPicPr>
          <p:nvPr/>
        </p:nvPicPr>
        <p:blipFill>
          <a:blip r:embed="rId4"/>
          <a:stretch>
            <a:fillRect/>
          </a:stretch>
        </p:blipFill>
        <p:spPr>
          <a:xfrm>
            <a:off x="1585317" y="3368773"/>
            <a:ext cx="3586758" cy="1089125"/>
          </a:xfrm>
          <a:prstGeom prst="rect">
            <a:avLst/>
          </a:prstGeom>
          <a:ln w="12700">
            <a:miter lim="400000"/>
          </a:ln>
        </p:spPr>
      </p:pic>
      <p:pic>
        <p:nvPicPr>
          <p:cNvPr id="3330" name="Image 3" descr="Image 3"/>
          <p:cNvPicPr>
            <a:picLocks noChangeAspect="1"/>
          </p:cNvPicPr>
          <p:nvPr/>
        </p:nvPicPr>
        <p:blipFill>
          <a:blip r:embed="rId5"/>
          <a:stretch>
            <a:fillRect/>
          </a:stretch>
        </p:blipFill>
        <p:spPr>
          <a:xfrm>
            <a:off x="3245744" y="3747193"/>
            <a:ext cx="265808" cy="332185"/>
          </a:xfrm>
          <a:prstGeom prst="rect">
            <a:avLst/>
          </a:prstGeom>
          <a:ln w="12700">
            <a:miter lim="400000"/>
          </a:ln>
        </p:spPr>
      </p:pic>
      <p:sp>
        <p:nvSpPr>
          <p:cNvPr id="3331" name="Text 4"/>
          <p:cNvSpPr txBox="1"/>
          <p:nvPr/>
        </p:nvSpPr>
        <p:spPr>
          <a:xfrm>
            <a:off x="5361086" y="3557785"/>
            <a:ext cx="2191306"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Replicable Research</a:t>
            </a:r>
          </a:p>
        </p:txBody>
      </p:sp>
      <p:sp>
        <p:nvSpPr>
          <p:cNvPr id="3332" name="Text 5"/>
          <p:cNvSpPr txBox="1"/>
          <p:nvPr/>
        </p:nvSpPr>
        <p:spPr>
          <a:xfrm>
            <a:off x="5361086" y="3966469"/>
            <a:ext cx="3013967"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Others can verify and build on your work</a:t>
            </a:r>
          </a:p>
        </p:txBody>
      </p:sp>
      <p:sp>
        <p:nvSpPr>
          <p:cNvPr id="3333" name="Shape 6"/>
          <p:cNvSpPr/>
          <p:nvPr/>
        </p:nvSpPr>
        <p:spPr>
          <a:xfrm>
            <a:off x="5219303" y="4468813"/>
            <a:ext cx="6263978" cy="12701"/>
          </a:xfrm>
          <a:prstGeom prst="roundRect">
            <a:avLst>
              <a:gd name="adj" fmla="val 50000"/>
            </a:avLst>
          </a:prstGeom>
          <a:solidFill>
            <a:srgbClr val="B2D3E5"/>
          </a:solidFill>
          <a:ln w="12700">
            <a:miter lim="400000"/>
          </a:ln>
        </p:spPr>
        <p:txBody>
          <a:bodyPr lIns="38099" rIns="38099"/>
          <a:lstStyle/>
          <a:p>
            <a:endParaRPr sz="1500"/>
          </a:p>
        </p:txBody>
      </p:sp>
      <p:pic>
        <p:nvPicPr>
          <p:cNvPr id="3334" name="Image 4" descr="Image 4"/>
          <p:cNvPicPr>
            <a:picLocks noChangeAspect="1"/>
          </p:cNvPicPr>
          <p:nvPr/>
        </p:nvPicPr>
        <p:blipFill>
          <a:blip r:embed="rId6"/>
          <a:stretch>
            <a:fillRect/>
          </a:stretch>
        </p:blipFill>
        <p:spPr>
          <a:xfrm>
            <a:off x="688579" y="4505127"/>
            <a:ext cx="5380138" cy="1089125"/>
          </a:xfrm>
          <a:prstGeom prst="rect">
            <a:avLst/>
          </a:prstGeom>
          <a:ln w="12700">
            <a:miter lim="400000"/>
          </a:ln>
        </p:spPr>
      </p:pic>
      <p:pic>
        <p:nvPicPr>
          <p:cNvPr id="3335" name="Image 5" descr="Image 5"/>
          <p:cNvPicPr>
            <a:picLocks noChangeAspect="1"/>
          </p:cNvPicPr>
          <p:nvPr/>
        </p:nvPicPr>
        <p:blipFill>
          <a:blip r:embed="rId7"/>
          <a:stretch>
            <a:fillRect/>
          </a:stretch>
        </p:blipFill>
        <p:spPr>
          <a:xfrm>
            <a:off x="3245644" y="4883546"/>
            <a:ext cx="265808" cy="332185"/>
          </a:xfrm>
          <a:prstGeom prst="rect">
            <a:avLst/>
          </a:prstGeom>
          <a:ln w="12700">
            <a:miter lim="400000"/>
          </a:ln>
        </p:spPr>
      </p:pic>
      <p:sp>
        <p:nvSpPr>
          <p:cNvPr id="3336" name="Text 7"/>
          <p:cNvSpPr txBox="1"/>
          <p:nvPr/>
        </p:nvSpPr>
        <p:spPr>
          <a:xfrm>
            <a:off x="6257726" y="4694138"/>
            <a:ext cx="2005357"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Research Integrity</a:t>
            </a:r>
          </a:p>
        </p:txBody>
      </p:sp>
      <p:sp>
        <p:nvSpPr>
          <p:cNvPr id="3337" name="Text 8"/>
          <p:cNvSpPr txBox="1"/>
          <p:nvPr/>
        </p:nvSpPr>
        <p:spPr>
          <a:xfrm>
            <a:off x="6257726" y="5102819"/>
            <a:ext cx="3027432"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Honest recording reflects scientific ethics</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9" name="Text 0"/>
          <p:cNvSpPr txBox="1"/>
          <p:nvPr/>
        </p:nvSpPr>
        <p:spPr>
          <a:xfrm>
            <a:off x="661491" y="1383605"/>
            <a:ext cx="654025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Data Recording Best Practices</a:t>
            </a:r>
          </a:p>
        </p:txBody>
      </p:sp>
      <p:pic>
        <p:nvPicPr>
          <p:cNvPr id="3340" name="Image 0" descr="Image 0"/>
          <p:cNvPicPr>
            <a:picLocks noChangeAspect="1"/>
          </p:cNvPicPr>
          <p:nvPr/>
        </p:nvPicPr>
        <p:blipFill>
          <a:blip r:embed="rId2"/>
          <a:stretch>
            <a:fillRect/>
          </a:stretch>
        </p:blipFill>
        <p:spPr>
          <a:xfrm>
            <a:off x="661492" y="2352278"/>
            <a:ext cx="2540001" cy="1569840"/>
          </a:xfrm>
          <a:prstGeom prst="rect">
            <a:avLst/>
          </a:prstGeom>
          <a:ln w="12700">
            <a:miter lim="400000"/>
          </a:ln>
        </p:spPr>
      </p:pic>
      <p:pic>
        <p:nvPicPr>
          <p:cNvPr id="3341" name="Image 1" descr="Image 1"/>
          <p:cNvPicPr>
            <a:picLocks noChangeAspect="1"/>
          </p:cNvPicPr>
          <p:nvPr/>
        </p:nvPicPr>
        <p:blipFill>
          <a:blip r:embed="rId3"/>
          <a:stretch>
            <a:fillRect/>
          </a:stretch>
        </p:blipFill>
        <p:spPr>
          <a:xfrm>
            <a:off x="3437732" y="2352278"/>
            <a:ext cx="2540100" cy="1569840"/>
          </a:xfrm>
          <a:prstGeom prst="rect">
            <a:avLst/>
          </a:prstGeom>
          <a:ln w="12700">
            <a:miter lim="400000"/>
          </a:ln>
        </p:spPr>
      </p:pic>
      <p:pic>
        <p:nvPicPr>
          <p:cNvPr id="3342" name="Image 2" descr="Image 2"/>
          <p:cNvPicPr>
            <a:picLocks noChangeAspect="1"/>
          </p:cNvPicPr>
          <p:nvPr/>
        </p:nvPicPr>
        <p:blipFill>
          <a:blip r:embed="rId4"/>
          <a:stretch>
            <a:fillRect/>
          </a:stretch>
        </p:blipFill>
        <p:spPr>
          <a:xfrm>
            <a:off x="6214070" y="2352278"/>
            <a:ext cx="2540100" cy="1569840"/>
          </a:xfrm>
          <a:prstGeom prst="rect">
            <a:avLst/>
          </a:prstGeom>
          <a:ln w="12700">
            <a:miter lim="400000"/>
          </a:ln>
        </p:spPr>
      </p:pic>
      <p:pic>
        <p:nvPicPr>
          <p:cNvPr id="3343" name="Image 3" descr="Image 3"/>
          <p:cNvPicPr>
            <a:picLocks noChangeAspect="1"/>
          </p:cNvPicPr>
          <p:nvPr/>
        </p:nvPicPr>
        <p:blipFill>
          <a:blip r:embed="rId5"/>
          <a:stretch>
            <a:fillRect/>
          </a:stretch>
        </p:blipFill>
        <p:spPr>
          <a:xfrm>
            <a:off x="8990409" y="2352278"/>
            <a:ext cx="2540100" cy="1569840"/>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5" name="Text 0"/>
          <p:cNvSpPr txBox="1"/>
          <p:nvPr/>
        </p:nvSpPr>
        <p:spPr>
          <a:xfrm>
            <a:off x="661491" y="1383605"/>
            <a:ext cx="654025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Data Recording Best Practices</a:t>
            </a:r>
          </a:p>
        </p:txBody>
      </p:sp>
      <p:pic>
        <p:nvPicPr>
          <p:cNvPr id="3346" name="Image 0" descr="Image 0"/>
          <p:cNvPicPr>
            <a:picLocks noChangeAspect="1"/>
          </p:cNvPicPr>
          <p:nvPr/>
        </p:nvPicPr>
        <p:blipFill>
          <a:blip r:embed="rId2"/>
          <a:stretch>
            <a:fillRect/>
          </a:stretch>
        </p:blipFill>
        <p:spPr>
          <a:xfrm>
            <a:off x="661492" y="2352278"/>
            <a:ext cx="2540001" cy="1569840"/>
          </a:xfrm>
          <a:prstGeom prst="rect">
            <a:avLst/>
          </a:prstGeom>
          <a:ln w="12700">
            <a:miter lim="400000"/>
          </a:ln>
        </p:spPr>
      </p:pic>
      <p:sp>
        <p:nvSpPr>
          <p:cNvPr id="3347" name="Text 1"/>
          <p:cNvSpPr txBox="1"/>
          <p:nvPr/>
        </p:nvSpPr>
        <p:spPr>
          <a:xfrm>
            <a:off x="661491" y="4158356"/>
            <a:ext cx="2202526"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Record Immediately</a:t>
            </a:r>
          </a:p>
        </p:txBody>
      </p:sp>
      <p:sp>
        <p:nvSpPr>
          <p:cNvPr id="3348" name="Text 2"/>
          <p:cNvSpPr txBox="1"/>
          <p:nvPr/>
        </p:nvSpPr>
        <p:spPr>
          <a:xfrm>
            <a:off x="661492" y="4567039"/>
            <a:ext cx="2540001" cy="10466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100">
                <a:latin typeface="Inter"/>
                <a:ea typeface="Inter"/>
                <a:cs typeface="Inter"/>
                <a:sym typeface="Inter"/>
              </a:defRPr>
            </a:lvl1pPr>
          </a:lstStyle>
          <a:p>
            <a:r>
              <a:rPr sz="1750"/>
              <a:t>Don't rely on memory - write down observations right away.</a:t>
            </a:r>
          </a:p>
        </p:txBody>
      </p:sp>
      <p:pic>
        <p:nvPicPr>
          <p:cNvPr id="3349" name="Image 1" descr="Image 1"/>
          <p:cNvPicPr>
            <a:picLocks noChangeAspect="1"/>
          </p:cNvPicPr>
          <p:nvPr/>
        </p:nvPicPr>
        <p:blipFill>
          <a:blip r:embed="rId3"/>
          <a:stretch>
            <a:fillRect/>
          </a:stretch>
        </p:blipFill>
        <p:spPr>
          <a:xfrm>
            <a:off x="3437732" y="2352278"/>
            <a:ext cx="2540100" cy="1569840"/>
          </a:xfrm>
          <a:prstGeom prst="rect">
            <a:avLst/>
          </a:prstGeom>
          <a:ln w="12700">
            <a:miter lim="400000"/>
          </a:ln>
        </p:spPr>
      </p:pic>
      <p:sp>
        <p:nvSpPr>
          <p:cNvPr id="3350" name="Text 3"/>
          <p:cNvSpPr txBox="1"/>
          <p:nvPr/>
        </p:nvSpPr>
        <p:spPr>
          <a:xfrm>
            <a:off x="3437732" y="4158356"/>
            <a:ext cx="2540100" cy="6590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Use Standardized Forms</a:t>
            </a:r>
          </a:p>
        </p:txBody>
      </p:sp>
      <p:sp>
        <p:nvSpPr>
          <p:cNvPr id="3351" name="Text 4"/>
          <p:cNvSpPr txBox="1"/>
          <p:nvPr/>
        </p:nvSpPr>
        <p:spPr>
          <a:xfrm>
            <a:off x="3437732" y="4862314"/>
            <a:ext cx="2540100" cy="6875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100">
                <a:latin typeface="Inter"/>
                <a:ea typeface="Inter"/>
                <a:cs typeface="Inter"/>
                <a:sym typeface="Inter"/>
              </a:defRPr>
            </a:lvl1pPr>
          </a:lstStyle>
          <a:p>
            <a:r>
              <a:rPr sz="1750"/>
              <a:t>Create consistent templates for data collection.</a:t>
            </a:r>
          </a:p>
        </p:txBody>
      </p:sp>
      <p:pic>
        <p:nvPicPr>
          <p:cNvPr id="3352" name="Image 2" descr="Image 2"/>
          <p:cNvPicPr>
            <a:picLocks noChangeAspect="1"/>
          </p:cNvPicPr>
          <p:nvPr/>
        </p:nvPicPr>
        <p:blipFill>
          <a:blip r:embed="rId4"/>
          <a:stretch>
            <a:fillRect/>
          </a:stretch>
        </p:blipFill>
        <p:spPr>
          <a:xfrm>
            <a:off x="6214070" y="2352278"/>
            <a:ext cx="2540100" cy="1569840"/>
          </a:xfrm>
          <a:prstGeom prst="rect">
            <a:avLst/>
          </a:prstGeom>
          <a:ln w="12700">
            <a:miter lim="400000"/>
          </a:ln>
        </p:spPr>
      </p:pic>
      <p:sp>
        <p:nvSpPr>
          <p:cNvPr id="3353" name="Text 5"/>
          <p:cNvSpPr txBox="1"/>
          <p:nvPr/>
        </p:nvSpPr>
        <p:spPr>
          <a:xfrm>
            <a:off x="6214070" y="4158356"/>
            <a:ext cx="2063065"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Document Visually</a:t>
            </a:r>
          </a:p>
        </p:txBody>
      </p:sp>
      <p:sp>
        <p:nvSpPr>
          <p:cNvPr id="3354" name="Text 6"/>
          <p:cNvSpPr txBox="1"/>
          <p:nvPr/>
        </p:nvSpPr>
        <p:spPr>
          <a:xfrm>
            <a:off x="6214070" y="4567039"/>
            <a:ext cx="2540100" cy="6875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100">
                <a:latin typeface="Inter"/>
                <a:ea typeface="Inter"/>
                <a:cs typeface="Inter"/>
                <a:sym typeface="Inter"/>
              </a:defRPr>
            </a:lvl1pPr>
          </a:lstStyle>
          <a:p>
            <a:r>
              <a:rPr sz="1750"/>
              <a:t>Take photos or videos when appropriate.</a:t>
            </a:r>
          </a:p>
        </p:txBody>
      </p:sp>
      <p:pic>
        <p:nvPicPr>
          <p:cNvPr id="3355" name="Image 3" descr="Image 3"/>
          <p:cNvPicPr>
            <a:picLocks noChangeAspect="1"/>
          </p:cNvPicPr>
          <p:nvPr/>
        </p:nvPicPr>
        <p:blipFill>
          <a:blip r:embed="rId5"/>
          <a:stretch>
            <a:fillRect/>
          </a:stretch>
        </p:blipFill>
        <p:spPr>
          <a:xfrm>
            <a:off x="8990409" y="2352278"/>
            <a:ext cx="2540100" cy="1569840"/>
          </a:xfrm>
          <a:prstGeom prst="rect">
            <a:avLst/>
          </a:prstGeom>
          <a:ln w="12700">
            <a:miter lim="400000"/>
          </a:ln>
        </p:spPr>
      </p:pic>
      <p:sp>
        <p:nvSpPr>
          <p:cNvPr id="3356" name="Text 7"/>
          <p:cNvSpPr txBox="1"/>
          <p:nvPr/>
        </p:nvSpPr>
        <p:spPr>
          <a:xfrm>
            <a:off x="8990409" y="4158356"/>
            <a:ext cx="2042226"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Back Up Your Data</a:t>
            </a:r>
          </a:p>
        </p:txBody>
      </p:sp>
      <p:sp>
        <p:nvSpPr>
          <p:cNvPr id="3357" name="Text 8"/>
          <p:cNvSpPr txBox="1"/>
          <p:nvPr/>
        </p:nvSpPr>
        <p:spPr>
          <a:xfrm>
            <a:off x="8990409" y="4567039"/>
            <a:ext cx="2540100" cy="6875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100">
                <a:latin typeface="Inter"/>
                <a:ea typeface="Inter"/>
                <a:cs typeface="Inter"/>
                <a:sym typeface="Inter"/>
              </a:defRPr>
            </a:lvl1pPr>
          </a:lstStyle>
          <a:p>
            <a:r>
              <a:rPr sz="1750"/>
              <a:t>Keep multiple copies in different locations.</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9" name="Text 0"/>
          <p:cNvSpPr txBox="1"/>
          <p:nvPr/>
        </p:nvSpPr>
        <p:spPr>
          <a:xfrm>
            <a:off x="1111767" y="1134241"/>
            <a:ext cx="670536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Tools We Use To Work on Data</a:t>
            </a:r>
          </a:p>
        </p:txBody>
      </p:sp>
      <p:sp>
        <p:nvSpPr>
          <p:cNvPr id="3360" name="Some common tools make it easier to spot patterns, test ideas, and share results with others. These include:…"/>
          <p:cNvSpPr txBox="1"/>
          <p:nvPr/>
        </p:nvSpPr>
        <p:spPr>
          <a:xfrm>
            <a:off x="1126043" y="2077379"/>
            <a:ext cx="9697584" cy="4366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pPr defTabSz="380985">
              <a:lnSpc>
                <a:spcPct val="115000"/>
              </a:lnSpc>
              <a:spcBef>
                <a:spcPts val="833"/>
              </a:spcBef>
              <a:defRPr sz="2400">
                <a:uFill>
                  <a:solidFill>
                    <a:srgbClr val="000000"/>
                  </a:solidFill>
                </a:uFill>
                <a:latin typeface="Arial"/>
                <a:ea typeface="Arial"/>
                <a:cs typeface="Arial"/>
                <a:sym typeface="Arial"/>
              </a:defRPr>
            </a:pPr>
            <a:r>
              <a:rPr sz="2000"/>
              <a:t>Some common tools make it easier to spot patterns, test ideas, and share results with others. These include: </a:t>
            </a:r>
          </a:p>
          <a:p>
            <a:pPr marL="183808" indent="-183808" defTabSz="380985">
              <a:lnSpc>
                <a:spcPct val="115000"/>
              </a:lnSpc>
              <a:spcBef>
                <a:spcPts val="833"/>
              </a:spcBef>
              <a:buSzPct val="100000"/>
              <a:buChar char="•"/>
              <a:defRPr sz="2400">
                <a:uFill>
                  <a:solidFill>
                    <a:srgbClr val="000000"/>
                  </a:solidFill>
                </a:uFill>
                <a:latin typeface="Arial"/>
                <a:ea typeface="Arial"/>
                <a:cs typeface="Arial"/>
                <a:sym typeface="Arial"/>
              </a:defRPr>
            </a:pPr>
            <a:r>
              <a:rPr sz="2000" b="1"/>
              <a:t>Statistics software</a:t>
            </a:r>
            <a:r>
              <a:rPr sz="2000"/>
              <a:t> to run analyses, </a:t>
            </a:r>
          </a:p>
          <a:p>
            <a:pPr marL="818782" lvl="2" indent="-183808" defTabSz="380985">
              <a:lnSpc>
                <a:spcPct val="115000"/>
              </a:lnSpc>
              <a:spcBef>
                <a:spcPts val="833"/>
              </a:spcBef>
              <a:buSzPct val="100000"/>
              <a:buChar char="•"/>
              <a:defRPr sz="2400">
                <a:uFill>
                  <a:solidFill>
                    <a:srgbClr val="000000"/>
                  </a:solidFill>
                </a:uFill>
                <a:latin typeface="Arial"/>
                <a:ea typeface="Arial"/>
                <a:cs typeface="Arial"/>
                <a:sym typeface="Arial"/>
              </a:defRPr>
            </a:pPr>
            <a:r>
              <a:rPr sz="2000" b="1"/>
              <a:t>SPSS</a:t>
            </a:r>
            <a:r>
              <a:rPr sz="2000"/>
              <a:t> (Statistical Package for the Social Sciences) or </a:t>
            </a:r>
            <a:r>
              <a:rPr sz="2000" b="1"/>
              <a:t>R</a:t>
            </a:r>
            <a:r>
              <a:rPr sz="2000"/>
              <a:t>, both of which are used in academic research and professional fields to run complex calculations, such as correlations or regressions</a:t>
            </a:r>
          </a:p>
          <a:p>
            <a:pPr marL="183808" indent="-183808" defTabSz="380985">
              <a:lnSpc>
                <a:spcPct val="115000"/>
              </a:lnSpc>
              <a:spcBef>
                <a:spcPts val="833"/>
              </a:spcBef>
              <a:buSzPct val="100000"/>
              <a:buChar char="•"/>
              <a:defRPr sz="2400">
                <a:uFill>
                  <a:solidFill>
                    <a:srgbClr val="000000"/>
                  </a:solidFill>
                </a:uFill>
                <a:latin typeface="Arial"/>
                <a:ea typeface="Arial"/>
                <a:cs typeface="Arial"/>
                <a:sym typeface="Arial"/>
              </a:defRPr>
            </a:pPr>
            <a:r>
              <a:rPr sz="2000" b="1"/>
              <a:t>Charts or visuals </a:t>
            </a:r>
            <a:r>
              <a:rPr sz="2000"/>
              <a:t>to help others understand what the data shows. Data visualization tools such as Canva or Tableau can assist us in creating informative visuals. </a:t>
            </a:r>
          </a:p>
          <a:p>
            <a:pPr marL="183808" indent="-183808" defTabSz="380985">
              <a:lnSpc>
                <a:spcPct val="115000"/>
              </a:lnSpc>
              <a:spcBef>
                <a:spcPts val="833"/>
              </a:spcBef>
              <a:buSzPct val="100000"/>
              <a:buChar char="•"/>
              <a:defRPr sz="2400">
                <a:uFill>
                  <a:solidFill>
                    <a:srgbClr val="000000"/>
                  </a:solidFill>
                </a:uFill>
                <a:latin typeface="Arial"/>
                <a:ea typeface="Arial"/>
                <a:cs typeface="Arial"/>
                <a:sym typeface="Arial"/>
              </a:defRPr>
            </a:pPr>
            <a:r>
              <a:rPr sz="2000" b="1"/>
              <a:t>Excel, Google Sheets</a:t>
            </a:r>
            <a:r>
              <a:rPr sz="2000"/>
              <a:t>, </a:t>
            </a:r>
            <a:r>
              <a:rPr sz="2000" b="1"/>
              <a:t>Numbers</a:t>
            </a:r>
            <a:r>
              <a:rPr sz="2000"/>
              <a:t> (on Mac) allow us to make simple statistical calculations, make tables, sort data, and create graphs. Let’s take a look. </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62" name="Google Shape;185;p4" descr="Google Shape;185;p4"/>
          <p:cNvPicPr>
            <a:picLocks noChangeAspect="1"/>
          </p:cNvPicPr>
          <p:nvPr/>
        </p:nvPicPr>
        <p:blipFill>
          <a:blip r:embed="rId2"/>
          <a:stretch>
            <a:fillRect/>
          </a:stretch>
        </p:blipFill>
        <p:spPr>
          <a:xfrm>
            <a:off x="0" y="0"/>
            <a:ext cx="4155908" cy="6233863"/>
          </a:xfrm>
          <a:prstGeom prst="rect">
            <a:avLst/>
          </a:prstGeom>
          <a:ln w="12700">
            <a:miter lim="400000"/>
          </a:ln>
        </p:spPr>
      </p:pic>
      <p:sp>
        <p:nvSpPr>
          <p:cNvPr id="3363" name="Google Shape;186;p4"/>
          <p:cNvSpPr txBox="1"/>
          <p:nvPr/>
        </p:nvSpPr>
        <p:spPr>
          <a:xfrm>
            <a:off x="5233491" y="1046460"/>
            <a:ext cx="6297018"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Tables</a:t>
            </a:r>
          </a:p>
        </p:txBody>
      </p:sp>
      <p:sp>
        <p:nvSpPr>
          <p:cNvPr id="3364" name="Google Shape;187;p4"/>
          <p:cNvSpPr txBox="1"/>
          <p:nvPr/>
        </p:nvSpPr>
        <p:spPr>
          <a:xfrm>
            <a:off x="5233491" y="2169439"/>
            <a:ext cx="6297018" cy="866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2200">
                <a:latin typeface="Inter"/>
                <a:ea typeface="Inter"/>
                <a:cs typeface="Inter"/>
                <a:sym typeface="Inter"/>
              </a:defRPr>
            </a:lvl1pPr>
          </a:lstStyle>
          <a:p>
            <a:r>
              <a:rPr sz="1833"/>
              <a:t>Tables arrange data in rows and columns, making information clear at a glance.</a:t>
            </a:r>
          </a:p>
        </p:txBody>
      </p:sp>
      <p:sp>
        <p:nvSpPr>
          <p:cNvPr id="3365" name="Google Shape;188;p4"/>
          <p:cNvSpPr/>
          <p:nvPr/>
        </p:nvSpPr>
        <p:spPr>
          <a:xfrm>
            <a:off x="5233491" y="3328690"/>
            <a:ext cx="6297018" cy="2482851"/>
          </a:xfrm>
          <a:prstGeom prst="roundRect">
            <a:avLst>
              <a:gd name="adj" fmla="val 3198"/>
            </a:avLst>
          </a:prstGeom>
          <a:ln>
            <a:solidFill>
              <a:srgbClr val="000000">
                <a:alpha val="7842"/>
              </a:srgbClr>
            </a:solidFill>
          </a:ln>
        </p:spPr>
        <p:txBody>
          <a:bodyPr lIns="0" tIns="0" rIns="0" bIns="0"/>
          <a:lstStyle/>
          <a:p>
            <a:pPr>
              <a:defRPr>
                <a:latin typeface="Arial"/>
                <a:ea typeface="Arial"/>
                <a:cs typeface="Arial"/>
                <a:sym typeface="Arial"/>
              </a:defRPr>
            </a:pPr>
            <a:endParaRPr sz="1500"/>
          </a:p>
        </p:txBody>
      </p:sp>
      <p:sp>
        <p:nvSpPr>
          <p:cNvPr id="3366" name="Google Shape;189;p4"/>
          <p:cNvSpPr/>
          <p:nvPr/>
        </p:nvSpPr>
        <p:spPr>
          <a:xfrm>
            <a:off x="5239841" y="3335039"/>
            <a:ext cx="6284318" cy="84435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367" name="Google Shape;190;p4"/>
          <p:cNvSpPr txBox="1"/>
          <p:nvPr/>
        </p:nvSpPr>
        <p:spPr>
          <a:xfrm>
            <a:off x="5429052" y="3454796"/>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Student</a:t>
            </a:r>
          </a:p>
        </p:txBody>
      </p:sp>
      <p:sp>
        <p:nvSpPr>
          <p:cNvPr id="3368" name="Google Shape;191;p4"/>
          <p:cNvSpPr txBox="1"/>
          <p:nvPr/>
        </p:nvSpPr>
        <p:spPr>
          <a:xfrm>
            <a:off x="7003256" y="3454796"/>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Math Score</a:t>
            </a:r>
          </a:p>
        </p:txBody>
      </p:sp>
      <p:sp>
        <p:nvSpPr>
          <p:cNvPr id="3369" name="Google Shape;192;p4"/>
          <p:cNvSpPr txBox="1"/>
          <p:nvPr/>
        </p:nvSpPr>
        <p:spPr>
          <a:xfrm>
            <a:off x="8574286" y="3454796"/>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Science Score</a:t>
            </a:r>
          </a:p>
        </p:txBody>
      </p:sp>
      <p:sp>
        <p:nvSpPr>
          <p:cNvPr id="3370" name="Google Shape;193;p4"/>
          <p:cNvSpPr txBox="1"/>
          <p:nvPr/>
        </p:nvSpPr>
        <p:spPr>
          <a:xfrm>
            <a:off x="10145316" y="3454796"/>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Reading Score</a:t>
            </a:r>
          </a:p>
        </p:txBody>
      </p:sp>
      <p:sp>
        <p:nvSpPr>
          <p:cNvPr id="3371" name="Google Shape;194;p4"/>
          <p:cNvSpPr/>
          <p:nvPr/>
        </p:nvSpPr>
        <p:spPr>
          <a:xfrm>
            <a:off x="5239841" y="4179391"/>
            <a:ext cx="6284318"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372" name="Google Shape;195;p4"/>
          <p:cNvSpPr txBox="1"/>
          <p:nvPr/>
        </p:nvSpPr>
        <p:spPr>
          <a:xfrm>
            <a:off x="5429052" y="4299149"/>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Alex</a:t>
            </a:r>
          </a:p>
        </p:txBody>
      </p:sp>
      <p:sp>
        <p:nvSpPr>
          <p:cNvPr id="3373" name="Google Shape;196;p4"/>
          <p:cNvSpPr txBox="1"/>
          <p:nvPr/>
        </p:nvSpPr>
        <p:spPr>
          <a:xfrm>
            <a:off x="7003256" y="4299149"/>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85</a:t>
            </a:r>
          </a:p>
        </p:txBody>
      </p:sp>
      <p:sp>
        <p:nvSpPr>
          <p:cNvPr id="3374" name="Google Shape;197;p4"/>
          <p:cNvSpPr txBox="1"/>
          <p:nvPr/>
        </p:nvSpPr>
        <p:spPr>
          <a:xfrm>
            <a:off x="8574286" y="4299149"/>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92</a:t>
            </a:r>
          </a:p>
        </p:txBody>
      </p:sp>
      <p:sp>
        <p:nvSpPr>
          <p:cNvPr id="3375" name="Google Shape;198;p4"/>
          <p:cNvSpPr txBox="1"/>
          <p:nvPr/>
        </p:nvSpPr>
        <p:spPr>
          <a:xfrm>
            <a:off x="10145316" y="4299149"/>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78</a:t>
            </a:r>
          </a:p>
        </p:txBody>
      </p:sp>
      <p:sp>
        <p:nvSpPr>
          <p:cNvPr id="3376" name="Google Shape;199;p4"/>
          <p:cNvSpPr/>
          <p:nvPr/>
        </p:nvSpPr>
        <p:spPr>
          <a:xfrm>
            <a:off x="5239841" y="4721324"/>
            <a:ext cx="6284318"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377" name="Google Shape;200;p4"/>
          <p:cNvSpPr txBox="1"/>
          <p:nvPr/>
        </p:nvSpPr>
        <p:spPr>
          <a:xfrm>
            <a:off x="5429052" y="4841082"/>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Jamie</a:t>
            </a:r>
          </a:p>
        </p:txBody>
      </p:sp>
      <p:sp>
        <p:nvSpPr>
          <p:cNvPr id="3378" name="Google Shape;201;p4"/>
          <p:cNvSpPr txBox="1"/>
          <p:nvPr/>
        </p:nvSpPr>
        <p:spPr>
          <a:xfrm>
            <a:off x="7003256" y="4841082"/>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92</a:t>
            </a:r>
          </a:p>
        </p:txBody>
      </p:sp>
      <p:sp>
        <p:nvSpPr>
          <p:cNvPr id="3379" name="Google Shape;202;p4"/>
          <p:cNvSpPr txBox="1"/>
          <p:nvPr/>
        </p:nvSpPr>
        <p:spPr>
          <a:xfrm>
            <a:off x="8574286" y="4841082"/>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88</a:t>
            </a:r>
          </a:p>
        </p:txBody>
      </p:sp>
      <p:sp>
        <p:nvSpPr>
          <p:cNvPr id="3380" name="Google Shape;203;p4"/>
          <p:cNvSpPr txBox="1"/>
          <p:nvPr/>
        </p:nvSpPr>
        <p:spPr>
          <a:xfrm>
            <a:off x="10145316" y="4841082"/>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95</a:t>
            </a:r>
          </a:p>
        </p:txBody>
      </p:sp>
      <p:sp>
        <p:nvSpPr>
          <p:cNvPr id="3381" name="Google Shape;204;p4"/>
          <p:cNvSpPr/>
          <p:nvPr/>
        </p:nvSpPr>
        <p:spPr>
          <a:xfrm>
            <a:off x="5239841" y="5263256"/>
            <a:ext cx="6284318"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382" name="Google Shape;205;p4"/>
          <p:cNvSpPr txBox="1"/>
          <p:nvPr/>
        </p:nvSpPr>
        <p:spPr>
          <a:xfrm>
            <a:off x="5429052" y="5383014"/>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Taylor</a:t>
            </a:r>
          </a:p>
        </p:txBody>
      </p:sp>
      <p:sp>
        <p:nvSpPr>
          <p:cNvPr id="3383" name="Google Shape;206;p4"/>
          <p:cNvSpPr txBox="1"/>
          <p:nvPr/>
        </p:nvSpPr>
        <p:spPr>
          <a:xfrm>
            <a:off x="7003256" y="5383014"/>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78</a:t>
            </a:r>
          </a:p>
        </p:txBody>
      </p:sp>
      <p:sp>
        <p:nvSpPr>
          <p:cNvPr id="3384" name="Google Shape;207;p4"/>
          <p:cNvSpPr txBox="1"/>
          <p:nvPr/>
        </p:nvSpPr>
        <p:spPr>
          <a:xfrm>
            <a:off x="8574286" y="5383014"/>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85</a:t>
            </a:r>
          </a:p>
        </p:txBody>
      </p:sp>
      <p:sp>
        <p:nvSpPr>
          <p:cNvPr id="3385" name="Google Shape;208;p4"/>
          <p:cNvSpPr txBox="1"/>
          <p:nvPr/>
        </p:nvSpPr>
        <p:spPr>
          <a:xfrm>
            <a:off x="10145316" y="5383014"/>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90</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7" name="Google Shape;185;p4" descr="Google Shape;185;p4"/>
          <p:cNvPicPr>
            <a:picLocks noChangeAspect="1"/>
          </p:cNvPicPr>
          <p:nvPr/>
        </p:nvPicPr>
        <p:blipFill>
          <a:blip r:embed="rId2"/>
          <a:stretch>
            <a:fillRect/>
          </a:stretch>
        </p:blipFill>
        <p:spPr>
          <a:xfrm>
            <a:off x="0" y="0"/>
            <a:ext cx="4155908" cy="6233863"/>
          </a:xfrm>
          <a:prstGeom prst="rect">
            <a:avLst/>
          </a:prstGeom>
          <a:ln w="12700">
            <a:miter lim="400000"/>
          </a:ln>
        </p:spPr>
      </p:pic>
      <p:sp>
        <p:nvSpPr>
          <p:cNvPr id="3388" name="Google Shape;186;p4"/>
          <p:cNvSpPr txBox="1"/>
          <p:nvPr/>
        </p:nvSpPr>
        <p:spPr>
          <a:xfrm>
            <a:off x="5233491" y="1046460"/>
            <a:ext cx="6297018"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Tables</a:t>
            </a:r>
          </a:p>
        </p:txBody>
      </p:sp>
      <p:sp>
        <p:nvSpPr>
          <p:cNvPr id="3389" name="Google Shape;187;p4"/>
          <p:cNvSpPr txBox="1"/>
          <p:nvPr/>
        </p:nvSpPr>
        <p:spPr>
          <a:xfrm>
            <a:off x="5233491" y="2169439"/>
            <a:ext cx="6297018" cy="866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2200">
                <a:latin typeface="Inter"/>
                <a:ea typeface="Inter"/>
                <a:cs typeface="Inter"/>
                <a:sym typeface="Inter"/>
              </a:defRPr>
            </a:lvl1pPr>
          </a:lstStyle>
          <a:p>
            <a:r>
              <a:rPr sz="1833"/>
              <a:t>Tables arrange data in r___ and c____, making information c_____ at a glance.</a:t>
            </a:r>
          </a:p>
        </p:txBody>
      </p:sp>
      <p:sp>
        <p:nvSpPr>
          <p:cNvPr id="3390" name="Google Shape;188;p4"/>
          <p:cNvSpPr/>
          <p:nvPr/>
        </p:nvSpPr>
        <p:spPr>
          <a:xfrm>
            <a:off x="5233491" y="3328690"/>
            <a:ext cx="6297018" cy="2482851"/>
          </a:xfrm>
          <a:prstGeom prst="roundRect">
            <a:avLst>
              <a:gd name="adj" fmla="val 3198"/>
            </a:avLst>
          </a:prstGeom>
          <a:ln>
            <a:solidFill>
              <a:srgbClr val="000000">
                <a:alpha val="7842"/>
              </a:srgbClr>
            </a:solidFill>
          </a:ln>
        </p:spPr>
        <p:txBody>
          <a:bodyPr lIns="0" tIns="0" rIns="0" bIns="0"/>
          <a:lstStyle/>
          <a:p>
            <a:pPr>
              <a:defRPr>
                <a:latin typeface="Arial"/>
                <a:ea typeface="Arial"/>
                <a:cs typeface="Arial"/>
                <a:sym typeface="Arial"/>
              </a:defRPr>
            </a:pPr>
            <a:endParaRPr sz="1500"/>
          </a:p>
        </p:txBody>
      </p:sp>
      <p:sp>
        <p:nvSpPr>
          <p:cNvPr id="3391" name="Google Shape;189;p4"/>
          <p:cNvSpPr/>
          <p:nvPr/>
        </p:nvSpPr>
        <p:spPr>
          <a:xfrm>
            <a:off x="5239841" y="3335039"/>
            <a:ext cx="6284318" cy="84435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392" name="Google Shape;190;p4"/>
          <p:cNvSpPr txBox="1"/>
          <p:nvPr/>
        </p:nvSpPr>
        <p:spPr>
          <a:xfrm>
            <a:off x="5429052" y="3454796"/>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Student</a:t>
            </a:r>
          </a:p>
        </p:txBody>
      </p:sp>
      <p:sp>
        <p:nvSpPr>
          <p:cNvPr id="3393" name="Google Shape;191;p4"/>
          <p:cNvSpPr txBox="1"/>
          <p:nvPr/>
        </p:nvSpPr>
        <p:spPr>
          <a:xfrm>
            <a:off x="7003256" y="3454796"/>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Math Score</a:t>
            </a:r>
          </a:p>
        </p:txBody>
      </p:sp>
      <p:sp>
        <p:nvSpPr>
          <p:cNvPr id="3394" name="Google Shape;192;p4"/>
          <p:cNvSpPr txBox="1"/>
          <p:nvPr/>
        </p:nvSpPr>
        <p:spPr>
          <a:xfrm>
            <a:off x="8574286" y="3454796"/>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Science Score</a:t>
            </a:r>
          </a:p>
        </p:txBody>
      </p:sp>
      <p:sp>
        <p:nvSpPr>
          <p:cNvPr id="3395" name="Google Shape;193;p4"/>
          <p:cNvSpPr txBox="1"/>
          <p:nvPr/>
        </p:nvSpPr>
        <p:spPr>
          <a:xfrm>
            <a:off x="10145316" y="3454796"/>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Reading Score</a:t>
            </a:r>
          </a:p>
        </p:txBody>
      </p:sp>
      <p:sp>
        <p:nvSpPr>
          <p:cNvPr id="3396" name="Google Shape;194;p4"/>
          <p:cNvSpPr/>
          <p:nvPr/>
        </p:nvSpPr>
        <p:spPr>
          <a:xfrm>
            <a:off x="5239841" y="4179391"/>
            <a:ext cx="6284318"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397" name="Google Shape;195;p4"/>
          <p:cNvSpPr txBox="1"/>
          <p:nvPr/>
        </p:nvSpPr>
        <p:spPr>
          <a:xfrm>
            <a:off x="5429052" y="4299149"/>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Alex</a:t>
            </a:r>
          </a:p>
        </p:txBody>
      </p:sp>
      <p:sp>
        <p:nvSpPr>
          <p:cNvPr id="3398" name="Google Shape;196;p4"/>
          <p:cNvSpPr txBox="1"/>
          <p:nvPr/>
        </p:nvSpPr>
        <p:spPr>
          <a:xfrm>
            <a:off x="7003256" y="4299149"/>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85</a:t>
            </a:r>
          </a:p>
        </p:txBody>
      </p:sp>
      <p:sp>
        <p:nvSpPr>
          <p:cNvPr id="3399" name="Google Shape;197;p4"/>
          <p:cNvSpPr txBox="1"/>
          <p:nvPr/>
        </p:nvSpPr>
        <p:spPr>
          <a:xfrm>
            <a:off x="8574286" y="4299149"/>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92</a:t>
            </a:r>
          </a:p>
        </p:txBody>
      </p:sp>
      <p:sp>
        <p:nvSpPr>
          <p:cNvPr id="3400" name="Google Shape;198;p4"/>
          <p:cNvSpPr txBox="1"/>
          <p:nvPr/>
        </p:nvSpPr>
        <p:spPr>
          <a:xfrm>
            <a:off x="10145316" y="4299149"/>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78</a:t>
            </a:r>
          </a:p>
        </p:txBody>
      </p:sp>
      <p:sp>
        <p:nvSpPr>
          <p:cNvPr id="3401" name="Google Shape;199;p4"/>
          <p:cNvSpPr/>
          <p:nvPr/>
        </p:nvSpPr>
        <p:spPr>
          <a:xfrm>
            <a:off x="5239841" y="4721324"/>
            <a:ext cx="6284318"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02" name="Google Shape;200;p4"/>
          <p:cNvSpPr txBox="1"/>
          <p:nvPr/>
        </p:nvSpPr>
        <p:spPr>
          <a:xfrm>
            <a:off x="5429052" y="4841082"/>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Jamie</a:t>
            </a:r>
          </a:p>
        </p:txBody>
      </p:sp>
      <p:sp>
        <p:nvSpPr>
          <p:cNvPr id="3403" name="Google Shape;201;p4"/>
          <p:cNvSpPr txBox="1"/>
          <p:nvPr/>
        </p:nvSpPr>
        <p:spPr>
          <a:xfrm>
            <a:off x="7003256" y="4841082"/>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92</a:t>
            </a:r>
          </a:p>
        </p:txBody>
      </p:sp>
      <p:sp>
        <p:nvSpPr>
          <p:cNvPr id="3404" name="Google Shape;202;p4"/>
          <p:cNvSpPr txBox="1"/>
          <p:nvPr/>
        </p:nvSpPr>
        <p:spPr>
          <a:xfrm>
            <a:off x="8574286" y="4841082"/>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88</a:t>
            </a:r>
          </a:p>
        </p:txBody>
      </p:sp>
      <p:sp>
        <p:nvSpPr>
          <p:cNvPr id="3405" name="Google Shape;203;p4"/>
          <p:cNvSpPr txBox="1"/>
          <p:nvPr/>
        </p:nvSpPr>
        <p:spPr>
          <a:xfrm>
            <a:off x="10145316" y="4841082"/>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95</a:t>
            </a:r>
          </a:p>
        </p:txBody>
      </p:sp>
      <p:sp>
        <p:nvSpPr>
          <p:cNvPr id="3406" name="Google Shape;204;p4"/>
          <p:cNvSpPr/>
          <p:nvPr/>
        </p:nvSpPr>
        <p:spPr>
          <a:xfrm>
            <a:off x="5239841" y="5263256"/>
            <a:ext cx="6284318"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07" name="Google Shape;205;p4"/>
          <p:cNvSpPr txBox="1"/>
          <p:nvPr/>
        </p:nvSpPr>
        <p:spPr>
          <a:xfrm>
            <a:off x="5429052" y="5383014"/>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Taylor</a:t>
            </a:r>
          </a:p>
        </p:txBody>
      </p:sp>
      <p:sp>
        <p:nvSpPr>
          <p:cNvPr id="3408" name="Google Shape;206;p4"/>
          <p:cNvSpPr txBox="1"/>
          <p:nvPr/>
        </p:nvSpPr>
        <p:spPr>
          <a:xfrm>
            <a:off x="7003256" y="5383014"/>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78</a:t>
            </a:r>
          </a:p>
        </p:txBody>
      </p:sp>
      <p:sp>
        <p:nvSpPr>
          <p:cNvPr id="3409" name="Google Shape;207;p4"/>
          <p:cNvSpPr txBox="1"/>
          <p:nvPr/>
        </p:nvSpPr>
        <p:spPr>
          <a:xfrm>
            <a:off x="8574286" y="5383014"/>
            <a:ext cx="1186657"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85</a:t>
            </a:r>
          </a:p>
        </p:txBody>
      </p:sp>
      <p:sp>
        <p:nvSpPr>
          <p:cNvPr id="3410" name="Google Shape;208;p4"/>
          <p:cNvSpPr txBox="1"/>
          <p:nvPr/>
        </p:nvSpPr>
        <p:spPr>
          <a:xfrm>
            <a:off x="10145316" y="5383014"/>
            <a:ext cx="1189833"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90</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2" name="Google Shape;214;p5"/>
          <p:cNvSpPr txBox="1"/>
          <p:nvPr/>
        </p:nvSpPr>
        <p:spPr>
          <a:xfrm>
            <a:off x="661492" y="1418134"/>
            <a:ext cx="10351674"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Tally Charts: Counting Made Simple</a:t>
            </a:r>
          </a:p>
        </p:txBody>
      </p:sp>
      <p:sp>
        <p:nvSpPr>
          <p:cNvPr id="3413" name="Google Shape;215;p5"/>
          <p:cNvSpPr txBox="1"/>
          <p:nvPr/>
        </p:nvSpPr>
        <p:spPr>
          <a:xfrm>
            <a:off x="661491" y="2462311"/>
            <a:ext cx="5203926"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Tally charts record f___________ with marks grouped in sets of f________.</a:t>
            </a:r>
          </a:p>
        </p:txBody>
      </p:sp>
      <p:sp>
        <p:nvSpPr>
          <p:cNvPr id="3414" name="Google Shape;216;p5"/>
          <p:cNvSpPr txBox="1"/>
          <p:nvPr/>
        </p:nvSpPr>
        <p:spPr>
          <a:xfrm>
            <a:off x="661491" y="3237211"/>
            <a:ext cx="5203926"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Perfect for counting observations in real time without losing track.</a:t>
            </a:r>
          </a:p>
        </p:txBody>
      </p:sp>
      <p:sp>
        <p:nvSpPr>
          <p:cNvPr id="3415" name="Google Shape;217;p5"/>
          <p:cNvSpPr txBox="1"/>
          <p:nvPr/>
        </p:nvSpPr>
        <p:spPr>
          <a:xfrm>
            <a:off x="661491" y="4012109"/>
            <a:ext cx="5203926"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Example: Counting how students commute to school.</a:t>
            </a:r>
          </a:p>
        </p:txBody>
      </p:sp>
      <p:sp>
        <p:nvSpPr>
          <p:cNvPr id="3416" name="Google Shape;218;p5"/>
          <p:cNvSpPr/>
          <p:nvPr/>
        </p:nvSpPr>
        <p:spPr>
          <a:xfrm>
            <a:off x="6332933" y="2504876"/>
            <a:ext cx="5203925" cy="2722366"/>
          </a:xfrm>
          <a:prstGeom prst="roundRect">
            <a:avLst>
              <a:gd name="adj" fmla="val 2916"/>
            </a:avLst>
          </a:prstGeom>
          <a:ln>
            <a:solidFill>
              <a:srgbClr val="000000">
                <a:alpha val="7842"/>
              </a:srgbClr>
            </a:solidFill>
          </a:ln>
        </p:spPr>
        <p:txBody>
          <a:bodyPr lIns="0" tIns="0" rIns="0" bIns="0"/>
          <a:lstStyle/>
          <a:p>
            <a:pPr>
              <a:defRPr>
                <a:latin typeface="Arial"/>
                <a:ea typeface="Arial"/>
                <a:cs typeface="Arial"/>
                <a:sym typeface="Arial"/>
              </a:defRPr>
            </a:pPr>
            <a:endParaRPr sz="1500"/>
          </a:p>
        </p:txBody>
      </p:sp>
      <p:sp>
        <p:nvSpPr>
          <p:cNvPr id="3417" name="Google Shape;219;p5"/>
          <p:cNvSpPr/>
          <p:nvPr/>
        </p:nvSpPr>
        <p:spPr>
          <a:xfrm>
            <a:off x="6339284" y="2511227"/>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18" name="Google Shape;220;p5"/>
          <p:cNvSpPr txBox="1"/>
          <p:nvPr/>
        </p:nvSpPr>
        <p:spPr>
          <a:xfrm>
            <a:off x="6528991" y="2630983"/>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Transportation</a:t>
            </a:r>
          </a:p>
        </p:txBody>
      </p:sp>
      <p:sp>
        <p:nvSpPr>
          <p:cNvPr id="3419" name="Google Shape;221;p5"/>
          <p:cNvSpPr txBox="1"/>
          <p:nvPr/>
        </p:nvSpPr>
        <p:spPr>
          <a:xfrm>
            <a:off x="8262145" y="2630983"/>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Tally</a:t>
            </a:r>
          </a:p>
        </p:txBody>
      </p:sp>
      <p:sp>
        <p:nvSpPr>
          <p:cNvPr id="3420" name="Google Shape;222;p5"/>
          <p:cNvSpPr txBox="1"/>
          <p:nvPr/>
        </p:nvSpPr>
        <p:spPr>
          <a:xfrm>
            <a:off x="9992121" y="2630983"/>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Total</a:t>
            </a:r>
          </a:p>
        </p:txBody>
      </p:sp>
      <p:sp>
        <p:nvSpPr>
          <p:cNvPr id="3421" name="Google Shape;223;p5"/>
          <p:cNvSpPr/>
          <p:nvPr/>
        </p:nvSpPr>
        <p:spPr>
          <a:xfrm>
            <a:off x="6339284" y="3053159"/>
            <a:ext cx="5190630"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22" name="Google Shape;224;p5"/>
          <p:cNvSpPr txBox="1"/>
          <p:nvPr/>
        </p:nvSpPr>
        <p:spPr>
          <a:xfrm>
            <a:off x="6528991" y="3172917"/>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Walking</a:t>
            </a:r>
          </a:p>
        </p:txBody>
      </p:sp>
      <p:sp>
        <p:nvSpPr>
          <p:cNvPr id="3423" name="Google Shape;225;p5"/>
          <p:cNvSpPr txBox="1"/>
          <p:nvPr/>
        </p:nvSpPr>
        <p:spPr>
          <a:xfrm>
            <a:off x="8262145" y="3172917"/>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IIII IIII II</a:t>
            </a:r>
          </a:p>
        </p:txBody>
      </p:sp>
      <p:sp>
        <p:nvSpPr>
          <p:cNvPr id="3424" name="Google Shape;226;p5"/>
          <p:cNvSpPr txBox="1"/>
          <p:nvPr/>
        </p:nvSpPr>
        <p:spPr>
          <a:xfrm>
            <a:off x="9992121" y="3172917"/>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12</a:t>
            </a:r>
          </a:p>
        </p:txBody>
      </p:sp>
      <p:sp>
        <p:nvSpPr>
          <p:cNvPr id="3425" name="Google Shape;227;p5"/>
          <p:cNvSpPr/>
          <p:nvPr/>
        </p:nvSpPr>
        <p:spPr>
          <a:xfrm>
            <a:off x="6339284" y="3595093"/>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26" name="Google Shape;228;p5"/>
          <p:cNvSpPr txBox="1"/>
          <p:nvPr/>
        </p:nvSpPr>
        <p:spPr>
          <a:xfrm>
            <a:off x="6528991" y="3714849"/>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Biking</a:t>
            </a:r>
          </a:p>
        </p:txBody>
      </p:sp>
      <p:sp>
        <p:nvSpPr>
          <p:cNvPr id="3427" name="Google Shape;229;p5"/>
          <p:cNvSpPr txBox="1"/>
          <p:nvPr/>
        </p:nvSpPr>
        <p:spPr>
          <a:xfrm>
            <a:off x="8262145" y="3714849"/>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IIII</a:t>
            </a:r>
          </a:p>
        </p:txBody>
      </p:sp>
      <p:sp>
        <p:nvSpPr>
          <p:cNvPr id="3428" name="Google Shape;230;p5"/>
          <p:cNvSpPr txBox="1"/>
          <p:nvPr/>
        </p:nvSpPr>
        <p:spPr>
          <a:xfrm>
            <a:off x="9992121" y="3714849"/>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5</a:t>
            </a:r>
          </a:p>
        </p:txBody>
      </p:sp>
      <p:sp>
        <p:nvSpPr>
          <p:cNvPr id="3429" name="Google Shape;231;p5"/>
          <p:cNvSpPr/>
          <p:nvPr/>
        </p:nvSpPr>
        <p:spPr>
          <a:xfrm>
            <a:off x="6339284" y="4137024"/>
            <a:ext cx="5190630"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30" name="Google Shape;232;p5"/>
          <p:cNvSpPr txBox="1"/>
          <p:nvPr/>
        </p:nvSpPr>
        <p:spPr>
          <a:xfrm>
            <a:off x="6528991" y="425678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Bus</a:t>
            </a:r>
          </a:p>
        </p:txBody>
      </p:sp>
      <p:sp>
        <p:nvSpPr>
          <p:cNvPr id="3431" name="Google Shape;233;p5"/>
          <p:cNvSpPr txBox="1"/>
          <p:nvPr/>
        </p:nvSpPr>
        <p:spPr>
          <a:xfrm>
            <a:off x="8262145" y="4256781"/>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IIII IIII</a:t>
            </a:r>
          </a:p>
        </p:txBody>
      </p:sp>
      <p:sp>
        <p:nvSpPr>
          <p:cNvPr id="3432" name="Google Shape;234;p5"/>
          <p:cNvSpPr txBox="1"/>
          <p:nvPr/>
        </p:nvSpPr>
        <p:spPr>
          <a:xfrm>
            <a:off x="9992121" y="425678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10</a:t>
            </a:r>
          </a:p>
        </p:txBody>
      </p:sp>
      <p:sp>
        <p:nvSpPr>
          <p:cNvPr id="3433" name="Google Shape;235;p5"/>
          <p:cNvSpPr/>
          <p:nvPr/>
        </p:nvSpPr>
        <p:spPr>
          <a:xfrm>
            <a:off x="6339284" y="4678958"/>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34" name="Google Shape;236;p5"/>
          <p:cNvSpPr txBox="1"/>
          <p:nvPr/>
        </p:nvSpPr>
        <p:spPr>
          <a:xfrm>
            <a:off x="6528991" y="4798715"/>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Car</a:t>
            </a:r>
          </a:p>
        </p:txBody>
      </p:sp>
      <p:sp>
        <p:nvSpPr>
          <p:cNvPr id="3435" name="Google Shape;237;p5"/>
          <p:cNvSpPr txBox="1"/>
          <p:nvPr/>
        </p:nvSpPr>
        <p:spPr>
          <a:xfrm>
            <a:off x="8262145" y="4798715"/>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IIII IIII IIII III</a:t>
            </a:r>
          </a:p>
        </p:txBody>
      </p:sp>
      <p:sp>
        <p:nvSpPr>
          <p:cNvPr id="3436" name="Google Shape;238;p5"/>
          <p:cNvSpPr txBox="1"/>
          <p:nvPr/>
        </p:nvSpPr>
        <p:spPr>
          <a:xfrm>
            <a:off x="9992121" y="4798715"/>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18</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8" name="Google Shape;214;p5"/>
          <p:cNvSpPr txBox="1"/>
          <p:nvPr/>
        </p:nvSpPr>
        <p:spPr>
          <a:xfrm>
            <a:off x="661492" y="1418134"/>
            <a:ext cx="10351674"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Tally Charts: Counting Made Simple</a:t>
            </a:r>
          </a:p>
        </p:txBody>
      </p:sp>
      <p:sp>
        <p:nvSpPr>
          <p:cNvPr id="3439" name="Google Shape;215;p5"/>
          <p:cNvSpPr txBox="1"/>
          <p:nvPr/>
        </p:nvSpPr>
        <p:spPr>
          <a:xfrm>
            <a:off x="661491" y="2462311"/>
            <a:ext cx="5203926"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Tally charts record frequencies with marks grouped in sets of five.</a:t>
            </a:r>
          </a:p>
        </p:txBody>
      </p:sp>
      <p:sp>
        <p:nvSpPr>
          <p:cNvPr id="3440" name="Google Shape;216;p5"/>
          <p:cNvSpPr txBox="1"/>
          <p:nvPr/>
        </p:nvSpPr>
        <p:spPr>
          <a:xfrm>
            <a:off x="661491" y="3237211"/>
            <a:ext cx="5203926"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Perfect for counting observations in real time without losing track.</a:t>
            </a:r>
          </a:p>
        </p:txBody>
      </p:sp>
      <p:sp>
        <p:nvSpPr>
          <p:cNvPr id="3441" name="Google Shape;217;p5"/>
          <p:cNvSpPr txBox="1"/>
          <p:nvPr/>
        </p:nvSpPr>
        <p:spPr>
          <a:xfrm>
            <a:off x="661491" y="4012109"/>
            <a:ext cx="5203926"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Example: Counting how students commute to school.</a:t>
            </a:r>
          </a:p>
        </p:txBody>
      </p:sp>
      <p:sp>
        <p:nvSpPr>
          <p:cNvPr id="3442" name="Google Shape;218;p5"/>
          <p:cNvSpPr/>
          <p:nvPr/>
        </p:nvSpPr>
        <p:spPr>
          <a:xfrm>
            <a:off x="6332933" y="2504876"/>
            <a:ext cx="5203925" cy="2722366"/>
          </a:xfrm>
          <a:prstGeom prst="roundRect">
            <a:avLst>
              <a:gd name="adj" fmla="val 2916"/>
            </a:avLst>
          </a:prstGeom>
          <a:ln>
            <a:solidFill>
              <a:srgbClr val="000000">
                <a:alpha val="7842"/>
              </a:srgbClr>
            </a:solidFill>
          </a:ln>
        </p:spPr>
        <p:txBody>
          <a:bodyPr lIns="0" tIns="0" rIns="0" bIns="0"/>
          <a:lstStyle/>
          <a:p>
            <a:pPr>
              <a:defRPr>
                <a:latin typeface="Arial"/>
                <a:ea typeface="Arial"/>
                <a:cs typeface="Arial"/>
                <a:sym typeface="Arial"/>
              </a:defRPr>
            </a:pPr>
            <a:endParaRPr sz="1500"/>
          </a:p>
        </p:txBody>
      </p:sp>
      <p:sp>
        <p:nvSpPr>
          <p:cNvPr id="3443" name="Google Shape;219;p5"/>
          <p:cNvSpPr/>
          <p:nvPr/>
        </p:nvSpPr>
        <p:spPr>
          <a:xfrm>
            <a:off x="6339284" y="2511227"/>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44" name="Google Shape;220;p5"/>
          <p:cNvSpPr txBox="1"/>
          <p:nvPr/>
        </p:nvSpPr>
        <p:spPr>
          <a:xfrm>
            <a:off x="6528991" y="2630983"/>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Transportation</a:t>
            </a:r>
          </a:p>
        </p:txBody>
      </p:sp>
      <p:sp>
        <p:nvSpPr>
          <p:cNvPr id="3445" name="Google Shape;221;p5"/>
          <p:cNvSpPr txBox="1"/>
          <p:nvPr/>
        </p:nvSpPr>
        <p:spPr>
          <a:xfrm>
            <a:off x="8262145" y="2630983"/>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Tally</a:t>
            </a:r>
          </a:p>
        </p:txBody>
      </p:sp>
      <p:sp>
        <p:nvSpPr>
          <p:cNvPr id="3446" name="Google Shape;222;p5"/>
          <p:cNvSpPr txBox="1"/>
          <p:nvPr/>
        </p:nvSpPr>
        <p:spPr>
          <a:xfrm>
            <a:off x="9992121" y="2630983"/>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Total</a:t>
            </a:r>
          </a:p>
        </p:txBody>
      </p:sp>
      <p:sp>
        <p:nvSpPr>
          <p:cNvPr id="3447" name="Google Shape;223;p5"/>
          <p:cNvSpPr/>
          <p:nvPr/>
        </p:nvSpPr>
        <p:spPr>
          <a:xfrm>
            <a:off x="6339284" y="3053159"/>
            <a:ext cx="5190630"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48" name="Google Shape;224;p5"/>
          <p:cNvSpPr txBox="1"/>
          <p:nvPr/>
        </p:nvSpPr>
        <p:spPr>
          <a:xfrm>
            <a:off x="6528991" y="3172917"/>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Walking</a:t>
            </a:r>
          </a:p>
        </p:txBody>
      </p:sp>
      <p:sp>
        <p:nvSpPr>
          <p:cNvPr id="3449" name="Google Shape;225;p5"/>
          <p:cNvSpPr txBox="1"/>
          <p:nvPr/>
        </p:nvSpPr>
        <p:spPr>
          <a:xfrm>
            <a:off x="8262145" y="3172917"/>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IIII IIII II</a:t>
            </a:r>
          </a:p>
        </p:txBody>
      </p:sp>
      <p:sp>
        <p:nvSpPr>
          <p:cNvPr id="3450" name="Google Shape;226;p5"/>
          <p:cNvSpPr txBox="1"/>
          <p:nvPr/>
        </p:nvSpPr>
        <p:spPr>
          <a:xfrm>
            <a:off x="9992121" y="3172917"/>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12</a:t>
            </a:r>
          </a:p>
        </p:txBody>
      </p:sp>
      <p:sp>
        <p:nvSpPr>
          <p:cNvPr id="3451" name="Google Shape;227;p5"/>
          <p:cNvSpPr/>
          <p:nvPr/>
        </p:nvSpPr>
        <p:spPr>
          <a:xfrm>
            <a:off x="6339284" y="3595093"/>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52" name="Google Shape;228;p5"/>
          <p:cNvSpPr txBox="1"/>
          <p:nvPr/>
        </p:nvSpPr>
        <p:spPr>
          <a:xfrm>
            <a:off x="6528991" y="3714849"/>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Biking</a:t>
            </a:r>
          </a:p>
        </p:txBody>
      </p:sp>
      <p:sp>
        <p:nvSpPr>
          <p:cNvPr id="3453" name="Google Shape;229;p5"/>
          <p:cNvSpPr txBox="1"/>
          <p:nvPr/>
        </p:nvSpPr>
        <p:spPr>
          <a:xfrm>
            <a:off x="8262145" y="3714849"/>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IIII</a:t>
            </a:r>
          </a:p>
        </p:txBody>
      </p:sp>
      <p:sp>
        <p:nvSpPr>
          <p:cNvPr id="3454" name="Google Shape;230;p5"/>
          <p:cNvSpPr txBox="1"/>
          <p:nvPr/>
        </p:nvSpPr>
        <p:spPr>
          <a:xfrm>
            <a:off x="9992121" y="3714849"/>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5</a:t>
            </a:r>
          </a:p>
        </p:txBody>
      </p:sp>
      <p:sp>
        <p:nvSpPr>
          <p:cNvPr id="3455" name="Google Shape;231;p5"/>
          <p:cNvSpPr/>
          <p:nvPr/>
        </p:nvSpPr>
        <p:spPr>
          <a:xfrm>
            <a:off x="6339284" y="4137024"/>
            <a:ext cx="5190630"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56" name="Google Shape;232;p5"/>
          <p:cNvSpPr txBox="1"/>
          <p:nvPr/>
        </p:nvSpPr>
        <p:spPr>
          <a:xfrm>
            <a:off x="6528991" y="425678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Bus</a:t>
            </a:r>
          </a:p>
        </p:txBody>
      </p:sp>
      <p:sp>
        <p:nvSpPr>
          <p:cNvPr id="3457" name="Google Shape;233;p5"/>
          <p:cNvSpPr txBox="1"/>
          <p:nvPr/>
        </p:nvSpPr>
        <p:spPr>
          <a:xfrm>
            <a:off x="8262145" y="4256781"/>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IIII IIII</a:t>
            </a:r>
          </a:p>
        </p:txBody>
      </p:sp>
      <p:sp>
        <p:nvSpPr>
          <p:cNvPr id="3458" name="Google Shape;234;p5"/>
          <p:cNvSpPr txBox="1"/>
          <p:nvPr/>
        </p:nvSpPr>
        <p:spPr>
          <a:xfrm>
            <a:off x="9992121" y="425678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10</a:t>
            </a:r>
          </a:p>
        </p:txBody>
      </p:sp>
      <p:sp>
        <p:nvSpPr>
          <p:cNvPr id="3459" name="Google Shape;235;p5"/>
          <p:cNvSpPr/>
          <p:nvPr/>
        </p:nvSpPr>
        <p:spPr>
          <a:xfrm>
            <a:off x="6339284" y="4678958"/>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60" name="Google Shape;236;p5"/>
          <p:cNvSpPr txBox="1"/>
          <p:nvPr/>
        </p:nvSpPr>
        <p:spPr>
          <a:xfrm>
            <a:off x="6528991" y="4798715"/>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Car</a:t>
            </a:r>
          </a:p>
        </p:txBody>
      </p:sp>
      <p:sp>
        <p:nvSpPr>
          <p:cNvPr id="3461" name="Google Shape;237;p5"/>
          <p:cNvSpPr txBox="1"/>
          <p:nvPr/>
        </p:nvSpPr>
        <p:spPr>
          <a:xfrm>
            <a:off x="8262145" y="4798715"/>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IIII IIII IIII III</a:t>
            </a:r>
          </a:p>
        </p:txBody>
      </p:sp>
      <p:sp>
        <p:nvSpPr>
          <p:cNvPr id="3462" name="Google Shape;238;p5"/>
          <p:cNvSpPr txBox="1"/>
          <p:nvPr/>
        </p:nvSpPr>
        <p:spPr>
          <a:xfrm>
            <a:off x="9992121" y="4798715"/>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18</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4" name="Google Shape;244;p6"/>
          <p:cNvSpPr txBox="1"/>
          <p:nvPr/>
        </p:nvSpPr>
        <p:spPr>
          <a:xfrm>
            <a:off x="661492" y="1044674"/>
            <a:ext cx="9225955"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Bar Graphs: Comparing Categories</a:t>
            </a:r>
          </a:p>
        </p:txBody>
      </p:sp>
      <p:sp>
        <p:nvSpPr>
          <p:cNvPr id="3465" name="Google Shape;245;p6"/>
          <p:cNvSpPr txBox="1"/>
          <p:nvPr/>
        </p:nvSpPr>
        <p:spPr>
          <a:xfrm>
            <a:off x="661491" y="2107804"/>
            <a:ext cx="2362698" cy="317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5000"/>
              </a:lnSpc>
              <a:defRPr sz="2200" b="1">
                <a:latin typeface="Playfair Display"/>
                <a:ea typeface="Playfair Display"/>
                <a:cs typeface="Playfair Display"/>
                <a:sym typeface="Playfair Display"/>
              </a:defRPr>
            </a:lvl1pPr>
          </a:lstStyle>
          <a:p>
            <a:r>
              <a:rPr sz="1833"/>
              <a:t>What They Show</a:t>
            </a:r>
          </a:p>
        </p:txBody>
      </p:sp>
      <p:sp>
        <p:nvSpPr>
          <p:cNvPr id="3466" name="Google Shape;246;p6"/>
          <p:cNvSpPr txBox="1"/>
          <p:nvPr/>
        </p:nvSpPr>
        <p:spPr>
          <a:xfrm>
            <a:off x="661491" y="2592090"/>
            <a:ext cx="5203926" cy="564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200">
                <a:latin typeface="Inter"/>
                <a:ea typeface="Inter"/>
                <a:cs typeface="Inter"/>
                <a:sym typeface="Inter"/>
              </a:defRPr>
            </a:lvl1pPr>
          </a:lstStyle>
          <a:p>
            <a:r>
              <a:rPr sz="1833"/>
              <a:t>Bar graphs compare amounts across different c__________ using bars of equal w_______.</a:t>
            </a:r>
          </a:p>
        </p:txBody>
      </p:sp>
      <p:sp>
        <p:nvSpPr>
          <p:cNvPr id="3467" name="Google Shape;247;p6"/>
          <p:cNvSpPr txBox="1"/>
          <p:nvPr/>
        </p:nvSpPr>
        <p:spPr>
          <a:xfrm>
            <a:off x="661491" y="3366988"/>
            <a:ext cx="5203926" cy="564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200">
                <a:latin typeface="Inter"/>
                <a:ea typeface="Inter"/>
                <a:cs typeface="Inter"/>
                <a:sym typeface="Inter"/>
              </a:defRPr>
            </a:lvl1pPr>
          </a:lstStyle>
          <a:p>
            <a:r>
              <a:rPr sz="1833"/>
              <a:t>Perfect for categorical data like favorite pets, subjects, or sports.</a:t>
            </a:r>
          </a:p>
        </p:txBody>
      </p:sp>
      <p:sp>
        <p:nvSpPr>
          <p:cNvPr id="3468" name="Google Shape;248;p6"/>
          <p:cNvSpPr txBox="1"/>
          <p:nvPr/>
        </p:nvSpPr>
        <p:spPr>
          <a:xfrm>
            <a:off x="661491" y="4141887"/>
            <a:ext cx="5203926" cy="564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200">
                <a:latin typeface="Inter"/>
                <a:ea typeface="Inter"/>
                <a:cs typeface="Inter"/>
                <a:sym typeface="Inter"/>
              </a:defRPr>
            </a:lvl1pPr>
          </a:lstStyle>
          <a:p>
            <a:r>
              <a:rPr sz="1833"/>
              <a:t>The h__________ of each bar represents the value for that category.</a:t>
            </a:r>
          </a:p>
        </p:txBody>
      </p:sp>
      <p:pic>
        <p:nvPicPr>
          <p:cNvPr id="3469" name="Google Shape;249;p6" descr="Google Shape;249;p6"/>
          <p:cNvPicPr>
            <a:picLocks noChangeAspect="1"/>
          </p:cNvPicPr>
          <p:nvPr/>
        </p:nvPicPr>
        <p:blipFill>
          <a:blip r:embed="rId2"/>
          <a:stretch>
            <a:fillRect/>
          </a:stretch>
        </p:blipFill>
        <p:spPr>
          <a:xfrm>
            <a:off x="6332933" y="2131418"/>
            <a:ext cx="5203925" cy="3469283"/>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 name="Google Shape;244;p6"/>
          <p:cNvSpPr txBox="1"/>
          <p:nvPr/>
        </p:nvSpPr>
        <p:spPr>
          <a:xfrm>
            <a:off x="661492" y="1044674"/>
            <a:ext cx="9225955"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Bar Graphs: Comparing Categories</a:t>
            </a:r>
          </a:p>
        </p:txBody>
      </p:sp>
      <p:sp>
        <p:nvSpPr>
          <p:cNvPr id="3472" name="Google Shape;245;p6"/>
          <p:cNvSpPr txBox="1"/>
          <p:nvPr/>
        </p:nvSpPr>
        <p:spPr>
          <a:xfrm>
            <a:off x="661491" y="2107804"/>
            <a:ext cx="2362698" cy="317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5000"/>
              </a:lnSpc>
              <a:defRPr sz="2200" b="1">
                <a:latin typeface="Playfair Display"/>
                <a:ea typeface="Playfair Display"/>
                <a:cs typeface="Playfair Display"/>
                <a:sym typeface="Playfair Display"/>
              </a:defRPr>
            </a:lvl1pPr>
          </a:lstStyle>
          <a:p>
            <a:r>
              <a:rPr sz="1833"/>
              <a:t>What They Show</a:t>
            </a:r>
          </a:p>
        </p:txBody>
      </p:sp>
      <p:sp>
        <p:nvSpPr>
          <p:cNvPr id="3473" name="Google Shape;246;p6"/>
          <p:cNvSpPr txBox="1"/>
          <p:nvPr/>
        </p:nvSpPr>
        <p:spPr>
          <a:xfrm>
            <a:off x="661491" y="2592090"/>
            <a:ext cx="5203926" cy="564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200">
                <a:latin typeface="Inter"/>
                <a:ea typeface="Inter"/>
                <a:cs typeface="Inter"/>
                <a:sym typeface="Inter"/>
              </a:defRPr>
            </a:lvl1pPr>
          </a:lstStyle>
          <a:p>
            <a:r>
              <a:rPr sz="1833"/>
              <a:t>Bar graphs compare amounts across different categories using bars of equal width.</a:t>
            </a:r>
          </a:p>
        </p:txBody>
      </p:sp>
      <p:sp>
        <p:nvSpPr>
          <p:cNvPr id="3474" name="Google Shape;247;p6"/>
          <p:cNvSpPr txBox="1"/>
          <p:nvPr/>
        </p:nvSpPr>
        <p:spPr>
          <a:xfrm>
            <a:off x="661491" y="3366988"/>
            <a:ext cx="5203926" cy="564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200">
                <a:latin typeface="Inter"/>
                <a:ea typeface="Inter"/>
                <a:cs typeface="Inter"/>
                <a:sym typeface="Inter"/>
              </a:defRPr>
            </a:lvl1pPr>
          </a:lstStyle>
          <a:p>
            <a:r>
              <a:rPr sz="1833"/>
              <a:t>Perfect for categorical data like favorite pets, subjects, or sports.</a:t>
            </a:r>
          </a:p>
        </p:txBody>
      </p:sp>
      <p:sp>
        <p:nvSpPr>
          <p:cNvPr id="3475" name="Google Shape;248;p6"/>
          <p:cNvSpPr txBox="1"/>
          <p:nvPr/>
        </p:nvSpPr>
        <p:spPr>
          <a:xfrm>
            <a:off x="661491" y="4141887"/>
            <a:ext cx="5203926" cy="5641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200">
                <a:latin typeface="Inter"/>
                <a:ea typeface="Inter"/>
                <a:cs typeface="Inter"/>
                <a:sym typeface="Inter"/>
              </a:defRPr>
            </a:lvl1pPr>
          </a:lstStyle>
          <a:p>
            <a:r>
              <a:rPr sz="1833"/>
              <a:t>The height of each bar represents the value for that category.</a:t>
            </a:r>
          </a:p>
        </p:txBody>
      </p:sp>
      <p:pic>
        <p:nvPicPr>
          <p:cNvPr id="3476" name="Google Shape;249;p6" descr="Google Shape;249;p6"/>
          <p:cNvPicPr>
            <a:picLocks noChangeAspect="1"/>
          </p:cNvPicPr>
          <p:nvPr/>
        </p:nvPicPr>
        <p:blipFill>
          <a:blip r:embed="rId2"/>
          <a:stretch>
            <a:fillRect/>
          </a:stretch>
        </p:blipFill>
        <p:spPr>
          <a:xfrm>
            <a:off x="6332933" y="2131418"/>
            <a:ext cx="5203925" cy="3469283"/>
          </a:xfrm>
          <a:prstGeom prst="rect">
            <a:avLst/>
          </a:prstGeom>
          <a:ln w="12700">
            <a:miter lim="400000"/>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78" name="Google Shape;274;p8" descr="Google Shape;274;p8"/>
          <p:cNvPicPr>
            <a:picLocks noChangeAspect="1"/>
          </p:cNvPicPr>
          <p:nvPr/>
        </p:nvPicPr>
        <p:blipFill>
          <a:blip r:embed="rId2"/>
          <a:stretch>
            <a:fillRect/>
          </a:stretch>
        </p:blipFill>
        <p:spPr>
          <a:xfrm>
            <a:off x="8201525" y="872288"/>
            <a:ext cx="3990475" cy="5985713"/>
          </a:xfrm>
          <a:prstGeom prst="rect">
            <a:avLst/>
          </a:prstGeom>
          <a:ln w="12700">
            <a:miter lim="400000"/>
          </a:ln>
        </p:spPr>
      </p:pic>
      <p:sp>
        <p:nvSpPr>
          <p:cNvPr id="3479" name="Google Shape;275;p8"/>
          <p:cNvSpPr txBox="1"/>
          <p:nvPr/>
        </p:nvSpPr>
        <p:spPr>
          <a:xfrm>
            <a:off x="661492" y="595014"/>
            <a:ext cx="4725492"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Reading Bar Graphs</a:t>
            </a:r>
          </a:p>
        </p:txBody>
      </p:sp>
      <p:pic>
        <p:nvPicPr>
          <p:cNvPr id="3480" name="Google Shape;276;p8" descr="Google Shape;276;p8"/>
          <p:cNvPicPr>
            <a:picLocks noChangeAspect="1"/>
          </p:cNvPicPr>
          <p:nvPr/>
        </p:nvPicPr>
        <p:blipFill>
          <a:blip r:embed="rId3"/>
          <a:stretch>
            <a:fillRect/>
          </a:stretch>
        </p:blipFill>
        <p:spPr>
          <a:xfrm>
            <a:off x="661492" y="1469132"/>
            <a:ext cx="945059" cy="1391544"/>
          </a:xfrm>
          <a:prstGeom prst="rect">
            <a:avLst/>
          </a:prstGeom>
          <a:ln w="12700">
            <a:miter lim="400000"/>
          </a:ln>
        </p:spPr>
      </p:pic>
      <p:sp>
        <p:nvSpPr>
          <p:cNvPr id="3481" name="Google Shape;277;p8"/>
          <p:cNvSpPr txBox="1"/>
          <p:nvPr/>
        </p:nvSpPr>
        <p:spPr>
          <a:xfrm>
            <a:off x="1890018" y="1658144"/>
            <a:ext cx="2362697"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b="1">
                <a:latin typeface="Playfair Display"/>
                <a:ea typeface="Playfair Display"/>
                <a:cs typeface="Playfair Display"/>
                <a:sym typeface="Playfair Display"/>
              </a:defRPr>
            </a:lvl1pPr>
          </a:lstStyle>
          <a:p>
            <a:r>
              <a:rPr sz="2167"/>
              <a:t>Check the Labels</a:t>
            </a:r>
          </a:p>
        </p:txBody>
      </p:sp>
      <p:sp>
        <p:nvSpPr>
          <p:cNvPr id="3482" name="Google Shape;278;p8"/>
          <p:cNvSpPr txBox="1"/>
          <p:nvPr/>
        </p:nvSpPr>
        <p:spPr>
          <a:xfrm>
            <a:off x="1890018" y="2066826"/>
            <a:ext cx="5068493" cy="6669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a:latin typeface="Inter"/>
                <a:ea typeface="Inter"/>
                <a:cs typeface="Inter"/>
                <a:sym typeface="Inter"/>
              </a:defRPr>
            </a:lvl1pPr>
          </a:lstStyle>
          <a:p>
            <a:r>
              <a:rPr sz="2167"/>
              <a:t>Identify what's being compared and the scale of measurement.</a:t>
            </a:r>
          </a:p>
        </p:txBody>
      </p:sp>
      <p:pic>
        <p:nvPicPr>
          <p:cNvPr id="3483" name="Google Shape;279;p8" descr="Google Shape;279;p8"/>
          <p:cNvPicPr>
            <a:picLocks noChangeAspect="1"/>
          </p:cNvPicPr>
          <p:nvPr/>
        </p:nvPicPr>
        <p:blipFill>
          <a:blip r:embed="rId4"/>
          <a:stretch>
            <a:fillRect/>
          </a:stretch>
        </p:blipFill>
        <p:spPr>
          <a:xfrm>
            <a:off x="661492" y="2860675"/>
            <a:ext cx="945059" cy="1134071"/>
          </a:xfrm>
          <a:prstGeom prst="rect">
            <a:avLst/>
          </a:prstGeom>
          <a:ln w="12700">
            <a:miter lim="400000"/>
          </a:ln>
        </p:spPr>
      </p:pic>
      <p:sp>
        <p:nvSpPr>
          <p:cNvPr id="3484" name="Google Shape;280;p8"/>
          <p:cNvSpPr txBox="1"/>
          <p:nvPr/>
        </p:nvSpPr>
        <p:spPr>
          <a:xfrm>
            <a:off x="1890018" y="3049686"/>
            <a:ext cx="2362697"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b="1">
                <a:latin typeface="Playfair Display"/>
                <a:ea typeface="Playfair Display"/>
                <a:cs typeface="Playfair Display"/>
                <a:sym typeface="Playfair Display"/>
              </a:defRPr>
            </a:lvl1pPr>
          </a:lstStyle>
          <a:p>
            <a:r>
              <a:rPr sz="2167"/>
              <a:t>Compare Heights</a:t>
            </a:r>
          </a:p>
        </p:txBody>
      </p:sp>
      <p:sp>
        <p:nvSpPr>
          <p:cNvPr id="3485" name="Google Shape;281;p8"/>
          <p:cNvSpPr txBox="1"/>
          <p:nvPr/>
        </p:nvSpPr>
        <p:spPr>
          <a:xfrm>
            <a:off x="1890018" y="3458369"/>
            <a:ext cx="5068493"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a:latin typeface="Inter"/>
                <a:ea typeface="Inter"/>
                <a:cs typeface="Inter"/>
                <a:sym typeface="Inter"/>
              </a:defRPr>
            </a:lvl1pPr>
          </a:lstStyle>
          <a:p>
            <a:r>
              <a:rPr sz="2167"/>
              <a:t>Taller bars represent larger values.</a:t>
            </a:r>
          </a:p>
        </p:txBody>
      </p:sp>
      <p:pic>
        <p:nvPicPr>
          <p:cNvPr id="3486" name="Google Shape;282;p8" descr="Google Shape;282;p8"/>
          <p:cNvPicPr>
            <a:picLocks noChangeAspect="1"/>
          </p:cNvPicPr>
          <p:nvPr/>
        </p:nvPicPr>
        <p:blipFill>
          <a:blip r:embed="rId5"/>
          <a:stretch>
            <a:fillRect/>
          </a:stretch>
        </p:blipFill>
        <p:spPr>
          <a:xfrm>
            <a:off x="661492" y="3994745"/>
            <a:ext cx="945059" cy="1134071"/>
          </a:xfrm>
          <a:prstGeom prst="rect">
            <a:avLst/>
          </a:prstGeom>
          <a:ln w="12700">
            <a:miter lim="400000"/>
          </a:ln>
        </p:spPr>
      </p:pic>
      <p:sp>
        <p:nvSpPr>
          <p:cNvPr id="3487" name="Google Shape;283;p8"/>
          <p:cNvSpPr txBox="1"/>
          <p:nvPr/>
        </p:nvSpPr>
        <p:spPr>
          <a:xfrm>
            <a:off x="1890018" y="4025006"/>
            <a:ext cx="2362697"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b="1">
                <a:latin typeface="Playfair Display"/>
                <a:ea typeface="Playfair Display"/>
                <a:cs typeface="Playfair Display"/>
                <a:sym typeface="Playfair Display"/>
              </a:defRPr>
            </a:lvl1pPr>
          </a:lstStyle>
          <a:p>
            <a:r>
              <a:rPr sz="2167"/>
              <a:t>Look for Patterns</a:t>
            </a:r>
          </a:p>
        </p:txBody>
      </p:sp>
      <p:sp>
        <p:nvSpPr>
          <p:cNvPr id="3488" name="Google Shape;284;p8"/>
          <p:cNvSpPr txBox="1"/>
          <p:nvPr/>
        </p:nvSpPr>
        <p:spPr>
          <a:xfrm>
            <a:off x="1890018" y="4433689"/>
            <a:ext cx="5068493" cy="6669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a:latin typeface="Inter"/>
                <a:ea typeface="Inter"/>
                <a:cs typeface="Inter"/>
                <a:sym typeface="Inter"/>
              </a:defRPr>
            </a:lvl1pPr>
          </a:lstStyle>
          <a:p>
            <a:r>
              <a:rPr sz="2167"/>
              <a:t>Notice which categories have highest/lowest values.</a:t>
            </a:r>
          </a:p>
        </p:txBody>
      </p:sp>
      <p:pic>
        <p:nvPicPr>
          <p:cNvPr id="3489" name="Google Shape;285;p8" descr="Google Shape;285;p8"/>
          <p:cNvPicPr>
            <a:picLocks noChangeAspect="1"/>
          </p:cNvPicPr>
          <p:nvPr/>
        </p:nvPicPr>
        <p:blipFill>
          <a:blip r:embed="rId6"/>
          <a:stretch>
            <a:fillRect/>
          </a:stretch>
        </p:blipFill>
        <p:spPr>
          <a:xfrm>
            <a:off x="661492" y="5128815"/>
            <a:ext cx="945059" cy="1134071"/>
          </a:xfrm>
          <a:prstGeom prst="rect">
            <a:avLst/>
          </a:prstGeom>
          <a:ln w="12700">
            <a:miter lim="400000"/>
          </a:ln>
        </p:spPr>
      </p:pic>
      <p:sp>
        <p:nvSpPr>
          <p:cNvPr id="3490" name="Google Shape;286;p8"/>
          <p:cNvSpPr txBox="1"/>
          <p:nvPr/>
        </p:nvSpPr>
        <p:spPr>
          <a:xfrm>
            <a:off x="1890018" y="5317828"/>
            <a:ext cx="2362697" cy="3334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b="1">
                <a:latin typeface="Playfair Display"/>
                <a:ea typeface="Playfair Display"/>
                <a:cs typeface="Playfair Display"/>
                <a:sym typeface="Playfair Display"/>
              </a:defRPr>
            </a:lvl1pPr>
          </a:lstStyle>
          <a:p>
            <a:r>
              <a:rPr sz="2167"/>
              <a:t>Ask Questions</a:t>
            </a:r>
          </a:p>
        </p:txBody>
      </p:sp>
      <p:sp>
        <p:nvSpPr>
          <p:cNvPr id="3491" name="Google Shape;287;p8"/>
          <p:cNvSpPr txBox="1"/>
          <p:nvPr/>
        </p:nvSpPr>
        <p:spPr>
          <a:xfrm>
            <a:off x="1890018" y="5726509"/>
            <a:ext cx="5068493" cy="6669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600">
                <a:latin typeface="Inter"/>
                <a:ea typeface="Inter"/>
                <a:cs typeface="Inter"/>
                <a:sym typeface="Inter"/>
              </a:defRPr>
            </a:lvl1pPr>
          </a:lstStyle>
          <a:p>
            <a:r>
              <a:rPr sz="2167"/>
              <a:t>Wonder why certain patterns appear in the data.</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3" name="Google Shape;319;p10"/>
          <p:cNvSpPr txBox="1"/>
          <p:nvPr/>
        </p:nvSpPr>
        <p:spPr>
          <a:xfrm>
            <a:off x="661492" y="6037360"/>
            <a:ext cx="8860748" cy="490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3400" b="1">
                <a:latin typeface="Playfair Display"/>
                <a:ea typeface="Playfair Display"/>
                <a:cs typeface="Playfair Display"/>
                <a:sym typeface="Playfair Display"/>
              </a:defRPr>
            </a:lvl1pPr>
          </a:lstStyle>
          <a:p>
            <a:r>
              <a:rPr sz="2833"/>
              <a:t>Example: Favorite Pets</a:t>
            </a:r>
          </a:p>
        </p:txBody>
      </p:sp>
      <p:pic>
        <p:nvPicPr>
          <p:cNvPr id="3494" name="Google Shape;320;p10" descr="Google Shape;320;p10"/>
          <p:cNvPicPr>
            <a:picLocks noChangeAspect="1"/>
          </p:cNvPicPr>
          <p:nvPr/>
        </p:nvPicPr>
        <p:blipFill>
          <a:blip r:embed="rId2"/>
          <a:stretch>
            <a:fillRect/>
          </a:stretch>
        </p:blipFill>
        <p:spPr>
          <a:xfrm>
            <a:off x="640325" y="2319734"/>
            <a:ext cx="5203925" cy="3469283"/>
          </a:xfrm>
          <a:prstGeom prst="rect">
            <a:avLst/>
          </a:prstGeom>
          <a:ln w="12700">
            <a:miter lim="400000"/>
          </a:ln>
        </p:spPr>
      </p:pic>
      <p:sp>
        <p:nvSpPr>
          <p:cNvPr id="3495" name="Google Shape;321;p10"/>
          <p:cNvSpPr txBox="1"/>
          <p:nvPr/>
        </p:nvSpPr>
        <p:spPr>
          <a:xfrm>
            <a:off x="6459933" y="2303529"/>
            <a:ext cx="2362697" cy="317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5000"/>
              </a:lnSpc>
              <a:defRPr sz="2200" b="1">
                <a:latin typeface="Playfair Display"/>
                <a:ea typeface="Playfair Display"/>
                <a:cs typeface="Playfair Display"/>
                <a:sym typeface="Playfair Display"/>
              </a:defRPr>
            </a:lvl1pPr>
          </a:lstStyle>
          <a:p>
            <a:r>
              <a:rPr sz="1833"/>
              <a:t>Data Breakdown</a:t>
            </a:r>
          </a:p>
        </p:txBody>
      </p:sp>
      <p:sp>
        <p:nvSpPr>
          <p:cNvPr id="3496" name="Google Shape;322;p10"/>
          <p:cNvSpPr/>
          <p:nvPr/>
        </p:nvSpPr>
        <p:spPr>
          <a:xfrm>
            <a:off x="6332933" y="2782853"/>
            <a:ext cx="5203925" cy="2722365"/>
          </a:xfrm>
          <a:prstGeom prst="roundRect">
            <a:avLst>
              <a:gd name="adj" fmla="val 2916"/>
            </a:avLst>
          </a:prstGeom>
          <a:ln>
            <a:solidFill>
              <a:srgbClr val="000000">
                <a:alpha val="7842"/>
              </a:srgbClr>
            </a:solidFill>
          </a:ln>
        </p:spPr>
        <p:txBody>
          <a:bodyPr lIns="0" tIns="0" rIns="0" bIns="0"/>
          <a:lstStyle/>
          <a:p>
            <a:pPr>
              <a:defRPr>
                <a:latin typeface="Arial"/>
                <a:ea typeface="Arial"/>
                <a:cs typeface="Arial"/>
                <a:sym typeface="Arial"/>
              </a:defRPr>
            </a:pPr>
            <a:endParaRPr sz="1500"/>
          </a:p>
        </p:txBody>
      </p:sp>
      <p:sp>
        <p:nvSpPr>
          <p:cNvPr id="3497" name="Google Shape;323;p10"/>
          <p:cNvSpPr/>
          <p:nvPr/>
        </p:nvSpPr>
        <p:spPr>
          <a:xfrm>
            <a:off x="6339284" y="2789204"/>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498" name="Google Shape;324;p10"/>
          <p:cNvSpPr txBox="1"/>
          <p:nvPr/>
        </p:nvSpPr>
        <p:spPr>
          <a:xfrm>
            <a:off x="6528991" y="290896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Pet</a:t>
            </a:r>
          </a:p>
        </p:txBody>
      </p:sp>
      <p:sp>
        <p:nvSpPr>
          <p:cNvPr id="3499" name="Google Shape;325;p10"/>
          <p:cNvSpPr txBox="1"/>
          <p:nvPr/>
        </p:nvSpPr>
        <p:spPr>
          <a:xfrm>
            <a:off x="8262145" y="2908961"/>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Students</a:t>
            </a:r>
          </a:p>
        </p:txBody>
      </p:sp>
      <p:sp>
        <p:nvSpPr>
          <p:cNvPr id="3500" name="Google Shape;326;p10"/>
          <p:cNvSpPr txBox="1"/>
          <p:nvPr/>
        </p:nvSpPr>
        <p:spPr>
          <a:xfrm>
            <a:off x="9992121" y="290896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Percentage</a:t>
            </a:r>
          </a:p>
        </p:txBody>
      </p:sp>
      <p:sp>
        <p:nvSpPr>
          <p:cNvPr id="3501" name="Google Shape;327;p10"/>
          <p:cNvSpPr/>
          <p:nvPr/>
        </p:nvSpPr>
        <p:spPr>
          <a:xfrm>
            <a:off x="6339284" y="3331137"/>
            <a:ext cx="5190630"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02" name="Google Shape;328;p10"/>
          <p:cNvSpPr txBox="1"/>
          <p:nvPr/>
        </p:nvSpPr>
        <p:spPr>
          <a:xfrm>
            <a:off x="6528991" y="3450894"/>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Dogs</a:t>
            </a:r>
          </a:p>
        </p:txBody>
      </p:sp>
      <p:sp>
        <p:nvSpPr>
          <p:cNvPr id="3503" name="Google Shape;329;p10"/>
          <p:cNvSpPr txBox="1"/>
          <p:nvPr/>
        </p:nvSpPr>
        <p:spPr>
          <a:xfrm>
            <a:off x="8262145" y="3450894"/>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15</a:t>
            </a:r>
          </a:p>
        </p:txBody>
      </p:sp>
      <p:sp>
        <p:nvSpPr>
          <p:cNvPr id="3504" name="Google Shape;330;p10"/>
          <p:cNvSpPr txBox="1"/>
          <p:nvPr/>
        </p:nvSpPr>
        <p:spPr>
          <a:xfrm>
            <a:off x="9992121" y="3450894"/>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50%</a:t>
            </a:r>
          </a:p>
        </p:txBody>
      </p:sp>
      <p:sp>
        <p:nvSpPr>
          <p:cNvPr id="3505" name="Google Shape;331;p10"/>
          <p:cNvSpPr/>
          <p:nvPr/>
        </p:nvSpPr>
        <p:spPr>
          <a:xfrm>
            <a:off x="6339284" y="3873070"/>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06" name="Google Shape;332;p10"/>
          <p:cNvSpPr txBox="1"/>
          <p:nvPr/>
        </p:nvSpPr>
        <p:spPr>
          <a:xfrm>
            <a:off x="6528991" y="3992827"/>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Cats</a:t>
            </a:r>
          </a:p>
        </p:txBody>
      </p:sp>
      <p:sp>
        <p:nvSpPr>
          <p:cNvPr id="3507" name="Google Shape;333;p10"/>
          <p:cNvSpPr txBox="1"/>
          <p:nvPr/>
        </p:nvSpPr>
        <p:spPr>
          <a:xfrm>
            <a:off x="8262145" y="3992827"/>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10</a:t>
            </a:r>
          </a:p>
        </p:txBody>
      </p:sp>
      <p:sp>
        <p:nvSpPr>
          <p:cNvPr id="3508" name="Google Shape;334;p10"/>
          <p:cNvSpPr txBox="1"/>
          <p:nvPr/>
        </p:nvSpPr>
        <p:spPr>
          <a:xfrm>
            <a:off x="9992121" y="3992827"/>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33%</a:t>
            </a:r>
          </a:p>
        </p:txBody>
      </p:sp>
      <p:sp>
        <p:nvSpPr>
          <p:cNvPr id="3509" name="Google Shape;335;p10"/>
          <p:cNvSpPr/>
          <p:nvPr/>
        </p:nvSpPr>
        <p:spPr>
          <a:xfrm>
            <a:off x="6339284" y="4415002"/>
            <a:ext cx="5190630"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10" name="Google Shape;336;p10"/>
          <p:cNvSpPr txBox="1"/>
          <p:nvPr/>
        </p:nvSpPr>
        <p:spPr>
          <a:xfrm>
            <a:off x="6528991" y="453476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Birds</a:t>
            </a:r>
          </a:p>
        </p:txBody>
      </p:sp>
      <p:sp>
        <p:nvSpPr>
          <p:cNvPr id="3511" name="Google Shape;337;p10"/>
          <p:cNvSpPr txBox="1"/>
          <p:nvPr/>
        </p:nvSpPr>
        <p:spPr>
          <a:xfrm>
            <a:off x="8262145" y="4534761"/>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5</a:t>
            </a:r>
          </a:p>
        </p:txBody>
      </p:sp>
      <p:sp>
        <p:nvSpPr>
          <p:cNvPr id="3512" name="Google Shape;338;p10"/>
          <p:cNvSpPr txBox="1"/>
          <p:nvPr/>
        </p:nvSpPr>
        <p:spPr>
          <a:xfrm>
            <a:off x="9992121" y="453476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17%</a:t>
            </a:r>
          </a:p>
        </p:txBody>
      </p:sp>
      <p:sp>
        <p:nvSpPr>
          <p:cNvPr id="3513" name="Google Shape;339;p10"/>
          <p:cNvSpPr/>
          <p:nvPr/>
        </p:nvSpPr>
        <p:spPr>
          <a:xfrm>
            <a:off x="6339284" y="4956935"/>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14" name="Google Shape;340;p10"/>
          <p:cNvSpPr txBox="1"/>
          <p:nvPr/>
        </p:nvSpPr>
        <p:spPr>
          <a:xfrm>
            <a:off x="6528991" y="5076692"/>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Total</a:t>
            </a:r>
          </a:p>
        </p:txBody>
      </p:sp>
      <p:sp>
        <p:nvSpPr>
          <p:cNvPr id="3515" name="Google Shape;341;p10"/>
          <p:cNvSpPr txBox="1"/>
          <p:nvPr/>
        </p:nvSpPr>
        <p:spPr>
          <a:xfrm>
            <a:off x="8262145" y="5076692"/>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30</a:t>
            </a:r>
          </a:p>
        </p:txBody>
      </p:sp>
      <p:sp>
        <p:nvSpPr>
          <p:cNvPr id="3516" name="Google Shape;342;p10"/>
          <p:cNvSpPr txBox="1"/>
          <p:nvPr/>
        </p:nvSpPr>
        <p:spPr>
          <a:xfrm>
            <a:off x="9992121" y="5076692"/>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100%</a:t>
            </a:r>
          </a:p>
        </p:txBody>
      </p:sp>
      <p:sp>
        <p:nvSpPr>
          <p:cNvPr id="3517" name="Google Shape;343;p10"/>
          <p:cNvSpPr txBox="1"/>
          <p:nvPr/>
        </p:nvSpPr>
        <p:spPr>
          <a:xfrm>
            <a:off x="6332933" y="5717843"/>
            <a:ext cx="5203925" cy="6700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The pie chart makes it easy to see that dogs are the most popular pet, chosen by half the students.</a:t>
            </a:r>
          </a:p>
        </p:txBody>
      </p:sp>
      <p:sp>
        <p:nvSpPr>
          <p:cNvPr id="3518" name="Shows how a w______ is divided into parts, like slices of a p__.…"/>
          <p:cNvSpPr txBox="1"/>
          <p:nvPr/>
        </p:nvSpPr>
        <p:spPr>
          <a:xfrm>
            <a:off x="593112" y="1339940"/>
            <a:ext cx="6938885" cy="10770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099" rIns="38099">
            <a:spAutoFit/>
          </a:bodyPr>
          <a:lstStyle/>
          <a:p>
            <a:pPr>
              <a:lnSpc>
                <a:spcPct val="162857"/>
              </a:lnSpc>
              <a:defRPr sz="2500">
                <a:latin typeface="Inter"/>
                <a:ea typeface="Inter"/>
                <a:cs typeface="Inter"/>
                <a:sym typeface="Inter"/>
              </a:defRPr>
            </a:pPr>
            <a:r>
              <a:rPr sz="2083"/>
              <a:t>Shows how a w______ is divided into parts, like slices of a p__. </a:t>
            </a:r>
          </a:p>
          <a:p>
            <a:pPr>
              <a:lnSpc>
                <a:spcPct val="162857"/>
              </a:lnSpc>
              <a:defRPr sz="2500">
                <a:latin typeface="Inter"/>
                <a:ea typeface="Inter"/>
                <a:cs typeface="Inter"/>
                <a:sym typeface="Inter"/>
              </a:defRPr>
            </a:pPr>
            <a:r>
              <a:rPr sz="2083"/>
              <a:t>Each slice represents a p_________ or fraction of the total.</a:t>
            </a:r>
          </a:p>
        </p:txBody>
      </p:sp>
      <p:sp>
        <p:nvSpPr>
          <p:cNvPr id="3519" name="Google Shape;293;p9"/>
          <p:cNvSpPr txBox="1"/>
          <p:nvPr/>
        </p:nvSpPr>
        <p:spPr>
          <a:xfrm>
            <a:off x="534491" y="602488"/>
            <a:ext cx="10076658"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Pie Charts: Showing Parts of a Whole</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1" name="Google Shape;319;p10"/>
          <p:cNvSpPr txBox="1"/>
          <p:nvPr/>
        </p:nvSpPr>
        <p:spPr>
          <a:xfrm>
            <a:off x="661492" y="6037360"/>
            <a:ext cx="8860748" cy="490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3400" b="1">
                <a:latin typeface="Playfair Display"/>
                <a:ea typeface="Playfair Display"/>
                <a:cs typeface="Playfair Display"/>
                <a:sym typeface="Playfair Display"/>
              </a:defRPr>
            </a:lvl1pPr>
          </a:lstStyle>
          <a:p>
            <a:r>
              <a:rPr sz="2833"/>
              <a:t>Example: Favorite Pets</a:t>
            </a:r>
          </a:p>
        </p:txBody>
      </p:sp>
      <p:pic>
        <p:nvPicPr>
          <p:cNvPr id="3522" name="Google Shape;320;p10" descr="Google Shape;320;p10"/>
          <p:cNvPicPr>
            <a:picLocks noChangeAspect="1"/>
          </p:cNvPicPr>
          <p:nvPr/>
        </p:nvPicPr>
        <p:blipFill>
          <a:blip r:embed="rId2"/>
          <a:stretch>
            <a:fillRect/>
          </a:stretch>
        </p:blipFill>
        <p:spPr>
          <a:xfrm>
            <a:off x="640325" y="2319734"/>
            <a:ext cx="5203925" cy="3469283"/>
          </a:xfrm>
          <a:prstGeom prst="rect">
            <a:avLst/>
          </a:prstGeom>
          <a:ln w="12700">
            <a:miter lim="400000"/>
          </a:ln>
        </p:spPr>
      </p:pic>
      <p:sp>
        <p:nvSpPr>
          <p:cNvPr id="3523" name="Google Shape;321;p10"/>
          <p:cNvSpPr txBox="1"/>
          <p:nvPr/>
        </p:nvSpPr>
        <p:spPr>
          <a:xfrm>
            <a:off x="6459933" y="2303529"/>
            <a:ext cx="2362697" cy="317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5000"/>
              </a:lnSpc>
              <a:defRPr sz="2200" b="1">
                <a:latin typeface="Playfair Display"/>
                <a:ea typeface="Playfair Display"/>
                <a:cs typeface="Playfair Display"/>
                <a:sym typeface="Playfair Display"/>
              </a:defRPr>
            </a:lvl1pPr>
          </a:lstStyle>
          <a:p>
            <a:r>
              <a:rPr sz="1833"/>
              <a:t>Data Breakdown</a:t>
            </a:r>
          </a:p>
        </p:txBody>
      </p:sp>
      <p:sp>
        <p:nvSpPr>
          <p:cNvPr id="3524" name="Google Shape;322;p10"/>
          <p:cNvSpPr/>
          <p:nvPr/>
        </p:nvSpPr>
        <p:spPr>
          <a:xfrm>
            <a:off x="6332933" y="2782853"/>
            <a:ext cx="5203925" cy="2722365"/>
          </a:xfrm>
          <a:prstGeom prst="roundRect">
            <a:avLst>
              <a:gd name="adj" fmla="val 2916"/>
            </a:avLst>
          </a:prstGeom>
          <a:ln>
            <a:solidFill>
              <a:srgbClr val="000000">
                <a:alpha val="7842"/>
              </a:srgbClr>
            </a:solidFill>
          </a:ln>
        </p:spPr>
        <p:txBody>
          <a:bodyPr lIns="0" tIns="0" rIns="0" bIns="0"/>
          <a:lstStyle/>
          <a:p>
            <a:pPr>
              <a:defRPr>
                <a:latin typeface="Arial"/>
                <a:ea typeface="Arial"/>
                <a:cs typeface="Arial"/>
                <a:sym typeface="Arial"/>
              </a:defRPr>
            </a:pPr>
            <a:endParaRPr sz="1500"/>
          </a:p>
        </p:txBody>
      </p:sp>
      <p:sp>
        <p:nvSpPr>
          <p:cNvPr id="3525" name="Google Shape;323;p10"/>
          <p:cNvSpPr/>
          <p:nvPr/>
        </p:nvSpPr>
        <p:spPr>
          <a:xfrm>
            <a:off x="6339284" y="2789204"/>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26" name="Google Shape;324;p10"/>
          <p:cNvSpPr txBox="1"/>
          <p:nvPr/>
        </p:nvSpPr>
        <p:spPr>
          <a:xfrm>
            <a:off x="6528991" y="290896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Pet</a:t>
            </a:r>
          </a:p>
        </p:txBody>
      </p:sp>
      <p:sp>
        <p:nvSpPr>
          <p:cNvPr id="3527" name="Google Shape;325;p10"/>
          <p:cNvSpPr txBox="1"/>
          <p:nvPr/>
        </p:nvSpPr>
        <p:spPr>
          <a:xfrm>
            <a:off x="8262145" y="2908961"/>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Students</a:t>
            </a:r>
          </a:p>
        </p:txBody>
      </p:sp>
      <p:sp>
        <p:nvSpPr>
          <p:cNvPr id="3528" name="Google Shape;326;p10"/>
          <p:cNvSpPr txBox="1"/>
          <p:nvPr/>
        </p:nvSpPr>
        <p:spPr>
          <a:xfrm>
            <a:off x="9992121" y="290896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Percentage</a:t>
            </a:r>
          </a:p>
        </p:txBody>
      </p:sp>
      <p:sp>
        <p:nvSpPr>
          <p:cNvPr id="3529" name="Google Shape;327;p10"/>
          <p:cNvSpPr/>
          <p:nvPr/>
        </p:nvSpPr>
        <p:spPr>
          <a:xfrm>
            <a:off x="6339284" y="3331137"/>
            <a:ext cx="5190630"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30" name="Google Shape;328;p10"/>
          <p:cNvSpPr txBox="1"/>
          <p:nvPr/>
        </p:nvSpPr>
        <p:spPr>
          <a:xfrm>
            <a:off x="6528991" y="3450894"/>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Dogs</a:t>
            </a:r>
          </a:p>
        </p:txBody>
      </p:sp>
      <p:sp>
        <p:nvSpPr>
          <p:cNvPr id="3531" name="Google Shape;329;p10"/>
          <p:cNvSpPr txBox="1"/>
          <p:nvPr/>
        </p:nvSpPr>
        <p:spPr>
          <a:xfrm>
            <a:off x="8262145" y="3450894"/>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15</a:t>
            </a:r>
          </a:p>
        </p:txBody>
      </p:sp>
      <p:sp>
        <p:nvSpPr>
          <p:cNvPr id="3532" name="Google Shape;330;p10"/>
          <p:cNvSpPr txBox="1"/>
          <p:nvPr/>
        </p:nvSpPr>
        <p:spPr>
          <a:xfrm>
            <a:off x="9992121" y="3450894"/>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50%</a:t>
            </a:r>
          </a:p>
        </p:txBody>
      </p:sp>
      <p:sp>
        <p:nvSpPr>
          <p:cNvPr id="3533" name="Google Shape;331;p10"/>
          <p:cNvSpPr/>
          <p:nvPr/>
        </p:nvSpPr>
        <p:spPr>
          <a:xfrm>
            <a:off x="6339284" y="3873070"/>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34" name="Google Shape;332;p10"/>
          <p:cNvSpPr txBox="1"/>
          <p:nvPr/>
        </p:nvSpPr>
        <p:spPr>
          <a:xfrm>
            <a:off x="6528991" y="3992827"/>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Cats</a:t>
            </a:r>
          </a:p>
        </p:txBody>
      </p:sp>
      <p:sp>
        <p:nvSpPr>
          <p:cNvPr id="3535" name="Google Shape;333;p10"/>
          <p:cNvSpPr txBox="1"/>
          <p:nvPr/>
        </p:nvSpPr>
        <p:spPr>
          <a:xfrm>
            <a:off x="8262145" y="3992827"/>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10</a:t>
            </a:r>
          </a:p>
        </p:txBody>
      </p:sp>
      <p:sp>
        <p:nvSpPr>
          <p:cNvPr id="3536" name="Google Shape;334;p10"/>
          <p:cNvSpPr txBox="1"/>
          <p:nvPr/>
        </p:nvSpPr>
        <p:spPr>
          <a:xfrm>
            <a:off x="9992121" y="3992827"/>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33%</a:t>
            </a:r>
          </a:p>
        </p:txBody>
      </p:sp>
      <p:sp>
        <p:nvSpPr>
          <p:cNvPr id="3537" name="Google Shape;335;p10"/>
          <p:cNvSpPr/>
          <p:nvPr/>
        </p:nvSpPr>
        <p:spPr>
          <a:xfrm>
            <a:off x="6339284" y="4415002"/>
            <a:ext cx="5190630" cy="541933"/>
          </a:xfrm>
          <a:prstGeom prst="rect">
            <a:avLst/>
          </a:prstGeom>
          <a:solidFill>
            <a:srgbClr val="000000">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38" name="Google Shape;336;p10"/>
          <p:cNvSpPr txBox="1"/>
          <p:nvPr/>
        </p:nvSpPr>
        <p:spPr>
          <a:xfrm>
            <a:off x="6528991" y="453476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Birds</a:t>
            </a:r>
          </a:p>
        </p:txBody>
      </p:sp>
      <p:sp>
        <p:nvSpPr>
          <p:cNvPr id="3539" name="Google Shape;337;p10"/>
          <p:cNvSpPr txBox="1"/>
          <p:nvPr/>
        </p:nvSpPr>
        <p:spPr>
          <a:xfrm>
            <a:off x="8262145" y="4534761"/>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5</a:t>
            </a:r>
          </a:p>
        </p:txBody>
      </p:sp>
      <p:sp>
        <p:nvSpPr>
          <p:cNvPr id="3540" name="Google Shape;338;p10"/>
          <p:cNvSpPr txBox="1"/>
          <p:nvPr/>
        </p:nvSpPr>
        <p:spPr>
          <a:xfrm>
            <a:off x="9992121" y="4534761"/>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17%</a:t>
            </a:r>
          </a:p>
        </p:txBody>
      </p:sp>
      <p:sp>
        <p:nvSpPr>
          <p:cNvPr id="3541" name="Google Shape;339;p10"/>
          <p:cNvSpPr/>
          <p:nvPr/>
        </p:nvSpPr>
        <p:spPr>
          <a:xfrm>
            <a:off x="6339284" y="4956935"/>
            <a:ext cx="5190630" cy="541933"/>
          </a:xfrm>
          <a:prstGeom prst="rect">
            <a:avLst/>
          </a:prstGeom>
          <a:solidFill>
            <a:srgbClr val="FFFFFF">
              <a:alpha val="3921"/>
            </a:srgbClr>
          </a:solidFill>
          <a:ln w="12700">
            <a:miter lim="400000"/>
          </a:ln>
        </p:spPr>
        <p:txBody>
          <a:bodyPr lIns="0" tIns="0" rIns="0" bIns="0"/>
          <a:lstStyle/>
          <a:p>
            <a:pPr>
              <a:defRPr>
                <a:latin typeface="Arial"/>
                <a:ea typeface="Arial"/>
                <a:cs typeface="Arial"/>
                <a:sym typeface="Arial"/>
              </a:defRPr>
            </a:pPr>
            <a:endParaRPr sz="1500"/>
          </a:p>
        </p:txBody>
      </p:sp>
      <p:sp>
        <p:nvSpPr>
          <p:cNvPr id="3542" name="Google Shape;340;p10"/>
          <p:cNvSpPr txBox="1"/>
          <p:nvPr/>
        </p:nvSpPr>
        <p:spPr>
          <a:xfrm>
            <a:off x="6528991" y="5076692"/>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Total</a:t>
            </a:r>
          </a:p>
        </p:txBody>
      </p:sp>
      <p:sp>
        <p:nvSpPr>
          <p:cNvPr id="3543" name="Google Shape;341;p10"/>
          <p:cNvSpPr txBox="1"/>
          <p:nvPr/>
        </p:nvSpPr>
        <p:spPr>
          <a:xfrm>
            <a:off x="8262145" y="5076692"/>
            <a:ext cx="1345606"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30</a:t>
            </a:r>
          </a:p>
        </p:txBody>
      </p:sp>
      <p:sp>
        <p:nvSpPr>
          <p:cNvPr id="3544" name="Google Shape;342;p10"/>
          <p:cNvSpPr txBox="1"/>
          <p:nvPr/>
        </p:nvSpPr>
        <p:spPr>
          <a:xfrm>
            <a:off x="9992121" y="5076692"/>
            <a:ext cx="1348781" cy="3145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100%</a:t>
            </a:r>
          </a:p>
        </p:txBody>
      </p:sp>
      <p:sp>
        <p:nvSpPr>
          <p:cNvPr id="3545" name="Google Shape;343;p10"/>
          <p:cNvSpPr txBox="1"/>
          <p:nvPr/>
        </p:nvSpPr>
        <p:spPr>
          <a:xfrm>
            <a:off x="6332933" y="5717843"/>
            <a:ext cx="5203925" cy="6700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62857"/>
              </a:lnSpc>
              <a:defRPr sz="1700">
                <a:latin typeface="Inter"/>
                <a:ea typeface="Inter"/>
                <a:cs typeface="Inter"/>
                <a:sym typeface="Inter"/>
              </a:defRPr>
            </a:lvl1pPr>
          </a:lstStyle>
          <a:p>
            <a:r>
              <a:rPr sz="1417"/>
              <a:t>The pie chart makes it easy to see that dogs are the most popular pet, chosen by half the students.</a:t>
            </a:r>
          </a:p>
        </p:txBody>
      </p:sp>
      <p:sp>
        <p:nvSpPr>
          <p:cNvPr id="3546" name="Shows how a whole is divided into parts, like slices of a pie.…"/>
          <p:cNvSpPr txBox="1"/>
          <p:nvPr/>
        </p:nvSpPr>
        <p:spPr>
          <a:xfrm>
            <a:off x="593112" y="1339940"/>
            <a:ext cx="6544546" cy="10770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099" rIns="38099">
            <a:spAutoFit/>
          </a:bodyPr>
          <a:lstStyle/>
          <a:p>
            <a:pPr>
              <a:lnSpc>
                <a:spcPct val="162857"/>
              </a:lnSpc>
              <a:defRPr sz="2500">
                <a:latin typeface="Inter"/>
                <a:ea typeface="Inter"/>
                <a:cs typeface="Inter"/>
                <a:sym typeface="Inter"/>
              </a:defRPr>
            </a:pPr>
            <a:r>
              <a:rPr sz="2083"/>
              <a:t>Shows how a whole is divided into parts, like slices of a pie. </a:t>
            </a:r>
          </a:p>
          <a:p>
            <a:pPr>
              <a:lnSpc>
                <a:spcPct val="162857"/>
              </a:lnSpc>
              <a:defRPr sz="2500">
                <a:latin typeface="Inter"/>
                <a:ea typeface="Inter"/>
                <a:cs typeface="Inter"/>
                <a:sym typeface="Inter"/>
              </a:defRPr>
            </a:pPr>
            <a:r>
              <a:rPr sz="2083"/>
              <a:t>Each slice represents a percentage or fraction of the total.</a:t>
            </a:r>
          </a:p>
        </p:txBody>
      </p:sp>
      <p:sp>
        <p:nvSpPr>
          <p:cNvPr id="3547" name="Google Shape;293;p9"/>
          <p:cNvSpPr txBox="1"/>
          <p:nvPr/>
        </p:nvSpPr>
        <p:spPr>
          <a:xfrm>
            <a:off x="534491" y="602488"/>
            <a:ext cx="10076658"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Pie Charts: Showing Parts of a Whole</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9" name="Google Shape;349;p11"/>
          <p:cNvSpPr txBox="1"/>
          <p:nvPr/>
        </p:nvSpPr>
        <p:spPr>
          <a:xfrm>
            <a:off x="661500" y="1044667"/>
            <a:ext cx="10169252"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Line Graphs: Tracking Changes Over Time</a:t>
            </a:r>
          </a:p>
        </p:txBody>
      </p:sp>
      <p:sp>
        <p:nvSpPr>
          <p:cNvPr id="3550" name="Google Shape;350;p11"/>
          <p:cNvSpPr txBox="1"/>
          <p:nvPr/>
        </p:nvSpPr>
        <p:spPr>
          <a:xfrm>
            <a:off x="661491" y="2107804"/>
            <a:ext cx="2362698" cy="317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5000"/>
              </a:lnSpc>
              <a:defRPr sz="2200" b="1">
                <a:latin typeface="Playfair Display"/>
                <a:ea typeface="Playfair Display"/>
                <a:cs typeface="Playfair Display"/>
                <a:sym typeface="Playfair Display"/>
              </a:defRPr>
            </a:lvl1pPr>
          </a:lstStyle>
          <a:p>
            <a:r>
              <a:rPr sz="1833"/>
              <a:t>What They Show</a:t>
            </a:r>
          </a:p>
        </p:txBody>
      </p:sp>
      <p:sp>
        <p:nvSpPr>
          <p:cNvPr id="3551" name="Google Shape;351;p11"/>
          <p:cNvSpPr txBox="1"/>
          <p:nvPr/>
        </p:nvSpPr>
        <p:spPr>
          <a:xfrm>
            <a:off x="661491" y="2592090"/>
            <a:ext cx="5203926"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400">
                <a:latin typeface="Inter"/>
                <a:ea typeface="Inter"/>
                <a:cs typeface="Inter"/>
                <a:sym typeface="Inter"/>
              </a:defRPr>
            </a:lvl1pPr>
          </a:lstStyle>
          <a:p>
            <a:r>
              <a:rPr sz="2000"/>
              <a:t>Line graphs display data that c__________ continuously over time.</a:t>
            </a:r>
          </a:p>
        </p:txBody>
      </p:sp>
      <p:sp>
        <p:nvSpPr>
          <p:cNvPr id="3552" name="Google Shape;352;p11"/>
          <p:cNvSpPr txBox="1"/>
          <p:nvPr/>
        </p:nvSpPr>
        <p:spPr>
          <a:xfrm>
            <a:off x="661491" y="3366988"/>
            <a:ext cx="5203926"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400">
                <a:latin typeface="Inter"/>
                <a:ea typeface="Inter"/>
                <a:cs typeface="Inter"/>
                <a:sym typeface="Inter"/>
              </a:defRPr>
            </a:lvl1pPr>
          </a:lstStyle>
          <a:p>
            <a:r>
              <a:rPr sz="2000"/>
              <a:t>Points are plotted and connected with l____ to show trends.</a:t>
            </a:r>
          </a:p>
        </p:txBody>
      </p:sp>
      <p:sp>
        <p:nvSpPr>
          <p:cNvPr id="3553" name="Google Shape;353;p11"/>
          <p:cNvSpPr txBox="1"/>
          <p:nvPr/>
        </p:nvSpPr>
        <p:spPr>
          <a:xfrm>
            <a:off x="661491" y="4141887"/>
            <a:ext cx="5203926"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400">
                <a:latin typeface="Inter"/>
                <a:ea typeface="Inter"/>
                <a:cs typeface="Inter"/>
                <a:sym typeface="Inter"/>
              </a:defRPr>
            </a:lvl1pPr>
          </a:lstStyle>
          <a:p>
            <a:r>
              <a:rPr sz="2000"/>
              <a:t>Perfect for showing how something increases, decreases, or fluctuates.</a:t>
            </a:r>
          </a:p>
        </p:txBody>
      </p:sp>
      <p:pic>
        <p:nvPicPr>
          <p:cNvPr id="3554" name="Google Shape;354;p11" descr="Google Shape;354;p11"/>
          <p:cNvPicPr>
            <a:picLocks noChangeAspect="1"/>
          </p:cNvPicPr>
          <p:nvPr/>
        </p:nvPicPr>
        <p:blipFill>
          <a:blip r:embed="rId2"/>
          <a:stretch>
            <a:fillRect/>
          </a:stretch>
        </p:blipFill>
        <p:spPr>
          <a:xfrm>
            <a:off x="6332933" y="2131418"/>
            <a:ext cx="5203925" cy="3469283"/>
          </a:xfrm>
          <a:prstGeom prst="rect">
            <a:avLst/>
          </a:prstGeom>
          <a:ln w="12700">
            <a:miter lim="400000"/>
          </a:ln>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6" name="Google Shape;349;p11"/>
          <p:cNvSpPr txBox="1"/>
          <p:nvPr/>
        </p:nvSpPr>
        <p:spPr>
          <a:xfrm>
            <a:off x="661500" y="1044667"/>
            <a:ext cx="10169252"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Line Graphs: Tracking Changes Over Time</a:t>
            </a:r>
          </a:p>
        </p:txBody>
      </p:sp>
      <p:sp>
        <p:nvSpPr>
          <p:cNvPr id="3557" name="Google Shape;350;p11"/>
          <p:cNvSpPr txBox="1"/>
          <p:nvPr/>
        </p:nvSpPr>
        <p:spPr>
          <a:xfrm>
            <a:off x="661491" y="2107804"/>
            <a:ext cx="2362698" cy="3175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5000"/>
              </a:lnSpc>
              <a:defRPr sz="2200" b="1">
                <a:latin typeface="Playfair Display"/>
                <a:ea typeface="Playfair Display"/>
                <a:cs typeface="Playfair Display"/>
                <a:sym typeface="Playfair Display"/>
              </a:defRPr>
            </a:lvl1pPr>
          </a:lstStyle>
          <a:p>
            <a:r>
              <a:rPr sz="1833"/>
              <a:t>What They Show</a:t>
            </a:r>
          </a:p>
        </p:txBody>
      </p:sp>
      <p:sp>
        <p:nvSpPr>
          <p:cNvPr id="3558" name="Google Shape;351;p11"/>
          <p:cNvSpPr txBox="1"/>
          <p:nvPr/>
        </p:nvSpPr>
        <p:spPr>
          <a:xfrm>
            <a:off x="661491" y="2592090"/>
            <a:ext cx="5203926"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400">
                <a:latin typeface="Inter"/>
                <a:ea typeface="Inter"/>
                <a:cs typeface="Inter"/>
                <a:sym typeface="Inter"/>
              </a:defRPr>
            </a:lvl1pPr>
          </a:lstStyle>
          <a:p>
            <a:r>
              <a:rPr sz="2000"/>
              <a:t>Line graphs display data that changes continuously over time.</a:t>
            </a:r>
          </a:p>
        </p:txBody>
      </p:sp>
      <p:sp>
        <p:nvSpPr>
          <p:cNvPr id="3559" name="Google Shape;352;p11"/>
          <p:cNvSpPr txBox="1"/>
          <p:nvPr/>
        </p:nvSpPr>
        <p:spPr>
          <a:xfrm>
            <a:off x="661491" y="3366988"/>
            <a:ext cx="5203926"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400">
                <a:latin typeface="Inter"/>
                <a:ea typeface="Inter"/>
                <a:cs typeface="Inter"/>
                <a:sym typeface="Inter"/>
              </a:defRPr>
            </a:lvl1pPr>
          </a:lstStyle>
          <a:p>
            <a:r>
              <a:rPr sz="2000"/>
              <a:t>Points are plotted and connected with lines to show trends.</a:t>
            </a:r>
          </a:p>
        </p:txBody>
      </p:sp>
      <p:sp>
        <p:nvSpPr>
          <p:cNvPr id="3560" name="Google Shape;353;p11"/>
          <p:cNvSpPr txBox="1"/>
          <p:nvPr/>
        </p:nvSpPr>
        <p:spPr>
          <a:xfrm>
            <a:off x="661491" y="4141887"/>
            <a:ext cx="5203926"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400">
                <a:latin typeface="Inter"/>
                <a:ea typeface="Inter"/>
                <a:cs typeface="Inter"/>
                <a:sym typeface="Inter"/>
              </a:defRPr>
            </a:lvl1pPr>
          </a:lstStyle>
          <a:p>
            <a:r>
              <a:rPr sz="2000"/>
              <a:t>Perfect for showing how something increases, decreases, or fluctuates.</a:t>
            </a:r>
          </a:p>
        </p:txBody>
      </p:sp>
      <p:pic>
        <p:nvPicPr>
          <p:cNvPr id="3561" name="Google Shape;354;p11" descr="Google Shape;354;p11"/>
          <p:cNvPicPr>
            <a:picLocks noChangeAspect="1"/>
          </p:cNvPicPr>
          <p:nvPr/>
        </p:nvPicPr>
        <p:blipFill>
          <a:blip r:embed="rId2"/>
          <a:stretch>
            <a:fillRect/>
          </a:stretch>
        </p:blipFill>
        <p:spPr>
          <a:xfrm>
            <a:off x="6332933" y="2131418"/>
            <a:ext cx="5203925" cy="3469283"/>
          </a:xfrm>
          <a:prstGeom prst="rect">
            <a:avLst/>
          </a:prstGeom>
          <a:ln w="12700">
            <a:miter lim="400000"/>
          </a:ln>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63" name="Google Shape;360;p12" descr="Google Shape;360;p12"/>
          <p:cNvPicPr>
            <a:picLocks noChangeAspect="1"/>
          </p:cNvPicPr>
          <p:nvPr/>
        </p:nvPicPr>
        <p:blipFill>
          <a:blip r:embed="rId2"/>
          <a:stretch>
            <a:fillRect/>
          </a:stretch>
        </p:blipFill>
        <p:spPr>
          <a:xfrm>
            <a:off x="0" y="1"/>
            <a:ext cx="4147553" cy="6221329"/>
          </a:xfrm>
          <a:prstGeom prst="rect">
            <a:avLst/>
          </a:prstGeom>
          <a:ln w="12700">
            <a:miter lim="400000"/>
          </a:ln>
        </p:spPr>
      </p:pic>
      <p:sp>
        <p:nvSpPr>
          <p:cNvPr id="3564" name="Google Shape;361;p12"/>
          <p:cNvSpPr txBox="1"/>
          <p:nvPr/>
        </p:nvSpPr>
        <p:spPr>
          <a:xfrm>
            <a:off x="5233491" y="735495"/>
            <a:ext cx="6013748" cy="620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54166"/>
              </a:lnSpc>
              <a:defRPr sz="3600" b="1">
                <a:latin typeface="Playfair Display"/>
                <a:ea typeface="Playfair Display"/>
                <a:cs typeface="Playfair Display"/>
                <a:sym typeface="Playfair Display"/>
              </a:defRPr>
            </a:lvl1pPr>
          </a:lstStyle>
          <a:p>
            <a:r>
              <a:rPr sz="3000"/>
              <a:t>Reading Line Graph Trends</a:t>
            </a:r>
          </a:p>
        </p:txBody>
      </p:sp>
      <p:pic>
        <p:nvPicPr>
          <p:cNvPr id="3565" name="Google Shape;362;p12" descr="Google Shape;362;p12"/>
          <p:cNvPicPr>
            <a:picLocks noChangeAspect="1"/>
          </p:cNvPicPr>
          <p:nvPr/>
        </p:nvPicPr>
        <p:blipFill>
          <a:blip r:embed="rId3"/>
          <a:stretch>
            <a:fillRect/>
          </a:stretch>
        </p:blipFill>
        <p:spPr>
          <a:xfrm>
            <a:off x="5233491" y="1469132"/>
            <a:ext cx="945059" cy="1391544"/>
          </a:xfrm>
          <a:prstGeom prst="rect">
            <a:avLst/>
          </a:prstGeom>
          <a:ln w="12700">
            <a:miter lim="400000"/>
          </a:ln>
        </p:spPr>
      </p:pic>
      <p:sp>
        <p:nvSpPr>
          <p:cNvPr id="3566" name="Google Shape;363;p12"/>
          <p:cNvSpPr txBox="1"/>
          <p:nvPr/>
        </p:nvSpPr>
        <p:spPr>
          <a:xfrm>
            <a:off x="6462018" y="1658144"/>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Upward Slope</a:t>
            </a:r>
          </a:p>
        </p:txBody>
      </p:sp>
      <p:sp>
        <p:nvSpPr>
          <p:cNvPr id="3567" name="Google Shape;364;p12"/>
          <p:cNvSpPr txBox="1"/>
          <p:nvPr/>
        </p:nvSpPr>
        <p:spPr>
          <a:xfrm>
            <a:off x="6462018" y="2024493"/>
            <a:ext cx="5068492"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Values i_________ over time (scores improving, population growing).</a:t>
            </a:r>
          </a:p>
        </p:txBody>
      </p:sp>
      <p:pic>
        <p:nvPicPr>
          <p:cNvPr id="3568" name="Google Shape;365;p12" descr="Google Shape;365;p12"/>
          <p:cNvPicPr>
            <a:picLocks noChangeAspect="1"/>
          </p:cNvPicPr>
          <p:nvPr/>
        </p:nvPicPr>
        <p:blipFill>
          <a:blip r:embed="rId4"/>
          <a:stretch>
            <a:fillRect/>
          </a:stretch>
        </p:blipFill>
        <p:spPr>
          <a:xfrm>
            <a:off x="5233491" y="2860675"/>
            <a:ext cx="945059" cy="1134071"/>
          </a:xfrm>
          <a:prstGeom prst="rect">
            <a:avLst/>
          </a:prstGeom>
          <a:ln w="12700">
            <a:miter lim="400000"/>
          </a:ln>
        </p:spPr>
      </p:pic>
      <p:sp>
        <p:nvSpPr>
          <p:cNvPr id="3569" name="Google Shape;366;p12"/>
          <p:cNvSpPr txBox="1"/>
          <p:nvPr/>
        </p:nvSpPr>
        <p:spPr>
          <a:xfrm>
            <a:off x="6462018" y="2954436"/>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Downward Slope</a:t>
            </a:r>
          </a:p>
        </p:txBody>
      </p:sp>
      <p:sp>
        <p:nvSpPr>
          <p:cNvPr id="3570" name="Google Shape;367;p12"/>
          <p:cNvSpPr txBox="1"/>
          <p:nvPr/>
        </p:nvSpPr>
        <p:spPr>
          <a:xfrm>
            <a:off x="6462018" y="3320785"/>
            <a:ext cx="5068492"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Values d_________ over time (temperatures dropping).</a:t>
            </a:r>
          </a:p>
        </p:txBody>
      </p:sp>
      <p:pic>
        <p:nvPicPr>
          <p:cNvPr id="3571" name="Google Shape;368;p12" descr="Google Shape;368;p12"/>
          <p:cNvPicPr>
            <a:picLocks noChangeAspect="1"/>
          </p:cNvPicPr>
          <p:nvPr/>
        </p:nvPicPr>
        <p:blipFill>
          <a:blip r:embed="rId5"/>
          <a:stretch>
            <a:fillRect/>
          </a:stretch>
        </p:blipFill>
        <p:spPr>
          <a:xfrm>
            <a:off x="5233491" y="3994745"/>
            <a:ext cx="945059" cy="1134071"/>
          </a:xfrm>
          <a:prstGeom prst="rect">
            <a:avLst/>
          </a:prstGeom>
          <a:ln w="12700">
            <a:miter lim="400000"/>
          </a:ln>
        </p:spPr>
      </p:pic>
      <p:sp>
        <p:nvSpPr>
          <p:cNvPr id="3572" name="Google Shape;369;p12"/>
          <p:cNvSpPr txBox="1"/>
          <p:nvPr/>
        </p:nvSpPr>
        <p:spPr>
          <a:xfrm>
            <a:off x="6462018" y="4289589"/>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Flat Line</a:t>
            </a:r>
          </a:p>
        </p:txBody>
      </p:sp>
      <p:sp>
        <p:nvSpPr>
          <p:cNvPr id="3573" name="Google Shape;370;p12"/>
          <p:cNvSpPr txBox="1"/>
          <p:nvPr/>
        </p:nvSpPr>
        <p:spPr>
          <a:xfrm>
            <a:off x="6462018" y="4687689"/>
            <a:ext cx="5068492"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Little or no c________ over that period.</a:t>
            </a:r>
          </a:p>
        </p:txBody>
      </p:sp>
      <p:pic>
        <p:nvPicPr>
          <p:cNvPr id="3574" name="Google Shape;371;p12" descr="Google Shape;371;p12"/>
          <p:cNvPicPr>
            <a:picLocks noChangeAspect="1"/>
          </p:cNvPicPr>
          <p:nvPr/>
        </p:nvPicPr>
        <p:blipFill>
          <a:blip r:embed="rId6"/>
          <a:stretch>
            <a:fillRect/>
          </a:stretch>
        </p:blipFill>
        <p:spPr>
          <a:xfrm>
            <a:off x="5233491" y="5128815"/>
            <a:ext cx="945059" cy="1134071"/>
          </a:xfrm>
          <a:prstGeom prst="rect">
            <a:avLst/>
          </a:prstGeom>
          <a:ln w="12700">
            <a:miter lim="400000"/>
          </a:ln>
        </p:spPr>
      </p:pic>
      <p:sp>
        <p:nvSpPr>
          <p:cNvPr id="3575" name="Google Shape;372;p12"/>
          <p:cNvSpPr txBox="1"/>
          <p:nvPr/>
        </p:nvSpPr>
        <p:spPr>
          <a:xfrm>
            <a:off x="6462018" y="5317828"/>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Jagged Line</a:t>
            </a:r>
          </a:p>
        </p:txBody>
      </p:sp>
      <p:sp>
        <p:nvSpPr>
          <p:cNvPr id="3576" name="Google Shape;373;p12"/>
          <p:cNvSpPr txBox="1"/>
          <p:nvPr/>
        </p:nvSpPr>
        <p:spPr>
          <a:xfrm>
            <a:off x="6462018" y="5726509"/>
            <a:ext cx="5068492"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F_______ (ups and downs) over t_______.</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5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5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5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35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35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35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35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35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6" grpId="0" animBg="1" advAuto="0"/>
      <p:bldP spid="3567" grpId="0" animBg="1" advAuto="0"/>
      <p:bldP spid="3569" grpId="0" animBg="1" advAuto="0"/>
      <p:bldP spid="3570" grpId="0" animBg="1" advAuto="0"/>
      <p:bldP spid="3572" grpId="0" animBg="1" advAuto="0"/>
      <p:bldP spid="3573" grpId="0" animBg="1" advAuto="0"/>
      <p:bldP spid="3575" grpId="0" animBg="1" advAuto="0"/>
      <p:bldP spid="3576" grpId="0"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78" name="Google Shape;360;p12" descr="Google Shape;360;p12"/>
          <p:cNvPicPr>
            <a:picLocks noChangeAspect="1"/>
          </p:cNvPicPr>
          <p:nvPr/>
        </p:nvPicPr>
        <p:blipFill>
          <a:blip r:embed="rId2"/>
          <a:stretch>
            <a:fillRect/>
          </a:stretch>
        </p:blipFill>
        <p:spPr>
          <a:xfrm>
            <a:off x="0" y="1"/>
            <a:ext cx="4147553" cy="6221329"/>
          </a:xfrm>
          <a:prstGeom prst="rect">
            <a:avLst/>
          </a:prstGeom>
          <a:ln w="12700">
            <a:miter lim="400000"/>
          </a:ln>
        </p:spPr>
      </p:pic>
      <p:sp>
        <p:nvSpPr>
          <p:cNvPr id="3579" name="Google Shape;361;p12"/>
          <p:cNvSpPr txBox="1"/>
          <p:nvPr/>
        </p:nvSpPr>
        <p:spPr>
          <a:xfrm>
            <a:off x="5233491" y="735495"/>
            <a:ext cx="6013748" cy="620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54166"/>
              </a:lnSpc>
              <a:defRPr sz="3600" b="1">
                <a:latin typeface="Playfair Display"/>
                <a:ea typeface="Playfair Display"/>
                <a:cs typeface="Playfair Display"/>
                <a:sym typeface="Playfair Display"/>
              </a:defRPr>
            </a:lvl1pPr>
          </a:lstStyle>
          <a:p>
            <a:r>
              <a:rPr sz="3000"/>
              <a:t>Reading Line Graph Trends</a:t>
            </a:r>
          </a:p>
        </p:txBody>
      </p:sp>
      <p:pic>
        <p:nvPicPr>
          <p:cNvPr id="3580" name="Google Shape;362;p12" descr="Google Shape;362;p12"/>
          <p:cNvPicPr>
            <a:picLocks noChangeAspect="1"/>
          </p:cNvPicPr>
          <p:nvPr/>
        </p:nvPicPr>
        <p:blipFill>
          <a:blip r:embed="rId3"/>
          <a:stretch>
            <a:fillRect/>
          </a:stretch>
        </p:blipFill>
        <p:spPr>
          <a:xfrm>
            <a:off x="5233491" y="1469132"/>
            <a:ext cx="945059" cy="1391544"/>
          </a:xfrm>
          <a:prstGeom prst="rect">
            <a:avLst/>
          </a:prstGeom>
          <a:ln w="12700">
            <a:miter lim="400000"/>
          </a:ln>
        </p:spPr>
      </p:pic>
      <p:sp>
        <p:nvSpPr>
          <p:cNvPr id="3581" name="Google Shape;363;p12"/>
          <p:cNvSpPr txBox="1"/>
          <p:nvPr/>
        </p:nvSpPr>
        <p:spPr>
          <a:xfrm>
            <a:off x="6462018" y="1658144"/>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Upward Slope</a:t>
            </a:r>
          </a:p>
        </p:txBody>
      </p:sp>
      <p:sp>
        <p:nvSpPr>
          <p:cNvPr id="3582" name="Google Shape;364;p12"/>
          <p:cNvSpPr txBox="1"/>
          <p:nvPr/>
        </p:nvSpPr>
        <p:spPr>
          <a:xfrm>
            <a:off x="6462018" y="2024493"/>
            <a:ext cx="5068492"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Values increasing over time (scores improving, population growing).</a:t>
            </a:r>
          </a:p>
        </p:txBody>
      </p:sp>
      <p:pic>
        <p:nvPicPr>
          <p:cNvPr id="3583" name="Google Shape;365;p12" descr="Google Shape;365;p12"/>
          <p:cNvPicPr>
            <a:picLocks noChangeAspect="1"/>
          </p:cNvPicPr>
          <p:nvPr/>
        </p:nvPicPr>
        <p:blipFill>
          <a:blip r:embed="rId4"/>
          <a:stretch>
            <a:fillRect/>
          </a:stretch>
        </p:blipFill>
        <p:spPr>
          <a:xfrm>
            <a:off x="5233491" y="2860675"/>
            <a:ext cx="945059" cy="1134071"/>
          </a:xfrm>
          <a:prstGeom prst="rect">
            <a:avLst/>
          </a:prstGeom>
          <a:ln w="12700">
            <a:miter lim="400000"/>
          </a:ln>
        </p:spPr>
      </p:pic>
      <p:sp>
        <p:nvSpPr>
          <p:cNvPr id="3584" name="Google Shape;366;p12"/>
          <p:cNvSpPr txBox="1"/>
          <p:nvPr/>
        </p:nvSpPr>
        <p:spPr>
          <a:xfrm>
            <a:off x="6462018" y="2954436"/>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Downward Slope</a:t>
            </a:r>
          </a:p>
        </p:txBody>
      </p:sp>
      <p:sp>
        <p:nvSpPr>
          <p:cNvPr id="3585" name="Google Shape;367;p12"/>
          <p:cNvSpPr txBox="1"/>
          <p:nvPr/>
        </p:nvSpPr>
        <p:spPr>
          <a:xfrm>
            <a:off x="6462018" y="3320785"/>
            <a:ext cx="5068492"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Values decreasing over time (temperatures dropping).</a:t>
            </a:r>
          </a:p>
        </p:txBody>
      </p:sp>
      <p:pic>
        <p:nvPicPr>
          <p:cNvPr id="3586" name="Google Shape;368;p12" descr="Google Shape;368;p12"/>
          <p:cNvPicPr>
            <a:picLocks noChangeAspect="1"/>
          </p:cNvPicPr>
          <p:nvPr/>
        </p:nvPicPr>
        <p:blipFill>
          <a:blip r:embed="rId5"/>
          <a:stretch>
            <a:fillRect/>
          </a:stretch>
        </p:blipFill>
        <p:spPr>
          <a:xfrm>
            <a:off x="5233491" y="3994745"/>
            <a:ext cx="945059" cy="1134071"/>
          </a:xfrm>
          <a:prstGeom prst="rect">
            <a:avLst/>
          </a:prstGeom>
          <a:ln w="12700">
            <a:miter lim="400000"/>
          </a:ln>
        </p:spPr>
      </p:pic>
      <p:sp>
        <p:nvSpPr>
          <p:cNvPr id="3587" name="Google Shape;369;p12"/>
          <p:cNvSpPr txBox="1"/>
          <p:nvPr/>
        </p:nvSpPr>
        <p:spPr>
          <a:xfrm>
            <a:off x="6462018" y="4289589"/>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Flat Line</a:t>
            </a:r>
          </a:p>
        </p:txBody>
      </p:sp>
      <p:sp>
        <p:nvSpPr>
          <p:cNvPr id="3588" name="Google Shape;370;p12"/>
          <p:cNvSpPr txBox="1"/>
          <p:nvPr/>
        </p:nvSpPr>
        <p:spPr>
          <a:xfrm>
            <a:off x="6462018" y="4687689"/>
            <a:ext cx="5068492"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Little or no change over that period.</a:t>
            </a:r>
          </a:p>
        </p:txBody>
      </p:sp>
      <p:pic>
        <p:nvPicPr>
          <p:cNvPr id="3589" name="Google Shape;371;p12" descr="Google Shape;371;p12"/>
          <p:cNvPicPr>
            <a:picLocks noChangeAspect="1"/>
          </p:cNvPicPr>
          <p:nvPr/>
        </p:nvPicPr>
        <p:blipFill>
          <a:blip r:embed="rId6"/>
          <a:stretch>
            <a:fillRect/>
          </a:stretch>
        </p:blipFill>
        <p:spPr>
          <a:xfrm>
            <a:off x="5233491" y="5128815"/>
            <a:ext cx="945059" cy="1134071"/>
          </a:xfrm>
          <a:prstGeom prst="rect">
            <a:avLst/>
          </a:prstGeom>
          <a:ln w="12700">
            <a:miter lim="400000"/>
          </a:ln>
        </p:spPr>
      </p:pic>
      <p:sp>
        <p:nvSpPr>
          <p:cNvPr id="3590" name="Google Shape;372;p12"/>
          <p:cNvSpPr txBox="1"/>
          <p:nvPr/>
        </p:nvSpPr>
        <p:spPr>
          <a:xfrm>
            <a:off x="6462018" y="5317828"/>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Jagged Line</a:t>
            </a:r>
          </a:p>
        </p:txBody>
      </p:sp>
      <p:sp>
        <p:nvSpPr>
          <p:cNvPr id="3591" name="Google Shape;373;p12"/>
          <p:cNvSpPr txBox="1"/>
          <p:nvPr/>
        </p:nvSpPr>
        <p:spPr>
          <a:xfrm>
            <a:off x="6462018" y="5726509"/>
            <a:ext cx="5068492"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Fluctuations (ups and downs) over time.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5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35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35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35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35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35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35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35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1" grpId="0" animBg="1" advAuto="0"/>
      <p:bldP spid="3582" grpId="0" animBg="1" advAuto="0"/>
      <p:bldP spid="3584" grpId="0" animBg="1" advAuto="0"/>
      <p:bldP spid="3585" grpId="0" animBg="1" advAuto="0"/>
      <p:bldP spid="3587" grpId="0" animBg="1" advAuto="0"/>
      <p:bldP spid="3588" grpId="0" animBg="1" advAuto="0"/>
      <p:bldP spid="3590" grpId="0" animBg="1" advAuto="0"/>
      <p:bldP spid="3591" grpId="0"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3" name="Google Shape;379;p13"/>
          <p:cNvSpPr txBox="1"/>
          <p:nvPr/>
        </p:nvSpPr>
        <p:spPr>
          <a:xfrm>
            <a:off x="449021" y="235729"/>
            <a:ext cx="8575250" cy="4331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5000"/>
              </a:lnSpc>
              <a:defRPr sz="3000" b="1">
                <a:latin typeface="Playfair Display"/>
                <a:ea typeface="Playfair Display"/>
                <a:cs typeface="Playfair Display"/>
                <a:sym typeface="Playfair Display"/>
              </a:defRPr>
            </a:lvl1pPr>
          </a:lstStyle>
          <a:p>
            <a:r>
              <a:rPr sz="2500"/>
              <a:t>Line Graph Example: Study Time vs. Quiz Scores</a:t>
            </a:r>
          </a:p>
        </p:txBody>
      </p:sp>
      <p:pic>
        <p:nvPicPr>
          <p:cNvPr id="3594" name="Google Shape;380;p13" descr="Google Shape;380;p13"/>
          <p:cNvPicPr>
            <a:picLocks noChangeAspect="1"/>
          </p:cNvPicPr>
          <p:nvPr/>
        </p:nvPicPr>
        <p:blipFill>
          <a:blip r:embed="rId2"/>
          <a:stretch>
            <a:fillRect/>
          </a:stretch>
        </p:blipFill>
        <p:spPr>
          <a:xfrm>
            <a:off x="1493918" y="889981"/>
            <a:ext cx="8466613" cy="4454204"/>
          </a:xfrm>
          <a:prstGeom prst="rect">
            <a:avLst/>
          </a:prstGeom>
          <a:ln w="12700">
            <a:miter lim="400000"/>
          </a:ln>
        </p:spPr>
      </p:pic>
      <p:sp>
        <p:nvSpPr>
          <p:cNvPr id="3595" name="Google Shape;381;p13"/>
          <p:cNvSpPr/>
          <p:nvPr/>
        </p:nvSpPr>
        <p:spPr>
          <a:xfrm>
            <a:off x="3242660" y="5595724"/>
            <a:ext cx="95616" cy="69678"/>
          </a:xfrm>
          <a:prstGeom prst="roundRect">
            <a:avLst>
              <a:gd name="adj" fmla="val 11944"/>
            </a:avLst>
          </a:prstGeom>
          <a:solidFill>
            <a:srgbClr val="00314D"/>
          </a:solidFill>
          <a:ln w="12700">
            <a:miter lim="400000"/>
          </a:ln>
        </p:spPr>
        <p:txBody>
          <a:bodyPr lIns="0" tIns="0" rIns="0" bIns="0"/>
          <a:lstStyle/>
          <a:p>
            <a:pPr>
              <a:defRPr>
                <a:latin typeface="Arial"/>
                <a:ea typeface="Arial"/>
                <a:cs typeface="Arial"/>
                <a:sym typeface="Arial"/>
              </a:defRPr>
            </a:pPr>
            <a:endParaRPr sz="1500"/>
          </a:p>
        </p:txBody>
      </p:sp>
      <p:sp>
        <p:nvSpPr>
          <p:cNvPr id="3596" name="Google Shape;382;p13"/>
          <p:cNvSpPr txBox="1"/>
          <p:nvPr/>
        </p:nvSpPr>
        <p:spPr>
          <a:xfrm>
            <a:off x="3604306" y="5595724"/>
            <a:ext cx="643507"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200">
                <a:latin typeface="Inter"/>
                <a:ea typeface="Inter"/>
                <a:cs typeface="Inter"/>
                <a:sym typeface="Inter"/>
              </a:defRPr>
            </a:lvl1pPr>
          </a:lstStyle>
          <a:p>
            <a:r>
              <a:rPr sz="1000"/>
              <a:t>Hours Studied</a:t>
            </a:r>
          </a:p>
        </p:txBody>
      </p:sp>
      <p:sp>
        <p:nvSpPr>
          <p:cNvPr id="3597" name="Google Shape;383;p13"/>
          <p:cNvSpPr/>
          <p:nvPr/>
        </p:nvSpPr>
        <p:spPr>
          <a:xfrm>
            <a:off x="5158769" y="5595724"/>
            <a:ext cx="95616" cy="69678"/>
          </a:xfrm>
          <a:prstGeom prst="roundRect">
            <a:avLst>
              <a:gd name="adj" fmla="val 11944"/>
            </a:avLst>
          </a:prstGeom>
          <a:solidFill>
            <a:srgbClr val="006196"/>
          </a:solidFill>
          <a:ln w="12700">
            <a:miter lim="400000"/>
          </a:ln>
        </p:spPr>
        <p:txBody>
          <a:bodyPr lIns="0" tIns="0" rIns="0" bIns="0"/>
          <a:lstStyle/>
          <a:p>
            <a:pPr>
              <a:defRPr>
                <a:latin typeface="Arial"/>
                <a:ea typeface="Arial"/>
                <a:cs typeface="Arial"/>
                <a:sym typeface="Arial"/>
              </a:defRPr>
            </a:pPr>
            <a:endParaRPr sz="1500"/>
          </a:p>
        </p:txBody>
      </p:sp>
      <p:sp>
        <p:nvSpPr>
          <p:cNvPr id="3598" name="Google Shape;384;p13"/>
          <p:cNvSpPr txBox="1"/>
          <p:nvPr/>
        </p:nvSpPr>
        <p:spPr>
          <a:xfrm>
            <a:off x="5471078" y="5595724"/>
            <a:ext cx="495994"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200">
                <a:latin typeface="Inter"/>
                <a:ea typeface="Inter"/>
                <a:cs typeface="Inter"/>
                <a:sym typeface="Inter"/>
              </a:defRPr>
            </a:lvl1pPr>
          </a:lstStyle>
          <a:p>
            <a:r>
              <a:rPr sz="1000"/>
              <a:t>Quiz Score</a:t>
            </a:r>
          </a:p>
        </p:txBody>
      </p:sp>
      <p:sp>
        <p:nvSpPr>
          <p:cNvPr id="3599" name="Google Shape;385;p13"/>
          <p:cNvSpPr txBox="1"/>
          <p:nvPr/>
        </p:nvSpPr>
        <p:spPr>
          <a:xfrm>
            <a:off x="1990874" y="5916943"/>
            <a:ext cx="8466613" cy="4593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58333"/>
              </a:lnSpc>
              <a:defRPr sz="1200">
                <a:latin typeface="Inter"/>
                <a:ea typeface="Inter"/>
                <a:cs typeface="Inter"/>
                <a:sym typeface="Inter"/>
              </a:defRPr>
            </a:lvl1pPr>
          </a:lstStyle>
          <a:p>
            <a:r>
              <a:rPr sz="1000"/>
              <a:t>This line graph shows how study time and quiz scores changed over six weeks. Notice how quiz scores tend to rise when study hours increase, suggesting a positive relationship between studying and performance.</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01" name="Google Shape;391;p14" descr="Google Shape;391;p14"/>
          <p:cNvPicPr>
            <a:picLocks noChangeAspect="1"/>
          </p:cNvPicPr>
          <p:nvPr/>
        </p:nvPicPr>
        <p:blipFill>
          <a:blip r:embed="rId2"/>
          <a:stretch>
            <a:fillRect/>
          </a:stretch>
        </p:blipFill>
        <p:spPr>
          <a:xfrm>
            <a:off x="1" y="1"/>
            <a:ext cx="4112593" cy="6168887"/>
          </a:xfrm>
          <a:prstGeom prst="rect">
            <a:avLst/>
          </a:prstGeom>
          <a:ln w="12700">
            <a:miter lim="400000"/>
          </a:ln>
        </p:spPr>
      </p:pic>
      <p:sp>
        <p:nvSpPr>
          <p:cNvPr id="3602" name="Google Shape;392;p14"/>
          <p:cNvSpPr txBox="1"/>
          <p:nvPr/>
        </p:nvSpPr>
        <p:spPr>
          <a:xfrm>
            <a:off x="5233491" y="1039515"/>
            <a:ext cx="7067451"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Choosing the Right Graph</a:t>
            </a:r>
          </a:p>
        </p:txBody>
      </p:sp>
      <p:sp>
        <p:nvSpPr>
          <p:cNvPr id="3603" name="Google Shape;393;p14"/>
          <p:cNvSpPr/>
          <p:nvPr/>
        </p:nvSpPr>
        <p:spPr>
          <a:xfrm>
            <a:off x="5233491" y="1913632"/>
            <a:ext cx="3054054" cy="2311499"/>
          </a:xfrm>
          <a:prstGeom prst="roundRect">
            <a:avLst>
              <a:gd name="adj" fmla="val 3435"/>
            </a:avLst>
          </a:prstGeom>
          <a:solidFill>
            <a:srgbClr val="CCEDFF"/>
          </a:solidFill>
          <a:ln>
            <a:solidFill>
              <a:srgbClr val="B2D3E5"/>
            </a:solidFill>
          </a:ln>
        </p:spPr>
        <p:txBody>
          <a:bodyPr lIns="0" tIns="0" rIns="0" bIns="0"/>
          <a:lstStyle/>
          <a:p>
            <a:pPr>
              <a:defRPr sz="2300">
                <a:latin typeface="Arial"/>
                <a:ea typeface="Arial"/>
                <a:cs typeface="Arial"/>
                <a:sym typeface="Arial"/>
              </a:defRPr>
            </a:pPr>
            <a:endParaRPr sz="1917"/>
          </a:p>
        </p:txBody>
      </p:sp>
      <p:sp>
        <p:nvSpPr>
          <p:cNvPr id="3604" name="Google Shape;394;p14"/>
          <p:cNvSpPr txBox="1"/>
          <p:nvPr/>
        </p:nvSpPr>
        <p:spPr>
          <a:xfrm>
            <a:off x="5428853" y="2108994"/>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Bar Graph</a:t>
            </a:r>
          </a:p>
        </p:txBody>
      </p:sp>
      <p:sp>
        <p:nvSpPr>
          <p:cNvPr id="3605" name="Google Shape;395;p14"/>
          <p:cNvSpPr txBox="1"/>
          <p:nvPr/>
        </p:nvSpPr>
        <p:spPr>
          <a:xfrm>
            <a:off x="5428853" y="2517676"/>
            <a:ext cx="2663330" cy="14750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Best for comparing c__________ like favorite foods, test grades by subject, or sports participation.</a:t>
            </a:r>
          </a:p>
        </p:txBody>
      </p:sp>
      <p:sp>
        <p:nvSpPr>
          <p:cNvPr id="3606" name="Google Shape;396;p14"/>
          <p:cNvSpPr/>
          <p:nvPr/>
        </p:nvSpPr>
        <p:spPr>
          <a:xfrm>
            <a:off x="8476555" y="1913632"/>
            <a:ext cx="3054053" cy="2311499"/>
          </a:xfrm>
          <a:prstGeom prst="roundRect">
            <a:avLst>
              <a:gd name="adj" fmla="val 3435"/>
            </a:avLst>
          </a:prstGeom>
          <a:solidFill>
            <a:srgbClr val="CCEDFF"/>
          </a:solidFill>
          <a:ln>
            <a:solidFill>
              <a:srgbClr val="B2D3E5"/>
            </a:solidFill>
          </a:ln>
        </p:spPr>
        <p:txBody>
          <a:bodyPr lIns="0" tIns="0" rIns="0" bIns="0"/>
          <a:lstStyle/>
          <a:p>
            <a:pPr>
              <a:defRPr sz="2300">
                <a:latin typeface="Arial"/>
                <a:ea typeface="Arial"/>
                <a:cs typeface="Arial"/>
                <a:sym typeface="Arial"/>
              </a:defRPr>
            </a:pPr>
            <a:endParaRPr sz="1917"/>
          </a:p>
        </p:txBody>
      </p:sp>
      <p:sp>
        <p:nvSpPr>
          <p:cNvPr id="3607" name="Google Shape;397;p14"/>
          <p:cNvSpPr txBox="1"/>
          <p:nvPr/>
        </p:nvSpPr>
        <p:spPr>
          <a:xfrm>
            <a:off x="8671917" y="2108994"/>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Pie Chart</a:t>
            </a:r>
          </a:p>
        </p:txBody>
      </p:sp>
      <p:sp>
        <p:nvSpPr>
          <p:cNvPr id="3608" name="Google Shape;398;p14"/>
          <p:cNvSpPr txBox="1"/>
          <p:nvPr/>
        </p:nvSpPr>
        <p:spPr>
          <a:xfrm>
            <a:off x="8671918" y="2517676"/>
            <a:ext cx="2663330" cy="14750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Best for showing p______ of a whole like budget breakdown, time spent on activities, or survey responses.</a:t>
            </a:r>
          </a:p>
        </p:txBody>
      </p:sp>
      <p:sp>
        <p:nvSpPr>
          <p:cNvPr id="3609" name="Google Shape;399;p14"/>
          <p:cNvSpPr/>
          <p:nvPr/>
        </p:nvSpPr>
        <p:spPr>
          <a:xfrm>
            <a:off x="5233491" y="4414144"/>
            <a:ext cx="6297018" cy="1404243"/>
          </a:xfrm>
          <a:prstGeom prst="roundRect">
            <a:avLst>
              <a:gd name="adj" fmla="val 5654"/>
            </a:avLst>
          </a:prstGeom>
          <a:solidFill>
            <a:srgbClr val="CCEDFF"/>
          </a:solidFill>
          <a:ln>
            <a:solidFill>
              <a:srgbClr val="B2D3E5"/>
            </a:solidFill>
          </a:ln>
        </p:spPr>
        <p:txBody>
          <a:bodyPr lIns="0" tIns="0" rIns="0" bIns="0"/>
          <a:lstStyle/>
          <a:p>
            <a:pPr>
              <a:defRPr sz="2300">
                <a:latin typeface="Arial"/>
                <a:ea typeface="Arial"/>
                <a:cs typeface="Arial"/>
                <a:sym typeface="Arial"/>
              </a:defRPr>
            </a:pPr>
            <a:endParaRPr sz="1917"/>
          </a:p>
        </p:txBody>
      </p:sp>
      <p:sp>
        <p:nvSpPr>
          <p:cNvPr id="3610" name="Google Shape;400;p14"/>
          <p:cNvSpPr txBox="1"/>
          <p:nvPr/>
        </p:nvSpPr>
        <p:spPr>
          <a:xfrm>
            <a:off x="5428853" y="4609505"/>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Line Graph</a:t>
            </a:r>
          </a:p>
        </p:txBody>
      </p:sp>
      <p:sp>
        <p:nvSpPr>
          <p:cNvPr id="3611" name="Google Shape;401;p14"/>
          <p:cNvSpPr txBox="1"/>
          <p:nvPr/>
        </p:nvSpPr>
        <p:spPr>
          <a:xfrm>
            <a:off x="5428854" y="5018186"/>
            <a:ext cx="5906293"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Best for showing c_________ over time like temperature trends, growth patterns, or progress tracking.</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3" name="Google Shape;391;p14" descr="Google Shape;391;p14"/>
          <p:cNvPicPr>
            <a:picLocks noChangeAspect="1"/>
          </p:cNvPicPr>
          <p:nvPr/>
        </p:nvPicPr>
        <p:blipFill>
          <a:blip r:embed="rId2"/>
          <a:stretch>
            <a:fillRect/>
          </a:stretch>
        </p:blipFill>
        <p:spPr>
          <a:xfrm>
            <a:off x="1" y="1"/>
            <a:ext cx="4112593" cy="6168887"/>
          </a:xfrm>
          <a:prstGeom prst="rect">
            <a:avLst/>
          </a:prstGeom>
          <a:ln w="12700">
            <a:miter lim="400000"/>
          </a:ln>
        </p:spPr>
      </p:pic>
      <p:sp>
        <p:nvSpPr>
          <p:cNvPr id="3614" name="Google Shape;392;p14"/>
          <p:cNvSpPr txBox="1"/>
          <p:nvPr/>
        </p:nvSpPr>
        <p:spPr>
          <a:xfrm>
            <a:off x="5233491" y="1039515"/>
            <a:ext cx="7067451" cy="6353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ct val="124719"/>
              </a:lnSpc>
              <a:defRPr sz="4400" b="1">
                <a:latin typeface="Playfair Display"/>
                <a:ea typeface="Playfair Display"/>
                <a:cs typeface="Playfair Display"/>
                <a:sym typeface="Playfair Display"/>
              </a:defRPr>
            </a:lvl1pPr>
          </a:lstStyle>
          <a:p>
            <a:r>
              <a:rPr sz="3667"/>
              <a:t>Choosing the Right Graph</a:t>
            </a:r>
          </a:p>
        </p:txBody>
      </p:sp>
      <p:sp>
        <p:nvSpPr>
          <p:cNvPr id="3615" name="Google Shape;393;p14"/>
          <p:cNvSpPr/>
          <p:nvPr/>
        </p:nvSpPr>
        <p:spPr>
          <a:xfrm>
            <a:off x="5233491" y="1913632"/>
            <a:ext cx="3054054" cy="2311499"/>
          </a:xfrm>
          <a:prstGeom prst="roundRect">
            <a:avLst>
              <a:gd name="adj" fmla="val 3435"/>
            </a:avLst>
          </a:prstGeom>
          <a:solidFill>
            <a:srgbClr val="CCEDFF"/>
          </a:solidFill>
          <a:ln>
            <a:solidFill>
              <a:srgbClr val="B2D3E5"/>
            </a:solidFill>
          </a:ln>
        </p:spPr>
        <p:txBody>
          <a:bodyPr lIns="0" tIns="0" rIns="0" bIns="0"/>
          <a:lstStyle/>
          <a:p>
            <a:pPr>
              <a:defRPr sz="2300">
                <a:latin typeface="Arial"/>
                <a:ea typeface="Arial"/>
                <a:cs typeface="Arial"/>
                <a:sym typeface="Arial"/>
              </a:defRPr>
            </a:pPr>
            <a:endParaRPr sz="1917"/>
          </a:p>
        </p:txBody>
      </p:sp>
      <p:sp>
        <p:nvSpPr>
          <p:cNvPr id="3616" name="Google Shape;394;p14"/>
          <p:cNvSpPr txBox="1"/>
          <p:nvPr/>
        </p:nvSpPr>
        <p:spPr>
          <a:xfrm>
            <a:off x="5428853" y="2108994"/>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Bar Graph</a:t>
            </a:r>
          </a:p>
        </p:txBody>
      </p:sp>
      <p:sp>
        <p:nvSpPr>
          <p:cNvPr id="3617" name="Google Shape;395;p14"/>
          <p:cNvSpPr txBox="1"/>
          <p:nvPr/>
        </p:nvSpPr>
        <p:spPr>
          <a:xfrm>
            <a:off x="5428853" y="2517676"/>
            <a:ext cx="2663330" cy="14750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Best for comparing categories like favorite foods, test grades by subject, or sports participation.</a:t>
            </a:r>
          </a:p>
        </p:txBody>
      </p:sp>
      <p:sp>
        <p:nvSpPr>
          <p:cNvPr id="3618" name="Google Shape;396;p14"/>
          <p:cNvSpPr/>
          <p:nvPr/>
        </p:nvSpPr>
        <p:spPr>
          <a:xfrm>
            <a:off x="8476555" y="1913632"/>
            <a:ext cx="3054053" cy="2311499"/>
          </a:xfrm>
          <a:prstGeom prst="roundRect">
            <a:avLst>
              <a:gd name="adj" fmla="val 3435"/>
            </a:avLst>
          </a:prstGeom>
          <a:solidFill>
            <a:srgbClr val="CCEDFF"/>
          </a:solidFill>
          <a:ln>
            <a:solidFill>
              <a:srgbClr val="B2D3E5"/>
            </a:solidFill>
          </a:ln>
        </p:spPr>
        <p:txBody>
          <a:bodyPr lIns="0" tIns="0" rIns="0" bIns="0"/>
          <a:lstStyle/>
          <a:p>
            <a:pPr>
              <a:defRPr sz="2300">
                <a:latin typeface="Arial"/>
                <a:ea typeface="Arial"/>
                <a:cs typeface="Arial"/>
                <a:sym typeface="Arial"/>
              </a:defRPr>
            </a:pPr>
            <a:endParaRPr sz="1917"/>
          </a:p>
        </p:txBody>
      </p:sp>
      <p:sp>
        <p:nvSpPr>
          <p:cNvPr id="3619" name="Google Shape;397;p14"/>
          <p:cNvSpPr txBox="1"/>
          <p:nvPr/>
        </p:nvSpPr>
        <p:spPr>
          <a:xfrm>
            <a:off x="8671917" y="2108994"/>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Pie Chart</a:t>
            </a:r>
          </a:p>
        </p:txBody>
      </p:sp>
      <p:sp>
        <p:nvSpPr>
          <p:cNvPr id="3620" name="Google Shape;398;p14"/>
          <p:cNvSpPr txBox="1"/>
          <p:nvPr/>
        </p:nvSpPr>
        <p:spPr>
          <a:xfrm>
            <a:off x="8671918" y="2517676"/>
            <a:ext cx="2663330" cy="14750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Best for showing parts of a whole like budget breakdown, time spent on activities, or survey responses.</a:t>
            </a:r>
          </a:p>
        </p:txBody>
      </p:sp>
      <p:sp>
        <p:nvSpPr>
          <p:cNvPr id="3621" name="Google Shape;399;p14"/>
          <p:cNvSpPr/>
          <p:nvPr/>
        </p:nvSpPr>
        <p:spPr>
          <a:xfrm>
            <a:off x="5233491" y="4414144"/>
            <a:ext cx="6297018" cy="1404243"/>
          </a:xfrm>
          <a:prstGeom prst="roundRect">
            <a:avLst>
              <a:gd name="adj" fmla="val 5654"/>
            </a:avLst>
          </a:prstGeom>
          <a:solidFill>
            <a:srgbClr val="CCEDFF"/>
          </a:solidFill>
          <a:ln>
            <a:solidFill>
              <a:srgbClr val="B2D3E5"/>
            </a:solidFill>
          </a:ln>
        </p:spPr>
        <p:txBody>
          <a:bodyPr lIns="0" tIns="0" rIns="0" bIns="0"/>
          <a:lstStyle/>
          <a:p>
            <a:pPr>
              <a:defRPr sz="2300">
                <a:latin typeface="Arial"/>
                <a:ea typeface="Arial"/>
                <a:cs typeface="Arial"/>
                <a:sym typeface="Arial"/>
              </a:defRPr>
            </a:pPr>
            <a:endParaRPr sz="1917"/>
          </a:p>
        </p:txBody>
      </p:sp>
      <p:sp>
        <p:nvSpPr>
          <p:cNvPr id="3622" name="Google Shape;400;p14"/>
          <p:cNvSpPr txBox="1"/>
          <p:nvPr/>
        </p:nvSpPr>
        <p:spPr>
          <a:xfrm>
            <a:off x="5428853" y="4609505"/>
            <a:ext cx="2362697" cy="2950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b="1">
                <a:latin typeface="Playfair Display"/>
                <a:ea typeface="Playfair Display"/>
                <a:cs typeface="Playfair Display"/>
                <a:sym typeface="Playfair Display"/>
              </a:defRPr>
            </a:lvl1pPr>
          </a:lstStyle>
          <a:p>
            <a:r>
              <a:rPr sz="1917"/>
              <a:t>Line Graph</a:t>
            </a:r>
          </a:p>
        </p:txBody>
      </p:sp>
      <p:sp>
        <p:nvSpPr>
          <p:cNvPr id="3623" name="Google Shape;401;p14"/>
          <p:cNvSpPr txBox="1"/>
          <p:nvPr/>
        </p:nvSpPr>
        <p:spPr>
          <a:xfrm>
            <a:off x="5428854" y="5018186"/>
            <a:ext cx="5906293" cy="5900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2300">
                <a:latin typeface="Inter"/>
                <a:ea typeface="Inter"/>
                <a:cs typeface="Inter"/>
                <a:sym typeface="Inter"/>
              </a:defRPr>
            </a:lvl1pPr>
          </a:lstStyle>
          <a:p>
            <a:r>
              <a:rPr sz="1917"/>
              <a:t>Best for showing changes over time like temperature trends, growth patterns, or progress tracking.</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5" name="Image 0" descr="Image 0"/>
          <p:cNvPicPr>
            <a:picLocks noChangeAspect="1"/>
          </p:cNvPicPr>
          <p:nvPr/>
        </p:nvPicPr>
        <p:blipFill>
          <a:blip r:embed="rId2"/>
          <a:stretch>
            <a:fillRect/>
          </a:stretch>
        </p:blipFill>
        <p:spPr>
          <a:xfrm>
            <a:off x="8005380" y="700690"/>
            <a:ext cx="3935541" cy="5903311"/>
          </a:xfrm>
          <a:prstGeom prst="rect">
            <a:avLst/>
          </a:prstGeom>
          <a:ln w="12700">
            <a:miter lim="400000"/>
          </a:ln>
        </p:spPr>
      </p:pic>
      <p:sp>
        <p:nvSpPr>
          <p:cNvPr id="3626" name="Text 0"/>
          <p:cNvSpPr txBox="1"/>
          <p:nvPr/>
        </p:nvSpPr>
        <p:spPr>
          <a:xfrm>
            <a:off x="661492" y="1043087"/>
            <a:ext cx="523220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Homework - Teamwork</a:t>
            </a:r>
          </a:p>
        </p:txBody>
      </p:sp>
      <p:sp>
        <p:nvSpPr>
          <p:cNvPr id="3627" name="Shape 1"/>
          <p:cNvSpPr/>
          <p:nvPr/>
        </p:nvSpPr>
        <p:spPr>
          <a:xfrm>
            <a:off x="492158" y="1793879"/>
            <a:ext cx="6843855" cy="2947296"/>
          </a:xfrm>
          <a:prstGeom prst="roundRect">
            <a:avLst>
              <a:gd name="adj" fmla="val 2702"/>
            </a:avLst>
          </a:prstGeom>
          <a:solidFill>
            <a:srgbClr val="CCEDFF"/>
          </a:solidFill>
          <a:ln w="7620">
            <a:solidFill>
              <a:srgbClr val="B2D3E5"/>
            </a:solidFill>
          </a:ln>
        </p:spPr>
        <p:txBody>
          <a:bodyPr lIns="38099" rIns="38099"/>
          <a:lstStyle/>
          <a:p>
            <a:endParaRPr sz="1500"/>
          </a:p>
        </p:txBody>
      </p:sp>
      <p:sp>
        <p:nvSpPr>
          <p:cNvPr id="3628" name="Text 2"/>
          <p:cNvSpPr txBox="1"/>
          <p:nvPr/>
        </p:nvSpPr>
        <p:spPr>
          <a:xfrm>
            <a:off x="856853" y="1951341"/>
            <a:ext cx="5148571" cy="29288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2250"/>
              </a:lnSpc>
              <a:defRPr sz="2200" b="1">
                <a:latin typeface="Playfair Display Bold"/>
                <a:ea typeface="Playfair Display Bold"/>
                <a:cs typeface="Playfair Display Bold"/>
                <a:sym typeface="Playfair Display Bold"/>
              </a:defRPr>
            </a:pPr>
            <a:endParaRPr sz="1833"/>
          </a:p>
          <a:p>
            <a:pPr marL="183808" indent="-183808">
              <a:lnSpc>
                <a:spcPts val="2250"/>
              </a:lnSpc>
              <a:buSzPct val="100000"/>
              <a:buChar char="•"/>
              <a:defRPr sz="2200" b="1">
                <a:latin typeface="Playfair Display Bold"/>
                <a:ea typeface="Playfair Display Bold"/>
                <a:cs typeface="Playfair Display Bold"/>
                <a:sym typeface="Playfair Display Bold"/>
              </a:defRPr>
            </a:pPr>
            <a:r>
              <a:rPr sz="1833"/>
              <a:t>Simply explore your data. Look at your data to see which graphs and tables can help you answer your research question. (You can work on crafting them tomorrow but at first see what may come out of your data. </a:t>
            </a:r>
          </a:p>
          <a:p>
            <a:pPr>
              <a:lnSpc>
                <a:spcPts val="2250"/>
              </a:lnSpc>
              <a:defRPr sz="2200" b="1">
                <a:latin typeface="Playfair Display Bold"/>
                <a:ea typeface="Playfair Display Bold"/>
                <a:cs typeface="Playfair Display Bold"/>
                <a:sym typeface="Playfair Display Bold"/>
              </a:defRPr>
            </a:pPr>
            <a:endParaRPr sz="1833"/>
          </a:p>
          <a:p>
            <a:pPr marL="183808" indent="-183808">
              <a:lnSpc>
                <a:spcPts val="2250"/>
              </a:lnSpc>
              <a:buSzPct val="100000"/>
              <a:buChar char="•"/>
              <a:defRPr sz="2200" b="1">
                <a:latin typeface="Playfair Display Bold"/>
                <a:ea typeface="Playfair Display Bold"/>
                <a:cs typeface="Playfair Display Bold"/>
                <a:sym typeface="Playfair Display Bold"/>
              </a:defRPr>
            </a:pPr>
            <a:r>
              <a:rPr sz="1833"/>
              <a:t>Start your presentation slides: Lit review &amp; Research Questions </a:t>
            </a:r>
          </a:p>
          <a:p>
            <a:pPr>
              <a:lnSpc>
                <a:spcPts val="2250"/>
              </a:lnSpc>
              <a:defRPr sz="2200" b="1">
                <a:latin typeface="Playfair Display Bold"/>
                <a:ea typeface="Playfair Display Bold"/>
                <a:cs typeface="Playfair Display Bold"/>
                <a:sym typeface="Playfair Display Bold"/>
              </a:defRPr>
            </a:pPr>
            <a:endParaRPr sz="1833"/>
          </a:p>
        </p:txBody>
      </p:sp>
      <p:pic>
        <p:nvPicPr>
          <p:cNvPr id="3629" name="pasted-movie.png" descr="pasted-movie.png"/>
          <p:cNvPicPr>
            <a:picLocks/>
          </p:cNvPicPr>
          <p:nvPr/>
        </p:nvPicPr>
        <p:blipFill>
          <a:blip r:embed="rId3"/>
          <a:stretch>
            <a:fillRect/>
          </a:stretch>
        </p:blipFill>
        <p:spPr>
          <a:xfrm rot="360000">
            <a:off x="6246565" y="2838592"/>
            <a:ext cx="2996112" cy="3781180"/>
          </a:xfrm>
          <a:prstGeom prst="rect">
            <a:avLst/>
          </a:prstGeom>
          <a:effectLst>
            <a:outerShdw blurRad="381000" dist="114300" rotWithShape="0">
              <a:srgbClr val="000000">
                <a:alpha val="75000"/>
              </a:srgbClr>
            </a:outerShdw>
          </a:effectLst>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1" name="Rectangle"/>
          <p:cNvSpPr/>
          <p:nvPr/>
        </p:nvSpPr>
        <p:spPr>
          <a:xfrm>
            <a:off x="10278766" y="-63446"/>
            <a:ext cx="1058334" cy="6984892"/>
          </a:xfrm>
          <a:prstGeom prst="rect">
            <a:avLst/>
          </a:prstGeom>
          <a:solidFill>
            <a:srgbClr val="FFFFFF"/>
          </a:solidFill>
          <a:ln w="12700">
            <a:miter lim="400000"/>
          </a:ln>
        </p:spPr>
        <p:txBody>
          <a:bodyPr lIns="38099" rIns="38099" anchor="ctr"/>
          <a:lstStyle/>
          <a:p>
            <a:endParaRPr sz="1500"/>
          </a:p>
        </p:txBody>
      </p:sp>
      <p:sp>
        <p:nvSpPr>
          <p:cNvPr id="3632" name="Rectangle"/>
          <p:cNvSpPr/>
          <p:nvPr/>
        </p:nvSpPr>
        <p:spPr>
          <a:xfrm>
            <a:off x="8310266" y="120000"/>
            <a:ext cx="1058334" cy="6984891"/>
          </a:xfrm>
          <a:prstGeom prst="rect">
            <a:avLst/>
          </a:prstGeom>
          <a:solidFill>
            <a:srgbClr val="FFFFFF"/>
          </a:solidFill>
          <a:ln w="12700">
            <a:miter lim="400000"/>
          </a:ln>
        </p:spPr>
        <p:txBody>
          <a:bodyPr lIns="38099" rIns="38099" anchor="ctr"/>
          <a:lstStyle/>
          <a:p>
            <a:endParaRPr sz="1500"/>
          </a:p>
        </p:txBody>
      </p:sp>
      <p:sp>
        <p:nvSpPr>
          <p:cNvPr id="3633" name="Rectangle"/>
          <p:cNvSpPr/>
          <p:nvPr/>
        </p:nvSpPr>
        <p:spPr>
          <a:xfrm>
            <a:off x="6341766" y="-63446"/>
            <a:ext cx="1058334" cy="6984892"/>
          </a:xfrm>
          <a:prstGeom prst="rect">
            <a:avLst/>
          </a:prstGeom>
          <a:solidFill>
            <a:srgbClr val="FFFFFF"/>
          </a:solidFill>
          <a:ln w="12700">
            <a:miter lim="400000"/>
          </a:ln>
        </p:spPr>
        <p:txBody>
          <a:bodyPr lIns="38099" rIns="38099" anchor="ctr"/>
          <a:lstStyle/>
          <a:p>
            <a:endParaRPr sz="1500"/>
          </a:p>
        </p:txBody>
      </p:sp>
      <p:sp>
        <p:nvSpPr>
          <p:cNvPr id="3634" name="Rectangle"/>
          <p:cNvSpPr/>
          <p:nvPr/>
        </p:nvSpPr>
        <p:spPr>
          <a:xfrm>
            <a:off x="4474788" y="-63446"/>
            <a:ext cx="1058334" cy="6984892"/>
          </a:xfrm>
          <a:prstGeom prst="rect">
            <a:avLst/>
          </a:prstGeom>
          <a:solidFill>
            <a:srgbClr val="FFFFFF"/>
          </a:solidFill>
          <a:ln w="12700">
            <a:miter lim="400000"/>
          </a:ln>
        </p:spPr>
        <p:txBody>
          <a:bodyPr lIns="38099" rIns="38099" anchor="ctr"/>
          <a:lstStyle/>
          <a:p>
            <a:endParaRPr sz="1500"/>
          </a:p>
        </p:txBody>
      </p:sp>
      <p:sp>
        <p:nvSpPr>
          <p:cNvPr id="3635" name="Rectangle"/>
          <p:cNvSpPr/>
          <p:nvPr/>
        </p:nvSpPr>
        <p:spPr>
          <a:xfrm>
            <a:off x="2607811" y="-63446"/>
            <a:ext cx="1058334" cy="6984892"/>
          </a:xfrm>
          <a:prstGeom prst="rect">
            <a:avLst/>
          </a:prstGeom>
          <a:solidFill>
            <a:srgbClr val="FFFFFF"/>
          </a:solidFill>
          <a:ln w="12700">
            <a:miter lim="400000"/>
          </a:ln>
        </p:spPr>
        <p:txBody>
          <a:bodyPr lIns="38099" rIns="38099" anchor="ctr"/>
          <a:lstStyle/>
          <a:p>
            <a:endParaRPr sz="1500"/>
          </a:p>
        </p:txBody>
      </p:sp>
      <p:sp>
        <p:nvSpPr>
          <p:cNvPr id="3636" name="Rectangle"/>
          <p:cNvSpPr/>
          <p:nvPr/>
        </p:nvSpPr>
        <p:spPr>
          <a:xfrm>
            <a:off x="740833" y="-63446"/>
            <a:ext cx="1058333" cy="6984892"/>
          </a:xfrm>
          <a:prstGeom prst="rect">
            <a:avLst/>
          </a:prstGeom>
          <a:solidFill>
            <a:srgbClr val="FFFFFF"/>
          </a:solidFill>
          <a:ln w="12700">
            <a:miter lim="400000"/>
          </a:ln>
        </p:spPr>
        <p:txBody>
          <a:bodyPr lIns="38099" rIns="38099" anchor="ctr"/>
          <a:lstStyle/>
          <a:p>
            <a:endParaRPr sz="1500"/>
          </a:p>
        </p:txBody>
      </p:sp>
      <p:sp>
        <p:nvSpPr>
          <p:cNvPr id="3637" name="EXTRA SLIDES FOR DAY 6"/>
          <p:cNvSpPr txBox="1"/>
          <p:nvPr/>
        </p:nvSpPr>
        <p:spPr>
          <a:xfrm>
            <a:off x="81618" y="1146599"/>
            <a:ext cx="12028765" cy="11113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pPr algn="ctr">
              <a:lnSpc>
                <a:spcPct val="90000"/>
              </a:lnSpc>
              <a:defRPr sz="4400">
                <a:latin typeface="Aptos Display"/>
                <a:ea typeface="Aptos Display"/>
                <a:cs typeface="Aptos Display"/>
                <a:sym typeface="Aptos Display"/>
              </a:defRPr>
            </a:pPr>
            <a:endParaRPr sz="3667"/>
          </a:p>
          <a:p>
            <a:pPr algn="ctr">
              <a:lnSpc>
                <a:spcPct val="90000"/>
              </a:lnSpc>
              <a:defRPr sz="4400">
                <a:latin typeface="Aptos Display"/>
                <a:ea typeface="Aptos Display"/>
                <a:cs typeface="Aptos Display"/>
                <a:sym typeface="Aptos Display"/>
              </a:defRPr>
            </a:pPr>
            <a:r>
              <a:rPr sz="3667" b="1"/>
              <a:t>EXTRA SLIDES FOR DAY 6</a:t>
            </a:r>
          </a:p>
        </p:txBody>
      </p:sp>
      <p:sp>
        <p:nvSpPr>
          <p:cNvPr id="3638" name="Rectangle"/>
          <p:cNvSpPr/>
          <p:nvPr/>
        </p:nvSpPr>
        <p:spPr>
          <a:xfrm>
            <a:off x="-155850" y="6147566"/>
            <a:ext cx="12503701" cy="748827"/>
          </a:xfrm>
          <a:prstGeom prst="rect">
            <a:avLst/>
          </a:prstGeom>
          <a:solidFill>
            <a:srgbClr val="FFFFFF"/>
          </a:solidFill>
          <a:ln w="12700">
            <a:miter lim="400000"/>
          </a:ln>
        </p:spPr>
        <p:txBody>
          <a:bodyPr lIns="38099" rIns="38099" anchor="ctr"/>
          <a:lstStyle/>
          <a:p>
            <a:endParaRPr sz="1500"/>
          </a:p>
        </p:txBody>
      </p:sp>
      <p:sp>
        <p:nvSpPr>
          <p:cNvPr id="3639" name="Rectangle"/>
          <p:cNvSpPr/>
          <p:nvPr/>
        </p:nvSpPr>
        <p:spPr>
          <a:xfrm>
            <a:off x="-11851" y="-58595"/>
            <a:ext cx="12215701" cy="748827"/>
          </a:xfrm>
          <a:prstGeom prst="rect">
            <a:avLst/>
          </a:prstGeom>
          <a:solidFill>
            <a:srgbClr val="FFFFFF"/>
          </a:solidFill>
          <a:ln w="12700">
            <a:miter lim="400000"/>
          </a:ln>
        </p:spPr>
        <p:txBody>
          <a:bodyPr lIns="38099" rIns="38099" anchor="ctr"/>
          <a:lstStyle/>
          <a:p>
            <a:endParaRPr sz="1500"/>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1" name="Text 0"/>
          <p:cNvSpPr txBox="1"/>
          <p:nvPr/>
        </p:nvSpPr>
        <p:spPr>
          <a:xfrm>
            <a:off x="1826401" y="2560536"/>
            <a:ext cx="8539197" cy="23183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ctr">
              <a:lnSpc>
                <a:spcPts val="4583"/>
              </a:lnSpc>
              <a:defRPr sz="4400" b="1">
                <a:latin typeface="Playfair Display Bold"/>
                <a:ea typeface="Playfair Display Bold"/>
                <a:cs typeface="Playfair Display Bold"/>
                <a:sym typeface="Playfair Display Bold"/>
              </a:defRPr>
            </a:pPr>
            <a:r>
              <a:rPr sz="3667"/>
              <a:t>Let’s shift our attention to data ethics!</a:t>
            </a:r>
          </a:p>
          <a:p>
            <a:pPr algn="ctr">
              <a:lnSpc>
                <a:spcPts val="4583"/>
              </a:lnSpc>
              <a:defRPr sz="4400" b="1">
                <a:latin typeface="Playfair Display Bold"/>
                <a:ea typeface="Playfair Display Bold"/>
                <a:cs typeface="Playfair Display Bold"/>
                <a:sym typeface="Playfair Display Bold"/>
              </a:defRPr>
            </a:pPr>
            <a:endParaRPr sz="3667"/>
          </a:p>
          <a:p>
            <a:pPr algn="ctr">
              <a:lnSpc>
                <a:spcPts val="4583"/>
              </a:lnSpc>
              <a:defRPr sz="4400">
                <a:latin typeface="Playfair Display Bold"/>
                <a:ea typeface="Playfair Display Bold"/>
                <a:cs typeface="Playfair Display Bold"/>
                <a:sym typeface="Playfair Display Bold"/>
              </a:defRPr>
            </a:pPr>
            <a:r>
              <a:rPr sz="3667"/>
              <a:t>As you work with data, be mindful of the</a:t>
            </a:r>
          </a:p>
          <a:p>
            <a:pPr algn="ctr">
              <a:lnSpc>
                <a:spcPts val="4583"/>
              </a:lnSpc>
              <a:defRPr sz="4400">
                <a:latin typeface="Playfair Display Bold"/>
                <a:ea typeface="Playfair Display Bold"/>
                <a:cs typeface="Playfair Display Bold"/>
                <a:sym typeface="Playfair Display Bold"/>
              </a:defRPr>
            </a:pPr>
            <a:r>
              <a:rPr sz="3667"/>
              <a:t>ethical considerations.</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3" name="Data can shape decisions, influence opinions, and affect real people. If used dishonestly, data can mislead, harm others, or spread false information."/>
          <p:cNvSpPr txBox="1"/>
          <p:nvPr/>
        </p:nvSpPr>
        <p:spPr>
          <a:xfrm>
            <a:off x="1193757" y="4796928"/>
            <a:ext cx="9804487" cy="7696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defTabSz="457200">
              <a:lnSpc>
                <a:spcPct val="115000"/>
              </a:lnSpc>
              <a:spcBef>
                <a:spcPts val="1000"/>
              </a:spcBef>
              <a:defRPr sz="2400">
                <a:uFill>
                  <a:solidFill>
                    <a:srgbClr val="000000"/>
                  </a:solidFill>
                </a:uFill>
                <a:latin typeface="Playfair Display"/>
                <a:ea typeface="Playfair Display"/>
                <a:cs typeface="Playfair Display"/>
                <a:sym typeface="Playfair Display"/>
              </a:defRPr>
            </a:lvl1pPr>
          </a:lstStyle>
          <a:p>
            <a:r>
              <a:rPr sz="2000"/>
              <a:t>Data can shape decisions, influence opinions, and affect real people. If used dishonestly, data can mislead, harm others, or spread false information.</a:t>
            </a:r>
          </a:p>
        </p:txBody>
      </p:sp>
      <p:sp>
        <p:nvSpPr>
          <p:cNvPr id="3644" name="Text 0"/>
          <p:cNvSpPr txBox="1"/>
          <p:nvPr/>
        </p:nvSpPr>
        <p:spPr>
          <a:xfrm>
            <a:off x="1182388" y="1600339"/>
            <a:ext cx="4555734"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What is Data Ethics? </a:t>
            </a:r>
          </a:p>
        </p:txBody>
      </p:sp>
      <p:sp>
        <p:nvSpPr>
          <p:cNvPr id="3645" name="Text 0"/>
          <p:cNvSpPr txBox="1"/>
          <p:nvPr/>
        </p:nvSpPr>
        <p:spPr>
          <a:xfrm>
            <a:off x="1150276" y="4046607"/>
            <a:ext cx="4921219"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Why Should We Care? </a:t>
            </a:r>
          </a:p>
        </p:txBody>
      </p:sp>
      <p:sp>
        <p:nvSpPr>
          <p:cNvPr id="3646" name="Data ethics is about using data responsibly, honestly, and fairly and it applies to every step of the process including collecting, analyzing, sharing, or presenting it. Whether you're doing a science fair project or studying global issues, ethical data "/>
          <p:cNvSpPr txBox="1"/>
          <p:nvPr/>
        </p:nvSpPr>
        <p:spPr>
          <a:xfrm>
            <a:off x="1140167" y="2289241"/>
            <a:ext cx="9697584" cy="14775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defTabSz="457200">
              <a:lnSpc>
                <a:spcPct val="115000"/>
              </a:lnSpc>
              <a:spcBef>
                <a:spcPts val="1000"/>
              </a:spcBef>
              <a:defRPr sz="2400">
                <a:uFill>
                  <a:solidFill>
                    <a:srgbClr val="000000"/>
                  </a:solidFill>
                </a:uFill>
                <a:latin typeface="Playfair Display"/>
                <a:ea typeface="Playfair Display"/>
                <a:cs typeface="Playfair Display"/>
                <a:sym typeface="Playfair Display"/>
              </a:defRPr>
            </a:lvl1pPr>
          </a:lstStyle>
          <a:p>
            <a:r>
              <a:rPr sz="2000"/>
              <a:t>Data ethics is about using data responsibly, honestly, and fairly and it applies to every step of the process including collecting, analyzing, sharing, or presenting it. Whether you're doing a science fair project or studying global issues, ethical data use matters.</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8" name="Text 0"/>
          <p:cNvSpPr txBox="1"/>
          <p:nvPr/>
        </p:nvSpPr>
        <p:spPr>
          <a:xfrm>
            <a:off x="1055388" y="796005"/>
            <a:ext cx="5604098"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Basic Rules of Data Ethics</a:t>
            </a:r>
          </a:p>
        </p:txBody>
      </p:sp>
      <p:sp>
        <p:nvSpPr>
          <p:cNvPr id="3649" name="1. Don’t Cherry-Pick…"/>
          <p:cNvSpPr txBox="1"/>
          <p:nvPr/>
        </p:nvSpPr>
        <p:spPr>
          <a:xfrm>
            <a:off x="1064163" y="1702696"/>
            <a:ext cx="10404270" cy="44982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pPr defTabSz="380985">
              <a:lnSpc>
                <a:spcPct val="115000"/>
              </a:lnSpc>
              <a:spcBef>
                <a:spcPts val="833"/>
              </a:spcBef>
              <a:defRPr sz="2100" b="1">
                <a:solidFill>
                  <a:srgbClr val="4F81BD"/>
                </a:solidFill>
                <a:uFill>
                  <a:solidFill>
                    <a:srgbClr val="4F81BD"/>
                  </a:solidFill>
                </a:uFill>
                <a:latin typeface="Playfair Display"/>
                <a:ea typeface="Playfair Display"/>
                <a:cs typeface="Playfair Display"/>
                <a:sym typeface="Playfair Display"/>
              </a:defRPr>
            </a:pPr>
            <a:r>
              <a:rPr sz="1750"/>
              <a:t>1. Don’t Cherry-Pick</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Only showing data that supports your idea and ignoring data that doesn’t is dishonest.</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Report all results, even if they surprise or challenge your expectations.</a:t>
            </a:r>
          </a:p>
          <a:p>
            <a:pPr defTabSz="380985">
              <a:lnSpc>
                <a:spcPct val="115000"/>
              </a:lnSpc>
              <a:spcBef>
                <a:spcPts val="833"/>
              </a:spcBef>
              <a:defRPr sz="2100" b="1">
                <a:solidFill>
                  <a:srgbClr val="4F81BD"/>
                </a:solidFill>
                <a:uFill>
                  <a:solidFill>
                    <a:srgbClr val="4F81BD"/>
                  </a:solidFill>
                </a:uFill>
                <a:latin typeface="Playfair Display"/>
                <a:ea typeface="Playfair Display"/>
                <a:cs typeface="Playfair Display"/>
                <a:sym typeface="Playfair Display"/>
              </a:defRPr>
            </a:pPr>
            <a:r>
              <a:rPr sz="1750"/>
              <a:t>2. Don’t Manipulate Data to Fit Your Hypothesis</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Changing numbers or tweaking how you measure things just to get a better result is not okay.</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Let the data speak for itself.</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Don’t round, group, or leave out data points to make your idea look better.</a:t>
            </a:r>
          </a:p>
          <a:p>
            <a:pPr defTabSz="380985">
              <a:lnSpc>
                <a:spcPct val="115000"/>
              </a:lnSpc>
              <a:spcBef>
                <a:spcPts val="833"/>
              </a:spcBef>
              <a:defRPr sz="2100" b="1">
                <a:solidFill>
                  <a:srgbClr val="4F81BD"/>
                </a:solidFill>
                <a:uFill>
                  <a:solidFill>
                    <a:srgbClr val="4F81BD"/>
                  </a:solidFill>
                </a:uFill>
                <a:latin typeface="Playfair Display"/>
                <a:ea typeface="Playfair Display"/>
                <a:cs typeface="Playfair Display"/>
                <a:sym typeface="Playfair Display"/>
              </a:defRPr>
            </a:pPr>
            <a:r>
              <a:rPr sz="1750"/>
              <a:t>3. Protect People’s Privacy</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If you collect data from real people, protect their identities and personal information.</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Ask for permission (informed consent).</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Keep names or sensitive details private unless permission is given.</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1" name="4. Be Clear and Honest…"/>
          <p:cNvSpPr txBox="1"/>
          <p:nvPr/>
        </p:nvSpPr>
        <p:spPr>
          <a:xfrm>
            <a:off x="1044796" y="1615187"/>
            <a:ext cx="10445693" cy="491057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pPr defTabSz="380985">
              <a:lnSpc>
                <a:spcPct val="115000"/>
              </a:lnSpc>
              <a:spcBef>
                <a:spcPts val="833"/>
              </a:spcBef>
              <a:defRPr sz="2100" b="1">
                <a:solidFill>
                  <a:srgbClr val="4F81BD"/>
                </a:solidFill>
                <a:uFill>
                  <a:solidFill>
                    <a:srgbClr val="4F81BD"/>
                  </a:solidFill>
                </a:uFill>
                <a:latin typeface="Playfair Display"/>
                <a:ea typeface="Playfair Display"/>
                <a:cs typeface="Playfair Display"/>
                <a:sym typeface="Playfair Display"/>
              </a:defRPr>
            </a:pPr>
            <a:r>
              <a:rPr sz="1750"/>
              <a:t>4. Be Clear and Honest</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Don’t mislead with fancy graphs or confusing statistics.</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Avoid using tricky visuals that exaggerate results.</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Label graphs clearly and explain what the numbers mean.</a:t>
            </a:r>
          </a:p>
          <a:p>
            <a:pPr defTabSz="380985">
              <a:lnSpc>
                <a:spcPct val="115000"/>
              </a:lnSpc>
              <a:spcBef>
                <a:spcPts val="833"/>
              </a:spcBef>
              <a:defRPr sz="2100" b="1">
                <a:solidFill>
                  <a:srgbClr val="4F81BD"/>
                </a:solidFill>
                <a:uFill>
                  <a:solidFill>
                    <a:srgbClr val="4F81BD"/>
                  </a:solidFill>
                </a:uFill>
                <a:latin typeface="Playfair Display"/>
                <a:ea typeface="Playfair Display"/>
                <a:cs typeface="Playfair Display"/>
                <a:sym typeface="Playfair Display"/>
              </a:defRPr>
            </a:pPr>
            <a:r>
              <a:rPr sz="1750"/>
              <a:t>5. Give Credit</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If you use data from other sources, say where it came from.</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Always cite your sources (websites, reports, surveys).</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Don’t act like someone else’s data is your own.</a:t>
            </a:r>
          </a:p>
          <a:p>
            <a:pPr defTabSz="380985">
              <a:lnSpc>
                <a:spcPct val="115000"/>
              </a:lnSpc>
              <a:spcBef>
                <a:spcPts val="833"/>
              </a:spcBef>
              <a:defRPr sz="2100" b="1">
                <a:solidFill>
                  <a:srgbClr val="4F81BD"/>
                </a:solidFill>
                <a:uFill>
                  <a:solidFill>
                    <a:srgbClr val="4F81BD"/>
                  </a:solidFill>
                </a:uFill>
                <a:latin typeface="Playfair Display"/>
                <a:ea typeface="Playfair Display"/>
                <a:cs typeface="Playfair Display"/>
                <a:sym typeface="Playfair Display"/>
              </a:defRPr>
            </a:pPr>
            <a:r>
              <a:rPr sz="1750"/>
              <a:t>6. Think About Harm</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Ask: Could this data hurt or stereotype anyone?</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Consider whether your research might unintentionally reinforce bias or harm a group of people.</a:t>
            </a:r>
          </a:p>
          <a:p>
            <a:pPr marL="476231" lvl="1" indent="-158744" defTabSz="380985">
              <a:lnSpc>
                <a:spcPct val="115000"/>
              </a:lnSpc>
              <a:spcBef>
                <a:spcPts val="833"/>
              </a:spcBef>
              <a:buSzPct val="100000"/>
              <a:buChar char="•"/>
              <a:defRPr sz="2100">
                <a:uFill>
                  <a:solidFill>
                    <a:srgbClr val="000000"/>
                  </a:solidFill>
                </a:uFill>
                <a:latin typeface="Playfair Display"/>
                <a:ea typeface="Playfair Display"/>
                <a:cs typeface="Playfair Display"/>
                <a:sym typeface="Playfair Display"/>
              </a:defRPr>
            </a:pPr>
            <a:r>
              <a:rPr sz="1750"/>
              <a:t>Avoid making generalizations based on incomplete or biased data.</a:t>
            </a:r>
          </a:p>
        </p:txBody>
      </p:sp>
      <p:sp>
        <p:nvSpPr>
          <p:cNvPr id="3652" name="Text 0"/>
          <p:cNvSpPr txBox="1"/>
          <p:nvPr/>
        </p:nvSpPr>
        <p:spPr>
          <a:xfrm>
            <a:off x="1055388" y="796005"/>
            <a:ext cx="5604098"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Basic Rules of Data Ethics</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4" name="Text 0"/>
          <p:cNvSpPr txBox="1"/>
          <p:nvPr/>
        </p:nvSpPr>
        <p:spPr>
          <a:xfrm>
            <a:off x="1182389" y="1600339"/>
            <a:ext cx="2925481"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Final thought</a:t>
            </a:r>
          </a:p>
        </p:txBody>
      </p:sp>
      <p:sp>
        <p:nvSpPr>
          <p:cNvPr id="3655" name="Data is power!…"/>
          <p:cNvSpPr txBox="1"/>
          <p:nvPr/>
        </p:nvSpPr>
        <p:spPr>
          <a:xfrm>
            <a:off x="1140167" y="2289241"/>
            <a:ext cx="9697584" cy="19585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pPr defTabSz="380985">
              <a:lnSpc>
                <a:spcPct val="115000"/>
              </a:lnSpc>
              <a:spcBef>
                <a:spcPts val="833"/>
              </a:spcBef>
              <a:defRPr sz="2700">
                <a:uFill>
                  <a:solidFill>
                    <a:srgbClr val="000000"/>
                  </a:solidFill>
                </a:uFill>
                <a:latin typeface="Playfair Display"/>
                <a:ea typeface="Playfair Display"/>
                <a:cs typeface="Playfair Display"/>
                <a:sym typeface="Playfair Display"/>
              </a:defRPr>
            </a:pPr>
            <a:r>
              <a:rPr sz="2250"/>
              <a:t>Data is power! </a:t>
            </a:r>
          </a:p>
          <a:p>
            <a:pPr defTabSz="380985">
              <a:lnSpc>
                <a:spcPct val="115000"/>
              </a:lnSpc>
              <a:spcBef>
                <a:spcPts val="833"/>
              </a:spcBef>
              <a:defRPr sz="2700">
                <a:uFill>
                  <a:solidFill>
                    <a:srgbClr val="000000"/>
                  </a:solidFill>
                </a:uFill>
                <a:latin typeface="Playfair Display"/>
                <a:ea typeface="Playfair Display"/>
                <a:cs typeface="Playfair Display"/>
                <a:sym typeface="Playfair Display"/>
              </a:defRPr>
            </a:pPr>
            <a:r>
              <a:rPr sz="2250"/>
              <a:t>Hence, it comes with responsibility. </a:t>
            </a:r>
          </a:p>
          <a:p>
            <a:pPr defTabSz="380985">
              <a:lnSpc>
                <a:spcPct val="115000"/>
              </a:lnSpc>
              <a:spcBef>
                <a:spcPts val="833"/>
              </a:spcBef>
              <a:defRPr sz="2700">
                <a:uFill>
                  <a:solidFill>
                    <a:srgbClr val="000000"/>
                  </a:solidFill>
                </a:uFill>
                <a:latin typeface="Playfair Display"/>
                <a:ea typeface="Playfair Display"/>
                <a:cs typeface="Playfair Display"/>
                <a:sym typeface="Playfair Display"/>
              </a:defRPr>
            </a:pPr>
            <a:endParaRPr sz="2250"/>
          </a:p>
          <a:p>
            <a:pPr defTabSz="380985">
              <a:lnSpc>
                <a:spcPct val="115000"/>
              </a:lnSpc>
              <a:spcBef>
                <a:spcPts val="833"/>
              </a:spcBef>
              <a:defRPr sz="2700">
                <a:uFill>
                  <a:solidFill>
                    <a:srgbClr val="000000"/>
                  </a:solidFill>
                </a:uFill>
                <a:latin typeface="Playfair Display"/>
                <a:ea typeface="Playfair Display"/>
                <a:cs typeface="Playfair Display"/>
                <a:sym typeface="Playfair Display"/>
              </a:defRPr>
            </a:pPr>
            <a:r>
              <a:rPr sz="2250"/>
              <a:t>Be honest, fair, and curious—not just right.</a:t>
            </a:r>
          </a:p>
        </p:txBody>
      </p:sp>
    </p:spTree>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2116</Words>
  <Application>Microsoft Macintosh PowerPoint</Application>
  <PresentationFormat>Widescreen</PresentationFormat>
  <Paragraphs>371</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Hussain Hadah</dc:creator>
  <cp:lastModifiedBy>Hussain Hadah</cp:lastModifiedBy>
  <cp:revision>1</cp:revision>
  <dcterms:created xsi:type="dcterms:W3CDTF">2026-06-12T12:59:19Z</dcterms:created>
  <dcterms:modified xsi:type="dcterms:W3CDTF">2026-06-12T13:00:16Z</dcterms:modified>
</cp:coreProperties>
</file>