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5.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Types>
</file>

<file path=_rels/.rels><?xml version="1.0" encoding="UTF-8"?><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8"/>
  </p:notesMasterIdLst>
  <p:sldIdLst>
    <p:sldId id="257" r:id="rId2"/>
    <p:sldId id="265" r:id="rId3"/>
    <p:sldId id="269" r:id="rId4"/>
    <p:sldId id="261" r:id="rId5"/>
    <p:sldId id="270" r:id="rId6"/>
    <p:sldId id="271" r:id="rId7"/>
    <p:sldId id="272" r:id="rId8"/>
    <p:sldId id="274" r:id="rId9"/>
    <p:sldId id="273" r:id="rId10"/>
    <p:sldId id="276" r:id="rId11"/>
    <p:sldId id="277" r:id="rId12"/>
    <p:sldId id="275" r:id="rId13"/>
    <p:sldId id="278" r:id="rId14"/>
    <p:sldId id="279" r:id="rId15"/>
    <p:sldId id="281" r:id="rId16"/>
    <p:sldId id="282" r:id="rId17"/>
    <p:sldId id="283" r:id="rId18"/>
    <p:sldId id="285" r:id="rId19"/>
    <p:sldId id="262" r:id="rId20"/>
    <p:sldId id="286" r:id="rId21"/>
    <p:sldId id="287" r:id="rId22"/>
    <p:sldId id="290" r:id="rId23"/>
    <p:sldId id="292" r:id="rId24"/>
    <p:sldId id="288" r:id="rId25"/>
    <p:sldId id="294" r:id="rId26"/>
    <p:sldId id="295" r:id="rId27"/>
    <p:sldId id="299" r:id="rId28"/>
    <p:sldId id="297" r:id="rId29"/>
    <p:sldId id="296" r:id="rId30"/>
    <p:sldId id="300" r:id="rId31"/>
    <p:sldId id="301" r:id="rId32"/>
    <p:sldId id="302" r:id="rId33"/>
    <p:sldId id="303" r:id="rId34"/>
    <p:sldId id="304" r:id="rId35"/>
    <p:sldId id="306" r:id="rId36"/>
    <p:sldId id="308" r:id="rId37"/>
    <p:sldId id="305" r:id="rId38"/>
    <p:sldId id="307" r:id="rId39"/>
    <p:sldId id="310" r:id="rId40"/>
    <p:sldId id="311" r:id="rId41"/>
    <p:sldId id="312" r:id="rId42"/>
    <p:sldId id="263" r:id="rId43"/>
    <p:sldId id="313" r:id="rId44"/>
    <p:sldId id="314" r:id="rId45"/>
    <p:sldId id="316" r:id="rId46"/>
    <p:sldId id="317" r:id="rId47"/>
    <p:sldId id="319" r:id="rId48"/>
    <p:sldId id="320" r:id="rId49"/>
    <p:sldId id="321" r:id="rId50"/>
    <p:sldId id="322" r:id="rId51"/>
    <p:sldId id="323" r:id="rId52"/>
    <p:sldId id="325" r:id="rId53"/>
    <p:sldId id="326" r:id="rId54"/>
    <p:sldId id="327" r:id="rId55"/>
    <p:sldId id="328" r:id="rId56"/>
    <p:sldId id="329" r:id="rId57"/>
    <p:sldId id="336" r:id="rId58"/>
    <p:sldId id="337" r:id="rId59"/>
    <p:sldId id="338" r:id="rId60"/>
    <p:sldId id="340" r:id="rId61"/>
    <p:sldId id="341" r:id="rId62"/>
    <p:sldId id="342" r:id="rId63"/>
    <p:sldId id="339" r:id="rId64"/>
    <p:sldId id="346" r:id="rId65"/>
    <p:sldId id="348" r:id="rId66"/>
    <p:sldId id="349" r:id="rId67"/>
    <p:sldId id="350" r:id="rId68"/>
    <p:sldId id="352" r:id="rId69"/>
    <p:sldId id="343" r:id="rId70"/>
    <p:sldId id="344" r:id="rId71"/>
    <p:sldId id="353" r:id="rId72"/>
    <p:sldId id="264" r:id="rId73"/>
    <p:sldId id="331" r:id="rId74"/>
    <p:sldId id="334" r:id="rId75"/>
    <p:sldId id="335" r:id="rId76"/>
    <p:sldId id="259" r:id="rId77"/>
    <p:sldId id="354" r:id="rId83"/>
    <p:sldId id="355" r:id="rId84"/>
    <p:sldId id="356" r:id="rId85"/>
    <p:sldId id="357" r:id="rId86"/>
    <p:sldId id="358" r:id="rId8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263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620" autoAdjust="0"/>
    <p:restoredTop sz="71176" autoAdjust="0"/>
  </p:normalViewPr>
  <p:slideViewPr>
    <p:cSldViewPr snapToGrid="0">
      <p:cViewPr varScale="1">
        <p:scale>
          <a:sx n="36" d="100"/>
          <a:sy n="36" d="100"/>
        </p:scale>
        <p:origin x="1360" y="34"/>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notesMaster" Target="notesMasters/notesMaster1.xml"/><Relationship Id="rId8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98DDB71-B46E-9C46-AC98-5D46E9F8EE3E}" type="doc">
      <dgm:prSet loTypeId="urn:microsoft.com/office/officeart/2005/8/layout/list1" loCatId="" qsTypeId="urn:microsoft.com/office/officeart/2005/8/quickstyle/simple1" qsCatId="simple" csTypeId="urn:microsoft.com/office/officeart/2005/8/colors/accent1_2" csCatId="accent1" phldr="1"/>
      <dgm:spPr/>
      <dgm:t xml:space="preserve">
        <a:bodyPr/>
        <a:lstStyle/>
        <a:p>
          <a:endParaRPr lang="en-US"/>
        </a:p>
      </dgm:t>
    </dgm:pt>
    <dgm:pt modelId="{8297F1D0-19F9-4E44-8DE6-EEFDD8BA857C}">
      <dgm:prSet phldrT="[Text]"/>
      <dgm:spPr/>
      <dgm:t xml:space="preserve">
        <a:bodyPr/>
        <a:lstStyle/>
        <a:p>
          <a:pPr>
            <a:buNone/>
          </a:pPr>
          <a:r>
            <a:rPr lang="en-US" b="1" dirty="0">
              <a:solidFill>
                <a:schemeClr val="bg1"/>
              </a:solidFill>
              <a:latin typeface="Aptos" panose="020B0004020202020204" pitchFamily="34" charset="0"/>
              <a:ea typeface="Playfair Display Bold" pitchFamily="34" charset="-122"/>
              <a:cs typeface="Playfair Display Bold" pitchFamily="34" charset="-120"/>
            </a:rPr>
            <a:t>Identify Common Data Problems</a:t>
          </a:r>
          <a:endParaRPr lang="en-US" dirty="0"/>
        </a:p>
      </dgm:t>
    </dgm:pt>
    <dgm:pt modelId="{E8EE49D0-7BE6-8C4A-9E53-23A72648731A}" type="parTrans" cxnId="{1DF0E551-3EA8-2345-B149-F33835B344F3}">
      <dgm:prSet/>
      <dgm:spPr/>
      <dgm:t xml:space="preserve">
        <a:bodyPr/>
        <a:lstStyle/>
        <a:p>
          <a:endParaRPr lang="en-US"/>
        </a:p>
      </dgm:t>
    </dgm:pt>
    <dgm:pt modelId="{E028BE09-A6FA-C643-9B3C-1F7EE3410C01}" type="sibTrans" cxnId="{1DF0E551-3EA8-2345-B149-F33835B344F3}">
      <dgm:prSet/>
      <dgm:spPr/>
      <dgm:t xml:space="preserve">
        <a:bodyPr/>
        <a:lstStyle/>
        <a:p>
          <a:endParaRPr lang="en-US"/>
        </a:p>
      </dgm:t>
    </dgm:pt>
    <dgm:pt modelId="{38F50C6A-0432-634C-86F5-81E9D3AB89BD}">
      <dgm:prSet phldrT="[Text]"/>
      <dgm:spPr/>
      <dgm:t xml:space="preserve">
        <a:bodyPr/>
        <a:lstStyle/>
        <a:p>
          <a:pPr>
            <a:buNone/>
          </a:pPr>
          <a:r>
            <a:rPr lang="en-US" dirty="0">
              <a:solidFill>
                <a:srgbClr val="000000"/>
              </a:solidFill>
              <a:latin typeface="Aptos" panose="020B0004020202020204" pitchFamily="34" charset="0"/>
              <a:ea typeface="Inter" pitchFamily="34" charset="-122"/>
              <a:cs typeface="Inter" pitchFamily="34" charset="-120"/>
            </a:rPr>
            <a:t>Learn to spot missing values, outliers, typos, and inconsistencies.</a:t>
          </a:r>
          <a:endParaRPr lang="en-US" dirty="0">
            <a:latin typeface="Aptos" panose="020B0004020202020204" pitchFamily="34" charset="0"/>
          </a:endParaRPr>
        </a:p>
      </dgm:t>
    </dgm:pt>
    <dgm:pt modelId="{23571D18-EA65-B744-AD4B-23A5A1087F05}" type="parTrans" cxnId="{EB362B2E-1087-3343-938F-484580636B5F}">
      <dgm:prSet/>
      <dgm:spPr/>
      <dgm:t xml:space="preserve">
        <a:bodyPr/>
        <a:lstStyle/>
        <a:p>
          <a:endParaRPr lang="en-US"/>
        </a:p>
      </dgm:t>
    </dgm:pt>
    <dgm:pt modelId="{A4188894-8BA9-2C48-BE06-2006E82E6FFA}" type="sibTrans" cxnId="{EB362B2E-1087-3343-938F-484580636B5F}">
      <dgm:prSet/>
      <dgm:spPr/>
      <dgm:t xml:space="preserve">
        <a:bodyPr/>
        <a:lstStyle/>
        <a:p>
          <a:endParaRPr lang="en-US"/>
        </a:p>
      </dgm:t>
    </dgm:pt>
    <dgm:pt modelId="{46F48200-0E3B-7B47-8C9A-CB48952B6572}">
      <dgm:prSet phldrT="[Text]"/>
      <dgm:spPr/>
      <dgm:t xml:space="preserve">
        <a:bodyPr/>
        <a:lstStyle/>
        <a:p>
          <a:pPr>
            <a:buNone/>
          </a:pPr>
          <a:r>
            <a:rPr lang="en-US" b="1" dirty="0">
              <a:solidFill>
                <a:schemeClr val="bg1"/>
              </a:solidFill>
              <a:latin typeface="Aptos" panose="020B0004020202020204" pitchFamily="34" charset="0"/>
              <a:ea typeface="Playfair Display Bold" pitchFamily="34" charset="-122"/>
              <a:cs typeface="Playfair Display Bold" pitchFamily="34" charset="-120"/>
            </a:rPr>
            <a:t>Apply Cleaning Strategies</a:t>
          </a:r>
          <a:endParaRPr lang="en-US" dirty="0">
            <a:solidFill>
              <a:schemeClr val="bg1"/>
            </a:solidFill>
            <a:latin typeface="Aptos" panose="020B0004020202020204" pitchFamily="34" charset="0"/>
          </a:endParaRPr>
        </a:p>
      </dgm:t>
    </dgm:pt>
    <dgm:pt modelId="{88B5D027-D6C2-8347-AD83-3647573CEF0D}" type="parTrans" cxnId="{7E585EB3-5781-744E-8D53-5DCA437B04A6}">
      <dgm:prSet/>
      <dgm:spPr/>
      <dgm:t xml:space="preserve">
        <a:bodyPr/>
        <a:lstStyle/>
        <a:p>
          <a:endParaRPr lang="en-US"/>
        </a:p>
      </dgm:t>
    </dgm:pt>
    <dgm:pt modelId="{5B76DEDA-13B5-4C4D-BE28-5FE16EA901E6}" type="sibTrans" cxnId="{7E585EB3-5781-744E-8D53-5DCA437B04A6}">
      <dgm:prSet/>
      <dgm:spPr/>
      <dgm:t xml:space="preserve">
        <a:bodyPr/>
        <a:lstStyle/>
        <a:p>
          <a:endParaRPr lang="en-US"/>
        </a:p>
      </dgm:t>
    </dgm:pt>
    <dgm:pt modelId="{AC56F8F8-B6B4-3748-B365-46FECC659B52}">
      <dgm:prSet phldrT="[Text]"/>
      <dgm:spPr/>
      <dgm:t xml:space="preserve">
        <a:bodyPr/>
        <a:lstStyle/>
        <a:p>
          <a:pPr>
            <a:buNone/>
          </a:pPr>
          <a:r>
            <a:rPr lang="en-US" dirty="0">
              <a:solidFill>
                <a:srgbClr val="000000"/>
              </a:solidFill>
              <a:latin typeface="Aptos" panose="020B0004020202020204" pitchFamily="34" charset="0"/>
              <a:ea typeface="Inter" pitchFamily="34" charset="-122"/>
              <a:cs typeface="Inter" pitchFamily="34" charset="-120"/>
            </a:rPr>
            <a:t>Discover methods to remove, correct, or impute problematic data.</a:t>
          </a:r>
          <a:endParaRPr lang="en-US" dirty="0">
            <a:latin typeface="Aptos" panose="020B0004020202020204" pitchFamily="34" charset="0"/>
          </a:endParaRPr>
        </a:p>
      </dgm:t>
    </dgm:pt>
    <dgm:pt modelId="{F8987228-AFE6-3748-8880-8B16F58CB53E}" type="parTrans" cxnId="{4EBD9F52-8719-C248-89F1-CC5E0E796515}">
      <dgm:prSet/>
      <dgm:spPr/>
      <dgm:t xml:space="preserve">
        <a:bodyPr/>
        <a:lstStyle/>
        <a:p>
          <a:endParaRPr lang="en-US"/>
        </a:p>
      </dgm:t>
    </dgm:pt>
    <dgm:pt modelId="{572ACC40-6EC6-A74D-9BD6-711D1B16B43E}" type="sibTrans" cxnId="{4EBD9F52-8719-C248-89F1-CC5E0E796515}">
      <dgm:prSet/>
      <dgm:spPr/>
      <dgm:t xml:space="preserve">
        <a:bodyPr/>
        <a:lstStyle/>
        <a:p>
          <a:endParaRPr lang="en-US"/>
        </a:p>
      </dgm:t>
    </dgm:pt>
    <dgm:pt modelId="{D34AD4FB-703D-6C42-B144-7FA305D92CD2}">
      <dgm:prSet phldrT="[Text]"/>
      <dgm:spPr/>
      <dgm:t xml:space="preserve">
        <a:bodyPr/>
        <a:lstStyle/>
        <a:p>
          <a:pPr>
            <a:buNone/>
          </a:pPr>
          <a:r>
            <a:rPr lang="en-US" b="1" dirty="0">
              <a:solidFill>
                <a:schemeClr val="bg1"/>
              </a:solidFill>
              <a:latin typeface="Aptos" panose="020B0004020202020204" pitchFamily="34" charset="0"/>
              <a:ea typeface="Playfair Display Bold" pitchFamily="34" charset="-122"/>
              <a:cs typeface="Playfair Display Bold" pitchFamily="34" charset="-120"/>
            </a:rPr>
            <a:t>Ensure Data Quality</a:t>
          </a:r>
          <a:endParaRPr lang="en-US" dirty="0">
            <a:solidFill>
              <a:schemeClr val="bg1"/>
            </a:solidFill>
            <a:latin typeface="Aptos" panose="020B0004020202020204" pitchFamily="34" charset="0"/>
          </a:endParaRPr>
        </a:p>
      </dgm:t>
    </dgm:pt>
    <dgm:pt modelId="{77F88B0E-2080-C34E-9FB1-E58AF7C4D46C}" type="parTrans" cxnId="{AC4ABCB8-C98D-C94B-8E23-978568EE5E07}">
      <dgm:prSet/>
      <dgm:spPr/>
      <dgm:t xml:space="preserve">
        <a:bodyPr/>
        <a:lstStyle/>
        <a:p>
          <a:endParaRPr lang="en-US"/>
        </a:p>
      </dgm:t>
    </dgm:pt>
    <dgm:pt modelId="{FAAC45A2-CBF6-6048-9B2D-6249BE266890}" type="sibTrans" cxnId="{AC4ABCB8-C98D-C94B-8E23-978568EE5E07}">
      <dgm:prSet/>
      <dgm:spPr/>
      <dgm:t xml:space="preserve">
        <a:bodyPr/>
        <a:lstStyle/>
        <a:p>
          <a:endParaRPr lang="en-US"/>
        </a:p>
      </dgm:t>
    </dgm:pt>
    <dgm:pt modelId="{FF4B96E5-8770-4442-BA92-399D9CE20067}">
      <dgm:prSet phldrT="[Text]"/>
      <dgm:spPr/>
      <dgm:t xml:space="preserve">
        <a:bodyPr/>
        <a:lstStyle/>
        <a:p>
          <a:pPr>
            <a:buNone/>
          </a:pPr>
          <a:r>
            <a:rPr lang="en-US" dirty="0">
              <a:solidFill>
                <a:srgbClr val="000000"/>
              </a:solidFill>
              <a:latin typeface="Aptos" panose="020B0004020202020204" pitchFamily="34" charset="0"/>
              <a:ea typeface="Inter" pitchFamily="34" charset="-122"/>
              <a:cs typeface="Inter" pitchFamily="34" charset="-120"/>
            </a:rPr>
            <a:t>Understand why clean data is essential for trustworthy analysis.</a:t>
          </a:r>
        </a:p>
      </dgm:t>
    </dgm:pt>
    <dgm:pt modelId="{8E944D9A-E66F-E542-8CC4-9798CAB63EF6}" type="parTrans" cxnId="{635FD94C-E72F-E54F-B397-2A9434BC2E58}">
      <dgm:prSet/>
      <dgm:spPr/>
      <dgm:t xml:space="preserve">
        <a:bodyPr/>
        <a:lstStyle/>
        <a:p>
          <a:endParaRPr lang="en-US"/>
        </a:p>
      </dgm:t>
    </dgm:pt>
    <dgm:pt modelId="{2FAC73E3-8CD3-5846-AB0D-99A3B3C16FFA}" type="sibTrans" cxnId="{635FD94C-E72F-E54F-B397-2A9434BC2E58}">
      <dgm:prSet/>
      <dgm:spPr/>
      <dgm:t xml:space="preserve">
        <a:bodyPr/>
        <a:lstStyle/>
        <a:p>
          <a:endParaRPr lang="en-US"/>
        </a:p>
      </dgm:t>
    </dgm:pt>
    <dgm:pt modelId="{28EA9E33-54CE-0545-A4C8-D6B083851761}" type="pres">
      <dgm:prSet presAssocID="{098DDB71-B46E-9C46-AC98-5D46E9F8EE3E}" presName="linear" presStyleCnt="0">
        <dgm:presLayoutVars>
          <dgm:dir/>
          <dgm:animLvl val="lvl"/>
          <dgm:resizeHandles val="exact"/>
        </dgm:presLayoutVars>
      </dgm:prSet>
      <dgm:spPr/>
    </dgm:pt>
    <dgm:pt modelId="{8A811B0B-AC41-A64C-8382-93CC236D8B03}" type="pres">
      <dgm:prSet presAssocID="{8297F1D0-19F9-4E44-8DE6-EEFDD8BA857C}" presName="parentLin" presStyleCnt="0"/>
      <dgm:spPr/>
    </dgm:pt>
    <dgm:pt modelId="{5D48B416-3530-864C-B76C-8FF4E26D019A}" type="pres">
      <dgm:prSet presAssocID="{8297F1D0-19F9-4E44-8DE6-EEFDD8BA857C}" presName="parentLeftMargin" presStyleLbl="node1" presStyleIdx="0" presStyleCnt="3"/>
      <dgm:spPr/>
    </dgm:pt>
    <dgm:pt modelId="{5D1F170C-D76B-BA4B-9BCD-B497B06D5C55}" type="pres">
      <dgm:prSet presAssocID="{8297F1D0-19F9-4E44-8DE6-EEFDD8BA857C}" presName="parentText" presStyleLbl="node1" presStyleIdx="0" presStyleCnt="3">
        <dgm:presLayoutVars>
          <dgm:chMax val="0"/>
          <dgm:bulletEnabled val="1"/>
        </dgm:presLayoutVars>
      </dgm:prSet>
      <dgm:spPr/>
    </dgm:pt>
    <dgm:pt modelId="{CACE1356-1F96-FB44-B8CD-1F62D807F9F1}" type="pres">
      <dgm:prSet presAssocID="{8297F1D0-19F9-4E44-8DE6-EEFDD8BA857C}" presName="negativeSpace" presStyleCnt="0"/>
      <dgm:spPr/>
    </dgm:pt>
    <dgm:pt modelId="{ED3A2C6B-EA27-D94A-9219-285F7616E8AB}" type="pres">
      <dgm:prSet presAssocID="{8297F1D0-19F9-4E44-8DE6-EEFDD8BA857C}" presName="childText" presStyleLbl="conFgAcc1" presStyleIdx="0" presStyleCnt="3">
        <dgm:presLayoutVars>
          <dgm:bulletEnabled val="1"/>
        </dgm:presLayoutVars>
      </dgm:prSet>
      <dgm:spPr/>
    </dgm:pt>
    <dgm:pt modelId="{A45B45B6-FEF6-4D45-B167-B907A8AF139B}" type="pres">
      <dgm:prSet presAssocID="{E028BE09-A6FA-C643-9B3C-1F7EE3410C01}" presName="spaceBetweenRectangles" presStyleCnt="0"/>
      <dgm:spPr/>
    </dgm:pt>
    <dgm:pt modelId="{F6827612-0AE6-D54B-B923-BA2F97D35AF3}" type="pres">
      <dgm:prSet presAssocID="{46F48200-0E3B-7B47-8C9A-CB48952B6572}" presName="parentLin" presStyleCnt="0"/>
      <dgm:spPr/>
    </dgm:pt>
    <dgm:pt modelId="{11BCD228-26C5-2D43-A505-44BD3E2B3CAA}" type="pres">
      <dgm:prSet presAssocID="{46F48200-0E3B-7B47-8C9A-CB48952B6572}" presName="parentLeftMargin" presStyleLbl="node1" presStyleIdx="0" presStyleCnt="3"/>
      <dgm:spPr/>
    </dgm:pt>
    <dgm:pt modelId="{FC91F463-9973-3F4A-8440-74B704DA41D5}" type="pres">
      <dgm:prSet presAssocID="{46F48200-0E3B-7B47-8C9A-CB48952B6572}" presName="parentText" presStyleLbl="node1" presStyleIdx="1" presStyleCnt="3">
        <dgm:presLayoutVars>
          <dgm:chMax val="0"/>
          <dgm:bulletEnabled val="1"/>
        </dgm:presLayoutVars>
      </dgm:prSet>
      <dgm:spPr/>
    </dgm:pt>
    <dgm:pt modelId="{F1534BA4-5AF2-F84A-82CE-2A9E142A1006}" type="pres">
      <dgm:prSet presAssocID="{46F48200-0E3B-7B47-8C9A-CB48952B6572}" presName="negativeSpace" presStyleCnt="0"/>
      <dgm:spPr/>
    </dgm:pt>
    <dgm:pt modelId="{191D086A-70DE-A646-895E-A19B3E7BC34C}" type="pres">
      <dgm:prSet presAssocID="{46F48200-0E3B-7B47-8C9A-CB48952B6572}" presName="childText" presStyleLbl="conFgAcc1" presStyleIdx="1" presStyleCnt="3">
        <dgm:presLayoutVars>
          <dgm:bulletEnabled val="1"/>
        </dgm:presLayoutVars>
      </dgm:prSet>
      <dgm:spPr/>
    </dgm:pt>
    <dgm:pt modelId="{9A1C66FB-CE69-0D41-860C-15745E3F490D}" type="pres">
      <dgm:prSet presAssocID="{5B76DEDA-13B5-4C4D-BE28-5FE16EA901E6}" presName="spaceBetweenRectangles" presStyleCnt="0"/>
      <dgm:spPr/>
    </dgm:pt>
    <dgm:pt modelId="{B2F10EBD-0713-EB40-857A-36295BEB4136}" type="pres">
      <dgm:prSet presAssocID="{D34AD4FB-703D-6C42-B144-7FA305D92CD2}" presName="parentLin" presStyleCnt="0"/>
      <dgm:spPr/>
    </dgm:pt>
    <dgm:pt modelId="{BC28A627-5883-204A-A34A-EFC8DCA1A22D}" type="pres">
      <dgm:prSet presAssocID="{D34AD4FB-703D-6C42-B144-7FA305D92CD2}" presName="parentLeftMargin" presStyleLbl="node1" presStyleIdx="1" presStyleCnt="3"/>
      <dgm:spPr/>
    </dgm:pt>
    <dgm:pt modelId="{04ABF145-2D6E-C541-A524-A2B597FFADFA}" type="pres">
      <dgm:prSet presAssocID="{D34AD4FB-703D-6C42-B144-7FA305D92CD2}" presName="parentText" presStyleLbl="node1" presStyleIdx="2" presStyleCnt="3">
        <dgm:presLayoutVars>
          <dgm:chMax val="0"/>
          <dgm:bulletEnabled val="1"/>
        </dgm:presLayoutVars>
      </dgm:prSet>
      <dgm:spPr/>
    </dgm:pt>
    <dgm:pt modelId="{DCE55F4D-4EAA-3147-B503-31B14277658C}" type="pres">
      <dgm:prSet presAssocID="{D34AD4FB-703D-6C42-B144-7FA305D92CD2}" presName="negativeSpace" presStyleCnt="0"/>
      <dgm:spPr/>
    </dgm:pt>
    <dgm:pt modelId="{40DADF5E-A656-C746-B464-DA71A00AED77}" type="pres">
      <dgm:prSet presAssocID="{D34AD4FB-703D-6C42-B144-7FA305D92CD2}" presName="childText" presStyleLbl="conFgAcc1" presStyleIdx="2" presStyleCnt="3">
        <dgm:presLayoutVars>
          <dgm:bulletEnabled val="1"/>
        </dgm:presLayoutVars>
      </dgm:prSet>
      <dgm:spPr/>
    </dgm:pt>
  </dgm:ptLst>
  <dgm:cxnLst>
    <dgm:cxn modelId="{EB362B2E-1087-3343-938F-484580636B5F}" srcId="{8297F1D0-19F9-4E44-8DE6-EEFDD8BA857C}" destId="{38F50C6A-0432-634C-86F5-81E9D3AB89BD}" srcOrd="0" destOrd="0" parTransId="{23571D18-EA65-B744-AD4B-23A5A1087F05}" sibTransId="{A4188894-8BA9-2C48-BE06-2006E82E6FFA}"/>
    <dgm:cxn modelId="{6A1F4433-FC5D-1449-A2D9-DCB95A17045C}" type="presOf" srcId="{8297F1D0-19F9-4E44-8DE6-EEFDD8BA857C}" destId="{5D48B416-3530-864C-B76C-8FF4E26D019A}" srcOrd="0" destOrd="0" presId="urn:microsoft.com/office/officeart/2005/8/layout/list1"/>
    <dgm:cxn modelId="{09FB913D-616A-0F4A-8059-C88981DB20B0}" type="presOf" srcId="{46F48200-0E3B-7B47-8C9A-CB48952B6572}" destId="{11BCD228-26C5-2D43-A505-44BD3E2B3CAA}" srcOrd="0" destOrd="0" presId="urn:microsoft.com/office/officeart/2005/8/layout/list1"/>
    <dgm:cxn modelId="{EFE49F64-38B1-F844-96C8-9DCD69A07D2E}" type="presOf" srcId="{FF4B96E5-8770-4442-BA92-399D9CE20067}" destId="{40DADF5E-A656-C746-B464-DA71A00AED77}" srcOrd="0" destOrd="0" presId="urn:microsoft.com/office/officeart/2005/8/layout/list1"/>
    <dgm:cxn modelId="{635FD94C-E72F-E54F-B397-2A9434BC2E58}" srcId="{D34AD4FB-703D-6C42-B144-7FA305D92CD2}" destId="{FF4B96E5-8770-4442-BA92-399D9CE20067}" srcOrd="0" destOrd="0" parTransId="{8E944D9A-E66F-E542-8CC4-9798CAB63EF6}" sibTransId="{2FAC73E3-8CD3-5846-AB0D-99A3B3C16FFA}"/>
    <dgm:cxn modelId="{FF9E324E-B18C-3E45-BCDB-B2E1FE7D5871}" type="presOf" srcId="{AC56F8F8-B6B4-3748-B365-46FECC659B52}" destId="{191D086A-70DE-A646-895E-A19B3E7BC34C}" srcOrd="0" destOrd="0" presId="urn:microsoft.com/office/officeart/2005/8/layout/list1"/>
    <dgm:cxn modelId="{1DF0E551-3EA8-2345-B149-F33835B344F3}" srcId="{098DDB71-B46E-9C46-AC98-5D46E9F8EE3E}" destId="{8297F1D0-19F9-4E44-8DE6-EEFDD8BA857C}" srcOrd="0" destOrd="0" parTransId="{E8EE49D0-7BE6-8C4A-9E53-23A72648731A}" sibTransId="{E028BE09-A6FA-C643-9B3C-1F7EE3410C01}"/>
    <dgm:cxn modelId="{4EBD9F52-8719-C248-89F1-CC5E0E796515}" srcId="{46F48200-0E3B-7B47-8C9A-CB48952B6572}" destId="{AC56F8F8-B6B4-3748-B365-46FECC659B52}" srcOrd="0" destOrd="0" parTransId="{F8987228-AFE6-3748-8880-8B16F58CB53E}" sibTransId="{572ACC40-6EC6-A74D-9BD6-711D1B16B43E}"/>
    <dgm:cxn modelId="{62BED38F-522F-A24A-BD89-D6DEBA1B0874}" type="presOf" srcId="{D34AD4FB-703D-6C42-B144-7FA305D92CD2}" destId="{04ABF145-2D6E-C541-A524-A2B597FFADFA}" srcOrd="1" destOrd="0" presId="urn:microsoft.com/office/officeart/2005/8/layout/list1"/>
    <dgm:cxn modelId="{84417C95-8F98-1749-A555-897D0E15F571}" type="presOf" srcId="{46F48200-0E3B-7B47-8C9A-CB48952B6572}" destId="{FC91F463-9973-3F4A-8440-74B704DA41D5}" srcOrd="1" destOrd="0" presId="urn:microsoft.com/office/officeart/2005/8/layout/list1"/>
    <dgm:cxn modelId="{1FE750A1-E568-764F-AB99-53BEE5BDBA37}" type="presOf" srcId="{098DDB71-B46E-9C46-AC98-5D46E9F8EE3E}" destId="{28EA9E33-54CE-0545-A4C8-D6B083851761}" srcOrd="0" destOrd="0" presId="urn:microsoft.com/office/officeart/2005/8/layout/list1"/>
    <dgm:cxn modelId="{7E585EB3-5781-744E-8D53-5DCA437B04A6}" srcId="{098DDB71-B46E-9C46-AC98-5D46E9F8EE3E}" destId="{46F48200-0E3B-7B47-8C9A-CB48952B6572}" srcOrd="1" destOrd="0" parTransId="{88B5D027-D6C2-8347-AD83-3647573CEF0D}" sibTransId="{5B76DEDA-13B5-4C4D-BE28-5FE16EA901E6}"/>
    <dgm:cxn modelId="{FE29C3B5-7542-3844-9AE3-542442FA00CD}" type="presOf" srcId="{D34AD4FB-703D-6C42-B144-7FA305D92CD2}" destId="{BC28A627-5883-204A-A34A-EFC8DCA1A22D}" srcOrd="0" destOrd="0" presId="urn:microsoft.com/office/officeart/2005/8/layout/list1"/>
    <dgm:cxn modelId="{AC4ABCB8-C98D-C94B-8E23-978568EE5E07}" srcId="{098DDB71-B46E-9C46-AC98-5D46E9F8EE3E}" destId="{D34AD4FB-703D-6C42-B144-7FA305D92CD2}" srcOrd="2" destOrd="0" parTransId="{77F88B0E-2080-C34E-9FB1-E58AF7C4D46C}" sibTransId="{FAAC45A2-CBF6-6048-9B2D-6249BE266890}"/>
    <dgm:cxn modelId="{E30510D2-038C-764B-B111-ED499938664E}" type="presOf" srcId="{38F50C6A-0432-634C-86F5-81E9D3AB89BD}" destId="{ED3A2C6B-EA27-D94A-9219-285F7616E8AB}" srcOrd="0" destOrd="0" presId="urn:microsoft.com/office/officeart/2005/8/layout/list1"/>
    <dgm:cxn modelId="{4920D8E1-2D63-F54F-96D0-343D21B4C2F0}" type="presOf" srcId="{8297F1D0-19F9-4E44-8DE6-EEFDD8BA857C}" destId="{5D1F170C-D76B-BA4B-9BCD-B497B06D5C55}" srcOrd="1" destOrd="0" presId="urn:microsoft.com/office/officeart/2005/8/layout/list1"/>
    <dgm:cxn modelId="{7B5D3BF1-697E-8146-8D50-E95AF944DA8A}" type="presParOf" srcId="{28EA9E33-54CE-0545-A4C8-D6B083851761}" destId="{8A811B0B-AC41-A64C-8382-93CC236D8B03}" srcOrd="0" destOrd="0" presId="urn:microsoft.com/office/officeart/2005/8/layout/list1"/>
    <dgm:cxn modelId="{B3B6077D-EE1C-7E47-A826-E88D52EC1646}" type="presParOf" srcId="{8A811B0B-AC41-A64C-8382-93CC236D8B03}" destId="{5D48B416-3530-864C-B76C-8FF4E26D019A}" srcOrd="0" destOrd="0" presId="urn:microsoft.com/office/officeart/2005/8/layout/list1"/>
    <dgm:cxn modelId="{121202CF-B9CF-9E4C-BDED-DFFDA1DA5C42}" type="presParOf" srcId="{8A811B0B-AC41-A64C-8382-93CC236D8B03}" destId="{5D1F170C-D76B-BA4B-9BCD-B497B06D5C55}" srcOrd="1" destOrd="0" presId="urn:microsoft.com/office/officeart/2005/8/layout/list1"/>
    <dgm:cxn modelId="{B81AA2E2-3CCE-8D4B-8BF1-C60448ABB1EB}" type="presParOf" srcId="{28EA9E33-54CE-0545-A4C8-D6B083851761}" destId="{CACE1356-1F96-FB44-B8CD-1F62D807F9F1}" srcOrd="1" destOrd="0" presId="urn:microsoft.com/office/officeart/2005/8/layout/list1"/>
    <dgm:cxn modelId="{7F977695-BF84-1749-9297-96B2B3C6D373}" type="presParOf" srcId="{28EA9E33-54CE-0545-A4C8-D6B083851761}" destId="{ED3A2C6B-EA27-D94A-9219-285F7616E8AB}" srcOrd="2" destOrd="0" presId="urn:microsoft.com/office/officeart/2005/8/layout/list1"/>
    <dgm:cxn modelId="{375DC18C-356F-4E48-8784-F05BBD979C2F}" type="presParOf" srcId="{28EA9E33-54CE-0545-A4C8-D6B083851761}" destId="{A45B45B6-FEF6-4D45-B167-B907A8AF139B}" srcOrd="3" destOrd="0" presId="urn:microsoft.com/office/officeart/2005/8/layout/list1"/>
    <dgm:cxn modelId="{0AD2CEBC-F491-7047-B56D-7AC93A1E919D}" type="presParOf" srcId="{28EA9E33-54CE-0545-A4C8-D6B083851761}" destId="{F6827612-0AE6-D54B-B923-BA2F97D35AF3}" srcOrd="4" destOrd="0" presId="urn:microsoft.com/office/officeart/2005/8/layout/list1"/>
    <dgm:cxn modelId="{4815DC1B-06C8-5544-B91E-2FACC3C5A62F}" type="presParOf" srcId="{F6827612-0AE6-D54B-B923-BA2F97D35AF3}" destId="{11BCD228-26C5-2D43-A505-44BD3E2B3CAA}" srcOrd="0" destOrd="0" presId="urn:microsoft.com/office/officeart/2005/8/layout/list1"/>
    <dgm:cxn modelId="{85C4C0DE-1077-2747-8988-43736397C7AE}" type="presParOf" srcId="{F6827612-0AE6-D54B-B923-BA2F97D35AF3}" destId="{FC91F463-9973-3F4A-8440-74B704DA41D5}" srcOrd="1" destOrd="0" presId="urn:microsoft.com/office/officeart/2005/8/layout/list1"/>
    <dgm:cxn modelId="{D90B98D0-4351-104E-BA5A-1720DE1C9B4F}" type="presParOf" srcId="{28EA9E33-54CE-0545-A4C8-D6B083851761}" destId="{F1534BA4-5AF2-F84A-82CE-2A9E142A1006}" srcOrd="5" destOrd="0" presId="urn:microsoft.com/office/officeart/2005/8/layout/list1"/>
    <dgm:cxn modelId="{629B1F50-2AFC-9843-A75C-EE69275656A2}" type="presParOf" srcId="{28EA9E33-54CE-0545-A4C8-D6B083851761}" destId="{191D086A-70DE-A646-895E-A19B3E7BC34C}" srcOrd="6" destOrd="0" presId="urn:microsoft.com/office/officeart/2005/8/layout/list1"/>
    <dgm:cxn modelId="{7BE23BAE-1850-B343-9231-0C46611B4F43}" type="presParOf" srcId="{28EA9E33-54CE-0545-A4C8-D6B083851761}" destId="{9A1C66FB-CE69-0D41-860C-15745E3F490D}" srcOrd="7" destOrd="0" presId="urn:microsoft.com/office/officeart/2005/8/layout/list1"/>
    <dgm:cxn modelId="{A1F4D8F4-58E9-AA4D-A6F5-D23A44AAE953}" type="presParOf" srcId="{28EA9E33-54CE-0545-A4C8-D6B083851761}" destId="{B2F10EBD-0713-EB40-857A-36295BEB4136}" srcOrd="8" destOrd="0" presId="urn:microsoft.com/office/officeart/2005/8/layout/list1"/>
    <dgm:cxn modelId="{CC54A82A-5A67-C641-8C60-0967CCD53209}" type="presParOf" srcId="{B2F10EBD-0713-EB40-857A-36295BEB4136}" destId="{BC28A627-5883-204A-A34A-EFC8DCA1A22D}" srcOrd="0" destOrd="0" presId="urn:microsoft.com/office/officeart/2005/8/layout/list1"/>
    <dgm:cxn modelId="{23A6C122-54CC-9F42-91FD-01890EFFDE8B}" type="presParOf" srcId="{B2F10EBD-0713-EB40-857A-36295BEB4136}" destId="{04ABF145-2D6E-C541-A524-A2B597FFADFA}" srcOrd="1" destOrd="0" presId="urn:microsoft.com/office/officeart/2005/8/layout/list1"/>
    <dgm:cxn modelId="{C93EB7E7-6D6B-6742-ADDF-8B2812824C65}" type="presParOf" srcId="{28EA9E33-54CE-0545-A4C8-D6B083851761}" destId="{DCE55F4D-4EAA-3147-B503-31B14277658C}" srcOrd="9" destOrd="0" presId="urn:microsoft.com/office/officeart/2005/8/layout/list1"/>
    <dgm:cxn modelId="{6BE8301F-BC5F-024A-A716-7CDB7B1B3140}" type="presParOf" srcId="{28EA9E33-54CE-0545-A4C8-D6B083851761}" destId="{40DADF5E-A656-C746-B464-DA71A00AED77}" srcOrd="10"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3BB7E58-C8B9-054F-B79F-F2A49DFBFBAF}" type="doc">
      <dgm:prSet loTypeId="urn:microsoft.com/office/officeart/2005/8/layout/default" loCatId="" qsTypeId="urn:microsoft.com/office/officeart/2005/8/quickstyle/simple1" qsCatId="simple" csTypeId="urn:microsoft.com/office/officeart/2005/8/colors/colorful3" csCatId="colorful" phldr="1"/>
      <dgm:spPr/>
      <dgm:t xml:space="preserve">
        <a:bodyPr/>
        <a:lstStyle/>
        <a:p>
          <a:endParaRPr lang="en-US"/>
        </a:p>
      </dgm:t>
    </dgm:pt>
    <dgm:pt modelId="{7E47FA05-2668-F548-96B7-B7B21409CDAF}">
      <dgm:prSet phldrT="[Text]"/>
      <dgm:spPr/>
      <dgm:t xml:space="preserve">
        <a:bodyPr/>
        <a:lstStyle/>
        <a:p>
          <a:r>
            <a:rPr lang="en-US" dirty="0"/>
            <a:t>Outlier is a value much farther from the rest of the data</a:t>
          </a:r>
        </a:p>
      </dgm:t>
    </dgm:pt>
    <dgm:pt modelId="{C5547DD1-A233-D441-8C10-1C34BB4663C2}" type="parTrans" cxnId="{D29EF986-857B-0B40-A941-2314C31A65DD}">
      <dgm:prSet/>
      <dgm:spPr/>
      <dgm:t xml:space="preserve">
        <a:bodyPr/>
        <a:lstStyle/>
        <a:p>
          <a:endParaRPr lang="en-US"/>
        </a:p>
      </dgm:t>
    </dgm:pt>
    <dgm:pt modelId="{AF271AE7-17F8-9D45-BDE0-93ECE557F28C}" type="sibTrans" cxnId="{D29EF986-857B-0B40-A941-2314C31A65DD}">
      <dgm:prSet/>
      <dgm:spPr/>
      <dgm:t xml:space="preserve">
        <a:bodyPr/>
        <a:lstStyle/>
        <a:p>
          <a:endParaRPr lang="en-US"/>
        </a:p>
      </dgm:t>
    </dgm:pt>
    <dgm:pt modelId="{36BFB99B-B889-6641-B839-822B05A7EC49}">
      <dgm:prSet/>
      <dgm:spPr/>
      <dgm:t xml:space="preserve">
        <a:bodyPr/>
        <a:lstStyle/>
        <a:p>
          <a:r>
            <a:rPr lang="en-US" dirty="0"/>
            <a:t>Can be a real but unusual case, or a data entry mistake (e.g., age “199” or height “845”)</a:t>
          </a:r>
        </a:p>
      </dgm:t>
    </dgm:pt>
    <dgm:pt modelId="{2F2A77CF-7581-714E-80CA-9AD0E7932042}" type="parTrans" cxnId="{78977352-CA7A-6048-9230-984BD85C1FDC}">
      <dgm:prSet/>
      <dgm:spPr/>
      <dgm:t xml:space="preserve">
        <a:bodyPr/>
        <a:lstStyle/>
        <a:p>
          <a:endParaRPr lang="en-US"/>
        </a:p>
      </dgm:t>
    </dgm:pt>
    <dgm:pt modelId="{A48841AB-205A-9547-AE52-7ECDDF356C80}" type="sibTrans" cxnId="{78977352-CA7A-6048-9230-984BD85C1FDC}">
      <dgm:prSet/>
      <dgm:spPr/>
      <dgm:t xml:space="preserve">
        <a:bodyPr/>
        <a:lstStyle/>
        <a:p>
          <a:endParaRPr lang="en-US"/>
        </a:p>
      </dgm:t>
    </dgm:pt>
    <dgm:pt modelId="{A970BFD0-C711-0749-9618-F7F2C2ED1EED}">
      <dgm:prSet/>
      <dgm:spPr/>
      <dgm:t xml:space="preserve">
        <a:bodyPr/>
        <a:lstStyle/>
        <a:p>
          <a:r>
            <a:rPr lang="en-US"/>
            <a:t>Outliers can distort averages and graphs</a:t>
          </a:r>
          <a:endParaRPr lang="en-US" dirty="0"/>
        </a:p>
      </dgm:t>
    </dgm:pt>
    <dgm:pt modelId="{50F4709B-CE3C-5040-A975-D1B0D669C614}" type="parTrans" cxnId="{563F452A-7A9C-1A48-AB7E-10A23EE9E293}">
      <dgm:prSet/>
      <dgm:spPr/>
      <dgm:t xml:space="preserve">
        <a:bodyPr/>
        <a:lstStyle/>
        <a:p>
          <a:endParaRPr lang="en-US"/>
        </a:p>
      </dgm:t>
    </dgm:pt>
    <dgm:pt modelId="{A1EF4398-F52C-564F-B287-F790FB7F148A}" type="sibTrans" cxnId="{563F452A-7A9C-1A48-AB7E-10A23EE9E293}">
      <dgm:prSet/>
      <dgm:spPr/>
      <dgm:t xml:space="preserve">
        <a:bodyPr/>
        <a:lstStyle/>
        <a:p>
          <a:endParaRPr lang="en-US"/>
        </a:p>
      </dgm:t>
    </dgm:pt>
    <dgm:pt modelId="{1CD19ECF-2559-6548-9603-DCC49DE7D082}">
      <dgm:prSet/>
      <dgm:spPr/>
      <dgm:t xml:space="preserve">
        <a:bodyPr/>
        <a:lstStyle/>
        <a:p>
          <a:r>
            <a:rPr lang="en-US" dirty="0"/>
            <a:t>Sometimes outliers are legitimate, sometimes errors—always investigate before deciding what to do</a:t>
          </a:r>
        </a:p>
      </dgm:t>
    </dgm:pt>
    <dgm:pt modelId="{C01FC325-9532-2B47-87C5-FBBF901F095B}" type="parTrans" cxnId="{13D8EE5E-92F3-9640-B7B4-0B69BEDADA0A}">
      <dgm:prSet/>
      <dgm:spPr/>
      <dgm:t xml:space="preserve">
        <a:bodyPr/>
        <a:lstStyle/>
        <a:p>
          <a:endParaRPr lang="en-US"/>
        </a:p>
      </dgm:t>
    </dgm:pt>
    <dgm:pt modelId="{8BCBAC99-6AED-9C40-96A1-DDF626D5601E}" type="sibTrans" cxnId="{13D8EE5E-92F3-9640-B7B4-0B69BEDADA0A}">
      <dgm:prSet/>
      <dgm:spPr/>
      <dgm:t xml:space="preserve">
        <a:bodyPr/>
        <a:lstStyle/>
        <a:p>
          <a:endParaRPr lang="en-US"/>
        </a:p>
      </dgm:t>
    </dgm:pt>
    <dgm:pt modelId="{974A4C74-2824-C043-9686-EDF9563797D0}" type="pres">
      <dgm:prSet presAssocID="{D3BB7E58-C8B9-054F-B79F-F2A49DFBFBAF}" presName="diagram" presStyleCnt="0">
        <dgm:presLayoutVars>
          <dgm:dir/>
          <dgm:resizeHandles val="exact"/>
        </dgm:presLayoutVars>
      </dgm:prSet>
      <dgm:spPr/>
    </dgm:pt>
    <dgm:pt modelId="{C7E901C9-C233-084E-B415-FA2C5698BA06}" type="pres">
      <dgm:prSet presAssocID="{7E47FA05-2668-F548-96B7-B7B21409CDAF}" presName="node" presStyleLbl="node1" presStyleIdx="0" presStyleCnt="4">
        <dgm:presLayoutVars>
          <dgm:bulletEnabled val="1"/>
        </dgm:presLayoutVars>
      </dgm:prSet>
      <dgm:spPr/>
    </dgm:pt>
    <dgm:pt modelId="{A1E8D66C-EF57-954D-BFCC-AA901FB6170F}" type="pres">
      <dgm:prSet presAssocID="{AF271AE7-17F8-9D45-BDE0-93ECE557F28C}" presName="sibTrans" presStyleCnt="0"/>
      <dgm:spPr/>
    </dgm:pt>
    <dgm:pt modelId="{8D40F875-93EB-6C45-BAFB-6D46DF22E739}" type="pres">
      <dgm:prSet presAssocID="{36BFB99B-B889-6641-B839-822B05A7EC49}" presName="node" presStyleLbl="node1" presStyleIdx="1" presStyleCnt="4">
        <dgm:presLayoutVars>
          <dgm:bulletEnabled val="1"/>
        </dgm:presLayoutVars>
      </dgm:prSet>
      <dgm:spPr/>
    </dgm:pt>
    <dgm:pt modelId="{4A5B1237-72A3-9744-A0FF-EB3DE7CB2516}" type="pres">
      <dgm:prSet presAssocID="{A48841AB-205A-9547-AE52-7ECDDF356C80}" presName="sibTrans" presStyleCnt="0"/>
      <dgm:spPr/>
    </dgm:pt>
    <dgm:pt modelId="{ED37A897-D268-8C41-9A10-20BD02A6B08C}" type="pres">
      <dgm:prSet presAssocID="{A970BFD0-C711-0749-9618-F7F2C2ED1EED}" presName="node" presStyleLbl="node1" presStyleIdx="2" presStyleCnt="4">
        <dgm:presLayoutVars>
          <dgm:bulletEnabled val="1"/>
        </dgm:presLayoutVars>
      </dgm:prSet>
      <dgm:spPr/>
    </dgm:pt>
    <dgm:pt modelId="{34917C92-34E3-DB47-AD40-C4DDD86F128A}" type="pres">
      <dgm:prSet presAssocID="{A1EF4398-F52C-564F-B287-F790FB7F148A}" presName="sibTrans" presStyleCnt="0"/>
      <dgm:spPr/>
    </dgm:pt>
    <dgm:pt modelId="{C74E6092-A3D8-C14A-A095-86066CE42CFF}" type="pres">
      <dgm:prSet presAssocID="{1CD19ECF-2559-6548-9603-DCC49DE7D082}" presName="node" presStyleLbl="node1" presStyleIdx="3" presStyleCnt="4">
        <dgm:presLayoutVars>
          <dgm:bulletEnabled val="1"/>
        </dgm:presLayoutVars>
      </dgm:prSet>
      <dgm:spPr/>
    </dgm:pt>
  </dgm:ptLst>
  <dgm:cxnLst>
    <dgm:cxn modelId="{563F452A-7A9C-1A48-AB7E-10A23EE9E293}" srcId="{D3BB7E58-C8B9-054F-B79F-F2A49DFBFBAF}" destId="{A970BFD0-C711-0749-9618-F7F2C2ED1EED}" srcOrd="2" destOrd="0" parTransId="{50F4709B-CE3C-5040-A975-D1B0D669C614}" sibTransId="{A1EF4398-F52C-564F-B287-F790FB7F148A}"/>
    <dgm:cxn modelId="{13D8EE5E-92F3-9640-B7B4-0B69BEDADA0A}" srcId="{D3BB7E58-C8B9-054F-B79F-F2A49DFBFBAF}" destId="{1CD19ECF-2559-6548-9603-DCC49DE7D082}" srcOrd="3" destOrd="0" parTransId="{C01FC325-9532-2B47-87C5-FBBF901F095B}" sibTransId="{8BCBAC99-6AED-9C40-96A1-DDF626D5601E}"/>
    <dgm:cxn modelId="{78977352-CA7A-6048-9230-984BD85C1FDC}" srcId="{D3BB7E58-C8B9-054F-B79F-F2A49DFBFBAF}" destId="{36BFB99B-B889-6641-B839-822B05A7EC49}" srcOrd="1" destOrd="0" parTransId="{2F2A77CF-7581-714E-80CA-9AD0E7932042}" sibTransId="{A48841AB-205A-9547-AE52-7ECDDF356C80}"/>
    <dgm:cxn modelId="{D29EF986-857B-0B40-A941-2314C31A65DD}" srcId="{D3BB7E58-C8B9-054F-B79F-F2A49DFBFBAF}" destId="{7E47FA05-2668-F548-96B7-B7B21409CDAF}" srcOrd="0" destOrd="0" parTransId="{C5547DD1-A233-D441-8C10-1C34BB4663C2}" sibTransId="{AF271AE7-17F8-9D45-BDE0-93ECE557F28C}"/>
    <dgm:cxn modelId="{CAD419CD-7061-6F4D-854E-BC65B2AC6024}" type="presOf" srcId="{7E47FA05-2668-F548-96B7-B7B21409CDAF}" destId="{C7E901C9-C233-084E-B415-FA2C5698BA06}" srcOrd="0" destOrd="0" presId="urn:microsoft.com/office/officeart/2005/8/layout/default"/>
    <dgm:cxn modelId="{34E5A4D3-A1F3-664E-A259-5C8BBBD669E3}" type="presOf" srcId="{1CD19ECF-2559-6548-9603-DCC49DE7D082}" destId="{C74E6092-A3D8-C14A-A095-86066CE42CFF}" srcOrd="0" destOrd="0" presId="urn:microsoft.com/office/officeart/2005/8/layout/default"/>
    <dgm:cxn modelId="{107D22D7-C49D-6B4B-B311-6D8B8C257D30}" type="presOf" srcId="{D3BB7E58-C8B9-054F-B79F-F2A49DFBFBAF}" destId="{974A4C74-2824-C043-9686-EDF9563797D0}" srcOrd="0" destOrd="0" presId="urn:microsoft.com/office/officeart/2005/8/layout/default"/>
    <dgm:cxn modelId="{E1CFC7D8-AECB-414F-B755-BA3892CE79C7}" type="presOf" srcId="{A970BFD0-C711-0749-9618-F7F2C2ED1EED}" destId="{ED37A897-D268-8C41-9A10-20BD02A6B08C}" srcOrd="0" destOrd="0" presId="urn:microsoft.com/office/officeart/2005/8/layout/default"/>
    <dgm:cxn modelId="{923EDAE2-B3FE-A441-86AE-00C490DC8CEE}" type="presOf" srcId="{36BFB99B-B889-6641-B839-822B05A7EC49}" destId="{8D40F875-93EB-6C45-BAFB-6D46DF22E739}" srcOrd="0" destOrd="0" presId="urn:microsoft.com/office/officeart/2005/8/layout/default"/>
    <dgm:cxn modelId="{C6A2D636-3C79-C84E-878C-4F8164AFF170}" type="presParOf" srcId="{974A4C74-2824-C043-9686-EDF9563797D0}" destId="{C7E901C9-C233-084E-B415-FA2C5698BA06}" srcOrd="0" destOrd="0" presId="urn:microsoft.com/office/officeart/2005/8/layout/default"/>
    <dgm:cxn modelId="{9121876D-552B-D046-AB0B-E7013F532752}" type="presParOf" srcId="{974A4C74-2824-C043-9686-EDF9563797D0}" destId="{A1E8D66C-EF57-954D-BFCC-AA901FB6170F}" srcOrd="1" destOrd="0" presId="urn:microsoft.com/office/officeart/2005/8/layout/default"/>
    <dgm:cxn modelId="{0AEC23EB-BF32-5D4A-9ADA-6F342B6681C5}" type="presParOf" srcId="{974A4C74-2824-C043-9686-EDF9563797D0}" destId="{8D40F875-93EB-6C45-BAFB-6D46DF22E739}" srcOrd="2" destOrd="0" presId="urn:microsoft.com/office/officeart/2005/8/layout/default"/>
    <dgm:cxn modelId="{7D6EE0D1-C148-044E-BE06-38D9BCCBD5C3}" type="presParOf" srcId="{974A4C74-2824-C043-9686-EDF9563797D0}" destId="{4A5B1237-72A3-9744-A0FF-EB3DE7CB2516}" srcOrd="3" destOrd="0" presId="urn:microsoft.com/office/officeart/2005/8/layout/default"/>
    <dgm:cxn modelId="{C720166B-22B6-2448-814D-CE2960FC8851}" type="presParOf" srcId="{974A4C74-2824-C043-9686-EDF9563797D0}" destId="{ED37A897-D268-8C41-9A10-20BD02A6B08C}" srcOrd="4" destOrd="0" presId="urn:microsoft.com/office/officeart/2005/8/layout/default"/>
    <dgm:cxn modelId="{91657F5A-144A-084A-A81F-48B54822F93B}" type="presParOf" srcId="{974A4C74-2824-C043-9686-EDF9563797D0}" destId="{34917C92-34E3-DB47-AD40-C4DDD86F128A}" srcOrd="5" destOrd="0" presId="urn:microsoft.com/office/officeart/2005/8/layout/default"/>
    <dgm:cxn modelId="{2DB17320-52F8-B847-AB3B-332CCF411564}" type="presParOf" srcId="{974A4C74-2824-C043-9686-EDF9563797D0}" destId="{C74E6092-A3D8-C14A-A095-86066CE42CFF}" srcOrd="6"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97EE825D-E230-F845-BD94-615915265BFC}" type="doc">
      <dgm:prSet loTypeId="urn:microsoft.com/office/officeart/2005/8/layout/hList1" loCatId="" qsTypeId="urn:microsoft.com/office/officeart/2005/8/quickstyle/simple1" qsCatId="simple" csTypeId="urn:microsoft.com/office/officeart/2005/8/colors/colorful2" csCatId="colorful" phldr="1"/>
      <dgm:spPr/>
      <dgm:t xml:space="preserve">
        <a:bodyPr/>
        <a:lstStyle/>
        <a:p>
          <a:endParaRPr lang="en-US"/>
        </a:p>
      </dgm:t>
    </dgm:pt>
    <dgm:pt modelId="{9E0BE780-9397-9448-B1DD-5F98FF1FEF8A}">
      <dgm:prSet phldrT="[Text]"/>
      <dgm:spPr/>
      <dgm:t xml:space="preserve">
        <a:bodyPr/>
        <a:lstStyle/>
        <a:p>
          <a:r>
            <a:rPr lang="en-US" dirty="0"/>
            <a:t>Validate</a:t>
          </a:r>
        </a:p>
      </dgm:t>
    </dgm:pt>
    <dgm:pt modelId="{64656C37-0733-D14F-A48D-09080F4D9C28}" type="parTrans" cxnId="{6A7051C8-8813-1E4B-9EAB-E6506A76FD72}">
      <dgm:prSet/>
      <dgm:spPr/>
      <dgm:t xml:space="preserve">
        <a:bodyPr/>
        <a:lstStyle/>
        <a:p>
          <a:endParaRPr lang="en-US"/>
        </a:p>
      </dgm:t>
    </dgm:pt>
    <dgm:pt modelId="{1E4B3DE9-21F1-A74B-B13B-91767DB4D485}" type="sibTrans" cxnId="{6A7051C8-8813-1E4B-9EAB-E6506A76FD72}">
      <dgm:prSet/>
      <dgm:spPr/>
      <dgm:t xml:space="preserve">
        <a:bodyPr/>
        <a:lstStyle/>
        <a:p>
          <a:endParaRPr lang="en-US"/>
        </a:p>
      </dgm:t>
    </dgm:pt>
    <dgm:pt modelId="{F4980AE3-00A0-4848-AFFB-62DEEE746FEC}">
      <dgm:prSet phldrT="[Text]"/>
      <dgm:spPr/>
      <dgm:t xml:space="preserve">
        <a:bodyPr/>
        <a:lstStyle/>
        <a:p>
          <a:r>
            <a:rPr lang="en-US" dirty="0"/>
            <a:t>Detect</a:t>
          </a:r>
        </a:p>
      </dgm:t>
    </dgm:pt>
    <dgm:pt modelId="{51833637-D862-AB4F-82B4-B08E1408725D}" type="parTrans" cxnId="{89467768-A7AB-494D-B573-596A5D8D829C}">
      <dgm:prSet/>
      <dgm:spPr/>
      <dgm:t xml:space="preserve">
        <a:bodyPr/>
        <a:lstStyle/>
        <a:p>
          <a:endParaRPr lang="en-US"/>
        </a:p>
      </dgm:t>
    </dgm:pt>
    <dgm:pt modelId="{6C88795A-7A42-6543-8013-98B5FD517AF4}" type="sibTrans" cxnId="{89467768-A7AB-494D-B573-596A5D8D829C}">
      <dgm:prSet/>
      <dgm:spPr/>
      <dgm:t xml:space="preserve">
        <a:bodyPr/>
        <a:lstStyle/>
        <a:p>
          <a:endParaRPr lang="en-US"/>
        </a:p>
      </dgm:t>
    </dgm:pt>
    <dgm:pt modelId="{BF1A5EB2-6CB1-A641-AF37-922E8BCDDAC0}">
      <dgm:prSet phldrT="[Text]"/>
      <dgm:spPr/>
      <dgm:t xml:space="preserve">
        <a:bodyPr/>
        <a:lstStyle/>
        <a:p>
          <a:r>
            <a:rPr lang="en-US" dirty="0"/>
            <a:t>Clean</a:t>
          </a:r>
        </a:p>
      </dgm:t>
    </dgm:pt>
    <dgm:pt modelId="{BCC1EC3E-5A90-B844-8B12-D195E9B2A821}" type="parTrans" cxnId="{317F79B2-050C-0C47-BE3F-3F6B47FDE1BF}">
      <dgm:prSet/>
      <dgm:spPr/>
      <dgm:t xml:space="preserve">
        <a:bodyPr/>
        <a:lstStyle/>
        <a:p>
          <a:endParaRPr lang="en-US"/>
        </a:p>
      </dgm:t>
    </dgm:pt>
    <dgm:pt modelId="{9B06657D-A93F-F340-A629-4727252D9D2B}" type="sibTrans" cxnId="{317F79B2-050C-0C47-BE3F-3F6B47FDE1BF}">
      <dgm:prSet/>
      <dgm:spPr/>
      <dgm:t xml:space="preserve">
        <a:bodyPr/>
        <a:lstStyle/>
        <a:p>
          <a:endParaRPr lang="en-US"/>
        </a:p>
      </dgm:t>
    </dgm:pt>
    <dgm:pt modelId="{7C02523F-B0E4-1740-916A-E0763A2A0390}">
      <dgm:prSet phldrT="[Text]"/>
      <dgm:spPr/>
      <dgm:t xml:space="preserve">
        <a:bodyPr/>
        <a:lstStyle/>
        <a:p>
          <a:r>
            <a:rPr lang="en-US" dirty="0"/>
            <a:t>Check if values meet expected criteria</a:t>
          </a:r>
        </a:p>
      </dgm:t>
    </dgm:pt>
    <dgm:pt modelId="{37A967B4-BC2B-F544-B31D-EB0B4712E428}" type="parTrans" cxnId="{E51EFA36-B860-DC4D-B6BF-3C78319C8DA1}">
      <dgm:prSet/>
      <dgm:spPr/>
      <dgm:t xml:space="preserve">
        <a:bodyPr/>
        <a:lstStyle/>
        <a:p>
          <a:endParaRPr lang="en-US"/>
        </a:p>
      </dgm:t>
    </dgm:pt>
    <dgm:pt modelId="{C69C9A93-2A82-6F4C-B6BC-0D2A9CFD47E8}" type="sibTrans" cxnId="{E51EFA36-B860-DC4D-B6BF-3C78319C8DA1}">
      <dgm:prSet/>
      <dgm:spPr/>
      <dgm:t xml:space="preserve">
        <a:bodyPr/>
        <a:lstStyle/>
        <a:p>
          <a:endParaRPr lang="en-US"/>
        </a:p>
      </dgm:t>
    </dgm:pt>
    <dgm:pt modelId="{8E986941-B9CA-D041-BA90-ABD92C026EA9}">
      <dgm:prSet phldrT="[Text]"/>
      <dgm:spPr/>
      <dgm:t xml:space="preserve">
        <a:bodyPr/>
        <a:lstStyle/>
        <a:p>
          <a:r>
            <a:rPr lang="en-US" dirty="0"/>
            <a:t>Find problems systematically</a:t>
          </a:r>
        </a:p>
      </dgm:t>
    </dgm:pt>
    <dgm:pt modelId="{0F3DAED4-63F8-324D-8AD9-7D51F6342ABA}" type="parTrans" cxnId="{9EEAA96D-5972-E54C-93AC-839CF8B707C7}">
      <dgm:prSet/>
      <dgm:spPr/>
      <dgm:t xml:space="preserve">
        <a:bodyPr/>
        <a:lstStyle/>
        <a:p>
          <a:endParaRPr lang="en-US"/>
        </a:p>
      </dgm:t>
    </dgm:pt>
    <dgm:pt modelId="{C1FEF9C3-02F1-8C41-B705-BB4DE8E12C03}" type="sibTrans" cxnId="{9EEAA96D-5972-E54C-93AC-839CF8B707C7}">
      <dgm:prSet/>
      <dgm:spPr/>
      <dgm:t xml:space="preserve">
        <a:bodyPr/>
        <a:lstStyle/>
        <a:p>
          <a:endParaRPr lang="en-US"/>
        </a:p>
      </dgm:t>
    </dgm:pt>
    <dgm:pt modelId="{993DBAF8-156D-6143-BBCE-C419C77AEC74}">
      <dgm:prSet phldrT="[Text]"/>
      <dgm:spPr/>
      <dgm:t xml:space="preserve">
        <a:bodyPr/>
        <a:lstStyle/>
        <a:p>
          <a:r>
            <a:rPr lang="en-US" dirty="0"/>
            <a:t>Apply fixes consistently</a:t>
          </a:r>
        </a:p>
      </dgm:t>
    </dgm:pt>
    <dgm:pt modelId="{E849242A-0169-7147-A1E2-3728DE50045B}" type="parTrans" cxnId="{D775F63C-47B8-F145-91AF-CD4042D85E14}">
      <dgm:prSet/>
      <dgm:spPr/>
      <dgm:t xml:space="preserve">
        <a:bodyPr/>
        <a:lstStyle/>
        <a:p>
          <a:endParaRPr lang="en-US"/>
        </a:p>
      </dgm:t>
    </dgm:pt>
    <dgm:pt modelId="{80BC7340-1649-3846-8BB9-6868C0B52643}" type="sibTrans" cxnId="{D775F63C-47B8-F145-91AF-CD4042D85E14}">
      <dgm:prSet/>
      <dgm:spPr/>
      <dgm:t xml:space="preserve">
        <a:bodyPr/>
        <a:lstStyle/>
        <a:p>
          <a:endParaRPr lang="en-US"/>
        </a:p>
      </dgm:t>
    </dgm:pt>
    <dgm:pt modelId="{4407D37A-DF86-974A-8719-50475EB9B9C5}">
      <dgm:prSet phldrT="[Text]"/>
      <dgm:spPr/>
      <dgm:t xml:space="preserve">
        <a:bodyPr/>
        <a:lstStyle/>
        <a:p>
          <a:r>
            <a:rPr lang="en-US" dirty="0"/>
            <a:t>Verify</a:t>
          </a:r>
        </a:p>
      </dgm:t>
    </dgm:pt>
    <dgm:pt modelId="{B87BD32C-952F-094D-94ED-AB308893CBE6}" type="parTrans" cxnId="{85CCACD4-8486-C143-9706-919D41327A5C}">
      <dgm:prSet/>
      <dgm:spPr/>
      <dgm:t xml:space="preserve">
        <a:bodyPr/>
        <a:lstStyle/>
        <a:p>
          <a:endParaRPr lang="en-US"/>
        </a:p>
      </dgm:t>
    </dgm:pt>
    <dgm:pt modelId="{1B24EC30-C0F2-0147-9EB2-CD7E32F1974A}" type="sibTrans" cxnId="{85CCACD4-8486-C143-9706-919D41327A5C}">
      <dgm:prSet/>
      <dgm:spPr/>
      <dgm:t xml:space="preserve">
        <a:bodyPr/>
        <a:lstStyle/>
        <a:p>
          <a:endParaRPr lang="en-US"/>
        </a:p>
      </dgm:t>
    </dgm:pt>
    <dgm:pt modelId="{F7ADA6B5-CBC2-5A4D-AA7A-ED7D913EAA6E}">
      <dgm:prSet phldrT="[Text]"/>
      <dgm:spPr/>
      <dgm:t xml:space="preserve">
        <a:bodyPr/>
        <a:lstStyle/>
        <a:p>
          <a:r>
            <a:rPr lang="en-US" dirty="0"/>
            <a:t>Test that cleaning worked</a:t>
          </a:r>
        </a:p>
      </dgm:t>
    </dgm:pt>
    <dgm:pt modelId="{B6DD97A9-8FE9-314C-A82C-4D8A4C5C2513}" type="parTrans" cxnId="{2DFC7A55-519A-5042-AAAF-B6ACFBDEE0D1}">
      <dgm:prSet/>
      <dgm:spPr/>
      <dgm:t xml:space="preserve">
        <a:bodyPr/>
        <a:lstStyle/>
        <a:p>
          <a:endParaRPr lang="en-US"/>
        </a:p>
      </dgm:t>
    </dgm:pt>
    <dgm:pt modelId="{5CB7FD9C-1D28-704F-9F4C-E4EBCD0DF496}" type="sibTrans" cxnId="{2DFC7A55-519A-5042-AAAF-B6ACFBDEE0D1}">
      <dgm:prSet/>
      <dgm:spPr/>
      <dgm:t xml:space="preserve">
        <a:bodyPr/>
        <a:lstStyle/>
        <a:p>
          <a:endParaRPr lang="en-US"/>
        </a:p>
      </dgm:t>
    </dgm:pt>
    <dgm:pt modelId="{5C26FF1D-D441-364A-AB1B-74B3350E343A}" type="pres">
      <dgm:prSet presAssocID="{97EE825D-E230-F845-BD94-615915265BFC}" presName="Name0" presStyleCnt="0">
        <dgm:presLayoutVars>
          <dgm:dir/>
          <dgm:animLvl val="lvl"/>
          <dgm:resizeHandles val="exact"/>
        </dgm:presLayoutVars>
      </dgm:prSet>
      <dgm:spPr/>
    </dgm:pt>
    <dgm:pt modelId="{0B579E79-8A41-2B49-982A-F560E5813824}" type="pres">
      <dgm:prSet presAssocID="{9E0BE780-9397-9448-B1DD-5F98FF1FEF8A}" presName="composite" presStyleCnt="0"/>
      <dgm:spPr/>
    </dgm:pt>
    <dgm:pt modelId="{3A4FC338-CB5C-444A-96C8-6AE763254CF4}" type="pres">
      <dgm:prSet presAssocID="{9E0BE780-9397-9448-B1DD-5F98FF1FEF8A}" presName="parTx" presStyleLbl="alignNode1" presStyleIdx="0" presStyleCnt="4">
        <dgm:presLayoutVars>
          <dgm:chMax val="0"/>
          <dgm:chPref val="0"/>
          <dgm:bulletEnabled val="1"/>
        </dgm:presLayoutVars>
      </dgm:prSet>
      <dgm:spPr/>
    </dgm:pt>
    <dgm:pt modelId="{59011831-E918-1D40-9946-6CC26039D2B7}" type="pres">
      <dgm:prSet presAssocID="{9E0BE780-9397-9448-B1DD-5F98FF1FEF8A}" presName="desTx" presStyleLbl="alignAccFollowNode1" presStyleIdx="0" presStyleCnt="4">
        <dgm:presLayoutVars>
          <dgm:bulletEnabled val="1"/>
        </dgm:presLayoutVars>
      </dgm:prSet>
      <dgm:spPr/>
    </dgm:pt>
    <dgm:pt modelId="{33EA1EF2-6DBC-544F-BC87-7DBD01E40B03}" type="pres">
      <dgm:prSet presAssocID="{1E4B3DE9-21F1-A74B-B13B-91767DB4D485}" presName="space" presStyleCnt="0"/>
      <dgm:spPr/>
    </dgm:pt>
    <dgm:pt modelId="{D0BD4ABC-3441-8848-B470-07470F332229}" type="pres">
      <dgm:prSet presAssocID="{F4980AE3-00A0-4848-AFFB-62DEEE746FEC}" presName="composite" presStyleCnt="0"/>
      <dgm:spPr/>
    </dgm:pt>
    <dgm:pt modelId="{FF3D1E45-FBE4-5443-B83B-B74A439DC673}" type="pres">
      <dgm:prSet presAssocID="{F4980AE3-00A0-4848-AFFB-62DEEE746FEC}" presName="parTx" presStyleLbl="alignNode1" presStyleIdx="1" presStyleCnt="4">
        <dgm:presLayoutVars>
          <dgm:chMax val="0"/>
          <dgm:chPref val="0"/>
          <dgm:bulletEnabled val="1"/>
        </dgm:presLayoutVars>
      </dgm:prSet>
      <dgm:spPr/>
    </dgm:pt>
    <dgm:pt modelId="{103FDD06-260A-A34F-B364-869C56BC1B64}" type="pres">
      <dgm:prSet presAssocID="{F4980AE3-00A0-4848-AFFB-62DEEE746FEC}" presName="desTx" presStyleLbl="alignAccFollowNode1" presStyleIdx="1" presStyleCnt="4">
        <dgm:presLayoutVars>
          <dgm:bulletEnabled val="1"/>
        </dgm:presLayoutVars>
      </dgm:prSet>
      <dgm:spPr/>
    </dgm:pt>
    <dgm:pt modelId="{D76DD1F4-BE6D-854A-AB0C-D3D08F113487}" type="pres">
      <dgm:prSet presAssocID="{6C88795A-7A42-6543-8013-98B5FD517AF4}" presName="space" presStyleCnt="0"/>
      <dgm:spPr/>
    </dgm:pt>
    <dgm:pt modelId="{2EA0F291-B881-D641-A046-65B9CD615B3A}" type="pres">
      <dgm:prSet presAssocID="{BF1A5EB2-6CB1-A641-AF37-922E8BCDDAC0}" presName="composite" presStyleCnt="0"/>
      <dgm:spPr/>
    </dgm:pt>
    <dgm:pt modelId="{3E7022B9-A473-114C-B3E8-D39DB81EE7AE}" type="pres">
      <dgm:prSet presAssocID="{BF1A5EB2-6CB1-A641-AF37-922E8BCDDAC0}" presName="parTx" presStyleLbl="alignNode1" presStyleIdx="2" presStyleCnt="4">
        <dgm:presLayoutVars>
          <dgm:chMax val="0"/>
          <dgm:chPref val="0"/>
          <dgm:bulletEnabled val="1"/>
        </dgm:presLayoutVars>
      </dgm:prSet>
      <dgm:spPr/>
    </dgm:pt>
    <dgm:pt modelId="{1555AD0D-0989-D348-81DD-B3BF6D10E32D}" type="pres">
      <dgm:prSet presAssocID="{BF1A5EB2-6CB1-A641-AF37-922E8BCDDAC0}" presName="desTx" presStyleLbl="alignAccFollowNode1" presStyleIdx="2" presStyleCnt="4">
        <dgm:presLayoutVars>
          <dgm:bulletEnabled val="1"/>
        </dgm:presLayoutVars>
      </dgm:prSet>
      <dgm:spPr/>
    </dgm:pt>
    <dgm:pt modelId="{90221C11-4BA0-5F45-AB6E-9DE09F4C5958}" type="pres">
      <dgm:prSet presAssocID="{9B06657D-A93F-F340-A629-4727252D9D2B}" presName="space" presStyleCnt="0"/>
      <dgm:spPr/>
    </dgm:pt>
    <dgm:pt modelId="{482A216A-AD5B-364E-BD87-C415A98E02C3}" type="pres">
      <dgm:prSet presAssocID="{4407D37A-DF86-974A-8719-50475EB9B9C5}" presName="composite" presStyleCnt="0"/>
      <dgm:spPr/>
    </dgm:pt>
    <dgm:pt modelId="{2E97116F-3C6A-1A4F-B951-B0CA56BA8363}" type="pres">
      <dgm:prSet presAssocID="{4407D37A-DF86-974A-8719-50475EB9B9C5}" presName="parTx" presStyleLbl="alignNode1" presStyleIdx="3" presStyleCnt="4">
        <dgm:presLayoutVars>
          <dgm:chMax val="0"/>
          <dgm:chPref val="0"/>
          <dgm:bulletEnabled val="1"/>
        </dgm:presLayoutVars>
      </dgm:prSet>
      <dgm:spPr/>
    </dgm:pt>
    <dgm:pt modelId="{50267591-9515-2749-93B3-FCC5824D0474}" type="pres">
      <dgm:prSet presAssocID="{4407D37A-DF86-974A-8719-50475EB9B9C5}" presName="desTx" presStyleLbl="alignAccFollowNode1" presStyleIdx="3" presStyleCnt="4">
        <dgm:presLayoutVars>
          <dgm:bulletEnabled val="1"/>
        </dgm:presLayoutVars>
      </dgm:prSet>
      <dgm:spPr/>
    </dgm:pt>
  </dgm:ptLst>
  <dgm:cxnLst>
    <dgm:cxn modelId="{E51EFA36-B860-DC4D-B6BF-3C78319C8DA1}" srcId="{9E0BE780-9397-9448-B1DD-5F98FF1FEF8A}" destId="{7C02523F-B0E4-1740-916A-E0763A2A0390}" srcOrd="0" destOrd="0" parTransId="{37A967B4-BC2B-F544-B31D-EB0B4712E428}" sibTransId="{C69C9A93-2A82-6F4C-B6BC-0D2A9CFD47E8}"/>
    <dgm:cxn modelId="{D775F63C-47B8-F145-91AF-CD4042D85E14}" srcId="{BF1A5EB2-6CB1-A641-AF37-922E8BCDDAC0}" destId="{993DBAF8-156D-6143-BBCE-C419C77AEC74}" srcOrd="0" destOrd="0" parTransId="{E849242A-0169-7147-A1E2-3728DE50045B}" sibTransId="{80BC7340-1649-3846-8BB9-6868C0B52643}"/>
    <dgm:cxn modelId="{89467768-A7AB-494D-B573-596A5D8D829C}" srcId="{97EE825D-E230-F845-BD94-615915265BFC}" destId="{F4980AE3-00A0-4848-AFFB-62DEEE746FEC}" srcOrd="1" destOrd="0" parTransId="{51833637-D862-AB4F-82B4-B08E1408725D}" sibTransId="{6C88795A-7A42-6543-8013-98B5FD517AF4}"/>
    <dgm:cxn modelId="{9EEAA96D-5972-E54C-93AC-839CF8B707C7}" srcId="{F4980AE3-00A0-4848-AFFB-62DEEE746FEC}" destId="{8E986941-B9CA-D041-BA90-ABD92C026EA9}" srcOrd="0" destOrd="0" parTransId="{0F3DAED4-63F8-324D-8AD9-7D51F6342ABA}" sibTransId="{C1FEF9C3-02F1-8C41-B705-BB4DE8E12C03}"/>
    <dgm:cxn modelId="{B8FC8350-B6A9-2544-BE13-B56CE4ED858B}" type="presOf" srcId="{4407D37A-DF86-974A-8719-50475EB9B9C5}" destId="{2E97116F-3C6A-1A4F-B951-B0CA56BA8363}" srcOrd="0" destOrd="0" presId="urn:microsoft.com/office/officeart/2005/8/layout/hList1"/>
    <dgm:cxn modelId="{2DFC7A55-519A-5042-AAAF-B6ACFBDEE0D1}" srcId="{4407D37A-DF86-974A-8719-50475EB9B9C5}" destId="{F7ADA6B5-CBC2-5A4D-AA7A-ED7D913EAA6E}" srcOrd="0" destOrd="0" parTransId="{B6DD97A9-8FE9-314C-A82C-4D8A4C5C2513}" sibTransId="{5CB7FD9C-1D28-704F-9F4C-E4EBCD0DF496}"/>
    <dgm:cxn modelId="{B1572176-F288-7E4F-A7F9-B974F1DC3AA0}" type="presOf" srcId="{F4980AE3-00A0-4848-AFFB-62DEEE746FEC}" destId="{FF3D1E45-FBE4-5443-B83B-B74A439DC673}" srcOrd="0" destOrd="0" presId="urn:microsoft.com/office/officeart/2005/8/layout/hList1"/>
    <dgm:cxn modelId="{2049DF76-AC41-3F4B-BD2D-4AD0772B61A9}" type="presOf" srcId="{BF1A5EB2-6CB1-A641-AF37-922E8BCDDAC0}" destId="{3E7022B9-A473-114C-B3E8-D39DB81EE7AE}" srcOrd="0" destOrd="0" presId="urn:microsoft.com/office/officeart/2005/8/layout/hList1"/>
    <dgm:cxn modelId="{2974A487-6826-9749-9B53-D0D0BCF01CC3}" type="presOf" srcId="{8E986941-B9CA-D041-BA90-ABD92C026EA9}" destId="{103FDD06-260A-A34F-B364-869C56BC1B64}" srcOrd="0" destOrd="0" presId="urn:microsoft.com/office/officeart/2005/8/layout/hList1"/>
    <dgm:cxn modelId="{D2081896-27FD-B442-B18E-BA89EAD51F2D}" type="presOf" srcId="{9E0BE780-9397-9448-B1DD-5F98FF1FEF8A}" destId="{3A4FC338-CB5C-444A-96C8-6AE763254CF4}" srcOrd="0" destOrd="0" presId="urn:microsoft.com/office/officeart/2005/8/layout/hList1"/>
    <dgm:cxn modelId="{315974A2-2CD8-5B4B-9F12-CE9572D0AF16}" type="presOf" srcId="{F7ADA6B5-CBC2-5A4D-AA7A-ED7D913EAA6E}" destId="{50267591-9515-2749-93B3-FCC5824D0474}" srcOrd="0" destOrd="0" presId="urn:microsoft.com/office/officeart/2005/8/layout/hList1"/>
    <dgm:cxn modelId="{317F79B2-050C-0C47-BE3F-3F6B47FDE1BF}" srcId="{97EE825D-E230-F845-BD94-615915265BFC}" destId="{BF1A5EB2-6CB1-A641-AF37-922E8BCDDAC0}" srcOrd="2" destOrd="0" parTransId="{BCC1EC3E-5A90-B844-8B12-D195E9B2A821}" sibTransId="{9B06657D-A93F-F340-A629-4727252D9D2B}"/>
    <dgm:cxn modelId="{6A7051C8-8813-1E4B-9EAB-E6506A76FD72}" srcId="{97EE825D-E230-F845-BD94-615915265BFC}" destId="{9E0BE780-9397-9448-B1DD-5F98FF1FEF8A}" srcOrd="0" destOrd="0" parTransId="{64656C37-0733-D14F-A48D-09080F4D9C28}" sibTransId="{1E4B3DE9-21F1-A74B-B13B-91767DB4D485}"/>
    <dgm:cxn modelId="{E7D39FCE-FB5A-EF43-9A31-5127C3DBEB57}" type="presOf" srcId="{97EE825D-E230-F845-BD94-615915265BFC}" destId="{5C26FF1D-D441-364A-AB1B-74B3350E343A}" srcOrd="0" destOrd="0" presId="urn:microsoft.com/office/officeart/2005/8/layout/hList1"/>
    <dgm:cxn modelId="{3A46DBD3-A7B8-B44A-9999-AA50882C691D}" type="presOf" srcId="{7C02523F-B0E4-1740-916A-E0763A2A0390}" destId="{59011831-E918-1D40-9946-6CC26039D2B7}" srcOrd="0" destOrd="0" presId="urn:microsoft.com/office/officeart/2005/8/layout/hList1"/>
    <dgm:cxn modelId="{85CCACD4-8486-C143-9706-919D41327A5C}" srcId="{97EE825D-E230-F845-BD94-615915265BFC}" destId="{4407D37A-DF86-974A-8719-50475EB9B9C5}" srcOrd="3" destOrd="0" parTransId="{B87BD32C-952F-094D-94ED-AB308893CBE6}" sibTransId="{1B24EC30-C0F2-0147-9EB2-CD7E32F1974A}"/>
    <dgm:cxn modelId="{BEF1A0E5-762A-694C-8CEF-59E6C9819035}" type="presOf" srcId="{993DBAF8-156D-6143-BBCE-C419C77AEC74}" destId="{1555AD0D-0989-D348-81DD-B3BF6D10E32D}" srcOrd="0" destOrd="0" presId="urn:microsoft.com/office/officeart/2005/8/layout/hList1"/>
    <dgm:cxn modelId="{384359B9-5979-9444-8F75-1B562832BCD0}" type="presParOf" srcId="{5C26FF1D-D441-364A-AB1B-74B3350E343A}" destId="{0B579E79-8A41-2B49-982A-F560E5813824}" srcOrd="0" destOrd="0" presId="urn:microsoft.com/office/officeart/2005/8/layout/hList1"/>
    <dgm:cxn modelId="{E73CAD62-9E6B-5C43-9A29-E1292656BE16}" type="presParOf" srcId="{0B579E79-8A41-2B49-982A-F560E5813824}" destId="{3A4FC338-CB5C-444A-96C8-6AE763254CF4}" srcOrd="0" destOrd="0" presId="urn:microsoft.com/office/officeart/2005/8/layout/hList1"/>
    <dgm:cxn modelId="{38D0F8DA-66A9-0E4B-AF18-EAEAF5F143B6}" type="presParOf" srcId="{0B579E79-8A41-2B49-982A-F560E5813824}" destId="{59011831-E918-1D40-9946-6CC26039D2B7}" srcOrd="1" destOrd="0" presId="urn:microsoft.com/office/officeart/2005/8/layout/hList1"/>
    <dgm:cxn modelId="{6162DE64-F46D-974D-9C1A-C1F2B1F21BA6}" type="presParOf" srcId="{5C26FF1D-D441-364A-AB1B-74B3350E343A}" destId="{33EA1EF2-6DBC-544F-BC87-7DBD01E40B03}" srcOrd="1" destOrd="0" presId="urn:microsoft.com/office/officeart/2005/8/layout/hList1"/>
    <dgm:cxn modelId="{19EB1993-5208-824F-8C71-7DDA387314D7}" type="presParOf" srcId="{5C26FF1D-D441-364A-AB1B-74B3350E343A}" destId="{D0BD4ABC-3441-8848-B470-07470F332229}" srcOrd="2" destOrd="0" presId="urn:microsoft.com/office/officeart/2005/8/layout/hList1"/>
    <dgm:cxn modelId="{4B0B23F1-6907-A748-A233-0A6A9D24E0CE}" type="presParOf" srcId="{D0BD4ABC-3441-8848-B470-07470F332229}" destId="{FF3D1E45-FBE4-5443-B83B-B74A439DC673}" srcOrd="0" destOrd="0" presId="urn:microsoft.com/office/officeart/2005/8/layout/hList1"/>
    <dgm:cxn modelId="{44170B0A-B9C0-064A-9B81-2A312B3B0D7E}" type="presParOf" srcId="{D0BD4ABC-3441-8848-B470-07470F332229}" destId="{103FDD06-260A-A34F-B364-869C56BC1B64}" srcOrd="1" destOrd="0" presId="urn:microsoft.com/office/officeart/2005/8/layout/hList1"/>
    <dgm:cxn modelId="{C4DC9342-7C1F-BF4C-A79D-B331FAC0CF96}" type="presParOf" srcId="{5C26FF1D-D441-364A-AB1B-74B3350E343A}" destId="{D76DD1F4-BE6D-854A-AB0C-D3D08F113487}" srcOrd="3" destOrd="0" presId="urn:microsoft.com/office/officeart/2005/8/layout/hList1"/>
    <dgm:cxn modelId="{8A414556-F222-F54D-B1C1-D59ACCB652B0}" type="presParOf" srcId="{5C26FF1D-D441-364A-AB1B-74B3350E343A}" destId="{2EA0F291-B881-D641-A046-65B9CD615B3A}" srcOrd="4" destOrd="0" presId="urn:microsoft.com/office/officeart/2005/8/layout/hList1"/>
    <dgm:cxn modelId="{8D7B362A-913C-8040-A1B2-2EE5E989C9A0}" type="presParOf" srcId="{2EA0F291-B881-D641-A046-65B9CD615B3A}" destId="{3E7022B9-A473-114C-B3E8-D39DB81EE7AE}" srcOrd="0" destOrd="0" presId="urn:microsoft.com/office/officeart/2005/8/layout/hList1"/>
    <dgm:cxn modelId="{7CFB70FE-50F3-074F-A1DE-8E8A09CD6C42}" type="presParOf" srcId="{2EA0F291-B881-D641-A046-65B9CD615B3A}" destId="{1555AD0D-0989-D348-81DD-B3BF6D10E32D}" srcOrd="1" destOrd="0" presId="urn:microsoft.com/office/officeart/2005/8/layout/hList1"/>
    <dgm:cxn modelId="{56F48334-CEB4-DE4B-AD88-A3414B77D47C}" type="presParOf" srcId="{5C26FF1D-D441-364A-AB1B-74B3350E343A}" destId="{90221C11-4BA0-5F45-AB6E-9DE09F4C5958}" srcOrd="5" destOrd="0" presId="urn:microsoft.com/office/officeart/2005/8/layout/hList1"/>
    <dgm:cxn modelId="{DFD68630-E36A-4B4B-AEEA-A560F22AD73B}" type="presParOf" srcId="{5C26FF1D-D441-364A-AB1B-74B3350E343A}" destId="{482A216A-AD5B-364E-BD87-C415A98E02C3}" srcOrd="6" destOrd="0" presId="urn:microsoft.com/office/officeart/2005/8/layout/hList1"/>
    <dgm:cxn modelId="{85045100-E614-6849-929F-754AB657A151}" type="presParOf" srcId="{482A216A-AD5B-364E-BD87-C415A98E02C3}" destId="{2E97116F-3C6A-1A4F-B951-B0CA56BA8363}" srcOrd="0" destOrd="0" presId="urn:microsoft.com/office/officeart/2005/8/layout/hList1"/>
    <dgm:cxn modelId="{D7E44A37-0E80-844A-B7CE-1B96BDC8A5E8}" type="presParOf" srcId="{482A216A-AD5B-364E-BD87-C415A98E02C3}" destId="{50267591-9515-2749-93B3-FCC5824D0474}"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8ED03967-AD20-964D-B3AC-DC6CD0CFD8ED}" type="doc">
      <dgm:prSet loTypeId="urn:microsoft.com/office/officeart/2005/8/layout/hList1" loCatId="" qsTypeId="urn:microsoft.com/office/officeart/2005/8/quickstyle/simple1" qsCatId="simple" csTypeId="urn:microsoft.com/office/officeart/2005/8/colors/accent1_2" csCatId="accent1" phldr="1"/>
      <dgm:spPr/>
      <dgm:t xml:space="preserve">
        <a:bodyPr/>
        <a:lstStyle/>
        <a:p>
          <a:endParaRPr lang="en-US"/>
        </a:p>
      </dgm:t>
    </dgm:pt>
    <dgm:pt modelId="{1BA56FF3-FAA8-1A4A-89A0-D76C34507DEF}">
      <dgm:prSet phldrT="[Text]"/>
      <dgm:spPr/>
      <dgm:t xml:space="preserve">
        <a:bodyPr/>
        <a:lstStyle/>
        <a:p>
          <a:r>
            <a:rPr lang="en-US" dirty="0"/>
            <a:t>Omit</a:t>
          </a:r>
        </a:p>
      </dgm:t>
    </dgm:pt>
    <dgm:pt modelId="{C2988054-662E-3740-A207-21A0F930A8B9}" type="parTrans" cxnId="{0A3B0DC0-83E3-1A4D-86EE-3D45B2FEA0DE}">
      <dgm:prSet/>
      <dgm:spPr/>
      <dgm:t xml:space="preserve">
        <a:bodyPr/>
        <a:lstStyle/>
        <a:p>
          <a:endParaRPr lang="en-US"/>
        </a:p>
      </dgm:t>
    </dgm:pt>
    <dgm:pt modelId="{01A012C5-AEDC-BE47-8200-776C28D3AE5E}" type="sibTrans" cxnId="{0A3B0DC0-83E3-1A4D-86EE-3D45B2FEA0DE}">
      <dgm:prSet/>
      <dgm:spPr/>
      <dgm:t xml:space="preserve">
        <a:bodyPr/>
        <a:lstStyle/>
        <a:p>
          <a:endParaRPr lang="en-US"/>
        </a:p>
      </dgm:t>
    </dgm:pt>
    <dgm:pt modelId="{86215AD4-1C04-2747-9536-02EA29DA4436}">
      <dgm:prSet phldrT="[Text]"/>
      <dgm:spPr/>
      <dgm:t xml:space="preserve">
        <a:bodyPr/>
        <a:lstStyle/>
        <a:p>
          <a:r>
            <a:rPr lang="en-US" dirty="0"/>
            <a:t>Remove rows with missing values</a:t>
          </a:r>
        </a:p>
      </dgm:t>
    </dgm:pt>
    <dgm:pt modelId="{EE2BCAC3-3E53-7C4E-9FCD-84DCE8AFBE44}" type="parTrans" cxnId="{FA82537E-4313-B148-8BE6-A0F69004B360}">
      <dgm:prSet/>
      <dgm:spPr/>
      <dgm:t xml:space="preserve">
        <a:bodyPr/>
        <a:lstStyle/>
        <a:p>
          <a:endParaRPr lang="en-US"/>
        </a:p>
      </dgm:t>
    </dgm:pt>
    <dgm:pt modelId="{37D5D68B-6CEF-BC45-B611-9C8FA3790202}" type="sibTrans" cxnId="{FA82537E-4313-B148-8BE6-A0F69004B360}">
      <dgm:prSet/>
      <dgm:spPr/>
      <dgm:t xml:space="preserve">
        <a:bodyPr/>
        <a:lstStyle/>
        <a:p>
          <a:endParaRPr lang="en-US"/>
        </a:p>
      </dgm:t>
    </dgm:pt>
    <dgm:pt modelId="{90B2D85A-0989-5747-857E-70684DB57C8B}">
      <dgm:prSet phldrT="[Text]"/>
      <dgm:spPr/>
      <dgm:t xml:space="preserve">
        <a:bodyPr/>
        <a:lstStyle/>
        <a:p>
          <a:r>
            <a:rPr lang="en-US" dirty="0"/>
            <a:t>Simple approach</a:t>
          </a:r>
        </a:p>
      </dgm:t>
    </dgm:pt>
    <dgm:pt modelId="{5E8BA98E-E718-6241-8F15-32E56CB585A1}" type="parTrans" cxnId="{CE60503B-0E30-474E-898D-E8E1D6E2C466}">
      <dgm:prSet/>
      <dgm:spPr/>
      <dgm:t xml:space="preserve">
        <a:bodyPr/>
        <a:lstStyle/>
        <a:p>
          <a:endParaRPr lang="en-US"/>
        </a:p>
      </dgm:t>
    </dgm:pt>
    <dgm:pt modelId="{F3EEB5CE-426B-7D41-A61A-DF05AC1B338F}" type="sibTrans" cxnId="{CE60503B-0E30-474E-898D-E8E1D6E2C466}">
      <dgm:prSet/>
      <dgm:spPr/>
      <dgm:t xml:space="preserve">
        <a:bodyPr/>
        <a:lstStyle/>
        <a:p>
          <a:endParaRPr lang="en-US"/>
        </a:p>
      </dgm:t>
    </dgm:pt>
    <dgm:pt modelId="{C4A1D8AE-AE13-E04E-94FC-AC8240CC9861}">
      <dgm:prSet phldrT="[Text]"/>
      <dgm:spPr/>
      <dgm:t xml:space="preserve">
        <a:bodyPr/>
        <a:lstStyle/>
        <a:p>
          <a:r>
            <a:rPr lang="en-US" dirty="0"/>
            <a:t>Impute</a:t>
          </a:r>
        </a:p>
      </dgm:t>
    </dgm:pt>
    <dgm:pt modelId="{1F83E711-6EEE-CA44-A2B7-770578267610}" type="parTrans" cxnId="{DDA8AD6F-85F5-0C48-B3B2-12F5B53D5F0C}">
      <dgm:prSet/>
      <dgm:spPr/>
      <dgm:t xml:space="preserve">
        <a:bodyPr/>
        <a:lstStyle/>
        <a:p>
          <a:endParaRPr lang="en-US"/>
        </a:p>
      </dgm:t>
    </dgm:pt>
    <dgm:pt modelId="{3CE7C9DB-E2E5-2641-A9D7-74EC71831779}" type="sibTrans" cxnId="{DDA8AD6F-85F5-0C48-B3B2-12F5B53D5F0C}">
      <dgm:prSet/>
      <dgm:spPr/>
      <dgm:t xml:space="preserve">
        <a:bodyPr/>
        <a:lstStyle/>
        <a:p>
          <a:endParaRPr lang="en-US"/>
        </a:p>
      </dgm:t>
    </dgm:pt>
    <dgm:pt modelId="{3E267247-4ADF-4640-92B3-AE5DFF8A8695}">
      <dgm:prSet phldrT="[Text]"/>
      <dgm:spPr/>
      <dgm:t xml:space="preserve">
        <a:bodyPr/>
        <a:lstStyle/>
        <a:p>
          <a:r>
            <a:rPr lang="en-US" dirty="0"/>
            <a:t>Fill in with estimated values</a:t>
          </a:r>
        </a:p>
      </dgm:t>
    </dgm:pt>
    <dgm:pt modelId="{7EBE18A1-341F-C647-A983-52BBE0B91BCA}" type="parTrans" cxnId="{2ACA45B3-362C-4247-B2FE-85B87C7D1C5C}">
      <dgm:prSet/>
      <dgm:spPr/>
      <dgm:t xml:space="preserve">
        <a:bodyPr/>
        <a:lstStyle/>
        <a:p>
          <a:endParaRPr lang="en-US"/>
        </a:p>
      </dgm:t>
    </dgm:pt>
    <dgm:pt modelId="{23A8ED51-FA14-8048-B4DF-3E6C39AF54AA}" type="sibTrans" cxnId="{2ACA45B3-362C-4247-B2FE-85B87C7D1C5C}">
      <dgm:prSet/>
      <dgm:spPr/>
      <dgm:t xml:space="preserve">
        <a:bodyPr/>
        <a:lstStyle/>
        <a:p>
          <a:endParaRPr lang="en-US"/>
        </a:p>
      </dgm:t>
    </dgm:pt>
    <dgm:pt modelId="{EF09BF31-EBF6-4647-B057-F2A238A57501}">
      <dgm:prSet phldrT="[Text]"/>
      <dgm:spPr/>
      <dgm:t xml:space="preserve">
        <a:bodyPr/>
        <a:lstStyle/>
        <a:p>
          <a:r>
            <a:rPr lang="en-US" dirty="0"/>
            <a:t>Use mean/median or category averages</a:t>
          </a:r>
        </a:p>
      </dgm:t>
    </dgm:pt>
    <dgm:pt modelId="{1E431914-D66A-534C-A468-0E5EC15E8602}" type="parTrans" cxnId="{2BF04B5B-6559-424B-BA6D-A6817BEFA31E}">
      <dgm:prSet/>
      <dgm:spPr/>
      <dgm:t xml:space="preserve">
        <a:bodyPr/>
        <a:lstStyle/>
        <a:p>
          <a:endParaRPr lang="en-US"/>
        </a:p>
      </dgm:t>
    </dgm:pt>
    <dgm:pt modelId="{4BC46A05-960A-8A48-8D43-560F4655CFDF}" type="sibTrans" cxnId="{2BF04B5B-6559-424B-BA6D-A6817BEFA31E}">
      <dgm:prSet/>
      <dgm:spPr/>
      <dgm:t xml:space="preserve">
        <a:bodyPr/>
        <a:lstStyle/>
        <a:p>
          <a:endParaRPr lang="en-US"/>
        </a:p>
      </dgm:t>
    </dgm:pt>
    <dgm:pt modelId="{D8BE0918-445A-9C4B-8AF4-96BD6626337D}">
      <dgm:prSet phldrT="[Text]"/>
      <dgm:spPr/>
      <dgm:t xml:space="preserve">
        <a:bodyPr/>
        <a:lstStyle/>
        <a:p>
          <a:r>
            <a:rPr lang="en-US" dirty="0"/>
            <a:t>Leave as-is</a:t>
          </a:r>
        </a:p>
      </dgm:t>
    </dgm:pt>
    <dgm:pt modelId="{C09ABFD3-AFA6-3848-96A7-E78D7B7FC19B}" type="parTrans" cxnId="{AC6830ED-E335-B848-B6CD-9859AFE2B90D}">
      <dgm:prSet/>
      <dgm:spPr/>
      <dgm:t xml:space="preserve">
        <a:bodyPr/>
        <a:lstStyle/>
        <a:p>
          <a:endParaRPr lang="en-US"/>
        </a:p>
      </dgm:t>
    </dgm:pt>
    <dgm:pt modelId="{718FF0A6-9955-0C40-938C-DCDA7E7FE419}" type="sibTrans" cxnId="{AC6830ED-E335-B848-B6CD-9859AFE2B90D}">
      <dgm:prSet/>
      <dgm:spPr/>
      <dgm:t xml:space="preserve">
        <a:bodyPr/>
        <a:lstStyle/>
        <a:p>
          <a:endParaRPr lang="en-US"/>
        </a:p>
      </dgm:t>
    </dgm:pt>
    <dgm:pt modelId="{0D0CF2BF-09A9-3140-A8AD-8175353561A3}">
      <dgm:prSet phldrT="[Text]"/>
      <dgm:spPr/>
      <dgm:t xml:space="preserve">
        <a:bodyPr/>
        <a:lstStyle/>
        <a:p>
          <a:r>
            <a:rPr lang="en-US" dirty="0"/>
            <a:t>Python and R excludes missing values analyses without dropping the entire record.</a:t>
          </a:r>
        </a:p>
      </dgm:t>
    </dgm:pt>
    <dgm:pt modelId="{2400B243-A448-9245-9F07-1CCF55B98024}" type="parTrans" cxnId="{03C08C35-370E-B04F-AD23-02A69A26A35E}">
      <dgm:prSet/>
      <dgm:spPr/>
      <dgm:t xml:space="preserve">
        <a:bodyPr/>
        <a:lstStyle/>
        <a:p>
          <a:endParaRPr lang="en-US"/>
        </a:p>
      </dgm:t>
    </dgm:pt>
    <dgm:pt modelId="{7FFF0B24-B9BD-EB41-87FC-976CE163C332}" type="sibTrans" cxnId="{03C08C35-370E-B04F-AD23-02A69A26A35E}">
      <dgm:prSet/>
      <dgm:spPr/>
      <dgm:t xml:space="preserve">
        <a:bodyPr/>
        <a:lstStyle/>
        <a:p>
          <a:endParaRPr lang="en-US"/>
        </a:p>
      </dgm:t>
    </dgm:pt>
    <dgm:pt modelId="{095D1827-DC4B-284E-A0E7-272D000248BB}">
      <dgm:prSet phldrT="[Text]"/>
      <dgm:spPr/>
      <dgm:t xml:space="preserve">
        <a:bodyPr/>
        <a:lstStyle/>
        <a:p>
          <a:r>
            <a:rPr lang="en-US" dirty="0"/>
            <a:t>Works if few missing values</a:t>
          </a:r>
        </a:p>
      </dgm:t>
    </dgm:pt>
    <dgm:pt modelId="{21F743FB-3CA4-9C4D-987C-712BF2E3BDBA}" type="parTrans" cxnId="{50579D3A-D5B3-2D4C-9569-1563A95BB04B}">
      <dgm:prSet/>
      <dgm:spPr/>
      <dgm:t xml:space="preserve">
        <a:bodyPr/>
        <a:lstStyle/>
        <a:p>
          <a:endParaRPr lang="en-US"/>
        </a:p>
      </dgm:t>
    </dgm:pt>
    <dgm:pt modelId="{611D160B-678A-A548-B054-CF61AE5A25A6}" type="sibTrans" cxnId="{50579D3A-D5B3-2D4C-9569-1563A95BB04B}">
      <dgm:prSet/>
      <dgm:spPr/>
      <dgm:t xml:space="preserve">
        <a:bodyPr/>
        <a:lstStyle/>
        <a:p>
          <a:endParaRPr lang="en-US"/>
        </a:p>
      </dgm:t>
    </dgm:pt>
    <dgm:pt modelId="{860D009D-A532-AD40-BFCC-DE62CC59E7F9}">
      <dgm:prSet phldrT="[Text]"/>
      <dgm:spPr/>
      <dgm:t xml:space="preserve">
        <a:bodyPr/>
        <a:lstStyle/>
        <a:p>
          <a:r>
            <a:rPr lang="en-US" dirty="0"/>
            <a:t>Can lose too much data</a:t>
          </a:r>
        </a:p>
      </dgm:t>
    </dgm:pt>
    <dgm:pt modelId="{458E056A-11C8-C04A-B134-C249C48B77B8}" type="parTrans" cxnId="{A1A8AEDE-3DAB-184C-8338-974F8688EC51}">
      <dgm:prSet/>
      <dgm:spPr/>
      <dgm:t xml:space="preserve">
        <a:bodyPr/>
        <a:lstStyle/>
        <a:p>
          <a:endParaRPr lang="en-US"/>
        </a:p>
      </dgm:t>
    </dgm:pt>
    <dgm:pt modelId="{3E922F85-AFC2-7040-967B-8E3D343414E1}" type="sibTrans" cxnId="{A1A8AEDE-3DAB-184C-8338-974F8688EC51}">
      <dgm:prSet/>
      <dgm:spPr/>
      <dgm:t xml:space="preserve">
        <a:bodyPr/>
        <a:lstStyle/>
        <a:p>
          <a:endParaRPr lang="en-US"/>
        </a:p>
      </dgm:t>
    </dgm:pt>
    <dgm:pt modelId="{99A67175-A699-DB43-9E85-98AACEC8CA8A}">
      <dgm:prSet phldrT="[Text]"/>
      <dgm:spPr/>
      <dgm:t xml:space="preserve">
        <a:bodyPr/>
        <a:lstStyle/>
        <a:p>
          <a:r>
            <a:rPr lang="en-US" dirty="0"/>
            <a:t>Or predict based on other variables</a:t>
          </a:r>
        </a:p>
      </dgm:t>
    </dgm:pt>
    <dgm:pt modelId="{358FEB88-B66C-8D4F-AFDB-6181458472E0}" type="parTrans" cxnId="{469B6618-E7B8-5B4E-B265-E51B376852D6}">
      <dgm:prSet/>
      <dgm:spPr/>
      <dgm:t xml:space="preserve">
        <a:bodyPr/>
        <a:lstStyle/>
        <a:p>
          <a:endParaRPr lang="en-US"/>
        </a:p>
      </dgm:t>
    </dgm:pt>
    <dgm:pt modelId="{3D82F497-852C-7249-BDA2-DDBDBC4096E6}" type="sibTrans" cxnId="{469B6618-E7B8-5B4E-B265-E51B376852D6}">
      <dgm:prSet/>
      <dgm:spPr/>
      <dgm:t xml:space="preserve">
        <a:bodyPr/>
        <a:lstStyle/>
        <a:p>
          <a:endParaRPr lang="en-US"/>
        </a:p>
      </dgm:t>
    </dgm:pt>
    <dgm:pt modelId="{5A11153C-525E-A047-95B7-61B226838168}">
      <dgm:prSet phldrT="[Text]"/>
      <dgm:spPr/>
      <dgm:t xml:space="preserve">
        <a:bodyPr/>
        <a:lstStyle/>
        <a:p>
          <a:r>
            <a:rPr lang="en-US" dirty="0"/>
            <a:t>It can get sophisticated fast</a:t>
          </a:r>
        </a:p>
      </dgm:t>
    </dgm:pt>
    <dgm:pt modelId="{C4542211-6688-CB4D-A856-34559508185F}" type="parTrans" cxnId="{50455684-22A7-E64F-90D8-85D2782DE227}">
      <dgm:prSet/>
      <dgm:spPr/>
      <dgm:t xml:space="preserve">
        <a:bodyPr/>
        <a:lstStyle/>
        <a:p>
          <a:endParaRPr lang="en-US"/>
        </a:p>
      </dgm:t>
    </dgm:pt>
    <dgm:pt modelId="{F5636B19-9512-5945-8D22-BE241AFB3DB5}" type="sibTrans" cxnId="{50455684-22A7-E64F-90D8-85D2782DE227}">
      <dgm:prSet/>
      <dgm:spPr/>
      <dgm:t xml:space="preserve">
        <a:bodyPr/>
        <a:lstStyle/>
        <a:p>
          <a:endParaRPr lang="en-US"/>
        </a:p>
      </dgm:t>
    </dgm:pt>
    <dgm:pt modelId="{4A4FB463-456B-5446-9462-04980B837A88}" type="pres">
      <dgm:prSet presAssocID="{8ED03967-AD20-964D-B3AC-DC6CD0CFD8ED}" presName="Name0" presStyleCnt="0">
        <dgm:presLayoutVars>
          <dgm:dir/>
          <dgm:animLvl val="lvl"/>
          <dgm:resizeHandles val="exact"/>
        </dgm:presLayoutVars>
      </dgm:prSet>
      <dgm:spPr/>
    </dgm:pt>
    <dgm:pt modelId="{FDBDBB2A-0306-5543-A4F6-CB23FCCED1D3}" type="pres">
      <dgm:prSet presAssocID="{1BA56FF3-FAA8-1A4A-89A0-D76C34507DEF}" presName="composite" presStyleCnt="0"/>
      <dgm:spPr/>
    </dgm:pt>
    <dgm:pt modelId="{564DB230-30AD-294A-9B67-D99E0D458CD6}" type="pres">
      <dgm:prSet presAssocID="{1BA56FF3-FAA8-1A4A-89A0-D76C34507DEF}" presName="parTx" presStyleLbl="alignNode1" presStyleIdx="0" presStyleCnt="3">
        <dgm:presLayoutVars>
          <dgm:chMax val="0"/>
          <dgm:chPref val="0"/>
          <dgm:bulletEnabled val="1"/>
        </dgm:presLayoutVars>
      </dgm:prSet>
      <dgm:spPr/>
    </dgm:pt>
    <dgm:pt modelId="{30A786E9-E97D-1240-A5C9-C1A02B4BCC1E}" type="pres">
      <dgm:prSet presAssocID="{1BA56FF3-FAA8-1A4A-89A0-D76C34507DEF}" presName="desTx" presStyleLbl="alignAccFollowNode1" presStyleIdx="0" presStyleCnt="3">
        <dgm:presLayoutVars>
          <dgm:bulletEnabled val="1"/>
        </dgm:presLayoutVars>
      </dgm:prSet>
      <dgm:spPr/>
    </dgm:pt>
    <dgm:pt modelId="{126F8380-67BC-9F43-BCFB-BF7093AEB918}" type="pres">
      <dgm:prSet presAssocID="{01A012C5-AEDC-BE47-8200-776C28D3AE5E}" presName="space" presStyleCnt="0"/>
      <dgm:spPr/>
    </dgm:pt>
    <dgm:pt modelId="{F81AC2D4-DEE5-1E42-925B-822EED1C7EF2}" type="pres">
      <dgm:prSet presAssocID="{C4A1D8AE-AE13-E04E-94FC-AC8240CC9861}" presName="composite" presStyleCnt="0"/>
      <dgm:spPr/>
    </dgm:pt>
    <dgm:pt modelId="{54277C94-A908-F647-921D-EFF5FC9439B2}" type="pres">
      <dgm:prSet presAssocID="{C4A1D8AE-AE13-E04E-94FC-AC8240CC9861}" presName="parTx" presStyleLbl="alignNode1" presStyleIdx="1" presStyleCnt="3">
        <dgm:presLayoutVars>
          <dgm:chMax val="0"/>
          <dgm:chPref val="0"/>
          <dgm:bulletEnabled val="1"/>
        </dgm:presLayoutVars>
      </dgm:prSet>
      <dgm:spPr/>
    </dgm:pt>
    <dgm:pt modelId="{973CD927-CD9C-3248-93E4-D1AD882F15A6}" type="pres">
      <dgm:prSet presAssocID="{C4A1D8AE-AE13-E04E-94FC-AC8240CC9861}" presName="desTx" presStyleLbl="alignAccFollowNode1" presStyleIdx="1" presStyleCnt="3">
        <dgm:presLayoutVars>
          <dgm:bulletEnabled val="1"/>
        </dgm:presLayoutVars>
      </dgm:prSet>
      <dgm:spPr/>
    </dgm:pt>
    <dgm:pt modelId="{8CD205A3-9AE8-A04E-9763-3E1EEC435E4D}" type="pres">
      <dgm:prSet presAssocID="{3CE7C9DB-E2E5-2641-A9D7-74EC71831779}" presName="space" presStyleCnt="0"/>
      <dgm:spPr/>
    </dgm:pt>
    <dgm:pt modelId="{2330BF7B-EE10-F14E-9EF7-94A72C53F0D5}" type="pres">
      <dgm:prSet presAssocID="{D8BE0918-445A-9C4B-8AF4-96BD6626337D}" presName="composite" presStyleCnt="0"/>
      <dgm:spPr/>
    </dgm:pt>
    <dgm:pt modelId="{1CC6F2BC-08C2-044D-B292-0CA5A2F48E31}" type="pres">
      <dgm:prSet presAssocID="{D8BE0918-445A-9C4B-8AF4-96BD6626337D}" presName="parTx" presStyleLbl="alignNode1" presStyleIdx="2" presStyleCnt="3">
        <dgm:presLayoutVars>
          <dgm:chMax val="0"/>
          <dgm:chPref val="0"/>
          <dgm:bulletEnabled val="1"/>
        </dgm:presLayoutVars>
      </dgm:prSet>
      <dgm:spPr/>
    </dgm:pt>
    <dgm:pt modelId="{BAE60FDA-F7EF-D14B-8672-23986E511DA2}" type="pres">
      <dgm:prSet presAssocID="{D8BE0918-445A-9C4B-8AF4-96BD6626337D}" presName="desTx" presStyleLbl="alignAccFollowNode1" presStyleIdx="2" presStyleCnt="3">
        <dgm:presLayoutVars>
          <dgm:bulletEnabled val="1"/>
        </dgm:presLayoutVars>
      </dgm:prSet>
      <dgm:spPr/>
    </dgm:pt>
  </dgm:ptLst>
  <dgm:cxnLst>
    <dgm:cxn modelId="{469B6618-E7B8-5B4E-B265-E51B376852D6}" srcId="{C4A1D8AE-AE13-E04E-94FC-AC8240CC9861}" destId="{99A67175-A699-DB43-9E85-98AACEC8CA8A}" srcOrd="2" destOrd="0" parTransId="{358FEB88-B66C-8D4F-AFDB-6181458472E0}" sibTransId="{3D82F497-852C-7249-BDA2-DDBDBC4096E6}"/>
    <dgm:cxn modelId="{B2665A2D-C59C-EC44-BFC4-515354D2A6F4}" type="presOf" srcId="{5A11153C-525E-A047-95B7-61B226838168}" destId="{973CD927-CD9C-3248-93E4-D1AD882F15A6}" srcOrd="0" destOrd="3" presId="urn:microsoft.com/office/officeart/2005/8/layout/hList1"/>
    <dgm:cxn modelId="{03C08C35-370E-B04F-AD23-02A69A26A35E}" srcId="{D8BE0918-445A-9C4B-8AF4-96BD6626337D}" destId="{0D0CF2BF-09A9-3140-A8AD-8175353561A3}" srcOrd="0" destOrd="0" parTransId="{2400B243-A448-9245-9F07-1CCF55B98024}" sibTransId="{7FFF0B24-B9BD-EB41-87FC-976CE163C332}"/>
    <dgm:cxn modelId="{9378B338-3FE5-F047-95D0-5301E4AB6F55}" type="presOf" srcId="{86215AD4-1C04-2747-9536-02EA29DA4436}" destId="{30A786E9-E97D-1240-A5C9-C1A02B4BCC1E}" srcOrd="0" destOrd="0" presId="urn:microsoft.com/office/officeart/2005/8/layout/hList1"/>
    <dgm:cxn modelId="{50579D3A-D5B3-2D4C-9569-1563A95BB04B}" srcId="{1BA56FF3-FAA8-1A4A-89A0-D76C34507DEF}" destId="{095D1827-DC4B-284E-A0E7-272D000248BB}" srcOrd="2" destOrd="0" parTransId="{21F743FB-3CA4-9C4D-987C-712BF2E3BDBA}" sibTransId="{611D160B-678A-A548-B054-CF61AE5A25A6}"/>
    <dgm:cxn modelId="{CE60503B-0E30-474E-898D-E8E1D6E2C466}" srcId="{1BA56FF3-FAA8-1A4A-89A0-D76C34507DEF}" destId="{90B2D85A-0989-5747-857E-70684DB57C8B}" srcOrd="1" destOrd="0" parTransId="{5E8BA98E-E718-6241-8F15-32E56CB585A1}" sibTransId="{F3EEB5CE-426B-7D41-A61A-DF05AC1B338F}"/>
    <dgm:cxn modelId="{9F69EA3F-4512-8D41-8EB4-36776A9F24C1}" type="presOf" srcId="{860D009D-A532-AD40-BFCC-DE62CC59E7F9}" destId="{30A786E9-E97D-1240-A5C9-C1A02B4BCC1E}" srcOrd="0" destOrd="3" presId="urn:microsoft.com/office/officeart/2005/8/layout/hList1"/>
    <dgm:cxn modelId="{2BF04B5B-6559-424B-BA6D-A6817BEFA31E}" srcId="{C4A1D8AE-AE13-E04E-94FC-AC8240CC9861}" destId="{EF09BF31-EBF6-4647-B057-F2A238A57501}" srcOrd="1" destOrd="0" parTransId="{1E431914-D66A-534C-A468-0E5EC15E8602}" sibTransId="{4BC46A05-960A-8A48-8D43-560F4655CFDF}"/>
    <dgm:cxn modelId="{E7442F44-74B5-1F48-B427-897291605EF4}" type="presOf" srcId="{90B2D85A-0989-5747-857E-70684DB57C8B}" destId="{30A786E9-E97D-1240-A5C9-C1A02B4BCC1E}" srcOrd="0" destOrd="1" presId="urn:microsoft.com/office/officeart/2005/8/layout/hList1"/>
    <dgm:cxn modelId="{993EBD68-533D-574F-9CF8-3DABCEC0D7B2}" type="presOf" srcId="{D8BE0918-445A-9C4B-8AF4-96BD6626337D}" destId="{1CC6F2BC-08C2-044D-B292-0CA5A2F48E31}" srcOrd="0" destOrd="0" presId="urn:microsoft.com/office/officeart/2005/8/layout/hList1"/>
    <dgm:cxn modelId="{DDA8AD6F-85F5-0C48-B3B2-12F5B53D5F0C}" srcId="{8ED03967-AD20-964D-B3AC-DC6CD0CFD8ED}" destId="{C4A1D8AE-AE13-E04E-94FC-AC8240CC9861}" srcOrd="1" destOrd="0" parTransId="{1F83E711-6EEE-CA44-A2B7-770578267610}" sibTransId="{3CE7C9DB-E2E5-2641-A9D7-74EC71831779}"/>
    <dgm:cxn modelId="{FA82537E-4313-B148-8BE6-A0F69004B360}" srcId="{1BA56FF3-FAA8-1A4A-89A0-D76C34507DEF}" destId="{86215AD4-1C04-2747-9536-02EA29DA4436}" srcOrd="0" destOrd="0" parTransId="{EE2BCAC3-3E53-7C4E-9FCD-84DCE8AFBE44}" sibTransId="{37D5D68B-6CEF-BC45-B611-9C8FA3790202}"/>
    <dgm:cxn modelId="{50455684-22A7-E64F-90D8-85D2782DE227}" srcId="{C4A1D8AE-AE13-E04E-94FC-AC8240CC9861}" destId="{5A11153C-525E-A047-95B7-61B226838168}" srcOrd="3" destOrd="0" parTransId="{C4542211-6688-CB4D-A856-34559508185F}" sibTransId="{F5636B19-9512-5945-8D22-BE241AFB3DB5}"/>
    <dgm:cxn modelId="{FB8E6385-30C4-DE4F-B360-1FE8354CDBDD}" type="presOf" srcId="{1BA56FF3-FAA8-1A4A-89A0-D76C34507DEF}" destId="{564DB230-30AD-294A-9B67-D99E0D458CD6}" srcOrd="0" destOrd="0" presId="urn:microsoft.com/office/officeart/2005/8/layout/hList1"/>
    <dgm:cxn modelId="{BC029293-F620-0E44-B541-4F7683939CAB}" type="presOf" srcId="{C4A1D8AE-AE13-E04E-94FC-AC8240CC9861}" destId="{54277C94-A908-F647-921D-EFF5FC9439B2}" srcOrd="0" destOrd="0" presId="urn:microsoft.com/office/officeart/2005/8/layout/hList1"/>
    <dgm:cxn modelId="{FE4BB09E-0731-A540-AF22-5FA813396018}" type="presOf" srcId="{EF09BF31-EBF6-4647-B057-F2A238A57501}" destId="{973CD927-CD9C-3248-93E4-D1AD882F15A6}" srcOrd="0" destOrd="1" presId="urn:microsoft.com/office/officeart/2005/8/layout/hList1"/>
    <dgm:cxn modelId="{1D46E5A0-D628-FD45-ADD5-6C971ECE4041}" type="presOf" srcId="{3E267247-4ADF-4640-92B3-AE5DFF8A8695}" destId="{973CD927-CD9C-3248-93E4-D1AD882F15A6}" srcOrd="0" destOrd="0" presId="urn:microsoft.com/office/officeart/2005/8/layout/hList1"/>
    <dgm:cxn modelId="{4E1508B1-43C8-E445-959B-82FC36C8863B}" type="presOf" srcId="{095D1827-DC4B-284E-A0E7-272D000248BB}" destId="{30A786E9-E97D-1240-A5C9-C1A02B4BCC1E}" srcOrd="0" destOrd="2" presId="urn:microsoft.com/office/officeart/2005/8/layout/hList1"/>
    <dgm:cxn modelId="{2ACA45B3-362C-4247-B2FE-85B87C7D1C5C}" srcId="{C4A1D8AE-AE13-E04E-94FC-AC8240CC9861}" destId="{3E267247-4ADF-4640-92B3-AE5DFF8A8695}" srcOrd="0" destOrd="0" parTransId="{7EBE18A1-341F-C647-A983-52BBE0B91BCA}" sibTransId="{23A8ED51-FA14-8048-B4DF-3E6C39AF54AA}"/>
    <dgm:cxn modelId="{0A3B0DC0-83E3-1A4D-86EE-3D45B2FEA0DE}" srcId="{8ED03967-AD20-964D-B3AC-DC6CD0CFD8ED}" destId="{1BA56FF3-FAA8-1A4A-89A0-D76C34507DEF}" srcOrd="0" destOrd="0" parTransId="{C2988054-662E-3740-A207-21A0F930A8B9}" sibTransId="{01A012C5-AEDC-BE47-8200-776C28D3AE5E}"/>
    <dgm:cxn modelId="{A1A8AEDE-3DAB-184C-8338-974F8688EC51}" srcId="{1BA56FF3-FAA8-1A4A-89A0-D76C34507DEF}" destId="{860D009D-A532-AD40-BFCC-DE62CC59E7F9}" srcOrd="3" destOrd="0" parTransId="{458E056A-11C8-C04A-B134-C249C48B77B8}" sibTransId="{3E922F85-AFC2-7040-967B-8E3D343414E1}"/>
    <dgm:cxn modelId="{5B94A7E7-A85C-FD41-A35C-01BBF1B11088}" type="presOf" srcId="{8ED03967-AD20-964D-B3AC-DC6CD0CFD8ED}" destId="{4A4FB463-456B-5446-9462-04980B837A88}" srcOrd="0" destOrd="0" presId="urn:microsoft.com/office/officeart/2005/8/layout/hList1"/>
    <dgm:cxn modelId="{AC6830ED-E335-B848-B6CD-9859AFE2B90D}" srcId="{8ED03967-AD20-964D-B3AC-DC6CD0CFD8ED}" destId="{D8BE0918-445A-9C4B-8AF4-96BD6626337D}" srcOrd="2" destOrd="0" parTransId="{C09ABFD3-AFA6-3848-96A7-E78D7B7FC19B}" sibTransId="{718FF0A6-9955-0C40-938C-DCDA7E7FE419}"/>
    <dgm:cxn modelId="{F96EB9F8-12E5-2E4D-8C75-26251569A61D}" type="presOf" srcId="{0D0CF2BF-09A9-3140-A8AD-8175353561A3}" destId="{BAE60FDA-F7EF-D14B-8672-23986E511DA2}" srcOrd="0" destOrd="0" presId="urn:microsoft.com/office/officeart/2005/8/layout/hList1"/>
    <dgm:cxn modelId="{EA84BAFE-9972-4346-ADB6-885BD454CB9E}" type="presOf" srcId="{99A67175-A699-DB43-9E85-98AACEC8CA8A}" destId="{973CD927-CD9C-3248-93E4-D1AD882F15A6}" srcOrd="0" destOrd="2" presId="urn:microsoft.com/office/officeart/2005/8/layout/hList1"/>
    <dgm:cxn modelId="{CF878711-EB04-2B4E-BEAE-80C7CD7CD3BE}" type="presParOf" srcId="{4A4FB463-456B-5446-9462-04980B837A88}" destId="{FDBDBB2A-0306-5543-A4F6-CB23FCCED1D3}" srcOrd="0" destOrd="0" presId="urn:microsoft.com/office/officeart/2005/8/layout/hList1"/>
    <dgm:cxn modelId="{ACA3DA8D-ADC1-CF44-A40F-9A3ED1DFC599}" type="presParOf" srcId="{FDBDBB2A-0306-5543-A4F6-CB23FCCED1D3}" destId="{564DB230-30AD-294A-9B67-D99E0D458CD6}" srcOrd="0" destOrd="0" presId="urn:microsoft.com/office/officeart/2005/8/layout/hList1"/>
    <dgm:cxn modelId="{AE962426-A5C8-5247-A87E-FD3156589A27}" type="presParOf" srcId="{FDBDBB2A-0306-5543-A4F6-CB23FCCED1D3}" destId="{30A786E9-E97D-1240-A5C9-C1A02B4BCC1E}" srcOrd="1" destOrd="0" presId="urn:microsoft.com/office/officeart/2005/8/layout/hList1"/>
    <dgm:cxn modelId="{D228CB88-6642-6142-B896-0BF7E90270C5}" type="presParOf" srcId="{4A4FB463-456B-5446-9462-04980B837A88}" destId="{126F8380-67BC-9F43-BCFB-BF7093AEB918}" srcOrd="1" destOrd="0" presId="urn:microsoft.com/office/officeart/2005/8/layout/hList1"/>
    <dgm:cxn modelId="{D0CEB34B-B276-1641-99BD-262101B679A5}" type="presParOf" srcId="{4A4FB463-456B-5446-9462-04980B837A88}" destId="{F81AC2D4-DEE5-1E42-925B-822EED1C7EF2}" srcOrd="2" destOrd="0" presId="urn:microsoft.com/office/officeart/2005/8/layout/hList1"/>
    <dgm:cxn modelId="{1A3A822B-6BF9-F747-A218-EC7CAF749FCC}" type="presParOf" srcId="{F81AC2D4-DEE5-1E42-925B-822EED1C7EF2}" destId="{54277C94-A908-F647-921D-EFF5FC9439B2}" srcOrd="0" destOrd="0" presId="urn:microsoft.com/office/officeart/2005/8/layout/hList1"/>
    <dgm:cxn modelId="{3003412A-5D10-B140-B209-3478E041F1B6}" type="presParOf" srcId="{F81AC2D4-DEE5-1E42-925B-822EED1C7EF2}" destId="{973CD927-CD9C-3248-93E4-D1AD882F15A6}" srcOrd="1" destOrd="0" presId="urn:microsoft.com/office/officeart/2005/8/layout/hList1"/>
    <dgm:cxn modelId="{259E8057-6581-F844-92AF-A09888AD4381}" type="presParOf" srcId="{4A4FB463-456B-5446-9462-04980B837A88}" destId="{8CD205A3-9AE8-A04E-9763-3E1EEC435E4D}" srcOrd="3" destOrd="0" presId="urn:microsoft.com/office/officeart/2005/8/layout/hList1"/>
    <dgm:cxn modelId="{E49821A2-0729-1F45-B699-C968421E79EC}" type="presParOf" srcId="{4A4FB463-456B-5446-9462-04980B837A88}" destId="{2330BF7B-EE10-F14E-9EF7-94A72C53F0D5}" srcOrd="4" destOrd="0" presId="urn:microsoft.com/office/officeart/2005/8/layout/hList1"/>
    <dgm:cxn modelId="{30F6D6FC-EAE7-3046-B6C5-B8B6D53084DA}" type="presParOf" srcId="{2330BF7B-EE10-F14E-9EF7-94A72C53F0D5}" destId="{1CC6F2BC-08C2-044D-B292-0CA5A2F48E31}" srcOrd="0" destOrd="0" presId="urn:microsoft.com/office/officeart/2005/8/layout/hList1"/>
    <dgm:cxn modelId="{B8FD5CB7-1FD9-A74C-88BB-0FC333F176BB}" type="presParOf" srcId="{2330BF7B-EE10-F14E-9EF7-94A72C53F0D5}" destId="{BAE60FDA-F7EF-D14B-8672-23986E511DA2}"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22097A8E-1852-564D-BD68-F63E00BBAC95}" type="doc">
      <dgm:prSet loTypeId="urn:microsoft.com/office/officeart/2008/layout/IncreasingCircleProcess" loCatId="" qsTypeId="urn:microsoft.com/office/officeart/2005/8/quickstyle/simple1" qsCatId="simple" csTypeId="urn:microsoft.com/office/officeart/2005/8/colors/accent1_2" csCatId="accent1" phldr="1"/>
      <dgm:spPr/>
      <dgm:t xml:space="preserve">
        <a:bodyPr/>
        <a:lstStyle/>
        <a:p>
          <a:endParaRPr lang="en-US"/>
        </a:p>
      </dgm:t>
    </dgm:pt>
    <dgm:pt modelId="{26180337-DC70-F742-8862-640330A7B061}">
      <dgm:prSet phldrT="[Text]"/>
      <dgm:spPr/>
      <dgm:t xml:space="preserve">
        <a:bodyPr/>
        <a:lstStyle/>
        <a:p>
          <a:r>
            <a:rPr lang="en-US" dirty="0"/>
            <a:t>Is it an Error?</a:t>
          </a:r>
        </a:p>
      </dgm:t>
    </dgm:pt>
    <dgm:pt modelId="{450FCEF4-FA42-574D-A4DA-F494DCD6638A}" type="parTrans" cxnId="{FE60D865-76E2-174C-98C8-EA3816067391}">
      <dgm:prSet/>
      <dgm:spPr/>
      <dgm:t xml:space="preserve">
        <a:bodyPr/>
        <a:lstStyle/>
        <a:p>
          <a:endParaRPr lang="en-US"/>
        </a:p>
      </dgm:t>
    </dgm:pt>
    <dgm:pt modelId="{31561971-EC3E-7244-A142-40AA197A0470}" type="sibTrans" cxnId="{FE60D865-76E2-174C-98C8-EA3816067391}">
      <dgm:prSet/>
      <dgm:spPr/>
      <dgm:t xml:space="preserve">
        <a:bodyPr/>
        <a:lstStyle/>
        <a:p>
          <a:endParaRPr lang="en-US"/>
        </a:p>
      </dgm:t>
    </dgm:pt>
    <dgm:pt modelId="{B5D43813-7905-3244-8379-907A65F40CCE}">
      <dgm:prSet phldrT="[Text]"/>
      <dgm:spPr/>
      <dgm:t xml:space="preserve">
        <a:bodyPr/>
        <a:lstStyle/>
        <a:p>
          <a:pPr>
            <a:buNone/>
          </a:pPr>
          <a:r>
            <a:rPr lang="en-US" dirty="0">
              <a:solidFill>
                <a:srgbClr val="000000"/>
              </a:solidFill>
              <a:latin typeface="Aptos" panose="020B0004020202020204" pitchFamily="34" charset="0"/>
              <a:ea typeface="Inter" pitchFamily="34" charset="-122"/>
              <a:cs typeface="Inter" pitchFamily="34" charset="-120"/>
            </a:rPr>
            <a:t>First, determine if the outlier is a mistake or a genuine extreme value.</a:t>
          </a:r>
          <a:endParaRPr lang="en-US" dirty="0">
            <a:latin typeface="Aptos" panose="020B0004020202020204" pitchFamily="34" charset="0"/>
          </a:endParaRPr>
        </a:p>
      </dgm:t>
    </dgm:pt>
    <dgm:pt modelId="{A2DA8179-1973-8E4E-AE02-2AF4DC31147E}" type="parTrans" cxnId="{35EB3EEA-36AF-4647-81C5-CF86FECE4EF3}">
      <dgm:prSet/>
      <dgm:spPr/>
      <dgm:t xml:space="preserve">
        <a:bodyPr/>
        <a:lstStyle/>
        <a:p>
          <a:endParaRPr lang="en-US"/>
        </a:p>
      </dgm:t>
    </dgm:pt>
    <dgm:pt modelId="{76AD258D-529E-734A-8E34-EC638662115F}" type="sibTrans" cxnId="{35EB3EEA-36AF-4647-81C5-CF86FECE4EF3}">
      <dgm:prSet/>
      <dgm:spPr/>
      <dgm:t xml:space="preserve">
        <a:bodyPr/>
        <a:lstStyle/>
        <a:p>
          <a:endParaRPr lang="en-US"/>
        </a:p>
      </dgm:t>
    </dgm:pt>
    <dgm:pt modelId="{A8D78467-820E-4446-ADD6-5F9BD0B20957}">
      <dgm:prSet phldrT="[Text]"/>
      <dgm:spPr/>
      <dgm:t xml:space="preserve">
        <a:bodyPr/>
        <a:lstStyle/>
        <a:p>
          <a:pPr>
            <a:buNone/>
          </a:pPr>
          <a:r>
            <a:rPr lang="en-US" b="0" dirty="0">
              <a:solidFill>
                <a:srgbClr val="000000"/>
              </a:solidFill>
              <a:latin typeface="Aptos" panose="020B0004020202020204" pitchFamily="34" charset="0"/>
              <a:ea typeface="Playfair Display Bold" pitchFamily="34" charset="-122"/>
              <a:cs typeface="Playfair Display Bold" pitchFamily="34" charset="-120"/>
            </a:rPr>
            <a:t>If It's an Error</a:t>
          </a:r>
          <a:endParaRPr lang="en-US" b="0" dirty="0">
            <a:latin typeface="Aptos" panose="020B0004020202020204" pitchFamily="34" charset="0"/>
          </a:endParaRPr>
        </a:p>
      </dgm:t>
    </dgm:pt>
    <dgm:pt modelId="{313FB588-E502-7A43-800F-2640E264F588}" type="parTrans" cxnId="{FDA30056-08DE-4749-AFB1-3CEE3A703F45}">
      <dgm:prSet/>
      <dgm:spPr/>
      <dgm:t xml:space="preserve">
        <a:bodyPr/>
        <a:lstStyle/>
        <a:p>
          <a:endParaRPr lang="en-US"/>
        </a:p>
      </dgm:t>
    </dgm:pt>
    <dgm:pt modelId="{6F489CDB-5BB3-4E43-9523-E2B9E0DF7E45}" type="sibTrans" cxnId="{FDA30056-08DE-4749-AFB1-3CEE3A703F45}">
      <dgm:prSet/>
      <dgm:spPr/>
      <dgm:t xml:space="preserve">
        <a:bodyPr/>
        <a:lstStyle/>
        <a:p>
          <a:endParaRPr lang="en-US"/>
        </a:p>
      </dgm:t>
    </dgm:pt>
    <dgm:pt modelId="{26827916-1E31-5649-B041-0323C597F1B1}">
      <dgm:prSet phldrT="[Text]"/>
      <dgm:spPr/>
      <dgm:t xml:space="preserve">
        <a:bodyPr/>
        <a:lstStyle/>
        <a:p>
          <a:pPr>
            <a:buSzPct val="100000"/>
            <a:buChar char="•"/>
          </a:pPr>
          <a:r>
            <a:rPr lang="en-US" dirty="0">
              <a:solidFill>
                <a:srgbClr val="000000"/>
              </a:solidFill>
              <a:latin typeface="Aptos" panose="020B0004020202020204" pitchFamily="34" charset="0"/>
              <a:ea typeface="Inter" pitchFamily="34" charset="-122"/>
              <a:cs typeface="Inter" pitchFamily="34" charset="-120"/>
            </a:rPr>
            <a:t>Correct it if you know the intended value</a:t>
          </a:r>
        </a:p>
      </dgm:t>
    </dgm:pt>
    <dgm:pt modelId="{63C5426E-14AA-B94B-9F8C-0BA994EA091B}" type="parTrans" cxnId="{F8AD792B-1F8F-5B48-B738-DE02BBFA4841}">
      <dgm:prSet/>
      <dgm:spPr/>
      <dgm:t xml:space="preserve">
        <a:bodyPr/>
        <a:lstStyle/>
        <a:p>
          <a:endParaRPr lang="en-US"/>
        </a:p>
      </dgm:t>
    </dgm:pt>
    <dgm:pt modelId="{2212DDC7-5481-3B48-BEC4-29B128818816}" type="sibTrans" cxnId="{F8AD792B-1F8F-5B48-B738-DE02BBFA4841}">
      <dgm:prSet/>
      <dgm:spPr/>
      <dgm:t xml:space="preserve">
        <a:bodyPr/>
        <a:lstStyle/>
        <a:p>
          <a:endParaRPr lang="en-US"/>
        </a:p>
      </dgm:t>
    </dgm:pt>
    <dgm:pt modelId="{43D82752-7080-9C45-A445-62F54EB43A8D}">
      <dgm:prSet phldrT="[Text]"/>
      <dgm:spPr/>
      <dgm:t xml:space="preserve">
        <a:bodyPr/>
        <a:lstStyle/>
        <a:p>
          <a:pPr>
            <a:buNone/>
          </a:pPr>
          <a:r>
            <a:rPr lang="en-US" b="0" dirty="0">
              <a:solidFill>
                <a:srgbClr val="000000"/>
              </a:solidFill>
              <a:latin typeface="Aptos" panose="020B0004020202020204" pitchFamily="34" charset="0"/>
              <a:ea typeface="Playfair Display Bold" pitchFamily="34" charset="-122"/>
              <a:cs typeface="Playfair Display Bold" pitchFamily="34" charset="-120"/>
            </a:rPr>
            <a:t>If It Might Be Real</a:t>
          </a:r>
          <a:endParaRPr lang="en-US" b="0" dirty="0">
            <a:latin typeface="Aptos" panose="020B0004020202020204" pitchFamily="34" charset="0"/>
          </a:endParaRPr>
        </a:p>
      </dgm:t>
    </dgm:pt>
    <dgm:pt modelId="{73690D6A-EA18-AE4B-A0C4-6F9AE120C307}" type="parTrans" cxnId="{8C52320C-A3DF-3649-ABCF-D8AE6D4DE42E}">
      <dgm:prSet/>
      <dgm:spPr/>
      <dgm:t xml:space="preserve">
        <a:bodyPr/>
        <a:lstStyle/>
        <a:p>
          <a:endParaRPr lang="en-US"/>
        </a:p>
      </dgm:t>
    </dgm:pt>
    <dgm:pt modelId="{D4DB2C37-F2C1-3D45-9CD5-A49951F2F720}" type="sibTrans" cxnId="{8C52320C-A3DF-3649-ABCF-D8AE6D4DE42E}">
      <dgm:prSet/>
      <dgm:spPr/>
      <dgm:t xml:space="preserve">
        <a:bodyPr/>
        <a:lstStyle/>
        <a:p>
          <a:endParaRPr lang="en-US"/>
        </a:p>
      </dgm:t>
    </dgm:pt>
    <dgm:pt modelId="{C3F1B8F2-FDF4-4548-9E6A-84BD071B7FBC}">
      <dgm:prSet phldrT="[Text]"/>
      <dgm:spPr/>
      <dgm:t xml:space="preserve">
        <a:bodyPr/>
        <a:lstStyle/>
        <a:p>
          <a:pPr>
            <a:buSzPct val="100000"/>
            <a:buChar char="•"/>
          </a:pPr>
          <a:r>
            <a:rPr lang="en-US" dirty="0">
              <a:solidFill>
                <a:srgbClr val="000000"/>
              </a:solidFill>
              <a:latin typeface="Aptos" panose="020B0004020202020204" pitchFamily="34" charset="0"/>
              <a:ea typeface="Inter" pitchFamily="34" charset="-122"/>
              <a:cs typeface="Inter" pitchFamily="34" charset="-120"/>
            </a:rPr>
            <a:t>Keep it but use robust methods (median-based stats)</a:t>
          </a:r>
          <a:endParaRPr lang="en-US" dirty="0">
            <a:latin typeface="Aptos" panose="020B0004020202020204" pitchFamily="34" charset="0"/>
          </a:endParaRPr>
        </a:p>
      </dgm:t>
    </dgm:pt>
    <dgm:pt modelId="{EF2E47D0-5AD7-594A-8A91-BC1933BB216E}" type="parTrans" cxnId="{0EFBC96A-5744-584A-B8B6-1FE8E7164DEC}">
      <dgm:prSet/>
      <dgm:spPr/>
      <dgm:t xml:space="preserve">
        <a:bodyPr/>
        <a:lstStyle/>
        <a:p>
          <a:endParaRPr lang="en-US"/>
        </a:p>
      </dgm:t>
    </dgm:pt>
    <dgm:pt modelId="{24E447A5-102B-E045-A9A4-4058325B6382}" type="sibTrans" cxnId="{0EFBC96A-5744-584A-B8B6-1FE8E7164DEC}">
      <dgm:prSet/>
      <dgm:spPr/>
      <dgm:t xml:space="preserve">
        <a:bodyPr/>
        <a:lstStyle/>
        <a:p>
          <a:endParaRPr lang="en-US"/>
        </a:p>
      </dgm:t>
    </dgm:pt>
    <dgm:pt modelId="{223BE3C1-5226-5A46-9A0E-32A28EDE3A51}">
      <dgm:prSet phldrT="[Text]"/>
      <dgm:spPr/>
      <dgm:t xml:space="preserve">
        <a:bodyPr/>
        <a:lstStyle/>
        <a:p>
          <a:pPr>
            <a:buSzPct val="100000"/>
            <a:buChar char="•"/>
          </a:pPr>
          <a:r>
            <a:rPr lang="en-US" dirty="0">
              <a:solidFill>
                <a:srgbClr val="000000"/>
              </a:solidFill>
              <a:latin typeface="Aptos" panose="020B0004020202020204" pitchFamily="34" charset="0"/>
              <a:ea typeface="Inter" pitchFamily="34" charset="-122"/>
              <a:cs typeface="Inter" pitchFamily="34" charset="-120"/>
            </a:rPr>
            <a:t>Report analyses with and without it</a:t>
          </a:r>
        </a:p>
      </dgm:t>
    </dgm:pt>
    <dgm:pt modelId="{3463508D-6BB4-1C4E-8093-D4CA4BCD5004}" type="parTrans" cxnId="{E003CAE9-2A6C-CF41-982F-D5BDCF657090}">
      <dgm:prSet/>
      <dgm:spPr/>
      <dgm:t xml:space="preserve">
        <a:bodyPr/>
        <a:lstStyle/>
        <a:p>
          <a:endParaRPr lang="en-US"/>
        </a:p>
      </dgm:t>
    </dgm:pt>
    <dgm:pt modelId="{0C19CF36-2F32-B146-816D-F4B75A0ECC8C}" type="sibTrans" cxnId="{E003CAE9-2A6C-CF41-982F-D5BDCF657090}">
      <dgm:prSet/>
      <dgm:spPr/>
      <dgm:t xml:space="preserve">
        <a:bodyPr/>
        <a:lstStyle/>
        <a:p>
          <a:endParaRPr lang="en-US"/>
        </a:p>
      </dgm:t>
    </dgm:pt>
    <dgm:pt modelId="{DB948248-D046-FC42-B079-8270AD3ED010}">
      <dgm:prSet phldrT="[Text]"/>
      <dgm:spPr/>
      <dgm:t xml:space="preserve">
        <a:bodyPr/>
        <a:lstStyle/>
        <a:p>
          <a:pPr>
            <a:buSzPct val="100000"/>
            <a:buChar char="•"/>
          </a:pPr>
          <a:r>
            <a:rPr lang="en-US" dirty="0">
              <a:solidFill>
                <a:srgbClr val="000000"/>
              </a:solidFill>
              <a:latin typeface="Aptos" panose="020B0004020202020204" pitchFamily="34" charset="0"/>
              <a:ea typeface="Inter" pitchFamily="34" charset="-122"/>
              <a:cs typeface="Inter" pitchFamily="34" charset="-120"/>
            </a:rPr>
            <a:t>Cap extreme values (</a:t>
          </a:r>
          <a:r>
            <a:rPr lang="en-US" dirty="0" err="1">
              <a:solidFill>
                <a:srgbClr val="000000"/>
              </a:solidFill>
              <a:latin typeface="Aptos" panose="020B0004020202020204" pitchFamily="34" charset="0"/>
              <a:ea typeface="Inter" pitchFamily="34" charset="-122"/>
              <a:cs typeface="Inter" pitchFamily="34" charset="-120"/>
            </a:rPr>
            <a:t>winsorizing</a:t>
          </a:r>
          <a:r>
            <a:rPr lang="en-US" dirty="0">
              <a:solidFill>
                <a:srgbClr val="000000"/>
              </a:solidFill>
              <a:latin typeface="Aptos" panose="020B0004020202020204" pitchFamily="34" charset="0"/>
              <a:ea typeface="Inter" pitchFamily="34" charset="-122"/>
              <a:cs typeface="Inter" pitchFamily="34" charset="-120"/>
            </a:rPr>
            <a:t>)</a:t>
          </a:r>
        </a:p>
      </dgm:t>
    </dgm:pt>
    <dgm:pt modelId="{96672D8A-405C-684C-9B20-67C4EB67D0DF}" type="parTrans" cxnId="{4F0727A8-3FD4-0840-BA11-B8DE49A4DE52}">
      <dgm:prSet/>
      <dgm:spPr/>
      <dgm:t xml:space="preserve">
        <a:bodyPr/>
        <a:lstStyle/>
        <a:p>
          <a:endParaRPr lang="en-US"/>
        </a:p>
      </dgm:t>
    </dgm:pt>
    <dgm:pt modelId="{BF94FBC9-218E-A84B-A703-8A02607BD715}" type="sibTrans" cxnId="{4F0727A8-3FD4-0840-BA11-B8DE49A4DE52}">
      <dgm:prSet/>
      <dgm:spPr/>
      <dgm:t xml:space="preserve">
        <a:bodyPr/>
        <a:lstStyle/>
        <a:p>
          <a:endParaRPr lang="en-US"/>
        </a:p>
      </dgm:t>
    </dgm:pt>
    <dgm:pt modelId="{9F9F6DE9-2FC6-394E-96F1-FF44679672F8}">
      <dgm:prSet phldrT="[Text]"/>
      <dgm:spPr/>
      <dgm:t xml:space="preserve">
        <a:bodyPr/>
        <a:lstStyle/>
        <a:p>
          <a:pPr>
            <a:buSzPct val="100000"/>
            <a:buChar char="•"/>
          </a:pPr>
          <a:r>
            <a:rPr lang="en-US" dirty="0">
              <a:solidFill>
                <a:srgbClr val="000000"/>
              </a:solidFill>
              <a:latin typeface="Aptos" panose="020B0004020202020204" pitchFamily="34" charset="0"/>
              <a:ea typeface="Inter" pitchFamily="34" charset="-122"/>
              <a:cs typeface="Inter" pitchFamily="34" charset="-120"/>
            </a:rPr>
            <a:t>Use median instead of mean</a:t>
          </a:r>
          <a:endParaRPr lang="en-US" dirty="0">
            <a:latin typeface="Aptos" panose="020B0004020202020204" pitchFamily="34" charset="0"/>
          </a:endParaRPr>
        </a:p>
      </dgm:t>
    </dgm:pt>
    <dgm:pt modelId="{66B076DD-0BA5-354A-8444-D2D1143B63A5}" type="parTrans" cxnId="{F120B794-DEDA-CD44-B248-C61F219E71F3}">
      <dgm:prSet/>
      <dgm:spPr/>
      <dgm:t xml:space="preserve">
        <a:bodyPr/>
        <a:lstStyle/>
        <a:p>
          <a:endParaRPr lang="en-US"/>
        </a:p>
      </dgm:t>
    </dgm:pt>
    <dgm:pt modelId="{E75DAF45-9CEA-144E-A7E1-12A549585793}" type="sibTrans" cxnId="{F120B794-DEDA-CD44-B248-C61F219E71F3}">
      <dgm:prSet/>
      <dgm:spPr/>
      <dgm:t xml:space="preserve">
        <a:bodyPr/>
        <a:lstStyle/>
        <a:p>
          <a:endParaRPr lang="en-US"/>
        </a:p>
      </dgm:t>
    </dgm:pt>
    <dgm:pt modelId="{17D575C9-395E-1E4C-9B7B-DA68BBDE6C58}">
      <dgm:prSet phldrT="[Text]"/>
      <dgm:spPr/>
      <dgm:t xml:space="preserve">
        <a:bodyPr/>
        <a:lstStyle/>
        <a:p>
          <a:pPr>
            <a:buSzPct val="100000"/>
            <a:buChar char="•"/>
          </a:pPr>
          <a:r>
            <a:rPr lang="en-US" dirty="0">
              <a:solidFill>
                <a:srgbClr val="000000"/>
              </a:solidFill>
              <a:latin typeface="Aptos" panose="020B0004020202020204" pitchFamily="34" charset="0"/>
              <a:ea typeface="Inter" pitchFamily="34" charset="-122"/>
              <a:cs typeface="Inter" pitchFamily="34" charset="-120"/>
            </a:rPr>
            <a:t>Remove it if you can't fix it confidently</a:t>
          </a:r>
          <a:endParaRPr lang="en-US" dirty="0">
            <a:latin typeface="Aptos" panose="020B0004020202020204" pitchFamily="34" charset="0"/>
          </a:endParaRPr>
        </a:p>
      </dgm:t>
    </dgm:pt>
    <dgm:pt modelId="{0D8641D1-3A83-0746-8A36-5CD877DA948C}" type="parTrans" cxnId="{CEF29050-041A-3A4F-BF01-4A5484A0CEFB}">
      <dgm:prSet/>
      <dgm:spPr/>
      <dgm:t xml:space="preserve">
        <a:bodyPr/>
        <a:lstStyle/>
        <a:p>
          <a:endParaRPr lang="en-US"/>
        </a:p>
      </dgm:t>
    </dgm:pt>
    <dgm:pt modelId="{1F22ADC3-F0E6-AC47-9395-5C85A448AD6D}" type="sibTrans" cxnId="{CEF29050-041A-3A4F-BF01-4A5484A0CEFB}">
      <dgm:prSet/>
      <dgm:spPr/>
      <dgm:t xml:space="preserve">
        <a:bodyPr/>
        <a:lstStyle/>
        <a:p>
          <a:endParaRPr lang="en-US"/>
        </a:p>
      </dgm:t>
    </dgm:pt>
    <dgm:pt modelId="{1AEBE871-446D-B845-A0A9-E57BC17D20FE}" type="pres">
      <dgm:prSet presAssocID="{22097A8E-1852-564D-BD68-F63E00BBAC95}" presName="Name0" presStyleCnt="0">
        <dgm:presLayoutVars>
          <dgm:chMax val="7"/>
          <dgm:chPref val="7"/>
          <dgm:dir/>
          <dgm:animOne val="branch"/>
          <dgm:animLvl val="lvl"/>
        </dgm:presLayoutVars>
      </dgm:prSet>
      <dgm:spPr/>
    </dgm:pt>
    <dgm:pt modelId="{C253C1EA-3C17-5641-B707-C46734F8D9DF}" type="pres">
      <dgm:prSet presAssocID="{26180337-DC70-F742-8862-640330A7B061}" presName="composite" presStyleCnt="0"/>
      <dgm:spPr/>
    </dgm:pt>
    <dgm:pt modelId="{09C924CC-FE32-4542-99D3-C04C17968C59}" type="pres">
      <dgm:prSet presAssocID="{26180337-DC70-F742-8862-640330A7B061}" presName="BackAccent" presStyleLbl="bgShp" presStyleIdx="0" presStyleCnt="3"/>
      <dgm:spPr/>
    </dgm:pt>
    <dgm:pt modelId="{3A2A3FCE-F748-CC40-8583-1832F8A7E23C}" type="pres">
      <dgm:prSet presAssocID="{26180337-DC70-F742-8862-640330A7B061}" presName="Accent" presStyleLbl="alignNode1" presStyleIdx="0" presStyleCnt="3"/>
      <dgm:spPr/>
    </dgm:pt>
    <dgm:pt modelId="{2BA2F0FD-3AEA-5148-BAF9-008B6854BC10}" type="pres">
      <dgm:prSet presAssocID="{26180337-DC70-F742-8862-640330A7B061}" presName="Child" presStyleLbl="revTx" presStyleIdx="0" presStyleCnt="6">
        <dgm:presLayoutVars>
          <dgm:chMax val="0"/>
          <dgm:chPref val="0"/>
          <dgm:bulletEnabled val="1"/>
        </dgm:presLayoutVars>
      </dgm:prSet>
      <dgm:spPr/>
    </dgm:pt>
    <dgm:pt modelId="{5591D853-1BCA-FC45-A578-5D665CFFA607}" type="pres">
      <dgm:prSet presAssocID="{26180337-DC70-F742-8862-640330A7B061}" presName="Parent" presStyleLbl="revTx" presStyleIdx="1" presStyleCnt="6">
        <dgm:presLayoutVars>
          <dgm:chMax val="1"/>
          <dgm:chPref val="1"/>
          <dgm:bulletEnabled val="1"/>
        </dgm:presLayoutVars>
      </dgm:prSet>
      <dgm:spPr/>
    </dgm:pt>
    <dgm:pt modelId="{B5F25075-D694-114D-A201-48009BB74426}" type="pres">
      <dgm:prSet presAssocID="{31561971-EC3E-7244-A142-40AA197A0470}" presName="sibTrans" presStyleCnt="0"/>
      <dgm:spPr/>
    </dgm:pt>
    <dgm:pt modelId="{F313BAD8-9D84-5E44-89D0-0ACEF56E8C9B}" type="pres">
      <dgm:prSet presAssocID="{A8D78467-820E-4446-ADD6-5F9BD0B20957}" presName="composite" presStyleCnt="0"/>
      <dgm:spPr/>
    </dgm:pt>
    <dgm:pt modelId="{CC692FED-7CE6-E34D-A2E2-EF4CF87FFD44}" type="pres">
      <dgm:prSet presAssocID="{A8D78467-820E-4446-ADD6-5F9BD0B20957}" presName="BackAccent" presStyleLbl="bgShp" presStyleIdx="1" presStyleCnt="3"/>
      <dgm:spPr/>
    </dgm:pt>
    <dgm:pt modelId="{824CB5F6-AED8-2D45-87A1-7C8089B5F777}" type="pres">
      <dgm:prSet presAssocID="{A8D78467-820E-4446-ADD6-5F9BD0B20957}" presName="Accent" presStyleLbl="alignNode1" presStyleIdx="1" presStyleCnt="3"/>
      <dgm:spPr/>
    </dgm:pt>
    <dgm:pt modelId="{2083B167-DEDD-7E46-8233-F8F3CFF166F4}" type="pres">
      <dgm:prSet presAssocID="{A8D78467-820E-4446-ADD6-5F9BD0B20957}" presName="Child" presStyleLbl="revTx" presStyleIdx="2" presStyleCnt="6">
        <dgm:presLayoutVars>
          <dgm:chMax val="0"/>
          <dgm:chPref val="0"/>
          <dgm:bulletEnabled val="1"/>
        </dgm:presLayoutVars>
      </dgm:prSet>
      <dgm:spPr/>
    </dgm:pt>
    <dgm:pt modelId="{F6E47FE7-4B13-A041-8D9A-9E91CC997734}" type="pres">
      <dgm:prSet presAssocID="{A8D78467-820E-4446-ADD6-5F9BD0B20957}" presName="Parent" presStyleLbl="revTx" presStyleIdx="3" presStyleCnt="6">
        <dgm:presLayoutVars>
          <dgm:chMax val="1"/>
          <dgm:chPref val="1"/>
          <dgm:bulletEnabled val="1"/>
        </dgm:presLayoutVars>
      </dgm:prSet>
      <dgm:spPr/>
    </dgm:pt>
    <dgm:pt modelId="{FA3EBCAA-C4D7-DE42-9D59-B281530B264B}" type="pres">
      <dgm:prSet presAssocID="{6F489CDB-5BB3-4E43-9523-E2B9E0DF7E45}" presName="sibTrans" presStyleCnt="0"/>
      <dgm:spPr/>
    </dgm:pt>
    <dgm:pt modelId="{AB3617CB-E8BB-2042-8DDF-E1035E137B1E}" type="pres">
      <dgm:prSet presAssocID="{43D82752-7080-9C45-A445-62F54EB43A8D}" presName="composite" presStyleCnt="0"/>
      <dgm:spPr/>
    </dgm:pt>
    <dgm:pt modelId="{2906A6B6-D867-D847-A722-D89177CCE40B}" type="pres">
      <dgm:prSet presAssocID="{43D82752-7080-9C45-A445-62F54EB43A8D}" presName="BackAccent" presStyleLbl="bgShp" presStyleIdx="2" presStyleCnt="3"/>
      <dgm:spPr/>
    </dgm:pt>
    <dgm:pt modelId="{4C63F94B-FC4D-A04B-AD9F-A7E9D4F3A4B4}" type="pres">
      <dgm:prSet presAssocID="{43D82752-7080-9C45-A445-62F54EB43A8D}" presName="Accent" presStyleLbl="alignNode1" presStyleIdx="2" presStyleCnt="3"/>
      <dgm:spPr/>
    </dgm:pt>
    <dgm:pt modelId="{3DB500EE-420B-BB46-A4FF-58FB51943B9C}" type="pres">
      <dgm:prSet presAssocID="{43D82752-7080-9C45-A445-62F54EB43A8D}" presName="Child" presStyleLbl="revTx" presStyleIdx="4" presStyleCnt="6">
        <dgm:presLayoutVars>
          <dgm:chMax val="0"/>
          <dgm:chPref val="0"/>
          <dgm:bulletEnabled val="1"/>
        </dgm:presLayoutVars>
      </dgm:prSet>
      <dgm:spPr/>
    </dgm:pt>
    <dgm:pt modelId="{3B9285AB-3A1B-2D40-A068-B01FB18524DD}" type="pres">
      <dgm:prSet presAssocID="{43D82752-7080-9C45-A445-62F54EB43A8D}" presName="Parent" presStyleLbl="revTx" presStyleIdx="5" presStyleCnt="6">
        <dgm:presLayoutVars>
          <dgm:chMax val="1"/>
          <dgm:chPref val="1"/>
          <dgm:bulletEnabled val="1"/>
        </dgm:presLayoutVars>
      </dgm:prSet>
      <dgm:spPr/>
    </dgm:pt>
  </dgm:ptLst>
  <dgm:cxnLst>
    <dgm:cxn modelId="{66F4B907-2615-D04B-B390-1B001CEF5222}" type="presOf" srcId="{A8D78467-820E-4446-ADD6-5F9BD0B20957}" destId="{F6E47FE7-4B13-A041-8D9A-9E91CC997734}" srcOrd="0" destOrd="0" presId="urn:microsoft.com/office/officeart/2008/layout/IncreasingCircleProcess"/>
    <dgm:cxn modelId="{8C52320C-A3DF-3649-ABCF-D8AE6D4DE42E}" srcId="{22097A8E-1852-564D-BD68-F63E00BBAC95}" destId="{43D82752-7080-9C45-A445-62F54EB43A8D}" srcOrd="2" destOrd="0" parTransId="{73690D6A-EA18-AE4B-A0C4-6F9AE120C307}" sibTransId="{D4DB2C37-F2C1-3D45-9CD5-A49951F2F720}"/>
    <dgm:cxn modelId="{3F6DBC16-1B7E-3442-99D1-7C0F0F4FAF4C}" type="presOf" srcId="{43D82752-7080-9C45-A445-62F54EB43A8D}" destId="{3B9285AB-3A1B-2D40-A068-B01FB18524DD}" srcOrd="0" destOrd="0" presId="urn:microsoft.com/office/officeart/2008/layout/IncreasingCircleProcess"/>
    <dgm:cxn modelId="{3DC85829-64FC-DC46-9B45-1F39C659C686}" type="presOf" srcId="{26827916-1E31-5649-B041-0323C597F1B1}" destId="{2083B167-DEDD-7E46-8233-F8F3CFF166F4}" srcOrd="0" destOrd="0" presId="urn:microsoft.com/office/officeart/2008/layout/IncreasingCircleProcess"/>
    <dgm:cxn modelId="{F8AD792B-1F8F-5B48-B738-DE02BBFA4841}" srcId="{A8D78467-820E-4446-ADD6-5F9BD0B20957}" destId="{26827916-1E31-5649-B041-0323C597F1B1}" srcOrd="0" destOrd="0" parTransId="{63C5426E-14AA-B94B-9F8C-0BA994EA091B}" sibTransId="{2212DDC7-5481-3B48-BEC4-29B128818816}"/>
    <dgm:cxn modelId="{E2B85F40-2109-8C43-858C-11AAC02F90E4}" type="presOf" srcId="{17D575C9-395E-1E4C-9B7B-DA68BBDE6C58}" destId="{2083B167-DEDD-7E46-8233-F8F3CFF166F4}" srcOrd="0" destOrd="1" presId="urn:microsoft.com/office/officeart/2008/layout/IncreasingCircleProcess"/>
    <dgm:cxn modelId="{1E893F42-6459-FA45-B185-0327BC436ABB}" type="presOf" srcId="{C3F1B8F2-FDF4-4548-9E6A-84BD071B7FBC}" destId="{3DB500EE-420B-BB46-A4FF-58FB51943B9C}" srcOrd="0" destOrd="0" presId="urn:microsoft.com/office/officeart/2008/layout/IncreasingCircleProcess"/>
    <dgm:cxn modelId="{FE60D865-76E2-174C-98C8-EA3816067391}" srcId="{22097A8E-1852-564D-BD68-F63E00BBAC95}" destId="{26180337-DC70-F742-8862-640330A7B061}" srcOrd="0" destOrd="0" parTransId="{450FCEF4-FA42-574D-A4DA-F494DCD6638A}" sibTransId="{31561971-EC3E-7244-A142-40AA197A0470}"/>
    <dgm:cxn modelId="{16918869-65BE-EC44-987B-CBFC89DD66E4}" type="presOf" srcId="{9F9F6DE9-2FC6-394E-96F1-FF44679672F8}" destId="{3DB500EE-420B-BB46-A4FF-58FB51943B9C}" srcOrd="0" destOrd="3" presId="urn:microsoft.com/office/officeart/2008/layout/IncreasingCircleProcess"/>
    <dgm:cxn modelId="{0EFBC96A-5744-584A-B8B6-1FE8E7164DEC}" srcId="{43D82752-7080-9C45-A445-62F54EB43A8D}" destId="{C3F1B8F2-FDF4-4548-9E6A-84BD071B7FBC}" srcOrd="0" destOrd="0" parTransId="{EF2E47D0-5AD7-594A-8A91-BC1933BB216E}" sibTransId="{24E447A5-102B-E045-A9A4-4058325B6382}"/>
    <dgm:cxn modelId="{CEF29050-041A-3A4F-BF01-4A5484A0CEFB}" srcId="{A8D78467-820E-4446-ADD6-5F9BD0B20957}" destId="{17D575C9-395E-1E4C-9B7B-DA68BBDE6C58}" srcOrd="1" destOrd="0" parTransId="{0D8641D1-3A83-0746-8A36-5CD877DA948C}" sibTransId="{1F22ADC3-F0E6-AC47-9395-5C85A448AD6D}"/>
    <dgm:cxn modelId="{FDA30056-08DE-4749-AFB1-3CEE3A703F45}" srcId="{22097A8E-1852-564D-BD68-F63E00BBAC95}" destId="{A8D78467-820E-4446-ADD6-5F9BD0B20957}" srcOrd="1" destOrd="0" parTransId="{313FB588-E502-7A43-800F-2640E264F588}" sibTransId="{6F489CDB-5BB3-4E43-9523-E2B9E0DF7E45}"/>
    <dgm:cxn modelId="{3017A987-218F-204A-87EE-F567BCB48E64}" type="presOf" srcId="{DB948248-D046-FC42-B079-8270AD3ED010}" destId="{3DB500EE-420B-BB46-A4FF-58FB51943B9C}" srcOrd="0" destOrd="2" presId="urn:microsoft.com/office/officeart/2008/layout/IncreasingCircleProcess"/>
    <dgm:cxn modelId="{F120B794-DEDA-CD44-B248-C61F219E71F3}" srcId="{43D82752-7080-9C45-A445-62F54EB43A8D}" destId="{9F9F6DE9-2FC6-394E-96F1-FF44679672F8}" srcOrd="3" destOrd="0" parTransId="{66B076DD-0BA5-354A-8444-D2D1143B63A5}" sibTransId="{E75DAF45-9CEA-144E-A7E1-12A549585793}"/>
    <dgm:cxn modelId="{4F0727A8-3FD4-0840-BA11-B8DE49A4DE52}" srcId="{43D82752-7080-9C45-A445-62F54EB43A8D}" destId="{DB948248-D046-FC42-B079-8270AD3ED010}" srcOrd="2" destOrd="0" parTransId="{96672D8A-405C-684C-9B20-67C4EB67D0DF}" sibTransId="{BF94FBC9-218E-A84B-A703-8A02607BD715}"/>
    <dgm:cxn modelId="{6269B3AA-CE65-F54E-9689-1718A0B7A1BC}" type="presOf" srcId="{B5D43813-7905-3244-8379-907A65F40CCE}" destId="{2BA2F0FD-3AEA-5148-BAF9-008B6854BC10}" srcOrd="0" destOrd="0" presId="urn:microsoft.com/office/officeart/2008/layout/IncreasingCircleProcess"/>
    <dgm:cxn modelId="{07850FCC-63F3-6247-8B5E-8563051BE5B5}" type="presOf" srcId="{26180337-DC70-F742-8862-640330A7B061}" destId="{5591D853-1BCA-FC45-A578-5D665CFFA607}" srcOrd="0" destOrd="0" presId="urn:microsoft.com/office/officeart/2008/layout/IncreasingCircleProcess"/>
    <dgm:cxn modelId="{03A81DD1-44AE-4B4B-834F-93DFE0444D72}" type="presOf" srcId="{223BE3C1-5226-5A46-9A0E-32A28EDE3A51}" destId="{3DB500EE-420B-BB46-A4FF-58FB51943B9C}" srcOrd="0" destOrd="1" presId="urn:microsoft.com/office/officeart/2008/layout/IncreasingCircleProcess"/>
    <dgm:cxn modelId="{83EF49E8-BD97-E14F-ABEB-235A8E88CD9F}" type="presOf" srcId="{22097A8E-1852-564D-BD68-F63E00BBAC95}" destId="{1AEBE871-446D-B845-A0A9-E57BC17D20FE}" srcOrd="0" destOrd="0" presId="urn:microsoft.com/office/officeart/2008/layout/IncreasingCircleProcess"/>
    <dgm:cxn modelId="{E003CAE9-2A6C-CF41-982F-D5BDCF657090}" srcId="{43D82752-7080-9C45-A445-62F54EB43A8D}" destId="{223BE3C1-5226-5A46-9A0E-32A28EDE3A51}" srcOrd="1" destOrd="0" parTransId="{3463508D-6BB4-1C4E-8093-D4CA4BCD5004}" sibTransId="{0C19CF36-2F32-B146-816D-F4B75A0ECC8C}"/>
    <dgm:cxn modelId="{35EB3EEA-36AF-4647-81C5-CF86FECE4EF3}" srcId="{26180337-DC70-F742-8862-640330A7B061}" destId="{B5D43813-7905-3244-8379-907A65F40CCE}" srcOrd="0" destOrd="0" parTransId="{A2DA8179-1973-8E4E-AE02-2AF4DC31147E}" sibTransId="{76AD258D-529E-734A-8E34-EC638662115F}"/>
    <dgm:cxn modelId="{D217BB4C-1704-A642-A1C9-976C79CA17B8}" type="presParOf" srcId="{1AEBE871-446D-B845-A0A9-E57BC17D20FE}" destId="{C253C1EA-3C17-5641-B707-C46734F8D9DF}" srcOrd="0" destOrd="0" presId="urn:microsoft.com/office/officeart/2008/layout/IncreasingCircleProcess"/>
    <dgm:cxn modelId="{E4B66531-D6F6-5541-AD1D-4F075DF3137A}" type="presParOf" srcId="{C253C1EA-3C17-5641-B707-C46734F8D9DF}" destId="{09C924CC-FE32-4542-99D3-C04C17968C59}" srcOrd="0" destOrd="0" presId="urn:microsoft.com/office/officeart/2008/layout/IncreasingCircleProcess"/>
    <dgm:cxn modelId="{9D4E17E2-5597-574D-B867-B0ECB96152E7}" type="presParOf" srcId="{C253C1EA-3C17-5641-B707-C46734F8D9DF}" destId="{3A2A3FCE-F748-CC40-8583-1832F8A7E23C}" srcOrd="1" destOrd="0" presId="urn:microsoft.com/office/officeart/2008/layout/IncreasingCircleProcess"/>
    <dgm:cxn modelId="{25F36860-3B3F-324C-82D9-D77FA0EA82CA}" type="presParOf" srcId="{C253C1EA-3C17-5641-B707-C46734F8D9DF}" destId="{2BA2F0FD-3AEA-5148-BAF9-008B6854BC10}" srcOrd="2" destOrd="0" presId="urn:microsoft.com/office/officeart/2008/layout/IncreasingCircleProcess"/>
    <dgm:cxn modelId="{769F968B-F5BE-3A40-BB5C-109142448F5B}" type="presParOf" srcId="{C253C1EA-3C17-5641-B707-C46734F8D9DF}" destId="{5591D853-1BCA-FC45-A578-5D665CFFA607}" srcOrd="3" destOrd="0" presId="urn:microsoft.com/office/officeart/2008/layout/IncreasingCircleProcess"/>
    <dgm:cxn modelId="{63C1E6A4-993E-DE44-8AE5-78FA69678427}" type="presParOf" srcId="{1AEBE871-446D-B845-A0A9-E57BC17D20FE}" destId="{B5F25075-D694-114D-A201-48009BB74426}" srcOrd="1" destOrd="0" presId="urn:microsoft.com/office/officeart/2008/layout/IncreasingCircleProcess"/>
    <dgm:cxn modelId="{366487FD-343A-3245-B7CC-B4B4FE03C687}" type="presParOf" srcId="{1AEBE871-446D-B845-A0A9-E57BC17D20FE}" destId="{F313BAD8-9D84-5E44-89D0-0ACEF56E8C9B}" srcOrd="2" destOrd="0" presId="urn:microsoft.com/office/officeart/2008/layout/IncreasingCircleProcess"/>
    <dgm:cxn modelId="{2528CCBD-2AA2-1343-8431-E08B8CBEB881}" type="presParOf" srcId="{F313BAD8-9D84-5E44-89D0-0ACEF56E8C9B}" destId="{CC692FED-7CE6-E34D-A2E2-EF4CF87FFD44}" srcOrd="0" destOrd="0" presId="urn:microsoft.com/office/officeart/2008/layout/IncreasingCircleProcess"/>
    <dgm:cxn modelId="{9225F9ED-993E-7A44-B0E1-970E9F6506BC}" type="presParOf" srcId="{F313BAD8-9D84-5E44-89D0-0ACEF56E8C9B}" destId="{824CB5F6-AED8-2D45-87A1-7C8089B5F777}" srcOrd="1" destOrd="0" presId="urn:microsoft.com/office/officeart/2008/layout/IncreasingCircleProcess"/>
    <dgm:cxn modelId="{E61DB581-ED0D-AC4D-83C9-AD0B76956A4F}" type="presParOf" srcId="{F313BAD8-9D84-5E44-89D0-0ACEF56E8C9B}" destId="{2083B167-DEDD-7E46-8233-F8F3CFF166F4}" srcOrd="2" destOrd="0" presId="urn:microsoft.com/office/officeart/2008/layout/IncreasingCircleProcess"/>
    <dgm:cxn modelId="{3EBD84FE-CF95-0444-9ABC-BD3C58DB5148}" type="presParOf" srcId="{F313BAD8-9D84-5E44-89D0-0ACEF56E8C9B}" destId="{F6E47FE7-4B13-A041-8D9A-9E91CC997734}" srcOrd="3" destOrd="0" presId="urn:microsoft.com/office/officeart/2008/layout/IncreasingCircleProcess"/>
    <dgm:cxn modelId="{5D0D8217-7510-264F-8878-1849A155A9A6}" type="presParOf" srcId="{1AEBE871-446D-B845-A0A9-E57BC17D20FE}" destId="{FA3EBCAA-C4D7-DE42-9D59-B281530B264B}" srcOrd="3" destOrd="0" presId="urn:microsoft.com/office/officeart/2008/layout/IncreasingCircleProcess"/>
    <dgm:cxn modelId="{C9920601-F8D8-244F-A0FD-5BA933A08092}" type="presParOf" srcId="{1AEBE871-446D-B845-A0A9-E57BC17D20FE}" destId="{AB3617CB-E8BB-2042-8DDF-E1035E137B1E}" srcOrd="4" destOrd="0" presId="urn:microsoft.com/office/officeart/2008/layout/IncreasingCircleProcess"/>
    <dgm:cxn modelId="{E068CE1E-2E04-C84A-AF90-27FB52C1D82A}" type="presParOf" srcId="{AB3617CB-E8BB-2042-8DDF-E1035E137B1E}" destId="{2906A6B6-D867-D847-A722-D89177CCE40B}" srcOrd="0" destOrd="0" presId="urn:microsoft.com/office/officeart/2008/layout/IncreasingCircleProcess"/>
    <dgm:cxn modelId="{6801897F-81AB-4548-9C86-A96048DBB65F}" type="presParOf" srcId="{AB3617CB-E8BB-2042-8DDF-E1035E137B1E}" destId="{4C63F94B-FC4D-A04B-AD9F-A7E9D4F3A4B4}" srcOrd="1" destOrd="0" presId="urn:microsoft.com/office/officeart/2008/layout/IncreasingCircleProcess"/>
    <dgm:cxn modelId="{EBFCA9BD-CCB0-2242-A578-0B3EC1952EE6}" type="presParOf" srcId="{AB3617CB-E8BB-2042-8DDF-E1035E137B1E}" destId="{3DB500EE-420B-BB46-A4FF-58FB51943B9C}" srcOrd="2" destOrd="0" presId="urn:microsoft.com/office/officeart/2008/layout/IncreasingCircleProcess"/>
    <dgm:cxn modelId="{60AB030C-DE54-914E-8EF3-26B07AC79E04}" type="presParOf" srcId="{AB3617CB-E8BB-2042-8DDF-E1035E137B1E}" destId="{3B9285AB-3A1B-2D40-A068-B01FB18524DD}" srcOrd="3" destOrd="0" presId="urn:microsoft.com/office/officeart/2008/layout/IncreasingCircleProcess"/>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3BBCDA12-6236-994F-9281-2E24381D351A}" type="doc">
      <dgm:prSet loTypeId="urn:microsoft.com/office/officeart/2005/8/layout/hList1" loCatId="" qsTypeId="urn:microsoft.com/office/officeart/2005/8/quickstyle/simple1" qsCatId="simple" csTypeId="urn:microsoft.com/office/officeart/2005/8/colors/accent1_2" csCatId="accent1" phldr="1"/>
      <dgm:spPr/>
      <dgm:t xml:space="preserve">
        <a:bodyPr/>
        <a:lstStyle/>
        <a:p>
          <a:endParaRPr lang="en-US"/>
        </a:p>
      </dgm:t>
    </dgm:pt>
    <dgm:pt modelId="{A40B4204-89F9-064D-A56F-B42A21851AFB}">
      <dgm:prSet phldrT="[Text]"/>
      <dgm:spPr/>
      <dgm:t xml:space="preserve">
        <a:bodyPr/>
        <a:lstStyle/>
        <a:p>
          <a:r>
            <a:rPr lang="en-US" dirty="0"/>
            <a:t>Fix Typos</a:t>
          </a:r>
        </a:p>
      </dgm:t>
    </dgm:pt>
    <dgm:pt modelId="{0D687D8A-8DDF-204A-9615-68ED3D795A89}" type="parTrans" cxnId="{4A5FAFC9-8467-7442-B807-89347422B45C}">
      <dgm:prSet/>
      <dgm:spPr/>
      <dgm:t xml:space="preserve">
        <a:bodyPr/>
        <a:lstStyle/>
        <a:p>
          <a:endParaRPr lang="en-US"/>
        </a:p>
      </dgm:t>
    </dgm:pt>
    <dgm:pt modelId="{6A9BFE88-0826-1544-8F5A-949F238A02A7}" type="sibTrans" cxnId="{4A5FAFC9-8467-7442-B807-89347422B45C}">
      <dgm:prSet/>
      <dgm:spPr/>
      <dgm:t xml:space="preserve">
        <a:bodyPr/>
        <a:lstStyle/>
        <a:p>
          <a:endParaRPr lang="en-US"/>
        </a:p>
      </dgm:t>
    </dgm:pt>
    <dgm:pt modelId="{49CF2C60-E3F7-BB46-9DC8-32DE6A83CE87}">
      <dgm:prSet phldrT="[Text]"/>
      <dgm:spPr/>
      <dgm:t xml:space="preserve">
        <a:bodyPr/>
        <a:lstStyle/>
        <a:p>
          <a:r>
            <a:rPr lang="en-US" dirty="0"/>
            <a:t>Correct misspellings like "</a:t>
          </a:r>
          <a:r>
            <a:rPr lang="en-US" dirty="0" err="1"/>
            <a:t>Femael</a:t>
          </a:r>
          <a:r>
            <a:rPr lang="en-US" dirty="0"/>
            <a:t>" to "Female" in categories.</a:t>
          </a:r>
        </a:p>
      </dgm:t>
    </dgm:pt>
    <dgm:pt modelId="{47EDC705-4553-374B-AB2F-17C92C3F1AE2}" type="parTrans" cxnId="{CB5730A7-9BD5-9B43-A7EF-FA599B874D37}">
      <dgm:prSet/>
      <dgm:spPr/>
      <dgm:t xml:space="preserve">
        <a:bodyPr/>
        <a:lstStyle/>
        <a:p>
          <a:endParaRPr lang="en-US"/>
        </a:p>
      </dgm:t>
    </dgm:pt>
    <dgm:pt modelId="{A9C807EB-BF92-764A-B2BD-35155A948A00}" type="sibTrans" cxnId="{CB5730A7-9BD5-9B43-A7EF-FA599B874D37}">
      <dgm:prSet/>
      <dgm:spPr/>
      <dgm:t xml:space="preserve">
        <a:bodyPr/>
        <a:lstStyle/>
        <a:p>
          <a:endParaRPr lang="en-US"/>
        </a:p>
      </dgm:t>
    </dgm:pt>
    <dgm:pt modelId="{BF0E4AFA-B8F8-7940-B24A-99F134DE19F6}">
      <dgm:prSet phldrT="[Text]"/>
      <dgm:spPr/>
      <dgm:t xml:space="preserve">
        <a:bodyPr/>
        <a:lstStyle/>
        <a:p>
          <a:r>
            <a:rPr lang="en-US" dirty="0"/>
            <a:t>Trim Unwanted Characters</a:t>
          </a:r>
        </a:p>
      </dgm:t>
    </dgm:pt>
    <dgm:pt modelId="{B52F0B79-FC9C-B54E-97C7-117CB892F7C4}" type="parTrans" cxnId="{69D454A3-3897-9A45-B85E-DFB9C8721609}">
      <dgm:prSet/>
      <dgm:spPr/>
      <dgm:t xml:space="preserve">
        <a:bodyPr/>
        <a:lstStyle/>
        <a:p>
          <a:endParaRPr lang="en-US"/>
        </a:p>
      </dgm:t>
    </dgm:pt>
    <dgm:pt modelId="{0CC1F95A-ABC5-C844-92B2-2C108ED00AD0}" type="sibTrans" cxnId="{69D454A3-3897-9A45-B85E-DFB9C8721609}">
      <dgm:prSet/>
      <dgm:spPr/>
      <dgm:t xml:space="preserve">
        <a:bodyPr/>
        <a:lstStyle/>
        <a:p>
          <a:endParaRPr lang="en-US"/>
        </a:p>
      </dgm:t>
    </dgm:pt>
    <dgm:pt modelId="{CA3B809D-2CE2-174A-A7EE-8220608C2D45}">
      <dgm:prSet phldrT="[Text]"/>
      <dgm:spPr/>
      <dgm:t xml:space="preserve">
        <a:bodyPr/>
        <a:lstStyle/>
        <a:p>
          <a:r>
            <a:rPr lang="en-US" dirty="0"/>
            <a:t>Standardize Formats</a:t>
          </a:r>
        </a:p>
      </dgm:t>
    </dgm:pt>
    <dgm:pt modelId="{A3A21EE4-158D-4047-9E8B-A56CE21762BA}" type="parTrans" cxnId="{1346CD96-1DB1-1346-B8D7-13E3EF0A245B}">
      <dgm:prSet/>
      <dgm:spPr/>
      <dgm:t xml:space="preserve">
        <a:bodyPr/>
        <a:lstStyle/>
        <a:p>
          <a:endParaRPr lang="en-US"/>
        </a:p>
      </dgm:t>
    </dgm:pt>
    <dgm:pt modelId="{93EDC7D8-D363-3741-B666-B102DC777E1D}" type="sibTrans" cxnId="{1346CD96-1DB1-1346-B8D7-13E3EF0A245B}">
      <dgm:prSet/>
      <dgm:spPr/>
      <dgm:t xml:space="preserve">
        <a:bodyPr/>
        <a:lstStyle/>
        <a:p>
          <a:endParaRPr lang="en-US"/>
        </a:p>
      </dgm:t>
    </dgm:pt>
    <dgm:pt modelId="{AD550E4F-1803-5149-9F25-F10E56777367}">
      <dgm:prSet phldrT="[Text]"/>
      <dgm:spPr/>
      <dgm:t xml:space="preserve">
        <a:bodyPr/>
        <a:lstStyle/>
        <a:p>
          <a:r>
            <a:rPr lang="en-US" dirty="0"/>
            <a:t>Remove extra spaces, commas in numbers, and other problematic symbols.</a:t>
          </a:r>
        </a:p>
      </dgm:t>
    </dgm:pt>
    <dgm:pt modelId="{2E7F3448-E615-A74A-A70B-3DAA9232BBCD}" type="parTrans" cxnId="{5A8D2563-7C59-D64D-8A31-87A9E0448C0B}">
      <dgm:prSet/>
      <dgm:spPr/>
      <dgm:t xml:space="preserve">
        <a:bodyPr/>
        <a:lstStyle/>
        <a:p>
          <a:endParaRPr lang="en-US"/>
        </a:p>
      </dgm:t>
    </dgm:pt>
    <dgm:pt modelId="{47E1F274-E4F3-F241-B41F-AC08D40AFAE7}" type="sibTrans" cxnId="{5A8D2563-7C59-D64D-8A31-87A9E0448C0B}">
      <dgm:prSet/>
      <dgm:spPr/>
      <dgm:t xml:space="preserve">
        <a:bodyPr/>
        <a:lstStyle/>
        <a:p>
          <a:endParaRPr lang="en-US"/>
        </a:p>
      </dgm:t>
    </dgm:pt>
    <dgm:pt modelId="{7422968E-0CC2-7B44-AAA0-D01127094FB2}">
      <dgm:prSet phldrT="[Text]"/>
      <dgm:spPr/>
      <dgm:t xml:space="preserve">
        <a:bodyPr/>
        <a:lstStyle/>
        <a:p>
          <a:r>
            <a:rPr lang="en-US" dirty="0"/>
            <a:t>Convert all dates to one format, all gender labels to one set.</a:t>
          </a:r>
        </a:p>
      </dgm:t>
    </dgm:pt>
    <dgm:pt modelId="{2AA0221A-01AA-D54B-88A4-BEFBB2791BCF}" type="parTrans" cxnId="{703203FC-34DD-B948-AC35-DE660D730B0B}">
      <dgm:prSet/>
      <dgm:spPr/>
      <dgm:t xml:space="preserve">
        <a:bodyPr/>
        <a:lstStyle/>
        <a:p>
          <a:endParaRPr lang="en-US"/>
        </a:p>
      </dgm:t>
    </dgm:pt>
    <dgm:pt modelId="{5C4AE291-4BA0-8342-9C6D-2B96D97EC724}" type="sibTrans" cxnId="{703203FC-34DD-B948-AC35-DE660D730B0B}">
      <dgm:prSet/>
      <dgm:spPr/>
      <dgm:t xml:space="preserve">
        <a:bodyPr/>
        <a:lstStyle/>
        <a:p>
          <a:endParaRPr lang="en-US"/>
        </a:p>
      </dgm:t>
    </dgm:pt>
    <dgm:pt modelId="{307A709B-F28C-EA43-BB84-E20C0C81D217}">
      <dgm:prSet phldrT="[Text]"/>
      <dgm:spPr/>
      <dgm:t xml:space="preserve">
        <a:bodyPr/>
        <a:lstStyle/>
        <a:p>
          <a:r>
            <a:rPr lang="en-US" dirty="0"/>
            <a:t>Create a Data Dictionary</a:t>
          </a:r>
        </a:p>
      </dgm:t>
    </dgm:pt>
    <dgm:pt modelId="{70C53486-0C1D-D84F-8F0D-8863E3C656B4}" type="parTrans" cxnId="{7E663F21-10A7-1743-A9CB-716E828E5713}">
      <dgm:prSet/>
      <dgm:spPr/>
      <dgm:t xml:space="preserve">
        <a:bodyPr/>
        <a:lstStyle/>
        <a:p>
          <a:endParaRPr lang="en-US"/>
        </a:p>
      </dgm:t>
    </dgm:pt>
    <dgm:pt modelId="{62936774-BDBC-9842-9609-B8DE06D66166}" type="sibTrans" cxnId="{7E663F21-10A7-1743-A9CB-716E828E5713}">
      <dgm:prSet/>
      <dgm:spPr/>
      <dgm:t xml:space="preserve">
        <a:bodyPr/>
        <a:lstStyle/>
        <a:p>
          <a:endParaRPr lang="en-US"/>
        </a:p>
      </dgm:t>
    </dgm:pt>
    <dgm:pt modelId="{13652096-6E9B-D945-8745-946C8FCD429F}">
      <dgm:prSet phldrT="[Text]"/>
      <dgm:spPr/>
      <dgm:t xml:space="preserve">
        <a:bodyPr/>
        <a:lstStyle/>
        <a:p>
          <a:r>
            <a:rPr lang="en-US" dirty="0"/>
            <a:t>Define what each column should contain as a guide for cleaning.</a:t>
          </a:r>
        </a:p>
      </dgm:t>
    </dgm:pt>
    <dgm:pt modelId="{2BE59EEC-FA9E-E649-8B96-1D03A3F51197}" type="parTrans" cxnId="{8140C021-1997-7747-AFDC-CC7469DBF97A}">
      <dgm:prSet/>
      <dgm:spPr/>
      <dgm:t xml:space="preserve">
        <a:bodyPr/>
        <a:lstStyle/>
        <a:p>
          <a:endParaRPr lang="en-US"/>
        </a:p>
      </dgm:t>
    </dgm:pt>
    <dgm:pt modelId="{F7CA7661-C1F3-FC4C-AC49-37D23472ED53}" type="sibTrans" cxnId="{8140C021-1997-7747-AFDC-CC7469DBF97A}">
      <dgm:prSet/>
      <dgm:spPr/>
      <dgm:t xml:space="preserve">
        <a:bodyPr/>
        <a:lstStyle/>
        <a:p>
          <a:endParaRPr lang="en-US"/>
        </a:p>
      </dgm:t>
    </dgm:pt>
    <dgm:pt modelId="{FBCF83FE-5EA8-3F44-8762-0E0E52C30118}" type="pres">
      <dgm:prSet presAssocID="{3BBCDA12-6236-994F-9281-2E24381D351A}" presName="Name0" presStyleCnt="0">
        <dgm:presLayoutVars>
          <dgm:dir/>
          <dgm:animLvl val="lvl"/>
          <dgm:resizeHandles val="exact"/>
        </dgm:presLayoutVars>
      </dgm:prSet>
      <dgm:spPr/>
    </dgm:pt>
    <dgm:pt modelId="{C128F1DB-E007-5F41-A9CB-E1CCD252E501}" type="pres">
      <dgm:prSet presAssocID="{A40B4204-89F9-064D-A56F-B42A21851AFB}" presName="composite" presStyleCnt="0"/>
      <dgm:spPr/>
    </dgm:pt>
    <dgm:pt modelId="{85E37ABD-BD38-D144-9B6E-BDEEB16103DE}" type="pres">
      <dgm:prSet presAssocID="{A40B4204-89F9-064D-A56F-B42A21851AFB}" presName="parTx" presStyleLbl="alignNode1" presStyleIdx="0" presStyleCnt="4">
        <dgm:presLayoutVars>
          <dgm:chMax val="0"/>
          <dgm:chPref val="0"/>
          <dgm:bulletEnabled val="1"/>
        </dgm:presLayoutVars>
      </dgm:prSet>
      <dgm:spPr/>
    </dgm:pt>
    <dgm:pt modelId="{67A12D8A-57FA-124B-B510-490D334E0D45}" type="pres">
      <dgm:prSet presAssocID="{A40B4204-89F9-064D-A56F-B42A21851AFB}" presName="desTx" presStyleLbl="alignAccFollowNode1" presStyleIdx="0" presStyleCnt="4">
        <dgm:presLayoutVars>
          <dgm:bulletEnabled val="1"/>
        </dgm:presLayoutVars>
      </dgm:prSet>
      <dgm:spPr/>
    </dgm:pt>
    <dgm:pt modelId="{C4668D5A-6D4E-B648-A144-1F17D5CE73BC}" type="pres">
      <dgm:prSet presAssocID="{6A9BFE88-0826-1544-8F5A-949F238A02A7}" presName="space" presStyleCnt="0"/>
      <dgm:spPr/>
    </dgm:pt>
    <dgm:pt modelId="{80F2F450-518A-594D-BF7D-27BCFC974424}" type="pres">
      <dgm:prSet presAssocID="{BF0E4AFA-B8F8-7940-B24A-99F134DE19F6}" presName="composite" presStyleCnt="0"/>
      <dgm:spPr/>
    </dgm:pt>
    <dgm:pt modelId="{D9C5B6F9-3409-DC40-95B8-E7DF79B2E0AC}" type="pres">
      <dgm:prSet presAssocID="{BF0E4AFA-B8F8-7940-B24A-99F134DE19F6}" presName="parTx" presStyleLbl="alignNode1" presStyleIdx="1" presStyleCnt="4">
        <dgm:presLayoutVars>
          <dgm:chMax val="0"/>
          <dgm:chPref val="0"/>
          <dgm:bulletEnabled val="1"/>
        </dgm:presLayoutVars>
      </dgm:prSet>
      <dgm:spPr/>
    </dgm:pt>
    <dgm:pt modelId="{907A638C-22A4-D34A-9ADA-175CC17D264B}" type="pres">
      <dgm:prSet presAssocID="{BF0E4AFA-B8F8-7940-B24A-99F134DE19F6}" presName="desTx" presStyleLbl="alignAccFollowNode1" presStyleIdx="1" presStyleCnt="4">
        <dgm:presLayoutVars>
          <dgm:bulletEnabled val="1"/>
        </dgm:presLayoutVars>
      </dgm:prSet>
      <dgm:spPr/>
    </dgm:pt>
    <dgm:pt modelId="{23DC4054-F6A6-194E-A147-1819BA737BC4}" type="pres">
      <dgm:prSet presAssocID="{0CC1F95A-ABC5-C844-92B2-2C108ED00AD0}" presName="space" presStyleCnt="0"/>
      <dgm:spPr/>
    </dgm:pt>
    <dgm:pt modelId="{6D77A7B0-61FD-E14F-AE6C-21E63EB4345E}" type="pres">
      <dgm:prSet presAssocID="{CA3B809D-2CE2-174A-A7EE-8220608C2D45}" presName="composite" presStyleCnt="0"/>
      <dgm:spPr/>
    </dgm:pt>
    <dgm:pt modelId="{805B60DD-25F6-4441-8EA0-1365B3F5FD32}" type="pres">
      <dgm:prSet presAssocID="{CA3B809D-2CE2-174A-A7EE-8220608C2D45}" presName="parTx" presStyleLbl="alignNode1" presStyleIdx="2" presStyleCnt="4">
        <dgm:presLayoutVars>
          <dgm:chMax val="0"/>
          <dgm:chPref val="0"/>
          <dgm:bulletEnabled val="1"/>
        </dgm:presLayoutVars>
      </dgm:prSet>
      <dgm:spPr/>
    </dgm:pt>
    <dgm:pt modelId="{73BEE7B9-E4F8-E248-A5B9-CE372420A5F1}" type="pres">
      <dgm:prSet presAssocID="{CA3B809D-2CE2-174A-A7EE-8220608C2D45}" presName="desTx" presStyleLbl="alignAccFollowNode1" presStyleIdx="2" presStyleCnt="4">
        <dgm:presLayoutVars>
          <dgm:bulletEnabled val="1"/>
        </dgm:presLayoutVars>
      </dgm:prSet>
      <dgm:spPr/>
    </dgm:pt>
    <dgm:pt modelId="{4761453E-9F3C-C146-A444-9B9CFA3401F8}" type="pres">
      <dgm:prSet presAssocID="{93EDC7D8-D363-3741-B666-B102DC777E1D}" presName="space" presStyleCnt="0"/>
      <dgm:spPr/>
    </dgm:pt>
    <dgm:pt modelId="{F3F91E94-14A6-3648-B3EA-C01F5E706877}" type="pres">
      <dgm:prSet presAssocID="{307A709B-F28C-EA43-BB84-E20C0C81D217}" presName="composite" presStyleCnt="0"/>
      <dgm:spPr/>
    </dgm:pt>
    <dgm:pt modelId="{32F0B096-AB1E-3B40-BFDE-FC87761DE232}" type="pres">
      <dgm:prSet presAssocID="{307A709B-F28C-EA43-BB84-E20C0C81D217}" presName="parTx" presStyleLbl="alignNode1" presStyleIdx="3" presStyleCnt="4">
        <dgm:presLayoutVars>
          <dgm:chMax val="0"/>
          <dgm:chPref val="0"/>
          <dgm:bulletEnabled val="1"/>
        </dgm:presLayoutVars>
      </dgm:prSet>
      <dgm:spPr/>
    </dgm:pt>
    <dgm:pt modelId="{2AB3E04D-3959-0F48-B4B4-7A9EAA2F23A3}" type="pres">
      <dgm:prSet presAssocID="{307A709B-F28C-EA43-BB84-E20C0C81D217}" presName="desTx" presStyleLbl="alignAccFollowNode1" presStyleIdx="3" presStyleCnt="4">
        <dgm:presLayoutVars>
          <dgm:bulletEnabled val="1"/>
        </dgm:presLayoutVars>
      </dgm:prSet>
      <dgm:spPr/>
    </dgm:pt>
  </dgm:ptLst>
  <dgm:cxnLst>
    <dgm:cxn modelId="{AEB7C320-CC13-5949-840C-FCCCC5F7740B}" type="presOf" srcId="{CA3B809D-2CE2-174A-A7EE-8220608C2D45}" destId="{805B60DD-25F6-4441-8EA0-1365B3F5FD32}" srcOrd="0" destOrd="0" presId="urn:microsoft.com/office/officeart/2005/8/layout/hList1"/>
    <dgm:cxn modelId="{7E663F21-10A7-1743-A9CB-716E828E5713}" srcId="{3BBCDA12-6236-994F-9281-2E24381D351A}" destId="{307A709B-F28C-EA43-BB84-E20C0C81D217}" srcOrd="3" destOrd="0" parTransId="{70C53486-0C1D-D84F-8F0D-8863E3C656B4}" sibTransId="{62936774-BDBC-9842-9609-B8DE06D66166}"/>
    <dgm:cxn modelId="{8140C021-1997-7747-AFDC-CC7469DBF97A}" srcId="{307A709B-F28C-EA43-BB84-E20C0C81D217}" destId="{13652096-6E9B-D945-8745-946C8FCD429F}" srcOrd="0" destOrd="0" parTransId="{2BE59EEC-FA9E-E649-8B96-1D03A3F51197}" sibTransId="{F7CA7661-C1F3-FC4C-AC49-37D23472ED53}"/>
    <dgm:cxn modelId="{76EB443A-637B-7840-87D5-3D26F1B40BCE}" type="presOf" srcId="{BF0E4AFA-B8F8-7940-B24A-99F134DE19F6}" destId="{D9C5B6F9-3409-DC40-95B8-E7DF79B2E0AC}" srcOrd="0" destOrd="0" presId="urn:microsoft.com/office/officeart/2005/8/layout/hList1"/>
    <dgm:cxn modelId="{5A8D2563-7C59-D64D-8A31-87A9E0448C0B}" srcId="{BF0E4AFA-B8F8-7940-B24A-99F134DE19F6}" destId="{AD550E4F-1803-5149-9F25-F10E56777367}" srcOrd="0" destOrd="0" parTransId="{2E7F3448-E615-A74A-A70B-3DAA9232BBCD}" sibTransId="{47E1F274-E4F3-F241-B41F-AC08D40AFAE7}"/>
    <dgm:cxn modelId="{4535D445-D704-9F4C-80C7-CA5395F777F1}" type="presOf" srcId="{49CF2C60-E3F7-BB46-9DC8-32DE6A83CE87}" destId="{67A12D8A-57FA-124B-B510-490D334E0D45}" srcOrd="0" destOrd="0" presId="urn:microsoft.com/office/officeart/2005/8/layout/hList1"/>
    <dgm:cxn modelId="{CE64C56B-6304-274A-AAA3-05261759F372}" type="presOf" srcId="{13652096-6E9B-D945-8745-946C8FCD429F}" destId="{2AB3E04D-3959-0F48-B4B4-7A9EAA2F23A3}" srcOrd="0" destOrd="0" presId="urn:microsoft.com/office/officeart/2005/8/layout/hList1"/>
    <dgm:cxn modelId="{78A73F4C-F22C-D14E-9902-9C8F32A2CE93}" type="presOf" srcId="{3BBCDA12-6236-994F-9281-2E24381D351A}" destId="{FBCF83FE-5EA8-3F44-8762-0E0E52C30118}" srcOrd="0" destOrd="0" presId="urn:microsoft.com/office/officeart/2005/8/layout/hList1"/>
    <dgm:cxn modelId="{D3044E72-BC08-F24E-AF34-6EE5646FF761}" type="presOf" srcId="{A40B4204-89F9-064D-A56F-B42A21851AFB}" destId="{85E37ABD-BD38-D144-9B6E-BDEEB16103DE}" srcOrd="0" destOrd="0" presId="urn:microsoft.com/office/officeart/2005/8/layout/hList1"/>
    <dgm:cxn modelId="{78423D8E-9DEF-A044-82E6-23AE03AAB15B}" type="presOf" srcId="{AD550E4F-1803-5149-9F25-F10E56777367}" destId="{907A638C-22A4-D34A-9ADA-175CC17D264B}" srcOrd="0" destOrd="0" presId="urn:microsoft.com/office/officeart/2005/8/layout/hList1"/>
    <dgm:cxn modelId="{1346CD96-1DB1-1346-B8D7-13E3EF0A245B}" srcId="{3BBCDA12-6236-994F-9281-2E24381D351A}" destId="{CA3B809D-2CE2-174A-A7EE-8220608C2D45}" srcOrd="2" destOrd="0" parTransId="{A3A21EE4-158D-4047-9E8B-A56CE21762BA}" sibTransId="{93EDC7D8-D363-3741-B666-B102DC777E1D}"/>
    <dgm:cxn modelId="{69D454A3-3897-9A45-B85E-DFB9C8721609}" srcId="{3BBCDA12-6236-994F-9281-2E24381D351A}" destId="{BF0E4AFA-B8F8-7940-B24A-99F134DE19F6}" srcOrd="1" destOrd="0" parTransId="{B52F0B79-FC9C-B54E-97C7-117CB892F7C4}" sibTransId="{0CC1F95A-ABC5-C844-92B2-2C108ED00AD0}"/>
    <dgm:cxn modelId="{CB5730A7-9BD5-9B43-A7EF-FA599B874D37}" srcId="{A40B4204-89F9-064D-A56F-B42A21851AFB}" destId="{49CF2C60-E3F7-BB46-9DC8-32DE6A83CE87}" srcOrd="0" destOrd="0" parTransId="{47EDC705-4553-374B-AB2F-17C92C3F1AE2}" sibTransId="{A9C807EB-BF92-764A-B2BD-35155A948A00}"/>
    <dgm:cxn modelId="{2F34A4C0-4A2F-4F45-9C0C-C1CFCEDCA24B}" type="presOf" srcId="{307A709B-F28C-EA43-BB84-E20C0C81D217}" destId="{32F0B096-AB1E-3B40-BFDE-FC87761DE232}" srcOrd="0" destOrd="0" presId="urn:microsoft.com/office/officeart/2005/8/layout/hList1"/>
    <dgm:cxn modelId="{4A5FAFC9-8467-7442-B807-89347422B45C}" srcId="{3BBCDA12-6236-994F-9281-2E24381D351A}" destId="{A40B4204-89F9-064D-A56F-B42A21851AFB}" srcOrd="0" destOrd="0" parTransId="{0D687D8A-8DDF-204A-9615-68ED3D795A89}" sibTransId="{6A9BFE88-0826-1544-8F5A-949F238A02A7}"/>
    <dgm:cxn modelId="{27B32CD2-7C42-9D40-B614-CB54476DC6B7}" type="presOf" srcId="{7422968E-0CC2-7B44-AAA0-D01127094FB2}" destId="{73BEE7B9-E4F8-E248-A5B9-CE372420A5F1}" srcOrd="0" destOrd="0" presId="urn:microsoft.com/office/officeart/2005/8/layout/hList1"/>
    <dgm:cxn modelId="{703203FC-34DD-B948-AC35-DE660D730B0B}" srcId="{CA3B809D-2CE2-174A-A7EE-8220608C2D45}" destId="{7422968E-0CC2-7B44-AAA0-D01127094FB2}" srcOrd="0" destOrd="0" parTransId="{2AA0221A-01AA-D54B-88A4-BEFBB2791BCF}" sibTransId="{5C4AE291-4BA0-8342-9C6D-2B96D97EC724}"/>
    <dgm:cxn modelId="{D5EF8133-88E7-3D45-94E2-763219F2B2DA}" type="presParOf" srcId="{FBCF83FE-5EA8-3F44-8762-0E0E52C30118}" destId="{C128F1DB-E007-5F41-A9CB-E1CCD252E501}" srcOrd="0" destOrd="0" presId="urn:microsoft.com/office/officeart/2005/8/layout/hList1"/>
    <dgm:cxn modelId="{2BE7AEF2-DBDA-D847-895B-8D7CD2DBF9B2}" type="presParOf" srcId="{C128F1DB-E007-5F41-A9CB-E1CCD252E501}" destId="{85E37ABD-BD38-D144-9B6E-BDEEB16103DE}" srcOrd="0" destOrd="0" presId="urn:microsoft.com/office/officeart/2005/8/layout/hList1"/>
    <dgm:cxn modelId="{51A16EFE-288B-A849-BE6F-817B2F748AE5}" type="presParOf" srcId="{C128F1DB-E007-5F41-A9CB-E1CCD252E501}" destId="{67A12D8A-57FA-124B-B510-490D334E0D45}" srcOrd="1" destOrd="0" presId="urn:microsoft.com/office/officeart/2005/8/layout/hList1"/>
    <dgm:cxn modelId="{E91C2964-4BD2-8F4D-A35A-2A14AB6F0C28}" type="presParOf" srcId="{FBCF83FE-5EA8-3F44-8762-0E0E52C30118}" destId="{C4668D5A-6D4E-B648-A144-1F17D5CE73BC}" srcOrd="1" destOrd="0" presId="urn:microsoft.com/office/officeart/2005/8/layout/hList1"/>
    <dgm:cxn modelId="{EB7CE43F-5D82-764D-B29F-52D4B2602A1F}" type="presParOf" srcId="{FBCF83FE-5EA8-3F44-8762-0E0E52C30118}" destId="{80F2F450-518A-594D-BF7D-27BCFC974424}" srcOrd="2" destOrd="0" presId="urn:microsoft.com/office/officeart/2005/8/layout/hList1"/>
    <dgm:cxn modelId="{DDDBB916-1490-5A48-BAFF-EE2D6C1B266C}" type="presParOf" srcId="{80F2F450-518A-594D-BF7D-27BCFC974424}" destId="{D9C5B6F9-3409-DC40-95B8-E7DF79B2E0AC}" srcOrd="0" destOrd="0" presId="urn:microsoft.com/office/officeart/2005/8/layout/hList1"/>
    <dgm:cxn modelId="{939530FC-58A6-8B40-BC76-CCF63722F83D}" type="presParOf" srcId="{80F2F450-518A-594D-BF7D-27BCFC974424}" destId="{907A638C-22A4-D34A-9ADA-175CC17D264B}" srcOrd="1" destOrd="0" presId="urn:microsoft.com/office/officeart/2005/8/layout/hList1"/>
    <dgm:cxn modelId="{F424C207-FB28-0040-88F1-44F75403E889}" type="presParOf" srcId="{FBCF83FE-5EA8-3F44-8762-0E0E52C30118}" destId="{23DC4054-F6A6-194E-A147-1819BA737BC4}" srcOrd="3" destOrd="0" presId="urn:microsoft.com/office/officeart/2005/8/layout/hList1"/>
    <dgm:cxn modelId="{D9844659-6C9F-FC43-94B2-9236026C2215}" type="presParOf" srcId="{FBCF83FE-5EA8-3F44-8762-0E0E52C30118}" destId="{6D77A7B0-61FD-E14F-AE6C-21E63EB4345E}" srcOrd="4" destOrd="0" presId="urn:microsoft.com/office/officeart/2005/8/layout/hList1"/>
    <dgm:cxn modelId="{8FC3B1E3-16D6-794A-86A0-ACA1BC4A96ED}" type="presParOf" srcId="{6D77A7B0-61FD-E14F-AE6C-21E63EB4345E}" destId="{805B60DD-25F6-4441-8EA0-1365B3F5FD32}" srcOrd="0" destOrd="0" presId="urn:microsoft.com/office/officeart/2005/8/layout/hList1"/>
    <dgm:cxn modelId="{59528B9D-8EA7-6E4D-AA9A-36A792BED942}" type="presParOf" srcId="{6D77A7B0-61FD-E14F-AE6C-21E63EB4345E}" destId="{73BEE7B9-E4F8-E248-A5B9-CE372420A5F1}" srcOrd="1" destOrd="0" presId="urn:microsoft.com/office/officeart/2005/8/layout/hList1"/>
    <dgm:cxn modelId="{0C73ACF1-3334-A84F-8F76-A84753047045}" type="presParOf" srcId="{FBCF83FE-5EA8-3F44-8762-0E0E52C30118}" destId="{4761453E-9F3C-C146-A444-9B9CFA3401F8}" srcOrd="5" destOrd="0" presId="urn:microsoft.com/office/officeart/2005/8/layout/hList1"/>
    <dgm:cxn modelId="{0A889EA2-9380-804E-B5CD-68FD210F7EDF}" type="presParOf" srcId="{FBCF83FE-5EA8-3F44-8762-0E0E52C30118}" destId="{F3F91E94-14A6-3648-B3EA-C01F5E706877}" srcOrd="6" destOrd="0" presId="urn:microsoft.com/office/officeart/2005/8/layout/hList1"/>
    <dgm:cxn modelId="{FB8D0274-3FCA-2D4F-BB54-97EEE5D1A4F3}" type="presParOf" srcId="{F3F91E94-14A6-3648-B3EA-C01F5E706877}" destId="{32F0B096-AB1E-3B40-BFDE-FC87761DE232}" srcOrd="0" destOrd="0" presId="urn:microsoft.com/office/officeart/2005/8/layout/hList1"/>
    <dgm:cxn modelId="{E9B0F58A-7289-2542-802F-AD65DDCD67FA}" type="presParOf" srcId="{F3F91E94-14A6-3648-B3EA-C01F5E706877}" destId="{2AB3E04D-3959-0F48-B4B4-7A9EAA2F23A3}"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4592E38C-5B0B-A446-8632-1B5EE983D146}" type="doc">
      <dgm:prSet loTypeId="urn:microsoft.com/office/officeart/2005/8/layout/list1" loCatId="" qsTypeId="urn:microsoft.com/office/officeart/2005/8/quickstyle/simple1" qsCatId="simple" csTypeId="urn:microsoft.com/office/officeart/2005/8/colors/accent1_2" csCatId="accent1" phldr="1"/>
      <dgm:spPr/>
      <dgm:t xml:space="preserve">
        <a:bodyPr/>
        <a:lstStyle/>
        <a:p>
          <a:endParaRPr lang="en-US"/>
        </a:p>
      </dgm:t>
    </dgm:pt>
    <dgm:pt modelId="{FCFE04D7-118E-F545-A1F9-CAD6EED145E2}">
      <dgm:prSet phldrT="[Text]"/>
      <dgm:spPr/>
      <dgm:t xml:space="preserve">
        <a:bodyPr/>
        <a:lstStyle/>
        <a:p>
          <a:r>
            <a:rPr lang="en-US" dirty="0"/>
            <a:t>Identify Exact Duplicates</a:t>
          </a:r>
        </a:p>
      </dgm:t>
    </dgm:pt>
    <dgm:pt modelId="{3185C97A-761B-2B4F-A701-0D0E909B17BA}" type="parTrans" cxnId="{FD7B46FF-FBE0-6344-AD22-69EDF7FB8579}">
      <dgm:prSet/>
      <dgm:spPr/>
      <dgm:t xml:space="preserve">
        <a:bodyPr/>
        <a:lstStyle/>
        <a:p>
          <a:endParaRPr lang="en-US"/>
        </a:p>
      </dgm:t>
    </dgm:pt>
    <dgm:pt modelId="{72DC7C55-E849-7242-ABA3-C9443636253C}" type="sibTrans" cxnId="{FD7B46FF-FBE0-6344-AD22-69EDF7FB8579}">
      <dgm:prSet/>
      <dgm:spPr/>
      <dgm:t xml:space="preserve">
        <a:bodyPr/>
        <a:lstStyle/>
        <a:p>
          <a:endParaRPr lang="en-US"/>
        </a:p>
      </dgm:t>
    </dgm:pt>
    <dgm:pt modelId="{4AFBB9A5-B6DB-7648-9A97-5B9A7144A979}">
      <dgm:prSet phldrT="[Text]"/>
      <dgm:spPr/>
      <dgm:t xml:space="preserve">
        <a:bodyPr/>
        <a:lstStyle/>
        <a:p>
          <a:r>
            <a:rPr lang="en-US" dirty="0"/>
            <a:t>Find records that match completely across all fields.</a:t>
          </a:r>
        </a:p>
      </dgm:t>
    </dgm:pt>
    <dgm:pt modelId="{22208A40-8DCF-FB40-8086-4D329ABAD58D}" type="parTrans" cxnId="{5C6BAA50-29DD-5045-8455-389DC2675C17}">
      <dgm:prSet/>
      <dgm:spPr/>
      <dgm:t xml:space="preserve">
        <a:bodyPr/>
        <a:lstStyle/>
        <a:p>
          <a:endParaRPr lang="en-US"/>
        </a:p>
      </dgm:t>
    </dgm:pt>
    <dgm:pt modelId="{29ABDF27-3FF0-1847-9DE5-DBF70DCD4D0C}" type="sibTrans" cxnId="{5C6BAA50-29DD-5045-8455-389DC2675C17}">
      <dgm:prSet/>
      <dgm:spPr/>
      <dgm:t xml:space="preserve">
        <a:bodyPr/>
        <a:lstStyle/>
        <a:p>
          <a:endParaRPr lang="en-US"/>
        </a:p>
      </dgm:t>
    </dgm:pt>
    <dgm:pt modelId="{47508623-BD11-AB4E-98B9-69D6C1F9E153}">
      <dgm:prSet phldrT="[Text]"/>
      <dgm:spPr/>
      <dgm:t xml:space="preserve">
        <a:bodyPr/>
        <a:lstStyle/>
        <a:p>
          <a:r>
            <a:rPr lang="en-US" dirty="0"/>
            <a:t>Check for Partial Duplicates</a:t>
          </a:r>
        </a:p>
      </dgm:t>
    </dgm:pt>
    <dgm:pt modelId="{5CD7E64E-CBA8-064B-9973-40CEBC66F435}" type="parTrans" cxnId="{C654FF02-7AF2-6842-891C-72789BEE35E7}">
      <dgm:prSet/>
      <dgm:spPr/>
      <dgm:t xml:space="preserve">
        <a:bodyPr/>
        <a:lstStyle/>
        <a:p>
          <a:endParaRPr lang="en-US"/>
        </a:p>
      </dgm:t>
    </dgm:pt>
    <dgm:pt modelId="{D0EA1A15-77DD-D649-9752-F67F8CB5C54B}" type="sibTrans" cxnId="{C654FF02-7AF2-6842-891C-72789BEE35E7}">
      <dgm:prSet/>
      <dgm:spPr/>
      <dgm:t xml:space="preserve">
        <a:bodyPr/>
        <a:lstStyle/>
        <a:p>
          <a:endParaRPr lang="en-US"/>
        </a:p>
      </dgm:t>
    </dgm:pt>
    <dgm:pt modelId="{C84BD61C-C65F-5847-8DC3-C5CAB9C6E172}">
      <dgm:prSet phldrT="[Text]"/>
      <dgm:spPr/>
      <dgm:t xml:space="preserve">
        <a:bodyPr/>
        <a:lstStyle/>
        <a:p>
          <a:r>
            <a:rPr lang="en-US" dirty="0"/>
            <a:t>Look for records that match on key fields but differ slightly in others.</a:t>
          </a:r>
        </a:p>
      </dgm:t>
    </dgm:pt>
    <dgm:pt modelId="{A0008CDF-BE36-4A4B-B581-8B77296AC6B0}" type="parTrans" cxnId="{32583C81-D370-0B4B-BCE9-60A35EC10018}">
      <dgm:prSet/>
      <dgm:spPr/>
      <dgm:t xml:space="preserve">
        <a:bodyPr/>
        <a:lstStyle/>
        <a:p>
          <a:endParaRPr lang="en-US"/>
        </a:p>
      </dgm:t>
    </dgm:pt>
    <dgm:pt modelId="{625638FE-EE0A-0F43-B4BB-647CBD8C3E3A}" type="sibTrans" cxnId="{32583C81-D370-0B4B-BCE9-60A35EC10018}">
      <dgm:prSet/>
      <dgm:spPr/>
      <dgm:t xml:space="preserve">
        <a:bodyPr/>
        <a:lstStyle/>
        <a:p>
          <a:endParaRPr lang="en-US"/>
        </a:p>
      </dgm:t>
    </dgm:pt>
    <dgm:pt modelId="{400B3C18-A152-2041-A1BC-1DB124D5696E}">
      <dgm:prSet phldrT="[Text]"/>
      <dgm:spPr/>
      <dgm:t xml:space="preserve">
        <a:bodyPr/>
        <a:lstStyle/>
        <a:p>
          <a:r>
            <a:rPr lang="en-US" dirty="0"/>
            <a:t>Decide Which to Keep</a:t>
          </a:r>
        </a:p>
      </dgm:t>
    </dgm:pt>
    <dgm:pt modelId="{C951F21B-7415-8343-93CF-F1103948D06E}" type="parTrans" cxnId="{D129A8C9-23D3-BD45-ABC0-FF348512102E}">
      <dgm:prSet/>
      <dgm:spPr/>
      <dgm:t xml:space="preserve">
        <a:bodyPr/>
        <a:lstStyle/>
        <a:p>
          <a:endParaRPr lang="en-US"/>
        </a:p>
      </dgm:t>
    </dgm:pt>
    <dgm:pt modelId="{CDFB2175-30D0-BB44-B334-BA0AFC66A803}" type="sibTrans" cxnId="{D129A8C9-23D3-BD45-ABC0-FF348512102E}">
      <dgm:prSet/>
      <dgm:spPr/>
      <dgm:t xml:space="preserve">
        <a:bodyPr/>
        <a:lstStyle/>
        <a:p>
          <a:endParaRPr lang="en-US"/>
        </a:p>
      </dgm:t>
    </dgm:pt>
    <dgm:pt modelId="{C2B03391-DD2D-4246-9806-AAC6496F19C0}">
      <dgm:prSet phldrT="[Text]"/>
      <dgm:spPr/>
      <dgm:t xml:space="preserve">
        <a:bodyPr/>
        <a:lstStyle/>
        <a:p>
          <a:r>
            <a:rPr lang="en-US" dirty="0"/>
            <a:t>For partial duplicates, determine which record is more complete or accurate.</a:t>
          </a:r>
        </a:p>
      </dgm:t>
    </dgm:pt>
    <dgm:pt modelId="{CF9104BD-1BA6-EA40-85F8-54EF65B4C4F0}" type="parTrans" cxnId="{4066851C-F588-0D44-9FE5-CCFD774A51E3}">
      <dgm:prSet/>
      <dgm:spPr/>
      <dgm:t xml:space="preserve">
        <a:bodyPr/>
        <a:lstStyle/>
        <a:p>
          <a:endParaRPr lang="en-US"/>
        </a:p>
      </dgm:t>
    </dgm:pt>
    <dgm:pt modelId="{6B3924C8-CF65-DA4C-ABA5-E4FB0DEFDD49}" type="sibTrans" cxnId="{4066851C-F588-0D44-9FE5-CCFD774A51E3}">
      <dgm:prSet/>
      <dgm:spPr/>
      <dgm:t xml:space="preserve">
        <a:bodyPr/>
        <a:lstStyle/>
        <a:p>
          <a:endParaRPr lang="en-US"/>
        </a:p>
      </dgm:t>
    </dgm:pt>
    <dgm:pt modelId="{B2527EDC-39B9-D94F-9174-7C9FC7D4C00A}" type="pres">
      <dgm:prSet presAssocID="{4592E38C-5B0B-A446-8632-1B5EE983D146}" presName="linear" presStyleCnt="0">
        <dgm:presLayoutVars>
          <dgm:dir/>
          <dgm:animLvl val="lvl"/>
          <dgm:resizeHandles val="exact"/>
        </dgm:presLayoutVars>
      </dgm:prSet>
      <dgm:spPr/>
    </dgm:pt>
    <dgm:pt modelId="{BBDE442D-B378-3E43-9235-B7F41DC506BE}" type="pres">
      <dgm:prSet presAssocID="{FCFE04D7-118E-F545-A1F9-CAD6EED145E2}" presName="parentLin" presStyleCnt="0"/>
      <dgm:spPr/>
    </dgm:pt>
    <dgm:pt modelId="{AB4D9EA2-995E-634A-9AC6-20FFC851F52D}" type="pres">
      <dgm:prSet presAssocID="{FCFE04D7-118E-F545-A1F9-CAD6EED145E2}" presName="parentLeftMargin" presStyleLbl="node1" presStyleIdx="0" presStyleCnt="3"/>
      <dgm:spPr/>
    </dgm:pt>
    <dgm:pt modelId="{13746529-5D8E-1A46-84C5-AD59F77B9906}" type="pres">
      <dgm:prSet presAssocID="{FCFE04D7-118E-F545-A1F9-CAD6EED145E2}" presName="parentText" presStyleLbl="node1" presStyleIdx="0" presStyleCnt="3">
        <dgm:presLayoutVars>
          <dgm:chMax val="0"/>
          <dgm:bulletEnabled val="1"/>
        </dgm:presLayoutVars>
      </dgm:prSet>
      <dgm:spPr/>
    </dgm:pt>
    <dgm:pt modelId="{516681AB-C25E-5549-B174-F5928A8B9BC6}" type="pres">
      <dgm:prSet presAssocID="{FCFE04D7-118E-F545-A1F9-CAD6EED145E2}" presName="negativeSpace" presStyleCnt="0"/>
      <dgm:spPr/>
    </dgm:pt>
    <dgm:pt modelId="{32BB75B0-223B-7240-BA27-65CC0A031751}" type="pres">
      <dgm:prSet presAssocID="{FCFE04D7-118E-F545-A1F9-CAD6EED145E2}" presName="childText" presStyleLbl="conFgAcc1" presStyleIdx="0" presStyleCnt="3">
        <dgm:presLayoutVars>
          <dgm:bulletEnabled val="1"/>
        </dgm:presLayoutVars>
      </dgm:prSet>
      <dgm:spPr/>
    </dgm:pt>
    <dgm:pt modelId="{422E28DF-2DA0-C644-B9A0-CBEAAD656616}" type="pres">
      <dgm:prSet presAssocID="{72DC7C55-E849-7242-ABA3-C9443636253C}" presName="spaceBetweenRectangles" presStyleCnt="0"/>
      <dgm:spPr/>
    </dgm:pt>
    <dgm:pt modelId="{0E92A245-3874-5144-8F4C-32EF4D03897F}" type="pres">
      <dgm:prSet presAssocID="{47508623-BD11-AB4E-98B9-69D6C1F9E153}" presName="parentLin" presStyleCnt="0"/>
      <dgm:spPr/>
    </dgm:pt>
    <dgm:pt modelId="{C720D9BC-371D-3A4A-AF1B-7294794FFF1E}" type="pres">
      <dgm:prSet presAssocID="{47508623-BD11-AB4E-98B9-69D6C1F9E153}" presName="parentLeftMargin" presStyleLbl="node1" presStyleIdx="0" presStyleCnt="3"/>
      <dgm:spPr/>
    </dgm:pt>
    <dgm:pt modelId="{6A764A0E-A3AD-A244-9376-39CDC71AF860}" type="pres">
      <dgm:prSet presAssocID="{47508623-BD11-AB4E-98B9-69D6C1F9E153}" presName="parentText" presStyleLbl="node1" presStyleIdx="1" presStyleCnt="3">
        <dgm:presLayoutVars>
          <dgm:chMax val="0"/>
          <dgm:bulletEnabled val="1"/>
        </dgm:presLayoutVars>
      </dgm:prSet>
      <dgm:spPr/>
    </dgm:pt>
    <dgm:pt modelId="{0F65BDA1-613A-BE43-B28E-C51B2EB80CD4}" type="pres">
      <dgm:prSet presAssocID="{47508623-BD11-AB4E-98B9-69D6C1F9E153}" presName="negativeSpace" presStyleCnt="0"/>
      <dgm:spPr/>
    </dgm:pt>
    <dgm:pt modelId="{55325084-28DE-7A41-8A14-145E540C1E34}" type="pres">
      <dgm:prSet presAssocID="{47508623-BD11-AB4E-98B9-69D6C1F9E153}" presName="childText" presStyleLbl="conFgAcc1" presStyleIdx="1" presStyleCnt="3">
        <dgm:presLayoutVars>
          <dgm:bulletEnabled val="1"/>
        </dgm:presLayoutVars>
      </dgm:prSet>
      <dgm:spPr/>
    </dgm:pt>
    <dgm:pt modelId="{1B9FDB5F-BF0F-CE4B-A245-730FC7242853}" type="pres">
      <dgm:prSet presAssocID="{D0EA1A15-77DD-D649-9752-F67F8CB5C54B}" presName="spaceBetweenRectangles" presStyleCnt="0"/>
      <dgm:spPr/>
    </dgm:pt>
    <dgm:pt modelId="{50588685-26E9-7041-A085-7BB960BC65D5}" type="pres">
      <dgm:prSet presAssocID="{400B3C18-A152-2041-A1BC-1DB124D5696E}" presName="parentLin" presStyleCnt="0"/>
      <dgm:spPr/>
    </dgm:pt>
    <dgm:pt modelId="{6128AD00-B08D-004A-8D5A-69847160B52B}" type="pres">
      <dgm:prSet presAssocID="{400B3C18-A152-2041-A1BC-1DB124D5696E}" presName="parentLeftMargin" presStyleLbl="node1" presStyleIdx="1" presStyleCnt="3"/>
      <dgm:spPr/>
    </dgm:pt>
    <dgm:pt modelId="{2FB8322E-B26E-7F4B-BE96-62A727230002}" type="pres">
      <dgm:prSet presAssocID="{400B3C18-A152-2041-A1BC-1DB124D5696E}" presName="parentText" presStyleLbl="node1" presStyleIdx="2" presStyleCnt="3">
        <dgm:presLayoutVars>
          <dgm:chMax val="0"/>
          <dgm:bulletEnabled val="1"/>
        </dgm:presLayoutVars>
      </dgm:prSet>
      <dgm:spPr/>
    </dgm:pt>
    <dgm:pt modelId="{9FAC2EA8-10FD-4A4D-93FF-C34126580FFA}" type="pres">
      <dgm:prSet presAssocID="{400B3C18-A152-2041-A1BC-1DB124D5696E}" presName="negativeSpace" presStyleCnt="0"/>
      <dgm:spPr/>
    </dgm:pt>
    <dgm:pt modelId="{28C8B4EA-EDEE-2D4F-93E2-9EAF3EC9E72E}" type="pres">
      <dgm:prSet presAssocID="{400B3C18-A152-2041-A1BC-1DB124D5696E}" presName="childText" presStyleLbl="conFgAcc1" presStyleIdx="2" presStyleCnt="3">
        <dgm:presLayoutVars>
          <dgm:bulletEnabled val="1"/>
        </dgm:presLayoutVars>
      </dgm:prSet>
      <dgm:spPr/>
    </dgm:pt>
  </dgm:ptLst>
  <dgm:cxnLst>
    <dgm:cxn modelId="{C654FF02-7AF2-6842-891C-72789BEE35E7}" srcId="{4592E38C-5B0B-A446-8632-1B5EE983D146}" destId="{47508623-BD11-AB4E-98B9-69D6C1F9E153}" srcOrd="1" destOrd="0" parTransId="{5CD7E64E-CBA8-064B-9973-40CEBC66F435}" sibTransId="{D0EA1A15-77DD-D649-9752-F67F8CB5C54B}"/>
    <dgm:cxn modelId="{2649441B-B6D1-9B49-AAFB-206E65848DCE}" type="presOf" srcId="{FCFE04D7-118E-F545-A1F9-CAD6EED145E2}" destId="{AB4D9EA2-995E-634A-9AC6-20FFC851F52D}" srcOrd="0" destOrd="0" presId="urn:microsoft.com/office/officeart/2005/8/layout/list1"/>
    <dgm:cxn modelId="{4066851C-F588-0D44-9FE5-CCFD774A51E3}" srcId="{400B3C18-A152-2041-A1BC-1DB124D5696E}" destId="{C2B03391-DD2D-4246-9806-AAC6496F19C0}" srcOrd="0" destOrd="0" parTransId="{CF9104BD-1BA6-EA40-85F8-54EF65B4C4F0}" sibTransId="{6B3924C8-CF65-DA4C-ABA5-E4FB0DEFDD49}"/>
    <dgm:cxn modelId="{70B96325-721B-8340-B7D8-4F970843879C}" type="presOf" srcId="{4AFBB9A5-B6DB-7648-9A97-5B9A7144A979}" destId="{32BB75B0-223B-7240-BA27-65CC0A031751}" srcOrd="0" destOrd="0" presId="urn:microsoft.com/office/officeart/2005/8/layout/list1"/>
    <dgm:cxn modelId="{0AF0202C-B532-7D4B-B5E4-8A09EDFEEEE2}" type="presOf" srcId="{47508623-BD11-AB4E-98B9-69D6C1F9E153}" destId="{6A764A0E-A3AD-A244-9376-39CDC71AF860}" srcOrd="1" destOrd="0" presId="urn:microsoft.com/office/officeart/2005/8/layout/list1"/>
    <dgm:cxn modelId="{6F554C31-D884-5545-BC0C-D43413E27FEF}" type="presOf" srcId="{C84BD61C-C65F-5847-8DC3-C5CAB9C6E172}" destId="{55325084-28DE-7A41-8A14-145E540C1E34}" srcOrd="0" destOrd="0" presId="urn:microsoft.com/office/officeart/2005/8/layout/list1"/>
    <dgm:cxn modelId="{F4A24644-A0C6-F240-8AFF-BBB3DCAD8137}" type="presOf" srcId="{4592E38C-5B0B-A446-8632-1B5EE983D146}" destId="{B2527EDC-39B9-D94F-9174-7C9FC7D4C00A}" srcOrd="0" destOrd="0" presId="urn:microsoft.com/office/officeart/2005/8/layout/list1"/>
    <dgm:cxn modelId="{5C6BAA50-29DD-5045-8455-389DC2675C17}" srcId="{FCFE04D7-118E-F545-A1F9-CAD6EED145E2}" destId="{4AFBB9A5-B6DB-7648-9A97-5B9A7144A979}" srcOrd="0" destOrd="0" parTransId="{22208A40-8DCF-FB40-8086-4D329ABAD58D}" sibTransId="{29ABDF27-3FF0-1847-9DE5-DBF70DCD4D0C}"/>
    <dgm:cxn modelId="{32583C81-D370-0B4B-BCE9-60A35EC10018}" srcId="{47508623-BD11-AB4E-98B9-69D6C1F9E153}" destId="{C84BD61C-C65F-5847-8DC3-C5CAB9C6E172}" srcOrd="0" destOrd="0" parTransId="{A0008CDF-BE36-4A4B-B581-8B77296AC6B0}" sibTransId="{625638FE-EE0A-0F43-B4BB-647CBD8C3E3A}"/>
    <dgm:cxn modelId="{B1B32082-CAF4-9848-9994-798C2C56EF49}" type="presOf" srcId="{47508623-BD11-AB4E-98B9-69D6C1F9E153}" destId="{C720D9BC-371D-3A4A-AF1B-7294794FFF1E}" srcOrd="0" destOrd="0" presId="urn:microsoft.com/office/officeart/2005/8/layout/list1"/>
    <dgm:cxn modelId="{1B665586-7429-ED4D-9C62-3589D481A234}" type="presOf" srcId="{C2B03391-DD2D-4246-9806-AAC6496F19C0}" destId="{28C8B4EA-EDEE-2D4F-93E2-9EAF3EC9E72E}" srcOrd="0" destOrd="0" presId="urn:microsoft.com/office/officeart/2005/8/layout/list1"/>
    <dgm:cxn modelId="{11110FA4-B88F-5B42-B2C3-A883D56DCD5B}" type="presOf" srcId="{FCFE04D7-118E-F545-A1F9-CAD6EED145E2}" destId="{13746529-5D8E-1A46-84C5-AD59F77B9906}" srcOrd="1" destOrd="0" presId="urn:microsoft.com/office/officeart/2005/8/layout/list1"/>
    <dgm:cxn modelId="{032F50BA-A160-974C-A2F0-877421410922}" type="presOf" srcId="{400B3C18-A152-2041-A1BC-1DB124D5696E}" destId="{2FB8322E-B26E-7F4B-BE96-62A727230002}" srcOrd="1" destOrd="0" presId="urn:microsoft.com/office/officeart/2005/8/layout/list1"/>
    <dgm:cxn modelId="{D129A8C9-23D3-BD45-ABC0-FF348512102E}" srcId="{4592E38C-5B0B-A446-8632-1B5EE983D146}" destId="{400B3C18-A152-2041-A1BC-1DB124D5696E}" srcOrd="2" destOrd="0" parTransId="{C951F21B-7415-8343-93CF-F1103948D06E}" sibTransId="{CDFB2175-30D0-BB44-B334-BA0AFC66A803}"/>
    <dgm:cxn modelId="{EF33CDF2-0300-A84C-8A5F-A280B7FED275}" type="presOf" srcId="{400B3C18-A152-2041-A1BC-1DB124D5696E}" destId="{6128AD00-B08D-004A-8D5A-69847160B52B}" srcOrd="0" destOrd="0" presId="urn:microsoft.com/office/officeart/2005/8/layout/list1"/>
    <dgm:cxn modelId="{FD7B46FF-FBE0-6344-AD22-69EDF7FB8579}" srcId="{4592E38C-5B0B-A446-8632-1B5EE983D146}" destId="{FCFE04D7-118E-F545-A1F9-CAD6EED145E2}" srcOrd="0" destOrd="0" parTransId="{3185C97A-761B-2B4F-A701-0D0E909B17BA}" sibTransId="{72DC7C55-E849-7242-ABA3-C9443636253C}"/>
    <dgm:cxn modelId="{A6C65EF6-E63E-A943-AF8F-635CF7550071}" type="presParOf" srcId="{B2527EDC-39B9-D94F-9174-7C9FC7D4C00A}" destId="{BBDE442D-B378-3E43-9235-B7F41DC506BE}" srcOrd="0" destOrd="0" presId="urn:microsoft.com/office/officeart/2005/8/layout/list1"/>
    <dgm:cxn modelId="{89416D36-E988-784C-BCF8-44613C7FF2F9}" type="presParOf" srcId="{BBDE442D-B378-3E43-9235-B7F41DC506BE}" destId="{AB4D9EA2-995E-634A-9AC6-20FFC851F52D}" srcOrd="0" destOrd="0" presId="urn:microsoft.com/office/officeart/2005/8/layout/list1"/>
    <dgm:cxn modelId="{FD12636C-1A63-7540-BCF9-1C3D96851137}" type="presParOf" srcId="{BBDE442D-B378-3E43-9235-B7F41DC506BE}" destId="{13746529-5D8E-1A46-84C5-AD59F77B9906}" srcOrd="1" destOrd="0" presId="urn:microsoft.com/office/officeart/2005/8/layout/list1"/>
    <dgm:cxn modelId="{44A43A0F-42A3-DB4C-BA90-6478D1BAD2FE}" type="presParOf" srcId="{B2527EDC-39B9-D94F-9174-7C9FC7D4C00A}" destId="{516681AB-C25E-5549-B174-F5928A8B9BC6}" srcOrd="1" destOrd="0" presId="urn:microsoft.com/office/officeart/2005/8/layout/list1"/>
    <dgm:cxn modelId="{77685973-2740-CD41-BAED-CD05449C17BD}" type="presParOf" srcId="{B2527EDC-39B9-D94F-9174-7C9FC7D4C00A}" destId="{32BB75B0-223B-7240-BA27-65CC0A031751}" srcOrd="2" destOrd="0" presId="urn:microsoft.com/office/officeart/2005/8/layout/list1"/>
    <dgm:cxn modelId="{B98942BA-1424-A141-AA1A-6E3709040EFE}" type="presParOf" srcId="{B2527EDC-39B9-D94F-9174-7C9FC7D4C00A}" destId="{422E28DF-2DA0-C644-B9A0-CBEAAD656616}" srcOrd="3" destOrd="0" presId="urn:microsoft.com/office/officeart/2005/8/layout/list1"/>
    <dgm:cxn modelId="{05C7D76A-B5DF-0B49-9CB1-49CA8A1093A7}" type="presParOf" srcId="{B2527EDC-39B9-D94F-9174-7C9FC7D4C00A}" destId="{0E92A245-3874-5144-8F4C-32EF4D03897F}" srcOrd="4" destOrd="0" presId="urn:microsoft.com/office/officeart/2005/8/layout/list1"/>
    <dgm:cxn modelId="{3583972E-1AB2-534F-951A-7D8E32DD16EF}" type="presParOf" srcId="{0E92A245-3874-5144-8F4C-32EF4D03897F}" destId="{C720D9BC-371D-3A4A-AF1B-7294794FFF1E}" srcOrd="0" destOrd="0" presId="urn:microsoft.com/office/officeart/2005/8/layout/list1"/>
    <dgm:cxn modelId="{BB80EF5A-958F-8949-94F6-BB96114ECE8F}" type="presParOf" srcId="{0E92A245-3874-5144-8F4C-32EF4D03897F}" destId="{6A764A0E-A3AD-A244-9376-39CDC71AF860}" srcOrd="1" destOrd="0" presId="urn:microsoft.com/office/officeart/2005/8/layout/list1"/>
    <dgm:cxn modelId="{521E57C0-F8C0-BB4C-8C93-E4DC2C160E71}" type="presParOf" srcId="{B2527EDC-39B9-D94F-9174-7C9FC7D4C00A}" destId="{0F65BDA1-613A-BE43-B28E-C51B2EB80CD4}" srcOrd="5" destOrd="0" presId="urn:microsoft.com/office/officeart/2005/8/layout/list1"/>
    <dgm:cxn modelId="{6707BF95-8ADB-2745-A6C3-301EBA911B2F}" type="presParOf" srcId="{B2527EDC-39B9-D94F-9174-7C9FC7D4C00A}" destId="{55325084-28DE-7A41-8A14-145E540C1E34}" srcOrd="6" destOrd="0" presId="urn:microsoft.com/office/officeart/2005/8/layout/list1"/>
    <dgm:cxn modelId="{C09A08AB-7E14-2D46-8907-2FE0F3976FEA}" type="presParOf" srcId="{B2527EDC-39B9-D94F-9174-7C9FC7D4C00A}" destId="{1B9FDB5F-BF0F-CE4B-A245-730FC7242853}" srcOrd="7" destOrd="0" presId="urn:microsoft.com/office/officeart/2005/8/layout/list1"/>
    <dgm:cxn modelId="{AF913E87-32B4-9C4B-AD60-7AB882FC6820}" type="presParOf" srcId="{B2527EDC-39B9-D94F-9174-7C9FC7D4C00A}" destId="{50588685-26E9-7041-A085-7BB960BC65D5}" srcOrd="8" destOrd="0" presId="urn:microsoft.com/office/officeart/2005/8/layout/list1"/>
    <dgm:cxn modelId="{A426204A-6B80-4140-BB17-E4DAE087F861}" type="presParOf" srcId="{50588685-26E9-7041-A085-7BB960BC65D5}" destId="{6128AD00-B08D-004A-8D5A-69847160B52B}" srcOrd="0" destOrd="0" presId="urn:microsoft.com/office/officeart/2005/8/layout/list1"/>
    <dgm:cxn modelId="{E881944A-7641-CF45-A557-CD7698CB3F21}" type="presParOf" srcId="{50588685-26E9-7041-A085-7BB960BC65D5}" destId="{2FB8322E-B26E-7F4B-BE96-62A727230002}" srcOrd="1" destOrd="0" presId="urn:microsoft.com/office/officeart/2005/8/layout/list1"/>
    <dgm:cxn modelId="{C4EFE40C-5285-4042-AF70-8FC4D55F9B7A}" type="presParOf" srcId="{B2527EDC-39B9-D94F-9174-7C9FC7D4C00A}" destId="{9FAC2EA8-10FD-4A4D-93FF-C34126580FFA}" srcOrd="9" destOrd="0" presId="urn:microsoft.com/office/officeart/2005/8/layout/list1"/>
    <dgm:cxn modelId="{028D040E-322E-714D-9DB2-2B995AA59811}" type="presParOf" srcId="{B2527EDC-39B9-D94F-9174-7C9FC7D4C00A}" destId="{28C8B4EA-EDEE-2D4F-93E2-9EAF3EC9E72E}" srcOrd="10"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1EA8FB71-5805-A746-95DA-A2EDC75280F1}" type="doc">
      <dgm:prSet loTypeId="urn:microsoft.com/office/officeart/2005/8/layout/hList1" loCatId="" qsTypeId="urn:microsoft.com/office/officeart/2005/8/quickstyle/simple1" qsCatId="simple" csTypeId="urn:microsoft.com/office/officeart/2005/8/colors/accent1_2" csCatId="accent1" phldr="1"/>
      <dgm:spPr/>
      <dgm:t xml:space="preserve">
        <a:bodyPr/>
        <a:lstStyle/>
        <a:p>
          <a:endParaRPr lang="en-US"/>
        </a:p>
      </dgm:t>
    </dgm:pt>
    <dgm:pt modelId="{C434C8F0-10CA-BE44-B5F1-6E6501E329E9}">
      <dgm:prSet/>
      <dgm:spPr/>
      <dgm:t xml:space="preserve">
        <a:bodyPr/>
        <a:lstStyle/>
        <a:p>
          <a:r>
            <a:rPr lang="en-US" dirty="0"/>
            <a:t>Python</a:t>
          </a:r>
        </a:p>
      </dgm:t>
    </dgm:pt>
    <dgm:pt modelId="{B8DC7D36-1299-B640-A6F9-1A9E2D7E6CB8}" type="parTrans" cxnId="{B5C27DEF-E76F-0B47-A221-7E2FF9A87BE5}">
      <dgm:prSet/>
      <dgm:spPr/>
      <dgm:t xml:space="preserve">
        <a:bodyPr/>
        <a:lstStyle/>
        <a:p>
          <a:endParaRPr lang="en-US"/>
        </a:p>
      </dgm:t>
    </dgm:pt>
    <dgm:pt modelId="{F1C0BF0E-2F52-C34F-B400-4CB9F4EC0751}" type="sibTrans" cxnId="{B5C27DEF-E76F-0B47-A221-7E2FF9A87BE5}">
      <dgm:prSet/>
      <dgm:spPr/>
      <dgm:t xml:space="preserve">
        <a:bodyPr/>
        <a:lstStyle/>
        <a:p>
          <a:endParaRPr lang="en-US"/>
        </a:p>
      </dgm:t>
    </dgm:pt>
    <dgm:pt modelId="{CA92FEC2-601D-074D-A276-111DDF09F335}">
      <dgm:prSet/>
      <dgm:spPr/>
      <dgm:t xml:space="preserve">
        <a:bodyPr/>
        <a:lstStyle/>
        <a:p>
          <a:r>
            <a:rPr lang="en-US" dirty="0"/>
            <a:t xml:space="preserve">filtering for outliers (e.g., </a:t>
          </a:r>
          <a:r>
            <a:rPr lang="en-US" dirty="0" err="1"/>
            <a:t>df</a:t>
          </a:r>
          <a:r>
            <a:rPr lang="en-US" dirty="0"/>
            <a:t>[</a:t>
          </a:r>
          <a:r>
            <a:rPr lang="en-US" dirty="0" err="1"/>
            <a:t>df</a:t>
          </a:r>
          <a:r>
            <a:rPr lang="en-US" dirty="0"/>
            <a:t>['col'] &gt; value]),</a:t>
          </a:r>
        </a:p>
      </dgm:t>
    </dgm:pt>
    <dgm:pt modelId="{7E3DDCB9-0044-474F-88CE-6783ABF3D026}" type="parTrans" cxnId="{C60AB43F-8074-A14E-8858-61BED562CFBB}">
      <dgm:prSet/>
      <dgm:spPr/>
      <dgm:t xml:space="preserve">
        <a:bodyPr/>
        <a:lstStyle/>
        <a:p>
          <a:endParaRPr lang="en-US"/>
        </a:p>
      </dgm:t>
    </dgm:pt>
    <dgm:pt modelId="{CA1049F8-3AE1-1346-95EA-0C5AE9B4AE7B}" type="sibTrans" cxnId="{C60AB43F-8074-A14E-8858-61BED562CFBB}">
      <dgm:prSet/>
      <dgm:spPr/>
      <dgm:t xml:space="preserve">
        <a:bodyPr/>
        <a:lstStyle/>
        <a:p>
          <a:endParaRPr lang="en-US"/>
        </a:p>
      </dgm:t>
    </dgm:pt>
    <dgm:pt modelId="{E80726FC-DE00-0248-B739-ABF0C6BB5B52}">
      <dgm:prSet/>
      <dgm:spPr/>
      <dgm:t xml:space="preserve">
        <a:bodyPr/>
        <a:lstStyle/>
        <a:p>
          <a:r>
            <a:rPr lang="en-US" dirty="0"/>
            <a:t>unique()summary(</a:t>
          </a:r>
          <a:r>
            <a:rPr lang="en-US" dirty="0" err="1"/>
            <a:t>df</a:t>
          </a:r>
          <a:r>
            <a:rPr lang="en-US" dirty="0"/>
            <a:t>) for quick check descriptives</a:t>
          </a:r>
        </a:p>
      </dgm:t>
    </dgm:pt>
    <dgm:pt modelId="{F9AE71A0-2067-8F48-A3C2-F441BCBCFB46}" type="parTrans" cxnId="{9F33E8B9-4605-0B4A-9C40-F4DD08AD053D}">
      <dgm:prSet/>
      <dgm:spPr/>
      <dgm:t xml:space="preserve">
        <a:bodyPr/>
        <a:lstStyle/>
        <a:p>
          <a:endParaRPr lang="en-US"/>
        </a:p>
      </dgm:t>
    </dgm:pt>
    <dgm:pt modelId="{8AE4322B-3757-5648-85DF-2AD2026BE5D2}" type="sibTrans" cxnId="{9F33E8B9-4605-0B4A-9C40-F4DD08AD053D}">
      <dgm:prSet/>
      <dgm:spPr/>
      <dgm:t xml:space="preserve">
        <a:bodyPr/>
        <a:lstStyle/>
        <a:p>
          <a:endParaRPr lang="en-US"/>
        </a:p>
      </dgm:t>
    </dgm:pt>
    <dgm:pt modelId="{A0532FF8-9312-7B4F-8409-DB2EDD378079}">
      <dgm:prSet/>
      <dgm:spPr/>
      <dgm:t xml:space="preserve">
        <a:bodyPr/>
        <a:lstStyle/>
        <a:p>
          <a:r>
            <a:rPr lang="en-US" dirty="0" err="1"/>
            <a:t>is.na</a:t>
          </a:r>
          <a:r>
            <a:rPr lang="en-US" dirty="0"/>
            <a:t>() for missing,</a:t>
          </a:r>
        </a:p>
      </dgm:t>
    </dgm:pt>
    <dgm:pt modelId="{A12A7F98-9C99-8D49-8B92-0BBC3F5B6C19}" type="parTrans" cxnId="{5A423E53-C682-4A43-BAE2-A952A1BE4ED9}">
      <dgm:prSet/>
      <dgm:spPr/>
    </dgm:pt>
    <dgm:pt modelId="{CD52D29D-C8C2-214E-A1C3-F022EBB5C35E}" type="sibTrans" cxnId="{5A423E53-C682-4A43-BAE2-A952A1BE4ED9}">
      <dgm:prSet/>
      <dgm:spPr/>
    </dgm:pt>
    <dgm:pt modelId="{749C442B-1C1C-E540-B0F0-4A10506F74AF}">
      <dgm:prSet/>
      <dgm:spPr/>
      <dgm:t xml:space="preserve">
        <a:bodyPr/>
        <a:lstStyle/>
        <a:p>
          <a:r>
            <a:rPr lang="en-US" dirty="0"/>
            <a:t>R</a:t>
          </a:r>
        </a:p>
      </dgm:t>
    </dgm:pt>
    <dgm:pt modelId="{F244BBEC-67E8-2D46-AE98-53D0E9849B3C}" type="parTrans" cxnId="{AE9CC9D8-6101-4E4D-A249-1D2EA293952C}">
      <dgm:prSet/>
      <dgm:spPr/>
    </dgm:pt>
    <dgm:pt modelId="{D4F43126-6C3D-CE41-B1B9-E4BA89311D44}" type="sibTrans" cxnId="{AE9CC9D8-6101-4E4D-A249-1D2EA293952C}">
      <dgm:prSet/>
      <dgm:spPr/>
    </dgm:pt>
    <dgm:pt modelId="{5FDFF52F-1F99-A841-AD96-5B9F1D9862A4}">
      <dgm:prSet/>
      <dgm:spPr/>
      <dgm:t xml:space="preserve">
        <a:bodyPr/>
        <a:lstStyle/>
        <a:p>
          <a:r>
            <a:rPr lang="en-US" dirty="0"/>
            <a:t>.</a:t>
          </a:r>
          <a:r>
            <a:rPr lang="en-US" dirty="0" err="1"/>
            <a:t>isna</a:t>
          </a:r>
          <a:r>
            <a:rPr lang="en-US" dirty="0"/>
            <a:t>()</a:t>
          </a:r>
        </a:p>
      </dgm:t>
    </dgm:pt>
    <dgm:pt modelId="{3969C51F-7F6C-0449-8DAB-C67E21A48ACA}" type="parTrans" cxnId="{A0F34B80-0BA0-8840-9C76-A61451D1218F}">
      <dgm:prSet/>
      <dgm:spPr/>
    </dgm:pt>
    <dgm:pt modelId="{18BA02BC-500C-984E-A44F-102A8374F0F8}" type="sibTrans" cxnId="{A0F34B80-0BA0-8840-9C76-A61451D1218F}">
      <dgm:prSet/>
      <dgm:spPr/>
    </dgm:pt>
    <dgm:pt modelId="{036D9397-D1A6-9148-B61B-A7BCAF2CAFEA}">
      <dgm:prSet/>
      <dgm:spPr/>
      <dgm:t xml:space="preserve">
        <a:bodyPr/>
        <a:lstStyle/>
        <a:p>
          <a:r>
            <a:rPr lang="en-US" dirty="0"/>
            <a:t>.</a:t>
          </a:r>
          <a:r>
            <a:rPr lang="en-US" dirty="0" err="1"/>
            <a:t>fillna</a:t>
          </a:r>
          <a:r>
            <a:rPr lang="en-US" dirty="0"/>
            <a:t>() assignment for imputation</a:t>
          </a:r>
        </a:p>
      </dgm:t>
    </dgm:pt>
    <dgm:pt modelId="{621917B4-B655-5844-9330-241091A52C59}" type="parTrans" cxnId="{5E2344DC-974B-6243-9235-0E407D7321F1}">
      <dgm:prSet/>
      <dgm:spPr/>
    </dgm:pt>
    <dgm:pt modelId="{58DF6B9D-49F7-3544-93D3-BFE2ED5FBB18}" type="sibTrans" cxnId="{5E2344DC-974B-6243-9235-0E407D7321F1}">
      <dgm:prSet/>
      <dgm:spPr/>
    </dgm:pt>
    <dgm:pt modelId="{CC2CFEC3-045B-3E45-BE03-4DC0575BD714}">
      <dgm:prSet/>
      <dgm:spPr/>
      <dgm:t xml:space="preserve">
        <a:bodyPr/>
        <a:lstStyle/>
        <a:p>
          <a:r>
            <a:rPr lang="en-US" dirty="0"/>
            <a:t>.</a:t>
          </a:r>
          <a:r>
            <a:rPr lang="en-US" dirty="0" err="1"/>
            <a:t>drop_duplicates</a:t>
          </a:r>
          <a:r>
            <a:rPr lang="en-US" dirty="0"/>
            <a:t>() checks for duplicates</a:t>
          </a:r>
        </a:p>
      </dgm:t>
    </dgm:pt>
    <dgm:pt modelId="{264CE489-3823-3E4F-9B5D-92935391564B}" type="parTrans" cxnId="{AA822562-07C1-AD4E-BAD6-78DE19D790BE}">
      <dgm:prSet/>
      <dgm:spPr/>
    </dgm:pt>
    <dgm:pt modelId="{C49B236C-B388-F043-907B-02A76E3B7F62}" type="sibTrans" cxnId="{AA822562-07C1-AD4E-BAD6-78DE19D790BE}">
      <dgm:prSet/>
      <dgm:spPr/>
    </dgm:pt>
    <dgm:pt modelId="{81A59BD0-7BFD-864A-89E7-1968C4D96FD4}">
      <dgm:prSet/>
      <dgm:spPr/>
      <dgm:t xml:space="preserve">
        <a:bodyPr/>
        <a:lstStyle/>
        <a:p>
          <a:r>
            <a:rPr lang="en-US" dirty="0" err="1"/>
            <a:t>df.describe</a:t>
          </a:r>
          <a:r>
            <a:rPr lang="en-US" dirty="0"/>
            <a:t>() in pandas</a:t>
          </a:r>
        </a:p>
      </dgm:t>
    </dgm:pt>
    <dgm:pt modelId="{56783DD3-1B1F-5A4F-9161-15FA911565B2}" type="parTrans" cxnId="{E3BE7073-2114-AA4E-932C-8168C87CBEEB}">
      <dgm:prSet/>
      <dgm:spPr/>
    </dgm:pt>
    <dgm:pt modelId="{F09EA530-6EF4-9D49-8D8D-9C19C602588A}" type="sibTrans" cxnId="{E3BE7073-2114-AA4E-932C-8168C87CBEEB}">
      <dgm:prSet/>
      <dgm:spPr/>
    </dgm:pt>
    <dgm:pt modelId="{172392C9-9AB6-234B-A82C-1D797524CFF3}" type="pres">
      <dgm:prSet presAssocID="{1EA8FB71-5805-A746-95DA-A2EDC75280F1}" presName="Name0" presStyleCnt="0">
        <dgm:presLayoutVars>
          <dgm:dir/>
          <dgm:animLvl val="lvl"/>
          <dgm:resizeHandles val="exact"/>
        </dgm:presLayoutVars>
      </dgm:prSet>
      <dgm:spPr/>
    </dgm:pt>
    <dgm:pt modelId="{BBAF8541-6344-5449-B075-23812D4AA340}" type="pres">
      <dgm:prSet presAssocID="{C434C8F0-10CA-BE44-B5F1-6E6501E329E9}" presName="composite" presStyleCnt="0"/>
      <dgm:spPr/>
    </dgm:pt>
    <dgm:pt modelId="{92FFC4C9-EE76-C24D-BD82-374CC6AE6605}" type="pres">
      <dgm:prSet presAssocID="{C434C8F0-10CA-BE44-B5F1-6E6501E329E9}" presName="parTx" presStyleLbl="alignNode1" presStyleIdx="0" presStyleCnt="2">
        <dgm:presLayoutVars>
          <dgm:chMax val="0"/>
          <dgm:chPref val="0"/>
          <dgm:bulletEnabled val="1"/>
        </dgm:presLayoutVars>
      </dgm:prSet>
      <dgm:spPr/>
    </dgm:pt>
    <dgm:pt modelId="{CFCF0B0C-02B1-5B48-BB7C-DF2008398448}" type="pres">
      <dgm:prSet presAssocID="{C434C8F0-10CA-BE44-B5F1-6E6501E329E9}" presName="desTx" presStyleLbl="alignAccFollowNode1" presStyleIdx="0" presStyleCnt="2">
        <dgm:presLayoutVars>
          <dgm:bulletEnabled val="1"/>
        </dgm:presLayoutVars>
      </dgm:prSet>
      <dgm:spPr/>
    </dgm:pt>
    <dgm:pt modelId="{6D93294E-7BB1-4443-9AF9-8B8313F10000}" type="pres">
      <dgm:prSet presAssocID="{F1C0BF0E-2F52-C34F-B400-4CB9F4EC0751}" presName="space" presStyleCnt="0"/>
      <dgm:spPr/>
    </dgm:pt>
    <dgm:pt modelId="{4084D86B-4213-B041-981D-E157A6631627}" type="pres">
      <dgm:prSet presAssocID="{749C442B-1C1C-E540-B0F0-4A10506F74AF}" presName="composite" presStyleCnt="0"/>
      <dgm:spPr/>
    </dgm:pt>
    <dgm:pt modelId="{2E0B7CBF-A9BA-9C49-B40A-E5B01CC4D647}" type="pres">
      <dgm:prSet presAssocID="{749C442B-1C1C-E540-B0F0-4A10506F74AF}" presName="parTx" presStyleLbl="alignNode1" presStyleIdx="1" presStyleCnt="2">
        <dgm:presLayoutVars>
          <dgm:chMax val="0"/>
          <dgm:chPref val="0"/>
          <dgm:bulletEnabled val="1"/>
        </dgm:presLayoutVars>
      </dgm:prSet>
      <dgm:spPr/>
    </dgm:pt>
    <dgm:pt modelId="{6FB14003-7AC9-0A48-9215-8FFC77C1DDA7}" type="pres">
      <dgm:prSet presAssocID="{749C442B-1C1C-E540-B0F0-4A10506F74AF}" presName="desTx" presStyleLbl="alignAccFollowNode1" presStyleIdx="1" presStyleCnt="2">
        <dgm:presLayoutVars>
          <dgm:bulletEnabled val="1"/>
        </dgm:presLayoutVars>
      </dgm:prSet>
      <dgm:spPr/>
    </dgm:pt>
  </dgm:ptLst>
  <dgm:cxnLst>
    <dgm:cxn modelId="{7DD4C027-7993-F641-A41E-B1D15F62083B}" type="presOf" srcId="{E80726FC-DE00-0248-B739-ABF0C6BB5B52}" destId="{6FB14003-7AC9-0A48-9215-8FFC77C1DDA7}" srcOrd="0" destOrd="2" presId="urn:microsoft.com/office/officeart/2005/8/layout/hList1"/>
    <dgm:cxn modelId="{C60AB43F-8074-A14E-8858-61BED562CFBB}" srcId="{749C442B-1C1C-E540-B0F0-4A10506F74AF}" destId="{CA92FEC2-601D-074D-A276-111DDF09F335}" srcOrd="1" destOrd="0" parTransId="{7E3DDCB9-0044-474F-88CE-6783ABF3D026}" sibTransId="{CA1049F8-3AE1-1346-95EA-0C5AE9B4AE7B}"/>
    <dgm:cxn modelId="{AA822562-07C1-AD4E-BAD6-78DE19D790BE}" srcId="{C434C8F0-10CA-BE44-B5F1-6E6501E329E9}" destId="{CC2CFEC3-045B-3E45-BE03-4DC0575BD714}" srcOrd="2" destOrd="0" parTransId="{264CE489-3823-3E4F-9B5D-92935391564B}" sibTransId="{C49B236C-B388-F043-907B-02A76E3B7F62}"/>
    <dgm:cxn modelId="{979EA346-348D-B94F-8F7D-84B99061FBD6}" type="presOf" srcId="{C434C8F0-10CA-BE44-B5F1-6E6501E329E9}" destId="{92FFC4C9-EE76-C24D-BD82-374CC6AE6605}" srcOrd="0" destOrd="0" presId="urn:microsoft.com/office/officeart/2005/8/layout/hList1"/>
    <dgm:cxn modelId="{CF2AB26C-F29F-E842-810C-BC3EDFB96891}" type="presOf" srcId="{1EA8FB71-5805-A746-95DA-A2EDC75280F1}" destId="{172392C9-9AB6-234B-A82C-1D797524CFF3}" srcOrd="0" destOrd="0" presId="urn:microsoft.com/office/officeart/2005/8/layout/hList1"/>
    <dgm:cxn modelId="{5A423E53-C682-4A43-BAE2-A952A1BE4ED9}" srcId="{749C442B-1C1C-E540-B0F0-4A10506F74AF}" destId="{A0532FF8-9312-7B4F-8409-DB2EDD378079}" srcOrd="0" destOrd="0" parTransId="{A12A7F98-9C99-8D49-8B92-0BBC3F5B6C19}" sibTransId="{CD52D29D-C8C2-214E-A1C3-F022EBB5C35E}"/>
    <dgm:cxn modelId="{E3BE7073-2114-AA4E-932C-8168C87CBEEB}" srcId="{C434C8F0-10CA-BE44-B5F1-6E6501E329E9}" destId="{81A59BD0-7BFD-864A-89E7-1968C4D96FD4}" srcOrd="3" destOrd="0" parTransId="{56783DD3-1B1F-5A4F-9161-15FA911565B2}" sibTransId="{F09EA530-6EF4-9D49-8D8D-9C19C602588A}"/>
    <dgm:cxn modelId="{A13BBD55-AA74-794C-8653-54E59E9976B0}" type="presOf" srcId="{749C442B-1C1C-E540-B0F0-4A10506F74AF}" destId="{2E0B7CBF-A9BA-9C49-B40A-E5B01CC4D647}" srcOrd="0" destOrd="0" presId="urn:microsoft.com/office/officeart/2005/8/layout/hList1"/>
    <dgm:cxn modelId="{A0F34B80-0BA0-8840-9C76-A61451D1218F}" srcId="{C434C8F0-10CA-BE44-B5F1-6E6501E329E9}" destId="{5FDFF52F-1F99-A841-AD96-5B9F1D9862A4}" srcOrd="0" destOrd="0" parTransId="{3969C51F-7F6C-0449-8DAB-C67E21A48ACA}" sibTransId="{18BA02BC-500C-984E-A44F-102A8374F0F8}"/>
    <dgm:cxn modelId="{7C6C138F-995A-EF45-9C99-2109B73CEA93}" type="presOf" srcId="{CA92FEC2-601D-074D-A276-111DDF09F335}" destId="{6FB14003-7AC9-0A48-9215-8FFC77C1DDA7}" srcOrd="0" destOrd="1" presId="urn:microsoft.com/office/officeart/2005/8/layout/hList1"/>
    <dgm:cxn modelId="{ABBA2CA2-49D3-4A44-B3E1-21EF7030AB9E}" type="presOf" srcId="{A0532FF8-9312-7B4F-8409-DB2EDD378079}" destId="{6FB14003-7AC9-0A48-9215-8FFC77C1DDA7}" srcOrd="0" destOrd="0" presId="urn:microsoft.com/office/officeart/2005/8/layout/hList1"/>
    <dgm:cxn modelId="{9F33E8B9-4605-0B4A-9C40-F4DD08AD053D}" srcId="{749C442B-1C1C-E540-B0F0-4A10506F74AF}" destId="{E80726FC-DE00-0248-B739-ABF0C6BB5B52}" srcOrd="2" destOrd="0" parTransId="{F9AE71A0-2067-8F48-A3C2-F441BCBCFB46}" sibTransId="{8AE4322B-3757-5648-85DF-2AD2026BE5D2}"/>
    <dgm:cxn modelId="{D2CB43CD-1767-8540-8853-268650855BAF}" type="presOf" srcId="{81A59BD0-7BFD-864A-89E7-1968C4D96FD4}" destId="{CFCF0B0C-02B1-5B48-BB7C-DF2008398448}" srcOrd="0" destOrd="3" presId="urn:microsoft.com/office/officeart/2005/8/layout/hList1"/>
    <dgm:cxn modelId="{AE9CC9D8-6101-4E4D-A249-1D2EA293952C}" srcId="{1EA8FB71-5805-A746-95DA-A2EDC75280F1}" destId="{749C442B-1C1C-E540-B0F0-4A10506F74AF}" srcOrd="1" destOrd="0" parTransId="{F244BBEC-67E8-2D46-AE98-53D0E9849B3C}" sibTransId="{D4F43126-6C3D-CE41-B1B9-E4BA89311D44}"/>
    <dgm:cxn modelId="{5E2344DC-974B-6243-9235-0E407D7321F1}" srcId="{C434C8F0-10CA-BE44-B5F1-6E6501E329E9}" destId="{036D9397-D1A6-9148-B61B-A7BCAF2CAFEA}" srcOrd="1" destOrd="0" parTransId="{621917B4-B655-5844-9330-241091A52C59}" sibTransId="{58DF6B9D-49F7-3544-93D3-BFE2ED5FBB18}"/>
    <dgm:cxn modelId="{77D43CEC-411E-3544-BC7E-19055F6F2196}" type="presOf" srcId="{036D9397-D1A6-9148-B61B-A7BCAF2CAFEA}" destId="{CFCF0B0C-02B1-5B48-BB7C-DF2008398448}" srcOrd="0" destOrd="1" presId="urn:microsoft.com/office/officeart/2005/8/layout/hList1"/>
    <dgm:cxn modelId="{3F62F2EC-F5BD-564A-8098-A69C77F351BF}" type="presOf" srcId="{CC2CFEC3-045B-3E45-BE03-4DC0575BD714}" destId="{CFCF0B0C-02B1-5B48-BB7C-DF2008398448}" srcOrd="0" destOrd="2" presId="urn:microsoft.com/office/officeart/2005/8/layout/hList1"/>
    <dgm:cxn modelId="{B5C27DEF-E76F-0B47-A221-7E2FF9A87BE5}" srcId="{1EA8FB71-5805-A746-95DA-A2EDC75280F1}" destId="{C434C8F0-10CA-BE44-B5F1-6E6501E329E9}" srcOrd="0" destOrd="0" parTransId="{B8DC7D36-1299-B640-A6F9-1A9E2D7E6CB8}" sibTransId="{F1C0BF0E-2F52-C34F-B400-4CB9F4EC0751}"/>
    <dgm:cxn modelId="{9E179EFC-7A14-8C41-B710-087EBB6A18A5}" type="presOf" srcId="{5FDFF52F-1F99-A841-AD96-5B9F1D9862A4}" destId="{CFCF0B0C-02B1-5B48-BB7C-DF2008398448}" srcOrd="0" destOrd="0" presId="urn:microsoft.com/office/officeart/2005/8/layout/hList1"/>
    <dgm:cxn modelId="{E6D90AE1-CAFB-6547-862A-D8B3B6173982}" type="presParOf" srcId="{172392C9-9AB6-234B-A82C-1D797524CFF3}" destId="{BBAF8541-6344-5449-B075-23812D4AA340}" srcOrd="0" destOrd="0" presId="urn:microsoft.com/office/officeart/2005/8/layout/hList1"/>
    <dgm:cxn modelId="{C5D48608-CA78-C14A-8D3D-0DB20FB39F1D}" type="presParOf" srcId="{BBAF8541-6344-5449-B075-23812D4AA340}" destId="{92FFC4C9-EE76-C24D-BD82-374CC6AE6605}" srcOrd="0" destOrd="0" presId="urn:microsoft.com/office/officeart/2005/8/layout/hList1"/>
    <dgm:cxn modelId="{ECA9D864-7EFF-0B4A-8845-B030F902C908}" type="presParOf" srcId="{BBAF8541-6344-5449-B075-23812D4AA340}" destId="{CFCF0B0C-02B1-5B48-BB7C-DF2008398448}" srcOrd="1" destOrd="0" presId="urn:microsoft.com/office/officeart/2005/8/layout/hList1"/>
    <dgm:cxn modelId="{55F0E5F0-5657-FD45-89C2-623D875D8352}" type="presParOf" srcId="{172392C9-9AB6-234B-A82C-1D797524CFF3}" destId="{6D93294E-7BB1-4443-9AF9-8B8313F10000}" srcOrd="1" destOrd="0" presId="urn:microsoft.com/office/officeart/2005/8/layout/hList1"/>
    <dgm:cxn modelId="{8905F53A-8F1C-014D-A0A4-A65201F537CB}" type="presParOf" srcId="{172392C9-9AB6-234B-A82C-1D797524CFF3}" destId="{4084D86B-4213-B041-981D-E157A6631627}" srcOrd="2" destOrd="0" presId="urn:microsoft.com/office/officeart/2005/8/layout/hList1"/>
    <dgm:cxn modelId="{FFCED84F-ED6D-6647-8EC0-B9BFE5D32E9D}" type="presParOf" srcId="{4084D86B-4213-B041-981D-E157A6631627}" destId="{2E0B7CBF-A9BA-9C49-B40A-E5B01CC4D647}" srcOrd="0" destOrd="0" presId="urn:microsoft.com/office/officeart/2005/8/layout/hList1"/>
    <dgm:cxn modelId="{5607FD65-7398-FF49-9B52-7A68368ED190}" type="presParOf" srcId="{4084D86B-4213-B041-981D-E157A6631627}" destId="{6FB14003-7AC9-0A48-9215-8FFC77C1DDA7}"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D3A2C6B-EA27-D94A-9219-285F7616E8AB}">
      <dsp:nvSpPr>
        <dsp:cNvPr id="0" name=""/>
        <dsp:cNvSpPr/>
      </dsp:nvSpPr>
      <dsp:spPr>
        <a:xfrm>
          <a:off x="0" y="331948"/>
          <a:ext cx="10515600" cy="807975"/>
        </a:xfrm>
        <a:prstGeom prst="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16127" tIns="395732" rIns="816127" bIns="135128" numCol="1" spcCol="1270" anchor="t" anchorCtr="0">
          <a:noAutofit/>
        </a:bodyPr>
        <a:lstStyle/>
        <a:p>
          <a:pPr marL="171450" lvl="1" indent="-171450" algn="l" defTabSz="844550">
            <a:lnSpc>
              <a:spcPct val="90000"/>
            </a:lnSpc>
            <a:spcBef>
              <a:spcPct val="0"/>
            </a:spcBef>
            <a:spcAft>
              <a:spcPct val="15000"/>
            </a:spcAft>
            <a:buNone/>
          </a:pPr>
          <a:r>
            <a:rPr lang="en-US" sz="1900" kern="1200" dirty="0">
              <a:solidFill>
                <a:srgbClr val="000000"/>
              </a:solidFill>
              <a:latin typeface="Aptos" panose="020B0004020202020204" pitchFamily="34" charset="0"/>
              <a:ea typeface="Inter" pitchFamily="34" charset="-122"/>
              <a:cs typeface="Inter" pitchFamily="34" charset="-120"/>
            </a:rPr>
            <a:t>Learn to spot missing values, outliers, typos, and inconsistencies.</a:t>
          </a:r>
          <a:endParaRPr lang="en-US" sz="1900" kern="1200" dirty="0">
            <a:latin typeface="Aptos" panose="020B0004020202020204" pitchFamily="34" charset="0"/>
          </a:endParaRPr>
        </a:p>
      </dsp:txBody>
      <dsp:txXfrm>
        <a:off x="0" y="331948"/>
        <a:ext cx="10515600" cy="807975"/>
      </dsp:txXfrm>
    </dsp:sp>
    <dsp:sp modelId="{5D1F170C-D76B-BA4B-9BCD-B497B06D5C55}">
      <dsp:nvSpPr>
        <dsp:cNvPr id="0" name=""/>
        <dsp:cNvSpPr/>
      </dsp:nvSpPr>
      <dsp:spPr>
        <a:xfrm>
          <a:off x="525780" y="51508"/>
          <a:ext cx="7360920" cy="56088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78225" tIns="0" rIns="278225" bIns="0" numCol="1" spcCol="1270" anchor="ctr" anchorCtr="0">
          <a:noAutofit/>
        </a:bodyPr>
        <a:lstStyle/>
        <a:p>
          <a:pPr marL="0" lvl="0" indent="0" algn="l" defTabSz="844550">
            <a:lnSpc>
              <a:spcPct val="90000"/>
            </a:lnSpc>
            <a:spcBef>
              <a:spcPct val="0"/>
            </a:spcBef>
            <a:spcAft>
              <a:spcPct val="35000"/>
            </a:spcAft>
            <a:buNone/>
          </a:pPr>
          <a:r>
            <a:rPr lang="en-US" sz="1900" b="1" kern="1200" dirty="0">
              <a:solidFill>
                <a:schemeClr val="bg1"/>
              </a:solidFill>
              <a:latin typeface="Aptos" panose="020B0004020202020204" pitchFamily="34" charset="0"/>
              <a:ea typeface="Playfair Display Bold" pitchFamily="34" charset="-122"/>
              <a:cs typeface="Playfair Display Bold" pitchFamily="34" charset="-120"/>
            </a:rPr>
            <a:t>Identify Common Data Problems</a:t>
          </a:r>
          <a:endParaRPr lang="en-US" sz="1900" kern="1200" dirty="0"/>
        </a:p>
      </dsp:txBody>
      <dsp:txXfrm>
        <a:off x="553160" y="78888"/>
        <a:ext cx="7306160" cy="506120"/>
      </dsp:txXfrm>
    </dsp:sp>
    <dsp:sp modelId="{191D086A-70DE-A646-895E-A19B3E7BC34C}">
      <dsp:nvSpPr>
        <dsp:cNvPr id="0" name=""/>
        <dsp:cNvSpPr/>
      </dsp:nvSpPr>
      <dsp:spPr>
        <a:xfrm>
          <a:off x="0" y="1522964"/>
          <a:ext cx="10515600" cy="807975"/>
        </a:xfrm>
        <a:prstGeom prst="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16127" tIns="395732" rIns="816127" bIns="135128" numCol="1" spcCol="1270" anchor="t" anchorCtr="0">
          <a:noAutofit/>
        </a:bodyPr>
        <a:lstStyle/>
        <a:p>
          <a:pPr marL="171450" lvl="1" indent="-171450" algn="l" defTabSz="844550">
            <a:lnSpc>
              <a:spcPct val="90000"/>
            </a:lnSpc>
            <a:spcBef>
              <a:spcPct val="0"/>
            </a:spcBef>
            <a:spcAft>
              <a:spcPct val="15000"/>
            </a:spcAft>
            <a:buNone/>
          </a:pPr>
          <a:r>
            <a:rPr lang="en-US" sz="1900" kern="1200" dirty="0">
              <a:solidFill>
                <a:srgbClr val="000000"/>
              </a:solidFill>
              <a:latin typeface="Aptos" panose="020B0004020202020204" pitchFamily="34" charset="0"/>
              <a:ea typeface="Inter" pitchFamily="34" charset="-122"/>
              <a:cs typeface="Inter" pitchFamily="34" charset="-120"/>
            </a:rPr>
            <a:t>Discover methods to remove, correct, or impute problematic data.</a:t>
          </a:r>
          <a:endParaRPr lang="en-US" sz="1900" kern="1200" dirty="0">
            <a:latin typeface="Aptos" panose="020B0004020202020204" pitchFamily="34" charset="0"/>
          </a:endParaRPr>
        </a:p>
      </dsp:txBody>
      <dsp:txXfrm>
        <a:off x="0" y="1522964"/>
        <a:ext cx="10515600" cy="807975"/>
      </dsp:txXfrm>
    </dsp:sp>
    <dsp:sp modelId="{FC91F463-9973-3F4A-8440-74B704DA41D5}">
      <dsp:nvSpPr>
        <dsp:cNvPr id="0" name=""/>
        <dsp:cNvSpPr/>
      </dsp:nvSpPr>
      <dsp:spPr>
        <a:xfrm>
          <a:off x="525780" y="1242524"/>
          <a:ext cx="7360920" cy="56088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78225" tIns="0" rIns="278225" bIns="0" numCol="1" spcCol="1270" anchor="ctr" anchorCtr="0">
          <a:noAutofit/>
        </a:bodyPr>
        <a:lstStyle/>
        <a:p>
          <a:pPr marL="0" lvl="0" indent="0" algn="l" defTabSz="844550">
            <a:lnSpc>
              <a:spcPct val="90000"/>
            </a:lnSpc>
            <a:spcBef>
              <a:spcPct val="0"/>
            </a:spcBef>
            <a:spcAft>
              <a:spcPct val="35000"/>
            </a:spcAft>
            <a:buNone/>
          </a:pPr>
          <a:r>
            <a:rPr lang="en-US" sz="1900" b="1" kern="1200" dirty="0">
              <a:solidFill>
                <a:schemeClr val="bg1"/>
              </a:solidFill>
              <a:latin typeface="Aptos" panose="020B0004020202020204" pitchFamily="34" charset="0"/>
              <a:ea typeface="Playfair Display Bold" pitchFamily="34" charset="-122"/>
              <a:cs typeface="Playfair Display Bold" pitchFamily="34" charset="-120"/>
            </a:rPr>
            <a:t>Apply Cleaning Strategies</a:t>
          </a:r>
          <a:endParaRPr lang="en-US" sz="1900" kern="1200" dirty="0">
            <a:solidFill>
              <a:schemeClr val="bg1"/>
            </a:solidFill>
            <a:latin typeface="Aptos" panose="020B0004020202020204" pitchFamily="34" charset="0"/>
          </a:endParaRPr>
        </a:p>
      </dsp:txBody>
      <dsp:txXfrm>
        <a:off x="553160" y="1269904"/>
        <a:ext cx="7306160" cy="506120"/>
      </dsp:txXfrm>
    </dsp:sp>
    <dsp:sp modelId="{40DADF5E-A656-C746-B464-DA71A00AED77}">
      <dsp:nvSpPr>
        <dsp:cNvPr id="0" name=""/>
        <dsp:cNvSpPr/>
      </dsp:nvSpPr>
      <dsp:spPr>
        <a:xfrm>
          <a:off x="0" y="2713978"/>
          <a:ext cx="10515600" cy="807975"/>
        </a:xfrm>
        <a:prstGeom prst="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16127" tIns="395732" rIns="816127" bIns="135128" numCol="1" spcCol="1270" anchor="t" anchorCtr="0">
          <a:noAutofit/>
        </a:bodyPr>
        <a:lstStyle/>
        <a:p>
          <a:pPr marL="171450" lvl="1" indent="-171450" algn="l" defTabSz="844550">
            <a:lnSpc>
              <a:spcPct val="90000"/>
            </a:lnSpc>
            <a:spcBef>
              <a:spcPct val="0"/>
            </a:spcBef>
            <a:spcAft>
              <a:spcPct val="15000"/>
            </a:spcAft>
            <a:buNone/>
          </a:pPr>
          <a:r>
            <a:rPr lang="en-US" sz="1900" kern="1200" dirty="0">
              <a:solidFill>
                <a:srgbClr val="000000"/>
              </a:solidFill>
              <a:latin typeface="Aptos" panose="020B0004020202020204" pitchFamily="34" charset="0"/>
              <a:ea typeface="Inter" pitchFamily="34" charset="-122"/>
              <a:cs typeface="Inter" pitchFamily="34" charset="-120"/>
            </a:rPr>
            <a:t>Understand why clean data is essential for trustworthy analysis.</a:t>
          </a:r>
        </a:p>
      </dsp:txBody>
      <dsp:txXfrm>
        <a:off x="0" y="2713978"/>
        <a:ext cx="10515600" cy="807975"/>
      </dsp:txXfrm>
    </dsp:sp>
    <dsp:sp modelId="{04ABF145-2D6E-C541-A524-A2B597FFADFA}">
      <dsp:nvSpPr>
        <dsp:cNvPr id="0" name=""/>
        <dsp:cNvSpPr/>
      </dsp:nvSpPr>
      <dsp:spPr>
        <a:xfrm>
          <a:off x="525780" y="2433539"/>
          <a:ext cx="7360920" cy="56088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78225" tIns="0" rIns="278225" bIns="0" numCol="1" spcCol="1270" anchor="ctr" anchorCtr="0">
          <a:noAutofit/>
        </a:bodyPr>
        <a:lstStyle/>
        <a:p>
          <a:pPr marL="0" lvl="0" indent="0" algn="l" defTabSz="844550">
            <a:lnSpc>
              <a:spcPct val="90000"/>
            </a:lnSpc>
            <a:spcBef>
              <a:spcPct val="0"/>
            </a:spcBef>
            <a:spcAft>
              <a:spcPct val="35000"/>
            </a:spcAft>
            <a:buNone/>
          </a:pPr>
          <a:r>
            <a:rPr lang="en-US" sz="1900" b="1" kern="1200" dirty="0">
              <a:solidFill>
                <a:schemeClr val="bg1"/>
              </a:solidFill>
              <a:latin typeface="Aptos" panose="020B0004020202020204" pitchFamily="34" charset="0"/>
              <a:ea typeface="Playfair Display Bold" pitchFamily="34" charset="-122"/>
              <a:cs typeface="Playfair Display Bold" pitchFamily="34" charset="-120"/>
            </a:rPr>
            <a:t>Ensure Data Quality</a:t>
          </a:r>
          <a:endParaRPr lang="en-US" sz="1900" kern="1200" dirty="0">
            <a:solidFill>
              <a:schemeClr val="bg1"/>
            </a:solidFill>
            <a:latin typeface="Aptos" panose="020B0004020202020204" pitchFamily="34" charset="0"/>
          </a:endParaRPr>
        </a:p>
      </dsp:txBody>
      <dsp:txXfrm>
        <a:off x="553160" y="2460919"/>
        <a:ext cx="7306160" cy="50612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7E901C9-C233-084E-B415-FA2C5698BA06}">
      <dsp:nvSpPr>
        <dsp:cNvPr id="0" name=""/>
        <dsp:cNvSpPr/>
      </dsp:nvSpPr>
      <dsp:spPr>
        <a:xfrm>
          <a:off x="689" y="38867"/>
          <a:ext cx="2689021" cy="1613413"/>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t>Outlier is a value much farther from the rest of the data</a:t>
          </a:r>
        </a:p>
      </dsp:txBody>
      <dsp:txXfrm>
        <a:off x="689" y="38867"/>
        <a:ext cx="2689021" cy="1613413"/>
      </dsp:txXfrm>
    </dsp:sp>
    <dsp:sp modelId="{8D40F875-93EB-6C45-BAFB-6D46DF22E739}">
      <dsp:nvSpPr>
        <dsp:cNvPr id="0" name=""/>
        <dsp:cNvSpPr/>
      </dsp:nvSpPr>
      <dsp:spPr>
        <a:xfrm>
          <a:off x="2958613" y="38867"/>
          <a:ext cx="2689021" cy="1613413"/>
        </a:xfrm>
        <a:prstGeom prst="rect">
          <a:avLst/>
        </a:prstGeom>
        <a:solidFill>
          <a:schemeClr val="accent3">
            <a:hueOff val="1372388"/>
            <a:satOff val="8237"/>
            <a:lumOff val="6275"/>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t>Can be a real but unusual case, or a data entry mistake (e.g., age “199” or height “845”)</a:t>
          </a:r>
        </a:p>
      </dsp:txBody>
      <dsp:txXfrm>
        <a:off x="2958613" y="38867"/>
        <a:ext cx="2689021" cy="1613413"/>
      </dsp:txXfrm>
    </dsp:sp>
    <dsp:sp modelId="{ED37A897-D268-8C41-9A10-20BD02A6B08C}">
      <dsp:nvSpPr>
        <dsp:cNvPr id="0" name=""/>
        <dsp:cNvSpPr/>
      </dsp:nvSpPr>
      <dsp:spPr>
        <a:xfrm>
          <a:off x="689" y="1921182"/>
          <a:ext cx="2689021" cy="1613413"/>
        </a:xfrm>
        <a:prstGeom prst="rect">
          <a:avLst/>
        </a:prstGeom>
        <a:solidFill>
          <a:schemeClr val="accent3">
            <a:hueOff val="2744775"/>
            <a:satOff val="16475"/>
            <a:lumOff val="1255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a:t>Outliers can distort averages and graphs</a:t>
          </a:r>
          <a:endParaRPr lang="en-US" sz="2000" kern="1200" dirty="0"/>
        </a:p>
      </dsp:txBody>
      <dsp:txXfrm>
        <a:off x="689" y="1921182"/>
        <a:ext cx="2689021" cy="1613413"/>
      </dsp:txXfrm>
    </dsp:sp>
    <dsp:sp modelId="{C74E6092-A3D8-C14A-A095-86066CE42CFF}">
      <dsp:nvSpPr>
        <dsp:cNvPr id="0" name=""/>
        <dsp:cNvSpPr/>
      </dsp:nvSpPr>
      <dsp:spPr>
        <a:xfrm>
          <a:off x="2958613" y="1921182"/>
          <a:ext cx="2689021" cy="1613413"/>
        </a:xfrm>
        <a:prstGeom prst="rect">
          <a:avLst/>
        </a:prstGeom>
        <a:solidFill>
          <a:schemeClr val="accent3">
            <a:hueOff val="4117163"/>
            <a:satOff val="24712"/>
            <a:lumOff val="18825"/>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t>Sometimes outliers are legitimate, sometimes errors—always investigate before deciding what to do</a:t>
          </a:r>
        </a:p>
      </dsp:txBody>
      <dsp:txXfrm>
        <a:off x="2958613" y="1921182"/>
        <a:ext cx="2689021" cy="1613413"/>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A4FC338-CB5C-444A-96C8-6AE763254CF4}">
      <dsp:nvSpPr>
        <dsp:cNvPr id="0" name=""/>
        <dsp:cNvSpPr/>
      </dsp:nvSpPr>
      <dsp:spPr>
        <a:xfrm>
          <a:off x="3953" y="985521"/>
          <a:ext cx="2377306" cy="662400"/>
        </a:xfrm>
        <a:prstGeom prst="rect">
          <a:avLst/>
        </a:prstGeom>
        <a:solidFill>
          <a:schemeClr val="accent2">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3576" tIns="93472" rIns="163576" bIns="93472" numCol="1" spcCol="1270" anchor="ctr" anchorCtr="0">
          <a:noAutofit/>
        </a:bodyPr>
        <a:lstStyle/>
        <a:p>
          <a:pPr marL="0" lvl="0" indent="0" algn="ctr" defTabSz="1022350">
            <a:lnSpc>
              <a:spcPct val="90000"/>
            </a:lnSpc>
            <a:spcBef>
              <a:spcPct val="0"/>
            </a:spcBef>
            <a:spcAft>
              <a:spcPct val="35000"/>
            </a:spcAft>
            <a:buNone/>
          </a:pPr>
          <a:r>
            <a:rPr lang="en-US" sz="2300" kern="1200" dirty="0"/>
            <a:t>Validate</a:t>
          </a:r>
        </a:p>
      </dsp:txBody>
      <dsp:txXfrm>
        <a:off x="3953" y="985521"/>
        <a:ext cx="2377306" cy="662400"/>
      </dsp:txXfrm>
    </dsp:sp>
    <dsp:sp modelId="{59011831-E918-1D40-9946-6CC26039D2B7}">
      <dsp:nvSpPr>
        <dsp:cNvPr id="0" name=""/>
        <dsp:cNvSpPr/>
      </dsp:nvSpPr>
      <dsp:spPr>
        <a:xfrm>
          <a:off x="3953" y="1647921"/>
          <a:ext cx="2377306" cy="1609942"/>
        </a:xfrm>
        <a:prstGeom prst="rect">
          <a:avLst/>
        </a:prstGeom>
        <a:solidFill>
          <a:schemeClr val="accent2">
            <a:tint val="40000"/>
            <a:alpha val="90000"/>
            <a:hueOff val="0"/>
            <a:satOff val="0"/>
            <a:lumOff val="0"/>
            <a:alphaOff val="0"/>
          </a:schemeClr>
        </a:solidFill>
        <a:ln w="1905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2682" tIns="122682" rIns="163576" bIns="184023" numCol="1" spcCol="1270" anchor="t" anchorCtr="0">
          <a:noAutofit/>
        </a:bodyPr>
        <a:lstStyle/>
        <a:p>
          <a:pPr marL="228600" lvl="1" indent="-228600" algn="l" defTabSz="1022350">
            <a:lnSpc>
              <a:spcPct val="90000"/>
            </a:lnSpc>
            <a:spcBef>
              <a:spcPct val="0"/>
            </a:spcBef>
            <a:spcAft>
              <a:spcPct val="15000"/>
            </a:spcAft>
            <a:buChar char="•"/>
          </a:pPr>
          <a:r>
            <a:rPr lang="en-US" sz="2300" kern="1200" dirty="0"/>
            <a:t>Check if values meet expected criteria</a:t>
          </a:r>
        </a:p>
      </dsp:txBody>
      <dsp:txXfrm>
        <a:off x="3953" y="1647921"/>
        <a:ext cx="2377306" cy="1609942"/>
      </dsp:txXfrm>
    </dsp:sp>
    <dsp:sp modelId="{FF3D1E45-FBE4-5443-B83B-B74A439DC673}">
      <dsp:nvSpPr>
        <dsp:cNvPr id="0" name=""/>
        <dsp:cNvSpPr/>
      </dsp:nvSpPr>
      <dsp:spPr>
        <a:xfrm>
          <a:off x="2714082" y="985521"/>
          <a:ext cx="2377306" cy="662400"/>
        </a:xfrm>
        <a:prstGeom prst="rect">
          <a:avLst/>
        </a:prstGeom>
        <a:solidFill>
          <a:schemeClr val="accent2">
            <a:hueOff val="2147871"/>
            <a:satOff val="-6164"/>
            <a:lumOff val="-9870"/>
            <a:alphaOff val="0"/>
          </a:schemeClr>
        </a:solidFill>
        <a:ln w="19050" cap="flat" cmpd="sng" algn="ctr">
          <a:solidFill>
            <a:schemeClr val="accent2">
              <a:hueOff val="2147871"/>
              <a:satOff val="-6164"/>
              <a:lumOff val="-987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3576" tIns="93472" rIns="163576" bIns="93472" numCol="1" spcCol="1270" anchor="ctr" anchorCtr="0">
          <a:noAutofit/>
        </a:bodyPr>
        <a:lstStyle/>
        <a:p>
          <a:pPr marL="0" lvl="0" indent="0" algn="ctr" defTabSz="1022350">
            <a:lnSpc>
              <a:spcPct val="90000"/>
            </a:lnSpc>
            <a:spcBef>
              <a:spcPct val="0"/>
            </a:spcBef>
            <a:spcAft>
              <a:spcPct val="35000"/>
            </a:spcAft>
            <a:buNone/>
          </a:pPr>
          <a:r>
            <a:rPr lang="en-US" sz="2300" kern="1200" dirty="0"/>
            <a:t>Detect</a:t>
          </a:r>
        </a:p>
      </dsp:txBody>
      <dsp:txXfrm>
        <a:off x="2714082" y="985521"/>
        <a:ext cx="2377306" cy="662400"/>
      </dsp:txXfrm>
    </dsp:sp>
    <dsp:sp modelId="{103FDD06-260A-A34F-B364-869C56BC1B64}">
      <dsp:nvSpPr>
        <dsp:cNvPr id="0" name=""/>
        <dsp:cNvSpPr/>
      </dsp:nvSpPr>
      <dsp:spPr>
        <a:xfrm>
          <a:off x="2714082" y="1647921"/>
          <a:ext cx="2377306" cy="1609942"/>
        </a:xfrm>
        <a:prstGeom prst="rect">
          <a:avLst/>
        </a:prstGeom>
        <a:solidFill>
          <a:schemeClr val="accent2">
            <a:tint val="40000"/>
            <a:alpha val="90000"/>
            <a:hueOff val="2244906"/>
            <a:satOff val="-20744"/>
            <a:lumOff val="-2338"/>
            <a:alphaOff val="0"/>
          </a:schemeClr>
        </a:solidFill>
        <a:ln w="19050" cap="flat" cmpd="sng" algn="ctr">
          <a:solidFill>
            <a:schemeClr val="accent2">
              <a:tint val="40000"/>
              <a:alpha val="90000"/>
              <a:hueOff val="2244906"/>
              <a:satOff val="-20744"/>
              <a:lumOff val="-2338"/>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2682" tIns="122682" rIns="163576" bIns="184023" numCol="1" spcCol="1270" anchor="t" anchorCtr="0">
          <a:noAutofit/>
        </a:bodyPr>
        <a:lstStyle/>
        <a:p>
          <a:pPr marL="228600" lvl="1" indent="-228600" algn="l" defTabSz="1022350">
            <a:lnSpc>
              <a:spcPct val="90000"/>
            </a:lnSpc>
            <a:spcBef>
              <a:spcPct val="0"/>
            </a:spcBef>
            <a:spcAft>
              <a:spcPct val="15000"/>
            </a:spcAft>
            <a:buChar char="•"/>
          </a:pPr>
          <a:r>
            <a:rPr lang="en-US" sz="2300" kern="1200" dirty="0"/>
            <a:t>Find problems systematically</a:t>
          </a:r>
        </a:p>
      </dsp:txBody>
      <dsp:txXfrm>
        <a:off x="2714082" y="1647921"/>
        <a:ext cx="2377306" cy="1609942"/>
      </dsp:txXfrm>
    </dsp:sp>
    <dsp:sp modelId="{3E7022B9-A473-114C-B3E8-D39DB81EE7AE}">
      <dsp:nvSpPr>
        <dsp:cNvPr id="0" name=""/>
        <dsp:cNvSpPr/>
      </dsp:nvSpPr>
      <dsp:spPr>
        <a:xfrm>
          <a:off x="5424211" y="985521"/>
          <a:ext cx="2377306" cy="662400"/>
        </a:xfrm>
        <a:prstGeom prst="rect">
          <a:avLst/>
        </a:prstGeom>
        <a:solidFill>
          <a:schemeClr val="accent2">
            <a:hueOff val="4295743"/>
            <a:satOff val="-12329"/>
            <a:lumOff val="-19739"/>
            <a:alphaOff val="0"/>
          </a:schemeClr>
        </a:solidFill>
        <a:ln w="19050" cap="flat" cmpd="sng" algn="ctr">
          <a:solidFill>
            <a:schemeClr val="accent2">
              <a:hueOff val="4295743"/>
              <a:satOff val="-12329"/>
              <a:lumOff val="-19739"/>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3576" tIns="93472" rIns="163576" bIns="93472" numCol="1" spcCol="1270" anchor="ctr" anchorCtr="0">
          <a:noAutofit/>
        </a:bodyPr>
        <a:lstStyle/>
        <a:p>
          <a:pPr marL="0" lvl="0" indent="0" algn="ctr" defTabSz="1022350">
            <a:lnSpc>
              <a:spcPct val="90000"/>
            </a:lnSpc>
            <a:spcBef>
              <a:spcPct val="0"/>
            </a:spcBef>
            <a:spcAft>
              <a:spcPct val="35000"/>
            </a:spcAft>
            <a:buNone/>
          </a:pPr>
          <a:r>
            <a:rPr lang="en-US" sz="2300" kern="1200" dirty="0"/>
            <a:t>Clean</a:t>
          </a:r>
        </a:p>
      </dsp:txBody>
      <dsp:txXfrm>
        <a:off x="5424211" y="985521"/>
        <a:ext cx="2377306" cy="662400"/>
      </dsp:txXfrm>
    </dsp:sp>
    <dsp:sp modelId="{1555AD0D-0989-D348-81DD-B3BF6D10E32D}">
      <dsp:nvSpPr>
        <dsp:cNvPr id="0" name=""/>
        <dsp:cNvSpPr/>
      </dsp:nvSpPr>
      <dsp:spPr>
        <a:xfrm>
          <a:off x="5424211" y="1647921"/>
          <a:ext cx="2377306" cy="1609942"/>
        </a:xfrm>
        <a:prstGeom prst="rect">
          <a:avLst/>
        </a:prstGeom>
        <a:solidFill>
          <a:schemeClr val="accent2">
            <a:tint val="40000"/>
            <a:alpha val="90000"/>
            <a:hueOff val="4489812"/>
            <a:satOff val="-41488"/>
            <a:lumOff val="-4677"/>
            <a:alphaOff val="0"/>
          </a:schemeClr>
        </a:solidFill>
        <a:ln w="19050" cap="flat" cmpd="sng" algn="ctr">
          <a:solidFill>
            <a:schemeClr val="accent2">
              <a:tint val="40000"/>
              <a:alpha val="90000"/>
              <a:hueOff val="4489812"/>
              <a:satOff val="-41488"/>
              <a:lumOff val="-4677"/>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2682" tIns="122682" rIns="163576" bIns="184023" numCol="1" spcCol="1270" anchor="t" anchorCtr="0">
          <a:noAutofit/>
        </a:bodyPr>
        <a:lstStyle/>
        <a:p>
          <a:pPr marL="228600" lvl="1" indent="-228600" algn="l" defTabSz="1022350">
            <a:lnSpc>
              <a:spcPct val="90000"/>
            </a:lnSpc>
            <a:spcBef>
              <a:spcPct val="0"/>
            </a:spcBef>
            <a:spcAft>
              <a:spcPct val="15000"/>
            </a:spcAft>
            <a:buChar char="•"/>
          </a:pPr>
          <a:r>
            <a:rPr lang="en-US" sz="2300" kern="1200" dirty="0"/>
            <a:t>Apply fixes consistently</a:t>
          </a:r>
        </a:p>
      </dsp:txBody>
      <dsp:txXfrm>
        <a:off x="5424211" y="1647921"/>
        <a:ext cx="2377306" cy="1609942"/>
      </dsp:txXfrm>
    </dsp:sp>
    <dsp:sp modelId="{2E97116F-3C6A-1A4F-B951-B0CA56BA8363}">
      <dsp:nvSpPr>
        <dsp:cNvPr id="0" name=""/>
        <dsp:cNvSpPr/>
      </dsp:nvSpPr>
      <dsp:spPr>
        <a:xfrm>
          <a:off x="8134340" y="985521"/>
          <a:ext cx="2377306" cy="662400"/>
        </a:xfrm>
        <a:prstGeom prst="rect">
          <a:avLst/>
        </a:prstGeom>
        <a:solidFill>
          <a:schemeClr val="accent2">
            <a:hueOff val="6443614"/>
            <a:satOff val="-18493"/>
            <a:lumOff val="-29609"/>
            <a:alphaOff val="0"/>
          </a:schemeClr>
        </a:solidFill>
        <a:ln w="19050" cap="flat" cmpd="sng" algn="ctr">
          <a:solidFill>
            <a:schemeClr val="accent2">
              <a:hueOff val="6443614"/>
              <a:satOff val="-18493"/>
              <a:lumOff val="-29609"/>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3576" tIns="93472" rIns="163576" bIns="93472" numCol="1" spcCol="1270" anchor="ctr" anchorCtr="0">
          <a:noAutofit/>
        </a:bodyPr>
        <a:lstStyle/>
        <a:p>
          <a:pPr marL="0" lvl="0" indent="0" algn="ctr" defTabSz="1022350">
            <a:lnSpc>
              <a:spcPct val="90000"/>
            </a:lnSpc>
            <a:spcBef>
              <a:spcPct val="0"/>
            </a:spcBef>
            <a:spcAft>
              <a:spcPct val="35000"/>
            </a:spcAft>
            <a:buNone/>
          </a:pPr>
          <a:r>
            <a:rPr lang="en-US" sz="2300" kern="1200" dirty="0"/>
            <a:t>Verify</a:t>
          </a:r>
        </a:p>
      </dsp:txBody>
      <dsp:txXfrm>
        <a:off x="8134340" y="985521"/>
        <a:ext cx="2377306" cy="662400"/>
      </dsp:txXfrm>
    </dsp:sp>
    <dsp:sp modelId="{50267591-9515-2749-93B3-FCC5824D0474}">
      <dsp:nvSpPr>
        <dsp:cNvPr id="0" name=""/>
        <dsp:cNvSpPr/>
      </dsp:nvSpPr>
      <dsp:spPr>
        <a:xfrm>
          <a:off x="8134340" y="1647921"/>
          <a:ext cx="2377306" cy="1609942"/>
        </a:xfrm>
        <a:prstGeom prst="rect">
          <a:avLst/>
        </a:prstGeom>
        <a:solidFill>
          <a:schemeClr val="accent2">
            <a:tint val="40000"/>
            <a:alpha val="90000"/>
            <a:hueOff val="6734718"/>
            <a:satOff val="-62232"/>
            <a:lumOff val="-7015"/>
            <a:alphaOff val="0"/>
          </a:schemeClr>
        </a:solidFill>
        <a:ln w="19050" cap="flat" cmpd="sng" algn="ctr">
          <a:solidFill>
            <a:schemeClr val="accent2">
              <a:tint val="40000"/>
              <a:alpha val="90000"/>
              <a:hueOff val="6734718"/>
              <a:satOff val="-62232"/>
              <a:lumOff val="-7015"/>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2682" tIns="122682" rIns="163576" bIns="184023" numCol="1" spcCol="1270" anchor="t" anchorCtr="0">
          <a:noAutofit/>
        </a:bodyPr>
        <a:lstStyle/>
        <a:p>
          <a:pPr marL="228600" lvl="1" indent="-228600" algn="l" defTabSz="1022350">
            <a:lnSpc>
              <a:spcPct val="90000"/>
            </a:lnSpc>
            <a:spcBef>
              <a:spcPct val="0"/>
            </a:spcBef>
            <a:spcAft>
              <a:spcPct val="15000"/>
            </a:spcAft>
            <a:buChar char="•"/>
          </a:pPr>
          <a:r>
            <a:rPr lang="en-US" sz="2300" kern="1200" dirty="0"/>
            <a:t>Test that cleaning worked</a:t>
          </a:r>
        </a:p>
      </dsp:txBody>
      <dsp:txXfrm>
        <a:off x="8134340" y="1647921"/>
        <a:ext cx="2377306" cy="1609942"/>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64DB230-30AD-294A-9B67-D99E0D458CD6}">
      <dsp:nvSpPr>
        <dsp:cNvPr id="0" name=""/>
        <dsp:cNvSpPr/>
      </dsp:nvSpPr>
      <dsp:spPr>
        <a:xfrm>
          <a:off x="3286" y="16797"/>
          <a:ext cx="3203971" cy="633600"/>
        </a:xfrm>
        <a:prstGeom prst="rect">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6464" tIns="89408" rIns="156464" bIns="89408" numCol="1" spcCol="1270" anchor="ctr" anchorCtr="0">
          <a:noAutofit/>
        </a:bodyPr>
        <a:lstStyle/>
        <a:p>
          <a:pPr marL="0" lvl="0" indent="0" algn="ctr" defTabSz="977900">
            <a:lnSpc>
              <a:spcPct val="90000"/>
            </a:lnSpc>
            <a:spcBef>
              <a:spcPct val="0"/>
            </a:spcBef>
            <a:spcAft>
              <a:spcPct val="35000"/>
            </a:spcAft>
            <a:buNone/>
          </a:pPr>
          <a:r>
            <a:rPr lang="en-US" sz="2200" kern="1200" dirty="0"/>
            <a:t>Omit</a:t>
          </a:r>
        </a:p>
      </dsp:txBody>
      <dsp:txXfrm>
        <a:off x="3286" y="16797"/>
        <a:ext cx="3203971" cy="633600"/>
      </dsp:txXfrm>
    </dsp:sp>
    <dsp:sp modelId="{30A786E9-E97D-1240-A5C9-C1A02B4BCC1E}">
      <dsp:nvSpPr>
        <dsp:cNvPr id="0" name=""/>
        <dsp:cNvSpPr/>
      </dsp:nvSpPr>
      <dsp:spPr>
        <a:xfrm>
          <a:off x="3286" y="650397"/>
          <a:ext cx="3203971" cy="2906268"/>
        </a:xfrm>
        <a:prstGeom prst="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7348" tIns="117348" rIns="156464" bIns="176022" numCol="1" spcCol="1270" anchor="t" anchorCtr="0">
          <a:noAutofit/>
        </a:bodyPr>
        <a:lstStyle/>
        <a:p>
          <a:pPr marL="228600" lvl="1" indent="-228600" algn="l" defTabSz="977900">
            <a:lnSpc>
              <a:spcPct val="90000"/>
            </a:lnSpc>
            <a:spcBef>
              <a:spcPct val="0"/>
            </a:spcBef>
            <a:spcAft>
              <a:spcPct val="15000"/>
            </a:spcAft>
            <a:buChar char="•"/>
          </a:pPr>
          <a:r>
            <a:rPr lang="en-US" sz="2200" kern="1200" dirty="0"/>
            <a:t>Remove rows with missing values</a:t>
          </a:r>
        </a:p>
        <a:p>
          <a:pPr marL="228600" lvl="1" indent="-228600" algn="l" defTabSz="977900">
            <a:lnSpc>
              <a:spcPct val="90000"/>
            </a:lnSpc>
            <a:spcBef>
              <a:spcPct val="0"/>
            </a:spcBef>
            <a:spcAft>
              <a:spcPct val="15000"/>
            </a:spcAft>
            <a:buChar char="•"/>
          </a:pPr>
          <a:r>
            <a:rPr lang="en-US" sz="2200" kern="1200" dirty="0"/>
            <a:t>Simple approach</a:t>
          </a:r>
        </a:p>
        <a:p>
          <a:pPr marL="228600" lvl="1" indent="-228600" algn="l" defTabSz="977900">
            <a:lnSpc>
              <a:spcPct val="90000"/>
            </a:lnSpc>
            <a:spcBef>
              <a:spcPct val="0"/>
            </a:spcBef>
            <a:spcAft>
              <a:spcPct val="15000"/>
            </a:spcAft>
            <a:buChar char="•"/>
          </a:pPr>
          <a:r>
            <a:rPr lang="en-US" sz="2200" kern="1200" dirty="0"/>
            <a:t>Works if few missing values</a:t>
          </a:r>
        </a:p>
        <a:p>
          <a:pPr marL="228600" lvl="1" indent="-228600" algn="l" defTabSz="977900">
            <a:lnSpc>
              <a:spcPct val="90000"/>
            </a:lnSpc>
            <a:spcBef>
              <a:spcPct val="0"/>
            </a:spcBef>
            <a:spcAft>
              <a:spcPct val="15000"/>
            </a:spcAft>
            <a:buChar char="•"/>
          </a:pPr>
          <a:r>
            <a:rPr lang="en-US" sz="2200" kern="1200" dirty="0"/>
            <a:t>Can lose too much data</a:t>
          </a:r>
        </a:p>
      </dsp:txBody>
      <dsp:txXfrm>
        <a:off x="3286" y="650397"/>
        <a:ext cx="3203971" cy="2906268"/>
      </dsp:txXfrm>
    </dsp:sp>
    <dsp:sp modelId="{54277C94-A908-F647-921D-EFF5FC9439B2}">
      <dsp:nvSpPr>
        <dsp:cNvPr id="0" name=""/>
        <dsp:cNvSpPr/>
      </dsp:nvSpPr>
      <dsp:spPr>
        <a:xfrm>
          <a:off x="3655814" y="16797"/>
          <a:ext cx="3203971" cy="633600"/>
        </a:xfrm>
        <a:prstGeom prst="rect">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6464" tIns="89408" rIns="156464" bIns="89408" numCol="1" spcCol="1270" anchor="ctr" anchorCtr="0">
          <a:noAutofit/>
        </a:bodyPr>
        <a:lstStyle/>
        <a:p>
          <a:pPr marL="0" lvl="0" indent="0" algn="ctr" defTabSz="977900">
            <a:lnSpc>
              <a:spcPct val="90000"/>
            </a:lnSpc>
            <a:spcBef>
              <a:spcPct val="0"/>
            </a:spcBef>
            <a:spcAft>
              <a:spcPct val="35000"/>
            </a:spcAft>
            <a:buNone/>
          </a:pPr>
          <a:r>
            <a:rPr lang="en-US" sz="2200" kern="1200" dirty="0"/>
            <a:t>Impute</a:t>
          </a:r>
        </a:p>
      </dsp:txBody>
      <dsp:txXfrm>
        <a:off x="3655814" y="16797"/>
        <a:ext cx="3203971" cy="633600"/>
      </dsp:txXfrm>
    </dsp:sp>
    <dsp:sp modelId="{973CD927-CD9C-3248-93E4-D1AD882F15A6}">
      <dsp:nvSpPr>
        <dsp:cNvPr id="0" name=""/>
        <dsp:cNvSpPr/>
      </dsp:nvSpPr>
      <dsp:spPr>
        <a:xfrm>
          <a:off x="3655814" y="650397"/>
          <a:ext cx="3203971" cy="2906268"/>
        </a:xfrm>
        <a:prstGeom prst="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7348" tIns="117348" rIns="156464" bIns="176022" numCol="1" spcCol="1270" anchor="t" anchorCtr="0">
          <a:noAutofit/>
        </a:bodyPr>
        <a:lstStyle/>
        <a:p>
          <a:pPr marL="228600" lvl="1" indent="-228600" algn="l" defTabSz="977900">
            <a:lnSpc>
              <a:spcPct val="90000"/>
            </a:lnSpc>
            <a:spcBef>
              <a:spcPct val="0"/>
            </a:spcBef>
            <a:spcAft>
              <a:spcPct val="15000"/>
            </a:spcAft>
            <a:buChar char="•"/>
          </a:pPr>
          <a:r>
            <a:rPr lang="en-US" sz="2200" kern="1200" dirty="0"/>
            <a:t>Fill in with estimated values</a:t>
          </a:r>
        </a:p>
        <a:p>
          <a:pPr marL="228600" lvl="1" indent="-228600" algn="l" defTabSz="977900">
            <a:lnSpc>
              <a:spcPct val="90000"/>
            </a:lnSpc>
            <a:spcBef>
              <a:spcPct val="0"/>
            </a:spcBef>
            <a:spcAft>
              <a:spcPct val="15000"/>
            </a:spcAft>
            <a:buChar char="•"/>
          </a:pPr>
          <a:r>
            <a:rPr lang="en-US" sz="2200" kern="1200" dirty="0"/>
            <a:t>Use mean/median or category averages</a:t>
          </a:r>
        </a:p>
        <a:p>
          <a:pPr marL="228600" lvl="1" indent="-228600" algn="l" defTabSz="977900">
            <a:lnSpc>
              <a:spcPct val="90000"/>
            </a:lnSpc>
            <a:spcBef>
              <a:spcPct val="0"/>
            </a:spcBef>
            <a:spcAft>
              <a:spcPct val="15000"/>
            </a:spcAft>
            <a:buChar char="•"/>
          </a:pPr>
          <a:r>
            <a:rPr lang="en-US" sz="2200" kern="1200" dirty="0"/>
            <a:t>Or predict based on other variables</a:t>
          </a:r>
        </a:p>
        <a:p>
          <a:pPr marL="228600" lvl="1" indent="-228600" algn="l" defTabSz="977900">
            <a:lnSpc>
              <a:spcPct val="90000"/>
            </a:lnSpc>
            <a:spcBef>
              <a:spcPct val="0"/>
            </a:spcBef>
            <a:spcAft>
              <a:spcPct val="15000"/>
            </a:spcAft>
            <a:buChar char="•"/>
          </a:pPr>
          <a:r>
            <a:rPr lang="en-US" sz="2200" kern="1200" dirty="0"/>
            <a:t>It can get sophisticated fast</a:t>
          </a:r>
        </a:p>
      </dsp:txBody>
      <dsp:txXfrm>
        <a:off x="3655814" y="650397"/>
        <a:ext cx="3203971" cy="2906268"/>
      </dsp:txXfrm>
    </dsp:sp>
    <dsp:sp modelId="{1CC6F2BC-08C2-044D-B292-0CA5A2F48E31}">
      <dsp:nvSpPr>
        <dsp:cNvPr id="0" name=""/>
        <dsp:cNvSpPr/>
      </dsp:nvSpPr>
      <dsp:spPr>
        <a:xfrm>
          <a:off x="7308342" y="16797"/>
          <a:ext cx="3203971" cy="633600"/>
        </a:xfrm>
        <a:prstGeom prst="rect">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6464" tIns="89408" rIns="156464" bIns="89408" numCol="1" spcCol="1270" anchor="ctr" anchorCtr="0">
          <a:noAutofit/>
        </a:bodyPr>
        <a:lstStyle/>
        <a:p>
          <a:pPr marL="0" lvl="0" indent="0" algn="ctr" defTabSz="977900">
            <a:lnSpc>
              <a:spcPct val="90000"/>
            </a:lnSpc>
            <a:spcBef>
              <a:spcPct val="0"/>
            </a:spcBef>
            <a:spcAft>
              <a:spcPct val="35000"/>
            </a:spcAft>
            <a:buNone/>
          </a:pPr>
          <a:r>
            <a:rPr lang="en-US" sz="2200" kern="1200" dirty="0"/>
            <a:t>Leave as-is</a:t>
          </a:r>
        </a:p>
      </dsp:txBody>
      <dsp:txXfrm>
        <a:off x="7308342" y="16797"/>
        <a:ext cx="3203971" cy="633600"/>
      </dsp:txXfrm>
    </dsp:sp>
    <dsp:sp modelId="{BAE60FDA-F7EF-D14B-8672-23986E511DA2}">
      <dsp:nvSpPr>
        <dsp:cNvPr id="0" name=""/>
        <dsp:cNvSpPr/>
      </dsp:nvSpPr>
      <dsp:spPr>
        <a:xfrm>
          <a:off x="7308342" y="650397"/>
          <a:ext cx="3203971" cy="2906268"/>
        </a:xfrm>
        <a:prstGeom prst="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7348" tIns="117348" rIns="156464" bIns="176022" numCol="1" spcCol="1270" anchor="t" anchorCtr="0">
          <a:noAutofit/>
        </a:bodyPr>
        <a:lstStyle/>
        <a:p>
          <a:pPr marL="228600" lvl="1" indent="-228600" algn="l" defTabSz="977900">
            <a:lnSpc>
              <a:spcPct val="90000"/>
            </a:lnSpc>
            <a:spcBef>
              <a:spcPct val="0"/>
            </a:spcBef>
            <a:spcAft>
              <a:spcPct val="15000"/>
            </a:spcAft>
            <a:buChar char="•"/>
          </a:pPr>
          <a:r>
            <a:rPr lang="en-US" sz="2200" kern="1200" dirty="0"/>
            <a:t>Python and R excludes missing values analyses without dropping the entire record.</a:t>
          </a:r>
        </a:p>
      </dsp:txBody>
      <dsp:txXfrm>
        <a:off x="7308342" y="650397"/>
        <a:ext cx="3203971" cy="2906268"/>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9C924CC-FE32-4542-99D3-C04C17968C59}">
      <dsp:nvSpPr>
        <dsp:cNvPr id="0" name=""/>
        <dsp:cNvSpPr/>
      </dsp:nvSpPr>
      <dsp:spPr>
        <a:xfrm>
          <a:off x="791663" y="0"/>
          <a:ext cx="720447" cy="720447"/>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A2A3FCE-F748-CC40-8583-1832F8A7E23C}">
      <dsp:nvSpPr>
        <dsp:cNvPr id="0" name=""/>
        <dsp:cNvSpPr/>
      </dsp:nvSpPr>
      <dsp:spPr>
        <a:xfrm>
          <a:off x="863708" y="72044"/>
          <a:ext cx="576357" cy="576357"/>
        </a:xfrm>
        <a:prstGeom prst="chord">
          <a:avLst>
            <a:gd name="adj1" fmla="val 1168272"/>
            <a:gd name="adj2" fmla="val 9631728"/>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BA2F0FD-3AEA-5148-BAF9-008B6854BC10}">
      <dsp:nvSpPr>
        <dsp:cNvPr id="0" name=""/>
        <dsp:cNvSpPr/>
      </dsp:nvSpPr>
      <dsp:spPr>
        <a:xfrm>
          <a:off x="1662203" y="720447"/>
          <a:ext cx="2131323" cy="303188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800100">
            <a:lnSpc>
              <a:spcPct val="90000"/>
            </a:lnSpc>
            <a:spcBef>
              <a:spcPct val="0"/>
            </a:spcBef>
            <a:spcAft>
              <a:spcPct val="35000"/>
            </a:spcAft>
            <a:buNone/>
          </a:pPr>
          <a:r>
            <a:rPr lang="en-US" sz="1800" kern="1200" dirty="0">
              <a:solidFill>
                <a:srgbClr val="000000"/>
              </a:solidFill>
              <a:latin typeface="Aptos" panose="020B0004020202020204" pitchFamily="34" charset="0"/>
              <a:ea typeface="Inter" pitchFamily="34" charset="-122"/>
              <a:cs typeface="Inter" pitchFamily="34" charset="-120"/>
            </a:rPr>
            <a:t>First, determine if the outlier is a mistake or a genuine extreme value.</a:t>
          </a:r>
          <a:endParaRPr lang="en-US" sz="1800" kern="1200" dirty="0">
            <a:latin typeface="Aptos" panose="020B0004020202020204" pitchFamily="34" charset="0"/>
          </a:endParaRPr>
        </a:p>
      </dsp:txBody>
      <dsp:txXfrm>
        <a:off x="1662203" y="720447"/>
        <a:ext cx="2131323" cy="3031882"/>
      </dsp:txXfrm>
    </dsp:sp>
    <dsp:sp modelId="{5591D853-1BCA-FC45-A578-5D665CFFA607}">
      <dsp:nvSpPr>
        <dsp:cNvPr id="0" name=""/>
        <dsp:cNvSpPr/>
      </dsp:nvSpPr>
      <dsp:spPr>
        <a:xfrm>
          <a:off x="1662203" y="0"/>
          <a:ext cx="2131323" cy="72044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b" anchorCtr="0">
          <a:noAutofit/>
        </a:bodyPr>
        <a:lstStyle/>
        <a:p>
          <a:pPr marL="0" lvl="0" indent="0" algn="l" defTabSz="933450">
            <a:lnSpc>
              <a:spcPct val="90000"/>
            </a:lnSpc>
            <a:spcBef>
              <a:spcPct val="0"/>
            </a:spcBef>
            <a:spcAft>
              <a:spcPct val="35000"/>
            </a:spcAft>
            <a:buNone/>
          </a:pPr>
          <a:r>
            <a:rPr lang="en-US" sz="2100" kern="1200" dirty="0"/>
            <a:t>Is it an Error?</a:t>
          </a:r>
        </a:p>
      </dsp:txBody>
      <dsp:txXfrm>
        <a:off x="1662203" y="0"/>
        <a:ext cx="2131323" cy="720447"/>
      </dsp:txXfrm>
    </dsp:sp>
    <dsp:sp modelId="{CC692FED-7CE6-E34D-A2E2-EF4CF87FFD44}">
      <dsp:nvSpPr>
        <dsp:cNvPr id="0" name=""/>
        <dsp:cNvSpPr/>
      </dsp:nvSpPr>
      <dsp:spPr>
        <a:xfrm>
          <a:off x="3943620" y="0"/>
          <a:ext cx="720447" cy="720447"/>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24CB5F6-AED8-2D45-87A1-7C8089B5F777}">
      <dsp:nvSpPr>
        <dsp:cNvPr id="0" name=""/>
        <dsp:cNvSpPr/>
      </dsp:nvSpPr>
      <dsp:spPr>
        <a:xfrm>
          <a:off x="4015665" y="72044"/>
          <a:ext cx="576357" cy="576357"/>
        </a:xfrm>
        <a:prstGeom prst="chord">
          <a:avLst>
            <a:gd name="adj1" fmla="val 20431728"/>
            <a:gd name="adj2" fmla="val 11968272"/>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083B167-DEDD-7E46-8233-F8F3CFF166F4}">
      <dsp:nvSpPr>
        <dsp:cNvPr id="0" name=""/>
        <dsp:cNvSpPr/>
      </dsp:nvSpPr>
      <dsp:spPr>
        <a:xfrm>
          <a:off x="4814161" y="720447"/>
          <a:ext cx="2131323" cy="303188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800100">
            <a:lnSpc>
              <a:spcPct val="90000"/>
            </a:lnSpc>
            <a:spcBef>
              <a:spcPct val="0"/>
            </a:spcBef>
            <a:spcAft>
              <a:spcPct val="35000"/>
            </a:spcAft>
            <a:buSzPct val="100000"/>
            <a:buNone/>
          </a:pPr>
          <a:r>
            <a:rPr lang="en-US" sz="1800" kern="1200" dirty="0">
              <a:solidFill>
                <a:srgbClr val="000000"/>
              </a:solidFill>
              <a:latin typeface="Aptos" panose="020B0004020202020204" pitchFamily="34" charset="0"/>
              <a:ea typeface="Inter" pitchFamily="34" charset="-122"/>
              <a:cs typeface="Inter" pitchFamily="34" charset="-120"/>
            </a:rPr>
            <a:t>Correct it if you know the intended value</a:t>
          </a:r>
        </a:p>
        <a:p>
          <a:pPr marL="0" lvl="0" indent="0" algn="l" defTabSz="800100">
            <a:lnSpc>
              <a:spcPct val="90000"/>
            </a:lnSpc>
            <a:spcBef>
              <a:spcPct val="0"/>
            </a:spcBef>
            <a:spcAft>
              <a:spcPct val="35000"/>
            </a:spcAft>
            <a:buSzPct val="100000"/>
            <a:buNone/>
          </a:pPr>
          <a:r>
            <a:rPr lang="en-US" sz="1800" kern="1200" dirty="0">
              <a:solidFill>
                <a:srgbClr val="000000"/>
              </a:solidFill>
              <a:latin typeface="Aptos" panose="020B0004020202020204" pitchFamily="34" charset="0"/>
              <a:ea typeface="Inter" pitchFamily="34" charset="-122"/>
              <a:cs typeface="Inter" pitchFamily="34" charset="-120"/>
            </a:rPr>
            <a:t>Remove it if you can't fix it confidently</a:t>
          </a:r>
          <a:endParaRPr lang="en-US" sz="1800" kern="1200" dirty="0">
            <a:latin typeface="Aptos" panose="020B0004020202020204" pitchFamily="34" charset="0"/>
          </a:endParaRPr>
        </a:p>
      </dsp:txBody>
      <dsp:txXfrm>
        <a:off x="4814161" y="720447"/>
        <a:ext cx="2131323" cy="3031882"/>
      </dsp:txXfrm>
    </dsp:sp>
    <dsp:sp modelId="{F6E47FE7-4B13-A041-8D9A-9E91CC997734}">
      <dsp:nvSpPr>
        <dsp:cNvPr id="0" name=""/>
        <dsp:cNvSpPr/>
      </dsp:nvSpPr>
      <dsp:spPr>
        <a:xfrm>
          <a:off x="4814161" y="0"/>
          <a:ext cx="2131323" cy="72044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b" anchorCtr="0">
          <a:noAutofit/>
        </a:bodyPr>
        <a:lstStyle/>
        <a:p>
          <a:pPr marL="0" lvl="0" indent="0" algn="l" defTabSz="933450">
            <a:lnSpc>
              <a:spcPct val="90000"/>
            </a:lnSpc>
            <a:spcBef>
              <a:spcPct val="0"/>
            </a:spcBef>
            <a:spcAft>
              <a:spcPct val="35000"/>
            </a:spcAft>
            <a:buNone/>
          </a:pPr>
          <a:r>
            <a:rPr lang="en-US" sz="2100" b="0" kern="1200" dirty="0">
              <a:solidFill>
                <a:srgbClr val="000000"/>
              </a:solidFill>
              <a:latin typeface="Aptos" panose="020B0004020202020204" pitchFamily="34" charset="0"/>
              <a:ea typeface="Playfair Display Bold" pitchFamily="34" charset="-122"/>
              <a:cs typeface="Playfair Display Bold" pitchFamily="34" charset="-120"/>
            </a:rPr>
            <a:t>If It's an Error</a:t>
          </a:r>
          <a:endParaRPr lang="en-US" sz="2100" b="0" kern="1200" dirty="0">
            <a:latin typeface="Aptos" panose="020B0004020202020204" pitchFamily="34" charset="0"/>
          </a:endParaRPr>
        </a:p>
      </dsp:txBody>
      <dsp:txXfrm>
        <a:off x="4814161" y="0"/>
        <a:ext cx="2131323" cy="720447"/>
      </dsp:txXfrm>
    </dsp:sp>
    <dsp:sp modelId="{2906A6B6-D867-D847-A722-D89177CCE40B}">
      <dsp:nvSpPr>
        <dsp:cNvPr id="0" name=""/>
        <dsp:cNvSpPr/>
      </dsp:nvSpPr>
      <dsp:spPr>
        <a:xfrm>
          <a:off x="7095577" y="0"/>
          <a:ext cx="720447" cy="720447"/>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C63F94B-FC4D-A04B-AD9F-A7E9D4F3A4B4}">
      <dsp:nvSpPr>
        <dsp:cNvPr id="0" name=""/>
        <dsp:cNvSpPr/>
      </dsp:nvSpPr>
      <dsp:spPr>
        <a:xfrm>
          <a:off x="7167622" y="72044"/>
          <a:ext cx="576357" cy="576357"/>
        </a:xfrm>
        <a:prstGeom prst="chord">
          <a:avLst>
            <a:gd name="adj1" fmla="val 16200000"/>
            <a:gd name="adj2" fmla="val 16200000"/>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DB500EE-420B-BB46-A4FF-58FB51943B9C}">
      <dsp:nvSpPr>
        <dsp:cNvPr id="0" name=""/>
        <dsp:cNvSpPr/>
      </dsp:nvSpPr>
      <dsp:spPr>
        <a:xfrm>
          <a:off x="7966118" y="720447"/>
          <a:ext cx="2131323" cy="303188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800100">
            <a:lnSpc>
              <a:spcPct val="90000"/>
            </a:lnSpc>
            <a:spcBef>
              <a:spcPct val="0"/>
            </a:spcBef>
            <a:spcAft>
              <a:spcPct val="35000"/>
            </a:spcAft>
            <a:buSzPct val="100000"/>
            <a:buNone/>
          </a:pPr>
          <a:r>
            <a:rPr lang="en-US" sz="1800" kern="1200" dirty="0">
              <a:solidFill>
                <a:srgbClr val="000000"/>
              </a:solidFill>
              <a:latin typeface="Aptos" panose="020B0004020202020204" pitchFamily="34" charset="0"/>
              <a:ea typeface="Inter" pitchFamily="34" charset="-122"/>
              <a:cs typeface="Inter" pitchFamily="34" charset="-120"/>
            </a:rPr>
            <a:t>Keep it but use robust methods (median-based stats)</a:t>
          </a:r>
          <a:endParaRPr lang="en-US" sz="1800" kern="1200" dirty="0">
            <a:latin typeface="Aptos" panose="020B0004020202020204" pitchFamily="34" charset="0"/>
          </a:endParaRPr>
        </a:p>
        <a:p>
          <a:pPr marL="0" lvl="0" indent="0" algn="l" defTabSz="800100">
            <a:lnSpc>
              <a:spcPct val="90000"/>
            </a:lnSpc>
            <a:spcBef>
              <a:spcPct val="0"/>
            </a:spcBef>
            <a:spcAft>
              <a:spcPct val="35000"/>
            </a:spcAft>
            <a:buSzPct val="100000"/>
            <a:buNone/>
          </a:pPr>
          <a:r>
            <a:rPr lang="en-US" sz="1800" kern="1200" dirty="0">
              <a:solidFill>
                <a:srgbClr val="000000"/>
              </a:solidFill>
              <a:latin typeface="Aptos" panose="020B0004020202020204" pitchFamily="34" charset="0"/>
              <a:ea typeface="Inter" pitchFamily="34" charset="-122"/>
              <a:cs typeface="Inter" pitchFamily="34" charset="-120"/>
            </a:rPr>
            <a:t>Report analyses with and without it</a:t>
          </a:r>
        </a:p>
        <a:p>
          <a:pPr marL="0" lvl="0" indent="0" algn="l" defTabSz="800100">
            <a:lnSpc>
              <a:spcPct val="90000"/>
            </a:lnSpc>
            <a:spcBef>
              <a:spcPct val="0"/>
            </a:spcBef>
            <a:spcAft>
              <a:spcPct val="35000"/>
            </a:spcAft>
            <a:buSzPct val="100000"/>
            <a:buNone/>
          </a:pPr>
          <a:r>
            <a:rPr lang="en-US" sz="1800" kern="1200" dirty="0">
              <a:solidFill>
                <a:srgbClr val="000000"/>
              </a:solidFill>
              <a:latin typeface="Aptos" panose="020B0004020202020204" pitchFamily="34" charset="0"/>
              <a:ea typeface="Inter" pitchFamily="34" charset="-122"/>
              <a:cs typeface="Inter" pitchFamily="34" charset="-120"/>
            </a:rPr>
            <a:t>Cap extreme values (</a:t>
          </a:r>
          <a:r>
            <a:rPr lang="en-US" sz="1800" kern="1200" dirty="0" err="1">
              <a:solidFill>
                <a:srgbClr val="000000"/>
              </a:solidFill>
              <a:latin typeface="Aptos" panose="020B0004020202020204" pitchFamily="34" charset="0"/>
              <a:ea typeface="Inter" pitchFamily="34" charset="-122"/>
              <a:cs typeface="Inter" pitchFamily="34" charset="-120"/>
            </a:rPr>
            <a:t>winsorizing</a:t>
          </a:r>
          <a:r>
            <a:rPr lang="en-US" sz="1800" kern="1200" dirty="0">
              <a:solidFill>
                <a:srgbClr val="000000"/>
              </a:solidFill>
              <a:latin typeface="Aptos" panose="020B0004020202020204" pitchFamily="34" charset="0"/>
              <a:ea typeface="Inter" pitchFamily="34" charset="-122"/>
              <a:cs typeface="Inter" pitchFamily="34" charset="-120"/>
            </a:rPr>
            <a:t>)</a:t>
          </a:r>
        </a:p>
        <a:p>
          <a:pPr marL="0" lvl="0" indent="0" algn="l" defTabSz="800100">
            <a:lnSpc>
              <a:spcPct val="90000"/>
            </a:lnSpc>
            <a:spcBef>
              <a:spcPct val="0"/>
            </a:spcBef>
            <a:spcAft>
              <a:spcPct val="35000"/>
            </a:spcAft>
            <a:buSzPct val="100000"/>
            <a:buNone/>
          </a:pPr>
          <a:r>
            <a:rPr lang="en-US" sz="1800" kern="1200" dirty="0">
              <a:solidFill>
                <a:srgbClr val="000000"/>
              </a:solidFill>
              <a:latin typeface="Aptos" panose="020B0004020202020204" pitchFamily="34" charset="0"/>
              <a:ea typeface="Inter" pitchFamily="34" charset="-122"/>
              <a:cs typeface="Inter" pitchFamily="34" charset="-120"/>
            </a:rPr>
            <a:t>Use median instead of mean</a:t>
          </a:r>
          <a:endParaRPr lang="en-US" sz="1800" kern="1200" dirty="0">
            <a:latin typeface="Aptos" panose="020B0004020202020204" pitchFamily="34" charset="0"/>
          </a:endParaRPr>
        </a:p>
      </dsp:txBody>
      <dsp:txXfrm>
        <a:off x="7966118" y="720447"/>
        <a:ext cx="2131323" cy="3031882"/>
      </dsp:txXfrm>
    </dsp:sp>
    <dsp:sp modelId="{3B9285AB-3A1B-2D40-A068-B01FB18524DD}">
      <dsp:nvSpPr>
        <dsp:cNvPr id="0" name=""/>
        <dsp:cNvSpPr/>
      </dsp:nvSpPr>
      <dsp:spPr>
        <a:xfrm>
          <a:off x="7966118" y="0"/>
          <a:ext cx="2131323" cy="72044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b" anchorCtr="0">
          <a:noAutofit/>
        </a:bodyPr>
        <a:lstStyle/>
        <a:p>
          <a:pPr marL="0" lvl="0" indent="0" algn="l" defTabSz="933450">
            <a:lnSpc>
              <a:spcPct val="90000"/>
            </a:lnSpc>
            <a:spcBef>
              <a:spcPct val="0"/>
            </a:spcBef>
            <a:spcAft>
              <a:spcPct val="35000"/>
            </a:spcAft>
            <a:buNone/>
          </a:pPr>
          <a:r>
            <a:rPr lang="en-US" sz="2100" b="0" kern="1200" dirty="0">
              <a:solidFill>
                <a:srgbClr val="000000"/>
              </a:solidFill>
              <a:latin typeface="Aptos" panose="020B0004020202020204" pitchFamily="34" charset="0"/>
              <a:ea typeface="Playfair Display Bold" pitchFamily="34" charset="-122"/>
              <a:cs typeface="Playfair Display Bold" pitchFamily="34" charset="-120"/>
            </a:rPr>
            <a:t>If It Might Be Real</a:t>
          </a:r>
          <a:endParaRPr lang="en-US" sz="2100" b="0" kern="1200" dirty="0">
            <a:latin typeface="Aptos" panose="020B0004020202020204" pitchFamily="34" charset="0"/>
          </a:endParaRPr>
        </a:p>
      </dsp:txBody>
      <dsp:txXfrm>
        <a:off x="7966118" y="0"/>
        <a:ext cx="2131323" cy="720447"/>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5E37ABD-BD38-D144-9B6E-BDEEB16103DE}">
      <dsp:nvSpPr>
        <dsp:cNvPr id="0" name=""/>
        <dsp:cNvSpPr/>
      </dsp:nvSpPr>
      <dsp:spPr>
        <a:xfrm>
          <a:off x="3953" y="1826"/>
          <a:ext cx="2377306" cy="869759"/>
        </a:xfrm>
        <a:prstGeom prst="rect">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0688" tIns="97536" rIns="170688" bIns="97536" numCol="1" spcCol="1270" anchor="ctr" anchorCtr="0">
          <a:noAutofit/>
        </a:bodyPr>
        <a:lstStyle/>
        <a:p>
          <a:pPr marL="0" lvl="0" indent="0" algn="ctr" defTabSz="1066800">
            <a:lnSpc>
              <a:spcPct val="90000"/>
            </a:lnSpc>
            <a:spcBef>
              <a:spcPct val="0"/>
            </a:spcBef>
            <a:spcAft>
              <a:spcPct val="35000"/>
            </a:spcAft>
            <a:buNone/>
          </a:pPr>
          <a:r>
            <a:rPr lang="en-US" sz="2400" kern="1200" dirty="0"/>
            <a:t>Fix Typos</a:t>
          </a:r>
        </a:p>
      </dsp:txBody>
      <dsp:txXfrm>
        <a:off x="3953" y="1826"/>
        <a:ext cx="2377306" cy="869759"/>
      </dsp:txXfrm>
    </dsp:sp>
    <dsp:sp modelId="{67A12D8A-57FA-124B-B510-490D334E0D45}">
      <dsp:nvSpPr>
        <dsp:cNvPr id="0" name=""/>
        <dsp:cNvSpPr/>
      </dsp:nvSpPr>
      <dsp:spPr>
        <a:xfrm>
          <a:off x="3953" y="871585"/>
          <a:ext cx="2377306" cy="2700050"/>
        </a:xfrm>
        <a:prstGeom prst="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8016" tIns="128016" rIns="170688" bIns="192024" numCol="1" spcCol="1270" anchor="t" anchorCtr="0">
          <a:noAutofit/>
        </a:bodyPr>
        <a:lstStyle/>
        <a:p>
          <a:pPr marL="228600" lvl="1" indent="-228600" algn="l" defTabSz="1066800">
            <a:lnSpc>
              <a:spcPct val="90000"/>
            </a:lnSpc>
            <a:spcBef>
              <a:spcPct val="0"/>
            </a:spcBef>
            <a:spcAft>
              <a:spcPct val="15000"/>
            </a:spcAft>
            <a:buChar char="•"/>
          </a:pPr>
          <a:r>
            <a:rPr lang="en-US" sz="2400" kern="1200" dirty="0"/>
            <a:t>Correct misspellings like "</a:t>
          </a:r>
          <a:r>
            <a:rPr lang="en-US" sz="2400" kern="1200" dirty="0" err="1"/>
            <a:t>Femael</a:t>
          </a:r>
          <a:r>
            <a:rPr lang="en-US" sz="2400" kern="1200" dirty="0"/>
            <a:t>" to "Female" in categories.</a:t>
          </a:r>
        </a:p>
      </dsp:txBody>
      <dsp:txXfrm>
        <a:off x="3953" y="871585"/>
        <a:ext cx="2377306" cy="2700050"/>
      </dsp:txXfrm>
    </dsp:sp>
    <dsp:sp modelId="{D9C5B6F9-3409-DC40-95B8-E7DF79B2E0AC}">
      <dsp:nvSpPr>
        <dsp:cNvPr id="0" name=""/>
        <dsp:cNvSpPr/>
      </dsp:nvSpPr>
      <dsp:spPr>
        <a:xfrm>
          <a:off x="2714082" y="1826"/>
          <a:ext cx="2377306" cy="869759"/>
        </a:xfrm>
        <a:prstGeom prst="rect">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0688" tIns="97536" rIns="170688" bIns="97536" numCol="1" spcCol="1270" anchor="ctr" anchorCtr="0">
          <a:noAutofit/>
        </a:bodyPr>
        <a:lstStyle/>
        <a:p>
          <a:pPr marL="0" lvl="0" indent="0" algn="ctr" defTabSz="1066800">
            <a:lnSpc>
              <a:spcPct val="90000"/>
            </a:lnSpc>
            <a:spcBef>
              <a:spcPct val="0"/>
            </a:spcBef>
            <a:spcAft>
              <a:spcPct val="35000"/>
            </a:spcAft>
            <a:buNone/>
          </a:pPr>
          <a:r>
            <a:rPr lang="en-US" sz="2400" kern="1200" dirty="0"/>
            <a:t>Trim Unwanted Characters</a:t>
          </a:r>
        </a:p>
      </dsp:txBody>
      <dsp:txXfrm>
        <a:off x="2714082" y="1826"/>
        <a:ext cx="2377306" cy="869759"/>
      </dsp:txXfrm>
    </dsp:sp>
    <dsp:sp modelId="{907A638C-22A4-D34A-9ADA-175CC17D264B}">
      <dsp:nvSpPr>
        <dsp:cNvPr id="0" name=""/>
        <dsp:cNvSpPr/>
      </dsp:nvSpPr>
      <dsp:spPr>
        <a:xfrm>
          <a:off x="2714082" y="871585"/>
          <a:ext cx="2377306" cy="2700050"/>
        </a:xfrm>
        <a:prstGeom prst="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8016" tIns="128016" rIns="170688" bIns="192024" numCol="1" spcCol="1270" anchor="t" anchorCtr="0">
          <a:noAutofit/>
        </a:bodyPr>
        <a:lstStyle/>
        <a:p>
          <a:pPr marL="228600" lvl="1" indent="-228600" algn="l" defTabSz="1066800">
            <a:lnSpc>
              <a:spcPct val="90000"/>
            </a:lnSpc>
            <a:spcBef>
              <a:spcPct val="0"/>
            </a:spcBef>
            <a:spcAft>
              <a:spcPct val="15000"/>
            </a:spcAft>
            <a:buChar char="•"/>
          </a:pPr>
          <a:r>
            <a:rPr lang="en-US" sz="2400" kern="1200" dirty="0"/>
            <a:t>Remove extra spaces, commas in numbers, and other problematic symbols.</a:t>
          </a:r>
        </a:p>
      </dsp:txBody>
      <dsp:txXfrm>
        <a:off x="2714082" y="871585"/>
        <a:ext cx="2377306" cy="2700050"/>
      </dsp:txXfrm>
    </dsp:sp>
    <dsp:sp modelId="{805B60DD-25F6-4441-8EA0-1365B3F5FD32}">
      <dsp:nvSpPr>
        <dsp:cNvPr id="0" name=""/>
        <dsp:cNvSpPr/>
      </dsp:nvSpPr>
      <dsp:spPr>
        <a:xfrm>
          <a:off x="5424211" y="1826"/>
          <a:ext cx="2377306" cy="869759"/>
        </a:xfrm>
        <a:prstGeom prst="rect">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0688" tIns="97536" rIns="170688" bIns="97536" numCol="1" spcCol="1270" anchor="ctr" anchorCtr="0">
          <a:noAutofit/>
        </a:bodyPr>
        <a:lstStyle/>
        <a:p>
          <a:pPr marL="0" lvl="0" indent="0" algn="ctr" defTabSz="1066800">
            <a:lnSpc>
              <a:spcPct val="90000"/>
            </a:lnSpc>
            <a:spcBef>
              <a:spcPct val="0"/>
            </a:spcBef>
            <a:spcAft>
              <a:spcPct val="35000"/>
            </a:spcAft>
            <a:buNone/>
          </a:pPr>
          <a:r>
            <a:rPr lang="en-US" sz="2400" kern="1200" dirty="0"/>
            <a:t>Standardize Formats</a:t>
          </a:r>
        </a:p>
      </dsp:txBody>
      <dsp:txXfrm>
        <a:off x="5424211" y="1826"/>
        <a:ext cx="2377306" cy="869759"/>
      </dsp:txXfrm>
    </dsp:sp>
    <dsp:sp modelId="{73BEE7B9-E4F8-E248-A5B9-CE372420A5F1}">
      <dsp:nvSpPr>
        <dsp:cNvPr id="0" name=""/>
        <dsp:cNvSpPr/>
      </dsp:nvSpPr>
      <dsp:spPr>
        <a:xfrm>
          <a:off x="5424211" y="871585"/>
          <a:ext cx="2377306" cy="2700050"/>
        </a:xfrm>
        <a:prstGeom prst="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8016" tIns="128016" rIns="170688" bIns="192024" numCol="1" spcCol="1270" anchor="t" anchorCtr="0">
          <a:noAutofit/>
        </a:bodyPr>
        <a:lstStyle/>
        <a:p>
          <a:pPr marL="228600" lvl="1" indent="-228600" algn="l" defTabSz="1066800">
            <a:lnSpc>
              <a:spcPct val="90000"/>
            </a:lnSpc>
            <a:spcBef>
              <a:spcPct val="0"/>
            </a:spcBef>
            <a:spcAft>
              <a:spcPct val="15000"/>
            </a:spcAft>
            <a:buChar char="•"/>
          </a:pPr>
          <a:r>
            <a:rPr lang="en-US" sz="2400" kern="1200" dirty="0"/>
            <a:t>Convert all dates to one format, all gender labels to one set.</a:t>
          </a:r>
        </a:p>
      </dsp:txBody>
      <dsp:txXfrm>
        <a:off x="5424211" y="871585"/>
        <a:ext cx="2377306" cy="2700050"/>
      </dsp:txXfrm>
    </dsp:sp>
    <dsp:sp modelId="{32F0B096-AB1E-3B40-BFDE-FC87761DE232}">
      <dsp:nvSpPr>
        <dsp:cNvPr id="0" name=""/>
        <dsp:cNvSpPr/>
      </dsp:nvSpPr>
      <dsp:spPr>
        <a:xfrm>
          <a:off x="8134340" y="1826"/>
          <a:ext cx="2377306" cy="869759"/>
        </a:xfrm>
        <a:prstGeom prst="rect">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0688" tIns="97536" rIns="170688" bIns="97536" numCol="1" spcCol="1270" anchor="ctr" anchorCtr="0">
          <a:noAutofit/>
        </a:bodyPr>
        <a:lstStyle/>
        <a:p>
          <a:pPr marL="0" lvl="0" indent="0" algn="ctr" defTabSz="1066800">
            <a:lnSpc>
              <a:spcPct val="90000"/>
            </a:lnSpc>
            <a:spcBef>
              <a:spcPct val="0"/>
            </a:spcBef>
            <a:spcAft>
              <a:spcPct val="35000"/>
            </a:spcAft>
            <a:buNone/>
          </a:pPr>
          <a:r>
            <a:rPr lang="en-US" sz="2400" kern="1200" dirty="0"/>
            <a:t>Create a Data Dictionary</a:t>
          </a:r>
        </a:p>
      </dsp:txBody>
      <dsp:txXfrm>
        <a:off x="8134340" y="1826"/>
        <a:ext cx="2377306" cy="869759"/>
      </dsp:txXfrm>
    </dsp:sp>
    <dsp:sp modelId="{2AB3E04D-3959-0F48-B4B4-7A9EAA2F23A3}">
      <dsp:nvSpPr>
        <dsp:cNvPr id="0" name=""/>
        <dsp:cNvSpPr/>
      </dsp:nvSpPr>
      <dsp:spPr>
        <a:xfrm>
          <a:off x="8134340" y="871585"/>
          <a:ext cx="2377306" cy="2700050"/>
        </a:xfrm>
        <a:prstGeom prst="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8016" tIns="128016" rIns="170688" bIns="192024" numCol="1" spcCol="1270" anchor="t" anchorCtr="0">
          <a:noAutofit/>
        </a:bodyPr>
        <a:lstStyle/>
        <a:p>
          <a:pPr marL="228600" lvl="1" indent="-228600" algn="l" defTabSz="1066800">
            <a:lnSpc>
              <a:spcPct val="90000"/>
            </a:lnSpc>
            <a:spcBef>
              <a:spcPct val="0"/>
            </a:spcBef>
            <a:spcAft>
              <a:spcPct val="15000"/>
            </a:spcAft>
            <a:buChar char="•"/>
          </a:pPr>
          <a:r>
            <a:rPr lang="en-US" sz="2400" kern="1200" dirty="0"/>
            <a:t>Define what each column should contain as a guide for cleaning.</a:t>
          </a:r>
        </a:p>
      </dsp:txBody>
      <dsp:txXfrm>
        <a:off x="8134340" y="871585"/>
        <a:ext cx="2377306" cy="2700050"/>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2BB75B0-223B-7240-BA27-65CC0A031751}">
      <dsp:nvSpPr>
        <dsp:cNvPr id="0" name=""/>
        <dsp:cNvSpPr/>
      </dsp:nvSpPr>
      <dsp:spPr>
        <a:xfrm>
          <a:off x="0" y="364596"/>
          <a:ext cx="7621249" cy="722925"/>
        </a:xfrm>
        <a:prstGeom prst="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91494" tIns="354076" rIns="591494" bIns="120904" numCol="1" spcCol="1270" anchor="t" anchorCtr="0">
          <a:noAutofit/>
        </a:bodyPr>
        <a:lstStyle/>
        <a:p>
          <a:pPr marL="171450" lvl="1" indent="-171450" algn="l" defTabSz="755650">
            <a:lnSpc>
              <a:spcPct val="90000"/>
            </a:lnSpc>
            <a:spcBef>
              <a:spcPct val="0"/>
            </a:spcBef>
            <a:spcAft>
              <a:spcPct val="15000"/>
            </a:spcAft>
            <a:buChar char="•"/>
          </a:pPr>
          <a:r>
            <a:rPr lang="en-US" sz="1700" kern="1200" dirty="0"/>
            <a:t>Find records that match completely across all fields.</a:t>
          </a:r>
        </a:p>
      </dsp:txBody>
      <dsp:txXfrm>
        <a:off x="0" y="364596"/>
        <a:ext cx="7621249" cy="722925"/>
      </dsp:txXfrm>
    </dsp:sp>
    <dsp:sp modelId="{13746529-5D8E-1A46-84C5-AD59F77B9906}">
      <dsp:nvSpPr>
        <dsp:cNvPr id="0" name=""/>
        <dsp:cNvSpPr/>
      </dsp:nvSpPr>
      <dsp:spPr>
        <a:xfrm>
          <a:off x="381062" y="113676"/>
          <a:ext cx="5334874" cy="50184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1646" tIns="0" rIns="201646" bIns="0" numCol="1" spcCol="1270" anchor="ctr" anchorCtr="0">
          <a:noAutofit/>
        </a:bodyPr>
        <a:lstStyle/>
        <a:p>
          <a:pPr marL="0" lvl="0" indent="0" algn="l" defTabSz="755650">
            <a:lnSpc>
              <a:spcPct val="90000"/>
            </a:lnSpc>
            <a:spcBef>
              <a:spcPct val="0"/>
            </a:spcBef>
            <a:spcAft>
              <a:spcPct val="35000"/>
            </a:spcAft>
            <a:buNone/>
          </a:pPr>
          <a:r>
            <a:rPr lang="en-US" sz="1700" kern="1200" dirty="0"/>
            <a:t>Identify Exact Duplicates</a:t>
          </a:r>
        </a:p>
      </dsp:txBody>
      <dsp:txXfrm>
        <a:off x="405560" y="138174"/>
        <a:ext cx="5285878" cy="452844"/>
      </dsp:txXfrm>
    </dsp:sp>
    <dsp:sp modelId="{55325084-28DE-7A41-8A14-145E540C1E34}">
      <dsp:nvSpPr>
        <dsp:cNvPr id="0" name=""/>
        <dsp:cNvSpPr/>
      </dsp:nvSpPr>
      <dsp:spPr>
        <a:xfrm>
          <a:off x="0" y="1430241"/>
          <a:ext cx="7621249" cy="722925"/>
        </a:xfrm>
        <a:prstGeom prst="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91494" tIns="354076" rIns="591494" bIns="120904" numCol="1" spcCol="1270" anchor="t" anchorCtr="0">
          <a:noAutofit/>
        </a:bodyPr>
        <a:lstStyle/>
        <a:p>
          <a:pPr marL="171450" lvl="1" indent="-171450" algn="l" defTabSz="755650">
            <a:lnSpc>
              <a:spcPct val="90000"/>
            </a:lnSpc>
            <a:spcBef>
              <a:spcPct val="0"/>
            </a:spcBef>
            <a:spcAft>
              <a:spcPct val="15000"/>
            </a:spcAft>
            <a:buChar char="•"/>
          </a:pPr>
          <a:r>
            <a:rPr lang="en-US" sz="1700" kern="1200" dirty="0"/>
            <a:t>Look for records that match on key fields but differ slightly in others.</a:t>
          </a:r>
        </a:p>
      </dsp:txBody>
      <dsp:txXfrm>
        <a:off x="0" y="1430241"/>
        <a:ext cx="7621249" cy="722925"/>
      </dsp:txXfrm>
    </dsp:sp>
    <dsp:sp modelId="{6A764A0E-A3AD-A244-9376-39CDC71AF860}">
      <dsp:nvSpPr>
        <dsp:cNvPr id="0" name=""/>
        <dsp:cNvSpPr/>
      </dsp:nvSpPr>
      <dsp:spPr>
        <a:xfrm>
          <a:off x="381062" y="1179321"/>
          <a:ext cx="5334874" cy="50184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1646" tIns="0" rIns="201646" bIns="0" numCol="1" spcCol="1270" anchor="ctr" anchorCtr="0">
          <a:noAutofit/>
        </a:bodyPr>
        <a:lstStyle/>
        <a:p>
          <a:pPr marL="0" lvl="0" indent="0" algn="l" defTabSz="755650">
            <a:lnSpc>
              <a:spcPct val="90000"/>
            </a:lnSpc>
            <a:spcBef>
              <a:spcPct val="0"/>
            </a:spcBef>
            <a:spcAft>
              <a:spcPct val="35000"/>
            </a:spcAft>
            <a:buNone/>
          </a:pPr>
          <a:r>
            <a:rPr lang="en-US" sz="1700" kern="1200" dirty="0"/>
            <a:t>Check for Partial Duplicates</a:t>
          </a:r>
        </a:p>
      </dsp:txBody>
      <dsp:txXfrm>
        <a:off x="405560" y="1203819"/>
        <a:ext cx="5285878" cy="452844"/>
      </dsp:txXfrm>
    </dsp:sp>
    <dsp:sp modelId="{28C8B4EA-EDEE-2D4F-93E2-9EAF3EC9E72E}">
      <dsp:nvSpPr>
        <dsp:cNvPr id="0" name=""/>
        <dsp:cNvSpPr/>
      </dsp:nvSpPr>
      <dsp:spPr>
        <a:xfrm>
          <a:off x="0" y="2495886"/>
          <a:ext cx="7621249" cy="963900"/>
        </a:xfrm>
        <a:prstGeom prst="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91494" tIns="354076" rIns="591494" bIns="120904" numCol="1" spcCol="1270" anchor="t" anchorCtr="0">
          <a:noAutofit/>
        </a:bodyPr>
        <a:lstStyle/>
        <a:p>
          <a:pPr marL="171450" lvl="1" indent="-171450" algn="l" defTabSz="755650">
            <a:lnSpc>
              <a:spcPct val="90000"/>
            </a:lnSpc>
            <a:spcBef>
              <a:spcPct val="0"/>
            </a:spcBef>
            <a:spcAft>
              <a:spcPct val="15000"/>
            </a:spcAft>
            <a:buChar char="•"/>
          </a:pPr>
          <a:r>
            <a:rPr lang="en-US" sz="1700" kern="1200" dirty="0"/>
            <a:t>For partial duplicates, determine which record is more complete or accurate.</a:t>
          </a:r>
        </a:p>
      </dsp:txBody>
      <dsp:txXfrm>
        <a:off x="0" y="2495886"/>
        <a:ext cx="7621249" cy="963900"/>
      </dsp:txXfrm>
    </dsp:sp>
    <dsp:sp modelId="{2FB8322E-B26E-7F4B-BE96-62A727230002}">
      <dsp:nvSpPr>
        <dsp:cNvPr id="0" name=""/>
        <dsp:cNvSpPr/>
      </dsp:nvSpPr>
      <dsp:spPr>
        <a:xfrm>
          <a:off x="381062" y="2244966"/>
          <a:ext cx="5334874" cy="50184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1646" tIns="0" rIns="201646" bIns="0" numCol="1" spcCol="1270" anchor="ctr" anchorCtr="0">
          <a:noAutofit/>
        </a:bodyPr>
        <a:lstStyle/>
        <a:p>
          <a:pPr marL="0" lvl="0" indent="0" algn="l" defTabSz="755650">
            <a:lnSpc>
              <a:spcPct val="90000"/>
            </a:lnSpc>
            <a:spcBef>
              <a:spcPct val="0"/>
            </a:spcBef>
            <a:spcAft>
              <a:spcPct val="35000"/>
            </a:spcAft>
            <a:buNone/>
          </a:pPr>
          <a:r>
            <a:rPr lang="en-US" sz="1700" kern="1200" dirty="0"/>
            <a:t>Decide Which to Keep</a:t>
          </a:r>
        </a:p>
      </dsp:txBody>
      <dsp:txXfrm>
        <a:off x="405560" y="2269464"/>
        <a:ext cx="5285878" cy="452844"/>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2FFC4C9-EE76-C24D-BD82-374CC6AE6605}">
      <dsp:nvSpPr>
        <dsp:cNvPr id="0" name=""/>
        <dsp:cNvSpPr/>
      </dsp:nvSpPr>
      <dsp:spPr>
        <a:xfrm>
          <a:off x="51" y="56025"/>
          <a:ext cx="4913783" cy="748800"/>
        </a:xfrm>
        <a:prstGeom prst="rect">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84912" tIns="105664" rIns="184912" bIns="105664" numCol="1" spcCol="1270" anchor="ctr" anchorCtr="0">
          <a:noAutofit/>
        </a:bodyPr>
        <a:lstStyle/>
        <a:p>
          <a:pPr marL="0" lvl="0" indent="0" algn="ctr" defTabSz="1155700">
            <a:lnSpc>
              <a:spcPct val="90000"/>
            </a:lnSpc>
            <a:spcBef>
              <a:spcPct val="0"/>
            </a:spcBef>
            <a:spcAft>
              <a:spcPct val="35000"/>
            </a:spcAft>
            <a:buNone/>
          </a:pPr>
          <a:r>
            <a:rPr lang="en-US" sz="2600" kern="1200" dirty="0"/>
            <a:t>Python</a:t>
          </a:r>
        </a:p>
      </dsp:txBody>
      <dsp:txXfrm>
        <a:off x="51" y="56025"/>
        <a:ext cx="4913783" cy="748800"/>
      </dsp:txXfrm>
    </dsp:sp>
    <dsp:sp modelId="{CFCF0B0C-02B1-5B48-BB7C-DF2008398448}">
      <dsp:nvSpPr>
        <dsp:cNvPr id="0" name=""/>
        <dsp:cNvSpPr/>
      </dsp:nvSpPr>
      <dsp:spPr>
        <a:xfrm>
          <a:off x="51" y="804825"/>
          <a:ext cx="4913783" cy="2712060"/>
        </a:xfrm>
        <a:prstGeom prst="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38684" tIns="138684" rIns="184912" bIns="208026" numCol="1" spcCol="1270" anchor="t" anchorCtr="0">
          <a:noAutofit/>
        </a:bodyPr>
        <a:lstStyle/>
        <a:p>
          <a:pPr marL="228600" lvl="1" indent="-228600" algn="l" defTabSz="1155700">
            <a:lnSpc>
              <a:spcPct val="90000"/>
            </a:lnSpc>
            <a:spcBef>
              <a:spcPct val="0"/>
            </a:spcBef>
            <a:spcAft>
              <a:spcPct val="15000"/>
            </a:spcAft>
            <a:buChar char="•"/>
          </a:pPr>
          <a:r>
            <a:rPr lang="en-US" sz="2600" kern="1200" dirty="0"/>
            <a:t>.</a:t>
          </a:r>
          <a:r>
            <a:rPr lang="en-US" sz="2600" kern="1200" dirty="0" err="1"/>
            <a:t>isna</a:t>
          </a:r>
          <a:r>
            <a:rPr lang="en-US" sz="2600" kern="1200" dirty="0"/>
            <a:t>()</a:t>
          </a:r>
        </a:p>
        <a:p>
          <a:pPr marL="228600" lvl="1" indent="-228600" algn="l" defTabSz="1155700">
            <a:lnSpc>
              <a:spcPct val="90000"/>
            </a:lnSpc>
            <a:spcBef>
              <a:spcPct val="0"/>
            </a:spcBef>
            <a:spcAft>
              <a:spcPct val="15000"/>
            </a:spcAft>
            <a:buChar char="•"/>
          </a:pPr>
          <a:r>
            <a:rPr lang="en-US" sz="2600" kern="1200" dirty="0"/>
            <a:t>.</a:t>
          </a:r>
          <a:r>
            <a:rPr lang="en-US" sz="2600" kern="1200" dirty="0" err="1"/>
            <a:t>fillna</a:t>
          </a:r>
          <a:r>
            <a:rPr lang="en-US" sz="2600" kern="1200" dirty="0"/>
            <a:t>() assignment for imputation</a:t>
          </a:r>
        </a:p>
        <a:p>
          <a:pPr marL="228600" lvl="1" indent="-228600" algn="l" defTabSz="1155700">
            <a:lnSpc>
              <a:spcPct val="90000"/>
            </a:lnSpc>
            <a:spcBef>
              <a:spcPct val="0"/>
            </a:spcBef>
            <a:spcAft>
              <a:spcPct val="15000"/>
            </a:spcAft>
            <a:buChar char="•"/>
          </a:pPr>
          <a:r>
            <a:rPr lang="en-US" sz="2600" kern="1200" dirty="0"/>
            <a:t>.</a:t>
          </a:r>
          <a:r>
            <a:rPr lang="en-US" sz="2600" kern="1200" dirty="0" err="1"/>
            <a:t>drop_duplicates</a:t>
          </a:r>
          <a:r>
            <a:rPr lang="en-US" sz="2600" kern="1200" dirty="0"/>
            <a:t>() checks for duplicates</a:t>
          </a:r>
        </a:p>
        <a:p>
          <a:pPr marL="228600" lvl="1" indent="-228600" algn="l" defTabSz="1155700">
            <a:lnSpc>
              <a:spcPct val="90000"/>
            </a:lnSpc>
            <a:spcBef>
              <a:spcPct val="0"/>
            </a:spcBef>
            <a:spcAft>
              <a:spcPct val="15000"/>
            </a:spcAft>
            <a:buChar char="•"/>
          </a:pPr>
          <a:r>
            <a:rPr lang="en-US" sz="2600" kern="1200" dirty="0" err="1"/>
            <a:t>df.describe</a:t>
          </a:r>
          <a:r>
            <a:rPr lang="en-US" sz="2600" kern="1200" dirty="0"/>
            <a:t>() in pandas</a:t>
          </a:r>
        </a:p>
      </dsp:txBody>
      <dsp:txXfrm>
        <a:off x="51" y="804825"/>
        <a:ext cx="4913783" cy="2712060"/>
      </dsp:txXfrm>
    </dsp:sp>
    <dsp:sp modelId="{2E0B7CBF-A9BA-9C49-B40A-E5B01CC4D647}">
      <dsp:nvSpPr>
        <dsp:cNvPr id="0" name=""/>
        <dsp:cNvSpPr/>
      </dsp:nvSpPr>
      <dsp:spPr>
        <a:xfrm>
          <a:off x="5601764" y="56025"/>
          <a:ext cx="4913783" cy="748800"/>
        </a:xfrm>
        <a:prstGeom prst="rect">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84912" tIns="105664" rIns="184912" bIns="105664" numCol="1" spcCol="1270" anchor="ctr" anchorCtr="0">
          <a:noAutofit/>
        </a:bodyPr>
        <a:lstStyle/>
        <a:p>
          <a:pPr marL="0" lvl="0" indent="0" algn="ctr" defTabSz="1155700">
            <a:lnSpc>
              <a:spcPct val="90000"/>
            </a:lnSpc>
            <a:spcBef>
              <a:spcPct val="0"/>
            </a:spcBef>
            <a:spcAft>
              <a:spcPct val="35000"/>
            </a:spcAft>
            <a:buNone/>
          </a:pPr>
          <a:r>
            <a:rPr lang="en-US" sz="2600" kern="1200" dirty="0"/>
            <a:t>R</a:t>
          </a:r>
        </a:p>
      </dsp:txBody>
      <dsp:txXfrm>
        <a:off x="5601764" y="56025"/>
        <a:ext cx="4913783" cy="748800"/>
      </dsp:txXfrm>
    </dsp:sp>
    <dsp:sp modelId="{6FB14003-7AC9-0A48-9215-8FFC77C1DDA7}">
      <dsp:nvSpPr>
        <dsp:cNvPr id="0" name=""/>
        <dsp:cNvSpPr/>
      </dsp:nvSpPr>
      <dsp:spPr>
        <a:xfrm>
          <a:off x="5601764" y="804825"/>
          <a:ext cx="4913783" cy="2712060"/>
        </a:xfrm>
        <a:prstGeom prst="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38684" tIns="138684" rIns="184912" bIns="208026" numCol="1" spcCol="1270" anchor="t" anchorCtr="0">
          <a:noAutofit/>
        </a:bodyPr>
        <a:lstStyle/>
        <a:p>
          <a:pPr marL="228600" lvl="1" indent="-228600" algn="l" defTabSz="1155700">
            <a:lnSpc>
              <a:spcPct val="90000"/>
            </a:lnSpc>
            <a:spcBef>
              <a:spcPct val="0"/>
            </a:spcBef>
            <a:spcAft>
              <a:spcPct val="15000"/>
            </a:spcAft>
            <a:buChar char="•"/>
          </a:pPr>
          <a:r>
            <a:rPr lang="en-US" sz="2600" kern="1200" dirty="0" err="1"/>
            <a:t>is.na</a:t>
          </a:r>
          <a:r>
            <a:rPr lang="en-US" sz="2600" kern="1200" dirty="0"/>
            <a:t>() for missing,</a:t>
          </a:r>
        </a:p>
        <a:p>
          <a:pPr marL="228600" lvl="1" indent="-228600" algn="l" defTabSz="1155700">
            <a:lnSpc>
              <a:spcPct val="90000"/>
            </a:lnSpc>
            <a:spcBef>
              <a:spcPct val="0"/>
            </a:spcBef>
            <a:spcAft>
              <a:spcPct val="15000"/>
            </a:spcAft>
            <a:buChar char="•"/>
          </a:pPr>
          <a:r>
            <a:rPr lang="en-US" sz="2600" kern="1200" dirty="0"/>
            <a:t xml:space="preserve">filtering for outliers (e.g., </a:t>
          </a:r>
          <a:r>
            <a:rPr lang="en-US" sz="2600" kern="1200" dirty="0" err="1"/>
            <a:t>df</a:t>
          </a:r>
          <a:r>
            <a:rPr lang="en-US" sz="2600" kern="1200" dirty="0"/>
            <a:t>[</a:t>
          </a:r>
          <a:r>
            <a:rPr lang="en-US" sz="2600" kern="1200" dirty="0" err="1"/>
            <a:t>df</a:t>
          </a:r>
          <a:r>
            <a:rPr lang="en-US" sz="2600" kern="1200" dirty="0"/>
            <a:t>['col'] &gt; value]),</a:t>
          </a:r>
        </a:p>
        <a:p>
          <a:pPr marL="228600" lvl="1" indent="-228600" algn="l" defTabSz="1155700">
            <a:lnSpc>
              <a:spcPct val="90000"/>
            </a:lnSpc>
            <a:spcBef>
              <a:spcPct val="0"/>
            </a:spcBef>
            <a:spcAft>
              <a:spcPct val="15000"/>
            </a:spcAft>
            <a:buChar char="•"/>
          </a:pPr>
          <a:r>
            <a:rPr lang="en-US" sz="2600" kern="1200" dirty="0"/>
            <a:t>unique()summary(</a:t>
          </a:r>
          <a:r>
            <a:rPr lang="en-US" sz="2600" kern="1200" dirty="0" err="1"/>
            <a:t>df</a:t>
          </a:r>
          <a:r>
            <a:rPr lang="en-US" sz="2600" kern="1200" dirty="0"/>
            <a:t>) for quick check descriptives</a:t>
          </a:r>
        </a:p>
      </dsp:txBody>
      <dsp:txXfrm>
        <a:off x="5601764" y="804825"/>
        <a:ext cx="4913783" cy="2712060"/>
      </dsp:txXfrm>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8/layout/IncreasingCircleProcess">
  <dgm:title val=""/>
  <dgm:desc val=""/>
  <dgm:catLst>
    <dgm:cat type="list" pri="8300"/>
    <dgm:cat type="process" pri="43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2" destOrd="0"/>
        <dgm:cxn modelId="32" srcId="30" destId="31" srcOrd="0" destOrd="0"/>
      </dgm:cxnLst>
      <dgm:bg/>
      <dgm:whole/>
    </dgm:dataModel>
  </dgm:sampData>
  <dgm:style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tyleData>
  <dgm:clr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clrData>
  <dgm:layoutNode name="Name0">
    <dgm:varLst>
      <dgm:chMax val="7"/>
      <dgm:chPref val="7"/>
      <dgm:dir/>
      <dgm:animOne val="branch"/>
      <dgm:animLvl val="lvl"/>
    </dgm:varLst>
    <dgm:choose name="Name1">
      <dgm:if name="Name2" func="var" arg="dir" op="equ" val="norm">
        <dgm:alg type="lin">
          <dgm:param type="linDir" val="fromL"/>
          <dgm:param type="horzAlign" val="ctr"/>
          <dgm:param type="vertAlign" val="t"/>
        </dgm:alg>
      </dgm:if>
      <dgm:else name="Name3">
        <dgm:alg type="lin">
          <dgm:param type="linDir" val="fromR"/>
          <dgm:param type="horzAlign" val="ctr"/>
          <dgm:param type="vertAlign" val="t"/>
        </dgm:alg>
      </dgm:else>
    </dgm:choose>
    <dgm:shape xmlns:r="http://schemas.openxmlformats.org/officeDocument/2006/relationships" r:blip="">
      <dgm:adjLst/>
    </dgm:shape>
    <dgm:constrLst>
      <dgm:constr type="primFontSz" for="des" forName="Child" val="65"/>
      <dgm:constr type="primFontSz" for="des" forName="Parent" val="65"/>
      <dgm:constr type="primFontSz" for="des" forName="Child" refType="primFontSz" refFor="des" refForName="Parent" op="lte"/>
      <dgm:constr type="w" for="ch" forName="composite" refType="w"/>
      <dgm:constr type="h" for="ch" forName="composite" refType="h"/>
      <dgm:constr type="sp" refType="w" refFor="ch" refForName="composite" op="equ" fact="0.05"/>
      <dgm:constr type="w" for="ch" forName="sibTrans" refType="h" refFor="ch" refForName="composite" op="equ" fact="0.04"/>
    </dgm:constrLst>
    <dgm:forEach name="nodesForEach" axis="ch" ptType="node" cnt="7">
      <dgm:layoutNode name="composite">
        <dgm:alg type="composite">
          <dgm:param type="ar" val="0.8"/>
        </dgm:alg>
        <dgm:choose name="Name4">
          <dgm:if name="Name5" func="var" arg="dir" op="equ" val="norm">
            <dgm:constrLst>
              <dgm:constr type="l" for="ch" forName="Child" refType="w" fact="0.29"/>
              <dgm:constr type="t" for="ch" forName="Child" refType="h" fact="0.192"/>
              <dgm:constr type="w" for="ch" forName="Child" refType="w" fact="0.71"/>
              <dgm:constr type="h" for="ch" forName="Child" refType="h" fact="0.808"/>
              <dgm:constr type="l" for="ch" forName="Parent" refType="w" fact="0.29"/>
              <dgm:constr type="t" for="ch" forName="Parent" refType="h" fact="0"/>
              <dgm:constr type="w" for="ch" forName="Parent" refType="w" fact="0.71"/>
              <dgm:constr type="h" for="ch" forName="Parent" refType="h" fact="0.192"/>
              <dgm:constr type="l" for="ch" forName="BackAccent" refType="w" fact="0"/>
              <dgm:constr type="t" for="ch" forName="BackAccent" refType="h" fact="0"/>
              <dgm:constr type="w" for="ch" forName="BackAccent" refType="w" fact="0.24"/>
              <dgm:constr type="h" for="ch" forName="BackAccent" refType="h" fact="0.192"/>
              <dgm:constr type="l" for="ch" forName="Accent" refType="w" fact="0.024"/>
              <dgm:constr type="t" for="ch" forName="Accent" refType="h" fact="0.0192"/>
              <dgm:constr type="w" for="ch" forName="Accent" refType="w" fact="0.192"/>
              <dgm:constr type="h" for="ch" forName="Accent" refType="h" fact="0.1536"/>
            </dgm:constrLst>
          </dgm:if>
          <dgm:else name="Name6">
            <dgm:constrLst>
              <dgm:constr type="r" for="ch" forName="Child" refType="w" fact="0.71"/>
              <dgm:constr type="t" for="ch" forName="Child" refType="h" fact="0.192"/>
              <dgm:constr type="w" for="ch" forName="Child" refType="w" fact="0.71"/>
              <dgm:constr type="h" for="ch" forName="Child" refType="h" fact="0.808"/>
              <dgm:constr type="r" for="ch" forName="Parent" refType="w" fact="0.71"/>
              <dgm:constr type="t" for="ch" forName="Parent" refType="h" fact="0"/>
              <dgm:constr type="w" for="ch" forName="Parent" refType="w" fact="0.71"/>
              <dgm:constr type="h" for="ch" forName="Parent" refType="h" fact="0.192"/>
              <dgm:constr type="r" for="ch" forName="BackAccent" refType="w"/>
              <dgm:constr type="t" for="ch" forName="BackAccent" refType="h" fact="0"/>
              <dgm:constr type="w" for="ch" forName="BackAccent" refType="w" fact="0.24"/>
              <dgm:constr type="h" for="ch" forName="BackAccent" refType="h" fact="0.192"/>
              <dgm:constr type="r" for="ch" forName="Accent" refType="w" fact="0.976"/>
              <dgm:constr type="t" for="ch" forName="Accent" refType="h" fact="0.0192"/>
              <dgm:constr type="w" for="ch" forName="Accent" refType="w" fact="0.192"/>
              <dgm:constr type="h" for="ch" forName="Accent" refType="h" fact="0.1536"/>
            </dgm:constrLst>
          </dgm:else>
        </dgm:choose>
        <dgm:layoutNode name="BackAccent" styleLbl="bgShp">
          <dgm:alg type="sp"/>
          <dgm:shape xmlns:r="http://schemas.openxmlformats.org/officeDocument/2006/relationships" type="ellipse" r:blip="">
            <dgm:adjLst/>
          </dgm:shape>
          <dgm:presOf/>
        </dgm:layoutNode>
        <dgm:layoutNode name="Accent" styleLbl="alignNode1">
          <dgm:alg type="sp"/>
          <dgm:choose name="Name7">
            <dgm:if name="Name8" axis="precedSib" ptType="node" func="cnt" op="equ" val="0">
              <dgm:choose name="Name9">
                <dgm:if name="Name10" axis="followSib" ptType="node" func="cnt" op="equ" val="0">
                  <dgm:shape xmlns:r="http://schemas.openxmlformats.org/officeDocument/2006/relationships" type="chord" r:blip="">
                    <dgm:adjLst>
                      <dgm:adj idx="1" val="-90"/>
                      <dgm:adj idx="2" val="-90"/>
                    </dgm:adjLst>
                  </dgm:shape>
                </dgm:if>
                <dgm:if name="Name11" axis="followSib" ptType="node" func="cnt" op="equ" val="1">
                  <dgm:shape xmlns:r="http://schemas.openxmlformats.org/officeDocument/2006/relationships" type="chord" r:blip="">
                    <dgm:adjLst>
                      <dgm:adj idx="1" val="0"/>
                      <dgm:adj idx="2" val="180"/>
                    </dgm:adjLst>
                  </dgm:shape>
                </dgm:if>
                <dgm:if name="Name12" axis="followSib" ptType="node" func="cnt" op="equ" val="2">
                  <dgm:shape xmlns:r="http://schemas.openxmlformats.org/officeDocument/2006/relationships" type="chord" r:blip="">
                    <dgm:adjLst>
                      <dgm:adj idx="1" val="19.4712"/>
                      <dgm:adj idx="2" val="160.5288"/>
                    </dgm:adjLst>
                  </dgm:shape>
                </dgm:if>
                <dgm:if name="Name13" axis="followSib" ptType="node" func="cnt" op="equ" val="3">
                  <dgm:shape xmlns:r="http://schemas.openxmlformats.org/officeDocument/2006/relationships" type="chord" r:blip="">
                    <dgm:adjLst>
                      <dgm:adj idx="1" val="30"/>
                      <dgm:adj idx="2" val="150"/>
                    </dgm:adjLst>
                  </dgm:shape>
                </dgm:if>
                <dgm:if name="Name14" axis="followSib" ptType="node" func="cnt" op="equ" val="4">
                  <dgm:shape xmlns:r="http://schemas.openxmlformats.org/officeDocument/2006/relationships" type="chord" r:blip="">
                    <dgm:adjLst>
                      <dgm:adj idx="1" val="38.8699"/>
                      <dgm:adj idx="2" val="143.1301"/>
                    </dgm:adjLst>
                  </dgm:shape>
                </dgm:if>
                <dgm:if name="Name15" axis="followSib" ptType="node" func="cnt" op="equ" val="5">
                  <dgm:shape xmlns:r="http://schemas.openxmlformats.org/officeDocument/2006/relationships" type="chord" r:blip="">
                    <dgm:adjLst>
                      <dgm:adj idx="1" val="41.8103"/>
                      <dgm:adj idx="2" val="138.1897"/>
                    </dgm:adjLst>
                  </dgm:shape>
                </dgm:if>
                <dgm:else name="Name16">
                  <dgm:shape xmlns:r="http://schemas.openxmlformats.org/officeDocument/2006/relationships" type="chord" r:blip="">
                    <dgm:adjLst>
                      <dgm:adj idx="1" val="45.5847"/>
                      <dgm:adj idx="2" val="134.4153"/>
                    </dgm:adjLst>
                  </dgm:shape>
                </dgm:else>
              </dgm:choose>
            </dgm:if>
            <dgm:if name="Name17" axis="precedSib" ptType="node" func="cnt" op="equ" val="1">
              <dgm:choose name="Name18">
                <dgm:if name="Name19" axis="followSib" ptType="node" func="cnt" op="equ" val="0">
                  <dgm:shape xmlns:r="http://schemas.openxmlformats.org/officeDocument/2006/relationships" type="chord" r:blip="">
                    <dgm:adjLst>
                      <dgm:adj idx="1" val="-90"/>
                      <dgm:adj idx="2" val="-90"/>
                    </dgm:adjLst>
                  </dgm:shape>
                </dgm:if>
                <dgm:if name="Name20" axis="followSib" ptType="node" func="cnt" op="equ" val="1">
                  <dgm:shape xmlns:r="http://schemas.openxmlformats.org/officeDocument/2006/relationships" type="chord" r:blip="">
                    <dgm:adjLst>
                      <dgm:adj idx="1" val="-19.4712"/>
                      <dgm:adj idx="2" val="-160.5288"/>
                    </dgm:adjLst>
                  </dgm:shape>
                </dgm:if>
                <dgm:if name="Name21" axis="followSib" ptType="node" func="cnt" op="equ" val="2">
                  <dgm:shape xmlns:r="http://schemas.openxmlformats.org/officeDocument/2006/relationships" type="chord" r:blip="">
                    <dgm:adjLst>
                      <dgm:adj idx="1" val="0"/>
                      <dgm:adj idx="2" val="180"/>
                    </dgm:adjLst>
                  </dgm:shape>
                </dgm:if>
                <dgm:if name="Name22" axis="followSib" ptType="node" func="cnt" op="equ" val="3">
                  <dgm:shape xmlns:r="http://schemas.openxmlformats.org/officeDocument/2006/relationships" type="chord" r:blip="">
                    <dgm:adjLst>
                      <dgm:adj idx="1" val="11.537"/>
                      <dgm:adj idx="2" val="168.463"/>
                    </dgm:adjLst>
                  </dgm:shape>
                </dgm:if>
                <dgm:if name="Name23" axis="followSib" ptType="node" func="cnt" op="equ" val="4">
                  <dgm:shape xmlns:r="http://schemas.openxmlformats.org/officeDocument/2006/relationships" type="chord" r:blip="">
                    <dgm:adjLst>
                      <dgm:adj idx="1" val="19.4712"/>
                      <dgm:adj idx="2" val="160.5288"/>
                    </dgm:adjLst>
                  </dgm:shape>
                </dgm:if>
                <dgm:else name="Name24">
                  <dgm:shape xmlns:r="http://schemas.openxmlformats.org/officeDocument/2006/relationships" type="chord" r:blip="">
                    <dgm:adjLst>
                      <dgm:adj idx="1" val="25.3769"/>
                      <dgm:adj idx="2" val="154.6231"/>
                    </dgm:adjLst>
                  </dgm:shape>
                </dgm:else>
              </dgm:choose>
            </dgm:if>
            <dgm:if name="Name25" axis="precedSib" ptType="node" func="cnt" op="equ" val="2">
              <dgm:choose name="Name26">
                <dgm:if name="Name27" axis="followSib" ptType="node" func="cnt" op="equ" val="0">
                  <dgm:shape xmlns:r="http://schemas.openxmlformats.org/officeDocument/2006/relationships" type="chord" r:blip="">
                    <dgm:adjLst>
                      <dgm:adj idx="1" val="-90"/>
                      <dgm:adj idx="2" val="-90"/>
                    </dgm:adjLst>
                  </dgm:shape>
                </dgm:if>
                <dgm:if name="Name28" axis="followSib" ptType="node" func="cnt" op="equ" val="1">
                  <dgm:shape xmlns:r="http://schemas.openxmlformats.org/officeDocument/2006/relationships" type="chord" r:blip="">
                    <dgm:adjLst>
                      <dgm:adj idx="1" val="-30"/>
                      <dgm:adj idx="2" val="-150"/>
                    </dgm:adjLst>
                  </dgm:shape>
                </dgm:if>
                <dgm:if name="Name29" axis="followSib" ptType="node" func="cnt" op="equ" val="2">
                  <dgm:shape xmlns:r="http://schemas.openxmlformats.org/officeDocument/2006/relationships" type="chord" r:blip="">
                    <dgm:adjLst>
                      <dgm:adj idx="1" val="-11.537"/>
                      <dgm:adj idx="2" val="-168.463"/>
                    </dgm:adjLst>
                  </dgm:shape>
                </dgm:if>
                <dgm:if name="Name30" axis="followSib" ptType="node" func="cnt" op="equ" val="3">
                  <dgm:shape xmlns:r="http://schemas.openxmlformats.org/officeDocument/2006/relationships" type="chord" r:blip="">
                    <dgm:adjLst>
                      <dgm:adj idx="1" val="0"/>
                      <dgm:adj idx="2" val="180"/>
                    </dgm:adjLst>
                  </dgm:shape>
                </dgm:if>
                <dgm:else name="Name31">
                  <dgm:shape xmlns:r="http://schemas.openxmlformats.org/officeDocument/2006/relationships" type="chord" r:blip="">
                    <dgm:adjLst>
                      <dgm:adj idx="1" val="8.2133"/>
                      <dgm:adj idx="2" val="171.7867"/>
                    </dgm:adjLst>
                  </dgm:shape>
                </dgm:else>
              </dgm:choose>
            </dgm:if>
            <dgm:if name="Name32" axis="precedSib" ptType="node" func="cnt" op="equ" val="3">
              <dgm:choose name="Name33">
                <dgm:if name="Name34" axis="followSib" ptType="node" func="cnt" op="equ" val="0">
                  <dgm:shape xmlns:r="http://schemas.openxmlformats.org/officeDocument/2006/relationships" type="chord" r:blip="">
                    <dgm:adjLst>
                      <dgm:adj idx="1" val="-90"/>
                      <dgm:adj idx="2" val="-90"/>
                    </dgm:adjLst>
                  </dgm:shape>
                </dgm:if>
                <dgm:if name="Name35" axis="followSib" ptType="node" func="cnt" op="equ" val="1">
                  <dgm:shape xmlns:r="http://schemas.openxmlformats.org/officeDocument/2006/relationships" type="chord" r:blip="">
                    <dgm:adjLst>
                      <dgm:adj idx="1" val="-38.8699"/>
                      <dgm:adj idx="2" val="-143.1301"/>
                    </dgm:adjLst>
                  </dgm:shape>
                </dgm:if>
                <dgm:if name="Name36" axis="followSib" ptType="node" func="cnt" op="equ" val="2">
                  <dgm:shape xmlns:r="http://schemas.openxmlformats.org/officeDocument/2006/relationships" type="chord" r:blip="">
                    <dgm:adjLst>
                      <dgm:adj idx="1" val="-19.4712"/>
                      <dgm:adj idx="2" val="-160.5288"/>
                    </dgm:adjLst>
                  </dgm:shape>
                </dgm:if>
                <dgm:else name="Name37">
                  <dgm:shape xmlns:r="http://schemas.openxmlformats.org/officeDocument/2006/relationships" type="chord" r:blip="">
                    <dgm:adjLst>
                      <dgm:adj idx="1" val="-8.2133"/>
                      <dgm:adj idx="2" val="-171.7867"/>
                    </dgm:adjLst>
                  </dgm:shape>
                </dgm:else>
              </dgm:choose>
            </dgm:if>
            <dgm:if name="Name38" axis="precedSib" ptType="node" func="cnt" op="equ" val="4">
              <dgm:choose name="Name39">
                <dgm:if name="Name40" axis="followSib" ptType="node" func="cnt" op="equ" val="0">
                  <dgm:shape xmlns:r="http://schemas.openxmlformats.org/officeDocument/2006/relationships" type="chord" r:blip="">
                    <dgm:adjLst>
                      <dgm:adj idx="1" val="-90"/>
                      <dgm:adj idx="2" val="-90"/>
                    </dgm:adjLst>
                  </dgm:shape>
                </dgm:if>
                <dgm:if name="Name41" axis="followSib" ptType="node" func="cnt" op="equ" val="1">
                  <dgm:shape xmlns:r="http://schemas.openxmlformats.org/officeDocument/2006/relationships" type="chord" r:blip="">
                    <dgm:adjLst>
                      <dgm:adj idx="1" val="-41.8103"/>
                      <dgm:adj idx="2" val="-138.1897"/>
                    </dgm:adjLst>
                  </dgm:shape>
                </dgm:if>
                <dgm:else name="Name42">
                  <dgm:shape xmlns:r="http://schemas.openxmlformats.org/officeDocument/2006/relationships" type="chord" r:blip="">
                    <dgm:adjLst>
                      <dgm:adj idx="1" val="-25.3769"/>
                      <dgm:adj idx="2" val="-154.6231"/>
                    </dgm:adjLst>
                  </dgm:shape>
                </dgm:else>
              </dgm:choose>
            </dgm:if>
            <dgm:if name="Name43" axis="precedSib" ptType="node" func="cnt" op="equ" val="5">
              <dgm:choose name="Name44">
                <dgm:if name="Name45" axis="followSib" ptType="node" func="cnt" op="equ" val="0">
                  <dgm:shape xmlns:r="http://schemas.openxmlformats.org/officeDocument/2006/relationships" type="chord" r:blip="">
                    <dgm:adjLst>
                      <dgm:adj idx="1" val="-90"/>
                      <dgm:adj idx="2" val="-90"/>
                    </dgm:adjLst>
                  </dgm:shape>
                </dgm:if>
                <dgm:else name="Name46">
                  <dgm:shape xmlns:r="http://schemas.openxmlformats.org/officeDocument/2006/relationships" type="chord" r:blip="">
                    <dgm:adjLst>
                      <dgm:adj idx="1" val="-45.5847"/>
                      <dgm:adj idx="2" val="-134.4153"/>
                    </dgm:adjLst>
                  </dgm:shape>
                </dgm:else>
              </dgm:choose>
            </dgm:if>
            <dgm:else name="Name47">
              <dgm:shape xmlns:r="http://schemas.openxmlformats.org/officeDocument/2006/relationships" type="chord" r:blip="">
                <dgm:adjLst>
                  <dgm:adj idx="1" val="-90"/>
                  <dgm:adj idx="2" val="-90"/>
                </dgm:adjLst>
              </dgm:shape>
            </dgm:else>
          </dgm:choose>
          <dgm:presOf/>
        </dgm:layoutNode>
        <dgm:layoutNode name="Child" styleLbl="revTx">
          <dgm:varLst>
            <dgm:chMax val="0"/>
            <dgm:chPref val="0"/>
            <dgm:bulletEnabled val="1"/>
          </dgm:varLst>
          <dgm:choose name="Name48">
            <dgm:if name="Name49" func="var" arg="dir" op="equ" val="norm">
              <dgm:alg type="tx">
                <dgm:param type="parTxLTRAlign" val="l"/>
                <dgm:param type="parTxRTLAlign" val="l"/>
                <dgm:param type="txAnchorVert" val="t"/>
              </dgm:alg>
            </dgm:if>
            <dgm:else name="Name50">
              <dgm:alg type="tx">
                <dgm:param type="parTxLTRAlign" val="r"/>
                <dgm:param type="parTxRTLAlign" val="r"/>
                <dgm:param type="txAnchorVert" val="t"/>
              </dgm:alg>
            </dgm:else>
          </dgm:choose>
          <dgm:choose name="Name51">
            <dgm:if name="Name52" axis="ch" ptType="node" func="cnt" op="gte" val="1">
              <dgm:shape xmlns:r="http://schemas.openxmlformats.org/officeDocument/2006/relationships" type="rect" r:blip="">
                <dgm:adjLst/>
              </dgm:shape>
            </dgm:if>
            <dgm:else name="Name53">
              <dgm:shape xmlns:r="http://schemas.openxmlformats.org/officeDocument/2006/relationships" type="rect" r:blip="" hideGeom="1">
                <dgm:adjLst/>
              </dgm:shape>
            </dgm:else>
          </dgm:choose>
          <dgm:choose name="Name54">
            <dgm:if name="Name55" axis="ch" ptType="node" func="cnt" op="gte" val="1">
              <dgm:presOf axis="des" ptType="node"/>
            </dgm:if>
            <dgm:else name="Name56">
              <dgm:presOf/>
            </dgm:else>
          </dgm:choose>
          <dgm:constrLst>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Parent" styleLbl="revTx">
          <dgm:varLst>
            <dgm:chMax val="1"/>
            <dgm:chPref val="1"/>
            <dgm:bulletEnabled val="1"/>
          </dgm:varLst>
          <dgm:choose name="Name57">
            <dgm:if name="Name58" func="var" arg="dir" op="equ" val="norm">
              <dgm:alg type="tx">
                <dgm:param type="parTxLTRAlign" val="l"/>
                <dgm:param type="parTxRTLAlign" val="l"/>
                <dgm:param type="shpTxLTRAlignCh" val="l"/>
                <dgm:param type="shpTxRTLAlignCh" val="l"/>
                <dgm:param type="txAnchorVert" val="b"/>
                <dgm:param type="txAnchorVertCh" val="b"/>
              </dgm:alg>
            </dgm:if>
            <dgm:else name="Name59">
              <dgm:alg type="tx">
                <dgm:param type="parTxLTRAlign" val="r"/>
                <dgm:param type="parTxRTLAlign" val="r"/>
                <dgm:param type="shpTxLTRAlignCh" val="r"/>
                <dgm:param type="shpTxRTLAlignCh" val="r"/>
                <dgm:param type="txAnchorVert" val="b"/>
                <dgm:param type="txAnchorVertCh" val="b"/>
              </dgm:alg>
            </dgm:else>
          </dgm:choose>
          <dgm:shape xmlns:r="http://schemas.openxmlformats.org/officeDocument/2006/relationships" type="rect" r:blip="">
            <dgm:adjLst/>
          </dgm:shape>
          <dgm:presOf axis="self" ptType="node"/>
          <dgm:constrLst>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FB3146E-F6A3-455D-A8F7-7C094566E426}" type="datetimeFigureOut">
              <a:rPr lang="en-US" smtClean="0"/>
              <a:t>4/20/2026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1867100-4AF5-4440-9AA8-F24E6DD39EB4}" type="slidenum">
              <a:rPr lang="en-US" smtClean="0"/>
              <a:t>‹#›</a:t>
            </a:fld>
            <a:endParaRPr lang="en-US"/>
          </a:p>
        </p:txBody>
      </p:sp>
    </p:spTree>
    <p:extLst>
      <p:ext uri="{BB962C8B-B14F-4D97-AF65-F5344CB8AC3E}">
        <p14:creationId xmlns:p14="http://schemas.microsoft.com/office/powerpoint/2010/main" val="40837292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4.xml.rels><?xml version="1.0" encoding="UTF-8"?><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5.xml.rels><?xml version="1.0" encoding="UTF-8"?><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6.xml.rels><?xml version="1.0" encoding="UTF-8"?><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7.xml.rels><?xml version="1.0" encoding="UTF-8"?><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8.xml.rels><?xml version="1.0" encoding="UTF-8"?><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9.xml.rels><?xml version="1.0" encoding="UTF-8"?><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0.xml.rels><?xml version="1.0" encoding="UTF-8"?><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1.xml.rels><?xml version="1.0" encoding="UTF-8"?><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2.xml.rels><?xml version="1.0" encoding="UTF-8"?><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13.xml.rels><?xml version="1.0" encoding="UTF-8"?><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1867100-4AF5-4440-9AA8-F24E6DD39EB4}" type="slidenum">
              <a:rPr lang="en-US" smtClean="0"/>
              <a:t>3</a:t>
            </a:fld>
            <a:endParaRPr lang="en-US"/>
          </a:p>
        </p:txBody>
      </p:sp>
    </p:spTree>
    <p:extLst>
      <p:ext uri="{BB962C8B-B14F-4D97-AF65-F5344CB8AC3E}">
        <p14:creationId xmlns:p14="http://schemas.microsoft.com/office/powerpoint/2010/main" val="76158369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1867100-4AF5-4440-9AA8-F24E6DD39EB4}" type="slidenum">
              <a:rPr lang="en-US" smtClean="0"/>
              <a:t>8</a:t>
            </a:fld>
            <a:endParaRPr lang="en-US"/>
          </a:p>
        </p:txBody>
      </p:sp>
    </p:spTree>
    <p:extLst>
      <p:ext uri="{BB962C8B-B14F-4D97-AF65-F5344CB8AC3E}">
        <p14:creationId xmlns:p14="http://schemas.microsoft.com/office/powerpoint/2010/main" val="333866438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1867100-4AF5-4440-9AA8-F24E6DD39EB4}" type="slidenum">
              <a:rPr lang="en-US" smtClean="0"/>
              <a:t>17</a:t>
            </a:fld>
            <a:endParaRPr lang="en-US"/>
          </a:p>
        </p:txBody>
      </p:sp>
    </p:spTree>
    <p:extLst>
      <p:ext uri="{BB962C8B-B14F-4D97-AF65-F5344CB8AC3E}">
        <p14:creationId xmlns:p14="http://schemas.microsoft.com/office/powerpoint/2010/main" val="383571599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1867100-4AF5-4440-9AA8-F24E6DD39EB4}" type="slidenum">
              <a:rPr lang="en-US" smtClean="0"/>
              <a:t>18</a:t>
            </a:fld>
            <a:endParaRPr lang="en-US"/>
          </a:p>
        </p:txBody>
      </p:sp>
    </p:spTree>
    <p:extLst>
      <p:ext uri="{BB962C8B-B14F-4D97-AF65-F5344CB8AC3E}">
        <p14:creationId xmlns:p14="http://schemas.microsoft.com/office/powerpoint/2010/main" val="361112674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1867100-4AF5-4440-9AA8-F24E6DD39EB4}" type="slidenum">
              <a:rPr lang="en-US" smtClean="0"/>
              <a:t>23</a:t>
            </a:fld>
            <a:endParaRPr lang="en-US"/>
          </a:p>
        </p:txBody>
      </p:sp>
    </p:spTree>
    <p:extLst>
      <p:ext uri="{BB962C8B-B14F-4D97-AF65-F5344CB8AC3E}">
        <p14:creationId xmlns:p14="http://schemas.microsoft.com/office/powerpoint/2010/main" val="199541360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1867100-4AF5-4440-9AA8-F24E6DD39EB4}" type="slidenum">
              <a:rPr lang="en-US" smtClean="0"/>
              <a:t>28</a:t>
            </a:fld>
            <a:endParaRPr lang="en-US"/>
          </a:p>
        </p:txBody>
      </p:sp>
    </p:spTree>
    <p:extLst>
      <p:ext uri="{BB962C8B-B14F-4D97-AF65-F5344CB8AC3E}">
        <p14:creationId xmlns:p14="http://schemas.microsoft.com/office/powerpoint/2010/main" val="244961055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1867100-4AF5-4440-9AA8-F24E6DD39EB4}" type="slidenum">
              <a:rPr lang="en-US" smtClean="0"/>
              <a:t>30</a:t>
            </a:fld>
            <a:endParaRPr lang="en-US"/>
          </a:p>
        </p:txBody>
      </p:sp>
    </p:spTree>
    <p:extLst>
      <p:ext uri="{BB962C8B-B14F-4D97-AF65-F5344CB8AC3E}">
        <p14:creationId xmlns:p14="http://schemas.microsoft.com/office/powerpoint/2010/main" val="123058091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1867100-4AF5-4440-9AA8-F24E6DD39EB4}" type="slidenum">
              <a:rPr lang="en-US" smtClean="0"/>
              <a:t>36</a:t>
            </a:fld>
            <a:endParaRPr lang="en-US"/>
          </a:p>
        </p:txBody>
      </p:sp>
    </p:spTree>
    <p:extLst>
      <p:ext uri="{BB962C8B-B14F-4D97-AF65-F5344CB8AC3E}">
        <p14:creationId xmlns:p14="http://schemas.microsoft.com/office/powerpoint/2010/main" val="230386392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1867100-4AF5-4440-9AA8-F24E6DD39EB4}" type="slidenum">
              <a:rPr lang="en-US" smtClean="0"/>
              <a:t>41</a:t>
            </a:fld>
            <a:endParaRPr lang="en-US"/>
          </a:p>
        </p:txBody>
      </p:sp>
    </p:spTree>
    <p:extLst>
      <p:ext uri="{BB962C8B-B14F-4D97-AF65-F5344CB8AC3E}">
        <p14:creationId xmlns:p14="http://schemas.microsoft.com/office/powerpoint/2010/main" val="420700470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1867100-4AF5-4440-9AA8-F24E6DD39EB4}" type="slidenum">
              <a:rPr lang="en-US" smtClean="0"/>
              <a:t>44</a:t>
            </a:fld>
            <a:endParaRPr lang="en-US"/>
          </a:p>
        </p:txBody>
      </p:sp>
    </p:spTree>
    <p:extLst>
      <p:ext uri="{BB962C8B-B14F-4D97-AF65-F5344CB8AC3E}">
        <p14:creationId xmlns:p14="http://schemas.microsoft.com/office/powerpoint/2010/main" val="82573139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1867100-4AF5-4440-9AA8-F24E6DD39EB4}" type="slidenum">
              <a:rPr lang="en-US" smtClean="0"/>
              <a:t>59</a:t>
            </a:fld>
            <a:endParaRPr lang="en-US"/>
          </a:p>
        </p:txBody>
      </p:sp>
    </p:spTree>
    <p:extLst>
      <p:ext uri="{BB962C8B-B14F-4D97-AF65-F5344CB8AC3E}">
        <p14:creationId xmlns:p14="http://schemas.microsoft.com/office/powerpoint/2010/main" val="94877638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1867100-4AF5-4440-9AA8-F24E6DD39EB4}" type="slidenum">
              <a:rPr lang="en-US" smtClean="0"/>
              <a:t>69</a:t>
            </a:fld>
            <a:endParaRPr lang="en-US"/>
          </a:p>
        </p:txBody>
      </p:sp>
    </p:spTree>
    <p:extLst>
      <p:ext uri="{BB962C8B-B14F-4D97-AF65-F5344CB8AC3E}">
        <p14:creationId xmlns:p14="http://schemas.microsoft.com/office/powerpoint/2010/main" val="2907748585"/>
      </p:ext>
    </p:extLst>
  </p:cSld>
  <p:clrMapOvr>
    <a:masterClrMapping/>
  </p:clrMapOvr>
</p:notes>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ight Triangle 6">
            <a:extLst>
              <a:ext uri="{FF2B5EF4-FFF2-40B4-BE49-F238E27FC236}">
                <a16:creationId xmlns:a16="http://schemas.microsoft.com/office/drawing/2014/main" id="{CF46D04F-A2E9-9037-5671-AE76970CC35D}"/>
              </a:ext>
            </a:extLst>
          </p:cNvPr>
          <p:cNvSpPr/>
          <p:nvPr userDrawn="1"/>
        </p:nvSpPr>
        <p:spPr>
          <a:xfrm>
            <a:off x="65675" y="3778845"/>
            <a:ext cx="3849574" cy="2942629"/>
          </a:xfrm>
          <a:prstGeom prst="rtTriangle">
            <a:avLst/>
          </a:prstGeom>
          <a:solidFill>
            <a:srgbClr val="00263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FA8C0CB8-D0C2-1404-F91A-420744DD29B1}"/>
              </a:ext>
            </a:extLst>
          </p:cNvPr>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 style</a:t>
            </a:r>
          </a:p>
        </p:txBody>
      </p:sp>
      <p:sp>
        <p:nvSpPr>
          <p:cNvPr id="3" name="Subtitle 2">
            <a:extLst>
              <a:ext uri="{FF2B5EF4-FFF2-40B4-BE49-F238E27FC236}">
                <a16:creationId xmlns:a16="http://schemas.microsoft.com/office/drawing/2014/main" id="{B64EACBD-CAF3-E652-16CC-1B0FAD472CB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D30A456-AC01-F904-F218-7B4540D7D75B}"/>
              </a:ext>
            </a:extLst>
          </p:cNvPr>
          <p:cNvSpPr>
            <a:spLocks noGrp="1"/>
          </p:cNvSpPr>
          <p:nvPr>
            <p:ph type="dt" sz="half" idx="10"/>
          </p:nvPr>
        </p:nvSpPr>
        <p:spPr/>
        <p:txBody>
          <a:bodyPr/>
          <a:lstStyle>
            <a:lvl1pPr>
              <a:defRPr>
                <a:solidFill>
                  <a:schemeClr val="bg1"/>
                </a:solidFill>
              </a:defRPr>
            </a:lvl1pPr>
          </a:lstStyle>
          <a:p>
            <a:fld id="{A08589DF-59BF-4BA7-8495-56F0F1B65344}" type="datetimeFigureOut">
              <a:rPr lang="en-US" smtClean="0"/>
              <a:pPr/>
              <a:t>4/20/2026</a:t>
            </a:fld>
            <a:endParaRPr lang="en-US" dirty="0"/>
          </a:p>
        </p:txBody>
      </p:sp>
      <p:sp>
        <p:nvSpPr>
          <p:cNvPr id="5" name="Footer Placeholder 4">
            <a:extLst>
              <a:ext uri="{FF2B5EF4-FFF2-40B4-BE49-F238E27FC236}">
                <a16:creationId xmlns:a16="http://schemas.microsoft.com/office/drawing/2014/main" id="{8744CB47-B3B7-6135-DE12-0C6A78EAA3E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B4E3DA9-A3A9-44B9-1EE5-DEE572AFBD0B}"/>
              </a:ext>
            </a:extLst>
          </p:cNvPr>
          <p:cNvSpPr>
            <a:spLocks noGrp="1"/>
          </p:cNvSpPr>
          <p:nvPr>
            <p:ph type="sldNum" sz="quarter" idx="12"/>
          </p:nvPr>
        </p:nvSpPr>
        <p:spPr/>
        <p:txBody>
          <a:bodyPr/>
          <a:lstStyle/>
          <a:p>
            <a:fld id="{B893C485-DB5A-4C7E-867A-4FFBAFD4DD2E}" type="slidenum">
              <a:rPr lang="en-US" smtClean="0"/>
              <a:t>‹#›</a:t>
            </a:fld>
            <a:endParaRPr lang="en-US"/>
          </a:p>
        </p:txBody>
      </p:sp>
      <p:sp>
        <p:nvSpPr>
          <p:cNvPr id="8" name="Rectangle 7">
            <a:extLst>
              <a:ext uri="{FF2B5EF4-FFF2-40B4-BE49-F238E27FC236}">
                <a16:creationId xmlns:a16="http://schemas.microsoft.com/office/drawing/2014/main" id="{5571BE6C-6E5B-8994-D6FC-7B0CF7008156}"/>
              </a:ext>
            </a:extLst>
          </p:cNvPr>
          <p:cNvSpPr/>
          <p:nvPr userDrawn="1"/>
        </p:nvSpPr>
        <p:spPr>
          <a:xfrm rot="2253748">
            <a:off x="-395637" y="5046769"/>
            <a:ext cx="5087528" cy="134460"/>
          </a:xfrm>
          <a:prstGeom prst="rect">
            <a:avLst/>
          </a:prstGeom>
          <a:solidFill>
            <a:srgbClr val="00263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993777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6228F5-7EB8-E462-7F02-DEC7DD59DCC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808FE9F-8043-0471-3245-103B670275E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5662F2-0F81-38B4-96ED-B28DF9DDA87F}"/>
              </a:ext>
            </a:extLst>
          </p:cNvPr>
          <p:cNvSpPr>
            <a:spLocks noGrp="1"/>
          </p:cNvSpPr>
          <p:nvPr>
            <p:ph type="dt" sz="half" idx="10"/>
          </p:nvPr>
        </p:nvSpPr>
        <p:spPr/>
        <p:txBody>
          <a:bodyPr/>
          <a:lstStyle/>
          <a:p>
            <a:fld id="{A08589DF-59BF-4BA7-8495-56F0F1B65344}" type="datetimeFigureOut">
              <a:rPr lang="en-US" smtClean="0"/>
              <a:t>4/20/2026</a:t>
            </a:fld>
            <a:endParaRPr lang="en-US"/>
          </a:p>
        </p:txBody>
      </p:sp>
      <p:sp>
        <p:nvSpPr>
          <p:cNvPr id="5" name="Footer Placeholder 4">
            <a:extLst>
              <a:ext uri="{FF2B5EF4-FFF2-40B4-BE49-F238E27FC236}">
                <a16:creationId xmlns:a16="http://schemas.microsoft.com/office/drawing/2014/main" id="{E04059D3-130F-CB1C-C4BD-AB74DE5C8EA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F701768-0D49-C454-6289-60FB4C0AA2D9}"/>
              </a:ext>
            </a:extLst>
          </p:cNvPr>
          <p:cNvSpPr>
            <a:spLocks noGrp="1"/>
          </p:cNvSpPr>
          <p:nvPr>
            <p:ph type="sldNum" sz="quarter" idx="12"/>
          </p:nvPr>
        </p:nvSpPr>
        <p:spPr/>
        <p:txBody>
          <a:bodyPr/>
          <a:lstStyle/>
          <a:p>
            <a:fld id="{B893C485-DB5A-4C7E-867A-4FFBAFD4DD2E}" type="slidenum">
              <a:rPr lang="en-US" smtClean="0"/>
              <a:t>‹#›</a:t>
            </a:fld>
            <a:endParaRPr lang="en-US"/>
          </a:p>
        </p:txBody>
      </p:sp>
    </p:spTree>
    <p:extLst>
      <p:ext uri="{BB962C8B-B14F-4D97-AF65-F5344CB8AC3E}">
        <p14:creationId xmlns:p14="http://schemas.microsoft.com/office/powerpoint/2010/main" val="23834538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Right Triangle 6">
            <a:extLst>
              <a:ext uri="{FF2B5EF4-FFF2-40B4-BE49-F238E27FC236}">
                <a16:creationId xmlns:a16="http://schemas.microsoft.com/office/drawing/2014/main" id="{005EB2AA-5849-99F5-8BFB-632AC33BE750}"/>
              </a:ext>
            </a:extLst>
          </p:cNvPr>
          <p:cNvSpPr/>
          <p:nvPr userDrawn="1"/>
        </p:nvSpPr>
        <p:spPr>
          <a:xfrm>
            <a:off x="65675" y="4703350"/>
            <a:ext cx="3000849" cy="2018124"/>
          </a:xfrm>
          <a:prstGeom prst="rtTriangle">
            <a:avLst/>
          </a:prstGeom>
          <a:solidFill>
            <a:srgbClr val="00263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7CA21169-83DD-8851-E599-FEA45E149DDB}"/>
              </a:ext>
            </a:extLst>
          </p:cNvPr>
          <p:cNvSpPr>
            <a:spLocks noGrp="1"/>
          </p:cNvSpPr>
          <p:nvPr>
            <p:ph type="title"/>
          </p:nvPr>
        </p:nvSpPr>
        <p:spPr>
          <a:xfrm>
            <a:off x="1631774" y="1709738"/>
            <a:ext cx="9715675" cy="2357069"/>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E8FA66E-E2F5-038E-BF7C-F544B78441A8}"/>
              </a:ext>
            </a:extLst>
          </p:cNvPr>
          <p:cNvSpPr>
            <a:spLocks noGrp="1"/>
          </p:cNvSpPr>
          <p:nvPr>
            <p:ph type="body" idx="1"/>
          </p:nvPr>
        </p:nvSpPr>
        <p:spPr>
          <a:xfrm>
            <a:off x="1677242" y="4289092"/>
            <a:ext cx="9670207" cy="1369073"/>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8CDE55D8-8CBA-9F43-B01D-D7082DC964C2}"/>
              </a:ext>
            </a:extLst>
          </p:cNvPr>
          <p:cNvSpPr>
            <a:spLocks noGrp="1"/>
          </p:cNvSpPr>
          <p:nvPr>
            <p:ph type="dt" sz="half" idx="10"/>
          </p:nvPr>
        </p:nvSpPr>
        <p:spPr/>
        <p:txBody>
          <a:bodyPr/>
          <a:lstStyle>
            <a:lvl1pPr>
              <a:defRPr>
                <a:solidFill>
                  <a:schemeClr val="bg1"/>
                </a:solidFill>
              </a:defRPr>
            </a:lvl1pPr>
          </a:lstStyle>
          <a:p>
            <a:fld id="{A08589DF-59BF-4BA7-8495-56F0F1B65344}" type="datetimeFigureOut">
              <a:rPr lang="en-US" smtClean="0"/>
              <a:pPr/>
              <a:t>4/20/2026</a:t>
            </a:fld>
            <a:endParaRPr lang="en-US" dirty="0"/>
          </a:p>
        </p:txBody>
      </p:sp>
      <p:sp>
        <p:nvSpPr>
          <p:cNvPr id="5" name="Footer Placeholder 4">
            <a:extLst>
              <a:ext uri="{FF2B5EF4-FFF2-40B4-BE49-F238E27FC236}">
                <a16:creationId xmlns:a16="http://schemas.microsoft.com/office/drawing/2014/main" id="{48B051CF-3BF6-AF09-6011-B52C3C68304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30034DF-802E-7327-8627-9511A495EA58}"/>
              </a:ext>
            </a:extLst>
          </p:cNvPr>
          <p:cNvSpPr>
            <a:spLocks noGrp="1"/>
          </p:cNvSpPr>
          <p:nvPr>
            <p:ph type="sldNum" sz="quarter" idx="12"/>
          </p:nvPr>
        </p:nvSpPr>
        <p:spPr/>
        <p:txBody>
          <a:bodyPr/>
          <a:lstStyle/>
          <a:p>
            <a:fld id="{B893C485-DB5A-4C7E-867A-4FFBAFD4DD2E}" type="slidenum">
              <a:rPr lang="en-US" smtClean="0"/>
              <a:t>‹#›</a:t>
            </a:fld>
            <a:endParaRPr lang="en-US"/>
          </a:p>
        </p:txBody>
      </p:sp>
      <p:sp>
        <p:nvSpPr>
          <p:cNvPr id="8" name="Rectangle 7">
            <a:extLst>
              <a:ext uri="{FF2B5EF4-FFF2-40B4-BE49-F238E27FC236}">
                <a16:creationId xmlns:a16="http://schemas.microsoft.com/office/drawing/2014/main" id="{3D31E67B-A6F8-DF75-FF70-FDB89861438B}"/>
              </a:ext>
            </a:extLst>
          </p:cNvPr>
          <p:cNvSpPr/>
          <p:nvPr userDrawn="1"/>
        </p:nvSpPr>
        <p:spPr>
          <a:xfrm rot="2037324">
            <a:off x="-227242" y="5530392"/>
            <a:ext cx="3899903" cy="111444"/>
          </a:xfrm>
          <a:prstGeom prst="rect">
            <a:avLst/>
          </a:prstGeom>
          <a:solidFill>
            <a:srgbClr val="00263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365671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770E4A-4368-4C69-3C64-37AFD71E52B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BF0C132-4FE6-22EA-BAA6-8CA300CAE83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FF67368-3DE6-C552-433F-568EC0B615C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1DD78C7-6BC7-56DC-CA02-5C90A7A9C46E}"/>
              </a:ext>
            </a:extLst>
          </p:cNvPr>
          <p:cNvSpPr>
            <a:spLocks noGrp="1"/>
          </p:cNvSpPr>
          <p:nvPr>
            <p:ph type="dt" sz="half" idx="10"/>
          </p:nvPr>
        </p:nvSpPr>
        <p:spPr/>
        <p:txBody>
          <a:bodyPr/>
          <a:lstStyle/>
          <a:p>
            <a:fld id="{A08589DF-59BF-4BA7-8495-56F0F1B65344}" type="datetimeFigureOut">
              <a:rPr lang="en-US" smtClean="0"/>
              <a:t>4/20/2026</a:t>
            </a:fld>
            <a:endParaRPr lang="en-US"/>
          </a:p>
        </p:txBody>
      </p:sp>
      <p:sp>
        <p:nvSpPr>
          <p:cNvPr id="6" name="Footer Placeholder 5">
            <a:extLst>
              <a:ext uri="{FF2B5EF4-FFF2-40B4-BE49-F238E27FC236}">
                <a16:creationId xmlns:a16="http://schemas.microsoft.com/office/drawing/2014/main" id="{3F2F206C-92E1-28B7-AB9E-7FD2BB751A8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F892DCA-BE48-5290-3278-3EC28D13C234}"/>
              </a:ext>
            </a:extLst>
          </p:cNvPr>
          <p:cNvSpPr>
            <a:spLocks noGrp="1"/>
          </p:cNvSpPr>
          <p:nvPr>
            <p:ph type="sldNum" sz="quarter" idx="12"/>
          </p:nvPr>
        </p:nvSpPr>
        <p:spPr/>
        <p:txBody>
          <a:bodyPr/>
          <a:lstStyle/>
          <a:p>
            <a:fld id="{B893C485-DB5A-4C7E-867A-4FFBAFD4DD2E}" type="slidenum">
              <a:rPr lang="en-US" smtClean="0"/>
              <a:t>‹#›</a:t>
            </a:fld>
            <a:endParaRPr lang="en-US"/>
          </a:p>
        </p:txBody>
      </p:sp>
    </p:spTree>
    <p:extLst>
      <p:ext uri="{BB962C8B-B14F-4D97-AF65-F5344CB8AC3E}">
        <p14:creationId xmlns:p14="http://schemas.microsoft.com/office/powerpoint/2010/main" val="26190199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212AE3-93B7-61C1-B756-59838E053A9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F0E1FB3-F727-DBA4-FBA9-234073858C1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B1F2CAC-BACD-7BE3-43DD-71043AC67F5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9B31440-2DA2-FA84-9167-5FC181DCAFE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F78932E-9F32-AA7A-2F1E-17F50265BE0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47CD880-75C8-7990-30C3-51E10FE870E9}"/>
              </a:ext>
            </a:extLst>
          </p:cNvPr>
          <p:cNvSpPr>
            <a:spLocks noGrp="1"/>
          </p:cNvSpPr>
          <p:nvPr>
            <p:ph type="dt" sz="half" idx="10"/>
          </p:nvPr>
        </p:nvSpPr>
        <p:spPr/>
        <p:txBody>
          <a:bodyPr/>
          <a:lstStyle/>
          <a:p>
            <a:fld id="{A08589DF-59BF-4BA7-8495-56F0F1B65344}" type="datetimeFigureOut">
              <a:rPr lang="en-US" smtClean="0"/>
              <a:t>4/20/2026</a:t>
            </a:fld>
            <a:endParaRPr lang="en-US"/>
          </a:p>
        </p:txBody>
      </p:sp>
      <p:sp>
        <p:nvSpPr>
          <p:cNvPr id="8" name="Footer Placeholder 7">
            <a:extLst>
              <a:ext uri="{FF2B5EF4-FFF2-40B4-BE49-F238E27FC236}">
                <a16:creationId xmlns:a16="http://schemas.microsoft.com/office/drawing/2014/main" id="{9DDEF02E-78D7-F804-7839-C3354BF3F09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595FA79-FDE3-8906-39A3-A5C937F0834F}"/>
              </a:ext>
            </a:extLst>
          </p:cNvPr>
          <p:cNvSpPr>
            <a:spLocks noGrp="1"/>
          </p:cNvSpPr>
          <p:nvPr>
            <p:ph type="sldNum" sz="quarter" idx="12"/>
          </p:nvPr>
        </p:nvSpPr>
        <p:spPr/>
        <p:txBody>
          <a:bodyPr/>
          <a:lstStyle/>
          <a:p>
            <a:fld id="{B893C485-DB5A-4C7E-867A-4FFBAFD4DD2E}" type="slidenum">
              <a:rPr lang="en-US" smtClean="0"/>
              <a:t>‹#›</a:t>
            </a:fld>
            <a:endParaRPr lang="en-US"/>
          </a:p>
        </p:txBody>
      </p:sp>
    </p:spTree>
    <p:extLst>
      <p:ext uri="{BB962C8B-B14F-4D97-AF65-F5344CB8AC3E}">
        <p14:creationId xmlns:p14="http://schemas.microsoft.com/office/powerpoint/2010/main" val="17027526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47978E-2D2F-D341-2FA9-7D6D8ABF6FB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8C267CD-2EC9-4F23-858C-B85DCE903D46}"/>
              </a:ext>
            </a:extLst>
          </p:cNvPr>
          <p:cNvSpPr>
            <a:spLocks noGrp="1"/>
          </p:cNvSpPr>
          <p:nvPr>
            <p:ph type="dt" sz="half" idx="10"/>
          </p:nvPr>
        </p:nvSpPr>
        <p:spPr/>
        <p:txBody>
          <a:bodyPr/>
          <a:lstStyle/>
          <a:p>
            <a:fld id="{A08589DF-59BF-4BA7-8495-56F0F1B65344}" type="datetimeFigureOut">
              <a:rPr lang="en-US" smtClean="0"/>
              <a:t>4/20/2026</a:t>
            </a:fld>
            <a:endParaRPr lang="en-US"/>
          </a:p>
        </p:txBody>
      </p:sp>
      <p:sp>
        <p:nvSpPr>
          <p:cNvPr id="4" name="Footer Placeholder 3">
            <a:extLst>
              <a:ext uri="{FF2B5EF4-FFF2-40B4-BE49-F238E27FC236}">
                <a16:creationId xmlns:a16="http://schemas.microsoft.com/office/drawing/2014/main" id="{F325F275-AA05-AA90-BFF9-94CFF0801AB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CE8933A-5A98-47C0-0FDC-35C9BCEA33B8}"/>
              </a:ext>
            </a:extLst>
          </p:cNvPr>
          <p:cNvSpPr>
            <a:spLocks noGrp="1"/>
          </p:cNvSpPr>
          <p:nvPr>
            <p:ph type="sldNum" sz="quarter" idx="12"/>
          </p:nvPr>
        </p:nvSpPr>
        <p:spPr/>
        <p:txBody>
          <a:bodyPr/>
          <a:lstStyle/>
          <a:p>
            <a:fld id="{B893C485-DB5A-4C7E-867A-4FFBAFD4DD2E}" type="slidenum">
              <a:rPr lang="en-US" smtClean="0"/>
              <a:t>‹#›</a:t>
            </a:fld>
            <a:endParaRPr lang="en-US"/>
          </a:p>
        </p:txBody>
      </p:sp>
    </p:spTree>
    <p:extLst>
      <p:ext uri="{BB962C8B-B14F-4D97-AF65-F5344CB8AC3E}">
        <p14:creationId xmlns:p14="http://schemas.microsoft.com/office/powerpoint/2010/main" val="5051750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63A021B-9E90-5F87-7450-DC7257801FE9}"/>
              </a:ext>
            </a:extLst>
          </p:cNvPr>
          <p:cNvSpPr>
            <a:spLocks noGrp="1"/>
          </p:cNvSpPr>
          <p:nvPr>
            <p:ph type="dt" sz="half" idx="10"/>
          </p:nvPr>
        </p:nvSpPr>
        <p:spPr/>
        <p:txBody>
          <a:bodyPr/>
          <a:lstStyle/>
          <a:p>
            <a:fld id="{A08589DF-59BF-4BA7-8495-56F0F1B65344}" type="datetimeFigureOut">
              <a:rPr lang="en-US" smtClean="0"/>
              <a:t>4/20/2026</a:t>
            </a:fld>
            <a:endParaRPr lang="en-US"/>
          </a:p>
        </p:txBody>
      </p:sp>
      <p:sp>
        <p:nvSpPr>
          <p:cNvPr id="3" name="Footer Placeholder 2">
            <a:extLst>
              <a:ext uri="{FF2B5EF4-FFF2-40B4-BE49-F238E27FC236}">
                <a16:creationId xmlns:a16="http://schemas.microsoft.com/office/drawing/2014/main" id="{227CC1AD-0010-A189-0E43-BE96BA395D0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EF2B049-6B92-60D9-D26F-9C4603F930A6}"/>
              </a:ext>
            </a:extLst>
          </p:cNvPr>
          <p:cNvSpPr>
            <a:spLocks noGrp="1"/>
          </p:cNvSpPr>
          <p:nvPr>
            <p:ph type="sldNum" sz="quarter" idx="12"/>
          </p:nvPr>
        </p:nvSpPr>
        <p:spPr/>
        <p:txBody>
          <a:bodyPr/>
          <a:lstStyle/>
          <a:p>
            <a:fld id="{B893C485-DB5A-4C7E-867A-4FFBAFD4DD2E}" type="slidenum">
              <a:rPr lang="en-US" smtClean="0"/>
              <a:t>‹#›</a:t>
            </a:fld>
            <a:endParaRPr lang="en-US"/>
          </a:p>
        </p:txBody>
      </p:sp>
    </p:spTree>
    <p:extLst>
      <p:ext uri="{BB962C8B-B14F-4D97-AF65-F5344CB8AC3E}">
        <p14:creationId xmlns:p14="http://schemas.microsoft.com/office/powerpoint/2010/main" val="36290924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BD372C-E996-AF0C-1FE4-F8CE41D2CC1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602E048-3033-FD5E-D3EE-710DA0B00EA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6110ED7-5C65-0E15-895B-7C830D74A5A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ED0457B-797B-C6DE-EC6A-CB73EB2600E4}"/>
              </a:ext>
            </a:extLst>
          </p:cNvPr>
          <p:cNvSpPr>
            <a:spLocks noGrp="1"/>
          </p:cNvSpPr>
          <p:nvPr>
            <p:ph type="dt" sz="half" idx="10"/>
          </p:nvPr>
        </p:nvSpPr>
        <p:spPr/>
        <p:txBody>
          <a:bodyPr/>
          <a:lstStyle/>
          <a:p>
            <a:fld id="{A08589DF-59BF-4BA7-8495-56F0F1B65344}" type="datetimeFigureOut">
              <a:rPr lang="en-US" smtClean="0"/>
              <a:t>4/20/2026</a:t>
            </a:fld>
            <a:endParaRPr lang="en-US"/>
          </a:p>
        </p:txBody>
      </p:sp>
      <p:sp>
        <p:nvSpPr>
          <p:cNvPr id="6" name="Footer Placeholder 5">
            <a:extLst>
              <a:ext uri="{FF2B5EF4-FFF2-40B4-BE49-F238E27FC236}">
                <a16:creationId xmlns:a16="http://schemas.microsoft.com/office/drawing/2014/main" id="{5030F16C-84B6-9D3E-10C7-4B359FD7BE7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89A5764-25FE-49B4-7825-61267D9E518D}"/>
              </a:ext>
            </a:extLst>
          </p:cNvPr>
          <p:cNvSpPr>
            <a:spLocks noGrp="1"/>
          </p:cNvSpPr>
          <p:nvPr>
            <p:ph type="sldNum" sz="quarter" idx="12"/>
          </p:nvPr>
        </p:nvSpPr>
        <p:spPr/>
        <p:txBody>
          <a:bodyPr/>
          <a:lstStyle/>
          <a:p>
            <a:fld id="{B893C485-DB5A-4C7E-867A-4FFBAFD4DD2E}" type="slidenum">
              <a:rPr lang="en-US" smtClean="0"/>
              <a:t>‹#›</a:t>
            </a:fld>
            <a:endParaRPr lang="en-US"/>
          </a:p>
        </p:txBody>
      </p:sp>
    </p:spTree>
    <p:extLst>
      <p:ext uri="{BB962C8B-B14F-4D97-AF65-F5344CB8AC3E}">
        <p14:creationId xmlns:p14="http://schemas.microsoft.com/office/powerpoint/2010/main" val="22513505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3FA7B5-D51E-0EBA-DA75-9E1B8639288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50D8D80-69D5-682D-6788-8F3A4525339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62C84A4-2F9F-DC4F-74C1-19F1EB3CFB5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1980B86-C717-EA60-2269-392FD0F72C59}"/>
              </a:ext>
            </a:extLst>
          </p:cNvPr>
          <p:cNvSpPr>
            <a:spLocks noGrp="1"/>
          </p:cNvSpPr>
          <p:nvPr>
            <p:ph type="dt" sz="half" idx="10"/>
          </p:nvPr>
        </p:nvSpPr>
        <p:spPr/>
        <p:txBody>
          <a:bodyPr/>
          <a:lstStyle/>
          <a:p>
            <a:fld id="{A08589DF-59BF-4BA7-8495-56F0F1B65344}" type="datetimeFigureOut">
              <a:rPr lang="en-US" smtClean="0"/>
              <a:t>4/20/2026</a:t>
            </a:fld>
            <a:endParaRPr lang="en-US"/>
          </a:p>
        </p:txBody>
      </p:sp>
      <p:sp>
        <p:nvSpPr>
          <p:cNvPr id="6" name="Footer Placeholder 5">
            <a:extLst>
              <a:ext uri="{FF2B5EF4-FFF2-40B4-BE49-F238E27FC236}">
                <a16:creationId xmlns:a16="http://schemas.microsoft.com/office/drawing/2014/main" id="{2A658424-657A-53FD-0817-B7752742BBD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C85CE37-62D2-1E15-6CB6-04D76FAE4FE5}"/>
              </a:ext>
            </a:extLst>
          </p:cNvPr>
          <p:cNvSpPr>
            <a:spLocks noGrp="1"/>
          </p:cNvSpPr>
          <p:nvPr>
            <p:ph type="sldNum" sz="quarter" idx="12"/>
          </p:nvPr>
        </p:nvSpPr>
        <p:spPr/>
        <p:txBody>
          <a:bodyPr/>
          <a:lstStyle/>
          <a:p>
            <a:fld id="{B893C485-DB5A-4C7E-867A-4FFBAFD4DD2E}" type="slidenum">
              <a:rPr lang="en-US" smtClean="0"/>
              <a:t>‹#›</a:t>
            </a:fld>
            <a:endParaRPr lang="en-US"/>
          </a:p>
        </p:txBody>
      </p:sp>
    </p:spTree>
    <p:extLst>
      <p:ext uri="{BB962C8B-B14F-4D97-AF65-F5344CB8AC3E}">
        <p14:creationId xmlns:p14="http://schemas.microsoft.com/office/powerpoint/2010/main" val="7721206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DB41E0-17E7-2015-B9F8-B897CA63290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B8C2268-93A1-B778-5028-5783DE4D4D6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FB89D27-0D85-8C7B-142A-74403B21FF51}"/>
              </a:ext>
            </a:extLst>
          </p:cNvPr>
          <p:cNvSpPr>
            <a:spLocks noGrp="1"/>
          </p:cNvSpPr>
          <p:nvPr>
            <p:ph type="dt" sz="half" idx="10"/>
          </p:nvPr>
        </p:nvSpPr>
        <p:spPr/>
        <p:txBody>
          <a:bodyPr/>
          <a:lstStyle/>
          <a:p>
            <a:fld id="{A08589DF-59BF-4BA7-8495-56F0F1B65344}" type="datetimeFigureOut">
              <a:rPr lang="en-US" smtClean="0"/>
              <a:t>4/20/2026</a:t>
            </a:fld>
            <a:endParaRPr lang="en-US"/>
          </a:p>
        </p:txBody>
      </p:sp>
      <p:sp>
        <p:nvSpPr>
          <p:cNvPr id="5" name="Footer Placeholder 4">
            <a:extLst>
              <a:ext uri="{FF2B5EF4-FFF2-40B4-BE49-F238E27FC236}">
                <a16:creationId xmlns:a16="http://schemas.microsoft.com/office/drawing/2014/main" id="{27006D02-609F-7F78-2288-E43B0E23BB7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1358CFA-4B7F-0DBD-C99B-E464A43A4EA4}"/>
              </a:ext>
            </a:extLst>
          </p:cNvPr>
          <p:cNvSpPr>
            <a:spLocks noGrp="1"/>
          </p:cNvSpPr>
          <p:nvPr>
            <p:ph type="sldNum" sz="quarter" idx="12"/>
          </p:nvPr>
        </p:nvSpPr>
        <p:spPr/>
        <p:txBody>
          <a:bodyPr/>
          <a:lstStyle/>
          <a:p>
            <a:fld id="{B893C485-DB5A-4C7E-867A-4FFBAFD4DD2E}" type="slidenum">
              <a:rPr lang="en-US" smtClean="0"/>
              <a:t>‹#›</a:t>
            </a:fld>
            <a:endParaRPr lang="en-US"/>
          </a:p>
        </p:txBody>
      </p:sp>
    </p:spTree>
    <p:extLst>
      <p:ext uri="{BB962C8B-B14F-4D97-AF65-F5344CB8AC3E}">
        <p14:creationId xmlns:p14="http://schemas.microsoft.com/office/powerpoint/2010/main" val="3251791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BA441BA-3638-2B1C-D3CA-F862A6C0309E}"/>
              </a:ext>
            </a:extLst>
          </p:cNvPr>
          <p:cNvSpPr>
            <a:spLocks noGrp="1"/>
          </p:cNvSpPr>
          <p:nvPr>
            <p:ph type="title" orient="vert"/>
          </p:nvPr>
        </p:nvSpPr>
        <p:spPr>
          <a:xfrm>
            <a:off x="8724900" y="1156893"/>
            <a:ext cx="2628900" cy="5020070"/>
          </a:xfrm>
        </p:spPr>
        <p:txBody>
          <a:bodyPr vert="eaVert"/>
          <a:lstStyle/>
          <a:p>
            <a:r>
              <a:rPr lang="en-US" dirty="0"/>
              <a:t>Click to edit Master title style</a:t>
            </a:r>
          </a:p>
        </p:txBody>
      </p:sp>
      <p:sp>
        <p:nvSpPr>
          <p:cNvPr id="3" name="Vertical Text Placeholder 2">
            <a:extLst>
              <a:ext uri="{FF2B5EF4-FFF2-40B4-BE49-F238E27FC236}">
                <a16:creationId xmlns:a16="http://schemas.microsoft.com/office/drawing/2014/main" id="{6E47DF25-5E8D-D4BD-6759-5EB82BA5A3D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3CAFB57-7D5C-F3CC-330C-934B10E41D67}"/>
              </a:ext>
            </a:extLst>
          </p:cNvPr>
          <p:cNvSpPr>
            <a:spLocks noGrp="1"/>
          </p:cNvSpPr>
          <p:nvPr>
            <p:ph type="dt" sz="half" idx="10"/>
          </p:nvPr>
        </p:nvSpPr>
        <p:spPr/>
        <p:txBody>
          <a:bodyPr/>
          <a:lstStyle/>
          <a:p>
            <a:fld id="{A08589DF-59BF-4BA7-8495-56F0F1B65344}" type="datetimeFigureOut">
              <a:rPr lang="en-US" smtClean="0"/>
              <a:t>4/20/2026</a:t>
            </a:fld>
            <a:endParaRPr lang="en-US"/>
          </a:p>
        </p:txBody>
      </p:sp>
      <p:sp>
        <p:nvSpPr>
          <p:cNvPr id="5" name="Footer Placeholder 4">
            <a:extLst>
              <a:ext uri="{FF2B5EF4-FFF2-40B4-BE49-F238E27FC236}">
                <a16:creationId xmlns:a16="http://schemas.microsoft.com/office/drawing/2014/main" id="{596FCFFC-8250-D8A0-8181-3ECD823B9E2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BBCBCFC-BE45-2CEE-8C2D-480BF7B683A7}"/>
              </a:ext>
            </a:extLst>
          </p:cNvPr>
          <p:cNvSpPr>
            <a:spLocks noGrp="1"/>
          </p:cNvSpPr>
          <p:nvPr>
            <p:ph type="sldNum" sz="quarter" idx="12"/>
          </p:nvPr>
        </p:nvSpPr>
        <p:spPr/>
        <p:txBody>
          <a:bodyPr/>
          <a:lstStyle/>
          <a:p>
            <a:fld id="{B893C485-DB5A-4C7E-867A-4FFBAFD4DD2E}" type="slidenum">
              <a:rPr lang="en-US" smtClean="0"/>
              <a:t>‹#›</a:t>
            </a:fld>
            <a:endParaRPr lang="en-US"/>
          </a:p>
        </p:txBody>
      </p:sp>
    </p:spTree>
    <p:extLst>
      <p:ext uri="{BB962C8B-B14F-4D97-AF65-F5344CB8AC3E}">
        <p14:creationId xmlns:p14="http://schemas.microsoft.com/office/powerpoint/2010/main" val="285008375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Slide 26 master">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E6E6E6"/>
          </a:solidFill>
          <a:ln/>
        </p:spPr>
        <p:txBody>
          <a:bodyPr/>
          <a:lstStyle/>
          <a:p>
            <a:endParaRPr lang="en-US"/>
          </a:p>
        </p:txBody>
      </p:sp>
      <p:sp>
        <p:nvSpPr>
          <p:cNvPr id="3" name="Shape 1"/>
          <p:cNvSpPr/>
          <p:nvPr/>
        </p:nvSpPr>
        <p:spPr>
          <a:xfrm>
            <a:off x="0" y="0"/>
            <a:ext cx="12192000" cy="6858000"/>
          </a:xfrm>
          <a:prstGeom prst="rect">
            <a:avLst/>
          </a:prstGeom>
          <a:solidFill>
            <a:srgbClr val="FFFFFF"/>
          </a:solidFill>
          <a:ln/>
        </p:spPr>
        <p:txBody>
          <a:bodyPr/>
          <a:lstStyle/>
          <a:p>
            <a:endParaRPr lang="en-US"/>
          </a:p>
        </p:txBody>
      </p:sp>
    </p:spTree>
    <p:extLst>
      <p:ext uri="{BB962C8B-B14F-4D97-AF65-F5344CB8AC3E}">
        <p14:creationId xmlns:p14="http://schemas.microsoft.com/office/powerpoint/2010/main" val="2566035543"/>
      </p:ext>
    </p:extLst>
  </p:cSld>
  <p:clrMapOvr>
    <a:masterClrMapping/>
  </p:clrMapOvr>
</p:sldLayout>
</file>

<file path=ppt/slideMasters/_rels/slideMaster1.xml.rels><?xml version="1.0" encoding="UTF-8"?><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25988B7-8CA8-8706-C4A7-E1290D2D7C8E}"/>
              </a:ext>
            </a:extLst>
          </p:cNvPr>
          <p:cNvSpPr>
            <a:spLocks noGrp="1"/>
          </p:cNvSpPr>
          <p:nvPr>
            <p:ph type="title"/>
          </p:nvPr>
        </p:nvSpPr>
        <p:spPr>
          <a:xfrm>
            <a:off x="838200" y="1099100"/>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49097779-7EE0-B5F0-D625-DCEDCF087519}"/>
              </a:ext>
            </a:extLst>
          </p:cNvPr>
          <p:cNvSpPr>
            <a:spLocks noGrp="1"/>
          </p:cNvSpPr>
          <p:nvPr>
            <p:ph type="body" idx="1"/>
          </p:nvPr>
        </p:nvSpPr>
        <p:spPr>
          <a:xfrm>
            <a:off x="838200" y="2604051"/>
            <a:ext cx="10515600" cy="357291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806A9E4-6456-C2F9-73BB-C32B468DEA8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08589DF-59BF-4BA7-8495-56F0F1B65344}" type="datetimeFigureOut">
              <a:rPr lang="en-US" smtClean="0"/>
              <a:t>4/20/2026</a:t>
            </a:fld>
            <a:endParaRPr lang="en-US" dirty="0"/>
          </a:p>
        </p:txBody>
      </p:sp>
      <p:sp>
        <p:nvSpPr>
          <p:cNvPr id="5" name="Footer Placeholder 4">
            <a:extLst>
              <a:ext uri="{FF2B5EF4-FFF2-40B4-BE49-F238E27FC236}">
                <a16:creationId xmlns:a16="http://schemas.microsoft.com/office/drawing/2014/main" id="{9D8F09A6-E403-39ED-FCDD-D2B49BE77C8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r>
              <a:rPr lang="en-US" dirty="0"/>
              <a:t>All Rights Reserved @Nexellence</a:t>
            </a:r>
          </a:p>
        </p:txBody>
      </p:sp>
      <p:sp>
        <p:nvSpPr>
          <p:cNvPr id="6" name="Slide Number Placeholder 5">
            <a:extLst>
              <a:ext uri="{FF2B5EF4-FFF2-40B4-BE49-F238E27FC236}">
                <a16:creationId xmlns:a16="http://schemas.microsoft.com/office/drawing/2014/main" id="{55A1CF5F-1237-1539-FFB2-2128023A2B2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893C485-DB5A-4C7E-867A-4FFBAFD4DD2E}" type="slidenum">
              <a:rPr lang="en-US" smtClean="0"/>
              <a:t>‹#›</a:t>
            </a:fld>
            <a:endParaRPr lang="en-US"/>
          </a:p>
        </p:txBody>
      </p:sp>
      <p:pic>
        <p:nvPicPr>
          <p:cNvPr id="8" name="Picture 7" descr="A logo of a company  AI-generated content may be incorrect.">
            <a:extLst>
              <a:ext uri="{FF2B5EF4-FFF2-40B4-BE49-F238E27FC236}">
                <a16:creationId xmlns:a16="http://schemas.microsoft.com/office/drawing/2014/main" id="{625393FF-C7FE-64BE-F32C-440050D74E51}"/>
              </a:ext>
            </a:extLst>
          </p:cNvPr>
          <p:cNvPicPr>
            <a:picLocks noChangeAspect="1"/>
          </p:cNvPicPr>
          <p:nvPr userDrawn="1"/>
        </p:nvPicPr>
        <p:blipFill>
          <a:blip r:embed="rId14" cstate="screen">
            <a:extLst>
              <a:ext uri="{28A0092B-C50C-407E-A947-70E740481C1C}">
                <a14:useLocalDpi xmlns:a14="http://schemas.microsoft.com/office/drawing/2010/main"/>
              </a:ext>
            </a:extLst>
          </a:blip>
          <a:stretch>
            <a:fillRect/>
          </a:stretch>
        </p:blipFill>
        <p:spPr>
          <a:xfrm>
            <a:off x="8809383" y="86258"/>
            <a:ext cx="3138446" cy="717936"/>
          </a:xfrm>
          <a:prstGeom prst="rect">
            <a:avLst/>
          </a:prstGeom>
        </p:spPr>
      </p:pic>
    </p:spTree>
    <p:extLst>
      <p:ext uri="{BB962C8B-B14F-4D97-AF65-F5344CB8AC3E}">
        <p14:creationId xmlns:p14="http://schemas.microsoft.com/office/powerpoint/2010/main" val="210482297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1"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Relationships xmlns="http://schemas.openxmlformats.org/package/2006/relationships"><Relationship Id="rId8" Type="http://schemas.openxmlformats.org/officeDocument/2006/relationships/image" Target="../media/image6.pn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4.xml"/></Relationships>
</file>

<file path=ppt/slides/_rels/slide6.xml.rels><?xml version="1.0" encoding="UTF-8"?><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7.xml.rels><?xml version="1.0" encoding="UTF-8"?><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8.xml.rels><?xml version="1.0" encoding="UTF-8"?><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9.xml.rels><?xml version="1.0" encoding="UTF-8"?><Relationships xmlns="http://schemas.openxmlformats.org/package/2006/relationships"><Relationship Id="rId3" Type="http://schemas.openxmlformats.org/officeDocument/2006/relationships/diagramLayout" Target="../diagrams/layout2.xml"/><Relationship Id="rId7" Type="http://schemas.openxmlformats.org/officeDocument/2006/relationships/image" Target="../media/image16.png"/><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0.xml.rels><?xml version="1.0" encoding="UTF-8"?><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 Id="rId5" Type="http://schemas.openxmlformats.org/officeDocument/2006/relationships/image" Target="../media/image20.png"/><Relationship Id="rId4" Type="http://schemas.openxmlformats.org/officeDocument/2006/relationships/image" Target="../media/image19.png"/></Relationships>
</file>

<file path=ppt/slides/_rels/slide11.xml.rels><?xml version="1.0" encoding="UTF-8"?><Relationships xmlns="http://schemas.openxmlformats.org/package/2006/relationships"><Relationship Id="rId8" Type="http://schemas.openxmlformats.org/officeDocument/2006/relationships/image" Target="../media/image27.png"/><Relationship Id="rId3" Type="http://schemas.openxmlformats.org/officeDocument/2006/relationships/image" Target="../media/image22.png"/><Relationship Id="rId7" Type="http://schemas.openxmlformats.org/officeDocument/2006/relationships/image" Target="../media/image26.png"/><Relationship Id="rId2" Type="http://schemas.openxmlformats.org/officeDocument/2006/relationships/image" Target="../media/image21.png"/><Relationship Id="rId1" Type="http://schemas.openxmlformats.org/officeDocument/2006/relationships/slideLayout" Target="../slideLayouts/slideLayout2.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 Id="rId9" Type="http://schemas.openxmlformats.org/officeDocument/2006/relationships/image" Target="../media/image28.png"/></Relationships>
</file>

<file path=ppt/slides/_rels/slide12.xml.rels><?xml version="1.0" encoding="UTF-8"?><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13.xml.rels><?xml version="1.0" encoding="UTF-8"?><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14.xml.rels><?xml version="1.0" encoding="UTF-8"?><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 Id="rId5" Type="http://schemas.openxmlformats.org/officeDocument/2006/relationships/image" Target="../media/image34.png"/><Relationship Id="rId4" Type="http://schemas.openxmlformats.org/officeDocument/2006/relationships/image" Target="../media/image33.png"/></Relationships>
</file>

<file path=ppt/slides/_rels/slide16.xml.rels><?xml version="1.0" encoding="UTF-8"?><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17.xml.rels><?xml version="1.0" encoding="UTF-8"?><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8.xml.rels><?xml version="1.0" encoding="UTF-8"?><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39.png"/><Relationship Id="rId4" Type="http://schemas.openxmlformats.org/officeDocument/2006/relationships/image" Target="../media/image38.png"/></Relationships>
</file>

<file path=ppt/slides/_rels/slide19.xml.rels><?xml version="1.0" encoding="UTF-8"?><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21.xml.rels><?xml version="1.0" encoding="UTF-8"?><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22.xml.rels><?xml version="1.0" encoding="UTF-8"?><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23.xml.rels><?xml version="1.0" encoding="UTF-8"?><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24.xml.rels><?xml version="1.0" encoding="UTF-8"?><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25.xml.rels><?xml version="1.0" encoding="UTF-8"?><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26.xml.rels><?xml version="1.0" encoding="UTF-8"?><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27.xml.rels><?xml version="1.0" encoding="UTF-8"?><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28.xml.rels><?xml version="1.0" encoding="UTF-8"?><Relationships xmlns="http://schemas.openxmlformats.org/package/2006/relationships"><Relationship Id="rId8" Type="http://schemas.openxmlformats.org/officeDocument/2006/relationships/image" Target="../media/image44.png"/><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29.xml.rels><?xml version="1.0" encoding="UTF-8"?><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30.xml.rels><?xml version="1.0" encoding="UTF-8"?><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31.xml.rels><?xml version="1.0" encoding="UTF-8"?><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32.xml.rels><?xml version="1.0" encoding="UTF-8"?><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33.xml.rels><?xml version="1.0" encoding="UTF-8"?><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34.xml.rels><?xml version="1.0" encoding="UTF-8"?><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35.xml.rels><?xml version="1.0" encoding="UTF-8"?><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36.xml.rels><?xml version="1.0" encoding="UTF-8"?><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37.xml.rels><?xml version="1.0" encoding="UTF-8"?><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38.xml.rels><?xml version="1.0" encoding="UTF-8"?><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39.xml.rels><?xml version="1.0" encoding="UTF-8"?><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40.xml.rels><?xml version="1.0" encoding="UTF-8"?><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Relationships xmlns="http://schemas.openxmlformats.org/package/2006/relationships"><Relationship Id="rId3" Type="http://schemas.openxmlformats.org/officeDocument/2006/relationships/diagramData" Target="../diagrams/data8.xml"/><Relationship Id="rId7" Type="http://schemas.microsoft.com/office/2007/relationships/diagramDrawing" Target="../diagrams/drawing8.xml"/><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diagramColors" Target="../diagrams/colors8.xml"/><Relationship Id="rId5" Type="http://schemas.openxmlformats.org/officeDocument/2006/relationships/diagramQuickStyle" Target="../diagrams/quickStyle8.xml"/><Relationship Id="rId4" Type="http://schemas.openxmlformats.org/officeDocument/2006/relationships/diagramLayout" Target="../diagrams/layout8.xml"/></Relationships>
</file>

<file path=ppt/slides/_rels/slide42.xml.rels><?xml version="1.0" encoding="UTF-8"?><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44.xml.rels><?xml version="1.0" encoding="UTF-8"?><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45.xml.rels><?xml version="1.0" encoding="UTF-8"?><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9.png"/><Relationship Id="rId1" Type="http://schemas.openxmlformats.org/officeDocument/2006/relationships/slideLayout" Target="../slideLayouts/slideLayout2.xml"/><Relationship Id="rId6" Type="http://schemas.openxmlformats.org/officeDocument/2006/relationships/image" Target="../media/image63.png"/><Relationship Id="rId5" Type="http://schemas.openxmlformats.org/officeDocument/2006/relationships/image" Target="../media/image62.png"/><Relationship Id="rId4" Type="http://schemas.openxmlformats.org/officeDocument/2006/relationships/image" Target="../media/image61.png"/></Relationships>
</file>

<file path=ppt/slides/_rels/slide46.xml.rels><?xml version="1.0" encoding="UTF-8"?><Relationships xmlns="http://schemas.openxmlformats.org/package/2006/relationships"><Relationship Id="rId3" Type="http://schemas.openxmlformats.org/officeDocument/2006/relationships/image" Target="../media/image65.png"/><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47.xml.rels><?xml version="1.0" encoding="UTF-8"?><Relationships xmlns="http://schemas.openxmlformats.org/package/2006/relationships"><Relationship Id="rId3" Type="http://schemas.openxmlformats.org/officeDocument/2006/relationships/image" Target="../media/image67.png"/><Relationship Id="rId2" Type="http://schemas.openxmlformats.org/officeDocument/2006/relationships/image" Target="../media/image66.png"/><Relationship Id="rId1" Type="http://schemas.openxmlformats.org/officeDocument/2006/relationships/slideLayout" Target="../slideLayouts/slideLayout2.xml"/><Relationship Id="rId6" Type="http://schemas.openxmlformats.org/officeDocument/2006/relationships/image" Target="../media/image70.png"/><Relationship Id="rId5" Type="http://schemas.openxmlformats.org/officeDocument/2006/relationships/image" Target="../media/image69.png"/><Relationship Id="rId4" Type="http://schemas.openxmlformats.org/officeDocument/2006/relationships/image" Target="../media/image68.png"/></Relationships>
</file>

<file path=ppt/slides/_rels/slide48.xml.rels><?xml version="1.0" encoding="UTF-8"?><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2.xml"/></Relationships>
</file>

<file path=ppt/slides/_rels/slide49.xml.rels><?xml version="1.0" encoding="UTF-8"?><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2.xml"/></Relationships>
</file>

<file path=ppt/slides/_rels/slide52.xml.rels><?xml version="1.0" encoding="UTF-8"?><Relationships xmlns="http://schemas.openxmlformats.org/package/2006/relationships"><Relationship Id="rId3" Type="http://schemas.openxmlformats.org/officeDocument/2006/relationships/image" Target="../media/image74.png"/><Relationship Id="rId2" Type="http://schemas.openxmlformats.org/officeDocument/2006/relationships/image" Target="../media/image73.png"/><Relationship Id="rId1" Type="http://schemas.openxmlformats.org/officeDocument/2006/relationships/slideLayout" Target="../slideLayouts/slideLayout2.xml"/><Relationship Id="rId4" Type="http://schemas.openxmlformats.org/officeDocument/2006/relationships/image" Target="../media/image75.png"/></Relationships>
</file>

<file path=ppt/slides/_rels/slide53.xml.rels><?xml version="1.0" encoding="UTF-8"?><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2.xml"/></Relationships>
</file>

<file path=ppt/slides/_rels/slide54.xml.rels><?xml version="1.0" encoding="UTF-8"?><Relationships xmlns="http://schemas.openxmlformats.org/package/2006/relationships"><Relationship Id="rId2" Type="http://schemas.openxmlformats.org/officeDocument/2006/relationships/image" Target="../media/image77.png"/><Relationship Id="rId1" Type="http://schemas.openxmlformats.org/officeDocument/2006/relationships/slideLayout" Target="../slideLayouts/slideLayout2.xml"/></Relationships>
</file>

<file path=ppt/slides/_rels/slide55.xml.rels><?xml version="1.0" encoding="UTF-8"?><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Relationships xmlns="http://schemas.openxmlformats.org/package/2006/relationships"><Relationship Id="rId2" Type="http://schemas.openxmlformats.org/officeDocument/2006/relationships/image" Target="../media/image78.png"/><Relationship Id="rId1" Type="http://schemas.openxmlformats.org/officeDocument/2006/relationships/slideLayout" Target="../slideLayouts/slideLayout2.xml"/></Relationships>
</file>

<file path=ppt/slides/_rels/slide57.xml.rels><?xml version="1.0" encoding="UTF-8"?><Relationships xmlns="http://schemas.openxmlformats.org/package/2006/relationships"><Relationship Id="rId3" Type="http://schemas.openxmlformats.org/officeDocument/2006/relationships/image" Target="../media/image80.png"/><Relationship Id="rId2" Type="http://schemas.openxmlformats.org/officeDocument/2006/relationships/image" Target="../media/image79.png"/><Relationship Id="rId1" Type="http://schemas.openxmlformats.org/officeDocument/2006/relationships/slideLayout" Target="../slideLayouts/slideLayout2.xml"/></Relationships>
</file>

<file path=ppt/slides/_rels/slide58.xml.rels><?xml version="1.0" encoding="UTF-8"?><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2.xml"/></Relationships>
</file>

<file path=ppt/slides/_rels/slide59.xml.rels><?xml version="1.0" encoding="UTF-8"?><Relationships xmlns="http://schemas.openxmlformats.org/package/2006/relationships"><Relationship Id="rId3" Type="http://schemas.openxmlformats.org/officeDocument/2006/relationships/image" Target="../media/image82.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60.xml.rels><?xml version="1.0" encoding="UTF-8"?><Relationships xmlns="http://schemas.openxmlformats.org/package/2006/relationships"><Relationship Id="rId2" Type="http://schemas.openxmlformats.org/officeDocument/2006/relationships/image" Target="../media/image83.png"/><Relationship Id="rId1" Type="http://schemas.openxmlformats.org/officeDocument/2006/relationships/slideLayout" Target="../slideLayouts/slideLayout2.xml"/></Relationships>
</file>

<file path=ppt/slides/_rels/slide61.xml.rels><?xml version="1.0" encoding="UTF-8"?><Relationships xmlns="http://schemas.openxmlformats.org/package/2006/relationships"><Relationship Id="rId3" Type="http://schemas.openxmlformats.org/officeDocument/2006/relationships/image" Target="../media/image85.png"/><Relationship Id="rId2" Type="http://schemas.openxmlformats.org/officeDocument/2006/relationships/image" Target="../media/image84.png"/><Relationship Id="rId1" Type="http://schemas.openxmlformats.org/officeDocument/2006/relationships/slideLayout" Target="../slideLayouts/slideLayout2.xml"/></Relationships>
</file>

<file path=ppt/slides/_rels/slide62.xml.rels><?xml version="1.0" encoding="UTF-8"?><Relationships xmlns="http://schemas.openxmlformats.org/package/2006/relationships"><Relationship Id="rId2" Type="http://schemas.openxmlformats.org/officeDocument/2006/relationships/image" Target="../media/image86.png"/><Relationship Id="rId1" Type="http://schemas.openxmlformats.org/officeDocument/2006/relationships/slideLayout" Target="../slideLayouts/slideLayout2.xml"/></Relationships>
</file>

<file path=ppt/slides/_rels/slide63.xml.rels><?xml version="1.0" encoding="UTF-8"?><Relationships xmlns="http://schemas.openxmlformats.org/package/2006/relationships"><Relationship Id="rId2" Type="http://schemas.openxmlformats.org/officeDocument/2006/relationships/image" Target="../media/image87.png"/><Relationship Id="rId1" Type="http://schemas.openxmlformats.org/officeDocument/2006/relationships/slideLayout" Target="../slideLayouts/slideLayout2.xml"/></Relationships>
</file>

<file path=ppt/slides/_rels/slide64.xml.rels><?xml version="1.0" encoding="UTF-8"?><Relationships xmlns="http://schemas.openxmlformats.org/package/2006/relationships"><Relationship Id="rId2" Type="http://schemas.openxmlformats.org/officeDocument/2006/relationships/image" Target="../media/image88.png"/><Relationship Id="rId1" Type="http://schemas.openxmlformats.org/officeDocument/2006/relationships/slideLayout" Target="../slideLayouts/slideLayout2.xml"/></Relationships>
</file>

<file path=ppt/slides/_rels/slide65.xml.rels><?xml version="1.0" encoding="UTF-8"?><Relationships xmlns="http://schemas.openxmlformats.org/package/2006/relationships"><Relationship Id="rId2" Type="http://schemas.openxmlformats.org/officeDocument/2006/relationships/image" Target="../media/image89.png"/><Relationship Id="rId1" Type="http://schemas.openxmlformats.org/officeDocument/2006/relationships/slideLayout" Target="../slideLayouts/slideLayout2.xml"/></Relationships>
</file>

<file path=ppt/slides/_rels/slide66.xml.rels><?xml version="1.0" encoding="UTF-8"?><Relationships xmlns="http://schemas.openxmlformats.org/package/2006/relationships"><Relationship Id="rId2" Type="http://schemas.openxmlformats.org/officeDocument/2006/relationships/image" Target="../media/image90.png"/><Relationship Id="rId1" Type="http://schemas.openxmlformats.org/officeDocument/2006/relationships/slideLayout" Target="../slideLayouts/slideLayout2.xml"/></Relationships>
</file>

<file path=ppt/slides/_rels/slide67.xml.rels><?xml version="1.0" encoding="UTF-8"?><Relationships xmlns="http://schemas.openxmlformats.org/package/2006/relationships"><Relationship Id="rId2" Type="http://schemas.openxmlformats.org/officeDocument/2006/relationships/image" Target="../media/image91.png"/><Relationship Id="rId1" Type="http://schemas.openxmlformats.org/officeDocument/2006/relationships/slideLayout" Target="../slideLayouts/slideLayout2.xml"/></Relationships>
</file>

<file path=ppt/slides/_rels/slide68.xml.rels><?xml version="1.0" encoding="UTF-8"?><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70.xml.rels><?xml version="1.0" encoding="UTF-8"?><Relationships xmlns="http://schemas.openxmlformats.org/package/2006/relationships"><Relationship Id="rId3" Type="http://schemas.openxmlformats.org/officeDocument/2006/relationships/image" Target="../media/image93.png"/><Relationship Id="rId2" Type="http://schemas.openxmlformats.org/officeDocument/2006/relationships/image" Target="../media/image92.png"/><Relationship Id="rId1" Type="http://schemas.openxmlformats.org/officeDocument/2006/relationships/slideLayout" Target="../slideLayouts/slideLayout2.xml"/></Relationships>
</file>

<file path=ppt/slides/_rels/slide71.xml.rels><?xml version="1.0" encoding="UTF-8"?><Relationships xmlns="http://schemas.openxmlformats.org/package/2006/relationships"><Relationship Id="rId2" Type="http://schemas.openxmlformats.org/officeDocument/2006/relationships/image" Target="../media/image94.png"/><Relationship Id="rId1" Type="http://schemas.openxmlformats.org/officeDocument/2006/relationships/slideLayout" Target="../slideLayouts/slideLayout2.xml"/></Relationships>
</file>

<file path=ppt/slides/_rels/slide72.xml.rels><?xml version="1.0" encoding="UTF-8"?><Relationships xmlns="http://schemas.openxmlformats.org/package/2006/relationships"><Relationship Id="rId1" Type="http://schemas.openxmlformats.org/officeDocument/2006/relationships/slideLayout" Target="../slideLayouts/slideLayout1.xml"/></Relationships>
</file>

<file path=ppt/slides/_rels/slide73.xml.rels><?xml version="1.0" encoding="UTF-8"?><Relationships xmlns="http://schemas.openxmlformats.org/package/2006/relationships"><Relationship Id="rId2" Type="http://schemas.openxmlformats.org/officeDocument/2006/relationships/image" Target="../media/image95.png"/><Relationship Id="rId1" Type="http://schemas.openxmlformats.org/officeDocument/2006/relationships/slideLayout" Target="../slideLayouts/slideLayout2.xml"/></Relationships>
</file>

<file path=ppt/slides/_rels/slide74.xml.rels><?xml version="1.0" encoding="UTF-8"?><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Relationships xmlns="http://schemas.openxmlformats.org/package/2006/relationships"><Relationship Id="rId3" Type="http://schemas.openxmlformats.org/officeDocument/2006/relationships/image" Target="../media/image97.png"/><Relationship Id="rId2" Type="http://schemas.openxmlformats.org/officeDocument/2006/relationships/image" Target="../media/image96.png"/><Relationship Id="rId1" Type="http://schemas.openxmlformats.org/officeDocument/2006/relationships/slideLayout" Target="../slideLayouts/slideLayout2.xml"/><Relationship Id="rId6" Type="http://schemas.openxmlformats.org/officeDocument/2006/relationships/image" Target="../media/image100.png"/><Relationship Id="rId5" Type="http://schemas.openxmlformats.org/officeDocument/2006/relationships/image" Target="../media/image99.png"/><Relationship Id="rId4" Type="http://schemas.openxmlformats.org/officeDocument/2006/relationships/image" Target="../media/image98.png"/></Relationships>
</file>

<file path=ppt/slides/_rels/slide76.xml.rels><?xml version="1.0" encoding="UTF-8"?><Relationships xmlns="http://schemas.openxmlformats.org/package/2006/relationships"><Relationship Id="rId1" Type="http://schemas.openxmlformats.org/officeDocument/2006/relationships/slideLayout" Target="../slideLayouts/slideLayout3.xml"/></Relationships>
</file>

<file path=ppt/slides/_rels/slide77.xml.rels><?xml version="1.0" encoding="UTF-8"?><Relationships xmlns="http://schemas.openxmlformats.org/package/2006/relationships"><Relationship Id="rId1" Type="http://schemas.openxmlformats.org/officeDocument/2006/relationships/slideLayout" Target="../slideLayouts/slideLayout1.xml"/></Relationships>
</file>

<file path=ppt/slides/_rels/slide78.xml.rels><?xml version="1.0" encoding="UTF-8"?><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79.xml.rels><?xml version="1.0" encoding="UTF-8"?><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80.xml.rels><?xml version="1.0" encoding="UTF-8"?><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81.xml.rels><?xml version="1.0" encoding="UTF-8"?><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045535" y="1196791"/>
            <a:ext cx="10442944" cy="2387600"/>
          </a:xfrm>
        </p:spPr>
        <p:txBody>
          <a:bodyPr>
            <a:normAutofit/>
          </a:bodyPr>
          <a:lstStyle/>
          <a:p>
            <a:r>
              <a:rPr lang="en-US" dirty="0"/>
              <a:t>Chapter 6: Dirty Data</a:t>
            </a:r>
            <a:endParaRPr dirty="0"/>
          </a:p>
        </p:txBody>
      </p:sp>
      <p:sp>
        <p:nvSpPr>
          <p:cNvPr id="3" name="Subtitle 2"/>
          <p:cNvSpPr>
            <a:spLocks noGrp="1"/>
          </p:cNvSpPr>
          <p:nvPr>
            <p:ph type="subTitle" idx="1"/>
          </p:nvPr>
        </p:nvSpPr>
        <p:spPr>
          <a:xfrm>
            <a:off x="1524000" y="4231758"/>
            <a:ext cx="9144000" cy="1026042"/>
          </a:xfrm>
        </p:spPr>
        <p:txBody>
          <a:bodyPr/>
          <a:lstStyle/>
          <a:p>
            <a:r>
              <a:rPr dirty="0"/>
              <a:t>Detecting Data Issues and Ensuring Quality</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0" descr="preencoded.png">
            <a:extLst>
              <a:ext uri="{FF2B5EF4-FFF2-40B4-BE49-F238E27FC236}">
                <a16:creationId xmlns:a16="http://schemas.microsoft.com/office/drawing/2014/main" id="{0C973E73-EA20-EA3B-8364-18CC634C53B2}"/>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673893" y="4756493"/>
            <a:ext cx="10844213" cy="2101507"/>
          </a:xfrm>
          <a:prstGeom prst="rect">
            <a:avLst/>
          </a:prstGeom>
        </p:spPr>
      </p:pic>
      <p:sp>
        <p:nvSpPr>
          <p:cNvPr id="18" name="Text 0">
            <a:extLst>
              <a:ext uri="{FF2B5EF4-FFF2-40B4-BE49-F238E27FC236}">
                <a16:creationId xmlns:a16="http://schemas.microsoft.com/office/drawing/2014/main" id="{5962A156-2CC7-7F09-966B-AC8F87C4538D}"/>
              </a:ext>
            </a:extLst>
          </p:cNvPr>
          <p:cNvSpPr/>
          <p:nvPr/>
        </p:nvSpPr>
        <p:spPr>
          <a:xfrm>
            <a:off x="673893" y="1510858"/>
            <a:ext cx="5647631" cy="590649"/>
          </a:xfrm>
          <a:prstGeom prst="rect">
            <a:avLst/>
          </a:prstGeom>
          <a:noFill/>
          <a:ln/>
        </p:spPr>
        <p:txBody>
          <a:bodyPr wrap="none" lIns="0" tIns="0" rIns="0" bIns="0" rtlCol="0" anchor="t"/>
          <a:lstStyle/>
          <a:p>
            <a:pPr>
              <a:lnSpc>
                <a:spcPts val="4625"/>
              </a:lnSpc>
            </a:pPr>
            <a:r>
              <a:rPr lang="en-US" sz="4400" dirty="0">
                <a:solidFill>
                  <a:srgbClr val="000000"/>
                </a:solidFill>
                <a:latin typeface="Aptos" panose="020B0004020202020204" pitchFamily="34" charset="0"/>
                <a:ea typeface="Playfair Display Bold" pitchFamily="34" charset="-122"/>
                <a:cs typeface="Playfair Display Bold" pitchFamily="34" charset="-120"/>
              </a:rPr>
              <a:t>The Data Cleaning Reality</a:t>
            </a:r>
            <a:endParaRPr lang="en-US" sz="4400" dirty="0">
              <a:latin typeface="Aptos" panose="020B0004020202020204" pitchFamily="34" charset="0"/>
            </a:endParaRPr>
          </a:p>
        </p:txBody>
      </p:sp>
      <p:sp>
        <p:nvSpPr>
          <p:cNvPr id="19" name="Shape 1">
            <a:extLst>
              <a:ext uri="{FF2B5EF4-FFF2-40B4-BE49-F238E27FC236}">
                <a16:creationId xmlns:a16="http://schemas.microsoft.com/office/drawing/2014/main" id="{F19B78A5-3A14-B1F3-AB8F-E5508DA33C33}"/>
              </a:ext>
            </a:extLst>
          </p:cNvPr>
          <p:cNvSpPr/>
          <p:nvPr/>
        </p:nvSpPr>
        <p:spPr>
          <a:xfrm>
            <a:off x="373855" y="2310761"/>
            <a:ext cx="425252" cy="425252"/>
          </a:xfrm>
          <a:prstGeom prst="roundRect">
            <a:avLst>
              <a:gd name="adj" fmla="val 18669"/>
            </a:avLst>
          </a:prstGeom>
          <a:solidFill>
            <a:srgbClr val="CCEDFF"/>
          </a:solidFill>
          <a:ln w="7620">
            <a:solidFill>
              <a:srgbClr val="B2D3E5"/>
            </a:solidFill>
            <a:prstDash val="solid"/>
          </a:ln>
        </p:spPr>
        <p:txBody>
          <a:bodyPr/>
          <a:lstStyle/>
          <a:p>
            <a:endParaRPr lang="en-US">
              <a:latin typeface="Aptos" panose="020B0004020202020204" pitchFamily="34" charset="0"/>
            </a:endParaRPr>
          </a:p>
        </p:txBody>
      </p:sp>
      <p:pic>
        <p:nvPicPr>
          <p:cNvPr id="20" name="Image 1" descr="preencoded.png">
            <a:extLst>
              <a:ext uri="{FF2B5EF4-FFF2-40B4-BE49-F238E27FC236}">
                <a16:creationId xmlns:a16="http://schemas.microsoft.com/office/drawing/2014/main" id="{394B17B8-B923-6FBE-7958-4895D095D3E6}"/>
              </a:ext>
            </a:extLst>
          </p:cNvPr>
          <p:cNvPicPr>
            <a:picLocks noChangeAspect="1"/>
          </p:cNvPicPr>
          <p:nvPr/>
        </p:nvPicPr>
        <p:blipFill>
          <a:blip r:embed="rId3"/>
          <a:stretch>
            <a:fillRect/>
          </a:stretch>
        </p:blipFill>
        <p:spPr>
          <a:xfrm>
            <a:off x="444747" y="2346182"/>
            <a:ext cx="283468" cy="354409"/>
          </a:xfrm>
          <a:prstGeom prst="rect">
            <a:avLst/>
          </a:prstGeom>
        </p:spPr>
      </p:pic>
      <p:sp>
        <p:nvSpPr>
          <p:cNvPr id="21" name="Text 2">
            <a:extLst>
              <a:ext uri="{FF2B5EF4-FFF2-40B4-BE49-F238E27FC236}">
                <a16:creationId xmlns:a16="http://schemas.microsoft.com/office/drawing/2014/main" id="{770899B2-909B-0E8C-A759-392E6598FC06}"/>
              </a:ext>
            </a:extLst>
          </p:cNvPr>
          <p:cNvSpPr/>
          <p:nvPr/>
        </p:nvSpPr>
        <p:spPr>
          <a:xfrm>
            <a:off x="988120" y="2375649"/>
            <a:ext cx="2851249" cy="590550"/>
          </a:xfrm>
          <a:prstGeom prst="rect">
            <a:avLst/>
          </a:prstGeom>
          <a:noFill/>
          <a:ln/>
        </p:spPr>
        <p:txBody>
          <a:bodyPr wrap="square" lIns="0" tIns="0" rIns="0" bIns="0" rtlCol="0" anchor="t"/>
          <a:lstStyle/>
          <a:p>
            <a:pPr>
              <a:lnSpc>
                <a:spcPts val="2292"/>
              </a:lnSpc>
            </a:pPr>
            <a:r>
              <a:rPr lang="en-US" sz="2400" b="1" dirty="0">
                <a:solidFill>
                  <a:srgbClr val="000000"/>
                </a:solidFill>
                <a:latin typeface="Aptos" panose="020B0004020202020204" pitchFamily="34" charset="0"/>
                <a:ea typeface="Playfair Display Bold" pitchFamily="34" charset="-122"/>
                <a:cs typeface="Playfair Display Bold" pitchFamily="34" charset="-120"/>
              </a:rPr>
              <a:t>80% Cleaning, 20% Analysis</a:t>
            </a:r>
            <a:endParaRPr lang="en-US" sz="2400" dirty="0">
              <a:latin typeface="Aptos" panose="020B0004020202020204" pitchFamily="34" charset="0"/>
            </a:endParaRPr>
          </a:p>
        </p:txBody>
      </p:sp>
      <p:sp>
        <p:nvSpPr>
          <p:cNvPr id="22" name="Text 3">
            <a:extLst>
              <a:ext uri="{FF2B5EF4-FFF2-40B4-BE49-F238E27FC236}">
                <a16:creationId xmlns:a16="http://schemas.microsoft.com/office/drawing/2014/main" id="{6B59CFE1-2C48-443C-9388-12490546CDF8}"/>
              </a:ext>
            </a:extLst>
          </p:cNvPr>
          <p:cNvSpPr/>
          <p:nvPr/>
        </p:nvSpPr>
        <p:spPr>
          <a:xfrm>
            <a:off x="988120" y="3079607"/>
            <a:ext cx="2851249" cy="907257"/>
          </a:xfrm>
          <a:prstGeom prst="rect">
            <a:avLst/>
          </a:prstGeom>
          <a:noFill/>
          <a:ln/>
        </p:spPr>
        <p:txBody>
          <a:bodyPr wrap="square" lIns="0" tIns="0" rIns="0" bIns="0" rtlCol="0" anchor="t"/>
          <a:lstStyle/>
          <a:p>
            <a:pPr>
              <a:lnSpc>
                <a:spcPts val="2375"/>
              </a:lnSpc>
            </a:pPr>
            <a:r>
              <a:rPr lang="en-US" dirty="0">
                <a:solidFill>
                  <a:srgbClr val="000000"/>
                </a:solidFill>
                <a:latin typeface="Aptos" panose="020B0004020202020204" pitchFamily="34" charset="0"/>
                <a:ea typeface="Inter" pitchFamily="34" charset="-122"/>
                <a:cs typeface="Inter" pitchFamily="34" charset="-120"/>
              </a:rPr>
              <a:t>Industry surveys consistently find 60–80% of a data scientist’s time is spent cleaning data. At companies like Airbnb and LinkedIn, entire teams are dedicated to data quality infrastructure.</a:t>
            </a:r>
            <a:endParaRPr lang="en-US" dirty="0">
              <a:latin typeface="Aptos" panose="020B0004020202020204" pitchFamily="34" charset="0"/>
            </a:endParaRPr>
          </a:p>
        </p:txBody>
      </p:sp>
      <p:sp>
        <p:nvSpPr>
          <p:cNvPr id="23" name="Shape 4">
            <a:extLst>
              <a:ext uri="{FF2B5EF4-FFF2-40B4-BE49-F238E27FC236}">
                <a16:creationId xmlns:a16="http://schemas.microsoft.com/office/drawing/2014/main" id="{5F7EBFAE-F866-1A19-FE2F-51459038A833}"/>
              </a:ext>
            </a:extLst>
          </p:cNvPr>
          <p:cNvSpPr/>
          <p:nvPr/>
        </p:nvSpPr>
        <p:spPr>
          <a:xfrm>
            <a:off x="4075608" y="2310761"/>
            <a:ext cx="425252" cy="425252"/>
          </a:xfrm>
          <a:prstGeom prst="roundRect">
            <a:avLst>
              <a:gd name="adj" fmla="val 18669"/>
            </a:avLst>
          </a:prstGeom>
          <a:solidFill>
            <a:srgbClr val="CCEDFF"/>
          </a:solidFill>
          <a:ln w="7620">
            <a:solidFill>
              <a:srgbClr val="B2D3E5"/>
            </a:solidFill>
            <a:prstDash val="solid"/>
          </a:ln>
        </p:spPr>
        <p:txBody>
          <a:bodyPr/>
          <a:lstStyle/>
          <a:p>
            <a:endParaRPr lang="en-US">
              <a:latin typeface="Aptos" panose="020B0004020202020204" pitchFamily="34" charset="0"/>
            </a:endParaRPr>
          </a:p>
        </p:txBody>
      </p:sp>
      <p:pic>
        <p:nvPicPr>
          <p:cNvPr id="24" name="Image 2" descr="preencoded.png">
            <a:extLst>
              <a:ext uri="{FF2B5EF4-FFF2-40B4-BE49-F238E27FC236}">
                <a16:creationId xmlns:a16="http://schemas.microsoft.com/office/drawing/2014/main" id="{26AF0AAC-0EC4-4BCF-297F-ED29B4CD8EFC}"/>
              </a:ext>
            </a:extLst>
          </p:cNvPr>
          <p:cNvPicPr>
            <a:picLocks noChangeAspect="1"/>
          </p:cNvPicPr>
          <p:nvPr/>
        </p:nvPicPr>
        <p:blipFill>
          <a:blip r:embed="rId4"/>
          <a:stretch>
            <a:fillRect/>
          </a:stretch>
        </p:blipFill>
        <p:spPr>
          <a:xfrm>
            <a:off x="4146500" y="2346182"/>
            <a:ext cx="283468" cy="354409"/>
          </a:xfrm>
          <a:prstGeom prst="rect">
            <a:avLst/>
          </a:prstGeom>
        </p:spPr>
      </p:pic>
      <p:sp>
        <p:nvSpPr>
          <p:cNvPr id="25" name="Text 5">
            <a:extLst>
              <a:ext uri="{FF2B5EF4-FFF2-40B4-BE49-F238E27FC236}">
                <a16:creationId xmlns:a16="http://schemas.microsoft.com/office/drawing/2014/main" id="{474E5489-7E3C-E6FA-9ED9-33BDABE8210B}"/>
              </a:ext>
            </a:extLst>
          </p:cNvPr>
          <p:cNvSpPr/>
          <p:nvPr/>
        </p:nvSpPr>
        <p:spPr>
          <a:xfrm>
            <a:off x="4689871" y="2375649"/>
            <a:ext cx="2362696" cy="295275"/>
          </a:xfrm>
          <a:prstGeom prst="rect">
            <a:avLst/>
          </a:prstGeom>
          <a:noFill/>
          <a:ln/>
        </p:spPr>
        <p:txBody>
          <a:bodyPr wrap="none" lIns="0" tIns="0" rIns="0" bIns="0" rtlCol="0" anchor="t"/>
          <a:lstStyle/>
          <a:p>
            <a:pPr>
              <a:lnSpc>
                <a:spcPts val="2292"/>
              </a:lnSpc>
            </a:pPr>
            <a:r>
              <a:rPr lang="en-US" sz="2400" b="1" dirty="0">
                <a:solidFill>
                  <a:srgbClr val="000000"/>
                </a:solidFill>
                <a:latin typeface="Aptos" panose="020B0004020202020204" pitchFamily="34" charset="0"/>
                <a:ea typeface="Playfair Display Bold" pitchFamily="34" charset="-122"/>
                <a:cs typeface="Playfair Display Bold" pitchFamily="34" charset="-120"/>
              </a:rPr>
              <a:t>Be a Data Detective</a:t>
            </a:r>
            <a:endParaRPr lang="en-US" sz="2400" dirty="0">
              <a:latin typeface="Aptos" panose="020B0004020202020204" pitchFamily="34" charset="0"/>
            </a:endParaRPr>
          </a:p>
        </p:txBody>
      </p:sp>
      <p:sp>
        <p:nvSpPr>
          <p:cNvPr id="26" name="Text 6">
            <a:extLst>
              <a:ext uri="{FF2B5EF4-FFF2-40B4-BE49-F238E27FC236}">
                <a16:creationId xmlns:a16="http://schemas.microsoft.com/office/drawing/2014/main" id="{1948ED15-0665-AD9F-064A-01B456C017FF}"/>
              </a:ext>
            </a:extLst>
          </p:cNvPr>
          <p:cNvSpPr/>
          <p:nvPr/>
        </p:nvSpPr>
        <p:spPr>
          <a:xfrm>
            <a:off x="4689871" y="2784332"/>
            <a:ext cx="2851249" cy="604838"/>
          </a:xfrm>
          <a:prstGeom prst="rect">
            <a:avLst/>
          </a:prstGeom>
          <a:noFill/>
          <a:ln/>
        </p:spPr>
        <p:txBody>
          <a:bodyPr wrap="square" lIns="0" tIns="0" rIns="0" bIns="0" rtlCol="0" anchor="t"/>
          <a:lstStyle/>
          <a:p>
            <a:pPr>
              <a:lnSpc>
                <a:spcPts val="2375"/>
              </a:lnSpc>
            </a:pPr>
            <a:r>
              <a:rPr lang="en-US" dirty="0">
                <a:solidFill>
                  <a:srgbClr val="000000"/>
                </a:solidFill>
                <a:latin typeface="Aptos" panose="020B0004020202020204" pitchFamily="34" charset="0"/>
                <a:ea typeface="Inter" pitchFamily="34" charset="-122"/>
                <a:cs typeface="Inter" pitchFamily="34" charset="-120"/>
              </a:rPr>
              <a:t>A data detective doesn’t just run code — they verify that outputs match expectations, trace anomalies back to their source, and document every decision made.</a:t>
            </a:r>
            <a:endParaRPr lang="en-US" dirty="0">
              <a:latin typeface="Aptos" panose="020B0004020202020204" pitchFamily="34" charset="0"/>
            </a:endParaRPr>
          </a:p>
        </p:txBody>
      </p:sp>
      <p:sp>
        <p:nvSpPr>
          <p:cNvPr id="27" name="Shape 7">
            <a:extLst>
              <a:ext uri="{FF2B5EF4-FFF2-40B4-BE49-F238E27FC236}">
                <a16:creationId xmlns:a16="http://schemas.microsoft.com/office/drawing/2014/main" id="{17B58E48-2C16-52D3-9699-3BC5F6F876D6}"/>
              </a:ext>
            </a:extLst>
          </p:cNvPr>
          <p:cNvSpPr/>
          <p:nvPr/>
        </p:nvSpPr>
        <p:spPr>
          <a:xfrm>
            <a:off x="7777360" y="2310761"/>
            <a:ext cx="425252" cy="425252"/>
          </a:xfrm>
          <a:prstGeom prst="roundRect">
            <a:avLst>
              <a:gd name="adj" fmla="val 18669"/>
            </a:avLst>
          </a:prstGeom>
          <a:solidFill>
            <a:srgbClr val="CCEDFF"/>
          </a:solidFill>
          <a:ln w="7620">
            <a:solidFill>
              <a:srgbClr val="B2D3E5"/>
            </a:solidFill>
            <a:prstDash val="solid"/>
          </a:ln>
        </p:spPr>
        <p:txBody>
          <a:bodyPr/>
          <a:lstStyle/>
          <a:p>
            <a:endParaRPr lang="en-US">
              <a:latin typeface="Aptos" panose="020B0004020202020204" pitchFamily="34" charset="0"/>
            </a:endParaRPr>
          </a:p>
        </p:txBody>
      </p:sp>
      <p:pic>
        <p:nvPicPr>
          <p:cNvPr id="28" name="Image 3" descr="preencoded.png">
            <a:extLst>
              <a:ext uri="{FF2B5EF4-FFF2-40B4-BE49-F238E27FC236}">
                <a16:creationId xmlns:a16="http://schemas.microsoft.com/office/drawing/2014/main" id="{0E09FF10-8A00-23A7-CD5C-19AD06235C27}"/>
              </a:ext>
            </a:extLst>
          </p:cNvPr>
          <p:cNvPicPr>
            <a:picLocks noChangeAspect="1"/>
          </p:cNvPicPr>
          <p:nvPr/>
        </p:nvPicPr>
        <p:blipFill>
          <a:blip r:embed="rId5"/>
          <a:stretch>
            <a:fillRect/>
          </a:stretch>
        </p:blipFill>
        <p:spPr>
          <a:xfrm>
            <a:off x="7848252" y="2346182"/>
            <a:ext cx="283468" cy="354409"/>
          </a:xfrm>
          <a:prstGeom prst="rect">
            <a:avLst/>
          </a:prstGeom>
        </p:spPr>
      </p:pic>
      <p:sp>
        <p:nvSpPr>
          <p:cNvPr id="29" name="Text 8">
            <a:extLst>
              <a:ext uri="{FF2B5EF4-FFF2-40B4-BE49-F238E27FC236}">
                <a16:creationId xmlns:a16="http://schemas.microsoft.com/office/drawing/2014/main" id="{4609C983-EF4F-3A13-89C0-52C660DA4A3A}"/>
              </a:ext>
            </a:extLst>
          </p:cNvPr>
          <p:cNvSpPr/>
          <p:nvPr/>
        </p:nvSpPr>
        <p:spPr>
          <a:xfrm>
            <a:off x="8391623" y="2375649"/>
            <a:ext cx="2691308" cy="295275"/>
          </a:xfrm>
          <a:prstGeom prst="rect">
            <a:avLst/>
          </a:prstGeom>
          <a:noFill/>
          <a:ln/>
        </p:spPr>
        <p:txBody>
          <a:bodyPr wrap="none" lIns="0" tIns="0" rIns="0" bIns="0" rtlCol="0" anchor="t"/>
          <a:lstStyle/>
          <a:p>
            <a:pPr>
              <a:lnSpc>
                <a:spcPts val="2292"/>
              </a:lnSpc>
            </a:pPr>
            <a:r>
              <a:rPr lang="en-US" sz="2400" b="1" dirty="0">
                <a:solidFill>
                  <a:srgbClr val="000000"/>
                </a:solidFill>
                <a:latin typeface="Aptos" panose="020B0004020202020204" pitchFamily="34" charset="0"/>
                <a:ea typeface="Playfair Display Bold" pitchFamily="34" charset="-122"/>
                <a:cs typeface="Playfair Display Bold" pitchFamily="34" charset="-120"/>
              </a:rPr>
              <a:t>Garbage In, Garbage Out</a:t>
            </a:r>
            <a:endParaRPr lang="en-US" sz="2400" dirty="0">
              <a:latin typeface="Aptos" panose="020B0004020202020204" pitchFamily="34" charset="0"/>
            </a:endParaRPr>
          </a:p>
        </p:txBody>
      </p:sp>
      <p:sp>
        <p:nvSpPr>
          <p:cNvPr id="30" name="Text 9">
            <a:extLst>
              <a:ext uri="{FF2B5EF4-FFF2-40B4-BE49-F238E27FC236}">
                <a16:creationId xmlns:a16="http://schemas.microsoft.com/office/drawing/2014/main" id="{0034A56E-67BE-3148-F6F9-1928C0F5ED4E}"/>
              </a:ext>
            </a:extLst>
          </p:cNvPr>
          <p:cNvSpPr/>
          <p:nvPr/>
        </p:nvSpPr>
        <p:spPr>
          <a:xfrm>
            <a:off x="8391624" y="2784332"/>
            <a:ext cx="2851249" cy="907257"/>
          </a:xfrm>
          <a:prstGeom prst="rect">
            <a:avLst/>
          </a:prstGeom>
          <a:noFill/>
          <a:ln/>
        </p:spPr>
        <p:txBody>
          <a:bodyPr wrap="square" lIns="0" tIns="0" rIns="0" bIns="0" rtlCol="0" anchor="t"/>
          <a:lstStyle/>
          <a:p>
            <a:pPr>
              <a:lnSpc>
                <a:spcPts val="2375"/>
              </a:lnSpc>
            </a:pPr>
            <a:r>
              <a:rPr lang="en-US" dirty="0">
                <a:solidFill>
                  <a:srgbClr val="000000"/>
                </a:solidFill>
                <a:latin typeface="Aptos" panose="020B0004020202020204" pitchFamily="34" charset="0"/>
                <a:ea typeface="Inter" pitchFamily="34" charset="-122"/>
                <a:cs typeface="Inter" pitchFamily="34" charset="-120"/>
              </a:rPr>
              <a:t>The 2012 Reinhart-Rogoff scandal: a landmark economic paper influencing austerity policy worldwide was based on a spreadsheet with selective data exclusions. Dirty data doesn’t just affect grades — it shapes government policy.</a:t>
            </a:r>
            <a:endParaRPr lang="en-US" dirty="0">
              <a:latin typeface="Aptos" panose="020B0004020202020204" pitchFamily="34" charset="0"/>
            </a:endParaRPr>
          </a:p>
        </p:txBody>
      </p:sp>
    </p:spTree>
    <p:extLst>
      <p:ext uri="{BB962C8B-B14F-4D97-AF65-F5344CB8AC3E}">
        <p14:creationId xmlns:p14="http://schemas.microsoft.com/office/powerpoint/2010/main" val="42477243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BFBD67-BF1F-6739-088B-3A629C8C0CC5}"/>
              </a:ext>
            </a:extLst>
          </p:cNvPr>
          <p:cNvSpPr>
            <a:spLocks noGrp="1"/>
          </p:cNvSpPr>
          <p:nvPr>
            <p:ph type="title"/>
          </p:nvPr>
        </p:nvSpPr>
        <p:spPr/>
        <p:txBody>
          <a:bodyPr/>
          <a:lstStyle/>
          <a:p>
            <a:r>
              <a:rPr lang="en-US" dirty="0"/>
              <a:t>What We'll Learn</a:t>
            </a:r>
          </a:p>
        </p:txBody>
      </p:sp>
      <p:graphicFrame>
        <p:nvGraphicFramePr>
          <p:cNvPr id="4" name="Content Placeholder 3">
            <a:extLst>
              <a:ext uri="{FF2B5EF4-FFF2-40B4-BE49-F238E27FC236}">
                <a16:creationId xmlns:a16="http://schemas.microsoft.com/office/drawing/2014/main" id="{87EE7291-42D4-2431-D2D5-3DE6FB93ABC2}"/>
              </a:ext>
            </a:extLst>
          </p:cNvPr>
          <p:cNvGraphicFramePr>
            <a:graphicFrameLocks noGrp="1"/>
          </p:cNvGraphicFramePr>
          <p:nvPr>
            <p:ph idx="1"/>
            <p:extLst>
              <p:ext uri="{D42A27DB-BD31-4B8C-83A1-F6EECF244321}">
                <p14:modId xmlns:p14="http://schemas.microsoft.com/office/powerpoint/2010/main" val="1667881931"/>
              </p:ext>
            </p:extLst>
          </p:nvPr>
        </p:nvGraphicFramePr>
        <p:xfrm>
          <a:off x="838200" y="2603500"/>
          <a:ext cx="10515600" cy="357346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6" name="Image 0" descr="preencoded.png">
            <a:extLst>
              <a:ext uri="{FF2B5EF4-FFF2-40B4-BE49-F238E27FC236}">
                <a16:creationId xmlns:a16="http://schemas.microsoft.com/office/drawing/2014/main" id="{C63D9266-83E9-A6DC-9C65-4F954E1EDE69}"/>
              </a:ext>
            </a:extLst>
          </p:cNvPr>
          <p:cNvPicPr>
            <a:picLocks noChangeAspect="1"/>
          </p:cNvPicPr>
          <p:nvPr/>
        </p:nvPicPr>
        <p:blipFill>
          <a:blip r:embed="rId8" cstate="screen">
            <a:extLst>
              <a:ext uri="{28A0092B-C50C-407E-A947-70E740481C1C}">
                <a14:useLocalDpi xmlns:a14="http://schemas.microsoft.com/office/drawing/2010/main"/>
              </a:ext>
            </a:extLst>
          </a:blip>
          <a:stretch>
            <a:fillRect/>
          </a:stretch>
        </p:blipFill>
        <p:spPr>
          <a:xfrm>
            <a:off x="838200" y="121369"/>
            <a:ext cx="5776003" cy="1119335"/>
          </a:xfrm>
          <a:prstGeom prst="rect">
            <a:avLst/>
          </a:prstGeom>
        </p:spPr>
      </p:pic>
      <p:sp>
        <p:nvSpPr>
          <p:cNvPr id="10" name="Learn"/>
          <p:cNvSpPr>
            <a:spLocks noGrp="1"/>
          </p:cNvSpPr>
          <p:nvPr/>
        </p:nvSpPr>
        <p:spPr>
          <a:xfrm>
            <a:off x="457200" y="1371600"/>
            <a:ext cx="11354400" cy="5029200"/>
          </a:xfrm>
          <a:prstGeom prst="rect">
            <a:avLst/>
          </a:prstGeom>
        </p:spPr>
        <p:txBody>
          <a:bodyPr>
            <a:normAutofit/>
          </a:bodyPr>
          <a:lstStyle/>
          <a:p>
            <a:r>
              <a:rPr lang="en-US" sz="1800" b="1" dirty="0"/>
              <a:t>In this chapter:</a:t>
            </a:r>
          </a:p>
          <a:p>
            <a:r>
              <a:rPr lang="en-US" sz="1700" dirty="0"/>
              <a:t>Section 1 — Types of dirty data: missing values (MCAR/MAR/MNAR), outliers, typos, inconsistent formats, duplicates, and integration errors.</a:t>
            </a:r>
          </a:p>
          <a:p>
            <a:r>
              <a:rPr lang="en-US" sz="1700" dirty="0"/>
              <a:t>Section 2 — Cleaning strategies: validation rules, systematic detection, imputation methods, deduplication, and documenting your decisions.</a:t>
            </a:r>
          </a:p>
          <a:p>
            <a:r>
              <a:rPr lang="en-US" sz="1700" dirty="0"/>
              <a:t>Section 3 — Hands-on: clean a real messy dataset in Python and R, produce a cleaning log, and verify your results.</a:t>
            </a:r>
          </a:p>
          <a:p>
            <a:r>
              <a:rPr lang="en-US" sz="1700" dirty="0"/>
              <a:t>Section 4 — Data quality in practice: professional terminology (ETL, data lineage, schema validation), consequences of dirty data, and reporting on cleaning decisions.</a:t>
            </a:r>
          </a:p>
          <a:p>
            <a:r>
              <a:rPr lang="en-US" sz="1700" dirty="0"/>
              <a:t>Throughout: use a coding agent to automate detection, generate cleaning reports, and verify that cleaned data meets quality criteria.</a:t>
            </a:r>
          </a:p>
        </p:txBody>
      </p:sp>
    </p:spTree>
    <p:extLst>
      <p:ext uri="{BB962C8B-B14F-4D97-AF65-F5344CB8AC3E}">
        <p14:creationId xmlns:p14="http://schemas.microsoft.com/office/powerpoint/2010/main" val="2132545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71A626-8326-ED36-BB3E-B3ED9EF2C205}"/>
              </a:ext>
            </a:extLst>
          </p:cNvPr>
          <p:cNvSpPr>
            <a:spLocks noGrp="1"/>
          </p:cNvSpPr>
          <p:nvPr>
            <p:ph type="ctrTitle"/>
          </p:nvPr>
        </p:nvSpPr>
        <p:spPr/>
        <p:txBody>
          <a:bodyPr/>
          <a:lstStyle/>
          <a:p>
            <a:r>
              <a:rPr lang="en-US" dirty="0"/>
              <a:t>Chapter 6</a:t>
            </a:r>
          </a:p>
        </p:txBody>
      </p:sp>
      <p:sp>
        <p:nvSpPr>
          <p:cNvPr id="3" name="Subtitle 2">
            <a:extLst>
              <a:ext uri="{FF2B5EF4-FFF2-40B4-BE49-F238E27FC236}">
                <a16:creationId xmlns:a16="http://schemas.microsoft.com/office/drawing/2014/main" id="{78508952-325E-1FC4-DB93-F63EE622EE87}"/>
              </a:ext>
            </a:extLst>
          </p:cNvPr>
          <p:cNvSpPr>
            <a:spLocks noGrp="1"/>
          </p:cNvSpPr>
          <p:nvPr>
            <p:ph type="subTitle" idx="1"/>
          </p:nvPr>
        </p:nvSpPr>
        <p:spPr/>
        <p:txBody>
          <a:bodyPr/>
          <a:lstStyle/>
          <a:p>
            <a:r>
              <a:rPr lang="en-US" dirty="0"/>
              <a:t>What is “Dirty Data”? Common Data Problems</a:t>
            </a:r>
          </a:p>
        </p:txBody>
      </p:sp>
    </p:spTree>
    <p:extLst>
      <p:ext uri="{BB962C8B-B14F-4D97-AF65-F5344CB8AC3E}">
        <p14:creationId xmlns:p14="http://schemas.microsoft.com/office/powerpoint/2010/main" val="25009039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D2F2CF-9F30-EA3A-567D-4E174FF446B8}"/>
              </a:ext>
            </a:extLst>
          </p:cNvPr>
          <p:cNvSpPr>
            <a:spLocks noGrp="1"/>
          </p:cNvSpPr>
          <p:nvPr>
            <p:ph type="title"/>
          </p:nvPr>
        </p:nvSpPr>
        <p:spPr>
          <a:xfrm>
            <a:off x="838200" y="681037"/>
            <a:ext cx="10515600" cy="1325563"/>
          </a:xfrm>
        </p:spPr>
        <p:txBody>
          <a:bodyPr anchor="ctr">
            <a:normAutofit/>
          </a:bodyPr>
          <a:lstStyle/>
          <a:p>
            <a:r>
              <a:rPr lang="en-US" dirty="0"/>
              <a:t>What is "Dirty Data"?</a:t>
            </a:r>
          </a:p>
        </p:txBody>
      </p:sp>
      <p:sp>
        <p:nvSpPr>
          <p:cNvPr id="3" name="Content Placeholder 2">
            <a:extLst>
              <a:ext uri="{FF2B5EF4-FFF2-40B4-BE49-F238E27FC236}">
                <a16:creationId xmlns:a16="http://schemas.microsoft.com/office/drawing/2014/main" id="{CC89AB66-CEC7-7903-90EF-BD5F22D9D03A}"/>
              </a:ext>
            </a:extLst>
          </p:cNvPr>
          <p:cNvSpPr>
            <a:spLocks noGrp="1"/>
          </p:cNvSpPr>
          <p:nvPr>
            <p:ph sz="half" idx="1"/>
          </p:nvPr>
        </p:nvSpPr>
        <p:spPr>
          <a:xfrm>
            <a:off x="838200" y="1825625"/>
            <a:ext cx="5181600" cy="4351338"/>
          </a:xfrm>
        </p:spPr>
        <p:txBody>
          <a:bodyPr>
            <a:normAutofit/>
          </a:bodyPr>
          <a:lstStyle/>
          <a:p>
            <a:r>
              <a:rPr lang="en-US" sz="2400" b="1"/>
              <a:t>Dirty data</a:t>
            </a:r>
            <a:r>
              <a:rPr lang="en-US" sz="2400"/>
              <a:t>: data with errors or quality problems that can mislead analysis</a:t>
            </a:r>
          </a:p>
          <a:p>
            <a:r>
              <a:rPr lang="en-US" sz="2400"/>
              <a:t>Like a detective with bad evidence, a researcher can be misled by faulty data</a:t>
            </a:r>
          </a:p>
          <a:p>
            <a:r>
              <a:rPr lang="en-US" sz="2400"/>
              <a:t>Common issues include:</a:t>
            </a:r>
          </a:p>
          <a:p>
            <a:pPr lvl="1"/>
            <a:r>
              <a:rPr lang="en-US" dirty="0"/>
              <a:t>Incorrect or missing values</a:t>
            </a:r>
          </a:p>
          <a:p>
            <a:pPr lvl="1"/>
            <a:r>
              <a:rPr lang="en-US" dirty="0"/>
              <a:t>Duplicate entries</a:t>
            </a:r>
          </a:p>
          <a:p>
            <a:pPr lvl="1"/>
            <a:r>
              <a:rPr lang="en-US" dirty="0"/>
              <a:t>Inconsistent formatting</a:t>
            </a:r>
          </a:p>
          <a:p>
            <a:pPr lvl="1"/>
            <a:r>
              <a:rPr lang="en-US" dirty="0"/>
              <a:t>Outliers or impossible values</a:t>
            </a:r>
          </a:p>
          <a:p>
            <a:endParaRPr lang="en-US" sz="2400"/>
          </a:p>
        </p:txBody>
      </p:sp>
      <p:pic>
        <p:nvPicPr>
          <p:cNvPr id="1030" name="Picture 6" descr="Generated image">
            <a:extLst>
              <a:ext uri="{FF2B5EF4-FFF2-40B4-BE49-F238E27FC236}">
                <a16:creationId xmlns:a16="http://schemas.microsoft.com/office/drawing/2014/main" id="{084DA068-B420-083D-3F8B-81B36C0070B5}"/>
              </a:ext>
            </a:extLst>
          </p:cNvPr>
          <p:cNvPicPr>
            <a:picLocks noChangeAspect="1" noChangeArrowheads="1"/>
          </p:cNvPicPr>
          <p:nvPr/>
        </p:nvPicPr>
        <p:blipFill>
          <a:blip r:embed="rId2" cstate="screen">
            <a:extLst>
              <a:ext uri="{28A0092B-C50C-407E-A947-70E740481C1C}">
                <a14:useLocalDpi xmlns:a14="http://schemas.microsoft.com/office/drawing/2010/main"/>
              </a:ext>
            </a:extLst>
          </a:blip>
          <a:srcRect/>
          <a:stretch>
            <a:fillRect/>
          </a:stretch>
        </p:blipFill>
        <p:spPr bwMode="auto">
          <a:xfrm>
            <a:off x="6172200" y="1825625"/>
            <a:ext cx="5181600" cy="4351338"/>
          </a:xfrm>
          <a:prstGeom prst="rect">
            <a:avLst/>
          </a:prstGeom>
          <a:solidFill>
            <a:srgbClr val="FFFFFF"/>
          </a:solidFill>
        </p:spPr>
      </p:pic>
    </p:spTree>
    <p:extLst>
      <p:ext uri="{BB962C8B-B14F-4D97-AF65-F5344CB8AC3E}">
        <p14:creationId xmlns:p14="http://schemas.microsoft.com/office/powerpoint/2010/main" val="21042962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5771E1-A108-3970-435D-9D6BE46D622D}"/>
              </a:ext>
            </a:extLst>
          </p:cNvPr>
          <p:cNvSpPr>
            <a:spLocks noGrp="1"/>
          </p:cNvSpPr>
          <p:nvPr>
            <p:ph type="title"/>
          </p:nvPr>
        </p:nvSpPr>
        <p:spPr>
          <a:xfrm>
            <a:off x="900113" y="440018"/>
            <a:ext cx="10515600" cy="1325563"/>
          </a:xfrm>
        </p:spPr>
        <p:txBody>
          <a:bodyPr/>
          <a:lstStyle/>
          <a:p>
            <a:r>
              <a:rPr lang="en-US" dirty="0"/>
              <a:t>Missing Data</a:t>
            </a:r>
          </a:p>
        </p:txBody>
      </p:sp>
      <p:pic>
        <p:nvPicPr>
          <p:cNvPr id="5" name="Content Placeholder 4" descr="A screenshot of a group of numbers  AI-generated content may be incorrect.">
            <a:extLst>
              <a:ext uri="{FF2B5EF4-FFF2-40B4-BE49-F238E27FC236}">
                <a16:creationId xmlns:a16="http://schemas.microsoft.com/office/drawing/2014/main" id="{714CE9AC-179F-BDF8-D159-267785A8A2D2}"/>
              </a:ext>
            </a:extLst>
          </p:cNvPr>
          <p:cNvPicPr>
            <a:picLocks noGrp="1" noChangeAspect="1"/>
          </p:cNvPicPr>
          <p:nvPr>
            <p:ph idx="1"/>
          </p:nvPr>
        </p:nvPicPr>
        <p:blipFill>
          <a:blip r:embed="rId2" cstate="screen">
            <a:extLst>
              <a:ext uri="{28A0092B-C50C-407E-A947-70E740481C1C}">
                <a14:useLocalDpi xmlns:a14="http://schemas.microsoft.com/office/drawing/2010/main"/>
              </a:ext>
            </a:extLst>
          </a:blip>
          <a:stretch>
            <a:fillRect/>
          </a:stretch>
        </p:blipFill>
        <p:spPr>
          <a:xfrm>
            <a:off x="229748" y="2108783"/>
            <a:ext cx="5679309" cy="2004462"/>
          </a:xfrm>
        </p:spPr>
      </p:pic>
      <p:pic>
        <p:nvPicPr>
          <p:cNvPr id="7" name="Picture 6" descr="A screenshot of a spreadsheet  AI-generated content may be incorrect.">
            <a:extLst>
              <a:ext uri="{FF2B5EF4-FFF2-40B4-BE49-F238E27FC236}">
                <a16:creationId xmlns:a16="http://schemas.microsoft.com/office/drawing/2014/main" id="{79EA16CE-0B10-4799-4766-33733A3F3187}"/>
              </a:ext>
            </a:extLst>
          </p:cNvPr>
          <p:cNvPicPr>
            <a:picLocks noChangeAspect="1"/>
          </p:cNvPicPr>
          <p:nvPr/>
        </p:nvPicPr>
        <p:blipFill>
          <a:blip r:embed="rId3" cstate="screen">
            <a:extLst>
              <a:ext uri="{28A0092B-C50C-407E-A947-70E740481C1C}">
                <a14:useLocalDpi xmlns:a14="http://schemas.microsoft.com/office/drawing/2010/main"/>
              </a:ext>
            </a:extLst>
          </a:blip>
          <a:srcRect/>
          <a:stretch>
            <a:fillRect/>
          </a:stretch>
        </p:blipFill>
        <p:spPr>
          <a:xfrm>
            <a:off x="5990430" y="2234714"/>
            <a:ext cx="5971822" cy="1752600"/>
          </a:xfrm>
          <a:prstGeom prst="rect">
            <a:avLst/>
          </a:prstGeom>
        </p:spPr>
      </p:pic>
      <p:pic>
        <p:nvPicPr>
          <p:cNvPr id="9" name="Picture 8" descr="A white background with black text  AI-generated content may be incorrect.">
            <a:extLst>
              <a:ext uri="{FF2B5EF4-FFF2-40B4-BE49-F238E27FC236}">
                <a16:creationId xmlns:a16="http://schemas.microsoft.com/office/drawing/2014/main" id="{4485D530-61D8-2A5A-9B1C-BD4E1C3EE86C}"/>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2209800" y="4281695"/>
            <a:ext cx="7772400" cy="2203037"/>
          </a:xfrm>
          <a:prstGeom prst="rect">
            <a:avLst/>
          </a:prstGeom>
        </p:spPr>
      </p:pic>
      <p:sp>
        <p:nvSpPr>
          <p:cNvPr id="10" name="Oval 9">
            <a:extLst>
              <a:ext uri="{FF2B5EF4-FFF2-40B4-BE49-F238E27FC236}">
                <a16:creationId xmlns:a16="http://schemas.microsoft.com/office/drawing/2014/main" id="{58AB24C5-4D08-E119-0859-97E78F4F913E}"/>
              </a:ext>
            </a:extLst>
          </p:cNvPr>
          <p:cNvSpPr/>
          <p:nvPr/>
        </p:nvSpPr>
        <p:spPr>
          <a:xfrm>
            <a:off x="4300538" y="3241157"/>
            <a:ext cx="728662" cy="616468"/>
          </a:xfrm>
          <a:prstGeom prst="ellipse">
            <a:avLst/>
          </a:prstGeom>
          <a:noFill/>
          <a:ln w="2857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a:p>
        </p:txBody>
      </p:sp>
      <p:sp>
        <p:nvSpPr>
          <p:cNvPr id="11" name="Oval 10">
            <a:extLst>
              <a:ext uri="{FF2B5EF4-FFF2-40B4-BE49-F238E27FC236}">
                <a16:creationId xmlns:a16="http://schemas.microsoft.com/office/drawing/2014/main" id="{3763DC92-272B-E78A-2483-5F90826C654C}"/>
              </a:ext>
            </a:extLst>
          </p:cNvPr>
          <p:cNvSpPr/>
          <p:nvPr/>
        </p:nvSpPr>
        <p:spPr>
          <a:xfrm>
            <a:off x="8867776" y="3345964"/>
            <a:ext cx="1112071" cy="428625"/>
          </a:xfrm>
          <a:prstGeom prst="ellipse">
            <a:avLst/>
          </a:prstGeom>
          <a:noFill/>
          <a:ln w="2857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a:p>
        </p:txBody>
      </p:sp>
      <p:sp>
        <p:nvSpPr>
          <p:cNvPr id="12" name="Oval 11">
            <a:extLst>
              <a:ext uri="{FF2B5EF4-FFF2-40B4-BE49-F238E27FC236}">
                <a16:creationId xmlns:a16="http://schemas.microsoft.com/office/drawing/2014/main" id="{77E24E0D-CBDE-32F8-9072-9CA5FE9D2360}"/>
              </a:ext>
            </a:extLst>
          </p:cNvPr>
          <p:cNvSpPr/>
          <p:nvPr/>
        </p:nvSpPr>
        <p:spPr>
          <a:xfrm>
            <a:off x="10848988" y="3345964"/>
            <a:ext cx="1112071" cy="709617"/>
          </a:xfrm>
          <a:prstGeom prst="ellipse">
            <a:avLst/>
          </a:prstGeom>
          <a:noFill/>
          <a:ln w="2857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a:p>
        </p:txBody>
      </p:sp>
      <p:sp>
        <p:nvSpPr>
          <p:cNvPr id="13" name="Oval 12">
            <a:extLst>
              <a:ext uri="{FF2B5EF4-FFF2-40B4-BE49-F238E27FC236}">
                <a16:creationId xmlns:a16="http://schemas.microsoft.com/office/drawing/2014/main" id="{AC505741-E607-DAD1-B88D-97D55A1E2DC8}"/>
              </a:ext>
            </a:extLst>
          </p:cNvPr>
          <p:cNvSpPr/>
          <p:nvPr/>
        </p:nvSpPr>
        <p:spPr>
          <a:xfrm>
            <a:off x="4664869" y="4845569"/>
            <a:ext cx="1112071" cy="669406"/>
          </a:xfrm>
          <a:prstGeom prst="ellipse">
            <a:avLst/>
          </a:prstGeom>
          <a:noFill/>
          <a:ln w="2857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a:p>
        </p:txBody>
      </p:sp>
      <p:sp>
        <p:nvSpPr>
          <p:cNvPr id="14" name="TextBox 13">
            <a:extLst>
              <a:ext uri="{FF2B5EF4-FFF2-40B4-BE49-F238E27FC236}">
                <a16:creationId xmlns:a16="http://schemas.microsoft.com/office/drawing/2014/main" id="{72B28D66-0156-B0C0-2078-BCC71D1EF1B8}"/>
              </a:ext>
            </a:extLst>
          </p:cNvPr>
          <p:cNvSpPr txBox="1"/>
          <p:nvPr/>
        </p:nvSpPr>
        <p:spPr>
          <a:xfrm>
            <a:off x="343155" y="1524008"/>
            <a:ext cx="433132" cy="584775"/>
          </a:xfrm>
          <a:prstGeom prst="rect">
            <a:avLst/>
          </a:prstGeom>
        </p:spPr>
        <p:style>
          <a:lnRef idx="2">
            <a:schemeClr val="dk1"/>
          </a:lnRef>
          <a:fillRef idx="1">
            <a:schemeClr val="lt1"/>
          </a:fillRef>
          <a:effectRef idx="0">
            <a:schemeClr val="dk1"/>
          </a:effectRef>
          <a:fontRef idx="minor">
            <a:schemeClr val="dk1"/>
          </a:fontRef>
        </p:style>
        <p:txBody>
          <a:bodyPr wrap="none" rtlCol="0">
            <a:spAutoFit/>
          </a:bodyPr>
          <a:lstStyle/>
          <a:p>
            <a:r>
              <a:rPr lang="en-US" sz="3200" dirty="0"/>
              <a:t>R</a:t>
            </a:r>
            <a:endParaRPr lang="en-US" dirty="0"/>
          </a:p>
        </p:txBody>
      </p:sp>
      <p:sp>
        <p:nvSpPr>
          <p:cNvPr id="15" name="TextBox 14">
            <a:extLst>
              <a:ext uri="{FF2B5EF4-FFF2-40B4-BE49-F238E27FC236}">
                <a16:creationId xmlns:a16="http://schemas.microsoft.com/office/drawing/2014/main" id="{0937A012-ECCE-6195-57C0-6B7D5EA0CF9E}"/>
              </a:ext>
            </a:extLst>
          </p:cNvPr>
          <p:cNvSpPr txBox="1"/>
          <p:nvPr/>
        </p:nvSpPr>
        <p:spPr>
          <a:xfrm>
            <a:off x="6096000" y="1554785"/>
            <a:ext cx="1009251" cy="523220"/>
          </a:xfrm>
          <a:prstGeom prst="rect">
            <a:avLst/>
          </a:prstGeom>
        </p:spPr>
        <p:style>
          <a:lnRef idx="2">
            <a:schemeClr val="dk1"/>
          </a:lnRef>
          <a:fillRef idx="1">
            <a:schemeClr val="lt1"/>
          </a:fillRef>
          <a:effectRef idx="0">
            <a:schemeClr val="dk1"/>
          </a:effectRef>
          <a:fontRef idx="minor">
            <a:schemeClr val="dk1"/>
          </a:fontRef>
        </p:style>
        <p:txBody>
          <a:bodyPr wrap="none" rtlCol="0">
            <a:spAutoFit/>
          </a:bodyPr>
          <a:lstStyle/>
          <a:p>
            <a:r>
              <a:rPr lang="en-US" sz="2800" dirty="0"/>
              <a:t>Excel</a:t>
            </a:r>
            <a:endParaRPr lang="en-US" dirty="0"/>
          </a:p>
        </p:txBody>
      </p:sp>
      <p:sp>
        <p:nvSpPr>
          <p:cNvPr id="16" name="TextBox 15">
            <a:extLst>
              <a:ext uri="{FF2B5EF4-FFF2-40B4-BE49-F238E27FC236}">
                <a16:creationId xmlns:a16="http://schemas.microsoft.com/office/drawing/2014/main" id="{0979E61E-5E4F-344A-C128-A7EE5F11338E}"/>
              </a:ext>
            </a:extLst>
          </p:cNvPr>
          <p:cNvSpPr txBox="1"/>
          <p:nvPr/>
        </p:nvSpPr>
        <p:spPr>
          <a:xfrm>
            <a:off x="5464897" y="6367749"/>
            <a:ext cx="1262205" cy="523220"/>
          </a:xfrm>
          <a:prstGeom prst="rect">
            <a:avLst/>
          </a:prstGeom>
        </p:spPr>
        <p:style>
          <a:lnRef idx="2">
            <a:schemeClr val="dk1"/>
          </a:lnRef>
          <a:fillRef idx="1">
            <a:schemeClr val="lt1"/>
          </a:fillRef>
          <a:effectRef idx="0">
            <a:schemeClr val="dk1"/>
          </a:effectRef>
          <a:fontRef idx="minor">
            <a:schemeClr val="dk1"/>
          </a:fontRef>
        </p:style>
        <p:txBody>
          <a:bodyPr wrap="none" rtlCol="0">
            <a:spAutoFit/>
          </a:bodyPr>
          <a:lstStyle/>
          <a:p>
            <a:r>
              <a:rPr lang="en-US" sz="2800" dirty="0"/>
              <a:t>Python</a:t>
            </a:r>
          </a:p>
        </p:txBody>
      </p:sp>
    </p:spTree>
    <p:extLst>
      <p:ext uri="{BB962C8B-B14F-4D97-AF65-F5344CB8AC3E}">
        <p14:creationId xmlns:p14="http://schemas.microsoft.com/office/powerpoint/2010/main" val="7470285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0" grpId="0" animBg="1"/>
      <p:bldP spid="11" grpId="0" animBg="1"/>
      <p:bldP spid="12" grpId="0" animBg="1"/>
      <p:bldP spid="13" grpId="0" animBg="1"/>
      <p:bldP spid="14" grpId="0" animBg="1"/>
      <p:bldP spid="15" grpId="0" animBg="1"/>
      <p:bldP spid="16"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7C56E0-1D5E-921D-7C7D-E0CF975A4923}"/>
              </a:ext>
            </a:extLst>
          </p:cNvPr>
          <p:cNvSpPr>
            <a:spLocks noGrp="1"/>
          </p:cNvSpPr>
          <p:nvPr>
            <p:ph type="title"/>
          </p:nvPr>
        </p:nvSpPr>
        <p:spPr/>
        <p:txBody>
          <a:bodyPr/>
          <a:lstStyle/>
          <a:p>
            <a:r>
              <a:rPr lang="en-US" dirty="0"/>
              <a:t>Missing Data</a:t>
            </a:r>
          </a:p>
        </p:txBody>
      </p:sp>
      <p:sp>
        <p:nvSpPr>
          <p:cNvPr id="3" name="Content Placeholder 2">
            <a:extLst>
              <a:ext uri="{FF2B5EF4-FFF2-40B4-BE49-F238E27FC236}">
                <a16:creationId xmlns:a16="http://schemas.microsoft.com/office/drawing/2014/main" id="{5C84A439-DB43-BAED-BC37-97F7F90657EF}"/>
              </a:ext>
            </a:extLst>
          </p:cNvPr>
          <p:cNvSpPr>
            <a:spLocks noGrp="1"/>
          </p:cNvSpPr>
          <p:nvPr>
            <p:ph idx="1"/>
          </p:nvPr>
        </p:nvSpPr>
        <p:spPr>
          <a:xfrm>
            <a:off x="838200" y="2604051"/>
            <a:ext cx="7648575" cy="3572911"/>
          </a:xfrm>
        </p:spPr>
        <p:txBody>
          <a:bodyPr>
            <a:normAutofit fontScale="77500" lnSpcReduction="20000"/>
          </a:bodyPr>
          <a:lstStyle/>
          <a:p>
            <a:r>
              <a:rPr lang="en-US" b="1" dirty="0"/>
              <a:t>Missing data</a:t>
            </a:r>
            <a:r>
              <a:rPr lang="en-US" dirty="0"/>
              <a:t xml:space="preserve"> = blank or null entries where info wasn’t recorded</a:t>
            </a:r>
          </a:p>
          <a:p>
            <a:r>
              <a:rPr lang="en-US" dirty="0"/>
              <a:t>Three types of missingness: MCAR (Missing Completely At Random — safe to ignore or impute), MAR (depends on observed data — imputation can work), MNAR (missingness predicts itself — the most dangerous; biases results systematically).</a:t>
            </a:r>
          </a:p>
          <a:p>
            <a:r>
              <a:rPr lang="en-US" dirty="0"/>
              <a:t>Happens often in real life—people skip survey questions or sensors glitch</a:t>
            </a:r>
          </a:p>
          <a:p>
            <a:r>
              <a:rPr lang="en-US" dirty="0"/>
              <a:t>Many analysis methods can’t handle missing values automatically</a:t>
            </a:r>
          </a:p>
          <a:p>
            <a:r>
              <a:rPr lang="en-US" dirty="0"/>
              <a:t xml:space="preserve">Too much missing data can </a:t>
            </a:r>
            <a:r>
              <a:rPr lang="en-US" b="1" dirty="0"/>
              <a:t>bias results</a:t>
            </a:r>
            <a:r>
              <a:rPr lang="en-US" dirty="0"/>
              <a:t>MNAR example: sicker patients drop out of a drug trial, making remaining data look healthier than reality. Always ask: is there a pattern to what is missing? Detection: df.isnull().mean() per column; heatmap for row-level patterns.</a:t>
            </a:r>
          </a:p>
          <a:p>
            <a:r>
              <a:rPr lang="en-US" dirty="0"/>
              <a:t>Detection in pandas: df.isnull().sum() per column, df.isnull().mean() for rate. Visualize with a heatmap: sns.heatmap(df.isnull(), cbar=False) shows missing patterns across rows and columns simultaneously.</a:t>
            </a:r>
          </a:p>
          <a:p>
            <a:endParaRPr lang="en-US" dirty="0"/>
          </a:p>
        </p:txBody>
      </p:sp>
      <p:pic>
        <p:nvPicPr>
          <p:cNvPr id="2050" name="Picture 2" descr="Generated image">
            <a:extLst>
              <a:ext uri="{FF2B5EF4-FFF2-40B4-BE49-F238E27FC236}">
                <a16:creationId xmlns:a16="http://schemas.microsoft.com/office/drawing/2014/main" id="{1C13E086-350B-3199-B82A-8C7C4539504C}"/>
              </a:ext>
            </a:extLst>
          </p:cNvPr>
          <p:cNvPicPr>
            <a:picLocks noChangeAspect="1" noChangeArrowheads="1"/>
          </p:cNvPicPr>
          <p:nvPr/>
        </p:nvPicPr>
        <p:blipFill>
          <a:blip r:embed="rId2" cstate="screen">
            <a:extLst>
              <a:ext uri="{28A0092B-C50C-407E-A947-70E740481C1C}">
                <a14:useLocalDpi xmlns:a14="http://schemas.microsoft.com/office/drawing/2010/main"/>
              </a:ext>
            </a:extLst>
          </a:blip>
          <a:srcRect/>
          <a:stretch>
            <a:fillRect/>
          </a:stretch>
        </p:blipFill>
        <p:spPr bwMode="auto">
          <a:xfrm>
            <a:off x="8639175" y="2790825"/>
            <a:ext cx="3386137" cy="33861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64471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E2654-BEFA-55DA-302D-E220E6984074}"/>
              </a:ext>
            </a:extLst>
          </p:cNvPr>
          <p:cNvSpPr>
            <a:spLocks noGrp="1"/>
          </p:cNvSpPr>
          <p:nvPr>
            <p:ph type="title"/>
          </p:nvPr>
        </p:nvSpPr>
        <p:spPr/>
        <p:txBody>
          <a:bodyPr/>
          <a:lstStyle/>
          <a:p>
            <a:r>
              <a:rPr lang="en-US" dirty="0">
                <a:latin typeface="Aptos" panose="020B0004020202020204" pitchFamily="34" charset="0"/>
              </a:rPr>
              <a:t>Typos &amp; Data Entry Errors</a:t>
            </a:r>
          </a:p>
        </p:txBody>
      </p:sp>
      <p:sp>
        <p:nvSpPr>
          <p:cNvPr id="4" name="Shape 1">
            <a:extLst>
              <a:ext uri="{FF2B5EF4-FFF2-40B4-BE49-F238E27FC236}">
                <a16:creationId xmlns:a16="http://schemas.microsoft.com/office/drawing/2014/main" id="{17FF535D-055F-3E03-C918-9DFD1D97B5A3}"/>
              </a:ext>
            </a:extLst>
          </p:cNvPr>
          <p:cNvSpPr/>
          <p:nvPr/>
        </p:nvSpPr>
        <p:spPr>
          <a:xfrm>
            <a:off x="793790" y="2755463"/>
            <a:ext cx="510302" cy="510302"/>
          </a:xfrm>
          <a:prstGeom prst="roundRect">
            <a:avLst>
              <a:gd name="adj" fmla="val 18669"/>
            </a:avLst>
          </a:prstGeom>
          <a:solidFill>
            <a:srgbClr val="CCEDFF"/>
          </a:solidFill>
          <a:ln w="7620">
            <a:solidFill>
              <a:srgbClr val="B2D3E5"/>
            </a:solidFill>
            <a:prstDash val="solid"/>
          </a:ln>
        </p:spPr>
        <p:txBody>
          <a:bodyPr/>
          <a:lstStyle/>
          <a:p>
            <a:endParaRPr lang="en-US" sz="2000">
              <a:latin typeface="Aptos" panose="020B0004020202020204" pitchFamily="34" charset="0"/>
            </a:endParaRPr>
          </a:p>
        </p:txBody>
      </p:sp>
      <p:pic>
        <p:nvPicPr>
          <p:cNvPr id="5" name="Image 1" descr="preencoded.png">
            <a:extLst>
              <a:ext uri="{FF2B5EF4-FFF2-40B4-BE49-F238E27FC236}">
                <a16:creationId xmlns:a16="http://schemas.microsoft.com/office/drawing/2014/main" id="{57A821FA-1E80-9F79-558D-B1BE4370258E}"/>
              </a:ext>
            </a:extLst>
          </p:cNvPr>
          <p:cNvPicPr>
            <a:picLocks noChangeAspect="1"/>
          </p:cNvPicPr>
          <p:nvPr/>
        </p:nvPicPr>
        <p:blipFill>
          <a:blip r:embed="rId3"/>
          <a:stretch>
            <a:fillRect/>
          </a:stretch>
        </p:blipFill>
        <p:spPr>
          <a:xfrm>
            <a:off x="878860" y="2797969"/>
            <a:ext cx="340162" cy="425291"/>
          </a:xfrm>
          <a:prstGeom prst="rect">
            <a:avLst/>
          </a:prstGeom>
        </p:spPr>
      </p:pic>
      <p:sp>
        <p:nvSpPr>
          <p:cNvPr id="6" name="Text 2">
            <a:extLst>
              <a:ext uri="{FF2B5EF4-FFF2-40B4-BE49-F238E27FC236}">
                <a16:creationId xmlns:a16="http://schemas.microsoft.com/office/drawing/2014/main" id="{ECED0447-7D38-E7D1-34F1-D7AD86DDCF14}"/>
              </a:ext>
            </a:extLst>
          </p:cNvPr>
          <p:cNvSpPr/>
          <p:nvPr/>
        </p:nvSpPr>
        <p:spPr>
          <a:xfrm>
            <a:off x="1530906" y="2833330"/>
            <a:ext cx="2835235" cy="354330"/>
          </a:xfrm>
          <a:prstGeom prst="rect">
            <a:avLst/>
          </a:prstGeom>
          <a:noFill/>
          <a:ln/>
        </p:spPr>
        <p:txBody>
          <a:bodyPr wrap="none" lIns="0" tIns="0" rIns="0" bIns="0" rtlCol="0" anchor="t"/>
          <a:lstStyle/>
          <a:p>
            <a:pPr marL="0" indent="0" algn="l">
              <a:lnSpc>
                <a:spcPts val="2750"/>
              </a:lnSpc>
              <a:buNone/>
            </a:pPr>
            <a:r>
              <a:rPr lang="en-US" sz="2400" b="1" dirty="0">
                <a:solidFill>
                  <a:srgbClr val="000000"/>
                </a:solidFill>
                <a:latin typeface="Aptos" panose="020B0004020202020204" pitchFamily="34" charset="0"/>
                <a:ea typeface="Playfair Display Bold" pitchFamily="34" charset="-122"/>
                <a:cs typeface="Playfair Display Bold" pitchFamily="34" charset="-120"/>
              </a:rPr>
              <a:t>Human Error</a:t>
            </a:r>
            <a:endParaRPr lang="en-US" sz="2400" dirty="0">
              <a:latin typeface="Aptos" panose="020B0004020202020204" pitchFamily="34" charset="0"/>
            </a:endParaRPr>
          </a:p>
        </p:txBody>
      </p:sp>
      <p:sp>
        <p:nvSpPr>
          <p:cNvPr id="7" name="Text 3">
            <a:extLst>
              <a:ext uri="{FF2B5EF4-FFF2-40B4-BE49-F238E27FC236}">
                <a16:creationId xmlns:a16="http://schemas.microsoft.com/office/drawing/2014/main" id="{BDA490CF-32ED-5AB3-370E-1EDC04D59D64}"/>
              </a:ext>
            </a:extLst>
          </p:cNvPr>
          <p:cNvSpPr/>
          <p:nvPr/>
        </p:nvSpPr>
        <p:spPr>
          <a:xfrm>
            <a:off x="1530906" y="3323749"/>
            <a:ext cx="2899410" cy="1451610"/>
          </a:xfrm>
          <a:prstGeom prst="rect">
            <a:avLst/>
          </a:prstGeom>
          <a:noFill/>
          <a:ln/>
        </p:spPr>
        <p:txBody>
          <a:bodyPr wrap="square" lIns="0" tIns="0" rIns="0" bIns="0" rtlCol="0" anchor="t"/>
          <a:lstStyle/>
          <a:p>
            <a:pPr marL="0" indent="0" algn="l">
              <a:lnSpc>
                <a:spcPts val="2850"/>
              </a:lnSpc>
              <a:buNone/>
            </a:pPr>
            <a:r>
              <a:rPr lang="en-US" dirty="0">
                <a:solidFill>
                  <a:srgbClr val="000000"/>
                </a:solidFill>
                <a:latin typeface="Aptos" panose="020B0004020202020204" pitchFamily="34" charset="0"/>
                <a:ea typeface="Inter" pitchFamily="34" charset="-122"/>
                <a:cs typeface="Inter" pitchFamily="34" charset="-120"/>
              </a:rPr>
              <a:t>Entry errors pass a dtype check but fail a domain check — 88 is a valid integer but an impossible student age. Schema validation is necessary but not sufficient; always pair with range checks and domain knowledge.</a:t>
            </a:r>
            <a:endParaRPr lang="en-US" dirty="0">
              <a:latin typeface="Aptos" panose="020B0004020202020204" pitchFamily="34" charset="0"/>
            </a:endParaRPr>
          </a:p>
        </p:txBody>
      </p:sp>
      <p:sp>
        <p:nvSpPr>
          <p:cNvPr id="8" name="Shape 4">
            <a:extLst>
              <a:ext uri="{FF2B5EF4-FFF2-40B4-BE49-F238E27FC236}">
                <a16:creationId xmlns:a16="http://schemas.microsoft.com/office/drawing/2014/main" id="{DA83445B-30BE-2D5A-C8FD-A7FFC5C64B9D}"/>
              </a:ext>
            </a:extLst>
          </p:cNvPr>
          <p:cNvSpPr/>
          <p:nvPr/>
        </p:nvSpPr>
        <p:spPr>
          <a:xfrm>
            <a:off x="4713803" y="2755463"/>
            <a:ext cx="510302" cy="510302"/>
          </a:xfrm>
          <a:prstGeom prst="roundRect">
            <a:avLst>
              <a:gd name="adj" fmla="val 18669"/>
            </a:avLst>
          </a:prstGeom>
          <a:solidFill>
            <a:srgbClr val="CCEDFF"/>
          </a:solidFill>
          <a:ln w="7620">
            <a:solidFill>
              <a:srgbClr val="B2D3E5"/>
            </a:solidFill>
            <a:prstDash val="solid"/>
          </a:ln>
        </p:spPr>
        <p:txBody>
          <a:bodyPr/>
          <a:lstStyle/>
          <a:p>
            <a:endParaRPr lang="en-US" sz="2000">
              <a:latin typeface="Aptos" panose="020B0004020202020204" pitchFamily="34" charset="0"/>
            </a:endParaRPr>
          </a:p>
        </p:txBody>
      </p:sp>
      <p:pic>
        <p:nvPicPr>
          <p:cNvPr id="9" name="Image 2" descr="preencoded.png">
            <a:extLst>
              <a:ext uri="{FF2B5EF4-FFF2-40B4-BE49-F238E27FC236}">
                <a16:creationId xmlns:a16="http://schemas.microsoft.com/office/drawing/2014/main" id="{FFCD108C-D4C7-3B5D-6D20-6DA6F72572FB}"/>
              </a:ext>
            </a:extLst>
          </p:cNvPr>
          <p:cNvPicPr>
            <a:picLocks noChangeAspect="1"/>
          </p:cNvPicPr>
          <p:nvPr/>
        </p:nvPicPr>
        <p:blipFill>
          <a:blip r:embed="rId4"/>
          <a:stretch>
            <a:fillRect/>
          </a:stretch>
        </p:blipFill>
        <p:spPr>
          <a:xfrm>
            <a:off x="4798874" y="2797969"/>
            <a:ext cx="340162" cy="425291"/>
          </a:xfrm>
          <a:prstGeom prst="rect">
            <a:avLst/>
          </a:prstGeom>
        </p:spPr>
      </p:pic>
      <p:sp>
        <p:nvSpPr>
          <p:cNvPr id="10" name="Text 5">
            <a:extLst>
              <a:ext uri="{FF2B5EF4-FFF2-40B4-BE49-F238E27FC236}">
                <a16:creationId xmlns:a16="http://schemas.microsoft.com/office/drawing/2014/main" id="{F9815163-5E05-232F-DA8B-F3D7064647A0}"/>
              </a:ext>
            </a:extLst>
          </p:cNvPr>
          <p:cNvSpPr/>
          <p:nvPr/>
        </p:nvSpPr>
        <p:spPr>
          <a:xfrm>
            <a:off x="5450919" y="2833330"/>
            <a:ext cx="2835235" cy="354330"/>
          </a:xfrm>
          <a:prstGeom prst="rect">
            <a:avLst/>
          </a:prstGeom>
          <a:noFill/>
          <a:ln/>
        </p:spPr>
        <p:txBody>
          <a:bodyPr wrap="none" lIns="0" tIns="0" rIns="0" bIns="0" rtlCol="0" anchor="t"/>
          <a:lstStyle/>
          <a:p>
            <a:pPr marL="0" indent="0" algn="l">
              <a:lnSpc>
                <a:spcPts val="2750"/>
              </a:lnSpc>
              <a:buNone/>
            </a:pPr>
            <a:r>
              <a:rPr lang="en-US" sz="2400" b="1" dirty="0">
                <a:solidFill>
                  <a:srgbClr val="000000"/>
                </a:solidFill>
                <a:latin typeface="Aptos" panose="020B0004020202020204" pitchFamily="34" charset="0"/>
                <a:ea typeface="Playfair Display Bold" pitchFamily="34" charset="-122"/>
                <a:cs typeface="Playfair Display Bold" pitchFamily="34" charset="-120"/>
              </a:rPr>
              <a:t>Misalignment</a:t>
            </a:r>
            <a:endParaRPr lang="en-US" sz="2400" dirty="0">
              <a:latin typeface="Aptos" panose="020B0004020202020204" pitchFamily="34" charset="0"/>
            </a:endParaRPr>
          </a:p>
        </p:txBody>
      </p:sp>
      <p:sp>
        <p:nvSpPr>
          <p:cNvPr id="11" name="Text 6">
            <a:extLst>
              <a:ext uri="{FF2B5EF4-FFF2-40B4-BE49-F238E27FC236}">
                <a16:creationId xmlns:a16="http://schemas.microsoft.com/office/drawing/2014/main" id="{CA675C5B-BE74-E788-AE57-304E4B58993B}"/>
              </a:ext>
            </a:extLst>
          </p:cNvPr>
          <p:cNvSpPr/>
          <p:nvPr/>
        </p:nvSpPr>
        <p:spPr>
          <a:xfrm>
            <a:off x="5450919" y="3323749"/>
            <a:ext cx="2899410" cy="1088708"/>
          </a:xfrm>
          <a:prstGeom prst="rect">
            <a:avLst/>
          </a:prstGeom>
          <a:noFill/>
          <a:ln/>
        </p:spPr>
        <p:txBody>
          <a:bodyPr wrap="square" lIns="0" tIns="0" rIns="0" bIns="0" rtlCol="0" anchor="t"/>
          <a:lstStyle/>
          <a:p>
            <a:pPr marL="0" indent="0" algn="l">
              <a:lnSpc>
                <a:spcPts val="2850"/>
              </a:lnSpc>
              <a:buNone/>
            </a:pPr>
            <a:r>
              <a:rPr lang="en-US" dirty="0">
                <a:solidFill>
                  <a:srgbClr val="000000"/>
                </a:solidFill>
                <a:latin typeface="Aptos" panose="020B0004020202020204" pitchFamily="34" charset="0"/>
                <a:ea typeface="Inter" pitchFamily="34" charset="-122"/>
                <a:cs typeface="Inter" pitchFamily="34" charset="-120"/>
              </a:rPr>
              <a:t>Answers might get shifted to wrong rows when entering data manually.</a:t>
            </a:r>
            <a:endParaRPr lang="en-US" dirty="0">
              <a:latin typeface="Aptos" panose="020B0004020202020204" pitchFamily="34" charset="0"/>
            </a:endParaRPr>
          </a:p>
        </p:txBody>
      </p:sp>
      <p:sp>
        <p:nvSpPr>
          <p:cNvPr id="12" name="Shape 7">
            <a:extLst>
              <a:ext uri="{FF2B5EF4-FFF2-40B4-BE49-F238E27FC236}">
                <a16:creationId xmlns:a16="http://schemas.microsoft.com/office/drawing/2014/main" id="{3E612C2E-23FE-7E2C-3702-FB7927C5DDB5}"/>
              </a:ext>
            </a:extLst>
          </p:cNvPr>
          <p:cNvSpPr/>
          <p:nvPr/>
        </p:nvSpPr>
        <p:spPr>
          <a:xfrm>
            <a:off x="793790" y="4971812"/>
            <a:ext cx="510302" cy="510302"/>
          </a:xfrm>
          <a:prstGeom prst="roundRect">
            <a:avLst>
              <a:gd name="adj" fmla="val 18669"/>
            </a:avLst>
          </a:prstGeom>
          <a:solidFill>
            <a:srgbClr val="CCEDFF"/>
          </a:solidFill>
          <a:ln w="7620">
            <a:solidFill>
              <a:srgbClr val="B2D3E5"/>
            </a:solidFill>
            <a:prstDash val="solid"/>
          </a:ln>
        </p:spPr>
        <p:txBody>
          <a:bodyPr/>
          <a:lstStyle/>
          <a:p>
            <a:endParaRPr lang="en-US" sz="2000">
              <a:latin typeface="Aptos" panose="020B0004020202020204" pitchFamily="34" charset="0"/>
            </a:endParaRPr>
          </a:p>
        </p:txBody>
      </p:sp>
      <p:pic>
        <p:nvPicPr>
          <p:cNvPr id="13" name="Image 3" descr="preencoded.png">
            <a:extLst>
              <a:ext uri="{FF2B5EF4-FFF2-40B4-BE49-F238E27FC236}">
                <a16:creationId xmlns:a16="http://schemas.microsoft.com/office/drawing/2014/main" id="{0BE119EF-5B14-37F0-C815-8597E3F8FEB7}"/>
              </a:ext>
            </a:extLst>
          </p:cNvPr>
          <p:cNvPicPr>
            <a:picLocks noChangeAspect="1"/>
          </p:cNvPicPr>
          <p:nvPr/>
        </p:nvPicPr>
        <p:blipFill>
          <a:blip r:embed="rId5"/>
          <a:stretch>
            <a:fillRect/>
          </a:stretch>
        </p:blipFill>
        <p:spPr>
          <a:xfrm>
            <a:off x="878860" y="5014317"/>
            <a:ext cx="340162" cy="425291"/>
          </a:xfrm>
          <a:prstGeom prst="rect">
            <a:avLst/>
          </a:prstGeom>
        </p:spPr>
      </p:pic>
      <p:sp>
        <p:nvSpPr>
          <p:cNvPr id="14" name="Text 8">
            <a:extLst>
              <a:ext uri="{FF2B5EF4-FFF2-40B4-BE49-F238E27FC236}">
                <a16:creationId xmlns:a16="http://schemas.microsoft.com/office/drawing/2014/main" id="{6867B0ED-FB11-2359-2741-6BCEA0B2431D}"/>
              </a:ext>
            </a:extLst>
          </p:cNvPr>
          <p:cNvSpPr/>
          <p:nvPr/>
        </p:nvSpPr>
        <p:spPr>
          <a:xfrm>
            <a:off x="1530906" y="5049679"/>
            <a:ext cx="2835235" cy="354330"/>
          </a:xfrm>
          <a:prstGeom prst="rect">
            <a:avLst/>
          </a:prstGeom>
          <a:noFill/>
          <a:ln/>
        </p:spPr>
        <p:txBody>
          <a:bodyPr wrap="none" lIns="0" tIns="0" rIns="0" bIns="0" rtlCol="0" anchor="t"/>
          <a:lstStyle/>
          <a:p>
            <a:pPr marL="0" indent="0" algn="l">
              <a:lnSpc>
                <a:spcPts val="2750"/>
              </a:lnSpc>
              <a:buNone/>
            </a:pPr>
            <a:r>
              <a:rPr lang="en-US" sz="2400" b="1" dirty="0">
                <a:solidFill>
                  <a:srgbClr val="000000"/>
                </a:solidFill>
                <a:latin typeface="Aptos" panose="020B0004020202020204" pitchFamily="34" charset="0"/>
                <a:ea typeface="Playfair Display Bold" pitchFamily="34" charset="-122"/>
                <a:cs typeface="Playfair Display Bold" pitchFamily="34" charset="-120"/>
              </a:rPr>
              <a:t>Unexpected Values</a:t>
            </a:r>
            <a:endParaRPr lang="en-US" sz="2400" dirty="0">
              <a:latin typeface="Aptos" panose="020B0004020202020204" pitchFamily="34" charset="0"/>
            </a:endParaRPr>
          </a:p>
        </p:txBody>
      </p:sp>
      <p:sp>
        <p:nvSpPr>
          <p:cNvPr id="15" name="Text 9">
            <a:extLst>
              <a:ext uri="{FF2B5EF4-FFF2-40B4-BE49-F238E27FC236}">
                <a16:creationId xmlns:a16="http://schemas.microsoft.com/office/drawing/2014/main" id="{E1C6A96D-AF8F-2271-E8BE-A03FE23466E9}"/>
              </a:ext>
            </a:extLst>
          </p:cNvPr>
          <p:cNvSpPr/>
          <p:nvPr/>
        </p:nvSpPr>
        <p:spPr>
          <a:xfrm>
            <a:off x="1530906" y="5540097"/>
            <a:ext cx="6819305" cy="725805"/>
          </a:xfrm>
          <a:prstGeom prst="rect">
            <a:avLst/>
          </a:prstGeom>
          <a:noFill/>
          <a:ln/>
        </p:spPr>
        <p:txBody>
          <a:bodyPr wrap="square" lIns="0" tIns="0" rIns="0" bIns="0" rtlCol="0" anchor="t"/>
          <a:lstStyle/>
          <a:p>
            <a:pPr marL="0" indent="0" algn="l">
              <a:lnSpc>
                <a:spcPts val="2850"/>
              </a:lnSpc>
              <a:buNone/>
            </a:pPr>
            <a:r>
              <a:rPr lang="en-US" dirty="0">
                <a:solidFill>
                  <a:srgbClr val="000000"/>
                </a:solidFill>
                <a:latin typeface="Aptos" panose="020B0004020202020204" pitchFamily="34" charset="0"/>
                <a:ea typeface="Inter" pitchFamily="34" charset="-122"/>
                <a:cs typeface="Inter" pitchFamily="34" charset="-120"/>
              </a:rPr>
              <a:t>Detection strategy: after computing summary statistics, always check whether min, max, mean, and std are plausible given domain knowledge. An age_max of 150 or a score_min of -5 are data detective red flags.</a:t>
            </a:r>
            <a:endParaRPr lang="en-US" dirty="0">
              <a:latin typeface="Aptos" panose="020B0004020202020204" pitchFamily="34" charset="0"/>
            </a:endParaRPr>
          </a:p>
        </p:txBody>
      </p:sp>
      <p:pic>
        <p:nvPicPr>
          <p:cNvPr id="20" name="Picture 19" descr="A screenshot of a calculator  AI-generated content may be incorrect.">
            <a:extLst>
              <a:ext uri="{FF2B5EF4-FFF2-40B4-BE49-F238E27FC236}">
                <a16:creationId xmlns:a16="http://schemas.microsoft.com/office/drawing/2014/main" id="{D6D95B3E-4872-234B-B8BF-2FA552F1E715}"/>
              </a:ext>
            </a:extLst>
          </p:cNvPr>
          <p:cNvPicPr>
            <a:picLocks noChangeAspect="1"/>
          </p:cNvPicPr>
          <p:nvPr/>
        </p:nvPicPr>
        <p:blipFill>
          <a:blip r:embed="rId6" cstate="screen">
            <a:extLst>
              <a:ext uri="{28A0092B-C50C-407E-A947-70E740481C1C}">
                <a14:useLocalDpi xmlns:a14="http://schemas.microsoft.com/office/drawing/2010/main"/>
              </a:ext>
            </a:extLst>
          </a:blip>
          <a:srcRect/>
          <a:stretch>
            <a:fillRect/>
          </a:stretch>
        </p:blipFill>
        <p:spPr>
          <a:xfrm>
            <a:off x="8529636" y="3503771"/>
            <a:ext cx="3362325" cy="2176929"/>
          </a:xfrm>
          <a:prstGeom prst="rect">
            <a:avLst/>
          </a:prstGeom>
        </p:spPr>
      </p:pic>
      <p:sp>
        <p:nvSpPr>
          <p:cNvPr id="21" name="Oval 20">
            <a:extLst>
              <a:ext uri="{FF2B5EF4-FFF2-40B4-BE49-F238E27FC236}">
                <a16:creationId xmlns:a16="http://schemas.microsoft.com/office/drawing/2014/main" id="{D4C151F1-6FD5-32B8-AFEF-F5250AD6A012}"/>
              </a:ext>
            </a:extLst>
          </p:cNvPr>
          <p:cNvSpPr/>
          <p:nvPr/>
        </p:nvSpPr>
        <p:spPr>
          <a:xfrm>
            <a:off x="9915525" y="4880610"/>
            <a:ext cx="615255" cy="426244"/>
          </a:xfrm>
          <a:prstGeom prst="ellipse">
            <a:avLst/>
          </a:prstGeom>
          <a:noFill/>
          <a:ln w="2857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a:p>
        </p:txBody>
      </p:sp>
      <p:sp>
        <p:nvSpPr>
          <p:cNvPr id="22" name="Oval 21">
            <a:extLst>
              <a:ext uri="{FF2B5EF4-FFF2-40B4-BE49-F238E27FC236}">
                <a16:creationId xmlns:a16="http://schemas.microsoft.com/office/drawing/2014/main" id="{09C0FD7F-23BD-1AF5-4D21-23A33C35E7EB}"/>
              </a:ext>
            </a:extLst>
          </p:cNvPr>
          <p:cNvSpPr/>
          <p:nvPr/>
        </p:nvSpPr>
        <p:spPr>
          <a:xfrm>
            <a:off x="10402459" y="5297313"/>
            <a:ext cx="910681" cy="426244"/>
          </a:xfrm>
          <a:prstGeom prst="ellipse">
            <a:avLst/>
          </a:prstGeom>
          <a:noFill/>
          <a:ln w="2857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a:p>
        </p:txBody>
      </p:sp>
    </p:spTree>
    <p:extLst>
      <p:ext uri="{BB962C8B-B14F-4D97-AF65-F5344CB8AC3E}">
        <p14:creationId xmlns:p14="http://schemas.microsoft.com/office/powerpoint/2010/main" val="27959363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4"/>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5"/>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0"/>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21"/>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animBg="1"/>
      <p:bldP spid="6" grpId="0" animBg="1"/>
      <p:bldP spid="7" grpId="0" animBg="1"/>
      <p:bldP spid="8" grpId="0" animBg="1"/>
      <p:bldP spid="10" grpId="0" animBg="1"/>
      <p:bldP spid="11" grpId="0" animBg="1"/>
      <p:bldP spid="12" grpId="0" animBg="1"/>
      <p:bldP spid="14" grpId="0" animBg="1"/>
      <p:bldP spid="15" grpId="0" animBg="1"/>
      <p:bldP spid="21" grpId="0" animBg="1"/>
      <p:bldP spid="22"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DA6896-F899-BE4E-31AF-DB1BC5BE3169}"/>
              </a:ext>
            </a:extLst>
          </p:cNvPr>
          <p:cNvSpPr>
            <a:spLocks noGrp="1"/>
          </p:cNvSpPr>
          <p:nvPr>
            <p:ph type="title"/>
          </p:nvPr>
        </p:nvSpPr>
        <p:spPr/>
        <p:txBody>
          <a:bodyPr/>
          <a:lstStyle/>
          <a:p>
            <a:r>
              <a:rPr lang="en-US" dirty="0"/>
              <a:t>Outliers</a:t>
            </a:r>
          </a:p>
        </p:txBody>
      </p:sp>
      <p:graphicFrame>
        <p:nvGraphicFramePr>
          <p:cNvPr id="4" name="Content Placeholder 3">
            <a:extLst>
              <a:ext uri="{FF2B5EF4-FFF2-40B4-BE49-F238E27FC236}">
                <a16:creationId xmlns:a16="http://schemas.microsoft.com/office/drawing/2014/main" id="{EB1D4222-2F3B-B656-C386-0B490DB158DC}"/>
              </a:ext>
            </a:extLst>
          </p:cNvPr>
          <p:cNvGraphicFramePr>
            <a:graphicFrameLocks noGrp="1"/>
          </p:cNvGraphicFramePr>
          <p:nvPr>
            <p:ph idx="1"/>
            <p:extLst>
              <p:ext uri="{D42A27DB-BD31-4B8C-83A1-F6EECF244321}">
                <p14:modId xmlns:p14="http://schemas.microsoft.com/office/powerpoint/2010/main" val="1314146692"/>
              </p:ext>
            </p:extLst>
          </p:nvPr>
        </p:nvGraphicFramePr>
        <p:xfrm>
          <a:off x="838200" y="2603500"/>
          <a:ext cx="5648325" cy="35734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11" name="Picture 10" descr="A graph of a graph of students  AI-generated content may be incorrect.">
            <a:extLst>
              <a:ext uri="{FF2B5EF4-FFF2-40B4-BE49-F238E27FC236}">
                <a16:creationId xmlns:a16="http://schemas.microsoft.com/office/drawing/2014/main" id="{86D44D51-A687-0858-E76D-061DCF672756}"/>
              </a:ext>
            </a:extLst>
          </p:cNvPr>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a:xfrm>
            <a:off x="6498887" y="1761880"/>
            <a:ext cx="5693113" cy="4929037"/>
          </a:xfrm>
          <a:prstGeom prst="rect">
            <a:avLst/>
          </a:prstGeom>
        </p:spPr>
      </p:pic>
      <p:sp>
        <p:nvSpPr>
          <p:cNvPr id="8" name="Oval 7">
            <a:extLst>
              <a:ext uri="{FF2B5EF4-FFF2-40B4-BE49-F238E27FC236}">
                <a16:creationId xmlns:a16="http://schemas.microsoft.com/office/drawing/2014/main" id="{77CDB2E8-3738-178C-EBB8-87E0CB6BB318}"/>
              </a:ext>
            </a:extLst>
          </p:cNvPr>
          <p:cNvSpPr/>
          <p:nvPr/>
        </p:nvSpPr>
        <p:spPr>
          <a:xfrm>
            <a:off x="10572750" y="5146273"/>
            <a:ext cx="1300163" cy="1030690"/>
          </a:xfrm>
          <a:prstGeom prst="ellipse">
            <a:avLst/>
          </a:prstGeom>
          <a:noFill/>
          <a:ln w="2857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a:p>
        </p:txBody>
      </p:sp>
      <p:sp>
        <p:nvSpPr>
          <p:cNvPr id="12" name="TextBox 11">
            <a:extLst>
              <a:ext uri="{FF2B5EF4-FFF2-40B4-BE49-F238E27FC236}">
                <a16:creationId xmlns:a16="http://schemas.microsoft.com/office/drawing/2014/main" id="{DCD35EB2-E6A5-5E4C-CF81-2ADED67B89A3}"/>
              </a:ext>
            </a:extLst>
          </p:cNvPr>
          <p:cNvSpPr txBox="1"/>
          <p:nvPr/>
        </p:nvSpPr>
        <p:spPr>
          <a:xfrm>
            <a:off x="9158287" y="3580067"/>
            <a:ext cx="2828925" cy="646331"/>
          </a:xfrm>
          <a:prstGeom prst="rect">
            <a:avLst/>
          </a:prstGeom>
          <a:noFill/>
          <a:ln w="1270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wrap="square" rtlCol="0">
            <a:spAutoFit/>
          </a:bodyPr>
          <a:lstStyle/>
          <a:p>
            <a:r>
              <a:rPr lang="en-US" dirty="0"/>
              <a:t>One student scored above 180!!! Could it be true?</a:t>
            </a:r>
          </a:p>
        </p:txBody>
      </p:sp>
    </p:spTree>
    <p:extLst>
      <p:ext uri="{BB962C8B-B14F-4D97-AF65-F5344CB8AC3E}">
        <p14:creationId xmlns:p14="http://schemas.microsoft.com/office/powerpoint/2010/main" val="29170875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Graphic spid="4" grpId="0">
        <p:bldAsOne/>
      </p:bldGraphic>
      <p:bldP spid="8" grpId="0" animBg="1"/>
      <p:bldP spid="12"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89FD7E-436A-3C7F-BB0B-A6E944EB292D}"/>
              </a:ext>
            </a:extLst>
          </p:cNvPr>
          <p:cNvSpPr>
            <a:spLocks noGrp="1"/>
          </p:cNvSpPr>
          <p:nvPr>
            <p:ph type="title"/>
          </p:nvPr>
        </p:nvSpPr>
        <p:spPr/>
        <p:txBody>
          <a:bodyPr/>
          <a:lstStyle/>
          <a:p>
            <a:r>
              <a:rPr lang="en-US" dirty="0"/>
              <a:t>How Outliers Affect Analysis</a:t>
            </a:r>
          </a:p>
        </p:txBody>
      </p:sp>
      <p:pic>
        <p:nvPicPr>
          <p:cNvPr id="17" name="Image 1" descr="preencoded.png">
            <a:extLst>
              <a:ext uri="{FF2B5EF4-FFF2-40B4-BE49-F238E27FC236}">
                <a16:creationId xmlns:a16="http://schemas.microsoft.com/office/drawing/2014/main" id="{428C77E8-6FA5-E258-4BF4-F4BE780A9B07}"/>
              </a:ext>
            </a:extLst>
          </p:cNvPr>
          <p:cNvPicPr>
            <a:picLocks noChangeAspect="1"/>
          </p:cNvPicPr>
          <p:nvPr/>
        </p:nvPicPr>
        <p:blipFill>
          <a:blip r:embed="rId2"/>
          <a:stretch>
            <a:fillRect/>
          </a:stretch>
        </p:blipFill>
        <p:spPr>
          <a:xfrm>
            <a:off x="661541" y="2554783"/>
            <a:ext cx="3622973" cy="756047"/>
          </a:xfrm>
          <a:prstGeom prst="rect">
            <a:avLst/>
          </a:prstGeom>
        </p:spPr>
      </p:pic>
      <p:sp>
        <p:nvSpPr>
          <p:cNvPr id="18" name="Text 1">
            <a:extLst>
              <a:ext uri="{FF2B5EF4-FFF2-40B4-BE49-F238E27FC236}">
                <a16:creationId xmlns:a16="http://schemas.microsoft.com/office/drawing/2014/main" id="{D48779CE-2157-75F3-2C41-D317D838B516}"/>
              </a:ext>
            </a:extLst>
          </p:cNvPr>
          <p:cNvSpPr/>
          <p:nvPr/>
        </p:nvSpPr>
        <p:spPr>
          <a:xfrm>
            <a:off x="850553" y="3594298"/>
            <a:ext cx="2362696" cy="295275"/>
          </a:xfrm>
          <a:prstGeom prst="rect">
            <a:avLst/>
          </a:prstGeom>
          <a:noFill/>
          <a:ln/>
        </p:spPr>
        <p:txBody>
          <a:bodyPr wrap="none" lIns="0" tIns="0" rIns="0" bIns="0" rtlCol="0" anchor="t"/>
          <a:lstStyle/>
          <a:p>
            <a:pPr>
              <a:lnSpc>
                <a:spcPts val="2292"/>
              </a:lnSpc>
            </a:pPr>
            <a:r>
              <a:rPr lang="en-US" sz="2000" b="1" dirty="0">
                <a:solidFill>
                  <a:srgbClr val="000000"/>
                </a:solidFill>
                <a:latin typeface="Aptos" panose="020B0004020202020204" pitchFamily="34" charset="0"/>
                <a:ea typeface="Playfair Display Bold" pitchFamily="34" charset="-122"/>
                <a:cs typeface="Playfair Display Bold" pitchFamily="34" charset="-120"/>
              </a:rPr>
              <a:t>Skew Averages</a:t>
            </a:r>
            <a:endParaRPr lang="en-US" sz="2000" dirty="0">
              <a:latin typeface="Aptos" panose="020B0004020202020204" pitchFamily="34" charset="0"/>
            </a:endParaRPr>
          </a:p>
        </p:txBody>
      </p:sp>
      <p:sp>
        <p:nvSpPr>
          <p:cNvPr id="19" name="Text 2">
            <a:extLst>
              <a:ext uri="{FF2B5EF4-FFF2-40B4-BE49-F238E27FC236}">
                <a16:creationId xmlns:a16="http://schemas.microsoft.com/office/drawing/2014/main" id="{A3CFA809-DC5A-A1E2-2FA8-ABD979DAB0F7}"/>
              </a:ext>
            </a:extLst>
          </p:cNvPr>
          <p:cNvSpPr/>
          <p:nvPr/>
        </p:nvSpPr>
        <p:spPr>
          <a:xfrm>
            <a:off x="850553" y="4002981"/>
            <a:ext cx="3244949" cy="604838"/>
          </a:xfrm>
          <a:prstGeom prst="rect">
            <a:avLst/>
          </a:prstGeom>
          <a:noFill/>
          <a:ln/>
        </p:spPr>
        <p:txBody>
          <a:bodyPr wrap="square" lIns="0" tIns="0" rIns="0" bIns="0" rtlCol="0" anchor="t"/>
          <a:lstStyle/>
          <a:p>
            <a:pPr>
              <a:lnSpc>
                <a:spcPts val="2375"/>
              </a:lnSpc>
            </a:pPr>
            <a:r>
              <a:rPr lang="en-US" sz="1600" dirty="0">
                <a:solidFill>
                  <a:srgbClr val="000000"/>
                </a:solidFill>
                <a:latin typeface="Aptos" panose="020B0004020202020204" pitchFamily="34" charset="0"/>
                <a:ea typeface="Inter" pitchFamily="34" charset="-122"/>
                <a:cs typeface="Inter" pitchFamily="34" charset="-120"/>
              </a:rPr>
              <a:t>One extreme value shifts the mean but not the median — this is why comparing mean and median is an outlier diagnostic. A right skew (mean &gt; median) signals potential high outliers.</a:t>
            </a:r>
            <a:endParaRPr lang="en-US" sz="1600" dirty="0">
              <a:latin typeface="Aptos" panose="020B0004020202020204" pitchFamily="34" charset="0"/>
            </a:endParaRPr>
          </a:p>
        </p:txBody>
      </p:sp>
      <p:pic>
        <p:nvPicPr>
          <p:cNvPr id="20" name="Image 2" descr="preencoded.png">
            <a:extLst>
              <a:ext uri="{FF2B5EF4-FFF2-40B4-BE49-F238E27FC236}">
                <a16:creationId xmlns:a16="http://schemas.microsoft.com/office/drawing/2014/main" id="{1BC5EFAF-E7C4-F55F-47EF-9416DD1691A7}"/>
              </a:ext>
            </a:extLst>
          </p:cNvPr>
          <p:cNvPicPr>
            <a:picLocks noChangeAspect="1"/>
          </p:cNvPicPr>
          <p:nvPr/>
        </p:nvPicPr>
        <p:blipFill>
          <a:blip r:embed="rId3"/>
          <a:stretch>
            <a:fillRect/>
          </a:stretch>
        </p:blipFill>
        <p:spPr>
          <a:xfrm>
            <a:off x="4284513" y="2554783"/>
            <a:ext cx="3622973" cy="756047"/>
          </a:xfrm>
          <a:prstGeom prst="rect">
            <a:avLst/>
          </a:prstGeom>
        </p:spPr>
      </p:pic>
      <p:sp>
        <p:nvSpPr>
          <p:cNvPr id="21" name="Text 3">
            <a:extLst>
              <a:ext uri="{FF2B5EF4-FFF2-40B4-BE49-F238E27FC236}">
                <a16:creationId xmlns:a16="http://schemas.microsoft.com/office/drawing/2014/main" id="{FB177AF6-DC0E-D26B-A0E2-27736B2CCD7B}"/>
              </a:ext>
            </a:extLst>
          </p:cNvPr>
          <p:cNvSpPr/>
          <p:nvPr/>
        </p:nvSpPr>
        <p:spPr>
          <a:xfrm>
            <a:off x="4473525" y="3594298"/>
            <a:ext cx="2362696" cy="295275"/>
          </a:xfrm>
          <a:prstGeom prst="rect">
            <a:avLst/>
          </a:prstGeom>
          <a:noFill/>
          <a:ln/>
        </p:spPr>
        <p:txBody>
          <a:bodyPr wrap="none" lIns="0" tIns="0" rIns="0" bIns="0" rtlCol="0" anchor="t"/>
          <a:lstStyle/>
          <a:p>
            <a:pPr>
              <a:lnSpc>
                <a:spcPts val="2292"/>
              </a:lnSpc>
            </a:pPr>
            <a:r>
              <a:rPr lang="en-US" sz="2000" b="1" dirty="0">
                <a:solidFill>
                  <a:srgbClr val="000000"/>
                </a:solidFill>
                <a:latin typeface="Aptos" panose="020B0004020202020204" pitchFamily="34" charset="0"/>
                <a:ea typeface="Playfair Display Bold" pitchFamily="34" charset="-122"/>
                <a:cs typeface="Playfair Display Bold" pitchFamily="34" charset="-120"/>
              </a:rPr>
              <a:t>Distort Visualizations</a:t>
            </a:r>
            <a:endParaRPr lang="en-US" sz="2000" dirty="0">
              <a:latin typeface="Aptos" panose="020B0004020202020204" pitchFamily="34" charset="0"/>
            </a:endParaRPr>
          </a:p>
        </p:txBody>
      </p:sp>
      <p:sp>
        <p:nvSpPr>
          <p:cNvPr id="22" name="Text 4">
            <a:extLst>
              <a:ext uri="{FF2B5EF4-FFF2-40B4-BE49-F238E27FC236}">
                <a16:creationId xmlns:a16="http://schemas.microsoft.com/office/drawing/2014/main" id="{6CFEC868-B843-EE5F-05C1-7053343D0A63}"/>
              </a:ext>
            </a:extLst>
          </p:cNvPr>
          <p:cNvSpPr/>
          <p:nvPr/>
        </p:nvSpPr>
        <p:spPr>
          <a:xfrm>
            <a:off x="4473525" y="4002981"/>
            <a:ext cx="3244949" cy="604838"/>
          </a:xfrm>
          <a:prstGeom prst="rect">
            <a:avLst/>
          </a:prstGeom>
          <a:noFill/>
          <a:ln/>
        </p:spPr>
        <p:txBody>
          <a:bodyPr wrap="square" lIns="0" tIns="0" rIns="0" bIns="0" rtlCol="0" anchor="t"/>
          <a:lstStyle/>
          <a:p>
            <a:pPr>
              <a:lnSpc>
                <a:spcPts val="2375"/>
              </a:lnSpc>
            </a:pPr>
            <a:r>
              <a:rPr lang="en-US" sz="1600" dirty="0">
                <a:solidFill>
                  <a:srgbClr val="000000"/>
                </a:solidFill>
                <a:latin typeface="Aptos" panose="020B0004020202020204" pitchFamily="34" charset="0"/>
                <a:ea typeface="Inter" pitchFamily="34" charset="-122"/>
                <a:cs typeface="Inter" pitchFamily="34" charset="-120"/>
              </a:rPr>
              <a:t>Three detection methods: (1) Domain threshold (Age&gt;100), (2) IQR rule: outlier if value &lt; Q1−1.5×IQR or &gt; Q3+1.5×IQR, (3) Z-score: |z| &gt; 3 means the value is 3 SDs from the mean.</a:t>
            </a:r>
            <a:endParaRPr lang="en-US" sz="1600" dirty="0">
              <a:latin typeface="Aptos" panose="020B0004020202020204" pitchFamily="34" charset="0"/>
            </a:endParaRPr>
          </a:p>
        </p:txBody>
      </p:sp>
      <p:pic>
        <p:nvPicPr>
          <p:cNvPr id="23" name="Image 3" descr="preencoded.png">
            <a:extLst>
              <a:ext uri="{FF2B5EF4-FFF2-40B4-BE49-F238E27FC236}">
                <a16:creationId xmlns:a16="http://schemas.microsoft.com/office/drawing/2014/main" id="{40E9187E-60E3-57BB-5D84-F14B99852CA3}"/>
              </a:ext>
            </a:extLst>
          </p:cNvPr>
          <p:cNvPicPr>
            <a:picLocks noChangeAspect="1"/>
          </p:cNvPicPr>
          <p:nvPr/>
        </p:nvPicPr>
        <p:blipFill>
          <a:blip r:embed="rId4"/>
          <a:stretch>
            <a:fillRect/>
          </a:stretch>
        </p:blipFill>
        <p:spPr>
          <a:xfrm>
            <a:off x="7907486" y="2554783"/>
            <a:ext cx="3622973" cy="756047"/>
          </a:xfrm>
          <a:prstGeom prst="rect">
            <a:avLst/>
          </a:prstGeom>
        </p:spPr>
      </p:pic>
      <p:sp>
        <p:nvSpPr>
          <p:cNvPr id="24" name="Text 5">
            <a:extLst>
              <a:ext uri="{FF2B5EF4-FFF2-40B4-BE49-F238E27FC236}">
                <a16:creationId xmlns:a16="http://schemas.microsoft.com/office/drawing/2014/main" id="{60CDE5BB-D713-7C6D-FE9E-0216B62E0C6A}"/>
              </a:ext>
            </a:extLst>
          </p:cNvPr>
          <p:cNvSpPr/>
          <p:nvPr/>
        </p:nvSpPr>
        <p:spPr>
          <a:xfrm>
            <a:off x="8096498" y="3594298"/>
            <a:ext cx="2977058" cy="295275"/>
          </a:xfrm>
          <a:prstGeom prst="rect">
            <a:avLst/>
          </a:prstGeom>
          <a:noFill/>
          <a:ln/>
        </p:spPr>
        <p:txBody>
          <a:bodyPr wrap="none" lIns="0" tIns="0" rIns="0" bIns="0" rtlCol="0" anchor="t"/>
          <a:lstStyle/>
          <a:p>
            <a:pPr>
              <a:lnSpc>
                <a:spcPts val="2292"/>
              </a:lnSpc>
            </a:pPr>
            <a:r>
              <a:rPr lang="en-US" sz="2000" b="1" dirty="0">
                <a:solidFill>
                  <a:srgbClr val="000000"/>
                </a:solidFill>
                <a:latin typeface="Aptos" panose="020B0004020202020204" pitchFamily="34" charset="0"/>
                <a:ea typeface="Playfair Display Bold" pitchFamily="34" charset="-122"/>
                <a:cs typeface="Playfair Display Bold" pitchFamily="34" charset="-120"/>
              </a:rPr>
              <a:t>Lead to Wrong Conclusions</a:t>
            </a:r>
            <a:endParaRPr lang="en-US" sz="2000" dirty="0">
              <a:latin typeface="Aptos" panose="020B0004020202020204" pitchFamily="34" charset="0"/>
            </a:endParaRPr>
          </a:p>
        </p:txBody>
      </p:sp>
      <p:sp>
        <p:nvSpPr>
          <p:cNvPr id="25" name="Text 6">
            <a:extLst>
              <a:ext uri="{FF2B5EF4-FFF2-40B4-BE49-F238E27FC236}">
                <a16:creationId xmlns:a16="http://schemas.microsoft.com/office/drawing/2014/main" id="{CC0C3ED3-6CB8-3AF0-BE7B-D367FDAE3212}"/>
              </a:ext>
            </a:extLst>
          </p:cNvPr>
          <p:cNvSpPr/>
          <p:nvPr/>
        </p:nvSpPr>
        <p:spPr>
          <a:xfrm>
            <a:off x="8096498" y="4002981"/>
            <a:ext cx="3244949" cy="604838"/>
          </a:xfrm>
          <a:prstGeom prst="rect">
            <a:avLst/>
          </a:prstGeom>
          <a:noFill/>
          <a:ln/>
        </p:spPr>
        <p:txBody>
          <a:bodyPr wrap="square" lIns="0" tIns="0" rIns="0" bIns="0" rtlCol="0" anchor="t"/>
          <a:lstStyle/>
          <a:p>
            <a:pPr>
              <a:lnSpc>
                <a:spcPts val="2375"/>
              </a:lnSpc>
            </a:pPr>
            <a:r>
              <a:rPr lang="en-US" sz="1600" dirty="0">
                <a:solidFill>
                  <a:srgbClr val="000000"/>
                </a:solidFill>
                <a:latin typeface="Aptos" panose="020B0004020202020204" pitchFamily="34" charset="0"/>
                <a:ea typeface="Inter" pitchFamily="34" charset="-122"/>
                <a:cs typeface="Inter" pitchFamily="34" charset="-120"/>
              </a:rPr>
              <a:t>Key decision: is this a data error (fix it) or a legitimate extreme value (keep it, note it)? A 180-point score might be a typo OR it might be a genuine exceptional student — domain knowledge determines the answer.</a:t>
            </a:r>
            <a:endParaRPr lang="en-US" sz="1600" dirty="0">
              <a:latin typeface="Aptos" panose="020B0004020202020204" pitchFamily="34" charset="0"/>
            </a:endParaRPr>
          </a:p>
        </p:txBody>
      </p:sp>
      <p:pic>
        <p:nvPicPr>
          <p:cNvPr id="26" name="Image 0" descr="preencoded.png">
            <a:extLst>
              <a:ext uri="{FF2B5EF4-FFF2-40B4-BE49-F238E27FC236}">
                <a16:creationId xmlns:a16="http://schemas.microsoft.com/office/drawing/2014/main" id="{0F627695-BB6E-BE04-493A-EA2814DAB8E0}"/>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1843086" y="4934725"/>
            <a:ext cx="8505825" cy="1648350"/>
          </a:xfrm>
          <a:prstGeom prst="rect">
            <a:avLst/>
          </a:prstGeom>
        </p:spPr>
      </p:pic>
    </p:spTree>
    <p:extLst>
      <p:ext uri="{BB962C8B-B14F-4D97-AF65-F5344CB8AC3E}">
        <p14:creationId xmlns:p14="http://schemas.microsoft.com/office/powerpoint/2010/main" val="9454969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3A140F-E8FB-1D78-48FC-9D3F2D447578}"/>
              </a:ext>
            </a:extLst>
          </p:cNvPr>
          <p:cNvSpPr>
            <a:spLocks noGrp="1"/>
          </p:cNvSpPr>
          <p:nvPr>
            <p:ph type="title"/>
          </p:nvPr>
        </p:nvSpPr>
        <p:spPr>
          <a:xfrm>
            <a:off x="838151" y="572046"/>
            <a:ext cx="10515600" cy="1325563"/>
          </a:xfrm>
        </p:spPr>
        <p:txBody>
          <a:bodyPr/>
          <a:lstStyle/>
          <a:p>
            <a:r>
              <a:rPr lang="en-US" dirty="0"/>
              <a:t xml:space="preserve">Inconsistencies in Data Format </a:t>
            </a:r>
          </a:p>
        </p:txBody>
      </p:sp>
      <p:sp>
        <p:nvSpPr>
          <p:cNvPr id="20" name="Text 1">
            <a:extLst>
              <a:ext uri="{FF2B5EF4-FFF2-40B4-BE49-F238E27FC236}">
                <a16:creationId xmlns:a16="http://schemas.microsoft.com/office/drawing/2014/main" id="{0CBB6A9E-A1C2-2021-669F-19653AF73F98}"/>
              </a:ext>
            </a:extLst>
          </p:cNvPr>
          <p:cNvSpPr/>
          <p:nvPr/>
        </p:nvSpPr>
        <p:spPr>
          <a:xfrm>
            <a:off x="1547714" y="2233414"/>
            <a:ext cx="2362696" cy="295275"/>
          </a:xfrm>
          <a:prstGeom prst="rect">
            <a:avLst/>
          </a:prstGeom>
          <a:noFill/>
          <a:ln/>
        </p:spPr>
        <p:txBody>
          <a:bodyPr wrap="none" lIns="0" tIns="0" rIns="0" bIns="0" rtlCol="0" anchor="t"/>
          <a:lstStyle/>
          <a:p>
            <a:pPr algn="r">
              <a:lnSpc>
                <a:spcPts val="2292"/>
              </a:lnSpc>
            </a:pPr>
            <a:r>
              <a:rPr lang="en-US" sz="2400" b="1" dirty="0">
                <a:solidFill>
                  <a:srgbClr val="000000"/>
                </a:solidFill>
                <a:latin typeface="Aptos" panose="020B0004020202020204" pitchFamily="34" charset="0"/>
                <a:ea typeface="Playfair Display Bold" pitchFamily="34" charset="-122"/>
                <a:cs typeface="Playfair Display Bold" pitchFamily="34" charset="-120"/>
              </a:rPr>
              <a:t>Category Labels</a:t>
            </a:r>
            <a:endParaRPr lang="en-US" sz="2400" dirty="0">
              <a:latin typeface="Aptos" panose="020B0004020202020204" pitchFamily="34" charset="0"/>
            </a:endParaRPr>
          </a:p>
        </p:txBody>
      </p:sp>
      <p:sp>
        <p:nvSpPr>
          <p:cNvPr id="21" name="Text 2">
            <a:extLst>
              <a:ext uri="{FF2B5EF4-FFF2-40B4-BE49-F238E27FC236}">
                <a16:creationId xmlns:a16="http://schemas.microsoft.com/office/drawing/2014/main" id="{4266C021-1352-259B-4A20-89DFE52A8257}"/>
              </a:ext>
            </a:extLst>
          </p:cNvPr>
          <p:cNvSpPr/>
          <p:nvPr/>
        </p:nvSpPr>
        <p:spPr>
          <a:xfrm>
            <a:off x="661492" y="2642096"/>
            <a:ext cx="3248918" cy="907257"/>
          </a:xfrm>
          <a:prstGeom prst="rect">
            <a:avLst/>
          </a:prstGeom>
          <a:noFill/>
          <a:ln/>
        </p:spPr>
        <p:txBody>
          <a:bodyPr wrap="square" lIns="0" tIns="0" rIns="0" bIns="0" rtlCol="0" anchor="t"/>
          <a:lstStyle/>
          <a:p>
            <a:pPr algn="r">
              <a:lnSpc>
                <a:spcPts val="2375"/>
              </a:lnSpc>
            </a:pPr>
            <a:r>
              <a:rPr lang="en-US" dirty="0">
                <a:solidFill>
                  <a:srgbClr val="000000"/>
                </a:solidFill>
                <a:latin typeface="Aptos" panose="020B0004020202020204" pitchFamily="34" charset="0"/>
                <a:ea typeface="Inter" pitchFamily="34" charset="-122"/>
                <a:cs typeface="Inter" pitchFamily="34" charset="-120"/>
              </a:rPr>
              <a:t>Some responses say "Male", others say "M" - computers see these as different!</a:t>
            </a:r>
            <a:endParaRPr lang="en-US" dirty="0">
              <a:latin typeface="Aptos" panose="020B0004020202020204" pitchFamily="34" charset="0"/>
            </a:endParaRPr>
          </a:p>
        </p:txBody>
      </p:sp>
      <p:pic>
        <p:nvPicPr>
          <p:cNvPr id="22" name="Image 0" descr="preencoded.png">
            <a:extLst>
              <a:ext uri="{FF2B5EF4-FFF2-40B4-BE49-F238E27FC236}">
                <a16:creationId xmlns:a16="http://schemas.microsoft.com/office/drawing/2014/main" id="{D572154D-FA82-7CA2-17A5-772FE0EFE219}"/>
              </a:ext>
            </a:extLst>
          </p:cNvPr>
          <p:cNvPicPr>
            <a:picLocks noChangeAspect="1"/>
          </p:cNvPicPr>
          <p:nvPr/>
        </p:nvPicPr>
        <p:blipFill>
          <a:blip r:embed="rId2"/>
          <a:stretch>
            <a:fillRect/>
          </a:stretch>
        </p:blipFill>
        <p:spPr>
          <a:xfrm>
            <a:off x="4193878" y="2011264"/>
            <a:ext cx="3804146" cy="3804146"/>
          </a:xfrm>
          <a:prstGeom prst="rect">
            <a:avLst/>
          </a:prstGeom>
        </p:spPr>
      </p:pic>
      <p:pic>
        <p:nvPicPr>
          <p:cNvPr id="23" name="Image 1" descr="preencoded.png">
            <a:extLst>
              <a:ext uri="{FF2B5EF4-FFF2-40B4-BE49-F238E27FC236}">
                <a16:creationId xmlns:a16="http://schemas.microsoft.com/office/drawing/2014/main" id="{2A876427-BF1F-A064-F531-575AC4FAB9B9}"/>
              </a:ext>
            </a:extLst>
          </p:cNvPr>
          <p:cNvPicPr>
            <a:picLocks noChangeAspect="1"/>
          </p:cNvPicPr>
          <p:nvPr/>
        </p:nvPicPr>
        <p:blipFill>
          <a:blip r:embed="rId3"/>
          <a:stretch>
            <a:fillRect/>
          </a:stretch>
        </p:blipFill>
        <p:spPr>
          <a:xfrm>
            <a:off x="5188943" y="2647157"/>
            <a:ext cx="282773" cy="353517"/>
          </a:xfrm>
          <a:prstGeom prst="rect">
            <a:avLst/>
          </a:prstGeom>
        </p:spPr>
      </p:pic>
      <p:sp>
        <p:nvSpPr>
          <p:cNvPr id="24" name="Text 3">
            <a:extLst>
              <a:ext uri="{FF2B5EF4-FFF2-40B4-BE49-F238E27FC236}">
                <a16:creationId xmlns:a16="http://schemas.microsoft.com/office/drawing/2014/main" id="{9E8B8DC0-2BF6-DB24-3332-706E7AD49A3D}"/>
              </a:ext>
            </a:extLst>
          </p:cNvPr>
          <p:cNvSpPr/>
          <p:nvPr/>
        </p:nvSpPr>
        <p:spPr>
          <a:xfrm>
            <a:off x="8281492" y="2384623"/>
            <a:ext cx="2362696" cy="295275"/>
          </a:xfrm>
          <a:prstGeom prst="rect">
            <a:avLst/>
          </a:prstGeom>
          <a:noFill/>
          <a:ln/>
        </p:spPr>
        <p:txBody>
          <a:bodyPr wrap="none" lIns="0" tIns="0" rIns="0" bIns="0" rtlCol="0" anchor="t"/>
          <a:lstStyle/>
          <a:p>
            <a:pPr>
              <a:lnSpc>
                <a:spcPts val="2292"/>
              </a:lnSpc>
            </a:pPr>
            <a:r>
              <a:rPr lang="en-US" sz="2400" b="1" dirty="0">
                <a:solidFill>
                  <a:srgbClr val="000000"/>
                </a:solidFill>
                <a:latin typeface="Aptos" panose="020B0004020202020204" pitchFamily="34" charset="0"/>
                <a:ea typeface="Playfair Display Bold" pitchFamily="34" charset="-122"/>
                <a:cs typeface="Playfair Display Bold" pitchFamily="34" charset="-120"/>
              </a:rPr>
              <a:t>Date Formats</a:t>
            </a:r>
            <a:endParaRPr lang="en-US" sz="2400" dirty="0">
              <a:latin typeface="Aptos" panose="020B0004020202020204" pitchFamily="34" charset="0"/>
            </a:endParaRPr>
          </a:p>
        </p:txBody>
      </p:sp>
      <p:sp>
        <p:nvSpPr>
          <p:cNvPr id="25" name="Text 4">
            <a:extLst>
              <a:ext uri="{FF2B5EF4-FFF2-40B4-BE49-F238E27FC236}">
                <a16:creationId xmlns:a16="http://schemas.microsoft.com/office/drawing/2014/main" id="{294436AE-A7C0-6AB6-4B80-F621749F5FD5}"/>
              </a:ext>
            </a:extLst>
          </p:cNvPr>
          <p:cNvSpPr/>
          <p:nvPr/>
        </p:nvSpPr>
        <p:spPr>
          <a:xfrm>
            <a:off x="8281492" y="2793306"/>
            <a:ext cx="3249018" cy="604838"/>
          </a:xfrm>
          <a:prstGeom prst="rect">
            <a:avLst/>
          </a:prstGeom>
          <a:noFill/>
          <a:ln/>
        </p:spPr>
        <p:txBody>
          <a:bodyPr wrap="square" lIns="0" tIns="0" rIns="0" bIns="0" rtlCol="0" anchor="t"/>
          <a:lstStyle/>
          <a:p>
            <a:pPr>
              <a:lnSpc>
                <a:spcPts val="2375"/>
              </a:lnSpc>
            </a:pPr>
            <a:r>
              <a:rPr lang="en-US" dirty="0">
                <a:solidFill>
                  <a:srgbClr val="000000"/>
                </a:solidFill>
                <a:latin typeface="Aptos" panose="020B0004020202020204" pitchFamily="34" charset="0"/>
                <a:ea typeface="Inter" pitchFamily="34" charset="-122"/>
                <a:cs typeface="Inter" pitchFamily="34" charset="-120"/>
              </a:rPr>
              <a:t>Mixing "2025-04-16" and "April 16, 2025" causes confusion in analysis.</a:t>
            </a:r>
            <a:endParaRPr lang="en-US" dirty="0">
              <a:latin typeface="Aptos" panose="020B0004020202020204" pitchFamily="34" charset="0"/>
            </a:endParaRPr>
          </a:p>
        </p:txBody>
      </p:sp>
      <p:pic>
        <p:nvPicPr>
          <p:cNvPr id="26" name="Image 2" descr="preencoded.png">
            <a:extLst>
              <a:ext uri="{FF2B5EF4-FFF2-40B4-BE49-F238E27FC236}">
                <a16:creationId xmlns:a16="http://schemas.microsoft.com/office/drawing/2014/main" id="{58954AC7-0024-9362-D5EF-D1F1E9BC39E7}"/>
              </a:ext>
            </a:extLst>
          </p:cNvPr>
          <p:cNvPicPr>
            <a:picLocks noChangeAspect="1"/>
          </p:cNvPicPr>
          <p:nvPr/>
        </p:nvPicPr>
        <p:blipFill>
          <a:blip r:embed="rId4"/>
          <a:stretch>
            <a:fillRect/>
          </a:stretch>
        </p:blipFill>
        <p:spPr>
          <a:xfrm>
            <a:off x="4193878" y="2011264"/>
            <a:ext cx="3804146" cy="3804146"/>
          </a:xfrm>
          <a:prstGeom prst="rect">
            <a:avLst/>
          </a:prstGeom>
        </p:spPr>
      </p:pic>
      <p:pic>
        <p:nvPicPr>
          <p:cNvPr id="27" name="Image 3" descr="preencoded.png">
            <a:extLst>
              <a:ext uri="{FF2B5EF4-FFF2-40B4-BE49-F238E27FC236}">
                <a16:creationId xmlns:a16="http://schemas.microsoft.com/office/drawing/2014/main" id="{C4016066-86A2-0A5A-B7C2-B72FD9006948}"/>
              </a:ext>
            </a:extLst>
          </p:cNvPr>
          <p:cNvPicPr>
            <a:picLocks noChangeAspect="1"/>
          </p:cNvPicPr>
          <p:nvPr/>
        </p:nvPicPr>
        <p:blipFill>
          <a:blip r:embed="rId5"/>
          <a:stretch>
            <a:fillRect/>
          </a:stretch>
        </p:blipFill>
        <p:spPr>
          <a:xfrm>
            <a:off x="7043837" y="2970907"/>
            <a:ext cx="282773" cy="353517"/>
          </a:xfrm>
          <a:prstGeom prst="rect">
            <a:avLst/>
          </a:prstGeom>
        </p:spPr>
      </p:pic>
      <p:sp>
        <p:nvSpPr>
          <p:cNvPr id="28" name="Text 5">
            <a:extLst>
              <a:ext uri="{FF2B5EF4-FFF2-40B4-BE49-F238E27FC236}">
                <a16:creationId xmlns:a16="http://schemas.microsoft.com/office/drawing/2014/main" id="{296468A7-95A6-BA88-F294-8EFFBA08DDD2}"/>
              </a:ext>
            </a:extLst>
          </p:cNvPr>
          <p:cNvSpPr/>
          <p:nvPr/>
        </p:nvSpPr>
        <p:spPr>
          <a:xfrm>
            <a:off x="8281492" y="4277221"/>
            <a:ext cx="2362696" cy="295275"/>
          </a:xfrm>
          <a:prstGeom prst="rect">
            <a:avLst/>
          </a:prstGeom>
          <a:noFill/>
          <a:ln/>
        </p:spPr>
        <p:txBody>
          <a:bodyPr wrap="none" lIns="0" tIns="0" rIns="0" bIns="0" rtlCol="0" anchor="t"/>
          <a:lstStyle/>
          <a:p>
            <a:pPr>
              <a:lnSpc>
                <a:spcPts val="2292"/>
              </a:lnSpc>
            </a:pPr>
            <a:r>
              <a:rPr lang="en-US" sz="2400" b="1" dirty="0">
                <a:solidFill>
                  <a:srgbClr val="000000"/>
                </a:solidFill>
                <a:latin typeface="Aptos" panose="020B0004020202020204" pitchFamily="34" charset="0"/>
                <a:ea typeface="Playfair Display Bold" pitchFamily="34" charset="-122"/>
                <a:cs typeface="Playfair Display Bold" pitchFamily="34" charset="-120"/>
              </a:rPr>
              <a:t>Number Formats</a:t>
            </a:r>
            <a:endParaRPr lang="en-US" sz="2400" dirty="0">
              <a:latin typeface="Aptos" panose="020B0004020202020204" pitchFamily="34" charset="0"/>
            </a:endParaRPr>
          </a:p>
        </p:txBody>
      </p:sp>
      <p:sp>
        <p:nvSpPr>
          <p:cNvPr id="29" name="Text 6">
            <a:extLst>
              <a:ext uri="{FF2B5EF4-FFF2-40B4-BE49-F238E27FC236}">
                <a16:creationId xmlns:a16="http://schemas.microsoft.com/office/drawing/2014/main" id="{DB6B1D76-BA5C-DBC0-513C-E8D1F5165A78}"/>
              </a:ext>
            </a:extLst>
          </p:cNvPr>
          <p:cNvSpPr/>
          <p:nvPr/>
        </p:nvSpPr>
        <p:spPr>
          <a:xfrm>
            <a:off x="8281492" y="4685903"/>
            <a:ext cx="3249018" cy="907257"/>
          </a:xfrm>
          <a:prstGeom prst="rect">
            <a:avLst/>
          </a:prstGeom>
          <a:noFill/>
          <a:ln/>
        </p:spPr>
        <p:txBody>
          <a:bodyPr wrap="square" lIns="0" tIns="0" rIns="0" bIns="0" rtlCol="0" anchor="t"/>
          <a:lstStyle/>
          <a:p>
            <a:pPr>
              <a:lnSpc>
                <a:spcPts val="2375"/>
              </a:lnSpc>
            </a:pPr>
            <a:r>
              <a:rPr lang="en-US" dirty="0">
                <a:solidFill>
                  <a:srgbClr val="000000"/>
                </a:solidFill>
                <a:latin typeface="Aptos" panose="020B0004020202020204" pitchFamily="34" charset="0"/>
                <a:ea typeface="Inter" pitchFamily="34" charset="-122"/>
                <a:cs typeface="Inter" pitchFamily="34" charset="-120"/>
              </a:rPr>
              <a:t>Numbers stored as text or with different separators (5,000 vs 5000).</a:t>
            </a:r>
            <a:endParaRPr lang="en-US" dirty="0">
              <a:latin typeface="Aptos" panose="020B0004020202020204" pitchFamily="34" charset="0"/>
            </a:endParaRPr>
          </a:p>
        </p:txBody>
      </p:sp>
      <p:pic>
        <p:nvPicPr>
          <p:cNvPr id="30" name="Image 4" descr="preencoded.png">
            <a:extLst>
              <a:ext uri="{FF2B5EF4-FFF2-40B4-BE49-F238E27FC236}">
                <a16:creationId xmlns:a16="http://schemas.microsoft.com/office/drawing/2014/main" id="{7B9FD2C1-F752-C0F3-A2EE-64E93EA836AE}"/>
              </a:ext>
            </a:extLst>
          </p:cNvPr>
          <p:cNvPicPr>
            <a:picLocks noChangeAspect="1"/>
          </p:cNvPicPr>
          <p:nvPr/>
        </p:nvPicPr>
        <p:blipFill>
          <a:blip r:embed="rId6"/>
          <a:stretch>
            <a:fillRect/>
          </a:stretch>
        </p:blipFill>
        <p:spPr>
          <a:xfrm>
            <a:off x="4193878" y="2011264"/>
            <a:ext cx="3804146" cy="3804146"/>
          </a:xfrm>
          <a:prstGeom prst="rect">
            <a:avLst/>
          </a:prstGeom>
        </p:spPr>
      </p:pic>
      <p:pic>
        <p:nvPicPr>
          <p:cNvPr id="31" name="Image 5" descr="preencoded.png">
            <a:extLst>
              <a:ext uri="{FF2B5EF4-FFF2-40B4-BE49-F238E27FC236}">
                <a16:creationId xmlns:a16="http://schemas.microsoft.com/office/drawing/2014/main" id="{EC70761C-E6A9-DC90-23F7-A7F00A299A09}"/>
              </a:ext>
            </a:extLst>
          </p:cNvPr>
          <p:cNvPicPr>
            <a:picLocks noChangeAspect="1"/>
          </p:cNvPicPr>
          <p:nvPr/>
        </p:nvPicPr>
        <p:blipFill>
          <a:blip r:embed="rId7"/>
          <a:stretch>
            <a:fillRect/>
          </a:stretch>
        </p:blipFill>
        <p:spPr>
          <a:xfrm>
            <a:off x="6720086" y="4825802"/>
            <a:ext cx="282773" cy="353517"/>
          </a:xfrm>
          <a:prstGeom prst="rect">
            <a:avLst/>
          </a:prstGeom>
        </p:spPr>
      </p:pic>
      <p:sp>
        <p:nvSpPr>
          <p:cNvPr id="32" name="Text 7">
            <a:extLst>
              <a:ext uri="{FF2B5EF4-FFF2-40B4-BE49-F238E27FC236}">
                <a16:creationId xmlns:a16="http://schemas.microsoft.com/office/drawing/2014/main" id="{6A4A0AFB-0AC3-1BC7-32CA-D4ED2A0CF28B}"/>
              </a:ext>
            </a:extLst>
          </p:cNvPr>
          <p:cNvSpPr/>
          <p:nvPr/>
        </p:nvSpPr>
        <p:spPr>
          <a:xfrm>
            <a:off x="1547714" y="4428431"/>
            <a:ext cx="2362696" cy="295275"/>
          </a:xfrm>
          <a:prstGeom prst="rect">
            <a:avLst/>
          </a:prstGeom>
          <a:noFill/>
          <a:ln/>
        </p:spPr>
        <p:txBody>
          <a:bodyPr wrap="none" lIns="0" tIns="0" rIns="0" bIns="0" rtlCol="0" anchor="t"/>
          <a:lstStyle/>
          <a:p>
            <a:pPr algn="r">
              <a:lnSpc>
                <a:spcPts val="2292"/>
              </a:lnSpc>
            </a:pPr>
            <a:r>
              <a:rPr lang="en-US" sz="2400" b="1" dirty="0">
                <a:solidFill>
                  <a:srgbClr val="000000"/>
                </a:solidFill>
                <a:latin typeface="Aptos" panose="020B0004020202020204" pitchFamily="34" charset="0"/>
                <a:ea typeface="Playfair Display Bold" pitchFamily="34" charset="-122"/>
                <a:cs typeface="Playfair Display Bold" pitchFamily="34" charset="-120"/>
              </a:rPr>
              <a:t>Different Units</a:t>
            </a:r>
            <a:endParaRPr lang="en-US" sz="2400" dirty="0">
              <a:latin typeface="Aptos" panose="020B0004020202020204" pitchFamily="34" charset="0"/>
            </a:endParaRPr>
          </a:p>
        </p:txBody>
      </p:sp>
      <p:sp>
        <p:nvSpPr>
          <p:cNvPr id="33" name="Text 8">
            <a:extLst>
              <a:ext uri="{FF2B5EF4-FFF2-40B4-BE49-F238E27FC236}">
                <a16:creationId xmlns:a16="http://schemas.microsoft.com/office/drawing/2014/main" id="{4AB9886F-7504-2C54-28C8-1B58CCB4FA8D}"/>
              </a:ext>
            </a:extLst>
          </p:cNvPr>
          <p:cNvSpPr/>
          <p:nvPr/>
        </p:nvSpPr>
        <p:spPr>
          <a:xfrm>
            <a:off x="661492" y="4837113"/>
            <a:ext cx="3248918" cy="604838"/>
          </a:xfrm>
          <a:prstGeom prst="rect">
            <a:avLst/>
          </a:prstGeom>
          <a:noFill/>
          <a:ln/>
        </p:spPr>
        <p:txBody>
          <a:bodyPr wrap="square" lIns="0" tIns="0" rIns="0" bIns="0" rtlCol="0" anchor="t"/>
          <a:lstStyle/>
          <a:p>
            <a:pPr algn="r">
              <a:lnSpc>
                <a:spcPts val="2375"/>
              </a:lnSpc>
            </a:pPr>
            <a:r>
              <a:rPr lang="en-US" dirty="0">
                <a:solidFill>
                  <a:srgbClr val="000000"/>
                </a:solidFill>
                <a:latin typeface="Aptos" panose="020B0004020202020204" pitchFamily="34" charset="0"/>
                <a:ea typeface="Inter" pitchFamily="34" charset="-122"/>
                <a:cs typeface="Inter" pitchFamily="34" charset="-120"/>
              </a:rPr>
              <a:t>Heights recorded in both inches and centimeters without clear labels.</a:t>
            </a:r>
            <a:endParaRPr lang="en-US" dirty="0">
              <a:latin typeface="Aptos" panose="020B0004020202020204" pitchFamily="34" charset="0"/>
            </a:endParaRPr>
          </a:p>
        </p:txBody>
      </p:sp>
      <p:pic>
        <p:nvPicPr>
          <p:cNvPr id="34" name="Image 6" descr="preencoded.png">
            <a:extLst>
              <a:ext uri="{FF2B5EF4-FFF2-40B4-BE49-F238E27FC236}">
                <a16:creationId xmlns:a16="http://schemas.microsoft.com/office/drawing/2014/main" id="{DF16DF07-096C-9513-FAFA-98A2FB286F0A}"/>
              </a:ext>
            </a:extLst>
          </p:cNvPr>
          <p:cNvPicPr>
            <a:picLocks noChangeAspect="1"/>
          </p:cNvPicPr>
          <p:nvPr/>
        </p:nvPicPr>
        <p:blipFill>
          <a:blip r:embed="rId8"/>
          <a:stretch>
            <a:fillRect/>
          </a:stretch>
        </p:blipFill>
        <p:spPr>
          <a:xfrm>
            <a:off x="4193878" y="2011264"/>
            <a:ext cx="3804146" cy="3804146"/>
          </a:xfrm>
          <a:prstGeom prst="rect">
            <a:avLst/>
          </a:prstGeom>
        </p:spPr>
      </p:pic>
      <p:pic>
        <p:nvPicPr>
          <p:cNvPr id="35" name="Image 7" descr="preencoded.png">
            <a:extLst>
              <a:ext uri="{FF2B5EF4-FFF2-40B4-BE49-F238E27FC236}">
                <a16:creationId xmlns:a16="http://schemas.microsoft.com/office/drawing/2014/main" id="{8B86FB44-1456-1D75-5579-853BDF9F6013}"/>
              </a:ext>
            </a:extLst>
          </p:cNvPr>
          <p:cNvPicPr>
            <a:picLocks noChangeAspect="1"/>
          </p:cNvPicPr>
          <p:nvPr/>
        </p:nvPicPr>
        <p:blipFill>
          <a:blip r:embed="rId9"/>
          <a:stretch>
            <a:fillRect/>
          </a:stretch>
        </p:blipFill>
        <p:spPr>
          <a:xfrm>
            <a:off x="4865192" y="4502051"/>
            <a:ext cx="282773" cy="353517"/>
          </a:xfrm>
          <a:prstGeom prst="rect">
            <a:avLst/>
          </a:prstGeom>
        </p:spPr>
      </p:pic>
    </p:spTree>
    <p:extLst>
      <p:ext uri="{BB962C8B-B14F-4D97-AF65-F5344CB8AC3E}">
        <p14:creationId xmlns:p14="http://schemas.microsoft.com/office/powerpoint/2010/main" val="25455852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15E213-E646-4FB0-DD65-C501661F2BA9}"/>
              </a:ext>
            </a:extLst>
          </p:cNvPr>
          <p:cNvSpPr>
            <a:spLocks noGrp="1"/>
          </p:cNvSpPr>
          <p:nvPr>
            <p:ph type="title"/>
          </p:nvPr>
        </p:nvSpPr>
        <p:spPr/>
        <p:txBody>
          <a:bodyPr/>
          <a:lstStyle/>
          <a:p>
            <a:r>
              <a:rPr lang="en-US" dirty="0"/>
              <a:t xml:space="preserve">Inconsistencies in Data Format </a:t>
            </a:r>
          </a:p>
        </p:txBody>
      </p:sp>
      <p:sp>
        <p:nvSpPr>
          <p:cNvPr id="6" name="TextBox 5">
            <a:extLst>
              <a:ext uri="{FF2B5EF4-FFF2-40B4-BE49-F238E27FC236}">
                <a16:creationId xmlns:a16="http://schemas.microsoft.com/office/drawing/2014/main" id="{8E913828-2B21-CEDE-A596-98E87D4D1214}"/>
              </a:ext>
            </a:extLst>
          </p:cNvPr>
          <p:cNvSpPr txBox="1"/>
          <p:nvPr/>
        </p:nvSpPr>
        <p:spPr>
          <a:xfrm>
            <a:off x="1220584" y="5006822"/>
            <a:ext cx="1997278" cy="369332"/>
          </a:xfrm>
          <a:prstGeom prst="rect">
            <a:avLst/>
          </a:prstGeom>
        </p:spPr>
        <p:style>
          <a:lnRef idx="2">
            <a:schemeClr val="dk1"/>
          </a:lnRef>
          <a:fillRef idx="1">
            <a:schemeClr val="lt1"/>
          </a:fillRef>
          <a:effectRef idx="0">
            <a:schemeClr val="dk1"/>
          </a:effectRef>
          <a:fontRef idx="minor">
            <a:schemeClr val="dk1"/>
          </a:fontRef>
        </p:style>
        <p:txBody>
          <a:bodyPr wrap="none" rtlCol="0">
            <a:spAutoFit/>
          </a:bodyPr>
          <a:lstStyle/>
          <a:p>
            <a:r>
              <a:rPr lang="en-US" dirty="0"/>
              <a:t>Duplicated Values</a:t>
            </a:r>
          </a:p>
        </p:txBody>
      </p:sp>
      <p:pic>
        <p:nvPicPr>
          <p:cNvPr id="8" name="Picture 7" descr="A screenshot of a computer  AI-generated content may be incorrect.">
            <a:extLst>
              <a:ext uri="{FF2B5EF4-FFF2-40B4-BE49-F238E27FC236}">
                <a16:creationId xmlns:a16="http://schemas.microsoft.com/office/drawing/2014/main" id="{037EB5B7-5BDC-ED75-F749-2CE085AB8E3C}"/>
              </a:ext>
            </a:extLst>
          </p:cNvPr>
          <p:cNvPicPr>
            <a:picLocks noChangeAspect="1"/>
          </p:cNvPicPr>
          <p:nvPr/>
        </p:nvPicPr>
        <p:blipFill>
          <a:blip r:embed="rId2" cstate="screen">
            <a:extLst>
              <a:ext uri="{28A0092B-C50C-407E-A947-70E740481C1C}">
                <a14:useLocalDpi xmlns:a14="http://schemas.microsoft.com/office/drawing/2010/main"/>
              </a:ext>
            </a:extLst>
          </a:blip>
          <a:srcRect/>
          <a:stretch>
            <a:fillRect/>
          </a:stretch>
        </p:blipFill>
        <p:spPr>
          <a:xfrm>
            <a:off x="1108075" y="3187767"/>
            <a:ext cx="6492875" cy="1596804"/>
          </a:xfrm>
          <a:prstGeom prst="rect">
            <a:avLst/>
          </a:prstGeom>
        </p:spPr>
      </p:pic>
      <p:sp>
        <p:nvSpPr>
          <p:cNvPr id="9" name="Oval 8">
            <a:extLst>
              <a:ext uri="{FF2B5EF4-FFF2-40B4-BE49-F238E27FC236}">
                <a16:creationId xmlns:a16="http://schemas.microsoft.com/office/drawing/2014/main" id="{2E5A0F83-0881-824A-2B6E-D60C817D93CD}"/>
              </a:ext>
            </a:extLst>
          </p:cNvPr>
          <p:cNvSpPr/>
          <p:nvPr/>
        </p:nvSpPr>
        <p:spPr>
          <a:xfrm>
            <a:off x="1800225" y="3801676"/>
            <a:ext cx="6257925" cy="627449"/>
          </a:xfrm>
          <a:prstGeom prst="ellipse">
            <a:avLst/>
          </a:prstGeom>
          <a:noFill/>
          <a:ln w="2857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a:p>
        </p:txBody>
      </p:sp>
      <p:cxnSp>
        <p:nvCxnSpPr>
          <p:cNvPr id="11" name="Straight Arrow Connector 10">
            <a:extLst>
              <a:ext uri="{FF2B5EF4-FFF2-40B4-BE49-F238E27FC236}">
                <a16:creationId xmlns:a16="http://schemas.microsoft.com/office/drawing/2014/main" id="{31F02FAB-43F2-1A79-4E76-76637A551966}"/>
              </a:ext>
            </a:extLst>
          </p:cNvPr>
          <p:cNvCxnSpPr>
            <a:cxnSpLocks/>
            <a:endCxn id="6" idx="0"/>
          </p:cNvCxnSpPr>
          <p:nvPr/>
        </p:nvCxnSpPr>
        <p:spPr>
          <a:xfrm flipH="1">
            <a:off x="2219223" y="4429125"/>
            <a:ext cx="2638527" cy="57769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3" name="Oval 12">
            <a:extLst>
              <a:ext uri="{FF2B5EF4-FFF2-40B4-BE49-F238E27FC236}">
                <a16:creationId xmlns:a16="http://schemas.microsoft.com/office/drawing/2014/main" id="{B5BB351D-D74A-838D-09DF-EB33DAF6C6FD}"/>
              </a:ext>
            </a:extLst>
          </p:cNvPr>
          <p:cNvSpPr/>
          <p:nvPr/>
        </p:nvSpPr>
        <p:spPr>
          <a:xfrm flipV="1">
            <a:off x="6529388" y="4429125"/>
            <a:ext cx="1385888" cy="355446"/>
          </a:xfrm>
          <a:prstGeom prst="ellipse">
            <a:avLst/>
          </a:prstGeom>
          <a:noFill/>
          <a:ln w="2857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a:p>
        </p:txBody>
      </p:sp>
      <p:sp>
        <p:nvSpPr>
          <p:cNvPr id="14" name="TextBox 13">
            <a:extLst>
              <a:ext uri="{FF2B5EF4-FFF2-40B4-BE49-F238E27FC236}">
                <a16:creationId xmlns:a16="http://schemas.microsoft.com/office/drawing/2014/main" id="{F89F568A-C9EA-F984-CF76-A347DF87B668}"/>
              </a:ext>
            </a:extLst>
          </p:cNvPr>
          <p:cNvSpPr txBox="1"/>
          <p:nvPr/>
        </p:nvSpPr>
        <p:spPr>
          <a:xfrm>
            <a:off x="6072188" y="5186363"/>
            <a:ext cx="4702313" cy="646331"/>
          </a:xfrm>
          <a:prstGeom prst="rect">
            <a:avLst/>
          </a:prstGeom>
        </p:spPr>
        <p:style>
          <a:lnRef idx="2">
            <a:schemeClr val="dk1"/>
          </a:lnRef>
          <a:fillRef idx="1">
            <a:schemeClr val="lt1"/>
          </a:fillRef>
          <a:effectRef idx="0">
            <a:schemeClr val="dk1"/>
          </a:effectRef>
          <a:fontRef idx="minor">
            <a:schemeClr val="dk1"/>
          </a:fontRef>
        </p:style>
        <p:txBody>
          <a:bodyPr wrap="none" rtlCol="0">
            <a:spAutoFit/>
          </a:bodyPr>
          <a:lstStyle/>
          <a:p>
            <a:r>
              <a:rPr lang="en-US" dirty="0"/>
              <a:t>Incorrect or Impossible Values</a:t>
            </a:r>
            <a:br>
              <a:rPr lang="en-US" dirty="0"/>
            </a:br>
            <a:r>
              <a:rPr lang="en-US" dirty="0"/>
              <a:t xml:space="preserve">(There is only 168 hours in a week 24*7 = 168) </a:t>
            </a:r>
          </a:p>
        </p:txBody>
      </p:sp>
      <p:cxnSp>
        <p:nvCxnSpPr>
          <p:cNvPr id="16" name="Straight Arrow Connector 15">
            <a:extLst>
              <a:ext uri="{FF2B5EF4-FFF2-40B4-BE49-F238E27FC236}">
                <a16:creationId xmlns:a16="http://schemas.microsoft.com/office/drawing/2014/main" id="{B3805743-402C-3E4B-D239-B7732D9706FA}"/>
              </a:ext>
            </a:extLst>
          </p:cNvPr>
          <p:cNvCxnSpPr>
            <a:stCxn id="13" idx="0"/>
            <a:endCxn id="14" idx="0"/>
          </p:cNvCxnSpPr>
          <p:nvPr/>
        </p:nvCxnSpPr>
        <p:spPr>
          <a:xfrm>
            <a:off x="7222332" y="4784571"/>
            <a:ext cx="1201013" cy="40179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974647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6" grpId="0" animBg="1"/>
      <p:bldP spid="9" grpId="0" animBg="1"/>
      <p:bldP spid="13" grpId="0" animBg="1"/>
      <p:bldP spid="14"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AA3825-51BF-D039-E354-58A32B3FCC92}"/>
              </a:ext>
            </a:extLst>
          </p:cNvPr>
          <p:cNvSpPr>
            <a:spLocks noGrp="1"/>
          </p:cNvSpPr>
          <p:nvPr>
            <p:ph type="title"/>
          </p:nvPr>
        </p:nvSpPr>
        <p:spPr/>
        <p:txBody>
          <a:bodyPr/>
          <a:lstStyle/>
          <a:p>
            <a:r>
              <a:rPr lang="en-US" dirty="0"/>
              <a:t>Hidden Inconsistencies</a:t>
            </a:r>
          </a:p>
        </p:txBody>
      </p:sp>
      <p:pic>
        <p:nvPicPr>
          <p:cNvPr id="4" name="Image 0" descr="preencoded.png">
            <a:extLst>
              <a:ext uri="{FF2B5EF4-FFF2-40B4-BE49-F238E27FC236}">
                <a16:creationId xmlns:a16="http://schemas.microsoft.com/office/drawing/2014/main" id="{AD4694EA-455A-F3EB-F98C-3AC12F7A01AA}"/>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838200" y="2294032"/>
            <a:ext cx="2852407" cy="4278611"/>
          </a:xfrm>
          <a:prstGeom prst="rect">
            <a:avLst/>
          </a:prstGeom>
        </p:spPr>
      </p:pic>
      <p:sp>
        <p:nvSpPr>
          <p:cNvPr id="5" name="Shape 1">
            <a:extLst>
              <a:ext uri="{FF2B5EF4-FFF2-40B4-BE49-F238E27FC236}">
                <a16:creationId xmlns:a16="http://schemas.microsoft.com/office/drawing/2014/main" id="{4FAB0E87-F6DE-4B01-1734-231254E44623}"/>
              </a:ext>
            </a:extLst>
          </p:cNvPr>
          <p:cNvSpPr/>
          <p:nvPr/>
        </p:nvSpPr>
        <p:spPr>
          <a:xfrm>
            <a:off x="4633417" y="2726676"/>
            <a:ext cx="3054053" cy="1706662"/>
          </a:xfrm>
          <a:prstGeom prst="roundRect">
            <a:avLst>
              <a:gd name="adj" fmla="val 4652"/>
            </a:avLst>
          </a:prstGeom>
          <a:solidFill>
            <a:srgbClr val="CCEDFF"/>
          </a:solidFill>
          <a:ln w="7620">
            <a:solidFill>
              <a:srgbClr val="B2D3E5"/>
            </a:solidFill>
            <a:prstDash val="solid"/>
          </a:ln>
        </p:spPr>
        <p:txBody>
          <a:bodyPr/>
          <a:lstStyle/>
          <a:p>
            <a:endParaRPr lang="en-US">
              <a:latin typeface="Aptos" panose="020B0004020202020204" pitchFamily="34" charset="0"/>
            </a:endParaRPr>
          </a:p>
        </p:txBody>
      </p:sp>
      <p:sp>
        <p:nvSpPr>
          <p:cNvPr id="6" name="Text 2">
            <a:extLst>
              <a:ext uri="{FF2B5EF4-FFF2-40B4-BE49-F238E27FC236}">
                <a16:creationId xmlns:a16="http://schemas.microsoft.com/office/drawing/2014/main" id="{553EB0C5-D8C4-3F17-9C2D-3A2B9291E8CB}"/>
              </a:ext>
            </a:extLst>
          </p:cNvPr>
          <p:cNvSpPr/>
          <p:nvPr/>
        </p:nvSpPr>
        <p:spPr>
          <a:xfrm>
            <a:off x="4828779" y="2922038"/>
            <a:ext cx="2362696" cy="295275"/>
          </a:xfrm>
          <a:prstGeom prst="rect">
            <a:avLst/>
          </a:prstGeom>
          <a:noFill/>
          <a:ln/>
        </p:spPr>
        <p:txBody>
          <a:bodyPr wrap="none" lIns="0" tIns="0" rIns="0" bIns="0" rtlCol="0" anchor="t"/>
          <a:lstStyle/>
          <a:p>
            <a:pPr>
              <a:lnSpc>
                <a:spcPts val="2292"/>
              </a:lnSpc>
            </a:pPr>
            <a:r>
              <a:rPr lang="en-US" sz="2400" b="1" dirty="0">
                <a:solidFill>
                  <a:srgbClr val="000000"/>
                </a:solidFill>
                <a:latin typeface="Aptos" panose="020B0004020202020204" pitchFamily="34" charset="0"/>
                <a:ea typeface="Playfair Display Bold" pitchFamily="34" charset="-122"/>
                <a:cs typeface="Playfair Display Bold" pitchFamily="34" charset="-120"/>
              </a:rPr>
              <a:t>Invisible Spaces</a:t>
            </a:r>
            <a:endParaRPr lang="en-US" sz="2400" dirty="0">
              <a:latin typeface="Aptos" panose="020B0004020202020204" pitchFamily="34" charset="0"/>
            </a:endParaRPr>
          </a:p>
        </p:txBody>
      </p:sp>
      <p:sp>
        <p:nvSpPr>
          <p:cNvPr id="7" name="Text 3">
            <a:extLst>
              <a:ext uri="{FF2B5EF4-FFF2-40B4-BE49-F238E27FC236}">
                <a16:creationId xmlns:a16="http://schemas.microsoft.com/office/drawing/2014/main" id="{49D790D1-E352-A62E-98EB-6F92381A9135}"/>
              </a:ext>
            </a:extLst>
          </p:cNvPr>
          <p:cNvSpPr/>
          <p:nvPr/>
        </p:nvSpPr>
        <p:spPr>
          <a:xfrm>
            <a:off x="4828779" y="3330720"/>
            <a:ext cx="2663329" cy="907257"/>
          </a:xfrm>
          <a:prstGeom prst="rect">
            <a:avLst/>
          </a:prstGeom>
          <a:noFill/>
          <a:ln/>
        </p:spPr>
        <p:txBody>
          <a:bodyPr wrap="square" lIns="0" tIns="0" rIns="0" bIns="0" rtlCol="0" anchor="t"/>
          <a:lstStyle/>
          <a:p>
            <a:pPr>
              <a:lnSpc>
                <a:spcPts val="2375"/>
              </a:lnSpc>
            </a:pPr>
            <a:r>
              <a:rPr lang="en-US" dirty="0">
                <a:solidFill>
                  <a:srgbClr val="000000"/>
                </a:solidFill>
                <a:latin typeface="Aptos" panose="020B0004020202020204" pitchFamily="34" charset="0"/>
                <a:ea typeface="Inter" pitchFamily="34" charset="-122"/>
                <a:cs typeface="Inter" pitchFamily="34" charset="-120"/>
              </a:rPr>
              <a:t>Trailing/leading spaces are invisible but computationally distinct. Fix with df["col"].str.strip(). One line prevents a silent category explosion that only shows up when you check value_counts().</a:t>
            </a:r>
            <a:endParaRPr lang="en-US" dirty="0">
              <a:latin typeface="Aptos" panose="020B0004020202020204" pitchFamily="34" charset="0"/>
            </a:endParaRPr>
          </a:p>
        </p:txBody>
      </p:sp>
      <p:sp>
        <p:nvSpPr>
          <p:cNvPr id="8" name="Shape 4">
            <a:extLst>
              <a:ext uri="{FF2B5EF4-FFF2-40B4-BE49-F238E27FC236}">
                <a16:creationId xmlns:a16="http://schemas.microsoft.com/office/drawing/2014/main" id="{3EAEFDC7-EEFE-CDF7-BDA2-603630DBA105}"/>
              </a:ext>
            </a:extLst>
          </p:cNvPr>
          <p:cNvSpPr/>
          <p:nvPr/>
        </p:nvSpPr>
        <p:spPr>
          <a:xfrm>
            <a:off x="7876481" y="2726676"/>
            <a:ext cx="3054053" cy="1706662"/>
          </a:xfrm>
          <a:prstGeom prst="roundRect">
            <a:avLst>
              <a:gd name="adj" fmla="val 4652"/>
            </a:avLst>
          </a:prstGeom>
          <a:solidFill>
            <a:srgbClr val="CCEDFF"/>
          </a:solidFill>
          <a:ln w="7620">
            <a:solidFill>
              <a:srgbClr val="B2D3E5"/>
            </a:solidFill>
            <a:prstDash val="solid"/>
          </a:ln>
        </p:spPr>
        <p:txBody>
          <a:bodyPr/>
          <a:lstStyle/>
          <a:p>
            <a:endParaRPr lang="en-US">
              <a:latin typeface="Aptos" panose="020B0004020202020204" pitchFamily="34" charset="0"/>
            </a:endParaRPr>
          </a:p>
        </p:txBody>
      </p:sp>
      <p:sp>
        <p:nvSpPr>
          <p:cNvPr id="9" name="Text 5">
            <a:extLst>
              <a:ext uri="{FF2B5EF4-FFF2-40B4-BE49-F238E27FC236}">
                <a16:creationId xmlns:a16="http://schemas.microsoft.com/office/drawing/2014/main" id="{811A4A7C-28C3-F727-A08E-F491EF04BC51}"/>
              </a:ext>
            </a:extLst>
          </p:cNvPr>
          <p:cNvSpPr/>
          <p:nvPr/>
        </p:nvSpPr>
        <p:spPr>
          <a:xfrm>
            <a:off x="8071843" y="2922038"/>
            <a:ext cx="2362696" cy="295275"/>
          </a:xfrm>
          <a:prstGeom prst="rect">
            <a:avLst/>
          </a:prstGeom>
          <a:noFill/>
          <a:ln/>
        </p:spPr>
        <p:txBody>
          <a:bodyPr wrap="none" lIns="0" tIns="0" rIns="0" bIns="0" rtlCol="0" anchor="t"/>
          <a:lstStyle/>
          <a:p>
            <a:pPr>
              <a:lnSpc>
                <a:spcPts val="2292"/>
              </a:lnSpc>
            </a:pPr>
            <a:r>
              <a:rPr lang="en-US" sz="2400" b="1" dirty="0">
                <a:solidFill>
                  <a:srgbClr val="000000"/>
                </a:solidFill>
                <a:latin typeface="Aptos" panose="020B0004020202020204" pitchFamily="34" charset="0"/>
                <a:ea typeface="Playfair Display Bold" pitchFamily="34" charset="-122"/>
                <a:cs typeface="Playfair Display Bold" pitchFamily="34" charset="-120"/>
              </a:rPr>
              <a:t>Case Sensitivity</a:t>
            </a:r>
            <a:endParaRPr lang="en-US" sz="2400" dirty="0">
              <a:latin typeface="Aptos" panose="020B0004020202020204" pitchFamily="34" charset="0"/>
            </a:endParaRPr>
          </a:p>
        </p:txBody>
      </p:sp>
      <p:sp>
        <p:nvSpPr>
          <p:cNvPr id="10" name="Text 6">
            <a:extLst>
              <a:ext uri="{FF2B5EF4-FFF2-40B4-BE49-F238E27FC236}">
                <a16:creationId xmlns:a16="http://schemas.microsoft.com/office/drawing/2014/main" id="{9E5CFBBE-1748-3AD5-941E-9B26C58191B4}"/>
              </a:ext>
            </a:extLst>
          </p:cNvPr>
          <p:cNvSpPr/>
          <p:nvPr/>
        </p:nvSpPr>
        <p:spPr>
          <a:xfrm>
            <a:off x="8071843" y="3330720"/>
            <a:ext cx="2663329" cy="907257"/>
          </a:xfrm>
          <a:prstGeom prst="rect">
            <a:avLst/>
          </a:prstGeom>
          <a:noFill/>
          <a:ln/>
        </p:spPr>
        <p:txBody>
          <a:bodyPr wrap="square" lIns="0" tIns="0" rIns="0" bIns="0" rtlCol="0" anchor="t"/>
          <a:lstStyle/>
          <a:p>
            <a:pPr>
              <a:lnSpc>
                <a:spcPts val="2375"/>
              </a:lnSpc>
            </a:pPr>
            <a:r>
              <a:rPr lang="en-US" dirty="0">
                <a:solidFill>
                  <a:srgbClr val="000000"/>
                </a:solidFill>
                <a:latin typeface="Aptos" panose="020B0004020202020204" pitchFamily="34" charset="0"/>
                <a:ea typeface="Inter" pitchFamily="34" charset="-122"/>
                <a:cs typeface="Inter" pitchFamily="34" charset="-120"/>
              </a:rPr>
              <a:t>Case normalization: df["col"].str.lower() or .str.upper() before any groupby or merge. Without this, "Male", "male", and "MALE" count as three separate categories in your frequency tables.</a:t>
            </a:r>
            <a:endParaRPr lang="en-US" dirty="0">
              <a:latin typeface="Aptos" panose="020B0004020202020204" pitchFamily="34" charset="0"/>
            </a:endParaRPr>
          </a:p>
        </p:txBody>
      </p:sp>
      <p:sp>
        <p:nvSpPr>
          <p:cNvPr id="11" name="Shape 7">
            <a:extLst>
              <a:ext uri="{FF2B5EF4-FFF2-40B4-BE49-F238E27FC236}">
                <a16:creationId xmlns:a16="http://schemas.microsoft.com/office/drawing/2014/main" id="{2E023B65-24EA-3742-2FAD-14440C783A78}"/>
              </a:ext>
            </a:extLst>
          </p:cNvPr>
          <p:cNvSpPr/>
          <p:nvPr/>
        </p:nvSpPr>
        <p:spPr>
          <a:xfrm>
            <a:off x="4633417" y="4622350"/>
            <a:ext cx="6297018" cy="1101824"/>
          </a:xfrm>
          <a:prstGeom prst="roundRect">
            <a:avLst>
              <a:gd name="adj" fmla="val 7205"/>
            </a:avLst>
          </a:prstGeom>
          <a:solidFill>
            <a:srgbClr val="CCEDFF"/>
          </a:solidFill>
          <a:ln w="7620">
            <a:solidFill>
              <a:srgbClr val="B2D3E5"/>
            </a:solidFill>
            <a:prstDash val="solid"/>
          </a:ln>
        </p:spPr>
        <p:txBody>
          <a:bodyPr/>
          <a:lstStyle/>
          <a:p>
            <a:endParaRPr lang="en-US">
              <a:latin typeface="Aptos" panose="020B0004020202020204" pitchFamily="34" charset="0"/>
            </a:endParaRPr>
          </a:p>
        </p:txBody>
      </p:sp>
      <p:sp>
        <p:nvSpPr>
          <p:cNvPr id="12" name="Text 8">
            <a:extLst>
              <a:ext uri="{FF2B5EF4-FFF2-40B4-BE49-F238E27FC236}">
                <a16:creationId xmlns:a16="http://schemas.microsoft.com/office/drawing/2014/main" id="{7AD1D31A-634D-3637-5F95-21673503A456}"/>
              </a:ext>
            </a:extLst>
          </p:cNvPr>
          <p:cNvSpPr/>
          <p:nvPr/>
        </p:nvSpPr>
        <p:spPr>
          <a:xfrm>
            <a:off x="4828779" y="4817711"/>
            <a:ext cx="2362696" cy="295275"/>
          </a:xfrm>
          <a:prstGeom prst="rect">
            <a:avLst/>
          </a:prstGeom>
          <a:noFill/>
          <a:ln/>
        </p:spPr>
        <p:txBody>
          <a:bodyPr wrap="none" lIns="0" tIns="0" rIns="0" bIns="0" rtlCol="0" anchor="t"/>
          <a:lstStyle/>
          <a:p>
            <a:pPr>
              <a:lnSpc>
                <a:spcPts val="2292"/>
              </a:lnSpc>
            </a:pPr>
            <a:r>
              <a:rPr lang="en-US" sz="2400" b="1" dirty="0">
                <a:solidFill>
                  <a:srgbClr val="000000"/>
                </a:solidFill>
                <a:latin typeface="Aptos" panose="020B0004020202020204" pitchFamily="34" charset="0"/>
                <a:ea typeface="Playfair Display Bold" pitchFamily="34" charset="-122"/>
                <a:cs typeface="Playfair Display Bold" pitchFamily="34" charset="-120"/>
              </a:rPr>
              <a:t>Leading Zeros</a:t>
            </a:r>
            <a:endParaRPr lang="en-US" sz="2400" dirty="0">
              <a:latin typeface="Aptos" panose="020B0004020202020204" pitchFamily="34" charset="0"/>
            </a:endParaRPr>
          </a:p>
        </p:txBody>
      </p:sp>
      <p:sp>
        <p:nvSpPr>
          <p:cNvPr id="13" name="Text 9">
            <a:extLst>
              <a:ext uri="{FF2B5EF4-FFF2-40B4-BE49-F238E27FC236}">
                <a16:creationId xmlns:a16="http://schemas.microsoft.com/office/drawing/2014/main" id="{E9492671-147A-C7C0-27E0-E8430E50BAE5}"/>
              </a:ext>
            </a:extLst>
          </p:cNvPr>
          <p:cNvSpPr/>
          <p:nvPr/>
        </p:nvSpPr>
        <p:spPr>
          <a:xfrm>
            <a:off x="4828779" y="5226394"/>
            <a:ext cx="5906294" cy="302419"/>
          </a:xfrm>
          <a:prstGeom prst="rect">
            <a:avLst/>
          </a:prstGeom>
          <a:noFill/>
          <a:ln/>
        </p:spPr>
        <p:txBody>
          <a:bodyPr wrap="none" lIns="0" tIns="0" rIns="0" bIns="0" rtlCol="0" anchor="t"/>
          <a:lstStyle/>
          <a:p>
            <a:pPr>
              <a:lnSpc>
                <a:spcPts val="2375"/>
              </a:lnSpc>
            </a:pPr>
            <a:r>
              <a:rPr lang="en-US" dirty="0">
                <a:solidFill>
                  <a:srgbClr val="000000"/>
                </a:solidFill>
                <a:latin typeface="Aptos" panose="020B0004020202020204" pitchFamily="34" charset="0"/>
                <a:ea typeface="Inter" pitchFamily="34" charset="-122"/>
                <a:cs typeface="Inter" pitchFamily="34" charset="-120"/>
              </a:rPr>
              <a:t>Leading zero issues: ZIP codes or student IDs stored as int lose "06001" → 6001. Always store ID fields as strings (dtype=object). Check: df.dtypes and verify ID columns are not numeric.</a:t>
            </a:r>
            <a:endParaRPr lang="en-US" dirty="0">
              <a:latin typeface="Aptos" panose="020B0004020202020204" pitchFamily="34" charset="0"/>
            </a:endParaRPr>
          </a:p>
        </p:txBody>
      </p:sp>
    </p:spTree>
    <p:extLst>
      <p:ext uri="{BB962C8B-B14F-4D97-AF65-F5344CB8AC3E}">
        <p14:creationId xmlns:p14="http://schemas.microsoft.com/office/powerpoint/2010/main" val="296475113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Shape 1">
            <a:extLst>
              <a:ext uri="{FF2B5EF4-FFF2-40B4-BE49-F238E27FC236}">
                <a16:creationId xmlns:a16="http://schemas.microsoft.com/office/drawing/2014/main" id="{54774CB5-0EB0-0684-E66C-393BE4DE7F0A}"/>
              </a:ext>
            </a:extLst>
          </p:cNvPr>
          <p:cNvSpPr/>
          <p:nvPr/>
        </p:nvSpPr>
        <p:spPr>
          <a:xfrm>
            <a:off x="6774855" y="2627015"/>
            <a:ext cx="5203924" cy="2509540"/>
          </a:xfrm>
          <a:prstGeom prst="roundRect">
            <a:avLst>
              <a:gd name="adj" fmla="val 4652"/>
            </a:avLst>
          </a:prstGeom>
          <a:solidFill>
            <a:srgbClr val="CCEDFF"/>
          </a:solidFill>
          <a:ln w="7620">
            <a:solidFill>
              <a:srgbClr val="B2D3E5"/>
            </a:solidFill>
            <a:prstDash val="solid"/>
          </a:ln>
        </p:spPr>
        <p:txBody>
          <a:bodyPr/>
          <a:lstStyle/>
          <a:p>
            <a:endParaRPr lang="en-US">
              <a:latin typeface="Aptos" panose="020B0004020202020204" pitchFamily="34" charset="0"/>
            </a:endParaRPr>
          </a:p>
        </p:txBody>
      </p:sp>
      <p:sp>
        <p:nvSpPr>
          <p:cNvPr id="14" name="Shape 1">
            <a:extLst>
              <a:ext uri="{FF2B5EF4-FFF2-40B4-BE49-F238E27FC236}">
                <a16:creationId xmlns:a16="http://schemas.microsoft.com/office/drawing/2014/main" id="{777277C2-7FAD-0B28-8390-25821975DF14}"/>
              </a:ext>
            </a:extLst>
          </p:cNvPr>
          <p:cNvSpPr/>
          <p:nvPr/>
        </p:nvSpPr>
        <p:spPr>
          <a:xfrm>
            <a:off x="452238" y="2318246"/>
            <a:ext cx="6113363" cy="3468192"/>
          </a:xfrm>
          <a:prstGeom prst="roundRect">
            <a:avLst>
              <a:gd name="adj" fmla="val 4652"/>
            </a:avLst>
          </a:prstGeom>
          <a:solidFill>
            <a:srgbClr val="CCEDFF"/>
          </a:solidFill>
          <a:ln w="7620">
            <a:solidFill>
              <a:srgbClr val="B2D3E5"/>
            </a:solidFill>
            <a:prstDash val="solid"/>
          </a:ln>
        </p:spPr>
        <p:txBody>
          <a:bodyPr/>
          <a:lstStyle/>
          <a:p>
            <a:endParaRPr lang="en-US">
              <a:latin typeface="Aptos" panose="020B0004020202020204" pitchFamily="34" charset="0"/>
            </a:endParaRPr>
          </a:p>
        </p:txBody>
      </p:sp>
      <p:sp>
        <p:nvSpPr>
          <p:cNvPr id="2" name="Title 1">
            <a:extLst>
              <a:ext uri="{FF2B5EF4-FFF2-40B4-BE49-F238E27FC236}">
                <a16:creationId xmlns:a16="http://schemas.microsoft.com/office/drawing/2014/main" id="{16BF3811-3587-3292-FDA8-D656DF185656}"/>
              </a:ext>
            </a:extLst>
          </p:cNvPr>
          <p:cNvSpPr>
            <a:spLocks noGrp="1"/>
          </p:cNvSpPr>
          <p:nvPr>
            <p:ph type="title"/>
          </p:nvPr>
        </p:nvSpPr>
        <p:spPr/>
        <p:txBody>
          <a:bodyPr/>
          <a:lstStyle/>
          <a:p>
            <a:r>
              <a:rPr lang="en-US" dirty="0"/>
              <a:t>Missing Documentation</a:t>
            </a:r>
          </a:p>
        </p:txBody>
      </p:sp>
      <p:sp>
        <p:nvSpPr>
          <p:cNvPr id="4" name="Text 0">
            <a:extLst>
              <a:ext uri="{FF2B5EF4-FFF2-40B4-BE49-F238E27FC236}">
                <a16:creationId xmlns:a16="http://schemas.microsoft.com/office/drawing/2014/main" id="{B55BFE7B-114A-B7DB-25CD-D497DC0BF3C5}"/>
              </a:ext>
            </a:extLst>
          </p:cNvPr>
          <p:cNvSpPr/>
          <p:nvPr/>
        </p:nvSpPr>
        <p:spPr>
          <a:xfrm>
            <a:off x="661492" y="1682056"/>
            <a:ext cx="5220990" cy="590649"/>
          </a:xfrm>
          <a:prstGeom prst="rect">
            <a:avLst/>
          </a:prstGeom>
          <a:noFill/>
          <a:ln/>
        </p:spPr>
        <p:txBody>
          <a:bodyPr wrap="none" lIns="0" tIns="0" rIns="0" bIns="0" rtlCol="0" anchor="t"/>
          <a:lstStyle/>
          <a:p>
            <a:pPr>
              <a:lnSpc>
                <a:spcPts val="4625"/>
              </a:lnSpc>
            </a:pPr>
            <a:endParaRPr lang="en-US" sz="3708" dirty="0">
              <a:latin typeface="Aptos" panose="020B0004020202020204" pitchFamily="34" charset="0"/>
            </a:endParaRPr>
          </a:p>
        </p:txBody>
      </p:sp>
      <p:sp>
        <p:nvSpPr>
          <p:cNvPr id="5" name="Text 1">
            <a:extLst>
              <a:ext uri="{FF2B5EF4-FFF2-40B4-BE49-F238E27FC236}">
                <a16:creationId xmlns:a16="http://schemas.microsoft.com/office/drawing/2014/main" id="{64B97128-D581-0FD2-888E-EF1B5C3014E1}"/>
              </a:ext>
            </a:extLst>
          </p:cNvPr>
          <p:cNvSpPr/>
          <p:nvPr/>
        </p:nvSpPr>
        <p:spPr>
          <a:xfrm>
            <a:off x="661492" y="2745184"/>
            <a:ext cx="2808684" cy="295275"/>
          </a:xfrm>
          <a:prstGeom prst="rect">
            <a:avLst/>
          </a:prstGeom>
          <a:noFill/>
          <a:ln/>
        </p:spPr>
        <p:txBody>
          <a:bodyPr wrap="none" lIns="0" tIns="0" rIns="0" bIns="0" rtlCol="0" anchor="t"/>
          <a:lstStyle/>
          <a:p>
            <a:pPr>
              <a:lnSpc>
                <a:spcPts val="2292"/>
              </a:lnSpc>
            </a:pPr>
            <a:r>
              <a:rPr lang="en-US" sz="2800" b="1" dirty="0">
                <a:solidFill>
                  <a:srgbClr val="000000"/>
                </a:solidFill>
                <a:latin typeface="Aptos" panose="020B0004020202020204" pitchFamily="34" charset="0"/>
                <a:ea typeface="Playfair Display Bold" pitchFamily="34" charset="-122"/>
                <a:cs typeface="Playfair Display Bold" pitchFamily="34" charset="-120"/>
              </a:rPr>
              <a:t>What's a Data Dictionary?</a:t>
            </a:r>
            <a:endParaRPr lang="en-US" sz="2800" dirty="0">
              <a:latin typeface="Aptos" panose="020B0004020202020204" pitchFamily="34" charset="0"/>
            </a:endParaRPr>
          </a:p>
        </p:txBody>
      </p:sp>
      <p:sp>
        <p:nvSpPr>
          <p:cNvPr id="6" name="Text 2">
            <a:extLst>
              <a:ext uri="{FF2B5EF4-FFF2-40B4-BE49-F238E27FC236}">
                <a16:creationId xmlns:a16="http://schemas.microsoft.com/office/drawing/2014/main" id="{BB034F31-AED4-7A87-D450-BB5FF06F3F67}"/>
              </a:ext>
            </a:extLst>
          </p:cNvPr>
          <p:cNvSpPr/>
          <p:nvPr/>
        </p:nvSpPr>
        <p:spPr>
          <a:xfrm>
            <a:off x="661491" y="3229470"/>
            <a:ext cx="5904111" cy="320523"/>
          </a:xfrm>
          <a:prstGeom prst="rect">
            <a:avLst/>
          </a:prstGeom>
          <a:noFill/>
          <a:ln/>
        </p:spPr>
        <p:txBody>
          <a:bodyPr wrap="none" lIns="0" tIns="0" rIns="0" bIns="0" rtlCol="0" anchor="t"/>
          <a:lstStyle/>
          <a:p>
            <a:pPr>
              <a:lnSpc>
                <a:spcPts val="2375"/>
              </a:lnSpc>
            </a:pPr>
            <a:r>
              <a:rPr lang="en-US" sz="2000" dirty="0">
                <a:solidFill>
                  <a:srgbClr val="000000"/>
                </a:solidFill>
                <a:latin typeface="Aptos" panose="020B0004020202020204" pitchFamily="34" charset="0"/>
                <a:ea typeface="Inter" pitchFamily="34" charset="-122"/>
                <a:cs typeface="Inter" pitchFamily="34" charset="-120"/>
              </a:rPr>
              <a:t>A document describing each variable in your dataset:</a:t>
            </a:r>
            <a:endParaRPr lang="en-US" sz="2000" dirty="0">
              <a:latin typeface="Aptos" panose="020B0004020202020204" pitchFamily="34" charset="0"/>
            </a:endParaRPr>
          </a:p>
        </p:txBody>
      </p:sp>
      <p:sp>
        <p:nvSpPr>
          <p:cNvPr id="7" name="Text 3">
            <a:extLst>
              <a:ext uri="{FF2B5EF4-FFF2-40B4-BE49-F238E27FC236}">
                <a16:creationId xmlns:a16="http://schemas.microsoft.com/office/drawing/2014/main" id="{800190DC-87F4-2ADA-542C-6F20D6B9C28F}"/>
              </a:ext>
            </a:extLst>
          </p:cNvPr>
          <p:cNvSpPr/>
          <p:nvPr/>
        </p:nvSpPr>
        <p:spPr>
          <a:xfrm>
            <a:off x="661492" y="3701951"/>
            <a:ext cx="5203924" cy="302419"/>
          </a:xfrm>
          <a:prstGeom prst="rect">
            <a:avLst/>
          </a:prstGeom>
          <a:noFill/>
          <a:ln/>
        </p:spPr>
        <p:txBody>
          <a:bodyPr wrap="none" lIns="0" tIns="0" rIns="0" bIns="0" rtlCol="0" anchor="t"/>
          <a:lstStyle/>
          <a:p>
            <a:pPr marL="285739" indent="-285739">
              <a:lnSpc>
                <a:spcPts val="2375"/>
              </a:lnSpc>
              <a:buSzPct val="100000"/>
              <a:buChar char="•"/>
            </a:pPr>
            <a:r>
              <a:rPr lang="en-US" sz="2000" dirty="0">
                <a:solidFill>
                  <a:srgbClr val="000000"/>
                </a:solidFill>
                <a:latin typeface="Aptos" panose="020B0004020202020204" pitchFamily="34" charset="0"/>
                <a:ea typeface="Inter" pitchFamily="34" charset="-122"/>
                <a:cs typeface="Inter" pitchFamily="34" charset="-120"/>
              </a:rPr>
              <a:t>What each field means</a:t>
            </a:r>
            <a:endParaRPr lang="en-US" sz="2000" dirty="0">
              <a:latin typeface="Aptos" panose="020B0004020202020204" pitchFamily="34" charset="0"/>
            </a:endParaRPr>
          </a:p>
        </p:txBody>
      </p:sp>
      <p:sp>
        <p:nvSpPr>
          <p:cNvPr id="8" name="Text 4">
            <a:extLst>
              <a:ext uri="{FF2B5EF4-FFF2-40B4-BE49-F238E27FC236}">
                <a16:creationId xmlns:a16="http://schemas.microsoft.com/office/drawing/2014/main" id="{5F30446A-3D0B-0A1B-8445-058750592E75}"/>
              </a:ext>
            </a:extLst>
          </p:cNvPr>
          <p:cNvSpPr/>
          <p:nvPr/>
        </p:nvSpPr>
        <p:spPr>
          <a:xfrm>
            <a:off x="661492" y="4070450"/>
            <a:ext cx="5203924" cy="302419"/>
          </a:xfrm>
          <a:prstGeom prst="rect">
            <a:avLst/>
          </a:prstGeom>
          <a:noFill/>
          <a:ln/>
        </p:spPr>
        <p:txBody>
          <a:bodyPr wrap="none" lIns="0" tIns="0" rIns="0" bIns="0" rtlCol="0" anchor="t"/>
          <a:lstStyle/>
          <a:p>
            <a:pPr marL="285739" indent="-285739">
              <a:lnSpc>
                <a:spcPts val="2375"/>
              </a:lnSpc>
              <a:buSzPct val="100000"/>
              <a:buChar char="•"/>
            </a:pPr>
            <a:r>
              <a:rPr lang="en-US" sz="2000" dirty="0">
                <a:solidFill>
                  <a:srgbClr val="000000"/>
                </a:solidFill>
                <a:latin typeface="Aptos" panose="020B0004020202020204" pitchFamily="34" charset="0"/>
                <a:ea typeface="Inter" pitchFamily="34" charset="-122"/>
                <a:cs typeface="Inter" pitchFamily="34" charset="-120"/>
              </a:rPr>
              <a:t>Units of measurement</a:t>
            </a:r>
            <a:endParaRPr lang="en-US" sz="2000" dirty="0">
              <a:latin typeface="Aptos" panose="020B0004020202020204" pitchFamily="34" charset="0"/>
            </a:endParaRPr>
          </a:p>
        </p:txBody>
      </p:sp>
      <p:sp>
        <p:nvSpPr>
          <p:cNvPr id="9" name="Text 5">
            <a:extLst>
              <a:ext uri="{FF2B5EF4-FFF2-40B4-BE49-F238E27FC236}">
                <a16:creationId xmlns:a16="http://schemas.microsoft.com/office/drawing/2014/main" id="{86096BFD-CB22-0B3F-25FC-32EA07B792D7}"/>
              </a:ext>
            </a:extLst>
          </p:cNvPr>
          <p:cNvSpPr/>
          <p:nvPr/>
        </p:nvSpPr>
        <p:spPr>
          <a:xfrm>
            <a:off x="661492" y="4438948"/>
            <a:ext cx="5203924" cy="302419"/>
          </a:xfrm>
          <a:prstGeom prst="rect">
            <a:avLst/>
          </a:prstGeom>
          <a:noFill/>
          <a:ln/>
        </p:spPr>
        <p:txBody>
          <a:bodyPr wrap="none" lIns="0" tIns="0" rIns="0" bIns="0" rtlCol="0" anchor="t"/>
          <a:lstStyle/>
          <a:p>
            <a:pPr marL="285739" indent="-285739">
              <a:lnSpc>
                <a:spcPts val="2375"/>
              </a:lnSpc>
              <a:buSzPct val="100000"/>
              <a:buChar char="•"/>
            </a:pPr>
            <a:r>
              <a:rPr lang="en-US" sz="2000" dirty="0">
                <a:solidFill>
                  <a:srgbClr val="000000"/>
                </a:solidFill>
                <a:latin typeface="Aptos" panose="020B0004020202020204" pitchFamily="34" charset="0"/>
                <a:ea typeface="Inter" pitchFamily="34" charset="-122"/>
                <a:cs typeface="Inter" pitchFamily="34" charset="-120"/>
              </a:rPr>
              <a:t>Possible values</a:t>
            </a:r>
            <a:endParaRPr lang="en-US" sz="2000" dirty="0">
              <a:latin typeface="Aptos" panose="020B0004020202020204" pitchFamily="34" charset="0"/>
            </a:endParaRPr>
          </a:p>
        </p:txBody>
      </p:sp>
      <p:sp>
        <p:nvSpPr>
          <p:cNvPr id="10" name="Text 6">
            <a:extLst>
              <a:ext uri="{FF2B5EF4-FFF2-40B4-BE49-F238E27FC236}">
                <a16:creationId xmlns:a16="http://schemas.microsoft.com/office/drawing/2014/main" id="{A43068F2-0138-C7CB-98DC-BBA6CF3E734D}"/>
              </a:ext>
            </a:extLst>
          </p:cNvPr>
          <p:cNvSpPr/>
          <p:nvPr/>
        </p:nvSpPr>
        <p:spPr>
          <a:xfrm>
            <a:off x="661492" y="4807446"/>
            <a:ext cx="5203924" cy="302419"/>
          </a:xfrm>
          <a:prstGeom prst="rect">
            <a:avLst/>
          </a:prstGeom>
          <a:noFill/>
          <a:ln/>
        </p:spPr>
        <p:txBody>
          <a:bodyPr wrap="none" lIns="0" tIns="0" rIns="0" bIns="0" rtlCol="0" anchor="t"/>
          <a:lstStyle/>
          <a:p>
            <a:pPr marL="285739" indent="-285739">
              <a:lnSpc>
                <a:spcPts val="2375"/>
              </a:lnSpc>
              <a:buSzPct val="100000"/>
              <a:buChar char="•"/>
            </a:pPr>
            <a:r>
              <a:rPr lang="en-US" sz="2000" dirty="0">
                <a:solidFill>
                  <a:srgbClr val="000000"/>
                </a:solidFill>
                <a:latin typeface="Aptos" panose="020B0004020202020204" pitchFamily="34" charset="0"/>
                <a:ea typeface="Inter" pitchFamily="34" charset="-122"/>
                <a:cs typeface="Inter" pitchFamily="34" charset="-120"/>
              </a:rPr>
              <a:t>How data was collected</a:t>
            </a:r>
            <a:endParaRPr lang="en-US" sz="2000" dirty="0">
              <a:latin typeface="Aptos" panose="020B0004020202020204" pitchFamily="34" charset="0"/>
            </a:endParaRPr>
          </a:p>
        </p:txBody>
      </p:sp>
      <p:sp>
        <p:nvSpPr>
          <p:cNvPr id="11" name="Text 7">
            <a:extLst>
              <a:ext uri="{FF2B5EF4-FFF2-40B4-BE49-F238E27FC236}">
                <a16:creationId xmlns:a16="http://schemas.microsoft.com/office/drawing/2014/main" id="{3942521F-F170-06E7-F75F-00A894926B3E}"/>
              </a:ext>
            </a:extLst>
          </p:cNvPr>
          <p:cNvSpPr/>
          <p:nvPr/>
        </p:nvSpPr>
        <p:spPr>
          <a:xfrm>
            <a:off x="7118747" y="2973982"/>
            <a:ext cx="2362696" cy="295275"/>
          </a:xfrm>
          <a:prstGeom prst="rect">
            <a:avLst/>
          </a:prstGeom>
          <a:noFill/>
          <a:ln/>
        </p:spPr>
        <p:txBody>
          <a:bodyPr wrap="none" lIns="0" tIns="0" rIns="0" bIns="0" rtlCol="0" anchor="t"/>
          <a:lstStyle/>
          <a:p>
            <a:pPr>
              <a:lnSpc>
                <a:spcPts val="2292"/>
              </a:lnSpc>
            </a:pPr>
            <a:r>
              <a:rPr lang="en-US" sz="2800" b="1" dirty="0">
                <a:solidFill>
                  <a:srgbClr val="000000"/>
                </a:solidFill>
                <a:latin typeface="Aptos" panose="020B0004020202020204" pitchFamily="34" charset="0"/>
                <a:ea typeface="Playfair Display Bold" pitchFamily="34" charset="-122"/>
                <a:cs typeface="Playfair Display Bold" pitchFamily="34" charset="-120"/>
              </a:rPr>
              <a:t>Why It Matters</a:t>
            </a:r>
            <a:endParaRPr lang="en-US" sz="2800" dirty="0">
              <a:latin typeface="Aptos" panose="020B0004020202020204" pitchFamily="34" charset="0"/>
            </a:endParaRPr>
          </a:p>
        </p:txBody>
      </p:sp>
      <p:sp>
        <p:nvSpPr>
          <p:cNvPr id="12" name="Text 8">
            <a:extLst>
              <a:ext uri="{FF2B5EF4-FFF2-40B4-BE49-F238E27FC236}">
                <a16:creationId xmlns:a16="http://schemas.microsoft.com/office/drawing/2014/main" id="{BFA37100-2AB8-91C7-9D78-D81CEFF1B033}"/>
              </a:ext>
            </a:extLst>
          </p:cNvPr>
          <p:cNvSpPr/>
          <p:nvPr/>
        </p:nvSpPr>
        <p:spPr>
          <a:xfrm>
            <a:off x="7118747" y="3458269"/>
            <a:ext cx="5203924" cy="604838"/>
          </a:xfrm>
          <a:prstGeom prst="rect">
            <a:avLst/>
          </a:prstGeom>
          <a:noFill/>
          <a:ln/>
        </p:spPr>
        <p:txBody>
          <a:bodyPr wrap="square" lIns="0" tIns="0" rIns="0" bIns="0" rtlCol="0" anchor="t"/>
          <a:lstStyle/>
          <a:p>
            <a:pPr>
              <a:lnSpc>
                <a:spcPts val="2375"/>
              </a:lnSpc>
            </a:pPr>
            <a:r>
              <a:rPr lang="en-US" sz="2000" dirty="0">
                <a:solidFill>
                  <a:srgbClr val="000000"/>
                </a:solidFill>
                <a:latin typeface="Aptos" panose="020B0004020202020204" pitchFamily="34" charset="0"/>
                <a:ea typeface="Inter" pitchFamily="34" charset="-122"/>
                <a:cs typeface="Inter" pitchFamily="34" charset="-120"/>
              </a:rPr>
              <a:t>Without proper documentation, it's easy to misinterpret data.</a:t>
            </a:r>
            <a:endParaRPr lang="en-US" sz="2000" dirty="0">
              <a:latin typeface="Aptos" panose="020B0004020202020204" pitchFamily="34" charset="0"/>
            </a:endParaRPr>
          </a:p>
        </p:txBody>
      </p:sp>
      <p:sp>
        <p:nvSpPr>
          <p:cNvPr id="13" name="Text 9">
            <a:extLst>
              <a:ext uri="{FF2B5EF4-FFF2-40B4-BE49-F238E27FC236}">
                <a16:creationId xmlns:a16="http://schemas.microsoft.com/office/drawing/2014/main" id="{C442B00D-E2F1-2692-F97C-58C89FF15521}"/>
              </a:ext>
            </a:extLst>
          </p:cNvPr>
          <p:cNvSpPr/>
          <p:nvPr/>
        </p:nvSpPr>
        <p:spPr>
          <a:xfrm>
            <a:off x="7118747" y="4233167"/>
            <a:ext cx="5203924" cy="604838"/>
          </a:xfrm>
          <a:prstGeom prst="rect">
            <a:avLst/>
          </a:prstGeom>
          <a:noFill/>
          <a:ln/>
        </p:spPr>
        <p:txBody>
          <a:bodyPr wrap="square" lIns="0" tIns="0" rIns="0" bIns="0" rtlCol="0" anchor="t"/>
          <a:lstStyle/>
          <a:p>
            <a:pPr>
              <a:lnSpc>
                <a:spcPts val="2375"/>
              </a:lnSpc>
            </a:pPr>
            <a:r>
              <a:rPr lang="en-US" sz="2000" dirty="0">
                <a:solidFill>
                  <a:srgbClr val="000000"/>
                </a:solidFill>
                <a:latin typeface="Aptos" panose="020B0004020202020204" pitchFamily="34" charset="0"/>
                <a:ea typeface="Inter" pitchFamily="34" charset="-122"/>
                <a:cs typeface="Inter" pitchFamily="34" charset="-120"/>
              </a:rPr>
              <a:t>Example: A column labeled "Temp" could be Celsius or Fahrenheit - a huge difference!</a:t>
            </a:r>
            <a:endParaRPr lang="en-US" sz="2000" dirty="0">
              <a:latin typeface="Aptos" panose="020B0004020202020204" pitchFamily="34" charset="0"/>
            </a:endParaRPr>
          </a:p>
        </p:txBody>
      </p:sp>
    </p:spTree>
    <p:extLst>
      <p:ext uri="{BB962C8B-B14F-4D97-AF65-F5344CB8AC3E}">
        <p14:creationId xmlns:p14="http://schemas.microsoft.com/office/powerpoint/2010/main" val="133261187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99FEF6-16B0-2CFA-DAE6-29E15C362DF6}"/>
              </a:ext>
            </a:extLst>
          </p:cNvPr>
          <p:cNvSpPr>
            <a:spLocks noGrp="1"/>
          </p:cNvSpPr>
          <p:nvPr>
            <p:ph type="title"/>
          </p:nvPr>
        </p:nvSpPr>
        <p:spPr>
          <a:xfrm>
            <a:off x="3729038" y="1099100"/>
            <a:ext cx="7624762" cy="1325563"/>
          </a:xfrm>
        </p:spPr>
        <p:txBody>
          <a:bodyPr/>
          <a:lstStyle/>
          <a:p>
            <a:r>
              <a:rPr lang="en-US" dirty="0"/>
              <a:t>Data Integration Errors</a:t>
            </a:r>
          </a:p>
        </p:txBody>
      </p:sp>
      <p:pic>
        <p:nvPicPr>
          <p:cNvPr id="4" name="Image 0" descr="preencoded.png">
            <a:extLst>
              <a:ext uri="{FF2B5EF4-FFF2-40B4-BE49-F238E27FC236}">
                <a16:creationId xmlns:a16="http://schemas.microsoft.com/office/drawing/2014/main" id="{FE5C3986-5326-2BA9-CE28-F13B6DC34156}"/>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71450" y="1250156"/>
            <a:ext cx="3557588" cy="5336382"/>
          </a:xfrm>
          <a:prstGeom prst="rect">
            <a:avLst/>
          </a:prstGeom>
        </p:spPr>
      </p:pic>
      <p:pic>
        <p:nvPicPr>
          <p:cNvPr id="5" name="Image 1" descr="preencoded.png">
            <a:extLst>
              <a:ext uri="{FF2B5EF4-FFF2-40B4-BE49-F238E27FC236}">
                <a16:creationId xmlns:a16="http://schemas.microsoft.com/office/drawing/2014/main" id="{2A9ED5B3-AFB1-4110-C0A9-E50C81DC4850}"/>
              </a:ext>
            </a:extLst>
          </p:cNvPr>
          <p:cNvPicPr>
            <a:picLocks noChangeAspect="1"/>
          </p:cNvPicPr>
          <p:nvPr/>
        </p:nvPicPr>
        <p:blipFill>
          <a:blip r:embed="rId3"/>
          <a:stretch>
            <a:fillRect/>
          </a:stretch>
        </p:blipFill>
        <p:spPr>
          <a:xfrm>
            <a:off x="4199532" y="2210372"/>
            <a:ext cx="945058" cy="1134070"/>
          </a:xfrm>
          <a:prstGeom prst="rect">
            <a:avLst/>
          </a:prstGeom>
        </p:spPr>
      </p:pic>
      <p:sp>
        <p:nvSpPr>
          <p:cNvPr id="6" name="Text 1">
            <a:extLst>
              <a:ext uri="{FF2B5EF4-FFF2-40B4-BE49-F238E27FC236}">
                <a16:creationId xmlns:a16="http://schemas.microsoft.com/office/drawing/2014/main" id="{A0AFFE35-3A82-C04D-870C-9F0DDA41EA80}"/>
              </a:ext>
            </a:extLst>
          </p:cNvPr>
          <p:cNvSpPr/>
          <p:nvPr/>
        </p:nvSpPr>
        <p:spPr>
          <a:xfrm>
            <a:off x="5428059" y="2399384"/>
            <a:ext cx="2406749" cy="295275"/>
          </a:xfrm>
          <a:prstGeom prst="rect">
            <a:avLst/>
          </a:prstGeom>
          <a:noFill/>
          <a:ln/>
        </p:spPr>
        <p:txBody>
          <a:bodyPr wrap="none" lIns="0" tIns="0" rIns="0" bIns="0" rtlCol="0" anchor="t"/>
          <a:lstStyle/>
          <a:p>
            <a:pPr>
              <a:lnSpc>
                <a:spcPts val="2292"/>
              </a:lnSpc>
            </a:pPr>
            <a:r>
              <a:rPr lang="en-US" sz="2400" b="1" dirty="0">
                <a:solidFill>
                  <a:srgbClr val="000000"/>
                </a:solidFill>
                <a:latin typeface="Aptos" panose="020B0004020202020204" pitchFamily="34" charset="0"/>
                <a:ea typeface="Playfair Display Bold" pitchFamily="34" charset="-122"/>
                <a:cs typeface="Playfair Display Bold" pitchFamily="34" charset="-120"/>
              </a:rPr>
              <a:t>Multiple Data Sources</a:t>
            </a:r>
            <a:endParaRPr lang="en-US" sz="2400" dirty="0">
              <a:latin typeface="Aptos" panose="020B0004020202020204" pitchFamily="34" charset="0"/>
            </a:endParaRPr>
          </a:p>
        </p:txBody>
      </p:sp>
      <p:sp>
        <p:nvSpPr>
          <p:cNvPr id="7" name="Text 2">
            <a:extLst>
              <a:ext uri="{FF2B5EF4-FFF2-40B4-BE49-F238E27FC236}">
                <a16:creationId xmlns:a16="http://schemas.microsoft.com/office/drawing/2014/main" id="{80756194-D6AB-16F4-BCB5-61E973BB65B8}"/>
              </a:ext>
            </a:extLst>
          </p:cNvPr>
          <p:cNvSpPr/>
          <p:nvPr/>
        </p:nvSpPr>
        <p:spPr>
          <a:xfrm>
            <a:off x="5428059" y="2808066"/>
            <a:ext cx="5068491" cy="302419"/>
          </a:xfrm>
          <a:prstGeom prst="rect">
            <a:avLst/>
          </a:prstGeom>
          <a:noFill/>
          <a:ln/>
        </p:spPr>
        <p:txBody>
          <a:bodyPr wrap="none" lIns="0" tIns="0" rIns="0" bIns="0" rtlCol="0" anchor="t"/>
          <a:lstStyle/>
          <a:p>
            <a:pPr>
              <a:lnSpc>
                <a:spcPts val="2375"/>
              </a:lnSpc>
            </a:pPr>
            <a:r>
              <a:rPr lang="en-US" dirty="0">
                <a:solidFill>
                  <a:srgbClr val="000000"/>
                </a:solidFill>
                <a:latin typeface="Aptos" panose="020B0004020202020204" pitchFamily="34" charset="0"/>
                <a:ea typeface="Inter" pitchFamily="34" charset="-122"/>
                <a:cs typeface="Inter" pitchFamily="34" charset="-120"/>
              </a:rPr>
              <a:t>Combining data from different spreadsheets or systems.</a:t>
            </a:r>
            <a:endParaRPr lang="en-US" dirty="0">
              <a:latin typeface="Aptos" panose="020B0004020202020204" pitchFamily="34" charset="0"/>
            </a:endParaRPr>
          </a:p>
        </p:txBody>
      </p:sp>
      <p:pic>
        <p:nvPicPr>
          <p:cNvPr id="8" name="Image 2" descr="preencoded.png">
            <a:extLst>
              <a:ext uri="{FF2B5EF4-FFF2-40B4-BE49-F238E27FC236}">
                <a16:creationId xmlns:a16="http://schemas.microsoft.com/office/drawing/2014/main" id="{CCE2E5A8-7F16-4DFD-969A-CE23479C3B6A}"/>
              </a:ext>
            </a:extLst>
          </p:cNvPr>
          <p:cNvPicPr>
            <a:picLocks noChangeAspect="1"/>
          </p:cNvPicPr>
          <p:nvPr/>
        </p:nvPicPr>
        <p:blipFill>
          <a:blip r:embed="rId4"/>
          <a:stretch>
            <a:fillRect/>
          </a:stretch>
        </p:blipFill>
        <p:spPr>
          <a:xfrm>
            <a:off x="4199532" y="3344442"/>
            <a:ext cx="945058" cy="1391543"/>
          </a:xfrm>
          <a:prstGeom prst="rect">
            <a:avLst/>
          </a:prstGeom>
        </p:spPr>
      </p:pic>
      <p:sp>
        <p:nvSpPr>
          <p:cNvPr id="9" name="Text 3">
            <a:extLst>
              <a:ext uri="{FF2B5EF4-FFF2-40B4-BE49-F238E27FC236}">
                <a16:creationId xmlns:a16="http://schemas.microsoft.com/office/drawing/2014/main" id="{A0504E26-4044-EA4D-C795-03162B35DB87}"/>
              </a:ext>
            </a:extLst>
          </p:cNvPr>
          <p:cNvSpPr/>
          <p:nvPr/>
        </p:nvSpPr>
        <p:spPr>
          <a:xfrm>
            <a:off x="5428059" y="3533454"/>
            <a:ext cx="2362696" cy="295275"/>
          </a:xfrm>
          <a:prstGeom prst="rect">
            <a:avLst/>
          </a:prstGeom>
          <a:noFill/>
          <a:ln/>
        </p:spPr>
        <p:txBody>
          <a:bodyPr wrap="none" lIns="0" tIns="0" rIns="0" bIns="0" rtlCol="0" anchor="t"/>
          <a:lstStyle/>
          <a:p>
            <a:pPr>
              <a:lnSpc>
                <a:spcPts val="2292"/>
              </a:lnSpc>
            </a:pPr>
            <a:r>
              <a:rPr lang="en-US" sz="2400" b="1" dirty="0">
                <a:solidFill>
                  <a:srgbClr val="000000"/>
                </a:solidFill>
                <a:latin typeface="Aptos" panose="020B0004020202020204" pitchFamily="34" charset="0"/>
                <a:ea typeface="Playfair Display Bold" pitchFamily="34" charset="-122"/>
                <a:cs typeface="Playfair Display Bold" pitchFamily="34" charset="-120"/>
              </a:rPr>
              <a:t>Mismatched Records</a:t>
            </a:r>
            <a:endParaRPr lang="en-US" sz="2400" dirty="0">
              <a:latin typeface="Aptos" panose="020B0004020202020204" pitchFamily="34" charset="0"/>
            </a:endParaRPr>
          </a:p>
        </p:txBody>
      </p:sp>
      <p:sp>
        <p:nvSpPr>
          <p:cNvPr id="10" name="Text 4">
            <a:extLst>
              <a:ext uri="{FF2B5EF4-FFF2-40B4-BE49-F238E27FC236}">
                <a16:creationId xmlns:a16="http://schemas.microsoft.com/office/drawing/2014/main" id="{10860054-7B80-613A-42C6-C1E4971BD52F}"/>
              </a:ext>
            </a:extLst>
          </p:cNvPr>
          <p:cNvSpPr/>
          <p:nvPr/>
        </p:nvSpPr>
        <p:spPr>
          <a:xfrm>
            <a:off x="5428059" y="3942135"/>
            <a:ext cx="5068491" cy="604838"/>
          </a:xfrm>
          <a:prstGeom prst="rect">
            <a:avLst/>
          </a:prstGeom>
          <a:noFill/>
          <a:ln/>
        </p:spPr>
        <p:txBody>
          <a:bodyPr wrap="square" lIns="0" tIns="0" rIns="0" bIns="0" rtlCol="0" anchor="t"/>
          <a:lstStyle/>
          <a:p>
            <a:pPr>
              <a:lnSpc>
                <a:spcPts val="2375"/>
              </a:lnSpc>
            </a:pPr>
            <a:r>
              <a:rPr lang="en-US" dirty="0">
                <a:solidFill>
                  <a:srgbClr val="000000"/>
                </a:solidFill>
                <a:latin typeface="Aptos" panose="020B0004020202020204" pitchFamily="34" charset="0"/>
                <a:ea typeface="Inter" pitchFamily="34" charset="-122"/>
                <a:cs typeface="Inter" pitchFamily="34" charset="-120"/>
              </a:rPr>
              <a:t>Student names get paired with wrong test scores during merging.</a:t>
            </a:r>
            <a:endParaRPr lang="en-US" dirty="0">
              <a:latin typeface="Aptos" panose="020B0004020202020204" pitchFamily="34" charset="0"/>
            </a:endParaRPr>
          </a:p>
        </p:txBody>
      </p:sp>
      <p:pic>
        <p:nvPicPr>
          <p:cNvPr id="11" name="Image 3" descr="preencoded.png">
            <a:extLst>
              <a:ext uri="{FF2B5EF4-FFF2-40B4-BE49-F238E27FC236}">
                <a16:creationId xmlns:a16="http://schemas.microsoft.com/office/drawing/2014/main" id="{8E07FD4F-0B9A-92EF-F4D0-7DF49EA5F143}"/>
              </a:ext>
            </a:extLst>
          </p:cNvPr>
          <p:cNvPicPr>
            <a:picLocks noChangeAspect="1"/>
          </p:cNvPicPr>
          <p:nvPr/>
        </p:nvPicPr>
        <p:blipFill>
          <a:blip r:embed="rId5"/>
          <a:stretch>
            <a:fillRect/>
          </a:stretch>
        </p:blipFill>
        <p:spPr>
          <a:xfrm>
            <a:off x="4199532" y="4735985"/>
            <a:ext cx="945058" cy="1391543"/>
          </a:xfrm>
          <a:prstGeom prst="rect">
            <a:avLst/>
          </a:prstGeom>
        </p:spPr>
      </p:pic>
      <p:sp>
        <p:nvSpPr>
          <p:cNvPr id="12" name="Text 5">
            <a:extLst>
              <a:ext uri="{FF2B5EF4-FFF2-40B4-BE49-F238E27FC236}">
                <a16:creationId xmlns:a16="http://schemas.microsoft.com/office/drawing/2014/main" id="{4F8A90F5-3621-08AD-F6DE-E9A38FDCE24B}"/>
              </a:ext>
            </a:extLst>
          </p:cNvPr>
          <p:cNvSpPr/>
          <p:nvPr/>
        </p:nvSpPr>
        <p:spPr>
          <a:xfrm>
            <a:off x="5428059" y="4924997"/>
            <a:ext cx="2362696" cy="295275"/>
          </a:xfrm>
          <a:prstGeom prst="rect">
            <a:avLst/>
          </a:prstGeom>
          <a:noFill/>
          <a:ln/>
        </p:spPr>
        <p:txBody>
          <a:bodyPr wrap="none" lIns="0" tIns="0" rIns="0" bIns="0" rtlCol="0" anchor="t"/>
          <a:lstStyle/>
          <a:p>
            <a:pPr>
              <a:lnSpc>
                <a:spcPts val="2292"/>
              </a:lnSpc>
            </a:pPr>
            <a:r>
              <a:rPr lang="en-US" sz="2400" b="1" dirty="0">
                <a:solidFill>
                  <a:srgbClr val="000000"/>
                </a:solidFill>
                <a:latin typeface="Aptos" panose="020B0004020202020204" pitchFamily="34" charset="0"/>
                <a:ea typeface="Playfair Display Bold" pitchFamily="34" charset="-122"/>
                <a:cs typeface="Playfair Display Bold" pitchFamily="34" charset="-120"/>
              </a:rPr>
              <a:t>Hidden Problems</a:t>
            </a:r>
            <a:endParaRPr lang="en-US" sz="2400" dirty="0">
              <a:latin typeface="Aptos" panose="020B0004020202020204" pitchFamily="34" charset="0"/>
            </a:endParaRPr>
          </a:p>
        </p:txBody>
      </p:sp>
      <p:sp>
        <p:nvSpPr>
          <p:cNvPr id="13" name="Text 6">
            <a:extLst>
              <a:ext uri="{FF2B5EF4-FFF2-40B4-BE49-F238E27FC236}">
                <a16:creationId xmlns:a16="http://schemas.microsoft.com/office/drawing/2014/main" id="{A0627AD5-AA81-C4BC-C1AC-068D27084D1F}"/>
              </a:ext>
            </a:extLst>
          </p:cNvPr>
          <p:cNvSpPr/>
          <p:nvPr/>
        </p:nvSpPr>
        <p:spPr>
          <a:xfrm>
            <a:off x="5428059" y="5333679"/>
            <a:ext cx="5068491" cy="604838"/>
          </a:xfrm>
          <a:prstGeom prst="rect">
            <a:avLst/>
          </a:prstGeom>
          <a:noFill/>
          <a:ln/>
        </p:spPr>
        <p:txBody>
          <a:bodyPr wrap="square" lIns="0" tIns="0" rIns="0" bIns="0" rtlCol="0" anchor="t"/>
          <a:lstStyle/>
          <a:p>
            <a:pPr>
              <a:lnSpc>
                <a:spcPts val="2375"/>
              </a:lnSpc>
            </a:pPr>
            <a:r>
              <a:rPr lang="en-US" dirty="0">
                <a:solidFill>
                  <a:srgbClr val="000000"/>
                </a:solidFill>
                <a:latin typeface="Aptos" panose="020B0004020202020204" pitchFamily="34" charset="0"/>
                <a:ea typeface="Inter" pitchFamily="34" charset="-122"/>
                <a:cs typeface="Inter" pitchFamily="34" charset="-120"/>
              </a:rPr>
              <a:t>Records look complete but contain incorrect information.</a:t>
            </a:r>
            <a:endParaRPr lang="en-US" dirty="0">
              <a:latin typeface="Aptos" panose="020B0004020202020204" pitchFamily="34" charset="0"/>
            </a:endParaRPr>
          </a:p>
        </p:txBody>
      </p:sp>
    </p:spTree>
    <p:extLst>
      <p:ext uri="{BB962C8B-B14F-4D97-AF65-F5344CB8AC3E}">
        <p14:creationId xmlns:p14="http://schemas.microsoft.com/office/powerpoint/2010/main" val="122223916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D451D2-C81F-AC7A-8708-66AC7E7B68BD}"/>
              </a:ext>
            </a:extLst>
          </p:cNvPr>
          <p:cNvSpPr>
            <a:spLocks noGrp="1"/>
          </p:cNvSpPr>
          <p:nvPr>
            <p:ph type="title"/>
          </p:nvPr>
        </p:nvSpPr>
        <p:spPr/>
        <p:txBody>
          <a:bodyPr/>
          <a:lstStyle/>
          <a:p>
            <a:r>
              <a:rPr lang="en-US" dirty="0"/>
              <a:t>Do you see any issues here?</a:t>
            </a:r>
          </a:p>
        </p:txBody>
      </p:sp>
      <p:pic>
        <p:nvPicPr>
          <p:cNvPr id="5" name="Content Placeholder 4" descr="A table with numbers and letters  AI-generated content may be incorrect.">
            <a:extLst>
              <a:ext uri="{FF2B5EF4-FFF2-40B4-BE49-F238E27FC236}">
                <a16:creationId xmlns:a16="http://schemas.microsoft.com/office/drawing/2014/main" id="{F155B7AC-F3C8-E97A-4D93-157A8F64C46D}"/>
              </a:ext>
            </a:extLst>
          </p:cNvPr>
          <p:cNvPicPr>
            <a:picLocks noGrp="1" noChangeAspect="1"/>
          </p:cNvPicPr>
          <p:nvPr>
            <p:ph idx="1"/>
          </p:nvPr>
        </p:nvPicPr>
        <p:blipFill>
          <a:blip r:embed="rId2" cstate="screen">
            <a:extLst>
              <a:ext uri="{28A0092B-C50C-407E-A947-70E740481C1C}">
                <a14:useLocalDpi xmlns:a14="http://schemas.microsoft.com/office/drawing/2010/main"/>
              </a:ext>
            </a:extLst>
          </a:blip>
          <a:srcRect/>
          <a:stretch/>
        </p:blipFill>
        <p:spPr>
          <a:xfrm>
            <a:off x="1717675" y="2531165"/>
            <a:ext cx="8447752" cy="3783910"/>
          </a:xfrm>
        </p:spPr>
      </p:pic>
    </p:spTree>
    <p:extLst>
      <p:ext uri="{BB962C8B-B14F-4D97-AF65-F5344CB8AC3E}">
        <p14:creationId xmlns:p14="http://schemas.microsoft.com/office/powerpoint/2010/main" val="46976916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4556E9-1C81-34C7-0EE6-6E8CBB20D57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836045D-61A0-41AD-207E-89DBA7539582}"/>
              </a:ext>
            </a:extLst>
          </p:cNvPr>
          <p:cNvSpPr>
            <a:spLocks noGrp="1"/>
          </p:cNvSpPr>
          <p:nvPr>
            <p:ph type="title"/>
          </p:nvPr>
        </p:nvSpPr>
        <p:spPr/>
        <p:txBody>
          <a:bodyPr/>
          <a:lstStyle/>
          <a:p>
            <a:r>
              <a:rPr lang="en-US" dirty="0"/>
              <a:t>Do you see any issues here?</a:t>
            </a:r>
          </a:p>
        </p:txBody>
      </p:sp>
      <p:pic>
        <p:nvPicPr>
          <p:cNvPr id="5" name="Content Placeholder 4" descr="A table with numbers and letters  AI-generated content may be incorrect.">
            <a:extLst>
              <a:ext uri="{FF2B5EF4-FFF2-40B4-BE49-F238E27FC236}">
                <a16:creationId xmlns:a16="http://schemas.microsoft.com/office/drawing/2014/main" id="{127BA628-13C9-FFF3-DA17-9903C4BF2024}"/>
              </a:ext>
            </a:extLst>
          </p:cNvPr>
          <p:cNvPicPr>
            <a:picLocks noGrp="1" noChangeAspect="1"/>
          </p:cNvPicPr>
          <p:nvPr>
            <p:ph idx="1"/>
          </p:nvPr>
        </p:nvPicPr>
        <p:blipFill>
          <a:blip r:embed="rId3" cstate="screen">
            <a:extLst>
              <a:ext uri="{28A0092B-C50C-407E-A947-70E740481C1C}">
                <a14:useLocalDpi xmlns:a14="http://schemas.microsoft.com/office/drawing/2010/main"/>
              </a:ext>
            </a:extLst>
          </a:blip>
          <a:srcRect/>
          <a:stretch/>
        </p:blipFill>
        <p:spPr>
          <a:xfrm>
            <a:off x="446087" y="2835965"/>
            <a:ext cx="6896538" cy="3064773"/>
          </a:xfrm>
        </p:spPr>
      </p:pic>
      <p:sp>
        <p:nvSpPr>
          <p:cNvPr id="4" name="TextBox 3">
            <a:extLst>
              <a:ext uri="{FF2B5EF4-FFF2-40B4-BE49-F238E27FC236}">
                <a16:creationId xmlns:a16="http://schemas.microsoft.com/office/drawing/2014/main" id="{0FC630B0-C6DF-5644-5635-E6591138F337}"/>
              </a:ext>
            </a:extLst>
          </p:cNvPr>
          <p:cNvSpPr txBox="1"/>
          <p:nvPr/>
        </p:nvSpPr>
        <p:spPr>
          <a:xfrm>
            <a:off x="7744240" y="2724701"/>
            <a:ext cx="4171535" cy="3477875"/>
          </a:xfrm>
          <a:prstGeom prst="rect">
            <a:avLst/>
          </a:prstGeom>
          <a:noFill/>
        </p:spPr>
        <p:txBody>
          <a:bodyPr wrap="square" rtlCol="0">
            <a:spAutoFit/>
          </a:bodyPr>
          <a:lstStyle/>
          <a:p>
            <a:pPr marL="285750" indent="-285750">
              <a:buFont typeface="Arial" panose="020B0604020202020204" pitchFamily="34" charset="0"/>
              <a:buChar char="•"/>
            </a:pPr>
            <a:r>
              <a:rPr lang="en-US" sz="2000" b="1" dirty="0"/>
              <a:t xml:space="preserve">Gender variable: </a:t>
            </a:r>
            <a:r>
              <a:rPr lang="en-US" sz="2000" dirty="0"/>
              <a:t>inconsistent &amp; missing &amp; trailing space</a:t>
            </a:r>
          </a:p>
          <a:p>
            <a:pPr marL="285750" indent="-285750">
              <a:buFont typeface="Arial" panose="020B0604020202020204" pitchFamily="34" charset="0"/>
              <a:buChar char="•"/>
            </a:pPr>
            <a:r>
              <a:rPr lang="en-US" sz="2000" b="1" dirty="0"/>
              <a:t xml:space="preserve">Age variable: </a:t>
            </a:r>
            <a:r>
              <a:rPr lang="en-US" sz="2000" dirty="0"/>
              <a:t>outlier and missing</a:t>
            </a:r>
          </a:p>
          <a:p>
            <a:pPr marL="285750" indent="-285750">
              <a:buFont typeface="Arial" panose="020B0604020202020204" pitchFamily="34" charset="0"/>
              <a:buChar char="•"/>
            </a:pPr>
            <a:r>
              <a:rPr lang="en-US" sz="2000" b="1" dirty="0"/>
              <a:t xml:space="preserve">Height: </a:t>
            </a:r>
            <a:r>
              <a:rPr lang="en-US" sz="2000" dirty="0"/>
              <a:t>mixed units, outlier, character in the numeric vector</a:t>
            </a:r>
          </a:p>
          <a:p>
            <a:pPr marL="285750" indent="-285750">
              <a:buFont typeface="Arial" panose="020B0604020202020204" pitchFamily="34" charset="0"/>
              <a:buChar char="•"/>
            </a:pPr>
            <a:r>
              <a:rPr lang="en-US" sz="2000" b="1" dirty="0"/>
              <a:t xml:space="preserve">Score: </a:t>
            </a:r>
            <a:r>
              <a:rPr lang="en-US" sz="2000" dirty="0"/>
              <a:t>missing as empty string</a:t>
            </a:r>
          </a:p>
          <a:p>
            <a:pPr marL="285750" indent="-285750">
              <a:buFont typeface="Arial" panose="020B0604020202020204" pitchFamily="34" charset="0"/>
              <a:buChar char="•"/>
            </a:pPr>
            <a:endParaRPr lang="en-US" sz="2000" dirty="0"/>
          </a:p>
          <a:p>
            <a:pPr marL="285750" indent="-285750">
              <a:buFont typeface="Arial" panose="020B0604020202020204" pitchFamily="34" charset="0"/>
              <a:buChar char="•"/>
            </a:pPr>
            <a:endParaRPr lang="en-US" sz="2000" dirty="0"/>
          </a:p>
          <a:p>
            <a:pPr marL="285750" indent="-285750">
              <a:buFont typeface="Arial" panose="020B0604020202020204" pitchFamily="34" charset="0"/>
              <a:buChar char="•"/>
            </a:pPr>
            <a:endParaRPr lang="en-US" sz="2000" dirty="0"/>
          </a:p>
          <a:p>
            <a:pPr marL="285750" indent="-285750">
              <a:buFont typeface="Arial" panose="020B0604020202020204" pitchFamily="34" charset="0"/>
              <a:buChar char="•"/>
            </a:pPr>
            <a:endParaRPr lang="en-US" sz="2000" dirty="0"/>
          </a:p>
          <a:p>
            <a:pPr marL="285750" indent="-285750">
              <a:buFont typeface="Arial" panose="020B0604020202020204" pitchFamily="34" charset="0"/>
              <a:buChar char="•"/>
            </a:pPr>
            <a:endParaRPr lang="en-US" sz="2000" dirty="0"/>
          </a:p>
        </p:txBody>
      </p:sp>
    </p:spTree>
    <p:extLst>
      <p:ext uri="{BB962C8B-B14F-4D97-AF65-F5344CB8AC3E}">
        <p14:creationId xmlns:p14="http://schemas.microsoft.com/office/powerpoint/2010/main" val="81190806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335B72-F018-F9D1-25DE-CE47A52ED4CC}"/>
              </a:ext>
            </a:extLst>
          </p:cNvPr>
          <p:cNvSpPr>
            <a:spLocks noGrp="1"/>
          </p:cNvSpPr>
          <p:nvPr>
            <p:ph type="title"/>
          </p:nvPr>
        </p:nvSpPr>
        <p:spPr/>
        <p:txBody>
          <a:bodyPr/>
          <a:lstStyle/>
          <a:p>
            <a:r>
              <a:rPr lang="en-US" dirty="0"/>
              <a:t>Why Dirty Data Matters</a:t>
            </a:r>
          </a:p>
        </p:txBody>
      </p:sp>
      <p:sp>
        <p:nvSpPr>
          <p:cNvPr id="4" name="Shape 1">
            <a:extLst>
              <a:ext uri="{FF2B5EF4-FFF2-40B4-BE49-F238E27FC236}">
                <a16:creationId xmlns:a16="http://schemas.microsoft.com/office/drawing/2014/main" id="{CEE718A9-178E-2BBE-A294-7CC79A1081FD}"/>
              </a:ext>
            </a:extLst>
          </p:cNvPr>
          <p:cNvSpPr/>
          <p:nvPr/>
        </p:nvSpPr>
        <p:spPr>
          <a:xfrm>
            <a:off x="838200" y="2424663"/>
            <a:ext cx="1811437" cy="1089124"/>
          </a:xfrm>
          <a:prstGeom prst="roundRect">
            <a:avLst>
              <a:gd name="adj" fmla="val 7289"/>
            </a:avLst>
          </a:prstGeom>
          <a:solidFill>
            <a:srgbClr val="CCEDFF"/>
          </a:solidFill>
          <a:ln w="7620">
            <a:solidFill>
              <a:srgbClr val="B2D3E5"/>
            </a:solidFill>
            <a:prstDash val="solid"/>
          </a:ln>
        </p:spPr>
        <p:txBody>
          <a:bodyPr/>
          <a:lstStyle/>
          <a:p>
            <a:endParaRPr lang="en-US" sz="2000">
              <a:latin typeface="Aptos" panose="020B0004020202020204" pitchFamily="34" charset="0"/>
            </a:endParaRPr>
          </a:p>
        </p:txBody>
      </p:sp>
      <p:pic>
        <p:nvPicPr>
          <p:cNvPr id="5" name="Image 0" descr="preencoded.png">
            <a:extLst>
              <a:ext uri="{FF2B5EF4-FFF2-40B4-BE49-F238E27FC236}">
                <a16:creationId xmlns:a16="http://schemas.microsoft.com/office/drawing/2014/main" id="{F5318B39-1552-86F8-0D47-509C0B67F0A7}"/>
              </a:ext>
            </a:extLst>
          </p:cNvPr>
          <p:cNvPicPr>
            <a:picLocks noChangeAspect="1"/>
          </p:cNvPicPr>
          <p:nvPr/>
        </p:nvPicPr>
        <p:blipFill>
          <a:blip r:embed="rId3"/>
          <a:stretch>
            <a:fillRect/>
          </a:stretch>
        </p:blipFill>
        <p:spPr>
          <a:xfrm>
            <a:off x="1611015" y="2836221"/>
            <a:ext cx="265807" cy="265807"/>
          </a:xfrm>
          <a:prstGeom prst="rect">
            <a:avLst/>
          </a:prstGeom>
        </p:spPr>
      </p:pic>
      <p:sp>
        <p:nvSpPr>
          <p:cNvPr id="6" name="Text 2">
            <a:extLst>
              <a:ext uri="{FF2B5EF4-FFF2-40B4-BE49-F238E27FC236}">
                <a16:creationId xmlns:a16="http://schemas.microsoft.com/office/drawing/2014/main" id="{C1195E19-C8F6-A863-04CA-E79CBE834A3D}"/>
              </a:ext>
            </a:extLst>
          </p:cNvPr>
          <p:cNvSpPr/>
          <p:nvPr/>
        </p:nvSpPr>
        <p:spPr>
          <a:xfrm>
            <a:off x="2838649" y="2613674"/>
            <a:ext cx="2362696" cy="295275"/>
          </a:xfrm>
          <a:prstGeom prst="rect">
            <a:avLst/>
          </a:prstGeom>
          <a:noFill/>
          <a:ln/>
        </p:spPr>
        <p:txBody>
          <a:bodyPr wrap="none" lIns="0" tIns="0" rIns="0" bIns="0" rtlCol="0" anchor="t"/>
          <a:lstStyle/>
          <a:p>
            <a:pPr>
              <a:lnSpc>
                <a:spcPts val="2292"/>
              </a:lnSpc>
            </a:pPr>
            <a:r>
              <a:rPr lang="en-US" sz="2800" b="1" dirty="0">
                <a:solidFill>
                  <a:srgbClr val="000000"/>
                </a:solidFill>
                <a:latin typeface="Aptos" panose="020B0004020202020204" pitchFamily="34" charset="0"/>
                <a:ea typeface="Playfair Display Bold" pitchFamily="34" charset="-122"/>
                <a:cs typeface="Playfair Display Bold" pitchFamily="34" charset="-120"/>
              </a:rPr>
              <a:t>Wrong Statistics</a:t>
            </a:r>
            <a:endParaRPr lang="en-US" sz="2800" dirty="0">
              <a:latin typeface="Aptos" panose="020B0004020202020204" pitchFamily="34" charset="0"/>
            </a:endParaRPr>
          </a:p>
        </p:txBody>
      </p:sp>
      <p:sp>
        <p:nvSpPr>
          <p:cNvPr id="7" name="Text 3">
            <a:extLst>
              <a:ext uri="{FF2B5EF4-FFF2-40B4-BE49-F238E27FC236}">
                <a16:creationId xmlns:a16="http://schemas.microsoft.com/office/drawing/2014/main" id="{AB2DCF6A-E81B-AE9E-E9CE-C87084C0391C}"/>
              </a:ext>
            </a:extLst>
          </p:cNvPr>
          <p:cNvSpPr/>
          <p:nvPr/>
        </p:nvSpPr>
        <p:spPr>
          <a:xfrm>
            <a:off x="2838650" y="3022356"/>
            <a:ext cx="5770959" cy="302419"/>
          </a:xfrm>
          <a:prstGeom prst="rect">
            <a:avLst/>
          </a:prstGeom>
          <a:noFill/>
          <a:ln/>
        </p:spPr>
        <p:txBody>
          <a:bodyPr wrap="none" lIns="0" tIns="0" rIns="0" bIns="0" rtlCol="0" anchor="t"/>
          <a:lstStyle/>
          <a:p>
            <a:pPr>
              <a:lnSpc>
                <a:spcPts val="2375"/>
              </a:lnSpc>
            </a:pPr>
            <a:r>
              <a:rPr lang="en-US" sz="2000" dirty="0">
                <a:solidFill>
                  <a:srgbClr val="000000"/>
                </a:solidFill>
                <a:latin typeface="Aptos" panose="020B0004020202020204" pitchFamily="34" charset="0"/>
                <a:ea typeface="Inter" pitchFamily="34" charset="-122"/>
                <a:cs typeface="Inter" pitchFamily="34" charset="-120"/>
              </a:rPr>
              <a:t>Errors lead to incorrect averages, counts, and other calculations.</a:t>
            </a:r>
            <a:endParaRPr lang="en-US" sz="2000" dirty="0">
              <a:latin typeface="Aptos" panose="020B0004020202020204" pitchFamily="34" charset="0"/>
            </a:endParaRPr>
          </a:p>
        </p:txBody>
      </p:sp>
      <p:sp>
        <p:nvSpPr>
          <p:cNvPr id="8" name="Shape 4">
            <a:extLst>
              <a:ext uri="{FF2B5EF4-FFF2-40B4-BE49-F238E27FC236}">
                <a16:creationId xmlns:a16="http://schemas.microsoft.com/office/drawing/2014/main" id="{0131193E-A46E-E3EB-F2AC-9CE05D20D54D}"/>
              </a:ext>
            </a:extLst>
          </p:cNvPr>
          <p:cNvSpPr/>
          <p:nvPr/>
        </p:nvSpPr>
        <p:spPr>
          <a:xfrm>
            <a:off x="2744093" y="3501086"/>
            <a:ext cx="8868668" cy="12700"/>
          </a:xfrm>
          <a:prstGeom prst="roundRect">
            <a:avLst>
              <a:gd name="adj" fmla="val 625116"/>
            </a:avLst>
          </a:prstGeom>
          <a:solidFill>
            <a:srgbClr val="B2D3E5"/>
          </a:solidFill>
          <a:ln/>
        </p:spPr>
        <p:txBody>
          <a:bodyPr/>
          <a:lstStyle/>
          <a:p>
            <a:endParaRPr lang="en-US" sz="2000">
              <a:latin typeface="Aptos" panose="020B0004020202020204" pitchFamily="34" charset="0"/>
            </a:endParaRPr>
          </a:p>
        </p:txBody>
      </p:sp>
      <p:sp>
        <p:nvSpPr>
          <p:cNvPr id="9" name="Shape 5">
            <a:extLst>
              <a:ext uri="{FF2B5EF4-FFF2-40B4-BE49-F238E27FC236}">
                <a16:creationId xmlns:a16="http://schemas.microsoft.com/office/drawing/2014/main" id="{AF20C3A3-74D5-40FF-30C5-5589C4FC76A1}"/>
              </a:ext>
            </a:extLst>
          </p:cNvPr>
          <p:cNvSpPr/>
          <p:nvPr/>
        </p:nvSpPr>
        <p:spPr>
          <a:xfrm>
            <a:off x="838201" y="3608243"/>
            <a:ext cx="3622973" cy="1089124"/>
          </a:xfrm>
          <a:prstGeom prst="roundRect">
            <a:avLst>
              <a:gd name="adj" fmla="val 7289"/>
            </a:avLst>
          </a:prstGeom>
          <a:solidFill>
            <a:srgbClr val="CCEDFF"/>
          </a:solidFill>
          <a:ln w="7620">
            <a:solidFill>
              <a:srgbClr val="B2D3E5"/>
            </a:solidFill>
            <a:prstDash val="solid"/>
          </a:ln>
        </p:spPr>
        <p:txBody>
          <a:bodyPr/>
          <a:lstStyle/>
          <a:p>
            <a:endParaRPr lang="en-US" sz="2000">
              <a:latin typeface="Aptos" panose="020B0004020202020204" pitchFamily="34" charset="0"/>
            </a:endParaRPr>
          </a:p>
        </p:txBody>
      </p:sp>
      <p:pic>
        <p:nvPicPr>
          <p:cNvPr id="10" name="Image 1" descr="preencoded.png">
            <a:extLst>
              <a:ext uri="{FF2B5EF4-FFF2-40B4-BE49-F238E27FC236}">
                <a16:creationId xmlns:a16="http://schemas.microsoft.com/office/drawing/2014/main" id="{6555C2D8-6ED4-BB5D-0935-802D3DDAA753}"/>
              </a:ext>
            </a:extLst>
          </p:cNvPr>
          <p:cNvPicPr>
            <a:picLocks noChangeAspect="1"/>
          </p:cNvPicPr>
          <p:nvPr/>
        </p:nvPicPr>
        <p:blipFill>
          <a:blip r:embed="rId4"/>
          <a:stretch>
            <a:fillRect/>
          </a:stretch>
        </p:blipFill>
        <p:spPr>
          <a:xfrm>
            <a:off x="2516783" y="3986663"/>
            <a:ext cx="265807" cy="332184"/>
          </a:xfrm>
          <a:prstGeom prst="rect">
            <a:avLst/>
          </a:prstGeom>
        </p:spPr>
      </p:pic>
      <p:sp>
        <p:nvSpPr>
          <p:cNvPr id="11" name="Text 6">
            <a:extLst>
              <a:ext uri="{FF2B5EF4-FFF2-40B4-BE49-F238E27FC236}">
                <a16:creationId xmlns:a16="http://schemas.microsoft.com/office/drawing/2014/main" id="{68BFDC69-5CC2-F548-AB41-F5CE8B0245B1}"/>
              </a:ext>
            </a:extLst>
          </p:cNvPr>
          <p:cNvSpPr/>
          <p:nvPr/>
        </p:nvSpPr>
        <p:spPr>
          <a:xfrm>
            <a:off x="4650185" y="3797254"/>
            <a:ext cx="2362696" cy="295275"/>
          </a:xfrm>
          <a:prstGeom prst="rect">
            <a:avLst/>
          </a:prstGeom>
          <a:noFill/>
          <a:ln/>
        </p:spPr>
        <p:txBody>
          <a:bodyPr wrap="none" lIns="0" tIns="0" rIns="0" bIns="0" rtlCol="0" anchor="t"/>
          <a:lstStyle/>
          <a:p>
            <a:pPr>
              <a:lnSpc>
                <a:spcPts val="2292"/>
              </a:lnSpc>
            </a:pPr>
            <a:r>
              <a:rPr lang="en-US" sz="2800" b="1" dirty="0">
                <a:solidFill>
                  <a:srgbClr val="000000"/>
                </a:solidFill>
                <a:latin typeface="Aptos" panose="020B0004020202020204" pitchFamily="34" charset="0"/>
                <a:ea typeface="Playfair Display Bold" pitchFamily="34" charset="-122"/>
                <a:cs typeface="Playfair Display Bold" pitchFamily="34" charset="-120"/>
              </a:rPr>
              <a:t>Software Errors</a:t>
            </a:r>
            <a:endParaRPr lang="en-US" sz="2800" dirty="0">
              <a:latin typeface="Aptos" panose="020B0004020202020204" pitchFamily="34" charset="0"/>
            </a:endParaRPr>
          </a:p>
        </p:txBody>
      </p:sp>
      <p:sp>
        <p:nvSpPr>
          <p:cNvPr id="12" name="Text 7">
            <a:extLst>
              <a:ext uri="{FF2B5EF4-FFF2-40B4-BE49-F238E27FC236}">
                <a16:creationId xmlns:a16="http://schemas.microsoft.com/office/drawing/2014/main" id="{7EEA5DC9-3E18-6ECB-5D38-50C4A643C287}"/>
              </a:ext>
            </a:extLst>
          </p:cNvPr>
          <p:cNvSpPr/>
          <p:nvPr/>
        </p:nvSpPr>
        <p:spPr>
          <a:xfrm>
            <a:off x="4650185" y="4205937"/>
            <a:ext cx="5781576" cy="302419"/>
          </a:xfrm>
          <a:prstGeom prst="rect">
            <a:avLst/>
          </a:prstGeom>
          <a:noFill/>
          <a:ln/>
        </p:spPr>
        <p:txBody>
          <a:bodyPr wrap="none" lIns="0" tIns="0" rIns="0" bIns="0" rtlCol="0" anchor="t"/>
          <a:lstStyle/>
          <a:p>
            <a:pPr>
              <a:lnSpc>
                <a:spcPts val="2375"/>
              </a:lnSpc>
            </a:pPr>
            <a:r>
              <a:rPr lang="en-US" sz="2000" dirty="0">
                <a:solidFill>
                  <a:srgbClr val="000000"/>
                </a:solidFill>
                <a:latin typeface="Aptos" panose="020B0004020202020204" pitchFamily="34" charset="0"/>
                <a:ea typeface="Inter" pitchFamily="34" charset="-122"/>
                <a:cs typeface="Inter" pitchFamily="34" charset="-120"/>
              </a:rPr>
              <a:t>Many analysis tools can't handle missing or incorrect data types.</a:t>
            </a:r>
            <a:endParaRPr lang="en-US" sz="2000" dirty="0">
              <a:latin typeface="Aptos" panose="020B0004020202020204" pitchFamily="34" charset="0"/>
            </a:endParaRPr>
          </a:p>
        </p:txBody>
      </p:sp>
      <p:sp>
        <p:nvSpPr>
          <p:cNvPr id="13" name="Shape 8">
            <a:extLst>
              <a:ext uri="{FF2B5EF4-FFF2-40B4-BE49-F238E27FC236}">
                <a16:creationId xmlns:a16="http://schemas.microsoft.com/office/drawing/2014/main" id="{5EABB61B-55E7-F01A-6662-283040EB4138}"/>
              </a:ext>
            </a:extLst>
          </p:cNvPr>
          <p:cNvSpPr/>
          <p:nvPr/>
        </p:nvSpPr>
        <p:spPr>
          <a:xfrm>
            <a:off x="4555629" y="4684666"/>
            <a:ext cx="7057132" cy="12700"/>
          </a:xfrm>
          <a:prstGeom prst="roundRect">
            <a:avLst>
              <a:gd name="adj" fmla="val 625116"/>
            </a:avLst>
          </a:prstGeom>
          <a:solidFill>
            <a:srgbClr val="B2D3E5"/>
          </a:solidFill>
          <a:ln/>
        </p:spPr>
        <p:txBody>
          <a:bodyPr/>
          <a:lstStyle/>
          <a:p>
            <a:endParaRPr lang="en-US" sz="2000">
              <a:latin typeface="Aptos" panose="020B0004020202020204" pitchFamily="34" charset="0"/>
            </a:endParaRPr>
          </a:p>
        </p:txBody>
      </p:sp>
      <p:sp>
        <p:nvSpPr>
          <p:cNvPr id="14" name="Shape 9">
            <a:extLst>
              <a:ext uri="{FF2B5EF4-FFF2-40B4-BE49-F238E27FC236}">
                <a16:creationId xmlns:a16="http://schemas.microsoft.com/office/drawing/2014/main" id="{DC535565-11F9-E71D-E654-B6ECBC1D1128}"/>
              </a:ext>
            </a:extLst>
          </p:cNvPr>
          <p:cNvSpPr/>
          <p:nvPr/>
        </p:nvSpPr>
        <p:spPr>
          <a:xfrm>
            <a:off x="838201" y="4791824"/>
            <a:ext cx="5434508" cy="1089124"/>
          </a:xfrm>
          <a:prstGeom prst="roundRect">
            <a:avLst>
              <a:gd name="adj" fmla="val 7289"/>
            </a:avLst>
          </a:prstGeom>
          <a:solidFill>
            <a:srgbClr val="CCEDFF"/>
          </a:solidFill>
          <a:ln w="7620">
            <a:solidFill>
              <a:srgbClr val="B2D3E5"/>
            </a:solidFill>
            <a:prstDash val="solid"/>
          </a:ln>
        </p:spPr>
        <p:txBody>
          <a:bodyPr/>
          <a:lstStyle/>
          <a:p>
            <a:endParaRPr lang="en-US" sz="2000">
              <a:latin typeface="Aptos" panose="020B0004020202020204" pitchFamily="34" charset="0"/>
            </a:endParaRPr>
          </a:p>
        </p:txBody>
      </p:sp>
      <p:pic>
        <p:nvPicPr>
          <p:cNvPr id="15" name="Image 2" descr="preencoded.png">
            <a:extLst>
              <a:ext uri="{FF2B5EF4-FFF2-40B4-BE49-F238E27FC236}">
                <a16:creationId xmlns:a16="http://schemas.microsoft.com/office/drawing/2014/main" id="{ADDD2328-5E77-5945-6D00-995D39B16D90}"/>
              </a:ext>
            </a:extLst>
          </p:cNvPr>
          <p:cNvPicPr>
            <a:picLocks noChangeAspect="1"/>
          </p:cNvPicPr>
          <p:nvPr/>
        </p:nvPicPr>
        <p:blipFill>
          <a:blip r:embed="rId5"/>
          <a:stretch>
            <a:fillRect/>
          </a:stretch>
        </p:blipFill>
        <p:spPr>
          <a:xfrm>
            <a:off x="3422551" y="5170244"/>
            <a:ext cx="265807" cy="332184"/>
          </a:xfrm>
          <a:prstGeom prst="rect">
            <a:avLst/>
          </a:prstGeom>
        </p:spPr>
      </p:pic>
      <p:sp>
        <p:nvSpPr>
          <p:cNvPr id="16" name="Text 10">
            <a:extLst>
              <a:ext uri="{FF2B5EF4-FFF2-40B4-BE49-F238E27FC236}">
                <a16:creationId xmlns:a16="http://schemas.microsoft.com/office/drawing/2014/main" id="{796651DE-92A9-346A-8201-BA408CE44AE9}"/>
              </a:ext>
            </a:extLst>
          </p:cNvPr>
          <p:cNvSpPr/>
          <p:nvPr/>
        </p:nvSpPr>
        <p:spPr>
          <a:xfrm>
            <a:off x="6461721" y="4980835"/>
            <a:ext cx="2362696" cy="295275"/>
          </a:xfrm>
          <a:prstGeom prst="rect">
            <a:avLst/>
          </a:prstGeom>
          <a:noFill/>
          <a:ln/>
        </p:spPr>
        <p:txBody>
          <a:bodyPr wrap="none" lIns="0" tIns="0" rIns="0" bIns="0" rtlCol="0" anchor="t"/>
          <a:lstStyle/>
          <a:p>
            <a:pPr>
              <a:lnSpc>
                <a:spcPts val="2292"/>
              </a:lnSpc>
            </a:pPr>
            <a:r>
              <a:rPr lang="en-US" sz="2800" b="1" dirty="0">
                <a:solidFill>
                  <a:srgbClr val="000000"/>
                </a:solidFill>
                <a:latin typeface="Aptos" panose="020B0004020202020204" pitchFamily="34" charset="0"/>
                <a:ea typeface="Playfair Display Bold" pitchFamily="34" charset="-122"/>
                <a:cs typeface="Playfair Display Bold" pitchFamily="34" charset="-120"/>
              </a:rPr>
              <a:t>Misinterpretations</a:t>
            </a:r>
            <a:endParaRPr lang="en-US" sz="2800" dirty="0">
              <a:latin typeface="Aptos" panose="020B0004020202020204" pitchFamily="34" charset="0"/>
            </a:endParaRPr>
          </a:p>
        </p:txBody>
      </p:sp>
      <p:sp>
        <p:nvSpPr>
          <p:cNvPr id="17" name="Text 11">
            <a:extLst>
              <a:ext uri="{FF2B5EF4-FFF2-40B4-BE49-F238E27FC236}">
                <a16:creationId xmlns:a16="http://schemas.microsoft.com/office/drawing/2014/main" id="{779D94CA-D927-18BF-95E3-22BC97523334}"/>
              </a:ext>
            </a:extLst>
          </p:cNvPr>
          <p:cNvSpPr/>
          <p:nvPr/>
        </p:nvSpPr>
        <p:spPr>
          <a:xfrm>
            <a:off x="6461721" y="5389517"/>
            <a:ext cx="4587776" cy="1089124"/>
          </a:xfrm>
          <a:prstGeom prst="rect">
            <a:avLst/>
          </a:prstGeom>
          <a:noFill/>
          <a:ln/>
        </p:spPr>
        <p:txBody>
          <a:bodyPr wrap="none" lIns="0" tIns="0" rIns="0" bIns="0" rtlCol="0" anchor="t"/>
          <a:lstStyle/>
          <a:p>
            <a:pPr>
              <a:lnSpc>
                <a:spcPts val="2375"/>
              </a:lnSpc>
            </a:pPr>
            <a:r>
              <a:rPr lang="en-US" sz="2000" dirty="0">
                <a:solidFill>
                  <a:srgbClr val="000000"/>
                </a:solidFill>
                <a:latin typeface="Aptos" panose="020B0004020202020204" pitchFamily="34" charset="0"/>
                <a:ea typeface="Inter" pitchFamily="34" charset="-122"/>
                <a:cs typeface="Inter" pitchFamily="34" charset="-120"/>
              </a:rPr>
              <a:t xml:space="preserve">Bad data leads to false conclusions and </a:t>
            </a:r>
          </a:p>
          <a:p>
            <a:pPr>
              <a:lnSpc>
                <a:spcPts val="2375"/>
              </a:lnSpc>
            </a:pPr>
            <a:r>
              <a:rPr lang="en-US" sz="2000" dirty="0">
                <a:solidFill>
                  <a:srgbClr val="000000"/>
                </a:solidFill>
                <a:latin typeface="Aptos" panose="020B0004020202020204" pitchFamily="34" charset="0"/>
                <a:ea typeface="Inter" pitchFamily="34" charset="-122"/>
                <a:cs typeface="Inter" pitchFamily="34" charset="-120"/>
              </a:rPr>
              <a:t>poor decisions.</a:t>
            </a:r>
            <a:endParaRPr lang="en-US" sz="2000" dirty="0">
              <a:latin typeface="Aptos" panose="020B0004020202020204" pitchFamily="34" charset="0"/>
            </a:endParaRPr>
          </a:p>
        </p:txBody>
      </p:sp>
    </p:spTree>
    <p:extLst>
      <p:ext uri="{BB962C8B-B14F-4D97-AF65-F5344CB8AC3E}">
        <p14:creationId xmlns:p14="http://schemas.microsoft.com/office/powerpoint/2010/main" val="159878835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59A57-19A1-1EBF-8331-DE352DCCF0CF}"/>
              </a:ext>
            </a:extLst>
          </p:cNvPr>
          <p:cNvSpPr>
            <a:spLocks noGrp="1"/>
          </p:cNvSpPr>
          <p:nvPr>
            <p:ph type="ctrTitle"/>
          </p:nvPr>
        </p:nvSpPr>
        <p:spPr/>
        <p:txBody>
          <a:bodyPr/>
          <a:lstStyle/>
          <a:p>
            <a:r>
              <a:rPr lang="en-US" dirty="0"/>
              <a:t>Chapter 6</a:t>
            </a:r>
          </a:p>
        </p:txBody>
      </p:sp>
      <p:sp>
        <p:nvSpPr>
          <p:cNvPr id="3" name="Subtitle 2">
            <a:extLst>
              <a:ext uri="{FF2B5EF4-FFF2-40B4-BE49-F238E27FC236}">
                <a16:creationId xmlns:a16="http://schemas.microsoft.com/office/drawing/2014/main" id="{18B71520-6C4A-B2A3-9182-CD451DE02863}"/>
              </a:ext>
            </a:extLst>
          </p:cNvPr>
          <p:cNvSpPr>
            <a:spLocks noGrp="1"/>
          </p:cNvSpPr>
          <p:nvPr>
            <p:ph type="subTitle" idx="1"/>
          </p:nvPr>
        </p:nvSpPr>
        <p:spPr/>
        <p:txBody>
          <a:bodyPr/>
          <a:lstStyle/>
          <a:p>
            <a:r>
              <a:rPr lang="en-US" dirty="0"/>
              <a:t>Strategies for Cleaning Data</a:t>
            </a:r>
          </a:p>
          <a:p>
            <a:endParaRPr lang="en-US" dirty="0"/>
          </a:p>
        </p:txBody>
      </p:sp>
    </p:spTree>
    <p:extLst>
      <p:ext uri="{BB962C8B-B14F-4D97-AF65-F5344CB8AC3E}">
        <p14:creationId xmlns:p14="http://schemas.microsoft.com/office/powerpoint/2010/main" val="60841909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84E899-4F4C-6AA2-051F-26E4A1E74F27}"/>
              </a:ext>
            </a:extLst>
          </p:cNvPr>
          <p:cNvSpPr>
            <a:spLocks noGrp="1"/>
          </p:cNvSpPr>
          <p:nvPr>
            <p:ph type="title"/>
          </p:nvPr>
        </p:nvSpPr>
        <p:spPr/>
        <p:txBody>
          <a:bodyPr/>
          <a:lstStyle/>
          <a:p>
            <a:r>
              <a:rPr lang="en-US" dirty="0"/>
              <a:t>Strategies for Cleaning Data</a:t>
            </a:r>
          </a:p>
        </p:txBody>
      </p:sp>
      <p:graphicFrame>
        <p:nvGraphicFramePr>
          <p:cNvPr id="4" name="Content Placeholder 3">
            <a:extLst>
              <a:ext uri="{FF2B5EF4-FFF2-40B4-BE49-F238E27FC236}">
                <a16:creationId xmlns:a16="http://schemas.microsoft.com/office/drawing/2014/main" id="{5442E907-A648-F1AB-4420-2A3E0E86814D}"/>
              </a:ext>
            </a:extLst>
          </p:cNvPr>
          <p:cNvGraphicFramePr>
            <a:graphicFrameLocks noGrp="1"/>
          </p:cNvGraphicFramePr>
          <p:nvPr>
            <p:ph idx="1"/>
            <p:extLst>
              <p:ext uri="{D42A27DB-BD31-4B8C-83A1-F6EECF244321}">
                <p14:modId xmlns:p14="http://schemas.microsoft.com/office/powerpoint/2010/main" val="2106972685"/>
              </p:ext>
            </p:extLst>
          </p:nvPr>
        </p:nvGraphicFramePr>
        <p:xfrm>
          <a:off x="838200" y="2214564"/>
          <a:ext cx="10515600" cy="424338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27207204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60AAA8-EA5E-AD46-DEDA-BAA14264E93F}"/>
              </a:ext>
            </a:extLst>
          </p:cNvPr>
          <p:cNvSpPr>
            <a:spLocks noGrp="1"/>
          </p:cNvSpPr>
          <p:nvPr>
            <p:ph type="title"/>
          </p:nvPr>
        </p:nvSpPr>
        <p:spPr/>
        <p:txBody>
          <a:bodyPr/>
          <a:lstStyle/>
          <a:p>
            <a:r>
              <a:rPr lang="en-US" dirty="0"/>
              <a:t>Data Validation</a:t>
            </a:r>
          </a:p>
        </p:txBody>
      </p:sp>
      <p:sp>
        <p:nvSpPr>
          <p:cNvPr id="5" name="Shape 1">
            <a:extLst>
              <a:ext uri="{FF2B5EF4-FFF2-40B4-BE49-F238E27FC236}">
                <a16:creationId xmlns:a16="http://schemas.microsoft.com/office/drawing/2014/main" id="{EB44C47C-E6D9-13F5-3896-0E0ABD61AA17}"/>
              </a:ext>
            </a:extLst>
          </p:cNvPr>
          <p:cNvSpPr/>
          <p:nvPr/>
        </p:nvSpPr>
        <p:spPr>
          <a:xfrm>
            <a:off x="718641" y="2371655"/>
            <a:ext cx="425252" cy="425252"/>
          </a:xfrm>
          <a:prstGeom prst="roundRect">
            <a:avLst>
              <a:gd name="adj" fmla="val 18669"/>
            </a:avLst>
          </a:prstGeom>
          <a:solidFill>
            <a:srgbClr val="CCEDFF"/>
          </a:solidFill>
          <a:ln w="7620">
            <a:solidFill>
              <a:srgbClr val="B2D3E5"/>
            </a:solidFill>
            <a:prstDash val="solid"/>
          </a:ln>
        </p:spPr>
        <p:txBody>
          <a:bodyPr/>
          <a:lstStyle/>
          <a:p>
            <a:endParaRPr lang="en-US" sz="2000">
              <a:latin typeface="Aptos" panose="020B0004020202020204" pitchFamily="34" charset="0"/>
            </a:endParaRPr>
          </a:p>
        </p:txBody>
      </p:sp>
      <p:sp>
        <p:nvSpPr>
          <p:cNvPr id="6" name="Text 2">
            <a:extLst>
              <a:ext uri="{FF2B5EF4-FFF2-40B4-BE49-F238E27FC236}">
                <a16:creationId xmlns:a16="http://schemas.microsoft.com/office/drawing/2014/main" id="{28D34FA8-E952-1B63-6F7E-41513D6CEBB5}"/>
              </a:ext>
            </a:extLst>
          </p:cNvPr>
          <p:cNvSpPr/>
          <p:nvPr/>
        </p:nvSpPr>
        <p:spPr>
          <a:xfrm>
            <a:off x="789533" y="2460084"/>
            <a:ext cx="283468" cy="354409"/>
          </a:xfrm>
          <a:prstGeom prst="rect">
            <a:avLst/>
          </a:prstGeom>
          <a:noFill/>
          <a:ln/>
        </p:spPr>
        <p:txBody>
          <a:bodyPr wrap="none" lIns="0" tIns="0" rIns="0" bIns="0" rtlCol="0" anchor="t"/>
          <a:lstStyle/>
          <a:p>
            <a:pPr algn="ctr">
              <a:lnSpc>
                <a:spcPts val="2208"/>
              </a:lnSpc>
            </a:pPr>
            <a:r>
              <a:rPr lang="en-US" sz="3200" b="1" dirty="0">
                <a:solidFill>
                  <a:srgbClr val="000000"/>
                </a:solidFill>
                <a:latin typeface="Aptos" panose="020B0004020202020204" pitchFamily="34" charset="0"/>
                <a:ea typeface="Playfair Display Bold" pitchFamily="34" charset="-122"/>
                <a:cs typeface="Playfair Display Bold" pitchFamily="34" charset="-120"/>
              </a:rPr>
              <a:t>1</a:t>
            </a:r>
            <a:endParaRPr lang="en-US" sz="3200" dirty="0">
              <a:latin typeface="Aptos" panose="020B0004020202020204" pitchFamily="34" charset="0"/>
            </a:endParaRPr>
          </a:p>
        </p:txBody>
      </p:sp>
      <p:sp>
        <p:nvSpPr>
          <p:cNvPr id="7" name="Text 3">
            <a:extLst>
              <a:ext uri="{FF2B5EF4-FFF2-40B4-BE49-F238E27FC236}">
                <a16:creationId xmlns:a16="http://schemas.microsoft.com/office/drawing/2014/main" id="{76A1D0AC-92DF-55A8-6AD8-4859ED970C7B}"/>
              </a:ext>
            </a:extLst>
          </p:cNvPr>
          <p:cNvSpPr/>
          <p:nvPr/>
        </p:nvSpPr>
        <p:spPr>
          <a:xfrm>
            <a:off x="1332905" y="2489552"/>
            <a:ext cx="2792611" cy="295275"/>
          </a:xfrm>
          <a:prstGeom prst="rect">
            <a:avLst/>
          </a:prstGeom>
          <a:noFill/>
          <a:ln/>
        </p:spPr>
        <p:txBody>
          <a:bodyPr wrap="none" lIns="0" tIns="0" rIns="0" bIns="0" rtlCol="0" anchor="t"/>
          <a:lstStyle/>
          <a:p>
            <a:pPr>
              <a:lnSpc>
                <a:spcPts val="2292"/>
              </a:lnSpc>
            </a:pPr>
            <a:r>
              <a:rPr lang="en-US" sz="2800" b="1" dirty="0">
                <a:solidFill>
                  <a:srgbClr val="000000"/>
                </a:solidFill>
                <a:latin typeface="Aptos" panose="020B0004020202020204" pitchFamily="34" charset="0"/>
                <a:ea typeface="Playfair Display Bold" pitchFamily="34" charset="-122"/>
                <a:cs typeface="Playfair Display Bold" pitchFamily="34" charset="-120"/>
              </a:rPr>
              <a:t>Define Acceptable Ranges</a:t>
            </a:r>
            <a:endParaRPr lang="en-US" sz="2800" dirty="0">
              <a:latin typeface="Aptos" panose="020B0004020202020204" pitchFamily="34" charset="0"/>
            </a:endParaRPr>
          </a:p>
        </p:txBody>
      </p:sp>
      <p:sp>
        <p:nvSpPr>
          <p:cNvPr id="8" name="Text 4">
            <a:extLst>
              <a:ext uri="{FF2B5EF4-FFF2-40B4-BE49-F238E27FC236}">
                <a16:creationId xmlns:a16="http://schemas.microsoft.com/office/drawing/2014/main" id="{4425B2E5-C900-D3AE-D5D9-C6ECFF21BDD1}"/>
              </a:ext>
            </a:extLst>
          </p:cNvPr>
          <p:cNvSpPr/>
          <p:nvPr/>
        </p:nvSpPr>
        <p:spPr>
          <a:xfrm>
            <a:off x="1332905" y="2898234"/>
            <a:ext cx="4702175" cy="604838"/>
          </a:xfrm>
          <a:prstGeom prst="rect">
            <a:avLst/>
          </a:prstGeom>
          <a:noFill/>
          <a:ln/>
        </p:spPr>
        <p:txBody>
          <a:bodyPr wrap="square" lIns="0" tIns="0" rIns="0" bIns="0" rtlCol="0" anchor="t"/>
          <a:lstStyle/>
          <a:p>
            <a:pPr>
              <a:lnSpc>
                <a:spcPts val="2375"/>
              </a:lnSpc>
            </a:pPr>
            <a:r>
              <a:rPr lang="en-US" sz="2000" dirty="0">
                <a:solidFill>
                  <a:srgbClr val="000000"/>
                </a:solidFill>
                <a:latin typeface="Aptos" panose="020B0004020202020204" pitchFamily="34" charset="0"/>
                <a:ea typeface="Inter" pitchFamily="34" charset="-122"/>
                <a:cs typeface="Inter" pitchFamily="34" charset="-120"/>
              </a:rPr>
              <a:t>Define a schema for each column: dtype (int64, float64, object, datetime), valid range (0≤GPA≤4.0), allowed categories (["M","F","Non-binary"]), and nullable (True/False). A data dictionary is the source of truth.</a:t>
            </a:r>
            <a:endParaRPr lang="en-US" sz="2000" dirty="0">
              <a:latin typeface="Aptos" panose="020B0004020202020204" pitchFamily="34" charset="0"/>
            </a:endParaRPr>
          </a:p>
        </p:txBody>
      </p:sp>
      <p:sp>
        <p:nvSpPr>
          <p:cNvPr id="9" name="Shape 5">
            <a:extLst>
              <a:ext uri="{FF2B5EF4-FFF2-40B4-BE49-F238E27FC236}">
                <a16:creationId xmlns:a16="http://schemas.microsoft.com/office/drawing/2014/main" id="{A29848E3-62F5-A619-08BC-203E8C96EF5F}"/>
              </a:ext>
            </a:extLst>
          </p:cNvPr>
          <p:cNvSpPr/>
          <p:nvPr/>
        </p:nvSpPr>
        <p:spPr>
          <a:xfrm>
            <a:off x="6271319" y="2358403"/>
            <a:ext cx="425252" cy="425252"/>
          </a:xfrm>
          <a:prstGeom prst="roundRect">
            <a:avLst>
              <a:gd name="adj" fmla="val 18669"/>
            </a:avLst>
          </a:prstGeom>
          <a:solidFill>
            <a:srgbClr val="CCEDFF"/>
          </a:solidFill>
          <a:ln w="7620">
            <a:solidFill>
              <a:srgbClr val="B2D3E5"/>
            </a:solidFill>
            <a:prstDash val="solid"/>
          </a:ln>
        </p:spPr>
        <p:txBody>
          <a:bodyPr/>
          <a:lstStyle/>
          <a:p>
            <a:endParaRPr lang="en-US" sz="2000">
              <a:latin typeface="Aptos" panose="020B0004020202020204" pitchFamily="34" charset="0"/>
            </a:endParaRPr>
          </a:p>
        </p:txBody>
      </p:sp>
      <p:sp>
        <p:nvSpPr>
          <p:cNvPr id="10" name="Text 6">
            <a:extLst>
              <a:ext uri="{FF2B5EF4-FFF2-40B4-BE49-F238E27FC236}">
                <a16:creationId xmlns:a16="http://schemas.microsoft.com/office/drawing/2014/main" id="{3ACD4CF1-0CBD-8C83-E754-EE5E25A8AEDC}"/>
              </a:ext>
            </a:extLst>
          </p:cNvPr>
          <p:cNvSpPr/>
          <p:nvPr/>
        </p:nvSpPr>
        <p:spPr>
          <a:xfrm>
            <a:off x="6342212" y="2460084"/>
            <a:ext cx="283468" cy="354409"/>
          </a:xfrm>
          <a:prstGeom prst="rect">
            <a:avLst/>
          </a:prstGeom>
          <a:noFill/>
          <a:ln/>
        </p:spPr>
        <p:txBody>
          <a:bodyPr wrap="none" lIns="0" tIns="0" rIns="0" bIns="0" rtlCol="0" anchor="t"/>
          <a:lstStyle/>
          <a:p>
            <a:pPr algn="ctr">
              <a:lnSpc>
                <a:spcPts val="2208"/>
              </a:lnSpc>
            </a:pPr>
            <a:r>
              <a:rPr lang="en-US" sz="3200" b="1" dirty="0">
                <a:solidFill>
                  <a:srgbClr val="000000"/>
                </a:solidFill>
                <a:latin typeface="Aptos" panose="020B0004020202020204" pitchFamily="34" charset="0"/>
                <a:ea typeface="Playfair Display Bold" pitchFamily="34" charset="-122"/>
                <a:cs typeface="Playfair Display Bold" pitchFamily="34" charset="-120"/>
              </a:rPr>
              <a:t>2</a:t>
            </a:r>
            <a:endParaRPr lang="en-US" sz="3200" dirty="0">
              <a:latin typeface="Aptos" panose="020B0004020202020204" pitchFamily="34" charset="0"/>
            </a:endParaRPr>
          </a:p>
        </p:txBody>
      </p:sp>
      <p:sp>
        <p:nvSpPr>
          <p:cNvPr id="11" name="Text 7">
            <a:extLst>
              <a:ext uri="{FF2B5EF4-FFF2-40B4-BE49-F238E27FC236}">
                <a16:creationId xmlns:a16="http://schemas.microsoft.com/office/drawing/2014/main" id="{1D460F99-6868-2A3F-D959-59ADA649C1E4}"/>
              </a:ext>
            </a:extLst>
          </p:cNvPr>
          <p:cNvSpPr/>
          <p:nvPr/>
        </p:nvSpPr>
        <p:spPr>
          <a:xfrm>
            <a:off x="6885583" y="2489552"/>
            <a:ext cx="2362696" cy="295275"/>
          </a:xfrm>
          <a:prstGeom prst="rect">
            <a:avLst/>
          </a:prstGeom>
          <a:noFill/>
          <a:ln/>
        </p:spPr>
        <p:txBody>
          <a:bodyPr wrap="none" lIns="0" tIns="0" rIns="0" bIns="0" rtlCol="0" anchor="t"/>
          <a:lstStyle/>
          <a:p>
            <a:pPr>
              <a:lnSpc>
                <a:spcPts val="2292"/>
              </a:lnSpc>
            </a:pPr>
            <a:r>
              <a:rPr lang="en-US" sz="2800" b="1" dirty="0">
                <a:solidFill>
                  <a:srgbClr val="000000"/>
                </a:solidFill>
                <a:latin typeface="Aptos" panose="020B0004020202020204" pitchFamily="34" charset="0"/>
                <a:ea typeface="Playfair Display Bold" pitchFamily="34" charset="-122"/>
                <a:cs typeface="Playfair Display Bold" pitchFamily="34" charset="-120"/>
              </a:rPr>
              <a:t>Check Categories</a:t>
            </a:r>
            <a:endParaRPr lang="en-US" sz="2800" dirty="0">
              <a:latin typeface="Aptos" panose="020B0004020202020204" pitchFamily="34" charset="0"/>
            </a:endParaRPr>
          </a:p>
        </p:txBody>
      </p:sp>
      <p:sp>
        <p:nvSpPr>
          <p:cNvPr id="12" name="Text 8">
            <a:extLst>
              <a:ext uri="{FF2B5EF4-FFF2-40B4-BE49-F238E27FC236}">
                <a16:creationId xmlns:a16="http://schemas.microsoft.com/office/drawing/2014/main" id="{5F9E7C1A-2F5E-844A-BEEF-6103979444E0}"/>
              </a:ext>
            </a:extLst>
          </p:cNvPr>
          <p:cNvSpPr/>
          <p:nvPr/>
        </p:nvSpPr>
        <p:spPr>
          <a:xfrm>
            <a:off x="6885583" y="2898234"/>
            <a:ext cx="4702175" cy="604838"/>
          </a:xfrm>
          <a:prstGeom prst="rect">
            <a:avLst/>
          </a:prstGeom>
          <a:noFill/>
          <a:ln/>
        </p:spPr>
        <p:txBody>
          <a:bodyPr wrap="square" lIns="0" tIns="0" rIns="0" bIns="0" rtlCol="0" anchor="t"/>
          <a:lstStyle/>
          <a:p>
            <a:pPr>
              <a:lnSpc>
                <a:spcPts val="2375"/>
              </a:lnSpc>
            </a:pPr>
            <a:r>
              <a:rPr lang="en-US" sz="2000" dirty="0">
                <a:solidFill>
                  <a:srgbClr val="000000"/>
                </a:solidFill>
                <a:latin typeface="Aptos" panose="020B0004020202020204" pitchFamily="34" charset="0"/>
                <a:ea typeface="Inter" pitchFamily="34" charset="-122"/>
                <a:cs typeface="Inter" pitchFamily="34" charset="-120"/>
              </a:rPr>
              <a:t>Schema validation in pandas: use pd.api.types.is_numeric_dtype() and df["col"].isin(valid_set). For production pipelines, libraries like Great Expectations automate schema checks across thousands of rows.</a:t>
            </a:r>
            <a:endParaRPr lang="en-US" sz="2000" dirty="0">
              <a:latin typeface="Aptos" panose="020B0004020202020204" pitchFamily="34" charset="0"/>
            </a:endParaRPr>
          </a:p>
        </p:txBody>
      </p:sp>
      <p:sp>
        <p:nvSpPr>
          <p:cNvPr id="13" name="Shape 9">
            <a:extLst>
              <a:ext uri="{FF2B5EF4-FFF2-40B4-BE49-F238E27FC236}">
                <a16:creationId xmlns:a16="http://schemas.microsoft.com/office/drawing/2014/main" id="{D433140C-AFF0-C53A-1BD5-AEEF44DE6742}"/>
              </a:ext>
            </a:extLst>
          </p:cNvPr>
          <p:cNvSpPr/>
          <p:nvPr/>
        </p:nvSpPr>
        <p:spPr>
          <a:xfrm>
            <a:off x="718641" y="3814835"/>
            <a:ext cx="425252" cy="425252"/>
          </a:xfrm>
          <a:prstGeom prst="roundRect">
            <a:avLst>
              <a:gd name="adj" fmla="val 18669"/>
            </a:avLst>
          </a:prstGeom>
          <a:solidFill>
            <a:srgbClr val="CCEDFF"/>
          </a:solidFill>
          <a:ln w="7620">
            <a:solidFill>
              <a:srgbClr val="B2D3E5"/>
            </a:solidFill>
            <a:prstDash val="solid"/>
          </a:ln>
        </p:spPr>
        <p:txBody>
          <a:bodyPr/>
          <a:lstStyle/>
          <a:p>
            <a:endParaRPr lang="en-US" sz="2000">
              <a:latin typeface="Aptos" panose="020B0004020202020204" pitchFamily="34" charset="0"/>
            </a:endParaRPr>
          </a:p>
        </p:txBody>
      </p:sp>
      <p:sp>
        <p:nvSpPr>
          <p:cNvPr id="14" name="Text 10">
            <a:extLst>
              <a:ext uri="{FF2B5EF4-FFF2-40B4-BE49-F238E27FC236}">
                <a16:creationId xmlns:a16="http://schemas.microsoft.com/office/drawing/2014/main" id="{8FC8754E-A0FC-BAA7-40BD-E48C141A310A}"/>
              </a:ext>
            </a:extLst>
          </p:cNvPr>
          <p:cNvSpPr/>
          <p:nvPr/>
        </p:nvSpPr>
        <p:spPr>
          <a:xfrm>
            <a:off x="789533" y="3916517"/>
            <a:ext cx="283468" cy="354409"/>
          </a:xfrm>
          <a:prstGeom prst="rect">
            <a:avLst/>
          </a:prstGeom>
          <a:noFill/>
          <a:ln/>
        </p:spPr>
        <p:txBody>
          <a:bodyPr wrap="none" lIns="0" tIns="0" rIns="0" bIns="0" rtlCol="0" anchor="t"/>
          <a:lstStyle/>
          <a:p>
            <a:pPr algn="ctr">
              <a:lnSpc>
                <a:spcPts val="2208"/>
              </a:lnSpc>
            </a:pPr>
            <a:r>
              <a:rPr lang="en-US" sz="3200" b="1" dirty="0">
                <a:solidFill>
                  <a:srgbClr val="000000"/>
                </a:solidFill>
                <a:latin typeface="Aptos" panose="020B0004020202020204" pitchFamily="34" charset="0"/>
                <a:ea typeface="Playfair Display Bold" pitchFamily="34" charset="-122"/>
                <a:cs typeface="Playfair Display Bold" pitchFamily="34" charset="-120"/>
              </a:rPr>
              <a:t>3</a:t>
            </a:r>
            <a:endParaRPr lang="en-US" sz="3200" dirty="0">
              <a:latin typeface="Aptos" panose="020B0004020202020204" pitchFamily="34" charset="0"/>
            </a:endParaRPr>
          </a:p>
        </p:txBody>
      </p:sp>
      <p:sp>
        <p:nvSpPr>
          <p:cNvPr id="15" name="Text 11">
            <a:extLst>
              <a:ext uri="{FF2B5EF4-FFF2-40B4-BE49-F238E27FC236}">
                <a16:creationId xmlns:a16="http://schemas.microsoft.com/office/drawing/2014/main" id="{81ECD6C5-539E-BFB3-8709-71F7D15DAB58}"/>
              </a:ext>
            </a:extLst>
          </p:cNvPr>
          <p:cNvSpPr/>
          <p:nvPr/>
        </p:nvSpPr>
        <p:spPr>
          <a:xfrm>
            <a:off x="1332905" y="3945984"/>
            <a:ext cx="2413397" cy="295275"/>
          </a:xfrm>
          <a:prstGeom prst="rect">
            <a:avLst/>
          </a:prstGeom>
          <a:noFill/>
          <a:ln/>
        </p:spPr>
        <p:txBody>
          <a:bodyPr wrap="none" lIns="0" tIns="0" rIns="0" bIns="0" rtlCol="0" anchor="t"/>
          <a:lstStyle/>
          <a:p>
            <a:pPr>
              <a:lnSpc>
                <a:spcPts val="2292"/>
              </a:lnSpc>
            </a:pPr>
            <a:r>
              <a:rPr lang="en-US" sz="2800" b="1" dirty="0">
                <a:solidFill>
                  <a:srgbClr val="000000"/>
                </a:solidFill>
                <a:latin typeface="Aptos" panose="020B0004020202020204" pitchFamily="34" charset="0"/>
                <a:ea typeface="Playfair Display Bold" pitchFamily="34" charset="-122"/>
                <a:cs typeface="Playfair Display Bold" pitchFamily="34" charset="-120"/>
              </a:rPr>
              <a:t>Verify Required Fields</a:t>
            </a:r>
            <a:endParaRPr lang="en-US" sz="2800" dirty="0">
              <a:latin typeface="Aptos" panose="020B0004020202020204" pitchFamily="34" charset="0"/>
            </a:endParaRPr>
          </a:p>
        </p:txBody>
      </p:sp>
      <p:sp>
        <p:nvSpPr>
          <p:cNvPr id="16" name="Text 12">
            <a:extLst>
              <a:ext uri="{FF2B5EF4-FFF2-40B4-BE49-F238E27FC236}">
                <a16:creationId xmlns:a16="http://schemas.microsoft.com/office/drawing/2014/main" id="{23F38F90-F40C-61AA-4890-45C6645F00A4}"/>
              </a:ext>
            </a:extLst>
          </p:cNvPr>
          <p:cNvSpPr/>
          <p:nvPr/>
        </p:nvSpPr>
        <p:spPr>
          <a:xfrm>
            <a:off x="1332905" y="4354667"/>
            <a:ext cx="4702175" cy="302419"/>
          </a:xfrm>
          <a:prstGeom prst="rect">
            <a:avLst/>
          </a:prstGeom>
          <a:noFill/>
          <a:ln/>
        </p:spPr>
        <p:txBody>
          <a:bodyPr wrap="none" lIns="0" tIns="0" rIns="0" bIns="0" rtlCol="0" anchor="t"/>
          <a:lstStyle/>
          <a:p>
            <a:pPr>
              <a:lnSpc>
                <a:spcPts val="2375"/>
              </a:lnSpc>
            </a:pPr>
            <a:r>
              <a:rPr lang="en-US" sz="2000" dirty="0">
                <a:solidFill>
                  <a:srgbClr val="000000"/>
                </a:solidFill>
                <a:latin typeface="Aptos" panose="020B0004020202020204" pitchFamily="34" charset="0"/>
                <a:ea typeface="Inter" pitchFamily="34" charset="-122"/>
                <a:cs typeface="Inter" pitchFamily="34" charset="-120"/>
              </a:rPr>
              <a:t>Flag any missing values in essential columns.</a:t>
            </a:r>
            <a:endParaRPr lang="en-US" sz="2000" dirty="0">
              <a:latin typeface="Aptos" panose="020B0004020202020204" pitchFamily="34" charset="0"/>
            </a:endParaRPr>
          </a:p>
        </p:txBody>
      </p:sp>
      <p:sp>
        <p:nvSpPr>
          <p:cNvPr id="17" name="Shape 13">
            <a:extLst>
              <a:ext uri="{FF2B5EF4-FFF2-40B4-BE49-F238E27FC236}">
                <a16:creationId xmlns:a16="http://schemas.microsoft.com/office/drawing/2014/main" id="{D7242BD0-55CF-C25F-9E89-1A09F3B248DC}"/>
              </a:ext>
            </a:extLst>
          </p:cNvPr>
          <p:cNvSpPr/>
          <p:nvPr/>
        </p:nvSpPr>
        <p:spPr>
          <a:xfrm>
            <a:off x="6271319" y="3801583"/>
            <a:ext cx="425252" cy="425252"/>
          </a:xfrm>
          <a:prstGeom prst="roundRect">
            <a:avLst>
              <a:gd name="adj" fmla="val 18669"/>
            </a:avLst>
          </a:prstGeom>
          <a:solidFill>
            <a:srgbClr val="CCEDFF"/>
          </a:solidFill>
          <a:ln w="7620">
            <a:solidFill>
              <a:srgbClr val="B2D3E5"/>
            </a:solidFill>
            <a:prstDash val="solid"/>
          </a:ln>
        </p:spPr>
        <p:txBody>
          <a:bodyPr/>
          <a:lstStyle/>
          <a:p>
            <a:endParaRPr lang="en-US" sz="2000">
              <a:latin typeface="Aptos" panose="020B0004020202020204" pitchFamily="34" charset="0"/>
            </a:endParaRPr>
          </a:p>
        </p:txBody>
      </p:sp>
      <p:sp>
        <p:nvSpPr>
          <p:cNvPr id="18" name="Text 14">
            <a:extLst>
              <a:ext uri="{FF2B5EF4-FFF2-40B4-BE49-F238E27FC236}">
                <a16:creationId xmlns:a16="http://schemas.microsoft.com/office/drawing/2014/main" id="{7B53048E-13CA-41F0-82BE-407F2F8254BF}"/>
              </a:ext>
            </a:extLst>
          </p:cNvPr>
          <p:cNvSpPr/>
          <p:nvPr/>
        </p:nvSpPr>
        <p:spPr>
          <a:xfrm>
            <a:off x="6342212" y="3916517"/>
            <a:ext cx="283468" cy="354409"/>
          </a:xfrm>
          <a:prstGeom prst="rect">
            <a:avLst/>
          </a:prstGeom>
          <a:noFill/>
          <a:ln/>
        </p:spPr>
        <p:txBody>
          <a:bodyPr wrap="none" lIns="0" tIns="0" rIns="0" bIns="0" rtlCol="0" anchor="t"/>
          <a:lstStyle/>
          <a:p>
            <a:pPr algn="ctr">
              <a:lnSpc>
                <a:spcPts val="2208"/>
              </a:lnSpc>
            </a:pPr>
            <a:r>
              <a:rPr lang="en-US" sz="3200" b="1" dirty="0">
                <a:solidFill>
                  <a:srgbClr val="000000"/>
                </a:solidFill>
                <a:latin typeface="Aptos" panose="020B0004020202020204" pitchFamily="34" charset="0"/>
                <a:ea typeface="Playfair Display Bold" pitchFamily="34" charset="-122"/>
                <a:cs typeface="Playfair Display Bold" pitchFamily="34" charset="-120"/>
              </a:rPr>
              <a:t>4</a:t>
            </a:r>
            <a:endParaRPr lang="en-US" sz="3200" dirty="0">
              <a:latin typeface="Aptos" panose="020B0004020202020204" pitchFamily="34" charset="0"/>
            </a:endParaRPr>
          </a:p>
        </p:txBody>
      </p:sp>
      <p:sp>
        <p:nvSpPr>
          <p:cNvPr id="19" name="Text 15">
            <a:extLst>
              <a:ext uri="{FF2B5EF4-FFF2-40B4-BE49-F238E27FC236}">
                <a16:creationId xmlns:a16="http://schemas.microsoft.com/office/drawing/2014/main" id="{3E2C5183-FEF9-8621-825C-450458A7BA75}"/>
              </a:ext>
            </a:extLst>
          </p:cNvPr>
          <p:cNvSpPr/>
          <p:nvPr/>
        </p:nvSpPr>
        <p:spPr>
          <a:xfrm>
            <a:off x="6885582" y="3945984"/>
            <a:ext cx="3144937" cy="295275"/>
          </a:xfrm>
          <a:prstGeom prst="rect">
            <a:avLst/>
          </a:prstGeom>
          <a:noFill/>
          <a:ln/>
        </p:spPr>
        <p:txBody>
          <a:bodyPr wrap="none" lIns="0" tIns="0" rIns="0" bIns="0" rtlCol="0" anchor="t"/>
          <a:lstStyle/>
          <a:p>
            <a:pPr>
              <a:lnSpc>
                <a:spcPts val="2292"/>
              </a:lnSpc>
            </a:pPr>
            <a:r>
              <a:rPr lang="en-US" sz="2800" b="1" dirty="0">
                <a:solidFill>
                  <a:srgbClr val="000000"/>
                </a:solidFill>
                <a:latin typeface="Aptos" panose="020B0004020202020204" pitchFamily="34" charset="0"/>
                <a:ea typeface="Playfair Display Bold" pitchFamily="34" charset="-122"/>
                <a:cs typeface="Playfair Display Bold" pitchFamily="34" charset="-120"/>
              </a:rPr>
              <a:t>Look for Logical Consistency</a:t>
            </a:r>
            <a:endParaRPr lang="en-US" sz="2800" dirty="0">
              <a:latin typeface="Aptos" panose="020B0004020202020204" pitchFamily="34" charset="0"/>
            </a:endParaRPr>
          </a:p>
        </p:txBody>
      </p:sp>
      <p:sp>
        <p:nvSpPr>
          <p:cNvPr id="20" name="Text 16">
            <a:extLst>
              <a:ext uri="{FF2B5EF4-FFF2-40B4-BE49-F238E27FC236}">
                <a16:creationId xmlns:a16="http://schemas.microsoft.com/office/drawing/2014/main" id="{88857D5B-DA74-A8BF-0036-2947C48B777C}"/>
              </a:ext>
            </a:extLst>
          </p:cNvPr>
          <p:cNvSpPr/>
          <p:nvPr/>
        </p:nvSpPr>
        <p:spPr>
          <a:xfrm>
            <a:off x="6885583" y="4354666"/>
            <a:ext cx="4702175" cy="604838"/>
          </a:xfrm>
          <a:prstGeom prst="rect">
            <a:avLst/>
          </a:prstGeom>
          <a:noFill/>
          <a:ln/>
        </p:spPr>
        <p:txBody>
          <a:bodyPr wrap="square" lIns="0" tIns="0" rIns="0" bIns="0" rtlCol="0" anchor="t"/>
          <a:lstStyle/>
          <a:p>
            <a:pPr>
              <a:lnSpc>
                <a:spcPts val="2375"/>
              </a:lnSpc>
            </a:pPr>
            <a:r>
              <a:rPr lang="en-US" sz="2000" dirty="0">
                <a:solidFill>
                  <a:srgbClr val="000000"/>
                </a:solidFill>
                <a:latin typeface="Aptos" panose="020B0004020202020204" pitchFamily="34" charset="0"/>
                <a:ea typeface="Inter" pitchFamily="34" charset="-122"/>
                <a:cs typeface="Inter" pitchFamily="34" charset="-120"/>
              </a:rPr>
              <a:t>Cross-field consistency checks: if Birth_Year=2005 and Grade=11 these are consistent. Use assertions in code to catch violations before they propagate into analysis.</a:t>
            </a:r>
            <a:endParaRPr lang="en-US" sz="2000" dirty="0">
              <a:latin typeface="Aptos" panose="020B0004020202020204" pitchFamily="34" charset="0"/>
            </a:endParaRPr>
          </a:p>
        </p:txBody>
      </p:sp>
      <p:pic>
        <p:nvPicPr>
          <p:cNvPr id="23" name="Image 0" descr="preencoded.png">
            <a:extLst>
              <a:ext uri="{FF2B5EF4-FFF2-40B4-BE49-F238E27FC236}">
                <a16:creationId xmlns:a16="http://schemas.microsoft.com/office/drawing/2014/main" id="{CA8FDCAA-EF39-06A7-F824-F9AD08EF9D77}"/>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2090242" y="5337527"/>
            <a:ext cx="7158037" cy="1387161"/>
          </a:xfrm>
          <a:prstGeom prst="rect">
            <a:avLst/>
          </a:prstGeom>
        </p:spPr>
      </p:pic>
    </p:spTree>
    <p:extLst>
      <p:ext uri="{BB962C8B-B14F-4D97-AF65-F5344CB8AC3E}">
        <p14:creationId xmlns:p14="http://schemas.microsoft.com/office/powerpoint/2010/main" val="415591696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79C383-EBFC-ABEC-6CD2-D76739DEE284}"/>
              </a:ext>
            </a:extLst>
          </p:cNvPr>
          <p:cNvSpPr>
            <a:spLocks noGrp="1"/>
          </p:cNvSpPr>
          <p:nvPr>
            <p:ph type="title"/>
          </p:nvPr>
        </p:nvSpPr>
        <p:spPr>
          <a:xfrm>
            <a:off x="4043362" y="714524"/>
            <a:ext cx="8015287" cy="1325563"/>
          </a:xfrm>
        </p:spPr>
        <p:txBody>
          <a:bodyPr/>
          <a:lstStyle/>
          <a:p>
            <a:r>
              <a:rPr lang="en-US" dirty="0"/>
              <a:t>Finding Problems Systematically</a:t>
            </a:r>
          </a:p>
        </p:txBody>
      </p:sp>
      <p:pic>
        <p:nvPicPr>
          <p:cNvPr id="4" name="Image 0" descr="preencoded.png">
            <a:extLst>
              <a:ext uri="{FF2B5EF4-FFF2-40B4-BE49-F238E27FC236}">
                <a16:creationId xmlns:a16="http://schemas.microsoft.com/office/drawing/2014/main" id="{40112116-D15C-F2DA-11C6-B7C9DE5F1433}"/>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314325" y="770794"/>
            <a:ext cx="3543300" cy="5316411"/>
          </a:xfrm>
          <a:prstGeom prst="rect">
            <a:avLst/>
          </a:prstGeom>
        </p:spPr>
      </p:pic>
      <p:sp>
        <p:nvSpPr>
          <p:cNvPr id="5" name="Shape 1">
            <a:extLst>
              <a:ext uri="{FF2B5EF4-FFF2-40B4-BE49-F238E27FC236}">
                <a16:creationId xmlns:a16="http://schemas.microsoft.com/office/drawing/2014/main" id="{ECDF4379-F627-2B64-8340-DE3CEEC83A40}"/>
              </a:ext>
            </a:extLst>
          </p:cNvPr>
          <p:cNvSpPr/>
          <p:nvPr/>
        </p:nvSpPr>
        <p:spPr>
          <a:xfrm>
            <a:off x="4364137" y="1819474"/>
            <a:ext cx="6406952" cy="1011039"/>
          </a:xfrm>
          <a:prstGeom prst="roundRect">
            <a:avLst>
              <a:gd name="adj" fmla="val 7199"/>
            </a:avLst>
          </a:prstGeom>
          <a:solidFill>
            <a:srgbClr val="CCEDFF"/>
          </a:solidFill>
          <a:ln w="7620">
            <a:solidFill>
              <a:srgbClr val="B2D3E5"/>
            </a:solidFill>
            <a:prstDash val="solid"/>
          </a:ln>
        </p:spPr>
        <p:txBody>
          <a:bodyPr/>
          <a:lstStyle/>
          <a:p>
            <a:endParaRPr lang="en-US">
              <a:latin typeface="Aptos" panose="020B0004020202020204" pitchFamily="34" charset="0"/>
            </a:endParaRPr>
          </a:p>
        </p:txBody>
      </p:sp>
      <p:sp>
        <p:nvSpPr>
          <p:cNvPr id="6" name="Text 2">
            <a:extLst>
              <a:ext uri="{FF2B5EF4-FFF2-40B4-BE49-F238E27FC236}">
                <a16:creationId xmlns:a16="http://schemas.microsoft.com/office/drawing/2014/main" id="{8AFDC4B4-29E5-E6EF-FD38-47D33A55C3C1}"/>
              </a:ext>
            </a:extLst>
          </p:cNvPr>
          <p:cNvSpPr/>
          <p:nvPr/>
        </p:nvSpPr>
        <p:spPr>
          <a:xfrm>
            <a:off x="4543723" y="1999059"/>
            <a:ext cx="2166143" cy="270668"/>
          </a:xfrm>
          <a:prstGeom prst="rect">
            <a:avLst/>
          </a:prstGeom>
          <a:noFill/>
          <a:ln/>
        </p:spPr>
        <p:txBody>
          <a:bodyPr wrap="none" lIns="0" tIns="0" rIns="0" bIns="0" rtlCol="0" anchor="t"/>
          <a:lstStyle/>
          <a:p>
            <a:pPr>
              <a:lnSpc>
                <a:spcPts val="2125"/>
              </a:lnSpc>
            </a:pPr>
            <a:r>
              <a:rPr lang="en-US" sz="2000" b="1" dirty="0">
                <a:solidFill>
                  <a:srgbClr val="000000"/>
                </a:solidFill>
                <a:latin typeface="Aptos" panose="020B0004020202020204" pitchFamily="34" charset="0"/>
                <a:ea typeface="Playfair Display Bold" pitchFamily="34" charset="-122"/>
                <a:cs typeface="Playfair Display Bold" pitchFamily="34" charset="-120"/>
              </a:rPr>
              <a:t>Count Missing Values</a:t>
            </a:r>
            <a:endParaRPr lang="en-US" sz="2000" dirty="0">
              <a:latin typeface="Aptos" panose="020B0004020202020204" pitchFamily="34" charset="0"/>
            </a:endParaRPr>
          </a:p>
        </p:txBody>
      </p:sp>
      <p:sp>
        <p:nvSpPr>
          <p:cNvPr id="7" name="Text 3">
            <a:extLst>
              <a:ext uri="{FF2B5EF4-FFF2-40B4-BE49-F238E27FC236}">
                <a16:creationId xmlns:a16="http://schemas.microsoft.com/office/drawing/2014/main" id="{3B9C9314-E156-CBB7-B579-D4EF29741E8D}"/>
              </a:ext>
            </a:extLst>
          </p:cNvPr>
          <p:cNvSpPr/>
          <p:nvPr/>
        </p:nvSpPr>
        <p:spPr>
          <a:xfrm>
            <a:off x="4543723" y="2373610"/>
            <a:ext cx="6047780" cy="277317"/>
          </a:xfrm>
          <a:prstGeom prst="rect">
            <a:avLst/>
          </a:prstGeom>
          <a:noFill/>
          <a:ln/>
        </p:spPr>
        <p:txBody>
          <a:bodyPr wrap="none" lIns="0" tIns="0" rIns="0" bIns="0" rtlCol="0" anchor="t"/>
          <a:lstStyle/>
          <a:p>
            <a:pPr>
              <a:lnSpc>
                <a:spcPts val="2167"/>
              </a:lnSpc>
            </a:pPr>
            <a:r>
              <a:rPr lang="en-US" sz="1600" dirty="0">
                <a:solidFill>
                  <a:srgbClr val="000000"/>
                </a:solidFill>
                <a:latin typeface="Aptos" panose="020B0004020202020204" pitchFamily="34" charset="0"/>
                <a:ea typeface="Inter" pitchFamily="34" charset="-122"/>
                <a:cs typeface="Inter" pitchFamily="34" charset="-120"/>
              </a:rPr>
              <a:t>df.isnull().sum() for counts; df.isnull().mean().round(2) for rates. Flag columns with &gt;5% missing — they need a strategy decision (impute, drop, or document).</a:t>
            </a:r>
            <a:endParaRPr lang="en-US" sz="1600" dirty="0">
              <a:latin typeface="Aptos" panose="020B0004020202020204" pitchFamily="34" charset="0"/>
            </a:endParaRPr>
          </a:p>
        </p:txBody>
      </p:sp>
      <p:sp>
        <p:nvSpPr>
          <p:cNvPr id="8" name="Shape 4">
            <a:extLst>
              <a:ext uri="{FF2B5EF4-FFF2-40B4-BE49-F238E27FC236}">
                <a16:creationId xmlns:a16="http://schemas.microsoft.com/office/drawing/2014/main" id="{23EFF7DF-4233-5BE7-FD4B-D6EBEFEF68DA}"/>
              </a:ext>
            </a:extLst>
          </p:cNvPr>
          <p:cNvSpPr/>
          <p:nvPr/>
        </p:nvSpPr>
        <p:spPr>
          <a:xfrm>
            <a:off x="4364137" y="3003749"/>
            <a:ext cx="6406952" cy="1011039"/>
          </a:xfrm>
          <a:prstGeom prst="roundRect">
            <a:avLst>
              <a:gd name="adj" fmla="val 7199"/>
            </a:avLst>
          </a:prstGeom>
          <a:solidFill>
            <a:srgbClr val="CCEDFF"/>
          </a:solidFill>
          <a:ln w="7620">
            <a:solidFill>
              <a:srgbClr val="B2D3E5"/>
            </a:solidFill>
            <a:prstDash val="solid"/>
          </a:ln>
        </p:spPr>
        <p:txBody>
          <a:bodyPr/>
          <a:lstStyle/>
          <a:p>
            <a:endParaRPr lang="en-US">
              <a:latin typeface="Aptos" panose="020B0004020202020204" pitchFamily="34" charset="0"/>
            </a:endParaRPr>
          </a:p>
        </p:txBody>
      </p:sp>
      <p:sp>
        <p:nvSpPr>
          <p:cNvPr id="9" name="Text 5">
            <a:extLst>
              <a:ext uri="{FF2B5EF4-FFF2-40B4-BE49-F238E27FC236}">
                <a16:creationId xmlns:a16="http://schemas.microsoft.com/office/drawing/2014/main" id="{94C81BD7-9697-D85A-91E0-8B910440B293}"/>
              </a:ext>
            </a:extLst>
          </p:cNvPr>
          <p:cNvSpPr/>
          <p:nvPr/>
        </p:nvSpPr>
        <p:spPr>
          <a:xfrm>
            <a:off x="4543724" y="3183334"/>
            <a:ext cx="2299394" cy="270668"/>
          </a:xfrm>
          <a:prstGeom prst="rect">
            <a:avLst/>
          </a:prstGeom>
          <a:noFill/>
          <a:ln/>
        </p:spPr>
        <p:txBody>
          <a:bodyPr wrap="none" lIns="0" tIns="0" rIns="0" bIns="0" rtlCol="0" anchor="t"/>
          <a:lstStyle/>
          <a:p>
            <a:pPr>
              <a:lnSpc>
                <a:spcPts val="2125"/>
              </a:lnSpc>
            </a:pPr>
            <a:r>
              <a:rPr lang="en-US" sz="2000" b="1" dirty="0">
                <a:solidFill>
                  <a:srgbClr val="000000"/>
                </a:solidFill>
                <a:latin typeface="Aptos" panose="020B0004020202020204" pitchFamily="34" charset="0"/>
                <a:ea typeface="Playfair Display Bold" pitchFamily="34" charset="-122"/>
                <a:cs typeface="Playfair Display Bold" pitchFamily="34" charset="-120"/>
              </a:rPr>
              <a:t>Sort to Find Duplicates</a:t>
            </a:r>
            <a:endParaRPr lang="en-US" sz="2000" dirty="0">
              <a:latin typeface="Aptos" panose="020B0004020202020204" pitchFamily="34" charset="0"/>
            </a:endParaRPr>
          </a:p>
        </p:txBody>
      </p:sp>
      <p:sp>
        <p:nvSpPr>
          <p:cNvPr id="10" name="Text 6">
            <a:extLst>
              <a:ext uri="{FF2B5EF4-FFF2-40B4-BE49-F238E27FC236}">
                <a16:creationId xmlns:a16="http://schemas.microsoft.com/office/drawing/2014/main" id="{45A5C4B2-B2BC-D688-E195-18500616EF44}"/>
              </a:ext>
            </a:extLst>
          </p:cNvPr>
          <p:cNvSpPr/>
          <p:nvPr/>
        </p:nvSpPr>
        <p:spPr>
          <a:xfrm>
            <a:off x="4543723" y="3557885"/>
            <a:ext cx="6047780" cy="277317"/>
          </a:xfrm>
          <a:prstGeom prst="rect">
            <a:avLst/>
          </a:prstGeom>
          <a:noFill/>
          <a:ln/>
        </p:spPr>
        <p:txBody>
          <a:bodyPr wrap="none" lIns="0" tIns="0" rIns="0" bIns="0" rtlCol="0" anchor="t"/>
          <a:lstStyle/>
          <a:p>
            <a:pPr>
              <a:lnSpc>
                <a:spcPts val="2167"/>
              </a:lnSpc>
            </a:pPr>
            <a:r>
              <a:rPr lang="en-US" sz="1600" dirty="0">
                <a:solidFill>
                  <a:srgbClr val="000000"/>
                </a:solidFill>
                <a:latin typeface="Aptos" panose="020B0004020202020204" pitchFamily="34" charset="0"/>
                <a:ea typeface="Inter" pitchFamily="34" charset="-122"/>
                <a:cs typeface="Inter" pitchFamily="34" charset="-120"/>
              </a:rPr>
              <a:t>df.duplicated().sum() for count; df[df.duplicated(keep=False)] to see all duplicate rows. Decide key: are full-row duplicates errors, or is duplicate Student_ID with different scores a data entry vs. merge issue?</a:t>
            </a:r>
            <a:endParaRPr lang="en-US" sz="1600" dirty="0">
              <a:latin typeface="Aptos" panose="020B0004020202020204" pitchFamily="34" charset="0"/>
            </a:endParaRPr>
          </a:p>
        </p:txBody>
      </p:sp>
      <p:sp>
        <p:nvSpPr>
          <p:cNvPr id="11" name="Shape 7">
            <a:extLst>
              <a:ext uri="{FF2B5EF4-FFF2-40B4-BE49-F238E27FC236}">
                <a16:creationId xmlns:a16="http://schemas.microsoft.com/office/drawing/2014/main" id="{A8CDFEA7-BB74-49DF-D840-10492EE9F82B}"/>
              </a:ext>
            </a:extLst>
          </p:cNvPr>
          <p:cNvSpPr/>
          <p:nvPr/>
        </p:nvSpPr>
        <p:spPr>
          <a:xfrm>
            <a:off x="4364137" y="4188024"/>
            <a:ext cx="6406952" cy="1011039"/>
          </a:xfrm>
          <a:prstGeom prst="roundRect">
            <a:avLst>
              <a:gd name="adj" fmla="val 7199"/>
            </a:avLst>
          </a:prstGeom>
          <a:solidFill>
            <a:srgbClr val="CCEDFF"/>
          </a:solidFill>
          <a:ln w="7620">
            <a:solidFill>
              <a:srgbClr val="B2D3E5"/>
            </a:solidFill>
            <a:prstDash val="solid"/>
          </a:ln>
        </p:spPr>
        <p:txBody>
          <a:bodyPr/>
          <a:lstStyle/>
          <a:p>
            <a:endParaRPr lang="en-US">
              <a:latin typeface="Aptos" panose="020B0004020202020204" pitchFamily="34" charset="0"/>
            </a:endParaRPr>
          </a:p>
        </p:txBody>
      </p:sp>
      <p:sp>
        <p:nvSpPr>
          <p:cNvPr id="12" name="Text 8">
            <a:extLst>
              <a:ext uri="{FF2B5EF4-FFF2-40B4-BE49-F238E27FC236}">
                <a16:creationId xmlns:a16="http://schemas.microsoft.com/office/drawing/2014/main" id="{729E8873-6D6A-D397-286F-711D23163BAA}"/>
              </a:ext>
            </a:extLst>
          </p:cNvPr>
          <p:cNvSpPr/>
          <p:nvPr/>
        </p:nvSpPr>
        <p:spPr>
          <a:xfrm>
            <a:off x="4543723" y="4367609"/>
            <a:ext cx="2166143" cy="270668"/>
          </a:xfrm>
          <a:prstGeom prst="rect">
            <a:avLst/>
          </a:prstGeom>
          <a:noFill/>
          <a:ln/>
        </p:spPr>
        <p:txBody>
          <a:bodyPr wrap="none" lIns="0" tIns="0" rIns="0" bIns="0" rtlCol="0" anchor="t"/>
          <a:lstStyle/>
          <a:p>
            <a:pPr>
              <a:lnSpc>
                <a:spcPts val="2125"/>
              </a:lnSpc>
            </a:pPr>
            <a:r>
              <a:rPr lang="en-US" sz="2000" b="1" dirty="0">
                <a:solidFill>
                  <a:srgbClr val="000000"/>
                </a:solidFill>
                <a:latin typeface="Aptos" panose="020B0004020202020204" pitchFamily="34" charset="0"/>
                <a:ea typeface="Playfair Display Bold" pitchFamily="34" charset="-122"/>
                <a:cs typeface="Playfair Display Bold" pitchFamily="34" charset="-120"/>
              </a:rPr>
              <a:t>Calculate Basic Stats</a:t>
            </a:r>
            <a:endParaRPr lang="en-US" sz="2000" dirty="0">
              <a:latin typeface="Aptos" panose="020B0004020202020204" pitchFamily="34" charset="0"/>
            </a:endParaRPr>
          </a:p>
        </p:txBody>
      </p:sp>
      <p:sp>
        <p:nvSpPr>
          <p:cNvPr id="13" name="Text 9">
            <a:extLst>
              <a:ext uri="{FF2B5EF4-FFF2-40B4-BE49-F238E27FC236}">
                <a16:creationId xmlns:a16="http://schemas.microsoft.com/office/drawing/2014/main" id="{B4052934-33AF-121C-51B6-4665F8FFAD8D}"/>
              </a:ext>
            </a:extLst>
          </p:cNvPr>
          <p:cNvSpPr/>
          <p:nvPr/>
        </p:nvSpPr>
        <p:spPr>
          <a:xfrm>
            <a:off x="4543723" y="4742160"/>
            <a:ext cx="6047780" cy="277317"/>
          </a:xfrm>
          <a:prstGeom prst="rect">
            <a:avLst/>
          </a:prstGeom>
          <a:noFill/>
          <a:ln/>
        </p:spPr>
        <p:txBody>
          <a:bodyPr wrap="none" lIns="0" tIns="0" rIns="0" bIns="0" rtlCol="0" anchor="t"/>
          <a:lstStyle/>
          <a:p>
            <a:pPr>
              <a:lnSpc>
                <a:spcPts val="2167"/>
              </a:lnSpc>
            </a:pPr>
            <a:r>
              <a:rPr lang="en-US" sz="1600" dirty="0">
                <a:solidFill>
                  <a:srgbClr val="000000"/>
                </a:solidFill>
                <a:latin typeface="Aptos" panose="020B0004020202020204" pitchFamily="34" charset="0"/>
                <a:ea typeface="Inter" pitchFamily="34" charset="-122"/>
                <a:cs typeface="Inter" pitchFamily="34" charset="-120"/>
              </a:rPr>
              <a:t>df.describe() for all numerics at once. Then apply domain knowledge: Age_max=150 is impossible; Score_min=-5 is invalid; GPA_max=5.0 could be a different scale. Build an explicit range contract before cleaning.</a:t>
            </a:r>
            <a:endParaRPr lang="en-US" sz="1600" dirty="0">
              <a:latin typeface="Aptos" panose="020B0004020202020204" pitchFamily="34" charset="0"/>
            </a:endParaRPr>
          </a:p>
        </p:txBody>
      </p:sp>
      <p:sp>
        <p:nvSpPr>
          <p:cNvPr id="14" name="Shape 10">
            <a:extLst>
              <a:ext uri="{FF2B5EF4-FFF2-40B4-BE49-F238E27FC236}">
                <a16:creationId xmlns:a16="http://schemas.microsoft.com/office/drawing/2014/main" id="{D49E3FA6-456A-99F3-84BC-18286A502C2E}"/>
              </a:ext>
            </a:extLst>
          </p:cNvPr>
          <p:cNvSpPr/>
          <p:nvPr/>
        </p:nvSpPr>
        <p:spPr>
          <a:xfrm>
            <a:off x="4364137" y="5372299"/>
            <a:ext cx="6406952" cy="1011039"/>
          </a:xfrm>
          <a:prstGeom prst="roundRect">
            <a:avLst>
              <a:gd name="adj" fmla="val 7199"/>
            </a:avLst>
          </a:prstGeom>
          <a:solidFill>
            <a:srgbClr val="CCEDFF"/>
          </a:solidFill>
          <a:ln w="7620">
            <a:solidFill>
              <a:srgbClr val="B2D3E5"/>
            </a:solidFill>
            <a:prstDash val="solid"/>
          </a:ln>
        </p:spPr>
        <p:txBody>
          <a:bodyPr/>
          <a:lstStyle/>
          <a:p>
            <a:endParaRPr lang="en-US">
              <a:latin typeface="Aptos" panose="020B0004020202020204" pitchFamily="34" charset="0"/>
            </a:endParaRPr>
          </a:p>
        </p:txBody>
      </p:sp>
      <p:sp>
        <p:nvSpPr>
          <p:cNvPr id="15" name="Text 11">
            <a:extLst>
              <a:ext uri="{FF2B5EF4-FFF2-40B4-BE49-F238E27FC236}">
                <a16:creationId xmlns:a16="http://schemas.microsoft.com/office/drawing/2014/main" id="{935A6E45-FD32-C41F-E545-04BDC00906EE}"/>
              </a:ext>
            </a:extLst>
          </p:cNvPr>
          <p:cNvSpPr/>
          <p:nvPr/>
        </p:nvSpPr>
        <p:spPr>
          <a:xfrm>
            <a:off x="4543723" y="5551884"/>
            <a:ext cx="2166143" cy="270668"/>
          </a:xfrm>
          <a:prstGeom prst="rect">
            <a:avLst/>
          </a:prstGeom>
          <a:noFill/>
          <a:ln/>
        </p:spPr>
        <p:txBody>
          <a:bodyPr wrap="none" lIns="0" tIns="0" rIns="0" bIns="0" rtlCol="0" anchor="t"/>
          <a:lstStyle/>
          <a:p>
            <a:pPr>
              <a:lnSpc>
                <a:spcPts val="2125"/>
              </a:lnSpc>
            </a:pPr>
            <a:r>
              <a:rPr lang="en-US" sz="2000" b="1" dirty="0">
                <a:solidFill>
                  <a:srgbClr val="000000"/>
                </a:solidFill>
                <a:latin typeface="Aptos" panose="020B0004020202020204" pitchFamily="34" charset="0"/>
                <a:ea typeface="Playfair Display Bold" pitchFamily="34" charset="-122"/>
                <a:cs typeface="Playfair Display Bold" pitchFamily="34" charset="-120"/>
              </a:rPr>
              <a:t>List Unique Values</a:t>
            </a:r>
            <a:endParaRPr lang="en-US" sz="2000" dirty="0">
              <a:latin typeface="Aptos" panose="020B0004020202020204" pitchFamily="34" charset="0"/>
            </a:endParaRPr>
          </a:p>
        </p:txBody>
      </p:sp>
      <p:sp>
        <p:nvSpPr>
          <p:cNvPr id="16" name="Text 12">
            <a:extLst>
              <a:ext uri="{FF2B5EF4-FFF2-40B4-BE49-F238E27FC236}">
                <a16:creationId xmlns:a16="http://schemas.microsoft.com/office/drawing/2014/main" id="{01B4286E-6FB3-F52F-D8FD-0F88F2C0AB5F}"/>
              </a:ext>
            </a:extLst>
          </p:cNvPr>
          <p:cNvSpPr/>
          <p:nvPr/>
        </p:nvSpPr>
        <p:spPr>
          <a:xfrm>
            <a:off x="4543723" y="5926435"/>
            <a:ext cx="6047780" cy="277317"/>
          </a:xfrm>
          <a:prstGeom prst="rect">
            <a:avLst/>
          </a:prstGeom>
          <a:noFill/>
          <a:ln/>
        </p:spPr>
        <p:txBody>
          <a:bodyPr wrap="none" lIns="0" tIns="0" rIns="0" bIns="0" rtlCol="0" anchor="t"/>
          <a:lstStyle/>
          <a:p>
            <a:pPr>
              <a:lnSpc>
                <a:spcPts val="2167"/>
              </a:lnSpc>
            </a:pPr>
            <a:r>
              <a:rPr lang="en-US" sz="1600" dirty="0">
                <a:solidFill>
                  <a:srgbClr val="000000"/>
                </a:solidFill>
                <a:latin typeface="Aptos" panose="020B0004020202020204" pitchFamily="34" charset="0"/>
                <a:ea typeface="Inter" pitchFamily="34" charset="-122"/>
                <a:cs typeface="Inter" pitchFamily="34" charset="-120"/>
              </a:rPr>
              <a:t>df["col"].value_counts() shows all category frequencies. df["col"].nunique() flags unexpected variety: a yes/no field showing 6 unique values has inconsistencies. Always inspect categoricals before any groupby.</a:t>
            </a:r>
            <a:endParaRPr lang="en-US" sz="1600" dirty="0">
              <a:latin typeface="Aptos" panose="020B0004020202020204" pitchFamily="34" charset="0"/>
            </a:endParaRPr>
          </a:p>
        </p:txBody>
      </p:sp>
    </p:spTree>
    <p:extLst>
      <p:ext uri="{BB962C8B-B14F-4D97-AF65-F5344CB8AC3E}">
        <p14:creationId xmlns:p14="http://schemas.microsoft.com/office/powerpoint/2010/main" val="413874599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685C19-8F33-9583-718E-DDD20294C285}"/>
              </a:ext>
            </a:extLst>
          </p:cNvPr>
          <p:cNvSpPr>
            <a:spLocks noGrp="1"/>
          </p:cNvSpPr>
          <p:nvPr>
            <p:ph type="title"/>
          </p:nvPr>
        </p:nvSpPr>
        <p:spPr>
          <a:xfrm>
            <a:off x="838200" y="1099100"/>
            <a:ext cx="10515600" cy="1325563"/>
          </a:xfrm>
        </p:spPr>
        <p:txBody>
          <a:bodyPr anchor="ctr">
            <a:normAutofit/>
          </a:bodyPr>
          <a:lstStyle/>
          <a:p>
            <a:r>
              <a:rPr lang="en-US" dirty="0"/>
              <a:t>Visualizing to Find Problems</a:t>
            </a:r>
          </a:p>
        </p:txBody>
      </p:sp>
      <p:sp>
        <p:nvSpPr>
          <p:cNvPr id="3" name="Content Placeholder 2">
            <a:extLst>
              <a:ext uri="{FF2B5EF4-FFF2-40B4-BE49-F238E27FC236}">
                <a16:creationId xmlns:a16="http://schemas.microsoft.com/office/drawing/2014/main" id="{F2654B71-FCDE-08F5-C226-69570700B3C4}"/>
              </a:ext>
            </a:extLst>
          </p:cNvPr>
          <p:cNvSpPr>
            <a:spLocks noGrp="1"/>
          </p:cNvSpPr>
          <p:nvPr>
            <p:ph sz="half" idx="1"/>
          </p:nvPr>
        </p:nvSpPr>
        <p:spPr>
          <a:xfrm>
            <a:off x="838200" y="2491032"/>
            <a:ext cx="5181600" cy="3685931"/>
          </a:xfrm>
        </p:spPr>
        <p:txBody>
          <a:bodyPr>
            <a:normAutofit/>
          </a:bodyPr>
          <a:lstStyle/>
          <a:p>
            <a:r>
              <a:rPr lang="en-US" b="1" dirty="0"/>
              <a:t xml:space="preserve">Box Plots </a:t>
            </a:r>
            <a:r>
              <a:rPr lang="en-US" dirty="0"/>
              <a:t>are great for spotting outliers that fall outside the whiskers.</a:t>
            </a:r>
          </a:p>
          <a:p>
            <a:r>
              <a:rPr lang="en-US" dirty="0"/>
              <a:t>The isolated point above shows a clear outlier that needs investigation.</a:t>
            </a:r>
          </a:p>
          <a:p>
            <a:endParaRPr lang="en-US" dirty="0"/>
          </a:p>
          <a:p>
            <a:endParaRPr lang="en-US" dirty="0"/>
          </a:p>
          <a:p>
            <a:endParaRPr lang="en-US" dirty="0"/>
          </a:p>
        </p:txBody>
      </p:sp>
      <p:pic>
        <p:nvPicPr>
          <p:cNvPr id="4" name="Image 0" descr="preencoded.png">
            <a:extLst>
              <a:ext uri="{FF2B5EF4-FFF2-40B4-BE49-F238E27FC236}">
                <a16:creationId xmlns:a16="http://schemas.microsoft.com/office/drawing/2014/main" id="{CA293A60-8647-C277-D666-7195F68A84E7}"/>
              </a:ext>
            </a:extLst>
          </p:cNvPr>
          <p:cNvPicPr>
            <a:picLocks noChangeAspect="1"/>
          </p:cNvPicPr>
          <p:nvPr/>
        </p:nvPicPr>
        <p:blipFill>
          <a:blip r:embed="rId3" cstate="screen">
            <a:extLst>
              <a:ext uri="{28A0092B-C50C-407E-A947-70E740481C1C}">
                <a14:useLocalDpi xmlns:a14="http://schemas.microsoft.com/office/drawing/2010/main"/>
              </a:ext>
            </a:extLst>
          </a:blip>
          <a:srcRect b="-3"/>
          <a:stretch>
            <a:fillRect/>
          </a:stretch>
        </p:blipFill>
        <p:spPr>
          <a:xfrm>
            <a:off x="6529388" y="2158328"/>
            <a:ext cx="5181600" cy="4351338"/>
          </a:xfrm>
          <a:prstGeom prst="rect">
            <a:avLst/>
          </a:prstGeom>
          <a:noFill/>
        </p:spPr>
      </p:pic>
    </p:spTree>
    <p:extLst>
      <p:ext uri="{BB962C8B-B14F-4D97-AF65-F5344CB8AC3E}">
        <p14:creationId xmlns:p14="http://schemas.microsoft.com/office/powerpoint/2010/main" val="262174280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C7F599-17A7-6806-CF3D-4C0C2D14F5CD}"/>
              </a:ext>
            </a:extLst>
          </p:cNvPr>
          <p:cNvSpPr>
            <a:spLocks noGrp="1"/>
          </p:cNvSpPr>
          <p:nvPr>
            <p:ph type="title"/>
          </p:nvPr>
        </p:nvSpPr>
        <p:spPr/>
        <p:txBody>
          <a:bodyPr/>
          <a:lstStyle/>
          <a:p>
            <a:r>
              <a:rPr lang="en-US" dirty="0"/>
              <a:t xml:space="preserve">Handling Missing Data </a:t>
            </a:r>
          </a:p>
        </p:txBody>
      </p:sp>
      <p:graphicFrame>
        <p:nvGraphicFramePr>
          <p:cNvPr id="4" name="Content Placeholder 3">
            <a:extLst>
              <a:ext uri="{FF2B5EF4-FFF2-40B4-BE49-F238E27FC236}">
                <a16:creationId xmlns:a16="http://schemas.microsoft.com/office/drawing/2014/main" id="{B8FD7014-4A66-E828-669C-51E2B1FE017B}"/>
              </a:ext>
            </a:extLst>
          </p:cNvPr>
          <p:cNvGraphicFramePr>
            <a:graphicFrameLocks noGrp="1"/>
          </p:cNvGraphicFramePr>
          <p:nvPr>
            <p:ph idx="1"/>
            <p:extLst>
              <p:ext uri="{D42A27DB-BD31-4B8C-83A1-F6EECF244321}">
                <p14:modId xmlns:p14="http://schemas.microsoft.com/office/powerpoint/2010/main" val="3164598881"/>
              </p:ext>
            </p:extLst>
          </p:nvPr>
        </p:nvGraphicFramePr>
        <p:xfrm>
          <a:off x="838200" y="2603500"/>
          <a:ext cx="10515600" cy="35734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43550345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68710E-16CD-D386-CBD6-0CF9A6D61A62}"/>
              </a:ext>
            </a:extLst>
          </p:cNvPr>
          <p:cNvSpPr>
            <a:spLocks noGrp="1"/>
          </p:cNvSpPr>
          <p:nvPr>
            <p:ph type="title"/>
          </p:nvPr>
        </p:nvSpPr>
        <p:spPr/>
        <p:txBody>
          <a:bodyPr/>
          <a:lstStyle/>
          <a:p>
            <a:r>
              <a:rPr lang="en-US" dirty="0">
                <a:latin typeface="Aptos" panose="020B0004020202020204" pitchFamily="34" charset="0"/>
              </a:rPr>
              <a:t>Handling Outliers</a:t>
            </a:r>
            <a:endParaRPr lang="en-US" dirty="0"/>
          </a:p>
        </p:txBody>
      </p:sp>
      <p:graphicFrame>
        <p:nvGraphicFramePr>
          <p:cNvPr id="4" name="Content Placeholder 3">
            <a:extLst>
              <a:ext uri="{FF2B5EF4-FFF2-40B4-BE49-F238E27FC236}">
                <a16:creationId xmlns:a16="http://schemas.microsoft.com/office/drawing/2014/main" id="{35108FBA-7E0E-FA24-7CA3-197043F898BD}"/>
              </a:ext>
            </a:extLst>
          </p:cNvPr>
          <p:cNvGraphicFramePr>
            <a:graphicFrameLocks noGrp="1"/>
          </p:cNvGraphicFramePr>
          <p:nvPr>
            <p:ph idx="1"/>
            <p:extLst>
              <p:ext uri="{D42A27DB-BD31-4B8C-83A1-F6EECF244321}">
                <p14:modId xmlns:p14="http://schemas.microsoft.com/office/powerpoint/2010/main" val="3833386611"/>
              </p:ext>
            </p:extLst>
          </p:nvPr>
        </p:nvGraphicFramePr>
        <p:xfrm>
          <a:off x="464695" y="2603500"/>
          <a:ext cx="10889105" cy="375233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48338582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9FE355-6F14-5845-1113-0801036463A9}"/>
              </a:ext>
            </a:extLst>
          </p:cNvPr>
          <p:cNvSpPr>
            <a:spLocks noGrp="1"/>
          </p:cNvSpPr>
          <p:nvPr>
            <p:ph type="title"/>
          </p:nvPr>
        </p:nvSpPr>
        <p:spPr/>
        <p:txBody>
          <a:bodyPr/>
          <a:lstStyle/>
          <a:p>
            <a:r>
              <a:rPr lang="en-US" dirty="0"/>
              <a:t>Correcting Inconsistencies</a:t>
            </a:r>
          </a:p>
        </p:txBody>
      </p:sp>
      <p:graphicFrame>
        <p:nvGraphicFramePr>
          <p:cNvPr id="4" name="Content Placeholder 3">
            <a:extLst>
              <a:ext uri="{FF2B5EF4-FFF2-40B4-BE49-F238E27FC236}">
                <a16:creationId xmlns:a16="http://schemas.microsoft.com/office/drawing/2014/main" id="{943E24AF-E417-84E1-4900-5A6E309660A1}"/>
              </a:ext>
            </a:extLst>
          </p:cNvPr>
          <p:cNvGraphicFramePr>
            <a:graphicFrameLocks noGrp="1"/>
          </p:cNvGraphicFramePr>
          <p:nvPr>
            <p:ph idx="1"/>
            <p:extLst>
              <p:ext uri="{D42A27DB-BD31-4B8C-83A1-F6EECF244321}">
                <p14:modId xmlns:p14="http://schemas.microsoft.com/office/powerpoint/2010/main" val="118261012"/>
              </p:ext>
            </p:extLst>
          </p:nvPr>
        </p:nvGraphicFramePr>
        <p:xfrm>
          <a:off x="838200" y="2603500"/>
          <a:ext cx="10515600" cy="35734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78169726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239843"/>
            <a:ext cx="4572000" cy="6858000"/>
          </a:xfrm>
          <a:prstGeom prst="rect">
            <a:avLst/>
          </a:prstGeom>
        </p:spPr>
      </p:pic>
      <p:sp>
        <p:nvSpPr>
          <p:cNvPr id="3" name="Text 0"/>
          <p:cNvSpPr/>
          <p:nvPr/>
        </p:nvSpPr>
        <p:spPr>
          <a:xfrm>
            <a:off x="5233492" y="1339355"/>
            <a:ext cx="4725492" cy="590649"/>
          </a:xfrm>
          <a:prstGeom prst="rect">
            <a:avLst/>
          </a:prstGeom>
          <a:noFill/>
          <a:ln/>
        </p:spPr>
        <p:txBody>
          <a:bodyPr wrap="none" lIns="0" tIns="0" rIns="0" bIns="0" rtlCol="0" anchor="t"/>
          <a:lstStyle/>
          <a:p>
            <a:pPr>
              <a:lnSpc>
                <a:spcPts val="4625"/>
              </a:lnSpc>
            </a:pPr>
            <a:r>
              <a:rPr lang="en-US" sz="3708" b="1" dirty="0">
                <a:solidFill>
                  <a:srgbClr val="000000"/>
                </a:solidFill>
                <a:ea typeface="Playfair Display Bold" pitchFamily="34" charset="-122"/>
                <a:cs typeface="Playfair Display Bold" pitchFamily="34" charset="-120"/>
              </a:rPr>
              <a:t>Removing Duplicates</a:t>
            </a:r>
            <a:endParaRPr lang="en-US" sz="3708" dirty="0"/>
          </a:p>
        </p:txBody>
      </p:sp>
      <p:sp>
        <p:nvSpPr>
          <p:cNvPr id="4" name="Shape 1"/>
          <p:cNvSpPr/>
          <p:nvPr/>
        </p:nvSpPr>
        <p:spPr>
          <a:xfrm>
            <a:off x="5233492" y="2213471"/>
            <a:ext cx="141684" cy="711101"/>
          </a:xfrm>
          <a:prstGeom prst="roundRect">
            <a:avLst>
              <a:gd name="adj" fmla="val 56033"/>
            </a:avLst>
          </a:prstGeom>
          <a:solidFill>
            <a:srgbClr val="CCEDFF"/>
          </a:solidFill>
          <a:ln w="7620">
            <a:solidFill>
              <a:srgbClr val="B2D3E5"/>
            </a:solidFill>
            <a:prstDash val="solid"/>
          </a:ln>
        </p:spPr>
        <p:txBody>
          <a:bodyPr/>
          <a:lstStyle/>
          <a:p>
            <a:endParaRPr lang="en-US" sz="1500"/>
          </a:p>
        </p:txBody>
      </p:sp>
      <p:sp>
        <p:nvSpPr>
          <p:cNvPr id="5" name="Text 2"/>
          <p:cNvSpPr/>
          <p:nvPr/>
        </p:nvSpPr>
        <p:spPr>
          <a:xfrm>
            <a:off x="5658644" y="2213471"/>
            <a:ext cx="2717602" cy="295275"/>
          </a:xfrm>
          <a:prstGeom prst="rect">
            <a:avLst/>
          </a:prstGeom>
          <a:noFill/>
          <a:ln/>
        </p:spPr>
        <p:txBody>
          <a:bodyPr wrap="none" lIns="0" tIns="0" rIns="0" bIns="0" rtlCol="0" anchor="t"/>
          <a:lstStyle/>
          <a:p>
            <a:pPr>
              <a:lnSpc>
                <a:spcPts val="2292"/>
              </a:lnSpc>
            </a:pPr>
            <a:r>
              <a:rPr lang="en-US" sz="1833" b="1" dirty="0">
                <a:solidFill>
                  <a:srgbClr val="000000"/>
                </a:solidFill>
                <a:ea typeface="Playfair Display Bold" pitchFamily="34" charset="-122"/>
                <a:cs typeface="Playfair Display Bold" pitchFamily="34" charset="-120"/>
              </a:rPr>
              <a:t>Identify Exact Duplicates</a:t>
            </a:r>
            <a:endParaRPr lang="en-US" sz="1833" dirty="0"/>
          </a:p>
        </p:txBody>
      </p:sp>
      <p:sp>
        <p:nvSpPr>
          <p:cNvPr id="6" name="Text 3"/>
          <p:cNvSpPr/>
          <p:nvPr/>
        </p:nvSpPr>
        <p:spPr>
          <a:xfrm>
            <a:off x="5658644" y="2622154"/>
            <a:ext cx="5871865" cy="302419"/>
          </a:xfrm>
          <a:prstGeom prst="rect">
            <a:avLst/>
          </a:prstGeom>
          <a:noFill/>
          <a:ln/>
        </p:spPr>
        <p:txBody>
          <a:bodyPr wrap="none" lIns="0" tIns="0" rIns="0" bIns="0" rtlCol="0" anchor="t"/>
          <a:lstStyle/>
          <a:p>
            <a:pPr>
              <a:lnSpc>
                <a:spcPts val="2375"/>
              </a:lnSpc>
            </a:pPr>
            <a:r>
              <a:rPr lang="en-US" sz="1458" dirty="0">
                <a:solidFill>
                  <a:srgbClr val="000000"/>
                </a:solidFill>
                <a:ea typeface="Inter" pitchFamily="34" charset="-122"/>
                <a:cs typeface="Inter" pitchFamily="34" charset="-120"/>
              </a:rPr>
              <a:t>Find records that match completely across all fields.</a:t>
            </a:r>
            <a:endParaRPr lang="en-US" sz="1458" dirty="0"/>
          </a:p>
        </p:txBody>
      </p:sp>
      <p:sp>
        <p:nvSpPr>
          <p:cNvPr id="7" name="Shape 4"/>
          <p:cNvSpPr/>
          <p:nvPr/>
        </p:nvSpPr>
        <p:spPr>
          <a:xfrm>
            <a:off x="5516960" y="3113584"/>
            <a:ext cx="141684" cy="1013519"/>
          </a:xfrm>
          <a:prstGeom prst="roundRect">
            <a:avLst>
              <a:gd name="adj" fmla="val 56033"/>
            </a:avLst>
          </a:prstGeom>
          <a:solidFill>
            <a:srgbClr val="CCEDFF"/>
          </a:solidFill>
          <a:ln w="7620">
            <a:solidFill>
              <a:srgbClr val="B2D3E5"/>
            </a:solidFill>
            <a:prstDash val="solid"/>
          </a:ln>
        </p:spPr>
        <p:txBody>
          <a:bodyPr/>
          <a:lstStyle/>
          <a:p>
            <a:endParaRPr lang="en-US" sz="1500"/>
          </a:p>
        </p:txBody>
      </p:sp>
      <p:sp>
        <p:nvSpPr>
          <p:cNvPr id="8" name="Text 5"/>
          <p:cNvSpPr/>
          <p:nvPr/>
        </p:nvSpPr>
        <p:spPr>
          <a:xfrm>
            <a:off x="5942112" y="3113583"/>
            <a:ext cx="3065859" cy="295275"/>
          </a:xfrm>
          <a:prstGeom prst="rect">
            <a:avLst/>
          </a:prstGeom>
          <a:noFill/>
          <a:ln/>
        </p:spPr>
        <p:txBody>
          <a:bodyPr wrap="none" lIns="0" tIns="0" rIns="0" bIns="0" rtlCol="0" anchor="t"/>
          <a:lstStyle/>
          <a:p>
            <a:pPr>
              <a:lnSpc>
                <a:spcPts val="2292"/>
              </a:lnSpc>
            </a:pPr>
            <a:r>
              <a:rPr lang="en-US" sz="1833" b="1" dirty="0">
                <a:solidFill>
                  <a:srgbClr val="000000"/>
                </a:solidFill>
                <a:ea typeface="Playfair Display Bold" pitchFamily="34" charset="-122"/>
                <a:cs typeface="Playfair Display Bold" pitchFamily="34" charset="-120"/>
              </a:rPr>
              <a:t>Check for Partial Duplicates</a:t>
            </a:r>
            <a:endParaRPr lang="en-US" sz="1833" dirty="0"/>
          </a:p>
        </p:txBody>
      </p:sp>
      <p:sp>
        <p:nvSpPr>
          <p:cNvPr id="9" name="Text 6"/>
          <p:cNvSpPr/>
          <p:nvPr/>
        </p:nvSpPr>
        <p:spPr>
          <a:xfrm>
            <a:off x="5942112" y="3522266"/>
            <a:ext cx="5588397" cy="604838"/>
          </a:xfrm>
          <a:prstGeom prst="rect">
            <a:avLst/>
          </a:prstGeom>
          <a:noFill/>
          <a:ln/>
        </p:spPr>
        <p:txBody>
          <a:bodyPr wrap="square" lIns="0" tIns="0" rIns="0" bIns="0" rtlCol="0" anchor="t"/>
          <a:lstStyle/>
          <a:p>
            <a:pPr>
              <a:lnSpc>
                <a:spcPts val="2375"/>
              </a:lnSpc>
            </a:pPr>
            <a:r>
              <a:rPr lang="en-US" sz="1458" dirty="0">
                <a:solidFill>
                  <a:srgbClr val="000000"/>
                </a:solidFill>
                <a:ea typeface="Inter" pitchFamily="34" charset="-122"/>
                <a:cs typeface="Inter" pitchFamily="34" charset="-120"/>
              </a:rPr>
              <a:t>Look for records that match on key fields but differ slightly in others.</a:t>
            </a:r>
            <a:endParaRPr lang="en-US" sz="1458" dirty="0"/>
          </a:p>
        </p:txBody>
      </p:sp>
      <p:sp>
        <p:nvSpPr>
          <p:cNvPr id="10" name="Shape 7"/>
          <p:cNvSpPr/>
          <p:nvPr/>
        </p:nvSpPr>
        <p:spPr>
          <a:xfrm>
            <a:off x="5800527" y="4316116"/>
            <a:ext cx="141684" cy="1013519"/>
          </a:xfrm>
          <a:prstGeom prst="roundRect">
            <a:avLst>
              <a:gd name="adj" fmla="val 56033"/>
            </a:avLst>
          </a:prstGeom>
          <a:solidFill>
            <a:srgbClr val="CCEDFF"/>
          </a:solidFill>
          <a:ln w="7620">
            <a:solidFill>
              <a:srgbClr val="B2D3E5"/>
            </a:solidFill>
            <a:prstDash val="solid"/>
          </a:ln>
        </p:spPr>
        <p:txBody>
          <a:bodyPr/>
          <a:lstStyle/>
          <a:p>
            <a:endParaRPr lang="en-US" sz="1500"/>
          </a:p>
        </p:txBody>
      </p:sp>
      <p:sp>
        <p:nvSpPr>
          <p:cNvPr id="11" name="Text 8"/>
          <p:cNvSpPr/>
          <p:nvPr/>
        </p:nvSpPr>
        <p:spPr>
          <a:xfrm>
            <a:off x="6225680" y="4316115"/>
            <a:ext cx="2369939" cy="295275"/>
          </a:xfrm>
          <a:prstGeom prst="rect">
            <a:avLst/>
          </a:prstGeom>
          <a:noFill/>
          <a:ln/>
        </p:spPr>
        <p:txBody>
          <a:bodyPr wrap="none" lIns="0" tIns="0" rIns="0" bIns="0" rtlCol="0" anchor="t"/>
          <a:lstStyle/>
          <a:p>
            <a:pPr>
              <a:lnSpc>
                <a:spcPts val="2292"/>
              </a:lnSpc>
            </a:pPr>
            <a:r>
              <a:rPr lang="en-US" sz="1833" b="1" dirty="0">
                <a:solidFill>
                  <a:srgbClr val="000000"/>
                </a:solidFill>
                <a:ea typeface="Playfair Display Bold" pitchFamily="34" charset="-122"/>
                <a:cs typeface="Playfair Display Bold" pitchFamily="34" charset="-120"/>
              </a:rPr>
              <a:t>Decide Which to Keep</a:t>
            </a:r>
            <a:endParaRPr lang="en-US" sz="1833" dirty="0"/>
          </a:p>
        </p:txBody>
      </p:sp>
      <p:sp>
        <p:nvSpPr>
          <p:cNvPr id="12" name="Text 9"/>
          <p:cNvSpPr/>
          <p:nvPr/>
        </p:nvSpPr>
        <p:spPr>
          <a:xfrm>
            <a:off x="6225679" y="4724797"/>
            <a:ext cx="5304830" cy="604838"/>
          </a:xfrm>
          <a:prstGeom prst="rect">
            <a:avLst/>
          </a:prstGeom>
          <a:noFill/>
          <a:ln/>
        </p:spPr>
        <p:txBody>
          <a:bodyPr wrap="square" lIns="0" tIns="0" rIns="0" bIns="0" rtlCol="0" anchor="t"/>
          <a:lstStyle/>
          <a:p>
            <a:pPr>
              <a:lnSpc>
                <a:spcPts val="2375"/>
              </a:lnSpc>
            </a:pPr>
            <a:r>
              <a:rPr lang="en-US" sz="1458" dirty="0">
                <a:solidFill>
                  <a:srgbClr val="000000"/>
                </a:solidFill>
                <a:ea typeface="Inter" pitchFamily="34" charset="-122"/>
                <a:cs typeface="Inter" pitchFamily="34" charset="-120"/>
              </a:rPr>
              <a:t>For partial duplicates, determine which record is more complete or accurate.</a:t>
            </a:r>
            <a:endParaRPr lang="en-US" sz="1458"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00277C-067E-8E10-3E41-8A2CB42F565F}"/>
              </a:ext>
            </a:extLst>
          </p:cNvPr>
          <p:cNvSpPr>
            <a:spLocks noGrp="1"/>
          </p:cNvSpPr>
          <p:nvPr>
            <p:ph type="title"/>
          </p:nvPr>
        </p:nvSpPr>
        <p:spPr>
          <a:xfrm>
            <a:off x="838200" y="814287"/>
            <a:ext cx="10515600" cy="1325563"/>
          </a:xfrm>
        </p:spPr>
        <p:txBody>
          <a:bodyPr/>
          <a:lstStyle/>
          <a:p>
            <a:r>
              <a:rPr lang="en-US" dirty="0"/>
              <a:t>Removing Duplicates</a:t>
            </a:r>
          </a:p>
        </p:txBody>
      </p:sp>
      <p:graphicFrame>
        <p:nvGraphicFramePr>
          <p:cNvPr id="5" name="Content Placeholder 4">
            <a:extLst>
              <a:ext uri="{FF2B5EF4-FFF2-40B4-BE49-F238E27FC236}">
                <a16:creationId xmlns:a16="http://schemas.microsoft.com/office/drawing/2014/main" id="{4F6E32C6-79B8-58F7-C724-A1F7EAB125B6}"/>
              </a:ext>
            </a:extLst>
          </p:cNvPr>
          <p:cNvGraphicFramePr>
            <a:graphicFrameLocks noGrp="1"/>
          </p:cNvGraphicFramePr>
          <p:nvPr>
            <p:ph idx="1"/>
            <p:extLst>
              <p:ext uri="{D42A27DB-BD31-4B8C-83A1-F6EECF244321}">
                <p14:modId xmlns:p14="http://schemas.microsoft.com/office/powerpoint/2010/main" val="2440589560"/>
              </p:ext>
            </p:extLst>
          </p:nvPr>
        </p:nvGraphicFramePr>
        <p:xfrm>
          <a:off x="3732550" y="2603500"/>
          <a:ext cx="7621249" cy="357346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4" name="Image 0" descr="preencoded.png">
            <a:extLst>
              <a:ext uri="{FF2B5EF4-FFF2-40B4-BE49-F238E27FC236}">
                <a16:creationId xmlns:a16="http://schemas.microsoft.com/office/drawing/2014/main" id="{1A306B1E-5E81-0D3A-3C73-00EFB56B3344}"/>
              </a:ext>
            </a:extLst>
          </p:cNvPr>
          <p:cNvPicPr>
            <a:picLocks noChangeAspect="1"/>
          </p:cNvPicPr>
          <p:nvPr/>
        </p:nvPicPr>
        <p:blipFill>
          <a:blip r:embed="rId8" cstate="screen">
            <a:extLst>
              <a:ext uri="{28A0092B-C50C-407E-A947-70E740481C1C}">
                <a14:useLocalDpi xmlns:a14="http://schemas.microsoft.com/office/drawing/2010/main"/>
              </a:ext>
            </a:extLst>
          </a:blip>
          <a:stretch>
            <a:fillRect/>
          </a:stretch>
        </p:blipFill>
        <p:spPr>
          <a:xfrm>
            <a:off x="269823" y="2031164"/>
            <a:ext cx="3043003" cy="4564504"/>
          </a:xfrm>
          <a:prstGeom prst="rect">
            <a:avLst/>
          </a:prstGeom>
        </p:spPr>
      </p:pic>
    </p:spTree>
    <p:extLst>
      <p:ext uri="{BB962C8B-B14F-4D97-AF65-F5344CB8AC3E}">
        <p14:creationId xmlns:p14="http://schemas.microsoft.com/office/powerpoint/2010/main" val="332381095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1E64B8-29EC-B0FC-2323-6B83C5E6DCBC}"/>
              </a:ext>
            </a:extLst>
          </p:cNvPr>
          <p:cNvSpPr>
            <a:spLocks noGrp="1"/>
          </p:cNvSpPr>
          <p:nvPr>
            <p:ph type="title"/>
          </p:nvPr>
        </p:nvSpPr>
        <p:spPr/>
        <p:txBody>
          <a:bodyPr/>
          <a:lstStyle/>
          <a:p>
            <a:r>
              <a:rPr lang="en-US" dirty="0"/>
              <a:t>Document Your Cleaning</a:t>
            </a:r>
          </a:p>
        </p:txBody>
      </p:sp>
      <p:sp>
        <p:nvSpPr>
          <p:cNvPr id="4" name="Shape 1">
            <a:extLst>
              <a:ext uri="{FF2B5EF4-FFF2-40B4-BE49-F238E27FC236}">
                <a16:creationId xmlns:a16="http://schemas.microsoft.com/office/drawing/2014/main" id="{354F8AB7-3B3A-87F6-D7C5-996A0F5BBE1E}"/>
              </a:ext>
            </a:extLst>
          </p:cNvPr>
          <p:cNvSpPr/>
          <p:nvPr/>
        </p:nvSpPr>
        <p:spPr>
          <a:xfrm>
            <a:off x="676482" y="2424257"/>
            <a:ext cx="3054053" cy="2009081"/>
          </a:xfrm>
          <a:prstGeom prst="roundRect">
            <a:avLst>
              <a:gd name="adj" fmla="val 3952"/>
            </a:avLst>
          </a:prstGeom>
          <a:solidFill>
            <a:srgbClr val="CCEDFF"/>
          </a:solidFill>
          <a:ln w="7620">
            <a:solidFill>
              <a:srgbClr val="B2D3E5"/>
            </a:solidFill>
            <a:prstDash val="solid"/>
          </a:ln>
        </p:spPr>
        <p:txBody>
          <a:bodyPr/>
          <a:lstStyle/>
          <a:p>
            <a:endParaRPr lang="en-US">
              <a:latin typeface="Aptos" panose="020B0004020202020204" pitchFamily="34" charset="0"/>
            </a:endParaRPr>
          </a:p>
        </p:txBody>
      </p:sp>
      <p:sp>
        <p:nvSpPr>
          <p:cNvPr id="5" name="Text 2">
            <a:extLst>
              <a:ext uri="{FF2B5EF4-FFF2-40B4-BE49-F238E27FC236}">
                <a16:creationId xmlns:a16="http://schemas.microsoft.com/office/drawing/2014/main" id="{AD634639-B36D-1077-F756-B73F92469B21}"/>
              </a:ext>
            </a:extLst>
          </p:cNvPr>
          <p:cNvSpPr/>
          <p:nvPr/>
        </p:nvSpPr>
        <p:spPr>
          <a:xfrm>
            <a:off x="871844" y="2619618"/>
            <a:ext cx="2362696" cy="295275"/>
          </a:xfrm>
          <a:prstGeom prst="rect">
            <a:avLst/>
          </a:prstGeom>
          <a:noFill/>
          <a:ln/>
        </p:spPr>
        <p:txBody>
          <a:bodyPr wrap="none" lIns="0" tIns="0" rIns="0" bIns="0" rtlCol="0" anchor="t"/>
          <a:lstStyle/>
          <a:p>
            <a:pPr>
              <a:lnSpc>
                <a:spcPts val="2292"/>
              </a:lnSpc>
            </a:pPr>
            <a:r>
              <a:rPr lang="en-US" sz="2400" b="1" dirty="0">
                <a:solidFill>
                  <a:srgbClr val="000000"/>
                </a:solidFill>
                <a:latin typeface="Aptos" panose="020B0004020202020204" pitchFamily="34" charset="0"/>
                <a:ea typeface="Playfair Display Bold" pitchFamily="34" charset="-122"/>
                <a:cs typeface="Playfair Display Bold" pitchFamily="34" charset="-120"/>
              </a:rPr>
              <a:t>Keep a Log</a:t>
            </a:r>
            <a:endParaRPr lang="en-US" sz="2400" dirty="0">
              <a:latin typeface="Aptos" panose="020B0004020202020204" pitchFamily="34" charset="0"/>
            </a:endParaRPr>
          </a:p>
        </p:txBody>
      </p:sp>
      <p:sp>
        <p:nvSpPr>
          <p:cNvPr id="6" name="Text 3">
            <a:extLst>
              <a:ext uri="{FF2B5EF4-FFF2-40B4-BE49-F238E27FC236}">
                <a16:creationId xmlns:a16="http://schemas.microsoft.com/office/drawing/2014/main" id="{5269330C-E763-9E36-3AF1-E8F605A4D3C5}"/>
              </a:ext>
            </a:extLst>
          </p:cNvPr>
          <p:cNvSpPr/>
          <p:nvPr/>
        </p:nvSpPr>
        <p:spPr>
          <a:xfrm>
            <a:off x="871844" y="3028300"/>
            <a:ext cx="2663329" cy="907257"/>
          </a:xfrm>
          <a:prstGeom prst="rect">
            <a:avLst/>
          </a:prstGeom>
          <a:noFill/>
          <a:ln/>
        </p:spPr>
        <p:txBody>
          <a:bodyPr wrap="square" lIns="0" tIns="0" rIns="0" bIns="0" rtlCol="0" anchor="t"/>
          <a:lstStyle/>
          <a:p>
            <a:pPr>
              <a:lnSpc>
                <a:spcPts val="2375"/>
              </a:lnSpc>
            </a:pPr>
            <a:r>
              <a:rPr lang="en-US" dirty="0">
                <a:solidFill>
                  <a:srgbClr val="000000"/>
                </a:solidFill>
                <a:latin typeface="Aptos" panose="020B0004020202020204" pitchFamily="34" charset="0"/>
                <a:ea typeface="Inter" pitchFamily="34" charset="-122"/>
                <a:cs typeface="Inter" pitchFamily="34" charset="-120"/>
              </a:rPr>
              <a:t>Record all changes made: "Replaced missing scores with class average"</a:t>
            </a:r>
            <a:endParaRPr lang="en-US" dirty="0">
              <a:latin typeface="Aptos" panose="020B0004020202020204" pitchFamily="34" charset="0"/>
            </a:endParaRPr>
          </a:p>
        </p:txBody>
      </p:sp>
      <p:sp>
        <p:nvSpPr>
          <p:cNvPr id="7" name="Shape 4">
            <a:extLst>
              <a:ext uri="{FF2B5EF4-FFF2-40B4-BE49-F238E27FC236}">
                <a16:creationId xmlns:a16="http://schemas.microsoft.com/office/drawing/2014/main" id="{0160DA24-5D1B-6E62-5CD0-79DCAB61C759}"/>
              </a:ext>
            </a:extLst>
          </p:cNvPr>
          <p:cNvSpPr/>
          <p:nvPr/>
        </p:nvSpPr>
        <p:spPr>
          <a:xfrm>
            <a:off x="3919546" y="2424257"/>
            <a:ext cx="3054053" cy="2009081"/>
          </a:xfrm>
          <a:prstGeom prst="roundRect">
            <a:avLst>
              <a:gd name="adj" fmla="val 3952"/>
            </a:avLst>
          </a:prstGeom>
          <a:solidFill>
            <a:srgbClr val="CCEDFF"/>
          </a:solidFill>
          <a:ln w="7620">
            <a:solidFill>
              <a:srgbClr val="B2D3E5"/>
            </a:solidFill>
            <a:prstDash val="solid"/>
          </a:ln>
        </p:spPr>
        <p:txBody>
          <a:bodyPr/>
          <a:lstStyle/>
          <a:p>
            <a:endParaRPr lang="en-US">
              <a:latin typeface="Aptos" panose="020B0004020202020204" pitchFamily="34" charset="0"/>
            </a:endParaRPr>
          </a:p>
        </p:txBody>
      </p:sp>
      <p:sp>
        <p:nvSpPr>
          <p:cNvPr id="8" name="Text 5">
            <a:extLst>
              <a:ext uri="{FF2B5EF4-FFF2-40B4-BE49-F238E27FC236}">
                <a16:creationId xmlns:a16="http://schemas.microsoft.com/office/drawing/2014/main" id="{318135D0-94FC-2374-02F9-59FB5C3A96CC}"/>
              </a:ext>
            </a:extLst>
          </p:cNvPr>
          <p:cNvSpPr/>
          <p:nvPr/>
        </p:nvSpPr>
        <p:spPr>
          <a:xfrm>
            <a:off x="4114908" y="2619618"/>
            <a:ext cx="2362696" cy="295275"/>
          </a:xfrm>
          <a:prstGeom prst="rect">
            <a:avLst/>
          </a:prstGeom>
          <a:noFill/>
          <a:ln/>
        </p:spPr>
        <p:txBody>
          <a:bodyPr wrap="none" lIns="0" tIns="0" rIns="0" bIns="0" rtlCol="0" anchor="t"/>
          <a:lstStyle/>
          <a:p>
            <a:pPr>
              <a:lnSpc>
                <a:spcPts val="2292"/>
              </a:lnSpc>
            </a:pPr>
            <a:r>
              <a:rPr lang="en-US" sz="2400" b="1" dirty="0">
                <a:solidFill>
                  <a:srgbClr val="000000"/>
                </a:solidFill>
                <a:latin typeface="Aptos" panose="020B0004020202020204" pitchFamily="34" charset="0"/>
                <a:ea typeface="Playfair Display Bold" pitchFamily="34" charset="-122"/>
                <a:cs typeface="Playfair Display Bold" pitchFamily="34" charset="-120"/>
              </a:rPr>
              <a:t>Note Decisions</a:t>
            </a:r>
            <a:endParaRPr lang="en-US" sz="2400" dirty="0">
              <a:latin typeface="Aptos" panose="020B0004020202020204" pitchFamily="34" charset="0"/>
            </a:endParaRPr>
          </a:p>
        </p:txBody>
      </p:sp>
      <p:sp>
        <p:nvSpPr>
          <p:cNvPr id="9" name="Text 6">
            <a:extLst>
              <a:ext uri="{FF2B5EF4-FFF2-40B4-BE49-F238E27FC236}">
                <a16:creationId xmlns:a16="http://schemas.microsoft.com/office/drawing/2014/main" id="{24CB85FE-69FB-44F3-A0C0-26125A805D13}"/>
              </a:ext>
            </a:extLst>
          </p:cNvPr>
          <p:cNvSpPr/>
          <p:nvPr/>
        </p:nvSpPr>
        <p:spPr>
          <a:xfrm>
            <a:off x="4114908" y="3028300"/>
            <a:ext cx="2663329" cy="1209675"/>
          </a:xfrm>
          <a:prstGeom prst="rect">
            <a:avLst/>
          </a:prstGeom>
          <a:noFill/>
          <a:ln/>
        </p:spPr>
        <p:txBody>
          <a:bodyPr wrap="square" lIns="0" tIns="0" rIns="0" bIns="0" rtlCol="0" anchor="t"/>
          <a:lstStyle/>
          <a:p>
            <a:pPr>
              <a:lnSpc>
                <a:spcPts val="2375"/>
              </a:lnSpc>
            </a:pPr>
            <a:r>
              <a:rPr lang="en-US" dirty="0">
                <a:solidFill>
                  <a:srgbClr val="000000"/>
                </a:solidFill>
                <a:latin typeface="Aptos" panose="020B0004020202020204" pitchFamily="34" charset="0"/>
                <a:ea typeface="Inter" pitchFamily="34" charset="-122"/>
                <a:cs typeface="Inter" pitchFamily="34" charset="-120"/>
              </a:rPr>
              <a:t>Explain why you chose certain approaches: "Removed outliers above 3 standard deviations"</a:t>
            </a:r>
            <a:endParaRPr lang="en-US" dirty="0">
              <a:latin typeface="Aptos" panose="020B0004020202020204" pitchFamily="34" charset="0"/>
            </a:endParaRPr>
          </a:p>
        </p:txBody>
      </p:sp>
      <p:sp>
        <p:nvSpPr>
          <p:cNvPr id="10" name="Shape 7">
            <a:extLst>
              <a:ext uri="{FF2B5EF4-FFF2-40B4-BE49-F238E27FC236}">
                <a16:creationId xmlns:a16="http://schemas.microsoft.com/office/drawing/2014/main" id="{0E33A5C4-0A66-9CB3-30BF-A7F3B27F04B1}"/>
              </a:ext>
            </a:extLst>
          </p:cNvPr>
          <p:cNvSpPr/>
          <p:nvPr/>
        </p:nvSpPr>
        <p:spPr>
          <a:xfrm>
            <a:off x="676482" y="4622349"/>
            <a:ext cx="6297018" cy="1404243"/>
          </a:xfrm>
          <a:prstGeom prst="roundRect">
            <a:avLst>
              <a:gd name="adj" fmla="val 5654"/>
            </a:avLst>
          </a:prstGeom>
          <a:solidFill>
            <a:srgbClr val="CCEDFF"/>
          </a:solidFill>
          <a:ln w="7620">
            <a:solidFill>
              <a:srgbClr val="B2D3E5"/>
            </a:solidFill>
            <a:prstDash val="solid"/>
          </a:ln>
        </p:spPr>
        <p:txBody>
          <a:bodyPr/>
          <a:lstStyle/>
          <a:p>
            <a:endParaRPr lang="en-US">
              <a:latin typeface="Aptos" panose="020B0004020202020204" pitchFamily="34" charset="0"/>
            </a:endParaRPr>
          </a:p>
        </p:txBody>
      </p:sp>
      <p:sp>
        <p:nvSpPr>
          <p:cNvPr id="11" name="Text 8">
            <a:extLst>
              <a:ext uri="{FF2B5EF4-FFF2-40B4-BE49-F238E27FC236}">
                <a16:creationId xmlns:a16="http://schemas.microsoft.com/office/drawing/2014/main" id="{0FB0CC2F-6D89-9260-279C-BE0F0E8E5326}"/>
              </a:ext>
            </a:extLst>
          </p:cNvPr>
          <p:cNvSpPr/>
          <p:nvPr/>
        </p:nvSpPr>
        <p:spPr>
          <a:xfrm>
            <a:off x="871844" y="4817710"/>
            <a:ext cx="2362696" cy="295275"/>
          </a:xfrm>
          <a:prstGeom prst="rect">
            <a:avLst/>
          </a:prstGeom>
          <a:noFill/>
          <a:ln/>
        </p:spPr>
        <p:txBody>
          <a:bodyPr wrap="none" lIns="0" tIns="0" rIns="0" bIns="0" rtlCol="0" anchor="t"/>
          <a:lstStyle/>
          <a:p>
            <a:pPr>
              <a:lnSpc>
                <a:spcPts val="2292"/>
              </a:lnSpc>
            </a:pPr>
            <a:r>
              <a:rPr lang="en-US" sz="2400" b="1" dirty="0">
                <a:solidFill>
                  <a:srgbClr val="000000"/>
                </a:solidFill>
                <a:latin typeface="Aptos" panose="020B0004020202020204" pitchFamily="34" charset="0"/>
                <a:ea typeface="Playfair Display Bold" pitchFamily="34" charset="-122"/>
                <a:cs typeface="Playfair Display Bold" pitchFamily="34" charset="-120"/>
              </a:rPr>
              <a:t>Track Impact</a:t>
            </a:r>
            <a:endParaRPr lang="en-US" sz="2400" dirty="0">
              <a:latin typeface="Aptos" panose="020B0004020202020204" pitchFamily="34" charset="0"/>
            </a:endParaRPr>
          </a:p>
        </p:txBody>
      </p:sp>
      <p:sp>
        <p:nvSpPr>
          <p:cNvPr id="12" name="Text 9">
            <a:extLst>
              <a:ext uri="{FF2B5EF4-FFF2-40B4-BE49-F238E27FC236}">
                <a16:creationId xmlns:a16="http://schemas.microsoft.com/office/drawing/2014/main" id="{98CA2604-F138-52F6-6002-62B424C50750}"/>
              </a:ext>
            </a:extLst>
          </p:cNvPr>
          <p:cNvSpPr/>
          <p:nvPr/>
        </p:nvSpPr>
        <p:spPr>
          <a:xfrm>
            <a:off x="871844" y="5226393"/>
            <a:ext cx="5906294" cy="604838"/>
          </a:xfrm>
          <a:prstGeom prst="rect">
            <a:avLst/>
          </a:prstGeom>
          <a:noFill/>
          <a:ln/>
        </p:spPr>
        <p:txBody>
          <a:bodyPr wrap="square" lIns="0" tIns="0" rIns="0" bIns="0" rtlCol="0" anchor="t"/>
          <a:lstStyle/>
          <a:p>
            <a:pPr>
              <a:lnSpc>
                <a:spcPts val="2375"/>
              </a:lnSpc>
            </a:pPr>
            <a:r>
              <a:rPr lang="en-US" dirty="0">
                <a:solidFill>
                  <a:srgbClr val="000000"/>
                </a:solidFill>
                <a:latin typeface="Aptos" panose="020B0004020202020204" pitchFamily="34" charset="0"/>
                <a:ea typeface="Inter" pitchFamily="34" charset="-122"/>
                <a:cs typeface="Inter" pitchFamily="34" charset="-120"/>
              </a:rPr>
              <a:t>Note how cleaning affected results: "Average age changed from 43 to 17 after fixing errors"</a:t>
            </a:r>
            <a:endParaRPr lang="en-US" dirty="0">
              <a:latin typeface="Aptos" panose="020B0004020202020204" pitchFamily="34" charset="0"/>
            </a:endParaRPr>
          </a:p>
        </p:txBody>
      </p:sp>
      <p:pic>
        <p:nvPicPr>
          <p:cNvPr id="13" name="Image 0" descr="preencoded.png">
            <a:extLst>
              <a:ext uri="{FF2B5EF4-FFF2-40B4-BE49-F238E27FC236}">
                <a16:creationId xmlns:a16="http://schemas.microsoft.com/office/drawing/2014/main" id="{435F7D89-2654-01C9-041B-DE1C880DCA86}"/>
              </a:ext>
            </a:extLst>
          </p:cNvPr>
          <p:cNvPicPr>
            <a:picLocks noChangeAspect="1"/>
          </p:cNvPicPr>
          <p:nvPr/>
        </p:nvPicPr>
        <p:blipFill>
          <a:blip r:embed="rId2" cstate="screen">
            <a:extLst>
              <a:ext uri="{28A0092B-C50C-407E-A947-70E740481C1C}">
                <a14:useLocalDpi xmlns:a14="http://schemas.microsoft.com/office/drawing/2010/main"/>
              </a:ext>
            </a:extLst>
          </a:blip>
          <a:srcRect/>
          <a:stretch>
            <a:fillRect/>
          </a:stretch>
        </p:blipFill>
        <p:spPr>
          <a:xfrm>
            <a:off x="7425128" y="2055490"/>
            <a:ext cx="4572000" cy="3170903"/>
          </a:xfrm>
          <a:prstGeom prst="rect">
            <a:avLst/>
          </a:prstGeom>
        </p:spPr>
      </p:pic>
    </p:spTree>
    <p:extLst>
      <p:ext uri="{BB962C8B-B14F-4D97-AF65-F5344CB8AC3E}">
        <p14:creationId xmlns:p14="http://schemas.microsoft.com/office/powerpoint/2010/main" val="2324029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846348-D1F7-F0E6-45F1-B1372D8EF19D}"/>
              </a:ext>
            </a:extLst>
          </p:cNvPr>
          <p:cNvSpPr>
            <a:spLocks noGrp="1"/>
          </p:cNvSpPr>
          <p:nvPr>
            <p:ph type="title"/>
          </p:nvPr>
        </p:nvSpPr>
        <p:spPr>
          <a:xfrm>
            <a:off x="838200" y="549076"/>
            <a:ext cx="10515600" cy="1325563"/>
          </a:xfrm>
        </p:spPr>
        <p:txBody>
          <a:bodyPr/>
          <a:lstStyle/>
          <a:p>
            <a:r>
              <a:rPr lang="en-US" dirty="0"/>
              <a:t>Test Your Cleaned Data</a:t>
            </a:r>
          </a:p>
        </p:txBody>
      </p:sp>
      <p:sp useBgFill="1">
        <p:nvSpPr>
          <p:cNvPr id="4" name="Shape 1">
            <a:extLst>
              <a:ext uri="{FF2B5EF4-FFF2-40B4-BE49-F238E27FC236}">
                <a16:creationId xmlns:a16="http://schemas.microsoft.com/office/drawing/2014/main" id="{860E4318-DBB4-0400-A8FC-3891D54FB0DC}"/>
              </a:ext>
            </a:extLst>
          </p:cNvPr>
          <p:cNvSpPr/>
          <p:nvPr/>
        </p:nvSpPr>
        <p:spPr>
          <a:xfrm>
            <a:off x="515652" y="1784860"/>
            <a:ext cx="436180" cy="526580"/>
          </a:xfrm>
          <a:prstGeom prst="roundRect">
            <a:avLst>
              <a:gd name="adj" fmla="val 18669"/>
            </a:avLst>
          </a:prstGeom>
          <a:ln w="7620">
            <a:solidFill>
              <a:srgbClr val="B2D3E5"/>
            </a:solidFill>
            <a:prstDash val="solid"/>
          </a:ln>
        </p:spPr>
        <p:txBody>
          <a:bodyPr/>
          <a:lstStyle/>
          <a:p>
            <a:endParaRPr lang="en-US" sz="2000">
              <a:latin typeface="Aptos" panose="020B0004020202020204" pitchFamily="34" charset="0"/>
            </a:endParaRPr>
          </a:p>
        </p:txBody>
      </p:sp>
      <p:sp useBgFill="1">
        <p:nvSpPr>
          <p:cNvPr id="5" name="Text 2">
            <a:extLst>
              <a:ext uri="{FF2B5EF4-FFF2-40B4-BE49-F238E27FC236}">
                <a16:creationId xmlns:a16="http://schemas.microsoft.com/office/drawing/2014/main" id="{4E9AFACB-E9A4-8E70-2511-6854114BBD24}"/>
              </a:ext>
            </a:extLst>
          </p:cNvPr>
          <p:cNvSpPr/>
          <p:nvPr/>
        </p:nvSpPr>
        <p:spPr>
          <a:xfrm>
            <a:off x="597472" y="1873291"/>
            <a:ext cx="283468" cy="324742"/>
          </a:xfrm>
          <a:prstGeom prst="rect">
            <a:avLst/>
          </a:prstGeom>
          <a:ln/>
        </p:spPr>
        <p:txBody>
          <a:bodyPr wrap="none" lIns="0" tIns="0" rIns="0" bIns="0" rtlCol="0" anchor="t"/>
          <a:lstStyle/>
          <a:p>
            <a:pPr algn="ctr">
              <a:lnSpc>
                <a:spcPts val="2208"/>
              </a:lnSpc>
            </a:pPr>
            <a:r>
              <a:rPr lang="en-US" sz="2800" b="1" dirty="0">
                <a:solidFill>
                  <a:srgbClr val="000000"/>
                </a:solidFill>
                <a:latin typeface="Aptos" panose="020B0004020202020204" pitchFamily="34" charset="0"/>
                <a:ea typeface="Playfair Display Bold" pitchFamily="34" charset="-122"/>
                <a:cs typeface="Playfair Display Bold" pitchFamily="34" charset="-120"/>
              </a:rPr>
              <a:t>1</a:t>
            </a:r>
            <a:endParaRPr lang="en-US" sz="3200" dirty="0">
              <a:latin typeface="Aptos" panose="020B0004020202020204" pitchFamily="34" charset="0"/>
            </a:endParaRPr>
          </a:p>
        </p:txBody>
      </p:sp>
      <p:sp useBgFill="1">
        <p:nvSpPr>
          <p:cNvPr id="6" name="Text 3">
            <a:extLst>
              <a:ext uri="{FF2B5EF4-FFF2-40B4-BE49-F238E27FC236}">
                <a16:creationId xmlns:a16="http://schemas.microsoft.com/office/drawing/2014/main" id="{EB11DDD5-934D-4004-0BF2-1F9BCA82AD9E}"/>
              </a:ext>
            </a:extLst>
          </p:cNvPr>
          <p:cNvSpPr/>
          <p:nvPr/>
        </p:nvSpPr>
        <p:spPr>
          <a:xfrm>
            <a:off x="1140843" y="1902757"/>
            <a:ext cx="3027363" cy="295275"/>
          </a:xfrm>
          <a:prstGeom prst="rect">
            <a:avLst/>
          </a:prstGeom>
          <a:ln/>
        </p:spPr>
        <p:txBody>
          <a:bodyPr wrap="none" lIns="0" tIns="0" rIns="0" bIns="0" rtlCol="0" anchor="t"/>
          <a:lstStyle/>
          <a:p>
            <a:pPr>
              <a:lnSpc>
                <a:spcPts val="2292"/>
              </a:lnSpc>
            </a:pPr>
            <a:r>
              <a:rPr lang="en-US" sz="2800" b="1" dirty="0">
                <a:solidFill>
                  <a:srgbClr val="000000"/>
                </a:solidFill>
                <a:latin typeface="Aptos" panose="020B0004020202020204" pitchFamily="34" charset="0"/>
                <a:ea typeface="Playfair Display Bold" pitchFamily="34" charset="-122"/>
                <a:cs typeface="Playfair Display Bold" pitchFamily="34" charset="-120"/>
              </a:rPr>
              <a:t>Check for Remaining Issues</a:t>
            </a:r>
            <a:endParaRPr lang="en-US" sz="2800" dirty="0">
              <a:latin typeface="Aptos" panose="020B0004020202020204" pitchFamily="34" charset="0"/>
            </a:endParaRPr>
          </a:p>
        </p:txBody>
      </p:sp>
      <p:sp useBgFill="1">
        <p:nvSpPr>
          <p:cNvPr id="7" name="Text 4">
            <a:extLst>
              <a:ext uri="{FF2B5EF4-FFF2-40B4-BE49-F238E27FC236}">
                <a16:creationId xmlns:a16="http://schemas.microsoft.com/office/drawing/2014/main" id="{BF1AD38C-39E9-0738-7425-612907719B7F}"/>
              </a:ext>
            </a:extLst>
          </p:cNvPr>
          <p:cNvSpPr/>
          <p:nvPr/>
        </p:nvSpPr>
        <p:spPr>
          <a:xfrm>
            <a:off x="1140844" y="2311440"/>
            <a:ext cx="5682754" cy="302419"/>
          </a:xfrm>
          <a:prstGeom prst="rect">
            <a:avLst/>
          </a:prstGeom>
          <a:ln/>
        </p:spPr>
        <p:txBody>
          <a:bodyPr wrap="none" lIns="0" tIns="0" rIns="0" bIns="0" rtlCol="0" anchor="t"/>
          <a:lstStyle/>
          <a:p>
            <a:pPr>
              <a:lnSpc>
                <a:spcPts val="2375"/>
              </a:lnSpc>
            </a:pPr>
            <a:r>
              <a:rPr lang="en-US" sz="2000" dirty="0">
                <a:solidFill>
                  <a:srgbClr val="000000"/>
                </a:solidFill>
                <a:latin typeface="Aptos" panose="020B0004020202020204" pitchFamily="34" charset="0"/>
                <a:ea typeface="Inter" pitchFamily="34" charset="-122"/>
                <a:cs typeface="Inter" pitchFamily="34" charset="-120"/>
              </a:rPr>
              <a:t>Are there still missing values or outliers you meant to address?</a:t>
            </a:r>
            <a:endParaRPr lang="en-US" sz="2000" dirty="0">
              <a:latin typeface="Aptos" panose="020B0004020202020204" pitchFamily="34" charset="0"/>
            </a:endParaRPr>
          </a:p>
        </p:txBody>
      </p:sp>
      <p:sp useBgFill="1">
        <p:nvSpPr>
          <p:cNvPr id="8" name="Shape 5">
            <a:extLst>
              <a:ext uri="{FF2B5EF4-FFF2-40B4-BE49-F238E27FC236}">
                <a16:creationId xmlns:a16="http://schemas.microsoft.com/office/drawing/2014/main" id="{24F819B7-CC34-B61B-9F14-3066E363F392}"/>
              </a:ext>
            </a:extLst>
          </p:cNvPr>
          <p:cNvSpPr/>
          <p:nvPr/>
        </p:nvSpPr>
        <p:spPr>
          <a:xfrm>
            <a:off x="526580" y="2925620"/>
            <a:ext cx="425252" cy="456091"/>
          </a:xfrm>
          <a:prstGeom prst="roundRect">
            <a:avLst>
              <a:gd name="adj" fmla="val 18669"/>
            </a:avLst>
          </a:prstGeom>
          <a:ln w="7620">
            <a:solidFill>
              <a:srgbClr val="B2D3E5"/>
            </a:solidFill>
            <a:prstDash val="solid"/>
          </a:ln>
        </p:spPr>
        <p:txBody>
          <a:bodyPr/>
          <a:lstStyle/>
          <a:p>
            <a:endParaRPr lang="en-US" sz="2000">
              <a:latin typeface="Aptos" panose="020B0004020202020204" pitchFamily="34" charset="0"/>
            </a:endParaRPr>
          </a:p>
        </p:txBody>
      </p:sp>
      <p:sp useBgFill="1">
        <p:nvSpPr>
          <p:cNvPr id="9" name="Text 6">
            <a:extLst>
              <a:ext uri="{FF2B5EF4-FFF2-40B4-BE49-F238E27FC236}">
                <a16:creationId xmlns:a16="http://schemas.microsoft.com/office/drawing/2014/main" id="{B27D6470-BFC8-16FA-B316-D52A8BFFA06A}"/>
              </a:ext>
            </a:extLst>
          </p:cNvPr>
          <p:cNvSpPr/>
          <p:nvPr/>
        </p:nvSpPr>
        <p:spPr>
          <a:xfrm>
            <a:off x="597472" y="3027303"/>
            <a:ext cx="283468" cy="354409"/>
          </a:xfrm>
          <a:prstGeom prst="rect">
            <a:avLst/>
          </a:prstGeom>
          <a:ln/>
        </p:spPr>
        <p:txBody>
          <a:bodyPr wrap="none" lIns="0" tIns="0" rIns="0" bIns="0" rtlCol="0" anchor="t"/>
          <a:lstStyle/>
          <a:p>
            <a:pPr algn="ctr">
              <a:lnSpc>
                <a:spcPts val="2208"/>
              </a:lnSpc>
            </a:pPr>
            <a:r>
              <a:rPr lang="en-US" sz="2800" b="1" dirty="0">
                <a:solidFill>
                  <a:srgbClr val="000000"/>
                </a:solidFill>
                <a:latin typeface="Aptos" panose="020B0004020202020204" pitchFamily="34" charset="0"/>
                <a:ea typeface="Playfair Display Bold" pitchFamily="34" charset="-122"/>
                <a:cs typeface="Playfair Display Bold" pitchFamily="34" charset="-120"/>
              </a:rPr>
              <a:t>2</a:t>
            </a:r>
            <a:endParaRPr lang="en-US" sz="3200" dirty="0">
              <a:latin typeface="Aptos" panose="020B0004020202020204" pitchFamily="34" charset="0"/>
            </a:endParaRPr>
          </a:p>
        </p:txBody>
      </p:sp>
      <p:sp useBgFill="1">
        <p:nvSpPr>
          <p:cNvPr id="10" name="Text 7">
            <a:extLst>
              <a:ext uri="{FF2B5EF4-FFF2-40B4-BE49-F238E27FC236}">
                <a16:creationId xmlns:a16="http://schemas.microsoft.com/office/drawing/2014/main" id="{E81EB03A-76BC-F45F-93B0-5E0493935141}"/>
              </a:ext>
            </a:extLst>
          </p:cNvPr>
          <p:cNvSpPr/>
          <p:nvPr/>
        </p:nvSpPr>
        <p:spPr>
          <a:xfrm>
            <a:off x="1140843" y="3056771"/>
            <a:ext cx="2362696" cy="295275"/>
          </a:xfrm>
          <a:prstGeom prst="rect">
            <a:avLst/>
          </a:prstGeom>
          <a:ln/>
        </p:spPr>
        <p:txBody>
          <a:bodyPr wrap="none" lIns="0" tIns="0" rIns="0" bIns="0" rtlCol="0" anchor="t"/>
          <a:lstStyle/>
          <a:p>
            <a:pPr>
              <a:lnSpc>
                <a:spcPts val="2292"/>
              </a:lnSpc>
            </a:pPr>
            <a:r>
              <a:rPr lang="en-US" sz="2800" b="1" dirty="0">
                <a:solidFill>
                  <a:srgbClr val="000000"/>
                </a:solidFill>
                <a:latin typeface="Aptos" panose="020B0004020202020204" pitchFamily="34" charset="0"/>
                <a:ea typeface="Playfair Display Bold" pitchFamily="34" charset="-122"/>
                <a:cs typeface="Playfair Display Bold" pitchFamily="34" charset="-120"/>
              </a:rPr>
              <a:t>Verify Basic Statistics</a:t>
            </a:r>
            <a:endParaRPr lang="en-US" sz="2800" dirty="0">
              <a:latin typeface="Aptos" panose="020B0004020202020204" pitchFamily="34" charset="0"/>
            </a:endParaRPr>
          </a:p>
        </p:txBody>
      </p:sp>
      <p:sp useBgFill="1">
        <p:nvSpPr>
          <p:cNvPr id="11" name="Text 8">
            <a:extLst>
              <a:ext uri="{FF2B5EF4-FFF2-40B4-BE49-F238E27FC236}">
                <a16:creationId xmlns:a16="http://schemas.microsoft.com/office/drawing/2014/main" id="{429A688C-31DB-46E4-629A-00290F191576}"/>
              </a:ext>
            </a:extLst>
          </p:cNvPr>
          <p:cNvSpPr/>
          <p:nvPr/>
        </p:nvSpPr>
        <p:spPr>
          <a:xfrm>
            <a:off x="1140844" y="3465454"/>
            <a:ext cx="5682754" cy="302419"/>
          </a:xfrm>
          <a:prstGeom prst="rect">
            <a:avLst/>
          </a:prstGeom>
          <a:ln/>
        </p:spPr>
        <p:txBody>
          <a:bodyPr wrap="none" lIns="0" tIns="0" rIns="0" bIns="0" rtlCol="0" anchor="t"/>
          <a:lstStyle/>
          <a:p>
            <a:pPr>
              <a:lnSpc>
                <a:spcPts val="2375"/>
              </a:lnSpc>
            </a:pPr>
            <a:r>
              <a:rPr lang="en-US" sz="2000" dirty="0">
                <a:solidFill>
                  <a:srgbClr val="000000"/>
                </a:solidFill>
                <a:latin typeface="Aptos" panose="020B0004020202020204" pitchFamily="34" charset="0"/>
                <a:ea typeface="Inter" pitchFamily="34" charset="-122"/>
                <a:cs typeface="Inter" pitchFamily="34" charset="-120"/>
              </a:rPr>
              <a:t>Do averages, minimums, and maximums now look reasonable?</a:t>
            </a:r>
            <a:endParaRPr lang="en-US" sz="2000" dirty="0">
              <a:latin typeface="Aptos" panose="020B0004020202020204" pitchFamily="34" charset="0"/>
            </a:endParaRPr>
          </a:p>
        </p:txBody>
      </p:sp>
      <p:sp useBgFill="1">
        <p:nvSpPr>
          <p:cNvPr id="12" name="Shape 9">
            <a:extLst>
              <a:ext uri="{FF2B5EF4-FFF2-40B4-BE49-F238E27FC236}">
                <a16:creationId xmlns:a16="http://schemas.microsoft.com/office/drawing/2014/main" id="{5E62891C-9457-84BA-EDAE-C9FBF25EE68F}"/>
              </a:ext>
            </a:extLst>
          </p:cNvPr>
          <p:cNvSpPr/>
          <p:nvPr/>
        </p:nvSpPr>
        <p:spPr>
          <a:xfrm>
            <a:off x="515652" y="4106138"/>
            <a:ext cx="436180" cy="513327"/>
          </a:xfrm>
          <a:prstGeom prst="roundRect">
            <a:avLst>
              <a:gd name="adj" fmla="val 18669"/>
            </a:avLst>
          </a:prstGeom>
          <a:ln w="7620">
            <a:solidFill>
              <a:srgbClr val="B2D3E5"/>
            </a:solidFill>
            <a:prstDash val="solid"/>
          </a:ln>
        </p:spPr>
        <p:txBody>
          <a:bodyPr/>
          <a:lstStyle/>
          <a:p>
            <a:endParaRPr lang="en-US" sz="2000">
              <a:latin typeface="Aptos" panose="020B0004020202020204" pitchFamily="34" charset="0"/>
            </a:endParaRPr>
          </a:p>
        </p:txBody>
      </p:sp>
      <p:sp useBgFill="1">
        <p:nvSpPr>
          <p:cNvPr id="13" name="Text 10">
            <a:extLst>
              <a:ext uri="{FF2B5EF4-FFF2-40B4-BE49-F238E27FC236}">
                <a16:creationId xmlns:a16="http://schemas.microsoft.com/office/drawing/2014/main" id="{AB061C37-F6E9-7878-9FD5-232448388645}"/>
              </a:ext>
            </a:extLst>
          </p:cNvPr>
          <p:cNvSpPr/>
          <p:nvPr/>
        </p:nvSpPr>
        <p:spPr>
          <a:xfrm>
            <a:off x="537508" y="4194792"/>
            <a:ext cx="343432" cy="340933"/>
          </a:xfrm>
          <a:prstGeom prst="rect">
            <a:avLst/>
          </a:prstGeom>
          <a:ln/>
        </p:spPr>
        <p:txBody>
          <a:bodyPr wrap="none" lIns="0" tIns="0" rIns="0" bIns="0" rtlCol="0" anchor="t"/>
          <a:lstStyle/>
          <a:p>
            <a:pPr algn="ctr">
              <a:lnSpc>
                <a:spcPts val="2208"/>
              </a:lnSpc>
            </a:pPr>
            <a:r>
              <a:rPr lang="en-US" sz="2800" b="1" dirty="0">
                <a:solidFill>
                  <a:srgbClr val="000000"/>
                </a:solidFill>
                <a:latin typeface="Aptos" panose="020B0004020202020204" pitchFamily="34" charset="0"/>
                <a:ea typeface="Playfair Display Bold" pitchFamily="34" charset="-122"/>
                <a:cs typeface="Playfair Display Bold" pitchFamily="34" charset="-120"/>
              </a:rPr>
              <a:t>3</a:t>
            </a:r>
            <a:endParaRPr lang="en-US" sz="2800" dirty="0">
              <a:latin typeface="Aptos" panose="020B0004020202020204" pitchFamily="34" charset="0"/>
            </a:endParaRPr>
          </a:p>
        </p:txBody>
      </p:sp>
      <p:sp useBgFill="1">
        <p:nvSpPr>
          <p:cNvPr id="14" name="Text 11">
            <a:extLst>
              <a:ext uri="{FF2B5EF4-FFF2-40B4-BE49-F238E27FC236}">
                <a16:creationId xmlns:a16="http://schemas.microsoft.com/office/drawing/2014/main" id="{4387B085-086D-B665-6AD6-C2024D201406}"/>
              </a:ext>
            </a:extLst>
          </p:cNvPr>
          <p:cNvSpPr/>
          <p:nvPr/>
        </p:nvSpPr>
        <p:spPr>
          <a:xfrm>
            <a:off x="1140843" y="4210784"/>
            <a:ext cx="2362696" cy="295275"/>
          </a:xfrm>
          <a:prstGeom prst="rect">
            <a:avLst/>
          </a:prstGeom>
          <a:ln/>
        </p:spPr>
        <p:txBody>
          <a:bodyPr wrap="none" lIns="0" tIns="0" rIns="0" bIns="0" rtlCol="0" anchor="t"/>
          <a:lstStyle/>
          <a:p>
            <a:pPr>
              <a:lnSpc>
                <a:spcPts val="2292"/>
              </a:lnSpc>
            </a:pPr>
            <a:r>
              <a:rPr lang="en-US" sz="2800" b="1" dirty="0">
                <a:solidFill>
                  <a:srgbClr val="000000"/>
                </a:solidFill>
                <a:latin typeface="Aptos" panose="020B0004020202020204" pitchFamily="34" charset="0"/>
                <a:ea typeface="Playfair Display Bold" pitchFamily="34" charset="-122"/>
                <a:cs typeface="Playfair Display Bold" pitchFamily="34" charset="-120"/>
              </a:rPr>
              <a:t>Confirm Categories</a:t>
            </a:r>
            <a:endParaRPr lang="en-US" sz="2800" dirty="0">
              <a:latin typeface="Aptos" panose="020B0004020202020204" pitchFamily="34" charset="0"/>
            </a:endParaRPr>
          </a:p>
        </p:txBody>
      </p:sp>
      <p:sp useBgFill="1">
        <p:nvSpPr>
          <p:cNvPr id="15" name="Text 12">
            <a:extLst>
              <a:ext uri="{FF2B5EF4-FFF2-40B4-BE49-F238E27FC236}">
                <a16:creationId xmlns:a16="http://schemas.microsoft.com/office/drawing/2014/main" id="{803BC909-E106-9FC3-5C69-17F14DD13204}"/>
              </a:ext>
            </a:extLst>
          </p:cNvPr>
          <p:cNvSpPr/>
          <p:nvPr/>
        </p:nvSpPr>
        <p:spPr>
          <a:xfrm>
            <a:off x="1140844" y="4619466"/>
            <a:ext cx="5682754" cy="302419"/>
          </a:xfrm>
          <a:prstGeom prst="rect">
            <a:avLst/>
          </a:prstGeom>
          <a:ln/>
        </p:spPr>
        <p:txBody>
          <a:bodyPr wrap="none" lIns="0" tIns="0" rIns="0" bIns="0" rtlCol="0" anchor="t"/>
          <a:lstStyle/>
          <a:p>
            <a:pPr>
              <a:lnSpc>
                <a:spcPts val="2375"/>
              </a:lnSpc>
            </a:pPr>
            <a:r>
              <a:rPr lang="en-US" sz="2000" dirty="0">
                <a:solidFill>
                  <a:srgbClr val="000000"/>
                </a:solidFill>
                <a:latin typeface="Aptos" panose="020B0004020202020204" pitchFamily="34" charset="0"/>
                <a:ea typeface="Inter" pitchFamily="34" charset="-122"/>
                <a:cs typeface="Inter" pitchFamily="34" charset="-120"/>
              </a:rPr>
              <a:t>Are all categorical values now consistent and correctly spelled?</a:t>
            </a:r>
            <a:endParaRPr lang="en-US" sz="2000" dirty="0">
              <a:latin typeface="Aptos" panose="020B0004020202020204" pitchFamily="34" charset="0"/>
            </a:endParaRPr>
          </a:p>
        </p:txBody>
      </p:sp>
      <p:sp useBgFill="1">
        <p:nvSpPr>
          <p:cNvPr id="16" name="Shape 13">
            <a:extLst>
              <a:ext uri="{FF2B5EF4-FFF2-40B4-BE49-F238E27FC236}">
                <a16:creationId xmlns:a16="http://schemas.microsoft.com/office/drawing/2014/main" id="{B3D157F6-7F61-9E95-0B2F-9D808473CA0F}"/>
              </a:ext>
            </a:extLst>
          </p:cNvPr>
          <p:cNvSpPr/>
          <p:nvPr/>
        </p:nvSpPr>
        <p:spPr>
          <a:xfrm>
            <a:off x="526580" y="5247121"/>
            <a:ext cx="436180" cy="526357"/>
          </a:xfrm>
          <a:prstGeom prst="roundRect">
            <a:avLst>
              <a:gd name="adj" fmla="val 18669"/>
            </a:avLst>
          </a:prstGeom>
          <a:ln w="7620">
            <a:solidFill>
              <a:srgbClr val="B2D3E5"/>
            </a:solidFill>
            <a:prstDash val="solid"/>
          </a:ln>
        </p:spPr>
        <p:txBody>
          <a:bodyPr/>
          <a:lstStyle/>
          <a:p>
            <a:endParaRPr lang="en-US" sz="2000">
              <a:latin typeface="Aptos" panose="020B0004020202020204" pitchFamily="34" charset="0"/>
            </a:endParaRPr>
          </a:p>
        </p:txBody>
      </p:sp>
      <p:sp useBgFill="1">
        <p:nvSpPr>
          <p:cNvPr id="17" name="Text 14">
            <a:extLst>
              <a:ext uri="{FF2B5EF4-FFF2-40B4-BE49-F238E27FC236}">
                <a16:creationId xmlns:a16="http://schemas.microsoft.com/office/drawing/2014/main" id="{D65F1BB9-3C9A-5D63-92EC-26D77F091B1A}"/>
              </a:ext>
            </a:extLst>
          </p:cNvPr>
          <p:cNvSpPr/>
          <p:nvPr/>
        </p:nvSpPr>
        <p:spPr>
          <a:xfrm>
            <a:off x="597472" y="5348582"/>
            <a:ext cx="283468" cy="354409"/>
          </a:xfrm>
          <a:prstGeom prst="rect">
            <a:avLst/>
          </a:prstGeom>
          <a:ln/>
        </p:spPr>
        <p:txBody>
          <a:bodyPr wrap="none" lIns="0" tIns="0" rIns="0" bIns="0" rtlCol="0" anchor="t"/>
          <a:lstStyle/>
          <a:p>
            <a:pPr algn="ctr">
              <a:lnSpc>
                <a:spcPts val="2208"/>
              </a:lnSpc>
            </a:pPr>
            <a:r>
              <a:rPr lang="en-US" sz="2800" b="1" dirty="0">
                <a:solidFill>
                  <a:srgbClr val="000000"/>
                </a:solidFill>
                <a:latin typeface="Aptos" panose="020B0004020202020204" pitchFamily="34" charset="0"/>
                <a:ea typeface="Playfair Display Bold" pitchFamily="34" charset="-122"/>
                <a:cs typeface="Playfair Display Bold" pitchFamily="34" charset="-120"/>
              </a:rPr>
              <a:t>4</a:t>
            </a:r>
            <a:endParaRPr lang="en-US" sz="3200" dirty="0">
              <a:latin typeface="Aptos" panose="020B0004020202020204" pitchFamily="34" charset="0"/>
            </a:endParaRPr>
          </a:p>
        </p:txBody>
      </p:sp>
      <p:sp useBgFill="1">
        <p:nvSpPr>
          <p:cNvPr id="18" name="Text 15">
            <a:extLst>
              <a:ext uri="{FF2B5EF4-FFF2-40B4-BE49-F238E27FC236}">
                <a16:creationId xmlns:a16="http://schemas.microsoft.com/office/drawing/2014/main" id="{9333CB42-5E10-1617-C951-B3DDC3AD6504}"/>
              </a:ext>
            </a:extLst>
          </p:cNvPr>
          <p:cNvSpPr/>
          <p:nvPr/>
        </p:nvSpPr>
        <p:spPr>
          <a:xfrm>
            <a:off x="1140843" y="5364797"/>
            <a:ext cx="2362696" cy="295275"/>
          </a:xfrm>
          <a:prstGeom prst="rect">
            <a:avLst/>
          </a:prstGeom>
          <a:ln/>
        </p:spPr>
        <p:txBody>
          <a:bodyPr wrap="none" lIns="0" tIns="0" rIns="0" bIns="0" rtlCol="0" anchor="t"/>
          <a:lstStyle/>
          <a:p>
            <a:pPr>
              <a:lnSpc>
                <a:spcPts val="2292"/>
              </a:lnSpc>
            </a:pPr>
            <a:r>
              <a:rPr lang="en-US" sz="2800" b="1" dirty="0">
                <a:solidFill>
                  <a:srgbClr val="000000"/>
                </a:solidFill>
                <a:latin typeface="Aptos" panose="020B0004020202020204" pitchFamily="34" charset="0"/>
                <a:ea typeface="Playfair Display Bold" pitchFamily="34" charset="-122"/>
                <a:cs typeface="Playfair Display Bold" pitchFamily="34" charset="-120"/>
              </a:rPr>
              <a:t>Count Records</a:t>
            </a:r>
            <a:endParaRPr lang="en-US" sz="2800" dirty="0">
              <a:latin typeface="Aptos" panose="020B0004020202020204" pitchFamily="34" charset="0"/>
            </a:endParaRPr>
          </a:p>
        </p:txBody>
      </p:sp>
      <p:sp useBgFill="1">
        <p:nvSpPr>
          <p:cNvPr id="19" name="Text 16">
            <a:extLst>
              <a:ext uri="{FF2B5EF4-FFF2-40B4-BE49-F238E27FC236}">
                <a16:creationId xmlns:a16="http://schemas.microsoft.com/office/drawing/2014/main" id="{684DF8A7-D3B3-826E-7E6F-E46C705EA1BE}"/>
              </a:ext>
            </a:extLst>
          </p:cNvPr>
          <p:cNvSpPr/>
          <p:nvPr/>
        </p:nvSpPr>
        <p:spPr>
          <a:xfrm>
            <a:off x="1140844" y="5773479"/>
            <a:ext cx="5682754" cy="604838"/>
          </a:xfrm>
          <a:prstGeom prst="rect">
            <a:avLst/>
          </a:prstGeom>
          <a:ln/>
        </p:spPr>
        <p:txBody>
          <a:bodyPr wrap="square" lIns="0" tIns="0" rIns="0" bIns="0" rtlCol="0" anchor="t"/>
          <a:lstStyle/>
          <a:p>
            <a:pPr>
              <a:lnSpc>
                <a:spcPts val="2375"/>
              </a:lnSpc>
            </a:pPr>
            <a:r>
              <a:rPr lang="en-US" sz="2000" dirty="0">
                <a:solidFill>
                  <a:srgbClr val="000000"/>
                </a:solidFill>
                <a:latin typeface="Aptos" panose="020B0004020202020204" pitchFamily="34" charset="0"/>
                <a:ea typeface="Inter" pitchFamily="34" charset="-122"/>
                <a:cs typeface="Inter" pitchFamily="34" charset="-120"/>
              </a:rPr>
              <a:t>Does the number of records match what you expect after cleaning?</a:t>
            </a:r>
            <a:endParaRPr lang="en-US" sz="2000" dirty="0">
              <a:latin typeface="Aptos" panose="020B0004020202020204" pitchFamily="34" charset="0"/>
            </a:endParaRPr>
          </a:p>
        </p:txBody>
      </p:sp>
      <p:pic>
        <p:nvPicPr>
          <p:cNvPr id="20" name="Image 0" descr="preencoded.png">
            <a:extLst>
              <a:ext uri="{FF2B5EF4-FFF2-40B4-BE49-F238E27FC236}">
                <a16:creationId xmlns:a16="http://schemas.microsoft.com/office/drawing/2014/main" id="{6891B71C-1FC0-1466-65C0-D7DCC5F922E7}"/>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8454453" y="1341624"/>
            <a:ext cx="3357796" cy="5036693"/>
          </a:xfrm>
          <a:prstGeom prst="rect">
            <a:avLst/>
          </a:prstGeom>
        </p:spPr>
      </p:pic>
    </p:spTree>
    <p:extLst>
      <p:ext uri="{BB962C8B-B14F-4D97-AF65-F5344CB8AC3E}">
        <p14:creationId xmlns:p14="http://schemas.microsoft.com/office/powerpoint/2010/main" val="346203565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FA0F92-D3C7-3239-306B-4DBFCCEB31E3}"/>
              </a:ext>
            </a:extLst>
          </p:cNvPr>
          <p:cNvSpPr>
            <a:spLocks noGrp="1"/>
          </p:cNvSpPr>
          <p:nvPr>
            <p:ph type="title"/>
          </p:nvPr>
        </p:nvSpPr>
        <p:spPr/>
        <p:txBody>
          <a:bodyPr/>
          <a:lstStyle/>
          <a:p>
            <a:r>
              <a:rPr lang="en-US" dirty="0"/>
              <a:t>Let’s Do It!!!</a:t>
            </a:r>
          </a:p>
        </p:txBody>
      </p:sp>
      <p:sp>
        <p:nvSpPr>
          <p:cNvPr id="3" name="Content Placeholder 2">
            <a:extLst>
              <a:ext uri="{FF2B5EF4-FFF2-40B4-BE49-F238E27FC236}">
                <a16:creationId xmlns:a16="http://schemas.microsoft.com/office/drawing/2014/main" id="{2BED3A1B-93B0-2CD7-9A03-204AFD7380DD}"/>
              </a:ext>
            </a:extLst>
          </p:cNvPr>
          <p:cNvSpPr>
            <a:spLocks noGrp="1"/>
          </p:cNvSpPr>
          <p:nvPr>
            <p:ph idx="1"/>
          </p:nvPr>
        </p:nvSpPr>
        <p:spPr/>
        <p:txBody>
          <a:bodyPr/>
          <a:lstStyle/>
          <a:p>
            <a:r>
              <a:rPr lang="en-US" dirty="0"/>
              <a:t>Open Python!</a:t>
            </a:r>
          </a:p>
          <a:p>
            <a:r>
              <a:rPr lang="en-US" dirty="0"/>
              <a:t xml:space="preserve">Do you remember how to do it? </a:t>
            </a:r>
          </a:p>
          <a:p>
            <a:r>
              <a:rPr lang="en-US" dirty="0"/>
              <a:t>Slides from Ch 4:</a:t>
            </a:r>
          </a:p>
          <a:p>
            <a:endParaRPr lang="en-US" dirty="0"/>
          </a:p>
        </p:txBody>
      </p:sp>
      <p:pic>
        <p:nvPicPr>
          <p:cNvPr id="5" name="Picture 4" descr="A green and black logo  AI-generated content may be incorrect.">
            <a:extLst>
              <a:ext uri="{FF2B5EF4-FFF2-40B4-BE49-F238E27FC236}">
                <a16:creationId xmlns:a16="http://schemas.microsoft.com/office/drawing/2014/main" id="{AE853F88-B28B-A51B-E9FA-C2A369CCACFB}"/>
              </a:ext>
            </a:extLst>
          </p:cNvPr>
          <p:cNvPicPr>
            <a:picLocks noChangeAspect="1"/>
          </p:cNvPicPr>
          <p:nvPr/>
        </p:nvPicPr>
        <p:blipFill>
          <a:blip r:embed="rId2" cstate="screen">
            <a:extLst>
              <a:ext uri="{28A0092B-C50C-407E-A947-70E740481C1C}">
                <a14:useLocalDpi xmlns:a14="http://schemas.microsoft.com/office/drawing/2010/main"/>
              </a:ext>
            </a:extLst>
          </a:blip>
          <a:srcRect/>
          <a:stretch>
            <a:fillRect/>
          </a:stretch>
        </p:blipFill>
        <p:spPr>
          <a:xfrm>
            <a:off x="785497" y="4212729"/>
            <a:ext cx="4941995" cy="1964232"/>
          </a:xfrm>
          <a:prstGeom prst="rect">
            <a:avLst/>
          </a:prstGeom>
          <a:ln>
            <a:solidFill>
              <a:schemeClr val="accent1"/>
            </a:solidFill>
          </a:ln>
        </p:spPr>
      </p:pic>
      <p:pic>
        <p:nvPicPr>
          <p:cNvPr id="8" name="Picture 7" descr="A white background with black text  AI-generated content may be incorrect.">
            <a:extLst>
              <a:ext uri="{FF2B5EF4-FFF2-40B4-BE49-F238E27FC236}">
                <a16:creationId xmlns:a16="http://schemas.microsoft.com/office/drawing/2014/main" id="{F1899DEE-BB39-4916-3EAC-F9512969BB89}"/>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5780195" y="3883390"/>
            <a:ext cx="5626308" cy="2622911"/>
          </a:xfrm>
          <a:prstGeom prst="rect">
            <a:avLst/>
          </a:prstGeom>
          <a:ln>
            <a:solidFill>
              <a:schemeClr val="accent1"/>
            </a:solidFill>
          </a:ln>
        </p:spPr>
      </p:pic>
    </p:spTree>
    <p:extLst>
      <p:ext uri="{BB962C8B-B14F-4D97-AF65-F5344CB8AC3E}">
        <p14:creationId xmlns:p14="http://schemas.microsoft.com/office/powerpoint/2010/main" val="214352847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7D0FED-6ADE-80BC-E9D3-AC401D14A223}"/>
              </a:ext>
            </a:extLst>
          </p:cNvPr>
          <p:cNvSpPr>
            <a:spLocks noGrp="1"/>
          </p:cNvSpPr>
          <p:nvPr>
            <p:ph type="title"/>
          </p:nvPr>
        </p:nvSpPr>
        <p:spPr>
          <a:xfrm>
            <a:off x="838200" y="886663"/>
            <a:ext cx="10515600" cy="1325563"/>
          </a:xfrm>
        </p:spPr>
        <p:txBody>
          <a:bodyPr/>
          <a:lstStyle/>
          <a:p>
            <a:r>
              <a:rPr lang="en-US" dirty="0"/>
              <a:t>Create your messy data!</a:t>
            </a:r>
          </a:p>
        </p:txBody>
      </p:sp>
      <p:sp>
        <p:nvSpPr>
          <p:cNvPr id="3" name="Content Placeholder 2">
            <a:extLst>
              <a:ext uri="{FF2B5EF4-FFF2-40B4-BE49-F238E27FC236}">
                <a16:creationId xmlns:a16="http://schemas.microsoft.com/office/drawing/2014/main" id="{E0291140-C219-9AD9-CB29-9584B788FA1C}"/>
              </a:ext>
            </a:extLst>
          </p:cNvPr>
          <p:cNvSpPr>
            <a:spLocks noGrp="1"/>
          </p:cNvSpPr>
          <p:nvPr>
            <p:ph idx="1"/>
          </p:nvPr>
        </p:nvSpPr>
        <p:spPr>
          <a:xfrm>
            <a:off x="838200" y="2212226"/>
            <a:ext cx="10515600" cy="3572911"/>
          </a:xfrm>
        </p:spPr>
        <p:txBody>
          <a:bodyPr/>
          <a:lstStyle/>
          <a:p>
            <a:r>
              <a:rPr lang="en-US" dirty="0"/>
              <a:t>This code will call pandas package</a:t>
            </a:r>
          </a:p>
          <a:p>
            <a:r>
              <a:rPr lang="en-US" dirty="0"/>
              <a:t xml:space="preserve">Create a data frame with Bob’s score is missing and Ed’s </a:t>
            </a:r>
            <a:r>
              <a:rPr lang="en-US" dirty="0" err="1"/>
              <a:t>sooo</a:t>
            </a:r>
            <a:r>
              <a:rPr lang="en-US" dirty="0"/>
              <a:t xml:space="preserve"> old!</a:t>
            </a:r>
          </a:p>
        </p:txBody>
      </p:sp>
      <p:sp>
        <p:nvSpPr>
          <p:cNvPr id="5" name="TextBox 4">
            <a:extLst>
              <a:ext uri="{FF2B5EF4-FFF2-40B4-BE49-F238E27FC236}">
                <a16:creationId xmlns:a16="http://schemas.microsoft.com/office/drawing/2014/main" id="{27FACC02-49B5-DD17-4D6D-410BE2A231D6}"/>
              </a:ext>
            </a:extLst>
          </p:cNvPr>
          <p:cNvSpPr txBox="1"/>
          <p:nvPr/>
        </p:nvSpPr>
        <p:spPr>
          <a:xfrm>
            <a:off x="463444" y="3537789"/>
            <a:ext cx="6986667" cy="2862322"/>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marL="0" marR="0">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800" dirty="0">
                <a:solidFill>
                  <a:srgbClr val="0000FF"/>
                </a:solidFill>
                <a:effectLst/>
                <a:latin typeface="Consolas" panose="020B0609020204030204" pitchFamily="49" charset="0"/>
                <a:ea typeface="Times New Roman" panose="02020603050405020304" pitchFamily="18" charset="0"/>
                <a:cs typeface="Courier New" panose="02070309020205020404" pitchFamily="49" charset="0"/>
              </a:rPr>
              <a:t>import</a:t>
            </a:r>
            <a:r>
              <a:rPr lang="en-US" sz="18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xml:space="preserve"> pandas </a:t>
            </a:r>
            <a:r>
              <a:rPr lang="en-US" sz="1800" dirty="0">
                <a:solidFill>
                  <a:srgbClr val="0000FF"/>
                </a:solidFill>
                <a:effectLst/>
                <a:latin typeface="Consolas" panose="020B0609020204030204" pitchFamily="49" charset="0"/>
                <a:ea typeface="Times New Roman" panose="02020603050405020304" pitchFamily="18" charset="0"/>
                <a:cs typeface="Courier New" panose="02070309020205020404" pitchFamily="49" charset="0"/>
              </a:rPr>
              <a:t>as</a:t>
            </a:r>
            <a:r>
              <a:rPr lang="en-US" sz="18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xml:space="preserve"> pd</a:t>
            </a:r>
            <a:endParaRPr lang="en-US" sz="3200" dirty="0">
              <a:effectLst/>
              <a:latin typeface="Times New Roman" panose="02020603050405020304" pitchFamily="18" charset="0"/>
              <a:ea typeface="Times New Roman" panose="02020603050405020304" pitchFamily="18" charset="0"/>
            </a:endParaRPr>
          </a:p>
          <a:p>
            <a:pPr marL="0" marR="0">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8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data = {</a:t>
            </a:r>
            <a:endParaRPr lang="en-US" sz="3200" dirty="0">
              <a:effectLst/>
              <a:latin typeface="Times New Roman" panose="02020603050405020304" pitchFamily="18" charset="0"/>
              <a:ea typeface="Times New Roman" panose="02020603050405020304" pitchFamily="18" charset="0"/>
            </a:endParaRPr>
          </a:p>
          <a:p>
            <a:pPr marL="0" marR="0">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8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xml:space="preserve">    </a:t>
            </a:r>
            <a:r>
              <a:rPr lang="en-US" sz="1800" dirty="0">
                <a:solidFill>
                  <a:srgbClr val="A31515"/>
                </a:solidFill>
                <a:effectLst/>
                <a:latin typeface="Consolas" panose="020B0609020204030204" pitchFamily="49" charset="0"/>
                <a:ea typeface="Times New Roman" panose="02020603050405020304" pitchFamily="18" charset="0"/>
                <a:cs typeface="Courier New" panose="02070309020205020404" pitchFamily="49" charset="0"/>
              </a:rPr>
              <a:t>'Name'</a:t>
            </a:r>
            <a:r>
              <a:rPr lang="en-US" sz="18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a:t>
            </a:r>
            <a:r>
              <a:rPr lang="en-US" sz="1800" dirty="0">
                <a:solidFill>
                  <a:srgbClr val="A31515"/>
                </a:solidFill>
                <a:effectLst/>
                <a:latin typeface="Consolas" panose="020B0609020204030204" pitchFamily="49" charset="0"/>
                <a:ea typeface="Times New Roman" panose="02020603050405020304" pitchFamily="18" charset="0"/>
                <a:cs typeface="Courier New" panose="02070309020205020404" pitchFamily="49" charset="0"/>
              </a:rPr>
              <a:t>'Alice'</a:t>
            </a:r>
            <a:r>
              <a:rPr lang="en-US" sz="18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xml:space="preserve">, </a:t>
            </a:r>
            <a:r>
              <a:rPr lang="en-US" sz="1800" dirty="0">
                <a:solidFill>
                  <a:srgbClr val="A31515"/>
                </a:solidFill>
                <a:effectLst/>
                <a:latin typeface="Consolas" panose="020B0609020204030204" pitchFamily="49" charset="0"/>
                <a:ea typeface="Times New Roman" panose="02020603050405020304" pitchFamily="18" charset="0"/>
                <a:cs typeface="Courier New" panose="02070309020205020404" pitchFamily="49" charset="0"/>
              </a:rPr>
              <a:t>'Bob'</a:t>
            </a:r>
            <a:r>
              <a:rPr lang="en-US" sz="18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xml:space="preserve">, </a:t>
            </a:r>
            <a:r>
              <a:rPr lang="en-US" sz="1800" dirty="0">
                <a:solidFill>
                  <a:srgbClr val="A31515"/>
                </a:solidFill>
                <a:effectLst/>
                <a:latin typeface="Consolas" panose="020B0609020204030204" pitchFamily="49" charset="0"/>
                <a:ea typeface="Times New Roman" panose="02020603050405020304" pitchFamily="18" charset="0"/>
                <a:cs typeface="Courier New" panose="02070309020205020404" pitchFamily="49" charset="0"/>
              </a:rPr>
              <a:t>'Charlie'</a:t>
            </a:r>
            <a:r>
              <a:rPr lang="en-US" sz="18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xml:space="preserve">, </a:t>
            </a:r>
            <a:r>
              <a:rPr lang="en-US" sz="1800" dirty="0">
                <a:solidFill>
                  <a:srgbClr val="A31515"/>
                </a:solidFill>
                <a:effectLst/>
                <a:latin typeface="Consolas" panose="020B0609020204030204" pitchFamily="49" charset="0"/>
                <a:ea typeface="Times New Roman" panose="02020603050405020304" pitchFamily="18" charset="0"/>
                <a:cs typeface="Courier New" panose="02070309020205020404" pitchFamily="49" charset="0"/>
              </a:rPr>
              <a:t>'Dana'</a:t>
            </a:r>
            <a:r>
              <a:rPr lang="en-US" sz="18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xml:space="preserve">, </a:t>
            </a:r>
            <a:r>
              <a:rPr lang="en-US" sz="1800" dirty="0">
                <a:solidFill>
                  <a:srgbClr val="A31515"/>
                </a:solidFill>
                <a:effectLst/>
                <a:latin typeface="Consolas" panose="020B0609020204030204" pitchFamily="49" charset="0"/>
                <a:ea typeface="Times New Roman" panose="02020603050405020304" pitchFamily="18" charset="0"/>
                <a:cs typeface="Courier New" panose="02070309020205020404" pitchFamily="49" charset="0"/>
              </a:rPr>
              <a:t>'Ed'</a:t>
            </a:r>
            <a:r>
              <a:rPr lang="en-US" sz="18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a:t>
            </a:r>
            <a:endParaRPr lang="en-US" sz="3200" dirty="0">
              <a:effectLst/>
              <a:latin typeface="Times New Roman" panose="02020603050405020304" pitchFamily="18" charset="0"/>
              <a:ea typeface="Times New Roman" panose="02020603050405020304" pitchFamily="18" charset="0"/>
            </a:endParaRPr>
          </a:p>
          <a:p>
            <a:pPr marL="0" marR="0">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8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xml:space="preserve">    </a:t>
            </a:r>
            <a:r>
              <a:rPr lang="en-US" sz="1800" dirty="0">
                <a:solidFill>
                  <a:srgbClr val="A31515"/>
                </a:solidFill>
                <a:effectLst/>
                <a:latin typeface="Consolas" panose="020B0609020204030204" pitchFamily="49" charset="0"/>
                <a:ea typeface="Times New Roman" panose="02020603050405020304" pitchFamily="18" charset="0"/>
                <a:cs typeface="Courier New" panose="02070309020205020404" pitchFamily="49" charset="0"/>
              </a:rPr>
              <a:t>'Age'</a:t>
            </a:r>
            <a:r>
              <a:rPr lang="en-US" sz="18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a:t>
            </a:r>
            <a:r>
              <a:rPr lang="en-US" sz="1800" dirty="0">
                <a:solidFill>
                  <a:srgbClr val="006666"/>
                </a:solidFill>
                <a:effectLst/>
                <a:latin typeface="Consolas" panose="020B0609020204030204" pitchFamily="49" charset="0"/>
                <a:ea typeface="Times New Roman" panose="02020603050405020304" pitchFamily="18" charset="0"/>
                <a:cs typeface="Courier New" panose="02070309020205020404" pitchFamily="49" charset="0"/>
              </a:rPr>
              <a:t>17</a:t>
            </a:r>
            <a:r>
              <a:rPr lang="en-US" sz="18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xml:space="preserve">, </a:t>
            </a:r>
            <a:r>
              <a:rPr lang="en-US" sz="1800" dirty="0">
                <a:solidFill>
                  <a:srgbClr val="006666"/>
                </a:solidFill>
                <a:effectLst/>
                <a:latin typeface="Consolas" panose="020B0609020204030204" pitchFamily="49" charset="0"/>
                <a:ea typeface="Times New Roman" panose="02020603050405020304" pitchFamily="18" charset="0"/>
                <a:cs typeface="Courier New" panose="02070309020205020404" pitchFamily="49" charset="0"/>
              </a:rPr>
              <a:t>16</a:t>
            </a:r>
            <a:r>
              <a:rPr lang="en-US" sz="18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xml:space="preserve">, </a:t>
            </a:r>
            <a:r>
              <a:rPr lang="en-US" sz="1800" dirty="0">
                <a:solidFill>
                  <a:srgbClr val="006666"/>
                </a:solidFill>
                <a:effectLst/>
                <a:latin typeface="Consolas" panose="020B0609020204030204" pitchFamily="49" charset="0"/>
                <a:ea typeface="Times New Roman" panose="02020603050405020304" pitchFamily="18" charset="0"/>
                <a:cs typeface="Courier New" panose="02070309020205020404" pitchFamily="49" charset="0"/>
              </a:rPr>
              <a:t>15</a:t>
            </a:r>
            <a:r>
              <a:rPr lang="en-US" sz="18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xml:space="preserve">, </a:t>
            </a:r>
            <a:r>
              <a:rPr lang="en-US" sz="1800" dirty="0">
                <a:solidFill>
                  <a:srgbClr val="006666"/>
                </a:solidFill>
                <a:effectLst/>
                <a:latin typeface="Consolas" panose="020B0609020204030204" pitchFamily="49" charset="0"/>
                <a:ea typeface="Times New Roman" panose="02020603050405020304" pitchFamily="18" charset="0"/>
                <a:cs typeface="Courier New" panose="02070309020205020404" pitchFamily="49" charset="0"/>
              </a:rPr>
              <a:t>18</a:t>
            </a:r>
            <a:r>
              <a:rPr lang="en-US" sz="18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xml:space="preserve">, </a:t>
            </a:r>
            <a:r>
              <a:rPr lang="en-US" sz="1800" dirty="0">
                <a:solidFill>
                  <a:srgbClr val="006666"/>
                </a:solidFill>
                <a:effectLst/>
                <a:latin typeface="Consolas" panose="020B0609020204030204" pitchFamily="49" charset="0"/>
                <a:ea typeface="Times New Roman" panose="02020603050405020304" pitchFamily="18" charset="0"/>
                <a:cs typeface="Courier New" panose="02070309020205020404" pitchFamily="49" charset="0"/>
              </a:rPr>
              <a:t>150</a:t>
            </a:r>
            <a:r>
              <a:rPr lang="en-US" sz="18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a:t>
            </a:r>
            <a:endParaRPr lang="en-US" sz="3200" dirty="0">
              <a:effectLst/>
              <a:latin typeface="Times New Roman" panose="02020603050405020304" pitchFamily="18" charset="0"/>
              <a:ea typeface="Times New Roman" panose="02020603050405020304" pitchFamily="18" charset="0"/>
            </a:endParaRPr>
          </a:p>
          <a:p>
            <a:pPr marL="0" marR="0">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8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xml:space="preserve">    </a:t>
            </a:r>
            <a:r>
              <a:rPr lang="en-US" sz="1800" dirty="0">
                <a:solidFill>
                  <a:srgbClr val="A31515"/>
                </a:solidFill>
                <a:effectLst/>
                <a:latin typeface="Consolas" panose="020B0609020204030204" pitchFamily="49" charset="0"/>
                <a:ea typeface="Times New Roman" panose="02020603050405020304" pitchFamily="18" charset="0"/>
                <a:cs typeface="Courier New" panose="02070309020205020404" pitchFamily="49" charset="0"/>
              </a:rPr>
              <a:t>'Grade'</a:t>
            </a:r>
            <a:r>
              <a:rPr lang="en-US" sz="18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a:t>
            </a:r>
            <a:r>
              <a:rPr lang="en-US" sz="1800" dirty="0">
                <a:solidFill>
                  <a:srgbClr val="006666"/>
                </a:solidFill>
                <a:effectLst/>
                <a:latin typeface="Consolas" panose="020B0609020204030204" pitchFamily="49" charset="0"/>
                <a:ea typeface="Times New Roman" panose="02020603050405020304" pitchFamily="18" charset="0"/>
                <a:cs typeface="Courier New" panose="02070309020205020404" pitchFamily="49" charset="0"/>
              </a:rPr>
              <a:t>11</a:t>
            </a:r>
            <a:r>
              <a:rPr lang="en-US" sz="18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xml:space="preserve">, </a:t>
            </a:r>
            <a:r>
              <a:rPr lang="en-US" sz="1800" dirty="0">
                <a:solidFill>
                  <a:srgbClr val="006666"/>
                </a:solidFill>
                <a:effectLst/>
                <a:latin typeface="Consolas" panose="020B0609020204030204" pitchFamily="49" charset="0"/>
                <a:ea typeface="Times New Roman" panose="02020603050405020304" pitchFamily="18" charset="0"/>
                <a:cs typeface="Courier New" panose="02070309020205020404" pitchFamily="49" charset="0"/>
              </a:rPr>
              <a:t>11</a:t>
            </a:r>
            <a:r>
              <a:rPr lang="en-US" sz="18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xml:space="preserve">, </a:t>
            </a:r>
            <a:r>
              <a:rPr lang="en-US" sz="1800" dirty="0">
                <a:solidFill>
                  <a:srgbClr val="006666"/>
                </a:solidFill>
                <a:effectLst/>
                <a:latin typeface="Consolas" panose="020B0609020204030204" pitchFamily="49" charset="0"/>
                <a:ea typeface="Times New Roman" panose="02020603050405020304" pitchFamily="18" charset="0"/>
                <a:cs typeface="Courier New" panose="02070309020205020404" pitchFamily="49" charset="0"/>
              </a:rPr>
              <a:t>10</a:t>
            </a:r>
            <a:r>
              <a:rPr lang="en-US" sz="18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xml:space="preserve">, </a:t>
            </a:r>
            <a:r>
              <a:rPr lang="en-US" sz="1800" dirty="0">
                <a:solidFill>
                  <a:srgbClr val="006666"/>
                </a:solidFill>
                <a:effectLst/>
                <a:latin typeface="Consolas" panose="020B0609020204030204" pitchFamily="49" charset="0"/>
                <a:ea typeface="Times New Roman" panose="02020603050405020304" pitchFamily="18" charset="0"/>
                <a:cs typeface="Courier New" panose="02070309020205020404" pitchFamily="49" charset="0"/>
              </a:rPr>
              <a:t>12</a:t>
            </a:r>
            <a:r>
              <a:rPr lang="en-US" sz="18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xml:space="preserve">, </a:t>
            </a:r>
            <a:r>
              <a:rPr lang="en-US" sz="1800" dirty="0">
                <a:solidFill>
                  <a:srgbClr val="006666"/>
                </a:solidFill>
                <a:effectLst/>
                <a:latin typeface="Consolas" panose="020B0609020204030204" pitchFamily="49" charset="0"/>
                <a:ea typeface="Times New Roman" panose="02020603050405020304" pitchFamily="18" charset="0"/>
                <a:cs typeface="Courier New" panose="02070309020205020404" pitchFamily="49" charset="0"/>
              </a:rPr>
              <a:t>11</a:t>
            </a:r>
            <a:r>
              <a:rPr lang="en-US" sz="18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a:t>
            </a:r>
            <a:endParaRPr lang="en-US" sz="3200" dirty="0">
              <a:effectLst/>
              <a:latin typeface="Times New Roman" panose="02020603050405020304" pitchFamily="18" charset="0"/>
              <a:ea typeface="Times New Roman" panose="02020603050405020304" pitchFamily="18" charset="0"/>
            </a:endParaRPr>
          </a:p>
          <a:p>
            <a:pPr marL="0" marR="0">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8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xml:space="preserve">    </a:t>
            </a:r>
            <a:r>
              <a:rPr lang="en-US" sz="1800" dirty="0">
                <a:solidFill>
                  <a:srgbClr val="A31515"/>
                </a:solidFill>
                <a:effectLst/>
                <a:latin typeface="Consolas" panose="020B0609020204030204" pitchFamily="49" charset="0"/>
                <a:ea typeface="Times New Roman" panose="02020603050405020304" pitchFamily="18" charset="0"/>
                <a:cs typeface="Courier New" panose="02070309020205020404" pitchFamily="49" charset="0"/>
              </a:rPr>
              <a:t>'Score'</a:t>
            </a:r>
            <a:r>
              <a:rPr lang="en-US" sz="18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a:t>
            </a:r>
            <a:r>
              <a:rPr lang="en-US" sz="1800" dirty="0">
                <a:solidFill>
                  <a:srgbClr val="006666"/>
                </a:solidFill>
                <a:effectLst/>
                <a:latin typeface="Consolas" panose="020B0609020204030204" pitchFamily="49" charset="0"/>
                <a:ea typeface="Times New Roman" panose="02020603050405020304" pitchFamily="18" charset="0"/>
                <a:cs typeface="Courier New" panose="02070309020205020404" pitchFamily="49" charset="0"/>
              </a:rPr>
              <a:t>90</a:t>
            </a:r>
            <a:r>
              <a:rPr lang="en-US" sz="18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xml:space="preserve">, </a:t>
            </a:r>
            <a:r>
              <a:rPr lang="en-US" sz="1800" dirty="0">
                <a:solidFill>
                  <a:srgbClr val="0000FF"/>
                </a:solidFill>
                <a:effectLst/>
                <a:latin typeface="Consolas" panose="020B0609020204030204" pitchFamily="49" charset="0"/>
                <a:ea typeface="Times New Roman" panose="02020603050405020304" pitchFamily="18" charset="0"/>
                <a:cs typeface="Courier New" panose="02070309020205020404" pitchFamily="49" charset="0"/>
              </a:rPr>
              <a:t>None</a:t>
            </a:r>
            <a:r>
              <a:rPr lang="en-US" sz="18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xml:space="preserve">, </a:t>
            </a:r>
            <a:r>
              <a:rPr lang="en-US" sz="1800" dirty="0">
                <a:solidFill>
                  <a:srgbClr val="006666"/>
                </a:solidFill>
                <a:effectLst/>
                <a:latin typeface="Consolas" panose="020B0609020204030204" pitchFamily="49" charset="0"/>
                <a:ea typeface="Times New Roman" panose="02020603050405020304" pitchFamily="18" charset="0"/>
                <a:cs typeface="Courier New" panose="02070309020205020404" pitchFamily="49" charset="0"/>
              </a:rPr>
              <a:t>85</a:t>
            </a:r>
            <a:r>
              <a:rPr lang="en-US" sz="18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xml:space="preserve">, </a:t>
            </a:r>
            <a:r>
              <a:rPr lang="en-US" sz="1800" dirty="0">
                <a:solidFill>
                  <a:srgbClr val="006666"/>
                </a:solidFill>
                <a:effectLst/>
                <a:latin typeface="Consolas" panose="020B0609020204030204" pitchFamily="49" charset="0"/>
                <a:ea typeface="Times New Roman" panose="02020603050405020304" pitchFamily="18" charset="0"/>
                <a:cs typeface="Courier New" panose="02070309020205020404" pitchFamily="49" charset="0"/>
              </a:rPr>
              <a:t>88</a:t>
            </a:r>
            <a:r>
              <a:rPr lang="en-US" sz="18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xml:space="preserve">, </a:t>
            </a:r>
            <a:r>
              <a:rPr lang="en-US" sz="1800" dirty="0">
                <a:solidFill>
                  <a:srgbClr val="006666"/>
                </a:solidFill>
                <a:effectLst/>
                <a:latin typeface="Consolas" panose="020B0609020204030204" pitchFamily="49" charset="0"/>
                <a:ea typeface="Times New Roman" panose="02020603050405020304" pitchFamily="18" charset="0"/>
                <a:cs typeface="Courier New" panose="02070309020205020404" pitchFamily="49" charset="0"/>
              </a:rPr>
              <a:t>95</a:t>
            </a:r>
            <a:r>
              <a:rPr lang="en-US" sz="18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a:t>
            </a:r>
            <a:endParaRPr lang="en-US" sz="3200" dirty="0">
              <a:effectLst/>
              <a:latin typeface="Times New Roman" panose="02020603050405020304" pitchFamily="18" charset="0"/>
              <a:ea typeface="Times New Roman" panose="02020603050405020304" pitchFamily="18" charset="0"/>
            </a:endParaRPr>
          </a:p>
          <a:p>
            <a:pPr marL="0" marR="0">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8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a:t>
            </a:r>
            <a:endParaRPr lang="en-US" sz="3200" dirty="0">
              <a:effectLst/>
              <a:latin typeface="Times New Roman" panose="02020603050405020304" pitchFamily="18" charset="0"/>
              <a:ea typeface="Times New Roman" panose="02020603050405020304" pitchFamily="18" charset="0"/>
            </a:endParaRPr>
          </a:p>
          <a:p>
            <a:pPr marL="0" marR="0">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800" dirty="0" err="1">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df</a:t>
            </a:r>
            <a:r>
              <a:rPr lang="en-US" sz="18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xml:space="preserve"> = </a:t>
            </a:r>
            <a:r>
              <a:rPr lang="en-US" sz="1800" dirty="0" err="1">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pd.</a:t>
            </a:r>
            <a:r>
              <a:rPr lang="en-US" sz="1800" dirty="0" err="1">
                <a:solidFill>
                  <a:srgbClr val="2B91AF"/>
                </a:solidFill>
                <a:effectLst/>
                <a:latin typeface="Consolas" panose="020B0609020204030204" pitchFamily="49" charset="0"/>
                <a:ea typeface="Times New Roman" panose="02020603050405020304" pitchFamily="18" charset="0"/>
                <a:cs typeface="Courier New" panose="02070309020205020404" pitchFamily="49" charset="0"/>
              </a:rPr>
              <a:t>DataFrame</a:t>
            </a:r>
            <a:r>
              <a:rPr lang="en-US" sz="18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(data)</a:t>
            </a:r>
            <a:endParaRPr lang="en-US" sz="3200" dirty="0">
              <a:effectLst/>
              <a:latin typeface="Times New Roman" panose="02020603050405020304" pitchFamily="18" charset="0"/>
              <a:ea typeface="Times New Roman" panose="02020603050405020304" pitchFamily="18" charset="0"/>
            </a:endParaRPr>
          </a:p>
          <a:p>
            <a:pPr marL="0" marR="0">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800" dirty="0">
                <a:solidFill>
                  <a:srgbClr val="0000FF"/>
                </a:solidFill>
                <a:effectLst/>
                <a:latin typeface="Consolas" panose="020B0609020204030204" pitchFamily="49" charset="0"/>
                <a:ea typeface="Times New Roman" panose="02020603050405020304" pitchFamily="18" charset="0"/>
                <a:cs typeface="Courier New" panose="02070309020205020404" pitchFamily="49" charset="0"/>
              </a:rPr>
              <a:t>print</a:t>
            </a:r>
            <a:r>
              <a:rPr lang="en-US" sz="18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a:t>
            </a:r>
            <a:r>
              <a:rPr lang="en-US" sz="1800" dirty="0">
                <a:solidFill>
                  <a:srgbClr val="A31515"/>
                </a:solidFill>
                <a:effectLst/>
                <a:latin typeface="Consolas" panose="020B0609020204030204" pitchFamily="49" charset="0"/>
                <a:ea typeface="Times New Roman" panose="02020603050405020304" pitchFamily="18" charset="0"/>
                <a:cs typeface="Courier New" panose="02070309020205020404" pitchFamily="49" charset="0"/>
              </a:rPr>
              <a:t>"Raw data:"</a:t>
            </a:r>
            <a:r>
              <a:rPr lang="en-US" sz="18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a:t>
            </a:r>
            <a:endParaRPr lang="en-US" sz="3200" dirty="0">
              <a:effectLst/>
              <a:latin typeface="Times New Roman" panose="02020603050405020304" pitchFamily="18" charset="0"/>
              <a:ea typeface="Times New Roman" panose="02020603050405020304" pitchFamily="18" charset="0"/>
            </a:endParaRPr>
          </a:p>
          <a:p>
            <a:pPr marL="0" marR="0">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800" dirty="0">
                <a:solidFill>
                  <a:srgbClr val="0000FF"/>
                </a:solidFill>
                <a:effectLst/>
                <a:latin typeface="Consolas" panose="020B0609020204030204" pitchFamily="49" charset="0"/>
                <a:ea typeface="Times New Roman" panose="02020603050405020304" pitchFamily="18" charset="0"/>
                <a:cs typeface="Courier New" panose="02070309020205020404" pitchFamily="49" charset="0"/>
              </a:rPr>
              <a:t>print</a:t>
            </a:r>
            <a:r>
              <a:rPr lang="en-US" sz="18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a:t>
            </a:r>
            <a:r>
              <a:rPr lang="en-US" sz="1800" dirty="0" err="1">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df</a:t>
            </a:r>
            <a:r>
              <a:rPr lang="en-US" sz="18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a:t>
            </a:r>
            <a:endParaRPr lang="en-US" sz="3200" dirty="0">
              <a:effectLst/>
              <a:latin typeface="Times New Roman" panose="02020603050405020304" pitchFamily="18" charset="0"/>
              <a:ea typeface="Times New Roman" panose="02020603050405020304" pitchFamily="18" charset="0"/>
            </a:endParaRPr>
          </a:p>
        </p:txBody>
      </p:sp>
      <p:pic>
        <p:nvPicPr>
          <p:cNvPr id="7" name="Picture 6" descr="A table of names and numbers  AI-generated content may be incorrect.">
            <a:extLst>
              <a:ext uri="{FF2B5EF4-FFF2-40B4-BE49-F238E27FC236}">
                <a16:creationId xmlns:a16="http://schemas.microsoft.com/office/drawing/2014/main" id="{564C7797-11D6-BE96-E6A4-618D27A78719}"/>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7615002" y="3998681"/>
            <a:ext cx="4341527" cy="2232085"/>
          </a:xfrm>
          <a:prstGeom prst="rect">
            <a:avLst/>
          </a:prstGeom>
          <a:ln>
            <a:solidFill>
              <a:schemeClr val="accent1"/>
            </a:solidFill>
          </a:ln>
        </p:spPr>
      </p:pic>
    </p:spTree>
    <p:extLst>
      <p:ext uri="{BB962C8B-B14F-4D97-AF65-F5344CB8AC3E}">
        <p14:creationId xmlns:p14="http://schemas.microsoft.com/office/powerpoint/2010/main" val="45812401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5660C4-2A3F-BB6D-7866-687C55E3824A}"/>
              </a:ext>
            </a:extLst>
          </p:cNvPr>
          <p:cNvSpPr>
            <a:spLocks noGrp="1"/>
          </p:cNvSpPr>
          <p:nvPr>
            <p:ph type="title"/>
          </p:nvPr>
        </p:nvSpPr>
        <p:spPr/>
        <p:txBody>
          <a:bodyPr/>
          <a:lstStyle/>
          <a:p>
            <a:r>
              <a:rPr lang="en-US" dirty="0"/>
              <a:t>Check the missing</a:t>
            </a:r>
          </a:p>
        </p:txBody>
      </p:sp>
      <p:sp>
        <p:nvSpPr>
          <p:cNvPr id="3" name="Content Placeholder 2">
            <a:extLst>
              <a:ext uri="{FF2B5EF4-FFF2-40B4-BE49-F238E27FC236}">
                <a16:creationId xmlns:a16="http://schemas.microsoft.com/office/drawing/2014/main" id="{3D3710B9-9056-2BB0-FB6A-0F9DE62B6B7F}"/>
              </a:ext>
            </a:extLst>
          </p:cNvPr>
          <p:cNvSpPr>
            <a:spLocks noGrp="1"/>
          </p:cNvSpPr>
          <p:nvPr>
            <p:ph idx="1"/>
          </p:nvPr>
        </p:nvSpPr>
        <p:spPr/>
        <p:txBody>
          <a:bodyPr/>
          <a:lstStyle/>
          <a:p>
            <a:r>
              <a:rPr lang="en-US" dirty="0"/>
              <a:t>We have only 5 students and 4 columns in this data. It’s easy to find the issues with naked eye.</a:t>
            </a:r>
          </a:p>
          <a:p>
            <a:r>
              <a:rPr lang="en-US" dirty="0"/>
              <a:t>Think if you had 1,000,000 rows and 10,000 columns</a:t>
            </a:r>
          </a:p>
          <a:p>
            <a:r>
              <a:rPr lang="en-US" dirty="0"/>
              <a:t>Let’s check the missing now!</a:t>
            </a:r>
          </a:p>
        </p:txBody>
      </p:sp>
      <p:sp>
        <p:nvSpPr>
          <p:cNvPr id="5" name="TextBox 4">
            <a:extLst>
              <a:ext uri="{FF2B5EF4-FFF2-40B4-BE49-F238E27FC236}">
                <a16:creationId xmlns:a16="http://schemas.microsoft.com/office/drawing/2014/main" id="{183508C5-FBD4-73DC-ED2B-84F63EB30E74}"/>
              </a:ext>
            </a:extLst>
          </p:cNvPr>
          <p:cNvSpPr txBox="1"/>
          <p:nvPr/>
        </p:nvSpPr>
        <p:spPr>
          <a:xfrm>
            <a:off x="9607446" y="3429000"/>
            <a:ext cx="1320384" cy="1323439"/>
          </a:xfrm>
          <a:prstGeom prst="rect">
            <a:avLst/>
          </a:prstGeom>
          <a:noFill/>
        </p:spPr>
        <p:txBody>
          <a:bodyPr wrap="square">
            <a:spAutoFit/>
          </a:bodyPr>
          <a:lstStyle/>
          <a:p>
            <a:r>
              <a:rPr lang="en-US" sz="8000" dirty="0"/>
              <a:t>🤯</a:t>
            </a:r>
            <a:endParaRPr lang="en-US" sz="13800" dirty="0"/>
          </a:p>
        </p:txBody>
      </p:sp>
      <p:sp>
        <p:nvSpPr>
          <p:cNvPr id="7" name="TextBox 6">
            <a:extLst>
              <a:ext uri="{FF2B5EF4-FFF2-40B4-BE49-F238E27FC236}">
                <a16:creationId xmlns:a16="http://schemas.microsoft.com/office/drawing/2014/main" id="{6C05BBF0-317E-4896-BF23-55DF5A1C7A1F}"/>
              </a:ext>
            </a:extLst>
          </p:cNvPr>
          <p:cNvSpPr txBox="1"/>
          <p:nvPr/>
        </p:nvSpPr>
        <p:spPr>
          <a:xfrm>
            <a:off x="838199" y="5383700"/>
            <a:ext cx="5412700" cy="646331"/>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marL="0" marR="0">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800" dirty="0">
                <a:solidFill>
                  <a:srgbClr val="0000FF"/>
                </a:solidFill>
                <a:effectLst/>
                <a:latin typeface="Consolas" panose="020B0609020204030204" pitchFamily="49" charset="0"/>
                <a:ea typeface="Times New Roman" panose="02020603050405020304" pitchFamily="18" charset="0"/>
                <a:cs typeface="Courier New" panose="02070309020205020404" pitchFamily="49" charset="0"/>
              </a:rPr>
              <a:t>print</a:t>
            </a:r>
            <a:r>
              <a:rPr lang="en-US" sz="18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a:t>
            </a:r>
            <a:r>
              <a:rPr lang="en-US" sz="1800" dirty="0">
                <a:solidFill>
                  <a:srgbClr val="A31515"/>
                </a:solidFill>
                <a:effectLst/>
                <a:latin typeface="Consolas" panose="020B0609020204030204" pitchFamily="49" charset="0"/>
                <a:ea typeface="Times New Roman" panose="02020603050405020304" pitchFamily="18" charset="0"/>
                <a:cs typeface="Courier New" panose="02070309020205020404" pitchFamily="49" charset="0"/>
              </a:rPr>
              <a:t>"\</a:t>
            </a:r>
            <a:r>
              <a:rPr lang="en-US" sz="1800" dirty="0" err="1">
                <a:solidFill>
                  <a:srgbClr val="A31515"/>
                </a:solidFill>
                <a:effectLst/>
                <a:latin typeface="Consolas" panose="020B0609020204030204" pitchFamily="49" charset="0"/>
                <a:ea typeface="Times New Roman" panose="02020603050405020304" pitchFamily="18" charset="0"/>
                <a:cs typeface="Courier New" panose="02070309020205020404" pitchFamily="49" charset="0"/>
              </a:rPr>
              <a:t>nMissing</a:t>
            </a:r>
            <a:r>
              <a:rPr lang="en-US" sz="1800" dirty="0">
                <a:solidFill>
                  <a:srgbClr val="A31515"/>
                </a:solidFill>
                <a:effectLst/>
                <a:latin typeface="Consolas" panose="020B0609020204030204" pitchFamily="49" charset="0"/>
                <a:ea typeface="Times New Roman" panose="02020603050405020304" pitchFamily="18" charset="0"/>
                <a:cs typeface="Courier New" panose="02070309020205020404" pitchFamily="49" charset="0"/>
              </a:rPr>
              <a:t xml:space="preserve"> values in each column:"</a:t>
            </a:r>
            <a:r>
              <a:rPr lang="en-US" sz="18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a:t>
            </a:r>
            <a:endParaRPr lang="en-US" sz="3200" dirty="0">
              <a:effectLst/>
              <a:latin typeface="Times New Roman" panose="02020603050405020304" pitchFamily="18" charset="0"/>
              <a:ea typeface="Times New Roman" panose="02020603050405020304" pitchFamily="18" charset="0"/>
            </a:endParaRPr>
          </a:p>
          <a:p>
            <a:pPr marL="0" marR="0">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800" dirty="0">
                <a:solidFill>
                  <a:srgbClr val="0000FF"/>
                </a:solidFill>
                <a:effectLst/>
                <a:latin typeface="Consolas" panose="020B0609020204030204" pitchFamily="49" charset="0"/>
                <a:ea typeface="Times New Roman" panose="02020603050405020304" pitchFamily="18" charset="0"/>
                <a:cs typeface="Courier New" panose="02070309020205020404" pitchFamily="49" charset="0"/>
              </a:rPr>
              <a:t>print</a:t>
            </a:r>
            <a:r>
              <a:rPr lang="en-US" sz="18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a:t>
            </a:r>
            <a:r>
              <a:rPr lang="en-US" sz="1800" dirty="0" err="1">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df.isna</a:t>
            </a:r>
            <a:r>
              <a:rPr lang="en-US" sz="18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().sum())</a:t>
            </a:r>
            <a:endParaRPr lang="en-US" sz="3200" dirty="0">
              <a:effectLst/>
              <a:latin typeface="Times New Roman" panose="02020603050405020304" pitchFamily="18" charset="0"/>
              <a:ea typeface="Times New Roman" panose="02020603050405020304" pitchFamily="18" charset="0"/>
            </a:endParaRPr>
          </a:p>
        </p:txBody>
      </p:sp>
      <p:pic>
        <p:nvPicPr>
          <p:cNvPr id="9" name="Picture 8" descr="A black and white text  AI-generated content may be incorrect.">
            <a:extLst>
              <a:ext uri="{FF2B5EF4-FFF2-40B4-BE49-F238E27FC236}">
                <a16:creationId xmlns:a16="http://schemas.microsoft.com/office/drawing/2014/main" id="{38609F9A-E404-C8FE-3582-3AB667249EFE}"/>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6528215" y="4752439"/>
            <a:ext cx="4272197" cy="1908854"/>
          </a:xfrm>
          <a:prstGeom prst="rect">
            <a:avLst/>
          </a:prstGeom>
          <a:ln>
            <a:solidFill>
              <a:schemeClr val="accent1"/>
            </a:solidFill>
          </a:ln>
        </p:spPr>
      </p:pic>
    </p:spTree>
    <p:extLst>
      <p:ext uri="{BB962C8B-B14F-4D97-AF65-F5344CB8AC3E}">
        <p14:creationId xmlns:p14="http://schemas.microsoft.com/office/powerpoint/2010/main" val="331275391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7FE49D-6091-030C-F248-60E8F03E320A}"/>
              </a:ext>
            </a:extLst>
          </p:cNvPr>
          <p:cNvSpPr>
            <a:spLocks noGrp="1"/>
          </p:cNvSpPr>
          <p:nvPr>
            <p:ph type="title"/>
          </p:nvPr>
        </p:nvSpPr>
        <p:spPr/>
        <p:txBody>
          <a:bodyPr/>
          <a:lstStyle/>
          <a:p>
            <a:r>
              <a:rPr lang="en-US" dirty="0"/>
              <a:t>Check outliers</a:t>
            </a:r>
          </a:p>
        </p:txBody>
      </p:sp>
      <p:sp>
        <p:nvSpPr>
          <p:cNvPr id="3" name="Content Placeholder 2">
            <a:extLst>
              <a:ext uri="{FF2B5EF4-FFF2-40B4-BE49-F238E27FC236}">
                <a16:creationId xmlns:a16="http://schemas.microsoft.com/office/drawing/2014/main" id="{07F908D6-A8B8-81A8-A41E-5B0EC02FCEB5}"/>
              </a:ext>
            </a:extLst>
          </p:cNvPr>
          <p:cNvSpPr>
            <a:spLocks noGrp="1"/>
          </p:cNvSpPr>
          <p:nvPr>
            <p:ph idx="1"/>
          </p:nvPr>
        </p:nvSpPr>
        <p:spPr>
          <a:xfrm>
            <a:off x="838200" y="2572459"/>
            <a:ext cx="10515600" cy="3572911"/>
          </a:xfrm>
        </p:spPr>
        <p:txBody>
          <a:bodyPr/>
          <a:lstStyle/>
          <a:p>
            <a:r>
              <a:rPr lang="en-US" dirty="0"/>
              <a:t>Three detection methods: (1) Domain threshold (Age&gt;100), (2) IQR rule: flag if value &lt; Q1−1.5×IQR or &gt; Q3+1.5×IQR (robust to skew), (3) Z-score: |z|&gt;3 (best for normal distributions). Here we use a domain threshold</a:t>
            </a:r>
          </a:p>
          <a:p>
            <a:pPr marL="0" indent="0">
              <a:buNone/>
            </a:pPr>
            <a:endParaRPr lang="en-US" dirty="0"/>
          </a:p>
        </p:txBody>
      </p:sp>
      <p:sp>
        <p:nvSpPr>
          <p:cNvPr id="5" name="TextBox 4">
            <a:extLst>
              <a:ext uri="{FF2B5EF4-FFF2-40B4-BE49-F238E27FC236}">
                <a16:creationId xmlns:a16="http://schemas.microsoft.com/office/drawing/2014/main" id="{5319FD44-8C6C-8E6A-DE1F-0F7560A5417A}"/>
              </a:ext>
            </a:extLst>
          </p:cNvPr>
          <p:cNvSpPr txBox="1"/>
          <p:nvPr/>
        </p:nvSpPr>
        <p:spPr>
          <a:xfrm>
            <a:off x="458449" y="4689133"/>
            <a:ext cx="6387059" cy="1477328"/>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marL="0" marR="0">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800" dirty="0">
                <a:solidFill>
                  <a:srgbClr val="008000"/>
                </a:solidFill>
                <a:effectLst/>
                <a:latin typeface="Consolas" panose="020B0609020204030204" pitchFamily="49" charset="0"/>
                <a:ea typeface="Times New Roman" panose="02020603050405020304" pitchFamily="18" charset="0"/>
                <a:cs typeface="Courier New" panose="02070309020205020404" pitchFamily="49" charset="0"/>
              </a:rPr>
              <a:t># Identify outliers in Age (say anything &gt; 100 is suspicious)</a:t>
            </a:r>
            <a:endParaRPr lang="en-US" sz="3200" dirty="0">
              <a:effectLst/>
              <a:latin typeface="Times New Roman" panose="02020603050405020304" pitchFamily="18" charset="0"/>
              <a:ea typeface="Times New Roman" panose="02020603050405020304" pitchFamily="18" charset="0"/>
            </a:endParaRPr>
          </a:p>
          <a:p>
            <a:pPr marL="0" marR="0">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8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xml:space="preserve">outliers = </a:t>
            </a:r>
            <a:r>
              <a:rPr lang="en-US" sz="1800" dirty="0" err="1">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df</a:t>
            </a:r>
            <a:r>
              <a:rPr lang="en-US" sz="18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a:t>
            </a:r>
            <a:r>
              <a:rPr lang="en-US" sz="1800" dirty="0" err="1">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df</a:t>
            </a:r>
            <a:r>
              <a:rPr lang="en-US" sz="18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a:t>
            </a:r>
            <a:r>
              <a:rPr lang="en-US" sz="1800" dirty="0">
                <a:solidFill>
                  <a:srgbClr val="A31515"/>
                </a:solidFill>
                <a:effectLst/>
                <a:latin typeface="Consolas" panose="020B0609020204030204" pitchFamily="49" charset="0"/>
                <a:ea typeface="Times New Roman" panose="02020603050405020304" pitchFamily="18" charset="0"/>
                <a:cs typeface="Courier New" panose="02070309020205020404" pitchFamily="49" charset="0"/>
              </a:rPr>
              <a:t>'Age'</a:t>
            </a:r>
            <a:r>
              <a:rPr lang="en-US" sz="18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xml:space="preserve">] &gt; </a:t>
            </a:r>
            <a:r>
              <a:rPr lang="en-US" sz="1800" dirty="0">
                <a:solidFill>
                  <a:srgbClr val="006666"/>
                </a:solidFill>
                <a:effectLst/>
                <a:latin typeface="Consolas" panose="020B0609020204030204" pitchFamily="49" charset="0"/>
                <a:ea typeface="Times New Roman" panose="02020603050405020304" pitchFamily="18" charset="0"/>
                <a:cs typeface="Courier New" panose="02070309020205020404" pitchFamily="49" charset="0"/>
              </a:rPr>
              <a:t>100</a:t>
            </a:r>
            <a:r>
              <a:rPr lang="en-US" sz="18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a:t>
            </a:r>
            <a:endParaRPr lang="en-US" sz="3200" dirty="0">
              <a:effectLst/>
              <a:latin typeface="Times New Roman" panose="02020603050405020304" pitchFamily="18" charset="0"/>
              <a:ea typeface="Times New Roman" panose="02020603050405020304" pitchFamily="18" charset="0"/>
            </a:endParaRPr>
          </a:p>
          <a:p>
            <a:pPr marL="0" marR="0">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800" dirty="0">
                <a:solidFill>
                  <a:srgbClr val="0000FF"/>
                </a:solidFill>
                <a:effectLst/>
                <a:latin typeface="Consolas" panose="020B0609020204030204" pitchFamily="49" charset="0"/>
                <a:ea typeface="Times New Roman" panose="02020603050405020304" pitchFamily="18" charset="0"/>
                <a:cs typeface="Courier New" panose="02070309020205020404" pitchFamily="49" charset="0"/>
              </a:rPr>
              <a:t>print</a:t>
            </a:r>
            <a:r>
              <a:rPr lang="en-US" sz="18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a:t>
            </a:r>
            <a:r>
              <a:rPr lang="en-US" sz="1800" dirty="0">
                <a:solidFill>
                  <a:srgbClr val="A31515"/>
                </a:solidFill>
                <a:effectLst/>
                <a:latin typeface="Consolas" panose="020B0609020204030204" pitchFamily="49" charset="0"/>
                <a:ea typeface="Times New Roman" panose="02020603050405020304" pitchFamily="18" charset="0"/>
                <a:cs typeface="Courier New" panose="02070309020205020404" pitchFamily="49" charset="0"/>
              </a:rPr>
              <a:t>"\</a:t>
            </a:r>
            <a:r>
              <a:rPr lang="en-US" sz="1800" dirty="0" err="1">
                <a:solidFill>
                  <a:srgbClr val="A31515"/>
                </a:solidFill>
                <a:effectLst/>
                <a:latin typeface="Consolas" panose="020B0609020204030204" pitchFamily="49" charset="0"/>
                <a:ea typeface="Times New Roman" panose="02020603050405020304" pitchFamily="18" charset="0"/>
                <a:cs typeface="Courier New" panose="02070309020205020404" pitchFamily="49" charset="0"/>
              </a:rPr>
              <a:t>nOutliers</a:t>
            </a:r>
            <a:r>
              <a:rPr lang="en-US" sz="1800" dirty="0">
                <a:solidFill>
                  <a:srgbClr val="A31515"/>
                </a:solidFill>
                <a:effectLst/>
                <a:latin typeface="Consolas" panose="020B0609020204030204" pitchFamily="49" charset="0"/>
                <a:ea typeface="Times New Roman" panose="02020603050405020304" pitchFamily="18" charset="0"/>
                <a:cs typeface="Courier New" panose="02070309020205020404" pitchFamily="49" charset="0"/>
              </a:rPr>
              <a:t xml:space="preserve"> in Age:"</a:t>
            </a:r>
            <a:r>
              <a:rPr lang="en-US" sz="18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a:t>
            </a:r>
            <a:endParaRPr lang="en-US" sz="3200" dirty="0">
              <a:effectLst/>
              <a:latin typeface="Times New Roman" panose="02020603050405020304" pitchFamily="18" charset="0"/>
              <a:ea typeface="Times New Roman" panose="02020603050405020304" pitchFamily="18" charset="0"/>
            </a:endParaRPr>
          </a:p>
          <a:p>
            <a:pPr marL="0" marR="0">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800" dirty="0">
                <a:solidFill>
                  <a:srgbClr val="0000FF"/>
                </a:solidFill>
                <a:effectLst/>
                <a:latin typeface="Consolas" panose="020B0609020204030204" pitchFamily="49" charset="0"/>
                <a:ea typeface="Times New Roman" panose="02020603050405020304" pitchFamily="18" charset="0"/>
                <a:cs typeface="Courier New" panose="02070309020205020404" pitchFamily="49" charset="0"/>
              </a:rPr>
              <a:t>print</a:t>
            </a:r>
            <a:r>
              <a:rPr lang="en-US" sz="18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(outliers)</a:t>
            </a:r>
            <a:endParaRPr lang="en-US" sz="3200" dirty="0">
              <a:effectLst/>
              <a:latin typeface="Times New Roman" panose="02020603050405020304" pitchFamily="18" charset="0"/>
              <a:ea typeface="Times New Roman" panose="02020603050405020304" pitchFamily="18" charset="0"/>
            </a:endParaRPr>
          </a:p>
        </p:txBody>
      </p:sp>
      <p:pic>
        <p:nvPicPr>
          <p:cNvPr id="7" name="Picture 6" descr="A close up of text  AI-generated content may be incorrect.">
            <a:extLst>
              <a:ext uri="{FF2B5EF4-FFF2-40B4-BE49-F238E27FC236}">
                <a16:creationId xmlns:a16="http://schemas.microsoft.com/office/drawing/2014/main" id="{075B7426-B9D2-68AA-9CDE-1ECA6372E797}"/>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7077860" y="4743925"/>
            <a:ext cx="4760622" cy="1325562"/>
          </a:xfrm>
          <a:prstGeom prst="rect">
            <a:avLst/>
          </a:prstGeom>
          <a:ln>
            <a:solidFill>
              <a:schemeClr val="accent1"/>
            </a:solidFill>
          </a:ln>
        </p:spPr>
      </p:pic>
    </p:spTree>
    <p:extLst>
      <p:ext uri="{BB962C8B-B14F-4D97-AF65-F5344CB8AC3E}">
        <p14:creationId xmlns:p14="http://schemas.microsoft.com/office/powerpoint/2010/main" val="128009055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73BFED-2224-8086-C94F-33289C0D148B}"/>
              </a:ext>
            </a:extLst>
          </p:cNvPr>
          <p:cNvSpPr>
            <a:spLocks noGrp="1"/>
          </p:cNvSpPr>
          <p:nvPr>
            <p:ph type="title"/>
          </p:nvPr>
        </p:nvSpPr>
        <p:spPr/>
        <p:txBody>
          <a:bodyPr/>
          <a:lstStyle/>
          <a:p>
            <a:r>
              <a:rPr lang="en-US" dirty="0"/>
              <a:t>Let’s Clean</a:t>
            </a:r>
          </a:p>
        </p:txBody>
      </p:sp>
      <p:sp>
        <p:nvSpPr>
          <p:cNvPr id="3" name="Content Placeholder 2">
            <a:extLst>
              <a:ext uri="{FF2B5EF4-FFF2-40B4-BE49-F238E27FC236}">
                <a16:creationId xmlns:a16="http://schemas.microsoft.com/office/drawing/2014/main" id="{8E37AF30-F7D2-3A52-4248-45E9DE5B5CD2}"/>
              </a:ext>
            </a:extLst>
          </p:cNvPr>
          <p:cNvSpPr>
            <a:spLocks noGrp="1"/>
          </p:cNvSpPr>
          <p:nvPr>
            <p:ph idx="1"/>
          </p:nvPr>
        </p:nvSpPr>
        <p:spPr/>
        <p:txBody>
          <a:bodyPr/>
          <a:lstStyle/>
          <a:p>
            <a:r>
              <a:rPr lang="en-US" dirty="0"/>
              <a:t>Fill Bob’s Score with the mean of other scores, and fix Ed’s age.</a:t>
            </a:r>
          </a:p>
        </p:txBody>
      </p:sp>
      <p:sp>
        <p:nvSpPr>
          <p:cNvPr id="5" name="TextBox 4">
            <a:extLst>
              <a:ext uri="{FF2B5EF4-FFF2-40B4-BE49-F238E27FC236}">
                <a16:creationId xmlns:a16="http://schemas.microsoft.com/office/drawing/2014/main" id="{13162F14-590A-4B5F-91A7-18E36DEA5AE3}"/>
              </a:ext>
            </a:extLst>
          </p:cNvPr>
          <p:cNvSpPr txBox="1"/>
          <p:nvPr/>
        </p:nvSpPr>
        <p:spPr>
          <a:xfrm>
            <a:off x="682053" y="3232432"/>
            <a:ext cx="9406328" cy="923330"/>
          </a:xfrm>
          <a:prstGeom prst="rect">
            <a:avLst/>
          </a:prstGeom>
          <a:noFill/>
        </p:spPr>
        <p:txBody>
          <a:bodyPr wrap="square">
            <a:spAutoFit/>
          </a:bodyPr>
          <a:lstStyle/>
          <a:p>
            <a:pPr marL="0" marR="0">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800" dirty="0">
                <a:solidFill>
                  <a:srgbClr val="008000"/>
                </a:solidFill>
                <a:effectLst/>
                <a:latin typeface="Consolas" panose="020B0609020204030204" pitchFamily="49" charset="0"/>
                <a:ea typeface="Times New Roman" panose="02020603050405020304" pitchFamily="18" charset="0"/>
                <a:cs typeface="Courier New" panose="02070309020205020404" pitchFamily="49" charset="0"/>
              </a:rPr>
              <a:t># Fill missing Score with mean of existing scores</a:t>
            </a:r>
            <a:endParaRPr lang="en-US" sz="3200" dirty="0">
              <a:effectLst/>
              <a:latin typeface="Times New Roman" panose="02020603050405020304" pitchFamily="18" charset="0"/>
              <a:ea typeface="Times New Roman" panose="02020603050405020304" pitchFamily="18" charset="0"/>
            </a:endParaRPr>
          </a:p>
          <a:p>
            <a:pPr marL="0" marR="0">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800" dirty="0" err="1">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mean_score</a:t>
            </a:r>
            <a:r>
              <a:rPr lang="en-US" sz="18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xml:space="preserve"> = </a:t>
            </a:r>
            <a:r>
              <a:rPr lang="en-US" sz="1800" dirty="0" err="1">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df</a:t>
            </a:r>
            <a:r>
              <a:rPr lang="en-US" sz="18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a:t>
            </a:r>
            <a:r>
              <a:rPr lang="en-US" sz="1800" dirty="0">
                <a:solidFill>
                  <a:srgbClr val="A31515"/>
                </a:solidFill>
                <a:effectLst/>
                <a:latin typeface="Consolas" panose="020B0609020204030204" pitchFamily="49" charset="0"/>
                <a:ea typeface="Times New Roman" panose="02020603050405020304" pitchFamily="18" charset="0"/>
                <a:cs typeface="Courier New" panose="02070309020205020404" pitchFamily="49" charset="0"/>
              </a:rPr>
              <a:t>'Score'</a:t>
            </a:r>
            <a:r>
              <a:rPr lang="en-US" sz="18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].mean(</a:t>
            </a:r>
            <a:r>
              <a:rPr lang="en-US" sz="1800" dirty="0" err="1">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skipna</a:t>
            </a:r>
            <a:r>
              <a:rPr lang="en-US" sz="18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a:t>
            </a:r>
            <a:r>
              <a:rPr lang="en-US" sz="1800" dirty="0">
                <a:solidFill>
                  <a:srgbClr val="0000FF"/>
                </a:solidFill>
                <a:effectLst/>
                <a:latin typeface="Consolas" panose="020B0609020204030204" pitchFamily="49" charset="0"/>
                <a:ea typeface="Times New Roman" panose="02020603050405020304" pitchFamily="18" charset="0"/>
                <a:cs typeface="Courier New" panose="02070309020205020404" pitchFamily="49" charset="0"/>
              </a:rPr>
              <a:t>True</a:t>
            </a:r>
            <a:r>
              <a:rPr lang="en-US" sz="18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xml:space="preserve">)  </a:t>
            </a:r>
            <a:r>
              <a:rPr lang="en-US" sz="1800" dirty="0">
                <a:solidFill>
                  <a:srgbClr val="008000"/>
                </a:solidFill>
                <a:effectLst/>
                <a:latin typeface="Consolas" panose="020B0609020204030204" pitchFamily="49" charset="0"/>
                <a:ea typeface="Times New Roman" panose="02020603050405020304" pitchFamily="18" charset="0"/>
                <a:cs typeface="Courier New" panose="02070309020205020404" pitchFamily="49" charset="0"/>
              </a:rPr>
              <a:t xml:space="preserve"># </a:t>
            </a:r>
            <a:r>
              <a:rPr lang="en-US" sz="1800" dirty="0" err="1">
                <a:solidFill>
                  <a:srgbClr val="008000"/>
                </a:solidFill>
                <a:effectLst/>
                <a:latin typeface="Consolas" panose="020B0609020204030204" pitchFamily="49" charset="0"/>
                <a:ea typeface="Times New Roman" panose="02020603050405020304" pitchFamily="18" charset="0"/>
                <a:cs typeface="Courier New" panose="02070309020205020404" pitchFamily="49" charset="0"/>
              </a:rPr>
              <a:t>skipna</a:t>
            </a:r>
            <a:r>
              <a:rPr lang="en-US" sz="1800" dirty="0">
                <a:solidFill>
                  <a:srgbClr val="008000"/>
                </a:solidFill>
                <a:effectLst/>
                <a:latin typeface="Consolas" panose="020B0609020204030204" pitchFamily="49" charset="0"/>
                <a:ea typeface="Times New Roman" panose="02020603050405020304" pitchFamily="18" charset="0"/>
                <a:cs typeface="Courier New" panose="02070309020205020404" pitchFamily="49" charset="0"/>
              </a:rPr>
              <a:t xml:space="preserve"> ignores </a:t>
            </a:r>
            <a:r>
              <a:rPr lang="en-US" sz="1800" dirty="0" err="1">
                <a:solidFill>
                  <a:srgbClr val="008000"/>
                </a:solidFill>
                <a:effectLst/>
                <a:latin typeface="Consolas" panose="020B0609020204030204" pitchFamily="49" charset="0"/>
                <a:ea typeface="Times New Roman" panose="02020603050405020304" pitchFamily="18" charset="0"/>
                <a:cs typeface="Courier New" panose="02070309020205020404" pitchFamily="49" charset="0"/>
              </a:rPr>
              <a:t>NaN</a:t>
            </a:r>
            <a:endParaRPr lang="en-US" sz="3200" dirty="0">
              <a:effectLst/>
              <a:latin typeface="Times New Roman" panose="02020603050405020304" pitchFamily="18" charset="0"/>
              <a:ea typeface="Times New Roman" panose="02020603050405020304" pitchFamily="18" charset="0"/>
            </a:endParaRPr>
          </a:p>
          <a:p>
            <a:pPr>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dirty="0" err="1">
                <a:solidFill>
                  <a:srgbClr val="000000"/>
                </a:solidFill>
                <a:latin typeface="Consolas" panose="020B0609020204030204" pitchFamily="49" charset="0"/>
                <a:ea typeface="Times New Roman" panose="02020603050405020304" pitchFamily="18" charset="0"/>
                <a:cs typeface="Courier New" panose="02070309020205020404" pitchFamily="49" charset="0"/>
              </a:rPr>
              <a:t>d</a:t>
            </a:r>
            <a:r>
              <a:rPr lang="en-US" sz="1800" dirty="0" err="1">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f</a:t>
            </a:r>
            <a:r>
              <a:rPr lang="en-US" dirty="0" err="1">
                <a:solidFill>
                  <a:srgbClr val="000000"/>
                </a:solidFill>
                <a:latin typeface="Consolas" panose="020B0609020204030204" pitchFamily="49" charset="0"/>
                <a:ea typeface="Times New Roman" panose="02020603050405020304" pitchFamily="18" charset="0"/>
                <a:cs typeface="Courier New" panose="02070309020205020404" pitchFamily="49" charset="0"/>
              </a:rPr>
              <a:t>.</a:t>
            </a:r>
            <a:r>
              <a:rPr lang="en-US" sz="1800" dirty="0" err="1">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fillna</a:t>
            </a:r>
            <a:r>
              <a:rPr lang="en-US" sz="18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a:t>
            </a:r>
            <a:r>
              <a:rPr lang="en-US" dirty="0">
                <a:solidFill>
                  <a:srgbClr val="A31515"/>
                </a:solidFill>
                <a:latin typeface="Consolas" panose="020B0609020204030204" pitchFamily="49" charset="0"/>
                <a:ea typeface="Times New Roman" panose="02020603050405020304" pitchFamily="18" charset="0"/>
                <a:cs typeface="Courier New" panose="02070309020205020404" pitchFamily="49" charset="0"/>
              </a:rPr>
              <a:t>'Score'</a:t>
            </a:r>
            <a:r>
              <a:rPr lang="en-US" dirty="0">
                <a:solidFill>
                  <a:srgbClr val="000000"/>
                </a:solidFill>
                <a:latin typeface="Consolas" panose="020B0609020204030204" pitchFamily="49" charset="0"/>
                <a:ea typeface="Times New Roman" panose="02020603050405020304" pitchFamily="18" charset="0"/>
                <a:cs typeface="Courier New" panose="02070309020205020404" pitchFamily="49" charset="0"/>
              </a:rPr>
              <a:t>:</a:t>
            </a:r>
            <a:r>
              <a:rPr lang="en-US" dirty="0" err="1">
                <a:solidFill>
                  <a:srgbClr val="000000"/>
                </a:solidFill>
                <a:latin typeface="Consolas" panose="020B0609020204030204" pitchFamily="49" charset="0"/>
                <a:ea typeface="Times New Roman" panose="02020603050405020304" pitchFamily="18" charset="0"/>
                <a:cs typeface="Courier New" panose="02070309020205020404" pitchFamily="49" charset="0"/>
              </a:rPr>
              <a:t>mean</a:t>
            </a:r>
            <a:r>
              <a:rPr lang="en-US" sz="1800" dirty="0" err="1">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_score</a:t>
            </a:r>
            <a:r>
              <a:rPr lang="en-US" sz="18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xml:space="preserve">}, </a:t>
            </a:r>
            <a:r>
              <a:rPr lang="en-US" sz="1800" dirty="0" err="1">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inplace</a:t>
            </a:r>
            <a:r>
              <a:rPr lang="en-US" sz="18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a:t>
            </a:r>
            <a:r>
              <a:rPr lang="en-US" sz="1800" dirty="0">
                <a:solidFill>
                  <a:srgbClr val="0000FF"/>
                </a:solidFill>
                <a:effectLst/>
                <a:latin typeface="Consolas" panose="020B0609020204030204" pitchFamily="49" charset="0"/>
                <a:ea typeface="Times New Roman" panose="02020603050405020304" pitchFamily="18" charset="0"/>
                <a:cs typeface="Courier New" panose="02070309020205020404" pitchFamily="49" charset="0"/>
              </a:rPr>
              <a:t>True</a:t>
            </a:r>
            <a:r>
              <a:rPr lang="en-US" sz="18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a:t>
            </a:r>
            <a:endParaRPr lang="en-US" sz="3200" dirty="0">
              <a:effectLst/>
              <a:latin typeface="Times New Roman" panose="02020603050405020304" pitchFamily="18" charset="0"/>
              <a:ea typeface="Times New Roman" panose="02020603050405020304" pitchFamily="18" charset="0"/>
            </a:endParaRPr>
          </a:p>
        </p:txBody>
      </p:sp>
      <p:pic>
        <p:nvPicPr>
          <p:cNvPr id="7" name="Picture 6" descr="A table of numbers and names  AI-generated content may be incorrect.">
            <a:extLst>
              <a:ext uri="{FF2B5EF4-FFF2-40B4-BE49-F238E27FC236}">
                <a16:creationId xmlns:a16="http://schemas.microsoft.com/office/drawing/2014/main" id="{F7EA7DCA-B9D7-1007-B755-FDC11D948E5E}"/>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6861747" y="4308917"/>
            <a:ext cx="4648200" cy="2095500"/>
          </a:xfrm>
          <a:prstGeom prst="rect">
            <a:avLst/>
          </a:prstGeom>
        </p:spPr>
      </p:pic>
    </p:spTree>
    <p:extLst>
      <p:ext uri="{BB962C8B-B14F-4D97-AF65-F5344CB8AC3E}">
        <p14:creationId xmlns:p14="http://schemas.microsoft.com/office/powerpoint/2010/main" val="110159908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F77734-E4CF-12BF-E169-3181A4481D1B}"/>
              </a:ext>
            </a:extLst>
          </p:cNvPr>
          <p:cNvSpPr>
            <a:spLocks noGrp="1"/>
          </p:cNvSpPr>
          <p:nvPr>
            <p:ph type="title"/>
          </p:nvPr>
        </p:nvSpPr>
        <p:spPr/>
        <p:txBody>
          <a:bodyPr/>
          <a:lstStyle/>
          <a:p>
            <a:r>
              <a:rPr lang="en-US" dirty="0"/>
              <a:t>Let’s Clean 2</a:t>
            </a:r>
          </a:p>
        </p:txBody>
      </p:sp>
      <p:sp>
        <p:nvSpPr>
          <p:cNvPr id="3" name="Content Placeholder 2">
            <a:extLst>
              <a:ext uri="{FF2B5EF4-FFF2-40B4-BE49-F238E27FC236}">
                <a16:creationId xmlns:a16="http://schemas.microsoft.com/office/drawing/2014/main" id="{9C83AB55-C2DB-848D-E788-F688E2B6BD42}"/>
              </a:ext>
            </a:extLst>
          </p:cNvPr>
          <p:cNvSpPr>
            <a:spLocks noGrp="1"/>
          </p:cNvSpPr>
          <p:nvPr>
            <p:ph idx="1"/>
          </p:nvPr>
        </p:nvSpPr>
        <p:spPr/>
        <p:txBody>
          <a:bodyPr/>
          <a:lstStyle/>
          <a:p>
            <a:r>
              <a:rPr lang="en-US" dirty="0"/>
              <a:t>All the scores are integer, let’s convert Bob’s 89.5 to an integer for consistency</a:t>
            </a:r>
          </a:p>
        </p:txBody>
      </p:sp>
      <p:sp>
        <p:nvSpPr>
          <p:cNvPr id="5" name="TextBox 4">
            <a:extLst>
              <a:ext uri="{FF2B5EF4-FFF2-40B4-BE49-F238E27FC236}">
                <a16:creationId xmlns:a16="http://schemas.microsoft.com/office/drawing/2014/main" id="{80F4696B-CCDD-0D5D-9E9F-9F82C9863847}"/>
              </a:ext>
            </a:extLst>
          </p:cNvPr>
          <p:cNvSpPr txBox="1"/>
          <p:nvPr/>
        </p:nvSpPr>
        <p:spPr>
          <a:xfrm>
            <a:off x="838200" y="3589905"/>
            <a:ext cx="10515599" cy="1200329"/>
          </a:xfrm>
          <a:prstGeom prst="rect">
            <a:avLst/>
          </a:prstGeom>
          <a:noFill/>
        </p:spPr>
        <p:txBody>
          <a:bodyPr wrap="square">
            <a:spAutoFit/>
          </a:bodyPr>
          <a:lstStyle/>
          <a:p>
            <a:pPr marL="0" marR="0">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800" dirty="0" err="1">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df</a:t>
            </a:r>
            <a:r>
              <a:rPr lang="en-US" sz="18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a:t>
            </a:r>
            <a:r>
              <a:rPr lang="en-US" sz="1800" dirty="0">
                <a:solidFill>
                  <a:srgbClr val="A31515"/>
                </a:solidFill>
                <a:effectLst/>
                <a:latin typeface="Consolas" panose="020B0609020204030204" pitchFamily="49" charset="0"/>
                <a:ea typeface="Times New Roman" panose="02020603050405020304" pitchFamily="18" charset="0"/>
                <a:cs typeface="Courier New" panose="02070309020205020404" pitchFamily="49" charset="0"/>
              </a:rPr>
              <a:t>'Score'</a:t>
            </a:r>
            <a:r>
              <a:rPr lang="en-US" sz="18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xml:space="preserve">] = </a:t>
            </a:r>
            <a:r>
              <a:rPr lang="en-US" sz="1800" dirty="0" err="1">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df</a:t>
            </a:r>
            <a:r>
              <a:rPr lang="en-US" sz="18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a:t>
            </a:r>
            <a:r>
              <a:rPr lang="en-US" sz="1800" dirty="0">
                <a:solidFill>
                  <a:srgbClr val="A31515"/>
                </a:solidFill>
                <a:effectLst/>
                <a:latin typeface="Consolas" panose="020B0609020204030204" pitchFamily="49" charset="0"/>
                <a:ea typeface="Times New Roman" panose="02020603050405020304" pitchFamily="18" charset="0"/>
                <a:cs typeface="Courier New" panose="02070309020205020404" pitchFamily="49" charset="0"/>
              </a:rPr>
              <a:t>'Score'</a:t>
            </a:r>
            <a:r>
              <a:rPr lang="en-US" sz="18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].round(</a:t>
            </a:r>
            <a:r>
              <a:rPr lang="en-US" sz="1800" dirty="0">
                <a:solidFill>
                  <a:srgbClr val="006666"/>
                </a:solidFill>
                <a:effectLst/>
                <a:latin typeface="Consolas" panose="020B0609020204030204" pitchFamily="49" charset="0"/>
                <a:ea typeface="Times New Roman" panose="02020603050405020304" pitchFamily="18" charset="0"/>
                <a:cs typeface="Courier New" panose="02070309020205020404" pitchFamily="49" charset="0"/>
              </a:rPr>
              <a:t>0</a:t>
            </a:r>
            <a:r>
              <a:rPr lang="en-US" sz="18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a:t>
            </a:r>
            <a:r>
              <a:rPr lang="en-US" sz="1800" dirty="0" err="1">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astype</a:t>
            </a:r>
            <a:r>
              <a:rPr lang="en-US" sz="18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a:t>
            </a:r>
            <a:r>
              <a:rPr lang="en-US" sz="1800" dirty="0">
                <a:solidFill>
                  <a:srgbClr val="A31515"/>
                </a:solidFill>
                <a:effectLst/>
                <a:latin typeface="Consolas" panose="020B0609020204030204" pitchFamily="49" charset="0"/>
                <a:ea typeface="Times New Roman" panose="02020603050405020304" pitchFamily="18" charset="0"/>
                <a:cs typeface="Courier New" panose="02070309020205020404" pitchFamily="49" charset="0"/>
              </a:rPr>
              <a:t>'Int64'</a:t>
            </a:r>
            <a:r>
              <a:rPr lang="en-US" sz="18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xml:space="preserve">)  </a:t>
            </a:r>
            <a:r>
              <a:rPr lang="en-US" sz="1800" dirty="0">
                <a:solidFill>
                  <a:srgbClr val="008000"/>
                </a:solidFill>
                <a:effectLst/>
                <a:latin typeface="Consolas" panose="020B0609020204030204" pitchFamily="49" charset="0"/>
                <a:ea typeface="Times New Roman" panose="02020603050405020304" pitchFamily="18" charset="0"/>
                <a:cs typeface="Courier New" panose="02070309020205020404" pitchFamily="49" charset="0"/>
              </a:rPr>
              <a:t># round and make integer (using pandas Int64 type to allow NA if any)</a:t>
            </a:r>
            <a:endParaRPr lang="en-US" sz="3200" dirty="0">
              <a:effectLst/>
              <a:latin typeface="Times New Roman" panose="02020603050405020304" pitchFamily="18" charset="0"/>
              <a:ea typeface="Times New Roman" panose="02020603050405020304" pitchFamily="18" charset="0"/>
            </a:endParaRPr>
          </a:p>
          <a:p>
            <a:pPr marL="0" marR="0">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800" dirty="0">
                <a:solidFill>
                  <a:srgbClr val="0000FF"/>
                </a:solidFill>
                <a:effectLst/>
                <a:latin typeface="Consolas" panose="020B0609020204030204" pitchFamily="49" charset="0"/>
                <a:ea typeface="Times New Roman" panose="02020603050405020304" pitchFamily="18" charset="0"/>
                <a:cs typeface="Courier New" panose="02070309020205020404" pitchFamily="49" charset="0"/>
              </a:rPr>
              <a:t>print</a:t>
            </a:r>
            <a:r>
              <a:rPr lang="en-US" sz="18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a:t>
            </a:r>
            <a:r>
              <a:rPr lang="en-US" sz="1800" dirty="0">
                <a:solidFill>
                  <a:srgbClr val="A31515"/>
                </a:solidFill>
                <a:effectLst/>
                <a:latin typeface="Consolas" panose="020B0609020204030204" pitchFamily="49" charset="0"/>
                <a:ea typeface="Times New Roman" panose="02020603050405020304" pitchFamily="18" charset="0"/>
                <a:cs typeface="Courier New" panose="02070309020205020404" pitchFamily="49" charset="0"/>
              </a:rPr>
              <a:t>"\</a:t>
            </a:r>
            <a:r>
              <a:rPr lang="en-US" sz="1800" dirty="0" err="1">
                <a:solidFill>
                  <a:srgbClr val="A31515"/>
                </a:solidFill>
                <a:effectLst/>
                <a:latin typeface="Consolas" panose="020B0609020204030204" pitchFamily="49" charset="0"/>
                <a:ea typeface="Times New Roman" panose="02020603050405020304" pitchFamily="18" charset="0"/>
                <a:cs typeface="Courier New" panose="02070309020205020404" pitchFamily="49" charset="0"/>
              </a:rPr>
              <a:t>nAfter</a:t>
            </a:r>
            <a:r>
              <a:rPr lang="en-US" sz="1800" dirty="0">
                <a:solidFill>
                  <a:srgbClr val="A31515"/>
                </a:solidFill>
                <a:effectLst/>
                <a:latin typeface="Consolas" panose="020B0609020204030204" pitchFamily="49" charset="0"/>
                <a:ea typeface="Times New Roman" panose="02020603050405020304" pitchFamily="18" charset="0"/>
                <a:cs typeface="Courier New" panose="02070309020205020404" pitchFamily="49" charset="0"/>
              </a:rPr>
              <a:t xml:space="preserve"> rounding Bob's score:"</a:t>
            </a:r>
            <a:r>
              <a:rPr lang="en-US" sz="18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a:t>
            </a:r>
            <a:endParaRPr lang="en-US" sz="3200" dirty="0">
              <a:effectLst/>
              <a:latin typeface="Times New Roman" panose="02020603050405020304" pitchFamily="18" charset="0"/>
              <a:ea typeface="Times New Roman" panose="02020603050405020304" pitchFamily="18" charset="0"/>
            </a:endParaRPr>
          </a:p>
          <a:p>
            <a:pPr marL="0" marR="0">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800" dirty="0">
                <a:solidFill>
                  <a:srgbClr val="0000FF"/>
                </a:solidFill>
                <a:effectLst/>
                <a:latin typeface="Consolas" panose="020B0609020204030204" pitchFamily="49" charset="0"/>
                <a:ea typeface="Times New Roman" panose="02020603050405020304" pitchFamily="18" charset="0"/>
                <a:cs typeface="Courier New" panose="02070309020205020404" pitchFamily="49" charset="0"/>
              </a:rPr>
              <a:t>print</a:t>
            </a:r>
            <a:r>
              <a:rPr lang="en-US" sz="18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a:t>
            </a:r>
            <a:r>
              <a:rPr lang="en-US" sz="1800" dirty="0" err="1">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df</a:t>
            </a:r>
            <a:r>
              <a:rPr lang="en-US" sz="18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a:t>
            </a:r>
            <a:endParaRPr lang="en-US" sz="3200" dirty="0">
              <a:effectLst/>
              <a:latin typeface="Times New Roman" panose="02020603050405020304" pitchFamily="18" charset="0"/>
              <a:ea typeface="Times New Roman" panose="02020603050405020304" pitchFamily="18" charset="0"/>
            </a:endParaRPr>
          </a:p>
        </p:txBody>
      </p:sp>
      <p:pic>
        <p:nvPicPr>
          <p:cNvPr id="10" name="Picture 9" descr="A table of numbers with text  AI-generated content may be incorrect.">
            <a:extLst>
              <a:ext uri="{FF2B5EF4-FFF2-40B4-BE49-F238E27FC236}">
                <a16:creationId xmlns:a16="http://schemas.microsoft.com/office/drawing/2014/main" id="{72CC08D8-8A3E-4297-C550-8F560E60E6DF}"/>
              </a:ext>
            </a:extLst>
          </p:cNvPr>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6873823" y="4302230"/>
            <a:ext cx="4749800" cy="2349500"/>
          </a:xfrm>
          <a:prstGeom prst="rect">
            <a:avLst/>
          </a:prstGeom>
        </p:spPr>
      </p:pic>
    </p:spTree>
    <p:extLst>
      <p:ext uri="{BB962C8B-B14F-4D97-AF65-F5344CB8AC3E}">
        <p14:creationId xmlns:p14="http://schemas.microsoft.com/office/powerpoint/2010/main" val="306493850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DE986D-B487-07C4-1938-ED6122870AE1}"/>
              </a:ext>
            </a:extLst>
          </p:cNvPr>
          <p:cNvSpPr>
            <a:spLocks noGrp="1"/>
          </p:cNvSpPr>
          <p:nvPr>
            <p:ph type="title"/>
          </p:nvPr>
        </p:nvSpPr>
        <p:spPr/>
        <p:txBody>
          <a:bodyPr/>
          <a:lstStyle/>
          <a:p>
            <a:r>
              <a:rPr lang="en-US" dirty="0"/>
              <a:t>Let’s Clean 3</a:t>
            </a:r>
          </a:p>
        </p:txBody>
      </p:sp>
      <p:sp>
        <p:nvSpPr>
          <p:cNvPr id="5" name="TextBox 4">
            <a:extLst>
              <a:ext uri="{FF2B5EF4-FFF2-40B4-BE49-F238E27FC236}">
                <a16:creationId xmlns:a16="http://schemas.microsoft.com/office/drawing/2014/main" id="{722BA0E1-6AD5-2E59-65B7-976EAA1A9AA3}"/>
              </a:ext>
            </a:extLst>
          </p:cNvPr>
          <p:cNvSpPr txBox="1"/>
          <p:nvPr/>
        </p:nvSpPr>
        <p:spPr>
          <a:xfrm>
            <a:off x="838200" y="3188533"/>
            <a:ext cx="7757409" cy="1477328"/>
          </a:xfrm>
          <a:prstGeom prst="rect">
            <a:avLst/>
          </a:prstGeom>
          <a:noFill/>
        </p:spPr>
        <p:txBody>
          <a:bodyPr wrap="square">
            <a:spAutoFit/>
          </a:bodyPr>
          <a:lstStyle/>
          <a:p>
            <a:pPr marL="0" marR="0">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800" dirty="0">
                <a:solidFill>
                  <a:srgbClr val="008000"/>
                </a:solidFill>
                <a:effectLst/>
                <a:latin typeface="Consolas" panose="020B0609020204030204" pitchFamily="49" charset="0"/>
                <a:ea typeface="Times New Roman" panose="02020603050405020304" pitchFamily="18" charset="0"/>
                <a:cs typeface="Courier New" panose="02070309020205020404" pitchFamily="49" charset="0"/>
              </a:rPr>
              <a:t># Fix outlier Age (assume it's a typo and should be 15)</a:t>
            </a:r>
            <a:endParaRPr lang="en-US" sz="3200" dirty="0">
              <a:effectLst/>
              <a:latin typeface="Times New Roman" panose="02020603050405020304" pitchFamily="18" charset="0"/>
              <a:ea typeface="Times New Roman" panose="02020603050405020304" pitchFamily="18" charset="0"/>
            </a:endParaRPr>
          </a:p>
          <a:p>
            <a:pPr marL="0" marR="0">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800" dirty="0" err="1">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df.loc</a:t>
            </a:r>
            <a:r>
              <a:rPr lang="en-US" sz="18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a:t>
            </a:r>
            <a:r>
              <a:rPr lang="en-US" sz="1800" dirty="0" err="1">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df</a:t>
            </a:r>
            <a:r>
              <a:rPr lang="en-US" sz="18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a:t>
            </a:r>
            <a:r>
              <a:rPr lang="en-US" sz="1800" dirty="0">
                <a:solidFill>
                  <a:srgbClr val="A31515"/>
                </a:solidFill>
                <a:effectLst/>
                <a:latin typeface="Consolas" panose="020B0609020204030204" pitchFamily="49" charset="0"/>
                <a:ea typeface="Times New Roman" panose="02020603050405020304" pitchFamily="18" charset="0"/>
                <a:cs typeface="Courier New" panose="02070309020205020404" pitchFamily="49" charset="0"/>
              </a:rPr>
              <a:t>'Age'</a:t>
            </a:r>
            <a:r>
              <a:rPr lang="en-US" sz="18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xml:space="preserve">] &gt; </a:t>
            </a:r>
            <a:r>
              <a:rPr lang="en-US" sz="1800" dirty="0">
                <a:solidFill>
                  <a:srgbClr val="006666"/>
                </a:solidFill>
                <a:effectLst/>
                <a:latin typeface="Consolas" panose="020B0609020204030204" pitchFamily="49" charset="0"/>
                <a:ea typeface="Times New Roman" panose="02020603050405020304" pitchFamily="18" charset="0"/>
                <a:cs typeface="Courier New" panose="02070309020205020404" pitchFamily="49" charset="0"/>
              </a:rPr>
              <a:t>100</a:t>
            </a:r>
            <a:r>
              <a:rPr lang="en-US" sz="18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xml:space="preserve">, </a:t>
            </a:r>
            <a:r>
              <a:rPr lang="en-US" sz="1800" dirty="0">
                <a:solidFill>
                  <a:srgbClr val="A31515"/>
                </a:solidFill>
                <a:effectLst/>
                <a:latin typeface="Consolas" panose="020B0609020204030204" pitchFamily="49" charset="0"/>
                <a:ea typeface="Times New Roman" panose="02020603050405020304" pitchFamily="18" charset="0"/>
                <a:cs typeface="Courier New" panose="02070309020205020404" pitchFamily="49" charset="0"/>
              </a:rPr>
              <a:t>'Age'</a:t>
            </a:r>
            <a:r>
              <a:rPr lang="en-US" sz="18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xml:space="preserve">] = </a:t>
            </a:r>
            <a:r>
              <a:rPr lang="en-US" sz="1800" dirty="0">
                <a:solidFill>
                  <a:srgbClr val="006666"/>
                </a:solidFill>
                <a:effectLst/>
                <a:latin typeface="Consolas" panose="020B0609020204030204" pitchFamily="49" charset="0"/>
                <a:ea typeface="Times New Roman" panose="02020603050405020304" pitchFamily="18" charset="0"/>
                <a:cs typeface="Courier New" panose="02070309020205020404" pitchFamily="49" charset="0"/>
              </a:rPr>
              <a:t>15</a:t>
            </a:r>
            <a:endParaRPr lang="en-US" sz="3200" dirty="0">
              <a:effectLst/>
              <a:latin typeface="Times New Roman" panose="02020603050405020304" pitchFamily="18" charset="0"/>
              <a:ea typeface="Times New Roman" panose="02020603050405020304" pitchFamily="18" charset="0"/>
            </a:endParaRPr>
          </a:p>
          <a:p>
            <a:pPr marL="0" marR="0">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8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a:t>
            </a:r>
            <a:endParaRPr lang="en-US" sz="3200" dirty="0">
              <a:effectLst/>
              <a:latin typeface="Times New Roman" panose="02020603050405020304" pitchFamily="18" charset="0"/>
              <a:ea typeface="Times New Roman" panose="02020603050405020304" pitchFamily="18" charset="0"/>
            </a:endParaRPr>
          </a:p>
          <a:p>
            <a:pPr marL="0" marR="0">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800" dirty="0">
                <a:solidFill>
                  <a:srgbClr val="0000FF"/>
                </a:solidFill>
                <a:effectLst/>
                <a:latin typeface="Consolas" panose="020B0609020204030204" pitchFamily="49" charset="0"/>
                <a:ea typeface="Times New Roman" panose="02020603050405020304" pitchFamily="18" charset="0"/>
                <a:cs typeface="Courier New" panose="02070309020205020404" pitchFamily="49" charset="0"/>
              </a:rPr>
              <a:t>print</a:t>
            </a:r>
            <a:r>
              <a:rPr lang="en-US" sz="18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a:t>
            </a:r>
            <a:r>
              <a:rPr lang="en-US" sz="1800" dirty="0">
                <a:solidFill>
                  <a:srgbClr val="A31515"/>
                </a:solidFill>
                <a:effectLst/>
                <a:latin typeface="Consolas" panose="020B0609020204030204" pitchFamily="49" charset="0"/>
                <a:ea typeface="Times New Roman" panose="02020603050405020304" pitchFamily="18" charset="0"/>
                <a:cs typeface="Courier New" panose="02070309020205020404" pitchFamily="49" charset="0"/>
              </a:rPr>
              <a:t>"\</a:t>
            </a:r>
            <a:r>
              <a:rPr lang="en-US" sz="1800" dirty="0" err="1">
                <a:solidFill>
                  <a:srgbClr val="A31515"/>
                </a:solidFill>
                <a:effectLst/>
                <a:latin typeface="Consolas" panose="020B0609020204030204" pitchFamily="49" charset="0"/>
                <a:ea typeface="Times New Roman" panose="02020603050405020304" pitchFamily="18" charset="0"/>
                <a:cs typeface="Courier New" panose="02070309020205020404" pitchFamily="49" charset="0"/>
              </a:rPr>
              <a:t>nCleaned</a:t>
            </a:r>
            <a:r>
              <a:rPr lang="en-US" sz="1800" dirty="0">
                <a:solidFill>
                  <a:srgbClr val="A31515"/>
                </a:solidFill>
                <a:effectLst/>
                <a:latin typeface="Consolas" panose="020B0609020204030204" pitchFamily="49" charset="0"/>
                <a:ea typeface="Times New Roman" panose="02020603050405020304" pitchFamily="18" charset="0"/>
                <a:cs typeface="Courier New" panose="02070309020205020404" pitchFamily="49" charset="0"/>
              </a:rPr>
              <a:t xml:space="preserve"> data:"</a:t>
            </a:r>
            <a:r>
              <a:rPr lang="en-US" sz="18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a:t>
            </a:r>
            <a:endParaRPr lang="en-US" sz="3200" dirty="0">
              <a:effectLst/>
              <a:latin typeface="Times New Roman" panose="02020603050405020304" pitchFamily="18" charset="0"/>
              <a:ea typeface="Times New Roman" panose="02020603050405020304" pitchFamily="18" charset="0"/>
            </a:endParaRPr>
          </a:p>
          <a:p>
            <a:pPr marL="0" marR="0">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800" dirty="0">
                <a:solidFill>
                  <a:srgbClr val="0000FF"/>
                </a:solidFill>
                <a:effectLst/>
                <a:latin typeface="Consolas" panose="020B0609020204030204" pitchFamily="49" charset="0"/>
                <a:ea typeface="Times New Roman" panose="02020603050405020304" pitchFamily="18" charset="0"/>
                <a:cs typeface="Courier New" panose="02070309020205020404" pitchFamily="49" charset="0"/>
              </a:rPr>
              <a:t>print</a:t>
            </a:r>
            <a:r>
              <a:rPr lang="en-US" sz="18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a:t>
            </a:r>
            <a:r>
              <a:rPr lang="en-US" sz="1800" dirty="0" err="1">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df</a:t>
            </a:r>
            <a:r>
              <a:rPr lang="en-US" sz="18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a:t>
            </a:r>
            <a:endParaRPr lang="en-US" sz="3200" dirty="0">
              <a:effectLst/>
              <a:latin typeface="Times New Roman" panose="02020603050405020304" pitchFamily="18" charset="0"/>
              <a:ea typeface="Times New Roman" panose="02020603050405020304" pitchFamily="18" charset="0"/>
            </a:endParaRPr>
          </a:p>
        </p:txBody>
      </p:sp>
      <p:sp>
        <p:nvSpPr>
          <p:cNvPr id="8" name="Content Placeholder 2">
            <a:extLst>
              <a:ext uri="{FF2B5EF4-FFF2-40B4-BE49-F238E27FC236}">
                <a16:creationId xmlns:a16="http://schemas.microsoft.com/office/drawing/2014/main" id="{3EDC1070-EEC5-A863-E89C-81A216A65158}"/>
              </a:ext>
            </a:extLst>
          </p:cNvPr>
          <p:cNvSpPr>
            <a:spLocks noGrp="1"/>
          </p:cNvSpPr>
          <p:nvPr>
            <p:ph idx="1"/>
          </p:nvPr>
        </p:nvSpPr>
        <p:spPr>
          <a:xfrm>
            <a:off x="838200" y="2604051"/>
            <a:ext cx="10515600" cy="3572911"/>
          </a:xfrm>
        </p:spPr>
        <p:txBody>
          <a:bodyPr/>
          <a:lstStyle/>
          <a:p>
            <a:r>
              <a:rPr lang="en-US" dirty="0"/>
              <a:t>This replaces all the Age values higher than 100 with 15.</a:t>
            </a:r>
          </a:p>
        </p:txBody>
      </p:sp>
      <p:pic>
        <p:nvPicPr>
          <p:cNvPr id="11" name="Picture 10">
            <a:extLst>
              <a:ext uri="{FF2B5EF4-FFF2-40B4-BE49-F238E27FC236}">
                <a16:creationId xmlns:a16="http://schemas.microsoft.com/office/drawing/2014/main" id="{C5D55BBA-84FD-B054-AE80-E4D1CAED8919}"/>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6986665" y="3927197"/>
            <a:ext cx="4724400" cy="2590800"/>
          </a:xfrm>
          <a:prstGeom prst="rect">
            <a:avLst/>
          </a:prstGeom>
        </p:spPr>
      </p:pic>
    </p:spTree>
    <p:extLst>
      <p:ext uri="{BB962C8B-B14F-4D97-AF65-F5344CB8AC3E}">
        <p14:creationId xmlns:p14="http://schemas.microsoft.com/office/powerpoint/2010/main" val="127616816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9A3940-34F3-1725-DB2B-C790AADC0E5F}"/>
              </a:ext>
            </a:extLst>
          </p:cNvPr>
          <p:cNvSpPr>
            <a:spLocks noGrp="1"/>
          </p:cNvSpPr>
          <p:nvPr>
            <p:ph type="title"/>
          </p:nvPr>
        </p:nvSpPr>
        <p:spPr/>
        <p:txBody>
          <a:bodyPr/>
          <a:lstStyle/>
          <a:p>
            <a:r>
              <a:rPr lang="en-US" dirty="0"/>
              <a:t>Let’s Try it with R</a:t>
            </a:r>
          </a:p>
        </p:txBody>
      </p:sp>
      <p:sp>
        <p:nvSpPr>
          <p:cNvPr id="3" name="Content Placeholder 2">
            <a:extLst>
              <a:ext uri="{FF2B5EF4-FFF2-40B4-BE49-F238E27FC236}">
                <a16:creationId xmlns:a16="http://schemas.microsoft.com/office/drawing/2014/main" id="{C0738249-D265-090C-F8E5-4735E04A0262}"/>
              </a:ext>
            </a:extLst>
          </p:cNvPr>
          <p:cNvSpPr>
            <a:spLocks noGrp="1"/>
          </p:cNvSpPr>
          <p:nvPr>
            <p:ph idx="1"/>
          </p:nvPr>
        </p:nvSpPr>
        <p:spPr/>
        <p:txBody>
          <a:bodyPr/>
          <a:lstStyle/>
          <a:p>
            <a:r>
              <a:rPr lang="en-US" dirty="0"/>
              <a:t>Do you remember how to start R?</a:t>
            </a:r>
          </a:p>
          <a:p>
            <a:r>
              <a:rPr lang="en-US" dirty="0"/>
              <a:t>Just run RStudio!</a:t>
            </a:r>
          </a:p>
        </p:txBody>
      </p:sp>
      <p:pic>
        <p:nvPicPr>
          <p:cNvPr id="5" name="Picture 4" descr="A screenshot of a computer  AI-generated content may be incorrect.">
            <a:extLst>
              <a:ext uri="{FF2B5EF4-FFF2-40B4-BE49-F238E27FC236}">
                <a16:creationId xmlns:a16="http://schemas.microsoft.com/office/drawing/2014/main" id="{8A3E8A2F-2A27-6042-3C77-BE155DE60CD6}"/>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5051684" y="3397743"/>
            <a:ext cx="7140315" cy="3214319"/>
          </a:xfrm>
          <a:prstGeom prst="rect">
            <a:avLst/>
          </a:prstGeom>
        </p:spPr>
      </p:pic>
    </p:spTree>
    <p:extLst>
      <p:ext uri="{BB962C8B-B14F-4D97-AF65-F5344CB8AC3E}">
        <p14:creationId xmlns:p14="http://schemas.microsoft.com/office/powerpoint/2010/main" val="360283981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BBF695-A81B-C3D7-894C-72A902AE4211}"/>
              </a:ext>
            </a:extLst>
          </p:cNvPr>
          <p:cNvSpPr>
            <a:spLocks noGrp="1"/>
          </p:cNvSpPr>
          <p:nvPr>
            <p:ph type="title"/>
          </p:nvPr>
        </p:nvSpPr>
        <p:spPr/>
        <p:txBody>
          <a:bodyPr/>
          <a:lstStyle/>
          <a:p>
            <a:r>
              <a:rPr lang="en-US" dirty="0"/>
              <a:t>Create the data</a:t>
            </a:r>
          </a:p>
        </p:txBody>
      </p:sp>
      <p:pic>
        <p:nvPicPr>
          <p:cNvPr id="4" name="Content Placeholder 4" descr="A table with numbers and letters  AI-generated content may be incorrect.">
            <a:extLst>
              <a:ext uri="{FF2B5EF4-FFF2-40B4-BE49-F238E27FC236}">
                <a16:creationId xmlns:a16="http://schemas.microsoft.com/office/drawing/2014/main" id="{C2B9AE63-9FB6-2B6A-D80B-68DF933A0F32}"/>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7783351" y="4320550"/>
            <a:ext cx="3749082" cy="2155722"/>
          </a:xfrm>
          <a:prstGeom prst="rect">
            <a:avLst/>
          </a:prstGeom>
        </p:spPr>
      </p:pic>
      <p:sp>
        <p:nvSpPr>
          <p:cNvPr id="6" name="TextBox 5">
            <a:extLst>
              <a:ext uri="{FF2B5EF4-FFF2-40B4-BE49-F238E27FC236}">
                <a16:creationId xmlns:a16="http://schemas.microsoft.com/office/drawing/2014/main" id="{2ACDB403-3AA8-05F3-DF42-61E2D07D0B03}"/>
              </a:ext>
            </a:extLst>
          </p:cNvPr>
          <p:cNvSpPr txBox="1"/>
          <p:nvPr/>
        </p:nvSpPr>
        <p:spPr>
          <a:xfrm>
            <a:off x="838200" y="2492468"/>
            <a:ext cx="7421380" cy="3416320"/>
          </a:xfrm>
          <a:prstGeom prst="rect">
            <a:avLst/>
          </a:prstGeom>
          <a:noFill/>
        </p:spPr>
        <p:txBody>
          <a:bodyPr wrap="square">
            <a:spAutoFit/>
          </a:bodyPr>
          <a:lstStyle/>
          <a:p>
            <a:r>
              <a:rPr lang="en-US" dirty="0"/>
              <a:t xml:space="preserve"># Create the </a:t>
            </a:r>
            <a:r>
              <a:rPr lang="en-US" dirty="0" err="1"/>
              <a:t>data.frame</a:t>
            </a:r>
            <a:endParaRPr lang="en-US" dirty="0"/>
          </a:p>
          <a:p>
            <a:r>
              <a:rPr lang="en-US" dirty="0" err="1"/>
              <a:t>df</a:t>
            </a:r>
            <a:r>
              <a:rPr lang="en-US" dirty="0"/>
              <a:t xml:space="preserve"> &lt;- </a:t>
            </a:r>
            <a:r>
              <a:rPr lang="en-US" dirty="0" err="1"/>
              <a:t>data.frame</a:t>
            </a:r>
            <a:r>
              <a:rPr lang="en-US" dirty="0"/>
              <a:t>(</a:t>
            </a:r>
          </a:p>
          <a:p>
            <a:r>
              <a:rPr lang="en-US" dirty="0"/>
              <a:t xml:space="preserve">  Name  = c("Alice", "Bob", "Charlie", "Dana", "Ed"),</a:t>
            </a:r>
          </a:p>
          <a:p>
            <a:r>
              <a:rPr lang="en-US" dirty="0"/>
              <a:t xml:space="preserve">  Age   = c(17, 16, 15, 18, 150),</a:t>
            </a:r>
          </a:p>
          <a:p>
            <a:r>
              <a:rPr lang="en-US" dirty="0"/>
              <a:t xml:space="preserve">  Grade = c(11, 11, 10, 12, 11),</a:t>
            </a:r>
          </a:p>
          <a:p>
            <a:r>
              <a:rPr lang="en-US" dirty="0"/>
              <a:t xml:space="preserve">  Score = c(90, NA, 85, 88, 95),      # use NA for missing</a:t>
            </a:r>
          </a:p>
          <a:p>
            <a:r>
              <a:rPr lang="en-US" dirty="0"/>
              <a:t xml:space="preserve">  </a:t>
            </a:r>
            <a:r>
              <a:rPr lang="en-US" dirty="0" err="1"/>
              <a:t>stringsAsFactors</a:t>
            </a:r>
            <a:r>
              <a:rPr lang="en-US" dirty="0"/>
              <a:t xml:space="preserve"> = FALSE           # keep character columns as character</a:t>
            </a:r>
          </a:p>
          <a:p>
            <a:r>
              <a:rPr lang="en-US" dirty="0"/>
              <a:t>)</a:t>
            </a:r>
          </a:p>
          <a:p>
            <a:endParaRPr lang="en-US" dirty="0"/>
          </a:p>
          <a:p>
            <a:r>
              <a:rPr lang="en-US" dirty="0"/>
              <a:t># Print it out</a:t>
            </a:r>
          </a:p>
          <a:p>
            <a:r>
              <a:rPr lang="en-US" dirty="0"/>
              <a:t>cat("Raw data:\n")</a:t>
            </a:r>
          </a:p>
          <a:p>
            <a:r>
              <a:rPr lang="en-US" dirty="0"/>
              <a:t>print(</a:t>
            </a:r>
            <a:r>
              <a:rPr lang="en-US" dirty="0" err="1"/>
              <a:t>df</a:t>
            </a:r>
            <a:r>
              <a:rPr lang="en-US" dirty="0"/>
              <a:t>)</a:t>
            </a:r>
          </a:p>
        </p:txBody>
      </p:sp>
    </p:spTree>
    <p:extLst>
      <p:ext uri="{BB962C8B-B14F-4D97-AF65-F5344CB8AC3E}">
        <p14:creationId xmlns:p14="http://schemas.microsoft.com/office/powerpoint/2010/main" val="288332214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E7CA30-4EFF-DF37-C8B1-A50972ABE464}"/>
              </a:ext>
            </a:extLst>
          </p:cNvPr>
          <p:cNvSpPr>
            <a:spLocks noGrp="1"/>
          </p:cNvSpPr>
          <p:nvPr>
            <p:ph type="title"/>
          </p:nvPr>
        </p:nvSpPr>
        <p:spPr/>
        <p:txBody>
          <a:bodyPr/>
          <a:lstStyle/>
          <a:p>
            <a:r>
              <a:rPr lang="en-US" dirty="0"/>
              <a:t>Missing and Outlier</a:t>
            </a:r>
          </a:p>
        </p:txBody>
      </p:sp>
      <p:sp>
        <p:nvSpPr>
          <p:cNvPr id="3" name="Content Placeholder 2">
            <a:extLst>
              <a:ext uri="{FF2B5EF4-FFF2-40B4-BE49-F238E27FC236}">
                <a16:creationId xmlns:a16="http://schemas.microsoft.com/office/drawing/2014/main" id="{C6D89794-6D90-142D-6675-C8643E3DE64F}"/>
              </a:ext>
            </a:extLst>
          </p:cNvPr>
          <p:cNvSpPr>
            <a:spLocks noGrp="1"/>
          </p:cNvSpPr>
          <p:nvPr>
            <p:ph idx="1"/>
          </p:nvPr>
        </p:nvSpPr>
        <p:spPr/>
        <p:txBody>
          <a:bodyPr/>
          <a:lstStyle/>
          <a:p>
            <a:r>
              <a:rPr lang="en-US" dirty="0"/>
              <a:t xml:space="preserve">In R, </a:t>
            </a:r>
            <a:r>
              <a:rPr lang="en-US" dirty="0" err="1"/>
              <a:t>is.na</a:t>
            </a:r>
            <a:r>
              <a:rPr lang="en-US" dirty="0"/>
              <a:t xml:space="preserve"> function find the missing value.</a:t>
            </a:r>
          </a:p>
          <a:p>
            <a:r>
              <a:rPr lang="en-US" dirty="0"/>
              <a:t>Here how to impute mean for missing and replace the age over 100 with 15.</a:t>
            </a:r>
          </a:p>
        </p:txBody>
      </p:sp>
      <p:sp>
        <p:nvSpPr>
          <p:cNvPr id="5" name="TextBox 4">
            <a:extLst>
              <a:ext uri="{FF2B5EF4-FFF2-40B4-BE49-F238E27FC236}">
                <a16:creationId xmlns:a16="http://schemas.microsoft.com/office/drawing/2014/main" id="{CF45968E-3DF9-DB74-655C-A954F0C67762}"/>
              </a:ext>
            </a:extLst>
          </p:cNvPr>
          <p:cNvSpPr txBox="1"/>
          <p:nvPr/>
        </p:nvSpPr>
        <p:spPr>
          <a:xfrm>
            <a:off x="838200" y="4208486"/>
            <a:ext cx="9556230" cy="830997"/>
          </a:xfrm>
          <a:prstGeom prst="rect">
            <a:avLst/>
          </a:prstGeom>
          <a:noFill/>
        </p:spPr>
        <p:txBody>
          <a:bodyPr wrap="square">
            <a:spAutoFit/>
          </a:bodyPr>
          <a:lstStyle/>
          <a:p>
            <a:pPr marL="0" marR="0">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2400" dirty="0" err="1">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df$Score</a:t>
            </a:r>
            <a:r>
              <a:rPr lang="en-US" sz="24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a:t>
            </a:r>
            <a:r>
              <a:rPr lang="en-US" sz="2400" dirty="0" err="1">
                <a:solidFill>
                  <a:srgbClr val="0000FF"/>
                </a:solidFill>
                <a:effectLst/>
                <a:latin typeface="Consolas" panose="020B0609020204030204" pitchFamily="49" charset="0"/>
                <a:ea typeface="Times New Roman" panose="02020603050405020304" pitchFamily="18" charset="0"/>
                <a:cs typeface="Courier New" panose="02070309020205020404" pitchFamily="49" charset="0"/>
              </a:rPr>
              <a:t>is</a:t>
            </a:r>
            <a:r>
              <a:rPr lang="en-US" sz="2400" dirty="0" err="1">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.na</a:t>
            </a:r>
            <a:r>
              <a:rPr lang="en-US" sz="24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a:t>
            </a:r>
            <a:r>
              <a:rPr lang="en-US" sz="2400" dirty="0" err="1">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df$Score</a:t>
            </a:r>
            <a:r>
              <a:rPr lang="en-US" sz="24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&lt;- mean(</a:t>
            </a:r>
            <a:r>
              <a:rPr lang="en-US" sz="2400" dirty="0" err="1">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df$Score</a:t>
            </a:r>
            <a:r>
              <a:rPr lang="en-US" sz="24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xml:space="preserve">, </a:t>
            </a:r>
            <a:r>
              <a:rPr lang="en-US" sz="2400" dirty="0" err="1">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na.rm</a:t>
            </a:r>
            <a:r>
              <a:rPr lang="en-US" sz="24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=TRUE)</a:t>
            </a:r>
            <a:endParaRPr lang="en-US" sz="4000" dirty="0">
              <a:effectLst/>
              <a:latin typeface="Times New Roman" panose="02020603050405020304" pitchFamily="18" charset="0"/>
              <a:ea typeface="Times New Roman" panose="02020603050405020304" pitchFamily="18" charset="0"/>
            </a:endParaRPr>
          </a:p>
          <a:p>
            <a:pPr marL="0" marR="0">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2400" dirty="0" err="1">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df$Age</a:t>
            </a:r>
            <a:r>
              <a:rPr lang="en-US" sz="24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a:t>
            </a:r>
            <a:r>
              <a:rPr lang="en-US" sz="2400" dirty="0" err="1">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df$Age</a:t>
            </a:r>
            <a:r>
              <a:rPr lang="en-US" sz="24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xml:space="preserve"> &gt; </a:t>
            </a:r>
            <a:r>
              <a:rPr lang="en-US" sz="2400" dirty="0">
                <a:solidFill>
                  <a:srgbClr val="006666"/>
                </a:solidFill>
                <a:effectLst/>
                <a:latin typeface="Consolas" panose="020B0609020204030204" pitchFamily="49" charset="0"/>
                <a:ea typeface="Times New Roman" panose="02020603050405020304" pitchFamily="18" charset="0"/>
                <a:cs typeface="Courier New" panose="02070309020205020404" pitchFamily="49" charset="0"/>
              </a:rPr>
              <a:t>100</a:t>
            </a:r>
            <a:r>
              <a:rPr lang="en-US" sz="24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xml:space="preserve">] &lt;- </a:t>
            </a:r>
            <a:r>
              <a:rPr lang="en-US" sz="2400" dirty="0">
                <a:solidFill>
                  <a:srgbClr val="006666"/>
                </a:solidFill>
                <a:effectLst/>
                <a:latin typeface="Consolas" panose="020B0609020204030204" pitchFamily="49" charset="0"/>
                <a:ea typeface="Times New Roman" panose="02020603050405020304" pitchFamily="18" charset="0"/>
                <a:cs typeface="Courier New" panose="02070309020205020404" pitchFamily="49" charset="0"/>
              </a:rPr>
              <a:t>15</a:t>
            </a:r>
            <a:endParaRPr lang="en-US" sz="40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257436306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BAAB2C-FE78-5063-41D1-7423E1F621E1}"/>
              </a:ext>
            </a:extLst>
          </p:cNvPr>
          <p:cNvSpPr>
            <a:spLocks noGrp="1"/>
          </p:cNvSpPr>
          <p:nvPr>
            <p:ph type="title"/>
          </p:nvPr>
        </p:nvSpPr>
        <p:spPr/>
        <p:txBody>
          <a:bodyPr/>
          <a:lstStyle/>
          <a:p>
            <a:r>
              <a:rPr lang="en-US" dirty="0"/>
              <a:t>Key cleaning functions/techniques (summary)</a:t>
            </a:r>
          </a:p>
        </p:txBody>
      </p:sp>
      <p:graphicFrame>
        <p:nvGraphicFramePr>
          <p:cNvPr id="4" name="Content Placeholder 3">
            <a:extLst>
              <a:ext uri="{FF2B5EF4-FFF2-40B4-BE49-F238E27FC236}">
                <a16:creationId xmlns:a16="http://schemas.microsoft.com/office/drawing/2014/main" id="{3A5DB20A-9184-1DDF-5DFC-9074FA4B3244}"/>
              </a:ext>
            </a:extLst>
          </p:cNvPr>
          <p:cNvGraphicFramePr>
            <a:graphicFrameLocks noGrp="1"/>
          </p:cNvGraphicFramePr>
          <p:nvPr>
            <p:ph idx="1"/>
            <p:extLst>
              <p:ext uri="{D42A27DB-BD31-4B8C-83A1-F6EECF244321}">
                <p14:modId xmlns:p14="http://schemas.microsoft.com/office/powerpoint/2010/main" val="2053013674"/>
              </p:ext>
            </p:extLst>
          </p:nvPr>
        </p:nvGraphicFramePr>
        <p:xfrm>
          <a:off x="838200" y="2604051"/>
          <a:ext cx="10515600" cy="357291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0007315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4D2CCA-C6F4-D40A-CEFF-DA76D81D10D3}"/>
              </a:ext>
            </a:extLst>
          </p:cNvPr>
          <p:cNvSpPr>
            <a:spLocks noGrp="1"/>
          </p:cNvSpPr>
          <p:nvPr>
            <p:ph type="ctrTitle"/>
          </p:nvPr>
        </p:nvSpPr>
        <p:spPr/>
        <p:txBody>
          <a:bodyPr/>
          <a:lstStyle/>
          <a:p>
            <a:r>
              <a:rPr lang="en-US" dirty="0"/>
              <a:t>Chapter 6</a:t>
            </a:r>
          </a:p>
        </p:txBody>
      </p:sp>
      <p:sp>
        <p:nvSpPr>
          <p:cNvPr id="3" name="Subtitle 2">
            <a:extLst>
              <a:ext uri="{FF2B5EF4-FFF2-40B4-BE49-F238E27FC236}">
                <a16:creationId xmlns:a16="http://schemas.microsoft.com/office/drawing/2014/main" id="{76A086D5-2805-2A52-931A-95177A7C3D66}"/>
              </a:ext>
            </a:extLst>
          </p:cNvPr>
          <p:cNvSpPr>
            <a:spLocks noGrp="1"/>
          </p:cNvSpPr>
          <p:nvPr>
            <p:ph type="subTitle" idx="1"/>
          </p:nvPr>
        </p:nvSpPr>
        <p:spPr/>
        <p:txBody>
          <a:bodyPr/>
          <a:lstStyle/>
          <a:p>
            <a:r>
              <a:rPr lang="en-US" dirty="0"/>
              <a:t>Why Data Quality is Critical: Trustworthy Analysis</a:t>
            </a:r>
          </a:p>
          <a:p>
            <a:endParaRPr lang="en-US" dirty="0"/>
          </a:p>
        </p:txBody>
      </p:sp>
    </p:spTree>
    <p:extLst>
      <p:ext uri="{BB962C8B-B14F-4D97-AF65-F5344CB8AC3E}">
        <p14:creationId xmlns:p14="http://schemas.microsoft.com/office/powerpoint/2010/main" val="410846949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B32AB3-235F-5A05-A3EA-C20983D8CEF1}"/>
              </a:ext>
            </a:extLst>
          </p:cNvPr>
          <p:cNvSpPr>
            <a:spLocks noGrp="1"/>
          </p:cNvSpPr>
          <p:nvPr>
            <p:ph type="title"/>
          </p:nvPr>
        </p:nvSpPr>
        <p:spPr/>
        <p:txBody>
          <a:bodyPr>
            <a:normAutofit/>
          </a:bodyPr>
          <a:lstStyle/>
          <a:p>
            <a:r>
              <a:rPr lang="en-US" dirty="0"/>
              <a:t>Why Data Quality is Critical: Trustworthy Analysis</a:t>
            </a:r>
          </a:p>
        </p:txBody>
      </p:sp>
      <p:sp>
        <p:nvSpPr>
          <p:cNvPr id="3" name="Content Placeholder 2">
            <a:extLst>
              <a:ext uri="{FF2B5EF4-FFF2-40B4-BE49-F238E27FC236}">
                <a16:creationId xmlns:a16="http://schemas.microsoft.com/office/drawing/2014/main" id="{0D997061-E6A8-08E1-30FB-801B28EFDB76}"/>
              </a:ext>
            </a:extLst>
          </p:cNvPr>
          <p:cNvSpPr>
            <a:spLocks noGrp="1"/>
          </p:cNvSpPr>
          <p:nvPr>
            <p:ph idx="1"/>
          </p:nvPr>
        </p:nvSpPr>
        <p:spPr>
          <a:xfrm>
            <a:off x="838200" y="2604051"/>
            <a:ext cx="7331439" cy="3572911"/>
          </a:xfrm>
        </p:spPr>
        <p:txBody>
          <a:bodyPr/>
          <a:lstStyle/>
          <a:p>
            <a:r>
              <a:rPr lang="en-US" dirty="0"/>
              <a:t>Like a building needs a solid foundation, analysis needs clean data.</a:t>
            </a:r>
          </a:p>
          <a:p>
            <a:r>
              <a:rPr lang="en-US" dirty="0"/>
              <a:t xml:space="preserve">Even the best analysis methods can't save bad data. </a:t>
            </a:r>
            <a:r>
              <a:rPr lang="en-US" b="1" i="1" dirty="0"/>
              <a:t>Garbage in, garbage out.</a:t>
            </a:r>
          </a:p>
          <a:p>
            <a:r>
              <a:rPr lang="en-US" dirty="0"/>
              <a:t>Clean data makes your findings credible to others.</a:t>
            </a:r>
          </a:p>
        </p:txBody>
      </p:sp>
      <p:pic>
        <p:nvPicPr>
          <p:cNvPr id="6" name="Picture 5">
            <a:extLst>
              <a:ext uri="{FF2B5EF4-FFF2-40B4-BE49-F238E27FC236}">
                <a16:creationId xmlns:a16="http://schemas.microsoft.com/office/drawing/2014/main" id="{4E5D9FB4-DAAB-068F-311F-04E758A98465}"/>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8505669" y="1973342"/>
            <a:ext cx="3222885" cy="4834328"/>
          </a:xfrm>
          <a:prstGeom prst="rect">
            <a:avLst/>
          </a:prstGeom>
        </p:spPr>
      </p:pic>
    </p:spTree>
    <p:extLst>
      <p:ext uri="{BB962C8B-B14F-4D97-AF65-F5344CB8AC3E}">
        <p14:creationId xmlns:p14="http://schemas.microsoft.com/office/powerpoint/2010/main" val="197065903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44DA2A-9A31-F472-E08E-964398847A25}"/>
              </a:ext>
            </a:extLst>
          </p:cNvPr>
          <p:cNvSpPr>
            <a:spLocks noGrp="1"/>
          </p:cNvSpPr>
          <p:nvPr>
            <p:ph type="title"/>
          </p:nvPr>
        </p:nvSpPr>
        <p:spPr>
          <a:xfrm>
            <a:off x="470124" y="326128"/>
            <a:ext cx="10515600" cy="1325563"/>
          </a:xfrm>
        </p:spPr>
        <p:txBody>
          <a:bodyPr/>
          <a:lstStyle/>
          <a:p>
            <a:r>
              <a:rPr lang="en-US" dirty="0"/>
              <a:t>Consequences of Dirty Data</a:t>
            </a:r>
          </a:p>
        </p:txBody>
      </p:sp>
      <p:sp>
        <p:nvSpPr>
          <p:cNvPr id="4" name="Shape 1">
            <a:extLst>
              <a:ext uri="{FF2B5EF4-FFF2-40B4-BE49-F238E27FC236}">
                <a16:creationId xmlns:a16="http://schemas.microsoft.com/office/drawing/2014/main" id="{FE876DF9-23B6-DF40-9987-D209A412B261}"/>
              </a:ext>
            </a:extLst>
          </p:cNvPr>
          <p:cNvSpPr/>
          <p:nvPr/>
        </p:nvSpPr>
        <p:spPr>
          <a:xfrm>
            <a:off x="470124" y="1651693"/>
            <a:ext cx="6409928" cy="1285181"/>
          </a:xfrm>
          <a:prstGeom prst="roundRect">
            <a:avLst>
              <a:gd name="adj" fmla="val 5650"/>
            </a:avLst>
          </a:prstGeom>
          <a:solidFill>
            <a:srgbClr val="CCEDFF"/>
          </a:solidFill>
          <a:ln w="7620">
            <a:solidFill>
              <a:srgbClr val="B2D3E5"/>
            </a:solidFill>
            <a:prstDash val="solid"/>
          </a:ln>
        </p:spPr>
        <p:txBody>
          <a:bodyPr/>
          <a:lstStyle/>
          <a:p>
            <a:endParaRPr lang="en-US">
              <a:latin typeface="Aptos" panose="020B0004020202020204" pitchFamily="34" charset="0"/>
            </a:endParaRPr>
          </a:p>
        </p:txBody>
      </p:sp>
      <p:sp>
        <p:nvSpPr>
          <p:cNvPr id="5" name="Text 2">
            <a:extLst>
              <a:ext uri="{FF2B5EF4-FFF2-40B4-BE49-F238E27FC236}">
                <a16:creationId xmlns:a16="http://schemas.microsoft.com/office/drawing/2014/main" id="{873E3704-681D-7D29-3D5D-138BF051312D}"/>
              </a:ext>
            </a:extLst>
          </p:cNvPr>
          <p:cNvSpPr/>
          <p:nvPr/>
        </p:nvSpPr>
        <p:spPr>
          <a:xfrm>
            <a:off x="649313" y="1830881"/>
            <a:ext cx="2160885" cy="270073"/>
          </a:xfrm>
          <a:prstGeom prst="rect">
            <a:avLst/>
          </a:prstGeom>
          <a:noFill/>
          <a:ln/>
        </p:spPr>
        <p:txBody>
          <a:bodyPr wrap="none" lIns="0" tIns="0" rIns="0" bIns="0" rtlCol="0" anchor="t"/>
          <a:lstStyle/>
          <a:p>
            <a:pPr>
              <a:lnSpc>
                <a:spcPts val="2125"/>
              </a:lnSpc>
            </a:pPr>
            <a:r>
              <a:rPr lang="en-US" sz="2000" b="1" dirty="0">
                <a:solidFill>
                  <a:srgbClr val="000000"/>
                </a:solidFill>
                <a:latin typeface="Aptos" panose="020B0004020202020204" pitchFamily="34" charset="0"/>
                <a:ea typeface="Playfair Display Bold" pitchFamily="34" charset="-122"/>
                <a:cs typeface="Playfair Display Bold" pitchFamily="34" charset="-120"/>
              </a:rPr>
              <a:t>Misguided Decisions</a:t>
            </a:r>
            <a:endParaRPr lang="en-US" sz="2000" dirty="0">
              <a:latin typeface="Aptos" panose="020B0004020202020204" pitchFamily="34" charset="0"/>
            </a:endParaRPr>
          </a:p>
        </p:txBody>
      </p:sp>
      <p:sp>
        <p:nvSpPr>
          <p:cNvPr id="6" name="Text 3">
            <a:extLst>
              <a:ext uri="{FF2B5EF4-FFF2-40B4-BE49-F238E27FC236}">
                <a16:creationId xmlns:a16="http://schemas.microsoft.com/office/drawing/2014/main" id="{ACD757EB-9F3F-B393-135D-17BD981773E8}"/>
              </a:ext>
            </a:extLst>
          </p:cNvPr>
          <p:cNvSpPr/>
          <p:nvPr/>
        </p:nvSpPr>
        <p:spPr>
          <a:xfrm>
            <a:off x="649313" y="2204639"/>
            <a:ext cx="6051550" cy="553045"/>
          </a:xfrm>
          <a:prstGeom prst="rect">
            <a:avLst/>
          </a:prstGeom>
          <a:noFill/>
          <a:ln/>
        </p:spPr>
        <p:txBody>
          <a:bodyPr wrap="square" lIns="0" tIns="0" rIns="0" bIns="0" rtlCol="0" anchor="t"/>
          <a:lstStyle/>
          <a:p>
            <a:pPr>
              <a:lnSpc>
                <a:spcPts val="2167"/>
              </a:lnSpc>
            </a:pPr>
            <a:r>
              <a:rPr lang="en-US" sz="1600" dirty="0">
                <a:solidFill>
                  <a:srgbClr val="000000"/>
                </a:solidFill>
                <a:latin typeface="Aptos" panose="020B0004020202020204" pitchFamily="34" charset="0"/>
                <a:ea typeface="Inter" pitchFamily="34" charset="-122"/>
                <a:cs typeface="Inter" pitchFamily="34" charset="-120"/>
              </a:rPr>
              <a:t>Real case: a software company’s churn model trained on duplicate customer records predicted 40% lower churn — overprovisioning servers by $2M annually before the duplication was caught.</a:t>
            </a:r>
            <a:endParaRPr lang="en-US" sz="1600" dirty="0">
              <a:latin typeface="Aptos" panose="020B0004020202020204" pitchFamily="34" charset="0"/>
            </a:endParaRPr>
          </a:p>
        </p:txBody>
      </p:sp>
      <p:sp>
        <p:nvSpPr>
          <p:cNvPr id="7" name="Shape 4">
            <a:extLst>
              <a:ext uri="{FF2B5EF4-FFF2-40B4-BE49-F238E27FC236}">
                <a16:creationId xmlns:a16="http://schemas.microsoft.com/office/drawing/2014/main" id="{D0C8E2A2-E085-6E84-F80C-A83E1F92F753}"/>
              </a:ext>
            </a:extLst>
          </p:cNvPr>
          <p:cNvSpPr/>
          <p:nvPr/>
        </p:nvSpPr>
        <p:spPr>
          <a:xfrm>
            <a:off x="470124" y="3109712"/>
            <a:ext cx="6409928" cy="1285181"/>
          </a:xfrm>
          <a:prstGeom prst="roundRect">
            <a:avLst>
              <a:gd name="adj" fmla="val 5650"/>
            </a:avLst>
          </a:prstGeom>
          <a:solidFill>
            <a:srgbClr val="CCEDFF"/>
          </a:solidFill>
          <a:ln w="7620">
            <a:solidFill>
              <a:srgbClr val="B2D3E5"/>
            </a:solidFill>
            <a:prstDash val="solid"/>
          </a:ln>
        </p:spPr>
        <p:txBody>
          <a:bodyPr/>
          <a:lstStyle/>
          <a:p>
            <a:endParaRPr lang="en-US">
              <a:latin typeface="Aptos" panose="020B0004020202020204" pitchFamily="34" charset="0"/>
            </a:endParaRPr>
          </a:p>
        </p:txBody>
      </p:sp>
      <p:sp>
        <p:nvSpPr>
          <p:cNvPr id="8" name="Text 5">
            <a:extLst>
              <a:ext uri="{FF2B5EF4-FFF2-40B4-BE49-F238E27FC236}">
                <a16:creationId xmlns:a16="http://schemas.microsoft.com/office/drawing/2014/main" id="{C3362B3C-A331-F07F-B520-9F7459030AFF}"/>
              </a:ext>
            </a:extLst>
          </p:cNvPr>
          <p:cNvSpPr/>
          <p:nvPr/>
        </p:nvSpPr>
        <p:spPr>
          <a:xfrm>
            <a:off x="649313" y="3288901"/>
            <a:ext cx="2160885" cy="270073"/>
          </a:xfrm>
          <a:prstGeom prst="rect">
            <a:avLst/>
          </a:prstGeom>
          <a:noFill/>
          <a:ln/>
        </p:spPr>
        <p:txBody>
          <a:bodyPr wrap="none" lIns="0" tIns="0" rIns="0" bIns="0" rtlCol="0" anchor="t"/>
          <a:lstStyle/>
          <a:p>
            <a:pPr>
              <a:lnSpc>
                <a:spcPts val="2125"/>
              </a:lnSpc>
            </a:pPr>
            <a:r>
              <a:rPr lang="en-US" sz="2000" b="1" dirty="0">
                <a:solidFill>
                  <a:srgbClr val="000000"/>
                </a:solidFill>
                <a:latin typeface="Aptos" panose="020B0004020202020204" pitchFamily="34" charset="0"/>
                <a:ea typeface="Playfair Display Bold" pitchFamily="34" charset="-122"/>
                <a:cs typeface="Playfair Display Bold" pitchFamily="34" charset="-120"/>
              </a:rPr>
              <a:t>Erroneous Research</a:t>
            </a:r>
            <a:endParaRPr lang="en-US" sz="2000" dirty="0">
              <a:latin typeface="Aptos" panose="020B0004020202020204" pitchFamily="34" charset="0"/>
            </a:endParaRPr>
          </a:p>
        </p:txBody>
      </p:sp>
      <p:sp>
        <p:nvSpPr>
          <p:cNvPr id="9" name="Text 6">
            <a:extLst>
              <a:ext uri="{FF2B5EF4-FFF2-40B4-BE49-F238E27FC236}">
                <a16:creationId xmlns:a16="http://schemas.microsoft.com/office/drawing/2014/main" id="{B6CEA778-7FF6-5096-F19F-DAFB0DC15ACF}"/>
              </a:ext>
            </a:extLst>
          </p:cNvPr>
          <p:cNvSpPr/>
          <p:nvPr/>
        </p:nvSpPr>
        <p:spPr>
          <a:xfrm>
            <a:off x="649313" y="3662658"/>
            <a:ext cx="6051550" cy="553045"/>
          </a:xfrm>
          <a:prstGeom prst="rect">
            <a:avLst/>
          </a:prstGeom>
          <a:noFill/>
          <a:ln/>
        </p:spPr>
        <p:txBody>
          <a:bodyPr wrap="square" lIns="0" tIns="0" rIns="0" bIns="0" rtlCol="0" anchor="t"/>
          <a:lstStyle/>
          <a:p>
            <a:pPr>
              <a:lnSpc>
                <a:spcPts val="2167"/>
              </a:lnSpc>
            </a:pPr>
            <a:r>
              <a:rPr lang="en-US" sz="1600" dirty="0">
                <a:solidFill>
                  <a:srgbClr val="000000"/>
                </a:solidFill>
                <a:latin typeface="Aptos" panose="020B0004020202020204" pitchFamily="34" charset="0"/>
                <a:ea typeface="Inter" pitchFamily="34" charset="-122"/>
                <a:cs typeface="Inter" pitchFamily="34" charset="-120"/>
              </a:rPr>
              <a:t>Reinhart-Rogoff (2013): a landmark economics paper cited by governments worldwide to justify austerity was based on a spreadsheet that excluded certain country-years from a key calculation. A grad student found the error. Policy was already enacted.</a:t>
            </a:r>
            <a:endParaRPr lang="en-US" sz="1600" dirty="0">
              <a:latin typeface="Aptos" panose="020B0004020202020204" pitchFamily="34" charset="0"/>
            </a:endParaRPr>
          </a:p>
        </p:txBody>
      </p:sp>
      <p:sp>
        <p:nvSpPr>
          <p:cNvPr id="10" name="Shape 7">
            <a:extLst>
              <a:ext uri="{FF2B5EF4-FFF2-40B4-BE49-F238E27FC236}">
                <a16:creationId xmlns:a16="http://schemas.microsoft.com/office/drawing/2014/main" id="{5830D27F-9C3B-8C2D-0407-CB8D3822DA8E}"/>
              </a:ext>
            </a:extLst>
          </p:cNvPr>
          <p:cNvSpPr/>
          <p:nvPr/>
        </p:nvSpPr>
        <p:spPr>
          <a:xfrm>
            <a:off x="470124" y="4567731"/>
            <a:ext cx="6409928" cy="1008658"/>
          </a:xfrm>
          <a:prstGeom prst="roundRect">
            <a:avLst>
              <a:gd name="adj" fmla="val 7198"/>
            </a:avLst>
          </a:prstGeom>
          <a:solidFill>
            <a:srgbClr val="CCEDFF"/>
          </a:solidFill>
          <a:ln w="7620">
            <a:solidFill>
              <a:srgbClr val="B2D3E5"/>
            </a:solidFill>
            <a:prstDash val="solid"/>
          </a:ln>
        </p:spPr>
        <p:txBody>
          <a:bodyPr/>
          <a:lstStyle/>
          <a:p>
            <a:endParaRPr lang="en-US">
              <a:latin typeface="Aptos" panose="020B0004020202020204" pitchFamily="34" charset="0"/>
            </a:endParaRPr>
          </a:p>
        </p:txBody>
      </p:sp>
      <p:sp>
        <p:nvSpPr>
          <p:cNvPr id="11" name="Text 8">
            <a:extLst>
              <a:ext uri="{FF2B5EF4-FFF2-40B4-BE49-F238E27FC236}">
                <a16:creationId xmlns:a16="http://schemas.microsoft.com/office/drawing/2014/main" id="{AC350126-E96A-5C9A-6CC2-521F182A4897}"/>
              </a:ext>
            </a:extLst>
          </p:cNvPr>
          <p:cNvSpPr/>
          <p:nvPr/>
        </p:nvSpPr>
        <p:spPr>
          <a:xfrm>
            <a:off x="649313" y="4746921"/>
            <a:ext cx="2160885" cy="270073"/>
          </a:xfrm>
          <a:prstGeom prst="rect">
            <a:avLst/>
          </a:prstGeom>
          <a:noFill/>
          <a:ln/>
        </p:spPr>
        <p:txBody>
          <a:bodyPr wrap="none" lIns="0" tIns="0" rIns="0" bIns="0" rtlCol="0" anchor="t"/>
          <a:lstStyle/>
          <a:p>
            <a:pPr>
              <a:lnSpc>
                <a:spcPts val="2125"/>
              </a:lnSpc>
            </a:pPr>
            <a:r>
              <a:rPr lang="en-US" sz="2000" b="1" dirty="0">
                <a:solidFill>
                  <a:srgbClr val="000000"/>
                </a:solidFill>
                <a:latin typeface="Aptos" panose="020B0004020202020204" pitchFamily="34" charset="0"/>
                <a:ea typeface="Playfair Display Bold" pitchFamily="34" charset="-122"/>
                <a:cs typeface="Playfair Display Bold" pitchFamily="34" charset="-120"/>
              </a:rPr>
              <a:t>Loss of Trust</a:t>
            </a:r>
            <a:endParaRPr lang="en-US" sz="2000" dirty="0">
              <a:latin typeface="Aptos" panose="020B0004020202020204" pitchFamily="34" charset="0"/>
            </a:endParaRPr>
          </a:p>
        </p:txBody>
      </p:sp>
      <p:sp>
        <p:nvSpPr>
          <p:cNvPr id="12" name="Text 9">
            <a:extLst>
              <a:ext uri="{FF2B5EF4-FFF2-40B4-BE49-F238E27FC236}">
                <a16:creationId xmlns:a16="http://schemas.microsoft.com/office/drawing/2014/main" id="{792F7E1F-01CC-F4A2-92AB-DE669DA0A705}"/>
              </a:ext>
            </a:extLst>
          </p:cNvPr>
          <p:cNvSpPr/>
          <p:nvPr/>
        </p:nvSpPr>
        <p:spPr>
          <a:xfrm>
            <a:off x="649313" y="5120678"/>
            <a:ext cx="6051550" cy="276523"/>
          </a:xfrm>
          <a:prstGeom prst="rect">
            <a:avLst/>
          </a:prstGeom>
          <a:noFill/>
          <a:ln/>
        </p:spPr>
        <p:txBody>
          <a:bodyPr wrap="none" lIns="0" tIns="0" rIns="0" bIns="0" rtlCol="0" anchor="t"/>
          <a:lstStyle/>
          <a:p>
            <a:pPr>
              <a:lnSpc>
                <a:spcPts val="2167"/>
              </a:lnSpc>
            </a:pPr>
            <a:r>
              <a:rPr lang="en-US" sz="1600" dirty="0">
                <a:solidFill>
                  <a:srgbClr val="000000"/>
                </a:solidFill>
                <a:latin typeface="Aptos" panose="020B0004020202020204" pitchFamily="34" charset="0"/>
                <a:ea typeface="Inter" pitchFamily="34" charset="-122"/>
                <a:cs typeface="Inter" pitchFamily="34" charset="-120"/>
              </a:rPr>
              <a:t>The credibility multiplier: one discovered error makes everyone doubt the entire analysis. Clean data builds trust; dirty data destroys it — and the destruction is asymmetric (hard to rebuild).</a:t>
            </a:r>
            <a:endParaRPr lang="en-US" sz="1600" dirty="0">
              <a:latin typeface="Aptos" panose="020B0004020202020204" pitchFamily="34" charset="0"/>
            </a:endParaRPr>
          </a:p>
        </p:txBody>
      </p:sp>
      <p:sp>
        <p:nvSpPr>
          <p:cNvPr id="13" name="Shape 10">
            <a:extLst>
              <a:ext uri="{FF2B5EF4-FFF2-40B4-BE49-F238E27FC236}">
                <a16:creationId xmlns:a16="http://schemas.microsoft.com/office/drawing/2014/main" id="{D3B8F0C5-6AD4-D900-8563-A89416D66AC7}"/>
              </a:ext>
            </a:extLst>
          </p:cNvPr>
          <p:cNvSpPr/>
          <p:nvPr/>
        </p:nvSpPr>
        <p:spPr>
          <a:xfrm>
            <a:off x="470124" y="5749229"/>
            <a:ext cx="6409928" cy="1008658"/>
          </a:xfrm>
          <a:prstGeom prst="roundRect">
            <a:avLst>
              <a:gd name="adj" fmla="val 7198"/>
            </a:avLst>
          </a:prstGeom>
          <a:solidFill>
            <a:srgbClr val="CCEDFF"/>
          </a:solidFill>
          <a:ln w="7620">
            <a:solidFill>
              <a:srgbClr val="B2D3E5"/>
            </a:solidFill>
            <a:prstDash val="solid"/>
          </a:ln>
        </p:spPr>
        <p:txBody>
          <a:bodyPr/>
          <a:lstStyle/>
          <a:p>
            <a:endParaRPr lang="en-US">
              <a:latin typeface="Aptos" panose="020B0004020202020204" pitchFamily="34" charset="0"/>
            </a:endParaRPr>
          </a:p>
        </p:txBody>
      </p:sp>
      <p:sp>
        <p:nvSpPr>
          <p:cNvPr id="14" name="Text 11">
            <a:extLst>
              <a:ext uri="{FF2B5EF4-FFF2-40B4-BE49-F238E27FC236}">
                <a16:creationId xmlns:a16="http://schemas.microsoft.com/office/drawing/2014/main" id="{FB294CE7-D642-3E28-4DC6-9F4EBCEA491B}"/>
              </a:ext>
            </a:extLst>
          </p:cNvPr>
          <p:cNvSpPr/>
          <p:nvPr/>
        </p:nvSpPr>
        <p:spPr>
          <a:xfrm>
            <a:off x="649313" y="5928418"/>
            <a:ext cx="2160885" cy="270073"/>
          </a:xfrm>
          <a:prstGeom prst="rect">
            <a:avLst/>
          </a:prstGeom>
          <a:noFill/>
          <a:ln/>
        </p:spPr>
        <p:txBody>
          <a:bodyPr wrap="none" lIns="0" tIns="0" rIns="0" bIns="0" rtlCol="0" anchor="t"/>
          <a:lstStyle/>
          <a:p>
            <a:pPr>
              <a:lnSpc>
                <a:spcPts val="2125"/>
              </a:lnSpc>
            </a:pPr>
            <a:r>
              <a:rPr lang="en-US" sz="2000" b="1" dirty="0">
                <a:solidFill>
                  <a:srgbClr val="000000"/>
                </a:solidFill>
                <a:latin typeface="Aptos" panose="020B0004020202020204" pitchFamily="34" charset="0"/>
                <a:ea typeface="Playfair Display Bold" pitchFamily="34" charset="-122"/>
                <a:cs typeface="Playfair Display Bold" pitchFamily="34" charset="-120"/>
              </a:rPr>
              <a:t>Wasted Effort</a:t>
            </a:r>
            <a:endParaRPr lang="en-US" sz="2000" dirty="0">
              <a:latin typeface="Aptos" panose="020B0004020202020204" pitchFamily="34" charset="0"/>
            </a:endParaRPr>
          </a:p>
        </p:txBody>
      </p:sp>
      <p:sp>
        <p:nvSpPr>
          <p:cNvPr id="15" name="Text 12">
            <a:extLst>
              <a:ext uri="{FF2B5EF4-FFF2-40B4-BE49-F238E27FC236}">
                <a16:creationId xmlns:a16="http://schemas.microsoft.com/office/drawing/2014/main" id="{817C1A75-F063-3037-3223-0BF0274DC013}"/>
              </a:ext>
            </a:extLst>
          </p:cNvPr>
          <p:cNvSpPr/>
          <p:nvPr/>
        </p:nvSpPr>
        <p:spPr>
          <a:xfrm>
            <a:off x="649313" y="6302175"/>
            <a:ext cx="6051550" cy="276523"/>
          </a:xfrm>
          <a:prstGeom prst="rect">
            <a:avLst/>
          </a:prstGeom>
          <a:noFill/>
          <a:ln/>
        </p:spPr>
        <p:txBody>
          <a:bodyPr wrap="none" lIns="0" tIns="0" rIns="0" bIns="0" rtlCol="0" anchor="t"/>
          <a:lstStyle/>
          <a:p>
            <a:pPr>
              <a:lnSpc>
                <a:spcPts val="2167"/>
              </a:lnSpc>
            </a:pPr>
            <a:r>
              <a:rPr lang="en-US" sz="1600" dirty="0">
                <a:solidFill>
                  <a:srgbClr val="000000"/>
                </a:solidFill>
                <a:latin typeface="Aptos" panose="020B0004020202020204" pitchFamily="34" charset="0"/>
                <a:ea typeface="Inter" pitchFamily="34" charset="-122"/>
                <a:cs typeface="Inter" pitchFamily="34" charset="-120"/>
              </a:rPr>
              <a:t>Redoing analysis after discovering data issues wastes valuable time.</a:t>
            </a:r>
            <a:endParaRPr lang="en-US" sz="1600" dirty="0">
              <a:latin typeface="Aptos" panose="020B0004020202020204" pitchFamily="34" charset="0"/>
            </a:endParaRPr>
          </a:p>
        </p:txBody>
      </p:sp>
      <p:pic>
        <p:nvPicPr>
          <p:cNvPr id="16" name="Image 0" descr="preencoded.png">
            <a:extLst>
              <a:ext uri="{FF2B5EF4-FFF2-40B4-BE49-F238E27FC236}">
                <a16:creationId xmlns:a16="http://schemas.microsoft.com/office/drawing/2014/main" id="{9DD78CBD-A186-5010-4B17-6D5131AF95C7}"/>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7689953" y="1068372"/>
            <a:ext cx="3677587" cy="5516381"/>
          </a:xfrm>
          <a:prstGeom prst="rect">
            <a:avLst/>
          </a:prstGeom>
        </p:spPr>
      </p:pic>
    </p:spTree>
    <p:extLst>
      <p:ext uri="{BB962C8B-B14F-4D97-AF65-F5344CB8AC3E}">
        <p14:creationId xmlns:p14="http://schemas.microsoft.com/office/powerpoint/2010/main" val="411502918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E05A31-5092-95AB-0C7C-A090AA5CCAD8}"/>
              </a:ext>
            </a:extLst>
          </p:cNvPr>
          <p:cNvSpPr>
            <a:spLocks noGrp="1"/>
          </p:cNvSpPr>
          <p:nvPr>
            <p:ph type="title"/>
          </p:nvPr>
        </p:nvSpPr>
        <p:spPr>
          <a:xfrm>
            <a:off x="838200" y="813795"/>
            <a:ext cx="10515600" cy="1325563"/>
          </a:xfrm>
        </p:spPr>
        <p:txBody>
          <a:bodyPr/>
          <a:lstStyle/>
          <a:p>
            <a:r>
              <a:rPr lang="en-US" dirty="0"/>
              <a:t>Benefits of Clean Data</a:t>
            </a:r>
          </a:p>
        </p:txBody>
      </p:sp>
      <p:sp>
        <p:nvSpPr>
          <p:cNvPr id="4" name="Shape 1">
            <a:extLst>
              <a:ext uri="{FF2B5EF4-FFF2-40B4-BE49-F238E27FC236}">
                <a16:creationId xmlns:a16="http://schemas.microsoft.com/office/drawing/2014/main" id="{451E9ADE-75AA-3827-9D0F-06E20564A82C}"/>
              </a:ext>
            </a:extLst>
          </p:cNvPr>
          <p:cNvSpPr/>
          <p:nvPr/>
        </p:nvSpPr>
        <p:spPr>
          <a:xfrm>
            <a:off x="838200" y="2131173"/>
            <a:ext cx="425252" cy="425252"/>
          </a:xfrm>
          <a:prstGeom prst="roundRect">
            <a:avLst>
              <a:gd name="adj" fmla="val 18669"/>
            </a:avLst>
          </a:prstGeom>
          <a:solidFill>
            <a:srgbClr val="CCEDFF"/>
          </a:solidFill>
          <a:ln w="7620">
            <a:solidFill>
              <a:srgbClr val="B2D3E5"/>
            </a:solidFill>
            <a:prstDash val="solid"/>
          </a:ln>
        </p:spPr>
        <p:txBody>
          <a:bodyPr/>
          <a:lstStyle/>
          <a:p>
            <a:endParaRPr lang="en-US" sz="2000">
              <a:latin typeface="Aptos" panose="020B0004020202020204" pitchFamily="34" charset="0"/>
            </a:endParaRPr>
          </a:p>
        </p:txBody>
      </p:sp>
      <p:pic>
        <p:nvPicPr>
          <p:cNvPr id="5" name="Image 1" descr="preencoded.png">
            <a:extLst>
              <a:ext uri="{FF2B5EF4-FFF2-40B4-BE49-F238E27FC236}">
                <a16:creationId xmlns:a16="http://schemas.microsoft.com/office/drawing/2014/main" id="{EB4D3BE7-3F4D-AF75-0940-BE4F65C13FB1}"/>
              </a:ext>
            </a:extLst>
          </p:cNvPr>
          <p:cNvPicPr>
            <a:picLocks noChangeAspect="1"/>
          </p:cNvPicPr>
          <p:nvPr/>
        </p:nvPicPr>
        <p:blipFill>
          <a:blip r:embed="rId2"/>
          <a:stretch>
            <a:fillRect/>
          </a:stretch>
        </p:blipFill>
        <p:spPr>
          <a:xfrm>
            <a:off x="909092" y="2166594"/>
            <a:ext cx="283468" cy="354409"/>
          </a:xfrm>
          <a:prstGeom prst="rect">
            <a:avLst/>
          </a:prstGeom>
        </p:spPr>
      </p:pic>
      <p:sp>
        <p:nvSpPr>
          <p:cNvPr id="6" name="Text 2">
            <a:extLst>
              <a:ext uri="{FF2B5EF4-FFF2-40B4-BE49-F238E27FC236}">
                <a16:creationId xmlns:a16="http://schemas.microsoft.com/office/drawing/2014/main" id="{813422C6-2529-E442-A757-F25FBCE955D8}"/>
              </a:ext>
            </a:extLst>
          </p:cNvPr>
          <p:cNvSpPr/>
          <p:nvPr/>
        </p:nvSpPr>
        <p:spPr>
          <a:xfrm>
            <a:off x="1452464" y="2196062"/>
            <a:ext cx="2366665" cy="295275"/>
          </a:xfrm>
          <a:prstGeom prst="rect">
            <a:avLst/>
          </a:prstGeom>
          <a:noFill/>
          <a:ln/>
        </p:spPr>
        <p:txBody>
          <a:bodyPr wrap="none" lIns="0" tIns="0" rIns="0" bIns="0" rtlCol="0" anchor="t"/>
          <a:lstStyle/>
          <a:p>
            <a:pPr>
              <a:lnSpc>
                <a:spcPts val="2292"/>
              </a:lnSpc>
            </a:pPr>
            <a:r>
              <a:rPr lang="en-US" sz="2800" b="1" dirty="0">
                <a:solidFill>
                  <a:srgbClr val="000000"/>
                </a:solidFill>
                <a:latin typeface="Aptos" panose="020B0004020202020204" pitchFamily="34" charset="0"/>
                <a:ea typeface="Playfair Display Bold" pitchFamily="34" charset="-122"/>
                <a:cs typeface="Playfair Display Bold" pitchFamily="34" charset="-120"/>
              </a:rPr>
              <a:t>Reveals True Patterns</a:t>
            </a:r>
            <a:endParaRPr lang="en-US" sz="2800" dirty="0">
              <a:latin typeface="Aptos" panose="020B0004020202020204" pitchFamily="34" charset="0"/>
            </a:endParaRPr>
          </a:p>
        </p:txBody>
      </p:sp>
      <p:sp>
        <p:nvSpPr>
          <p:cNvPr id="7" name="Text 3">
            <a:extLst>
              <a:ext uri="{FF2B5EF4-FFF2-40B4-BE49-F238E27FC236}">
                <a16:creationId xmlns:a16="http://schemas.microsoft.com/office/drawing/2014/main" id="{E93E28AA-2D19-89E8-CFF8-BA20039AF031}"/>
              </a:ext>
            </a:extLst>
          </p:cNvPr>
          <p:cNvSpPr/>
          <p:nvPr/>
        </p:nvSpPr>
        <p:spPr>
          <a:xfrm>
            <a:off x="1452464" y="2604744"/>
            <a:ext cx="4702175" cy="604838"/>
          </a:xfrm>
          <a:prstGeom prst="rect">
            <a:avLst/>
          </a:prstGeom>
          <a:noFill/>
          <a:ln/>
        </p:spPr>
        <p:txBody>
          <a:bodyPr wrap="square" lIns="0" tIns="0" rIns="0" bIns="0" rtlCol="0" anchor="t"/>
          <a:lstStyle/>
          <a:p>
            <a:pPr>
              <a:lnSpc>
                <a:spcPts val="2375"/>
              </a:lnSpc>
            </a:pPr>
            <a:r>
              <a:rPr lang="en-US" sz="2000" dirty="0">
                <a:solidFill>
                  <a:srgbClr val="000000"/>
                </a:solidFill>
                <a:latin typeface="Aptos" panose="020B0004020202020204" pitchFamily="34" charset="0"/>
                <a:ea typeface="Inter" pitchFamily="34" charset="-122"/>
                <a:cs typeface="Inter" pitchFamily="34" charset="-120"/>
              </a:rPr>
              <a:t>Clean data lets you see actual trends without distortion from errors.</a:t>
            </a:r>
            <a:endParaRPr lang="en-US" sz="2000" dirty="0">
              <a:latin typeface="Aptos" panose="020B0004020202020204" pitchFamily="34" charset="0"/>
            </a:endParaRPr>
          </a:p>
        </p:txBody>
      </p:sp>
      <p:sp>
        <p:nvSpPr>
          <p:cNvPr id="8" name="Shape 4">
            <a:extLst>
              <a:ext uri="{FF2B5EF4-FFF2-40B4-BE49-F238E27FC236}">
                <a16:creationId xmlns:a16="http://schemas.microsoft.com/office/drawing/2014/main" id="{9F56CCA2-7459-5B70-D355-E215F619C22D}"/>
              </a:ext>
            </a:extLst>
          </p:cNvPr>
          <p:cNvSpPr/>
          <p:nvPr/>
        </p:nvSpPr>
        <p:spPr>
          <a:xfrm>
            <a:off x="6390878" y="2131173"/>
            <a:ext cx="425252" cy="425252"/>
          </a:xfrm>
          <a:prstGeom prst="roundRect">
            <a:avLst>
              <a:gd name="adj" fmla="val 18669"/>
            </a:avLst>
          </a:prstGeom>
          <a:solidFill>
            <a:srgbClr val="CCEDFF"/>
          </a:solidFill>
          <a:ln w="7620">
            <a:solidFill>
              <a:srgbClr val="B2D3E5"/>
            </a:solidFill>
            <a:prstDash val="solid"/>
          </a:ln>
        </p:spPr>
        <p:txBody>
          <a:bodyPr/>
          <a:lstStyle/>
          <a:p>
            <a:endParaRPr lang="en-US" sz="2000">
              <a:latin typeface="Aptos" panose="020B0004020202020204" pitchFamily="34" charset="0"/>
            </a:endParaRPr>
          </a:p>
        </p:txBody>
      </p:sp>
      <p:pic>
        <p:nvPicPr>
          <p:cNvPr id="9" name="Image 2" descr="preencoded.png">
            <a:extLst>
              <a:ext uri="{FF2B5EF4-FFF2-40B4-BE49-F238E27FC236}">
                <a16:creationId xmlns:a16="http://schemas.microsoft.com/office/drawing/2014/main" id="{ED368DF5-3954-5346-07EF-246781C16BC6}"/>
              </a:ext>
            </a:extLst>
          </p:cNvPr>
          <p:cNvPicPr>
            <a:picLocks noChangeAspect="1"/>
          </p:cNvPicPr>
          <p:nvPr/>
        </p:nvPicPr>
        <p:blipFill>
          <a:blip r:embed="rId3"/>
          <a:stretch>
            <a:fillRect/>
          </a:stretch>
        </p:blipFill>
        <p:spPr>
          <a:xfrm>
            <a:off x="6461771" y="2166594"/>
            <a:ext cx="283468" cy="354409"/>
          </a:xfrm>
          <a:prstGeom prst="rect">
            <a:avLst/>
          </a:prstGeom>
        </p:spPr>
      </p:pic>
      <p:sp>
        <p:nvSpPr>
          <p:cNvPr id="10" name="Text 5">
            <a:extLst>
              <a:ext uri="{FF2B5EF4-FFF2-40B4-BE49-F238E27FC236}">
                <a16:creationId xmlns:a16="http://schemas.microsoft.com/office/drawing/2014/main" id="{BAD0E8C9-3D0A-5EB7-04D0-7DB60021716C}"/>
              </a:ext>
            </a:extLst>
          </p:cNvPr>
          <p:cNvSpPr/>
          <p:nvPr/>
        </p:nvSpPr>
        <p:spPr>
          <a:xfrm>
            <a:off x="7005142" y="2196062"/>
            <a:ext cx="2362696" cy="295275"/>
          </a:xfrm>
          <a:prstGeom prst="rect">
            <a:avLst/>
          </a:prstGeom>
          <a:noFill/>
          <a:ln/>
        </p:spPr>
        <p:txBody>
          <a:bodyPr wrap="none" lIns="0" tIns="0" rIns="0" bIns="0" rtlCol="0" anchor="t"/>
          <a:lstStyle/>
          <a:p>
            <a:pPr>
              <a:lnSpc>
                <a:spcPts val="2292"/>
              </a:lnSpc>
            </a:pPr>
            <a:r>
              <a:rPr lang="en-US" sz="2800" b="1" dirty="0">
                <a:solidFill>
                  <a:srgbClr val="000000"/>
                </a:solidFill>
                <a:latin typeface="Aptos" panose="020B0004020202020204" pitchFamily="34" charset="0"/>
                <a:ea typeface="Playfair Display Bold" pitchFamily="34" charset="-122"/>
                <a:cs typeface="Playfair Display Bold" pitchFamily="34" charset="-120"/>
              </a:rPr>
              <a:t>Enables Integration</a:t>
            </a:r>
            <a:endParaRPr lang="en-US" sz="2800" dirty="0">
              <a:latin typeface="Aptos" panose="020B0004020202020204" pitchFamily="34" charset="0"/>
            </a:endParaRPr>
          </a:p>
        </p:txBody>
      </p:sp>
      <p:sp>
        <p:nvSpPr>
          <p:cNvPr id="11" name="Text 6">
            <a:extLst>
              <a:ext uri="{FF2B5EF4-FFF2-40B4-BE49-F238E27FC236}">
                <a16:creationId xmlns:a16="http://schemas.microsoft.com/office/drawing/2014/main" id="{319D3769-6D68-E1D3-536E-CA7EA77872FC}"/>
              </a:ext>
            </a:extLst>
          </p:cNvPr>
          <p:cNvSpPr/>
          <p:nvPr/>
        </p:nvSpPr>
        <p:spPr>
          <a:xfrm>
            <a:off x="7005142" y="2604744"/>
            <a:ext cx="4702175" cy="604838"/>
          </a:xfrm>
          <a:prstGeom prst="rect">
            <a:avLst/>
          </a:prstGeom>
          <a:noFill/>
          <a:ln/>
        </p:spPr>
        <p:txBody>
          <a:bodyPr wrap="square" lIns="0" tIns="0" rIns="0" bIns="0" rtlCol="0" anchor="t"/>
          <a:lstStyle/>
          <a:p>
            <a:pPr>
              <a:lnSpc>
                <a:spcPts val="2375"/>
              </a:lnSpc>
            </a:pPr>
            <a:r>
              <a:rPr lang="en-US" sz="2000" dirty="0">
                <a:solidFill>
                  <a:srgbClr val="000000"/>
                </a:solidFill>
                <a:latin typeface="Aptos" panose="020B0004020202020204" pitchFamily="34" charset="0"/>
                <a:ea typeface="Inter" pitchFamily="34" charset="-122"/>
                <a:cs typeface="Inter" pitchFamily="34" charset="-120"/>
              </a:rPr>
              <a:t>Standardized data can be combined with other sources for richer analysis.</a:t>
            </a:r>
            <a:endParaRPr lang="en-US" sz="2000" dirty="0">
              <a:latin typeface="Aptos" panose="020B0004020202020204" pitchFamily="34" charset="0"/>
            </a:endParaRPr>
          </a:p>
        </p:txBody>
      </p:sp>
      <p:sp>
        <p:nvSpPr>
          <p:cNvPr id="12" name="Shape 7">
            <a:extLst>
              <a:ext uri="{FF2B5EF4-FFF2-40B4-BE49-F238E27FC236}">
                <a16:creationId xmlns:a16="http://schemas.microsoft.com/office/drawing/2014/main" id="{9720B0BD-3CB4-D00D-AC95-9D650DDC4D3E}"/>
              </a:ext>
            </a:extLst>
          </p:cNvPr>
          <p:cNvSpPr/>
          <p:nvPr/>
        </p:nvSpPr>
        <p:spPr>
          <a:xfrm>
            <a:off x="838200" y="3587605"/>
            <a:ext cx="425252" cy="425252"/>
          </a:xfrm>
          <a:prstGeom prst="roundRect">
            <a:avLst>
              <a:gd name="adj" fmla="val 18669"/>
            </a:avLst>
          </a:prstGeom>
          <a:solidFill>
            <a:srgbClr val="CCEDFF"/>
          </a:solidFill>
          <a:ln w="7620">
            <a:solidFill>
              <a:srgbClr val="B2D3E5"/>
            </a:solidFill>
            <a:prstDash val="solid"/>
          </a:ln>
        </p:spPr>
        <p:txBody>
          <a:bodyPr/>
          <a:lstStyle/>
          <a:p>
            <a:endParaRPr lang="en-US" sz="2000">
              <a:latin typeface="Aptos" panose="020B0004020202020204" pitchFamily="34" charset="0"/>
            </a:endParaRPr>
          </a:p>
        </p:txBody>
      </p:sp>
      <p:pic>
        <p:nvPicPr>
          <p:cNvPr id="13" name="Image 3" descr="preencoded.png">
            <a:extLst>
              <a:ext uri="{FF2B5EF4-FFF2-40B4-BE49-F238E27FC236}">
                <a16:creationId xmlns:a16="http://schemas.microsoft.com/office/drawing/2014/main" id="{65C50464-AA89-8557-9FEB-8D0FBB212F1B}"/>
              </a:ext>
            </a:extLst>
          </p:cNvPr>
          <p:cNvPicPr>
            <a:picLocks noChangeAspect="1"/>
          </p:cNvPicPr>
          <p:nvPr/>
        </p:nvPicPr>
        <p:blipFill>
          <a:blip r:embed="rId4"/>
          <a:stretch>
            <a:fillRect/>
          </a:stretch>
        </p:blipFill>
        <p:spPr>
          <a:xfrm>
            <a:off x="909092" y="3623027"/>
            <a:ext cx="283468" cy="354409"/>
          </a:xfrm>
          <a:prstGeom prst="rect">
            <a:avLst/>
          </a:prstGeom>
        </p:spPr>
      </p:pic>
      <p:sp>
        <p:nvSpPr>
          <p:cNvPr id="14" name="Text 8">
            <a:extLst>
              <a:ext uri="{FF2B5EF4-FFF2-40B4-BE49-F238E27FC236}">
                <a16:creationId xmlns:a16="http://schemas.microsoft.com/office/drawing/2014/main" id="{9270525B-D0D7-596F-F51C-36072CDCBB0E}"/>
              </a:ext>
            </a:extLst>
          </p:cNvPr>
          <p:cNvSpPr/>
          <p:nvPr/>
        </p:nvSpPr>
        <p:spPr>
          <a:xfrm>
            <a:off x="1452464" y="3652494"/>
            <a:ext cx="2362696" cy="295275"/>
          </a:xfrm>
          <a:prstGeom prst="rect">
            <a:avLst/>
          </a:prstGeom>
          <a:noFill/>
          <a:ln/>
        </p:spPr>
        <p:txBody>
          <a:bodyPr wrap="none" lIns="0" tIns="0" rIns="0" bIns="0" rtlCol="0" anchor="t"/>
          <a:lstStyle/>
          <a:p>
            <a:pPr>
              <a:lnSpc>
                <a:spcPts val="2292"/>
              </a:lnSpc>
            </a:pPr>
            <a:r>
              <a:rPr lang="en-US" sz="2800" b="1" dirty="0">
                <a:solidFill>
                  <a:srgbClr val="000000"/>
                </a:solidFill>
                <a:latin typeface="Aptos" panose="020B0004020202020204" pitchFamily="34" charset="0"/>
                <a:ea typeface="Playfair Display Bold" pitchFamily="34" charset="-122"/>
                <a:cs typeface="Playfair Display Bold" pitchFamily="34" charset="-120"/>
              </a:rPr>
              <a:t>Saves Time Later</a:t>
            </a:r>
            <a:endParaRPr lang="en-US" sz="2800" dirty="0">
              <a:latin typeface="Aptos" panose="020B0004020202020204" pitchFamily="34" charset="0"/>
            </a:endParaRPr>
          </a:p>
        </p:txBody>
      </p:sp>
      <p:sp>
        <p:nvSpPr>
          <p:cNvPr id="15" name="Text 9">
            <a:extLst>
              <a:ext uri="{FF2B5EF4-FFF2-40B4-BE49-F238E27FC236}">
                <a16:creationId xmlns:a16="http://schemas.microsoft.com/office/drawing/2014/main" id="{ACD91E55-3A6B-4FFD-E304-77550796F4CC}"/>
              </a:ext>
            </a:extLst>
          </p:cNvPr>
          <p:cNvSpPr/>
          <p:nvPr/>
        </p:nvSpPr>
        <p:spPr>
          <a:xfrm>
            <a:off x="1452464" y="4061176"/>
            <a:ext cx="4702175" cy="604838"/>
          </a:xfrm>
          <a:prstGeom prst="rect">
            <a:avLst/>
          </a:prstGeom>
          <a:noFill/>
          <a:ln/>
        </p:spPr>
        <p:txBody>
          <a:bodyPr wrap="square" lIns="0" tIns="0" rIns="0" bIns="0" rtlCol="0" anchor="t"/>
          <a:lstStyle/>
          <a:p>
            <a:pPr>
              <a:lnSpc>
                <a:spcPts val="2375"/>
              </a:lnSpc>
            </a:pPr>
            <a:r>
              <a:rPr lang="en-US" sz="2000" dirty="0">
                <a:solidFill>
                  <a:srgbClr val="000000"/>
                </a:solidFill>
                <a:latin typeface="Aptos" panose="020B0004020202020204" pitchFamily="34" charset="0"/>
                <a:ea typeface="Inter" pitchFamily="34" charset="-122"/>
                <a:cs typeface="Inter" pitchFamily="34" charset="-120"/>
              </a:rPr>
              <a:t>Investing in cleaning prevents rework and troubleshooting during analysis.</a:t>
            </a:r>
            <a:endParaRPr lang="en-US" sz="2000" dirty="0">
              <a:latin typeface="Aptos" panose="020B0004020202020204" pitchFamily="34" charset="0"/>
            </a:endParaRPr>
          </a:p>
        </p:txBody>
      </p:sp>
      <p:sp>
        <p:nvSpPr>
          <p:cNvPr id="16" name="Shape 10">
            <a:extLst>
              <a:ext uri="{FF2B5EF4-FFF2-40B4-BE49-F238E27FC236}">
                <a16:creationId xmlns:a16="http://schemas.microsoft.com/office/drawing/2014/main" id="{DCA3D705-2DBF-BA63-8D0A-1C5A28ED8B1B}"/>
              </a:ext>
            </a:extLst>
          </p:cNvPr>
          <p:cNvSpPr/>
          <p:nvPr/>
        </p:nvSpPr>
        <p:spPr>
          <a:xfrm>
            <a:off x="6390878" y="3587605"/>
            <a:ext cx="425252" cy="425252"/>
          </a:xfrm>
          <a:prstGeom prst="roundRect">
            <a:avLst>
              <a:gd name="adj" fmla="val 18669"/>
            </a:avLst>
          </a:prstGeom>
          <a:solidFill>
            <a:srgbClr val="CCEDFF"/>
          </a:solidFill>
          <a:ln w="7620">
            <a:solidFill>
              <a:srgbClr val="B2D3E5"/>
            </a:solidFill>
            <a:prstDash val="solid"/>
          </a:ln>
        </p:spPr>
        <p:txBody>
          <a:bodyPr/>
          <a:lstStyle/>
          <a:p>
            <a:endParaRPr lang="en-US" sz="2000">
              <a:latin typeface="Aptos" panose="020B0004020202020204" pitchFamily="34" charset="0"/>
            </a:endParaRPr>
          </a:p>
        </p:txBody>
      </p:sp>
      <p:pic>
        <p:nvPicPr>
          <p:cNvPr id="17" name="Image 4" descr="preencoded.png">
            <a:extLst>
              <a:ext uri="{FF2B5EF4-FFF2-40B4-BE49-F238E27FC236}">
                <a16:creationId xmlns:a16="http://schemas.microsoft.com/office/drawing/2014/main" id="{11A01F05-C31B-8636-B0F8-014A61A35A15}"/>
              </a:ext>
            </a:extLst>
          </p:cNvPr>
          <p:cNvPicPr>
            <a:picLocks noChangeAspect="1"/>
          </p:cNvPicPr>
          <p:nvPr/>
        </p:nvPicPr>
        <p:blipFill>
          <a:blip r:embed="rId5"/>
          <a:stretch>
            <a:fillRect/>
          </a:stretch>
        </p:blipFill>
        <p:spPr>
          <a:xfrm>
            <a:off x="6461771" y="3623027"/>
            <a:ext cx="283468" cy="354409"/>
          </a:xfrm>
          <a:prstGeom prst="rect">
            <a:avLst/>
          </a:prstGeom>
        </p:spPr>
      </p:pic>
      <p:sp>
        <p:nvSpPr>
          <p:cNvPr id="18" name="Text 11">
            <a:extLst>
              <a:ext uri="{FF2B5EF4-FFF2-40B4-BE49-F238E27FC236}">
                <a16:creationId xmlns:a16="http://schemas.microsoft.com/office/drawing/2014/main" id="{227FE2B3-43D3-DC29-D263-2260A578F445}"/>
              </a:ext>
            </a:extLst>
          </p:cNvPr>
          <p:cNvSpPr/>
          <p:nvPr/>
        </p:nvSpPr>
        <p:spPr>
          <a:xfrm>
            <a:off x="7005142" y="3652494"/>
            <a:ext cx="2599233" cy="295275"/>
          </a:xfrm>
          <a:prstGeom prst="rect">
            <a:avLst/>
          </a:prstGeom>
          <a:noFill/>
          <a:ln/>
        </p:spPr>
        <p:txBody>
          <a:bodyPr wrap="none" lIns="0" tIns="0" rIns="0" bIns="0" rtlCol="0" anchor="t"/>
          <a:lstStyle/>
          <a:p>
            <a:pPr>
              <a:lnSpc>
                <a:spcPts val="2292"/>
              </a:lnSpc>
            </a:pPr>
            <a:r>
              <a:rPr lang="en-US" sz="2800" b="1" dirty="0">
                <a:solidFill>
                  <a:srgbClr val="000000"/>
                </a:solidFill>
                <a:latin typeface="Aptos" panose="020B0004020202020204" pitchFamily="34" charset="0"/>
                <a:ea typeface="Playfair Display Bold" pitchFamily="34" charset="-122"/>
                <a:cs typeface="Playfair Display Bold" pitchFamily="34" charset="-120"/>
              </a:rPr>
              <a:t>Improves Visualizations</a:t>
            </a:r>
            <a:endParaRPr lang="en-US" sz="2800" dirty="0">
              <a:latin typeface="Aptos" panose="020B0004020202020204" pitchFamily="34" charset="0"/>
            </a:endParaRPr>
          </a:p>
        </p:txBody>
      </p:sp>
      <p:sp>
        <p:nvSpPr>
          <p:cNvPr id="19" name="Text 12">
            <a:extLst>
              <a:ext uri="{FF2B5EF4-FFF2-40B4-BE49-F238E27FC236}">
                <a16:creationId xmlns:a16="http://schemas.microsoft.com/office/drawing/2014/main" id="{F7B1D77F-CDB6-7511-55DF-35770DA1B8A3}"/>
              </a:ext>
            </a:extLst>
          </p:cNvPr>
          <p:cNvSpPr/>
          <p:nvPr/>
        </p:nvSpPr>
        <p:spPr>
          <a:xfrm>
            <a:off x="7005142" y="4061176"/>
            <a:ext cx="4702175" cy="604838"/>
          </a:xfrm>
          <a:prstGeom prst="rect">
            <a:avLst/>
          </a:prstGeom>
          <a:noFill/>
          <a:ln/>
        </p:spPr>
        <p:txBody>
          <a:bodyPr wrap="square" lIns="0" tIns="0" rIns="0" bIns="0" rtlCol="0" anchor="t"/>
          <a:lstStyle/>
          <a:p>
            <a:pPr>
              <a:lnSpc>
                <a:spcPts val="2375"/>
              </a:lnSpc>
            </a:pPr>
            <a:r>
              <a:rPr lang="en-US" sz="2000" dirty="0">
                <a:solidFill>
                  <a:srgbClr val="000000"/>
                </a:solidFill>
                <a:latin typeface="Aptos" panose="020B0004020202020204" pitchFamily="34" charset="0"/>
                <a:ea typeface="Inter" pitchFamily="34" charset="-122"/>
                <a:cs typeface="Inter" pitchFamily="34" charset="-120"/>
              </a:rPr>
              <a:t>Charts and graphs based on clean data are more accurate and informative.</a:t>
            </a:r>
            <a:endParaRPr lang="en-US" sz="2000" dirty="0">
              <a:latin typeface="Aptos" panose="020B0004020202020204" pitchFamily="34" charset="0"/>
            </a:endParaRPr>
          </a:p>
        </p:txBody>
      </p:sp>
      <p:pic>
        <p:nvPicPr>
          <p:cNvPr id="20" name="Image 0" descr="preencoded.png">
            <a:extLst>
              <a:ext uri="{FF2B5EF4-FFF2-40B4-BE49-F238E27FC236}">
                <a16:creationId xmlns:a16="http://schemas.microsoft.com/office/drawing/2014/main" id="{2D1A3B22-0DEB-6FA0-4CFD-56556DDB3D38}"/>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1774063" y="5092853"/>
            <a:ext cx="8643873" cy="1675102"/>
          </a:xfrm>
          <a:prstGeom prst="rect">
            <a:avLst/>
          </a:prstGeom>
        </p:spPr>
      </p:pic>
    </p:spTree>
    <p:extLst>
      <p:ext uri="{BB962C8B-B14F-4D97-AF65-F5344CB8AC3E}">
        <p14:creationId xmlns:p14="http://schemas.microsoft.com/office/powerpoint/2010/main" val="175359099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542AA6-6069-3D46-C15D-FE719D8F8CD9}"/>
              </a:ext>
            </a:extLst>
          </p:cNvPr>
          <p:cNvSpPr>
            <a:spLocks noGrp="1"/>
          </p:cNvSpPr>
          <p:nvPr>
            <p:ph type="title"/>
          </p:nvPr>
        </p:nvSpPr>
        <p:spPr/>
        <p:txBody>
          <a:bodyPr/>
          <a:lstStyle/>
          <a:p>
            <a:r>
              <a:rPr lang="en-US" dirty="0"/>
              <a:t>Important Tip!</a:t>
            </a:r>
          </a:p>
        </p:txBody>
      </p:sp>
      <p:sp>
        <p:nvSpPr>
          <p:cNvPr id="3" name="Content Placeholder 2">
            <a:extLst>
              <a:ext uri="{FF2B5EF4-FFF2-40B4-BE49-F238E27FC236}">
                <a16:creationId xmlns:a16="http://schemas.microsoft.com/office/drawing/2014/main" id="{664112E0-66F1-3E14-E42C-0B248A7A160B}"/>
              </a:ext>
            </a:extLst>
          </p:cNvPr>
          <p:cNvSpPr>
            <a:spLocks noGrp="1"/>
          </p:cNvSpPr>
          <p:nvPr>
            <p:ph idx="1"/>
          </p:nvPr>
        </p:nvSpPr>
        <p:spPr>
          <a:xfrm>
            <a:off x="838200" y="2286369"/>
            <a:ext cx="10515600" cy="3572911"/>
          </a:xfrm>
        </p:spPr>
        <p:txBody>
          <a:bodyPr/>
          <a:lstStyle/>
          <a:p>
            <a:r>
              <a:rPr lang="en-US" dirty="0"/>
              <a:t>Creating a data dictionary and validating data against it helps maintain quality.</a:t>
            </a:r>
          </a:p>
        </p:txBody>
      </p:sp>
      <p:pic>
        <p:nvPicPr>
          <p:cNvPr id="5" name="Picture 4" descr="A table with numbers and words  AI-generated content may be incorrect.">
            <a:extLst>
              <a:ext uri="{FF2B5EF4-FFF2-40B4-BE49-F238E27FC236}">
                <a16:creationId xmlns:a16="http://schemas.microsoft.com/office/drawing/2014/main" id="{4572EB2D-1C21-48BA-16E9-1AD4B222709C}"/>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5329082" y="2982603"/>
            <a:ext cx="6224275" cy="1985572"/>
          </a:xfrm>
          <a:prstGeom prst="rect">
            <a:avLst/>
          </a:prstGeom>
        </p:spPr>
      </p:pic>
      <p:pic>
        <p:nvPicPr>
          <p:cNvPr id="7" name="Picture 6" descr="A screenshot of a computer  AI-generated content may be incorrect.">
            <a:extLst>
              <a:ext uri="{FF2B5EF4-FFF2-40B4-BE49-F238E27FC236}">
                <a16:creationId xmlns:a16="http://schemas.microsoft.com/office/drawing/2014/main" id="{7611E2E8-164E-8B9A-56D2-C6739B9AABAC}"/>
              </a:ext>
            </a:extLst>
          </p:cNvPr>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207085" y="4968175"/>
            <a:ext cx="11279753" cy="1844149"/>
          </a:xfrm>
          <a:prstGeom prst="rect">
            <a:avLst/>
          </a:prstGeom>
        </p:spPr>
      </p:pic>
      <p:sp>
        <p:nvSpPr>
          <p:cNvPr id="8" name="TextBox 7">
            <a:extLst>
              <a:ext uri="{FF2B5EF4-FFF2-40B4-BE49-F238E27FC236}">
                <a16:creationId xmlns:a16="http://schemas.microsoft.com/office/drawing/2014/main" id="{5C34297E-EF83-0711-1390-51E9E60AFFEB}"/>
              </a:ext>
            </a:extLst>
          </p:cNvPr>
          <p:cNvSpPr txBox="1"/>
          <p:nvPr/>
        </p:nvSpPr>
        <p:spPr>
          <a:xfrm>
            <a:off x="207085" y="4618191"/>
            <a:ext cx="1735027" cy="369332"/>
          </a:xfrm>
          <a:prstGeom prst="rect">
            <a:avLst/>
          </a:prstGeom>
        </p:spPr>
        <p:style>
          <a:lnRef idx="2">
            <a:schemeClr val="dk1"/>
          </a:lnRef>
          <a:fillRef idx="1">
            <a:schemeClr val="lt1"/>
          </a:fillRef>
          <a:effectRef idx="0">
            <a:schemeClr val="dk1"/>
          </a:effectRef>
          <a:fontRef idx="minor">
            <a:schemeClr val="dk1"/>
          </a:fontRef>
        </p:style>
        <p:txBody>
          <a:bodyPr wrap="none" rtlCol="0">
            <a:spAutoFit/>
          </a:bodyPr>
          <a:lstStyle/>
          <a:p>
            <a:r>
              <a:rPr lang="en-US" dirty="0"/>
              <a:t>Data Dictionary</a:t>
            </a:r>
          </a:p>
        </p:txBody>
      </p:sp>
    </p:spTree>
    <p:extLst>
      <p:ext uri="{BB962C8B-B14F-4D97-AF65-F5344CB8AC3E}">
        <p14:creationId xmlns:p14="http://schemas.microsoft.com/office/powerpoint/2010/main" val="374321734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94AB6E-3D67-F3C5-F95E-38161958C4A0}"/>
              </a:ext>
            </a:extLst>
          </p:cNvPr>
          <p:cNvSpPr>
            <a:spLocks noGrp="1"/>
          </p:cNvSpPr>
          <p:nvPr>
            <p:ph type="title"/>
          </p:nvPr>
        </p:nvSpPr>
        <p:spPr>
          <a:xfrm>
            <a:off x="4991724" y="553839"/>
            <a:ext cx="6032292" cy="1325563"/>
          </a:xfrm>
        </p:spPr>
        <p:txBody>
          <a:bodyPr/>
          <a:lstStyle/>
          <a:p>
            <a:r>
              <a:rPr lang="en-US" dirty="0"/>
              <a:t>Professional Data Cleaning Terms</a:t>
            </a:r>
          </a:p>
        </p:txBody>
      </p:sp>
      <p:pic>
        <p:nvPicPr>
          <p:cNvPr id="4" name="Image 0" descr="preencoded.png">
            <a:extLst>
              <a:ext uri="{FF2B5EF4-FFF2-40B4-BE49-F238E27FC236}">
                <a16:creationId xmlns:a16="http://schemas.microsoft.com/office/drawing/2014/main" id="{A1FC3036-0CAC-4F97-9065-24E9BF15111C}"/>
              </a:ext>
            </a:extLst>
          </p:cNvPr>
          <p:cNvPicPr>
            <a:picLocks noChangeAspect="1"/>
          </p:cNvPicPr>
          <p:nvPr/>
        </p:nvPicPr>
        <p:blipFill>
          <a:blip r:embed="rId2"/>
          <a:stretch>
            <a:fillRect/>
          </a:stretch>
        </p:blipFill>
        <p:spPr>
          <a:xfrm>
            <a:off x="0" y="0"/>
            <a:ext cx="4572000" cy="6858000"/>
          </a:xfrm>
          <a:prstGeom prst="rect">
            <a:avLst/>
          </a:prstGeom>
        </p:spPr>
      </p:pic>
      <p:pic>
        <p:nvPicPr>
          <p:cNvPr id="5" name="Image 1" descr="preencoded.png">
            <a:extLst>
              <a:ext uri="{FF2B5EF4-FFF2-40B4-BE49-F238E27FC236}">
                <a16:creationId xmlns:a16="http://schemas.microsoft.com/office/drawing/2014/main" id="{E4E8D820-150F-017A-AC09-655665F1D88F}"/>
              </a:ext>
            </a:extLst>
          </p:cNvPr>
          <p:cNvPicPr>
            <a:picLocks noChangeAspect="1"/>
          </p:cNvPicPr>
          <p:nvPr/>
        </p:nvPicPr>
        <p:blipFill>
          <a:blip r:embed="rId3"/>
          <a:stretch>
            <a:fillRect/>
          </a:stretch>
        </p:blipFill>
        <p:spPr>
          <a:xfrm>
            <a:off x="5182096" y="2106414"/>
            <a:ext cx="435769" cy="435768"/>
          </a:xfrm>
          <a:prstGeom prst="rect">
            <a:avLst/>
          </a:prstGeom>
        </p:spPr>
      </p:pic>
      <p:sp>
        <p:nvSpPr>
          <p:cNvPr id="6" name="Text 1">
            <a:extLst>
              <a:ext uri="{FF2B5EF4-FFF2-40B4-BE49-F238E27FC236}">
                <a16:creationId xmlns:a16="http://schemas.microsoft.com/office/drawing/2014/main" id="{8D1B2F07-77F2-B1BC-33C4-8F34AF1E53B5}"/>
              </a:ext>
            </a:extLst>
          </p:cNvPr>
          <p:cNvSpPr/>
          <p:nvPr/>
        </p:nvSpPr>
        <p:spPr>
          <a:xfrm>
            <a:off x="5182096" y="2716510"/>
            <a:ext cx="1987947" cy="272356"/>
          </a:xfrm>
          <a:prstGeom prst="rect">
            <a:avLst/>
          </a:prstGeom>
          <a:noFill/>
          <a:ln/>
        </p:spPr>
        <p:txBody>
          <a:bodyPr wrap="none" lIns="0" tIns="0" rIns="0" bIns="0" rtlCol="0" anchor="t"/>
          <a:lstStyle/>
          <a:p>
            <a:pPr>
              <a:lnSpc>
                <a:spcPts val="2125"/>
              </a:lnSpc>
            </a:pPr>
            <a:r>
              <a:rPr lang="en-US" sz="2000" b="1" dirty="0">
                <a:solidFill>
                  <a:srgbClr val="000000"/>
                </a:solidFill>
                <a:latin typeface="Aptos" panose="020B0004020202020204" pitchFamily="34" charset="0"/>
                <a:ea typeface="Playfair Display Bold" pitchFamily="34" charset="-122"/>
                <a:cs typeface="Playfair Display Bold" pitchFamily="34" charset="-120"/>
              </a:rPr>
              <a:t>ETL</a:t>
            </a:r>
            <a:endParaRPr lang="en-US" sz="2000" dirty="0">
              <a:latin typeface="Aptos" panose="020B0004020202020204" pitchFamily="34" charset="0"/>
            </a:endParaRPr>
          </a:p>
        </p:txBody>
      </p:sp>
      <p:sp>
        <p:nvSpPr>
          <p:cNvPr id="7" name="Text 2">
            <a:extLst>
              <a:ext uri="{FF2B5EF4-FFF2-40B4-BE49-F238E27FC236}">
                <a16:creationId xmlns:a16="http://schemas.microsoft.com/office/drawing/2014/main" id="{F5886E7D-CFB5-7153-A940-85A9E03E0A2A}"/>
              </a:ext>
            </a:extLst>
          </p:cNvPr>
          <p:cNvSpPr/>
          <p:nvPr/>
        </p:nvSpPr>
        <p:spPr>
          <a:xfrm>
            <a:off x="5182096" y="3093443"/>
            <a:ext cx="1987947" cy="1115616"/>
          </a:xfrm>
          <a:prstGeom prst="rect">
            <a:avLst/>
          </a:prstGeom>
          <a:noFill/>
          <a:ln/>
        </p:spPr>
        <p:txBody>
          <a:bodyPr wrap="square" lIns="0" tIns="0" rIns="0" bIns="0" rtlCol="0" anchor="t"/>
          <a:lstStyle/>
          <a:p>
            <a:pPr>
              <a:lnSpc>
                <a:spcPts val="2167"/>
              </a:lnSpc>
            </a:pPr>
            <a:r>
              <a:rPr lang="en-US" sz="1600" dirty="0">
                <a:solidFill>
                  <a:srgbClr val="000000"/>
                </a:solidFill>
                <a:latin typeface="Aptos" panose="020B0004020202020204" pitchFamily="34" charset="0"/>
                <a:ea typeface="Inter" pitchFamily="34" charset="-122"/>
                <a:cs typeface="Inter" pitchFamily="34" charset="-120"/>
              </a:rPr>
              <a:t>Extract, Transform, Load — the pipeline that moves data from source systems (databases, APIs) through cleaning and transformation into analytical stores. A broken ETL job is often the root cause of data quality incidents.</a:t>
            </a:r>
            <a:endParaRPr lang="en-US" sz="1600" dirty="0">
              <a:latin typeface="Aptos" panose="020B0004020202020204" pitchFamily="34" charset="0"/>
            </a:endParaRPr>
          </a:p>
        </p:txBody>
      </p:sp>
      <p:pic>
        <p:nvPicPr>
          <p:cNvPr id="8" name="Image 2" descr="preencoded.png">
            <a:extLst>
              <a:ext uri="{FF2B5EF4-FFF2-40B4-BE49-F238E27FC236}">
                <a16:creationId xmlns:a16="http://schemas.microsoft.com/office/drawing/2014/main" id="{0935CA75-1011-9711-44CD-B69529A25D09}"/>
              </a:ext>
            </a:extLst>
          </p:cNvPr>
          <p:cNvPicPr>
            <a:picLocks noChangeAspect="1"/>
          </p:cNvPicPr>
          <p:nvPr/>
        </p:nvPicPr>
        <p:blipFill>
          <a:blip r:embed="rId4"/>
          <a:stretch>
            <a:fillRect/>
          </a:stretch>
        </p:blipFill>
        <p:spPr>
          <a:xfrm>
            <a:off x="7387928" y="2106414"/>
            <a:ext cx="435769" cy="435768"/>
          </a:xfrm>
          <a:prstGeom prst="rect">
            <a:avLst/>
          </a:prstGeom>
        </p:spPr>
      </p:pic>
      <p:sp>
        <p:nvSpPr>
          <p:cNvPr id="9" name="Text 3">
            <a:extLst>
              <a:ext uri="{FF2B5EF4-FFF2-40B4-BE49-F238E27FC236}">
                <a16:creationId xmlns:a16="http://schemas.microsoft.com/office/drawing/2014/main" id="{FBE14A30-227A-C778-801C-E4F0507C44F1}"/>
              </a:ext>
            </a:extLst>
          </p:cNvPr>
          <p:cNvSpPr/>
          <p:nvPr/>
        </p:nvSpPr>
        <p:spPr>
          <a:xfrm>
            <a:off x="7387928" y="2716510"/>
            <a:ext cx="1988046" cy="272356"/>
          </a:xfrm>
          <a:prstGeom prst="rect">
            <a:avLst/>
          </a:prstGeom>
          <a:noFill/>
          <a:ln/>
        </p:spPr>
        <p:txBody>
          <a:bodyPr wrap="none" lIns="0" tIns="0" rIns="0" bIns="0" rtlCol="0" anchor="t"/>
          <a:lstStyle/>
          <a:p>
            <a:pPr>
              <a:lnSpc>
                <a:spcPts val="2125"/>
              </a:lnSpc>
            </a:pPr>
            <a:r>
              <a:rPr lang="en-US" sz="2000" b="1" dirty="0">
                <a:solidFill>
                  <a:srgbClr val="000000"/>
                </a:solidFill>
                <a:latin typeface="Aptos" panose="020B0004020202020204" pitchFamily="34" charset="0"/>
                <a:ea typeface="Playfair Display Bold" pitchFamily="34" charset="-122"/>
                <a:cs typeface="Playfair Display Bold" pitchFamily="34" charset="-120"/>
              </a:rPr>
              <a:t>Data Wrangling</a:t>
            </a:r>
            <a:endParaRPr lang="en-US" sz="2000" dirty="0">
              <a:latin typeface="Aptos" panose="020B0004020202020204" pitchFamily="34" charset="0"/>
            </a:endParaRPr>
          </a:p>
        </p:txBody>
      </p:sp>
      <p:sp>
        <p:nvSpPr>
          <p:cNvPr id="10" name="Text 4">
            <a:extLst>
              <a:ext uri="{FF2B5EF4-FFF2-40B4-BE49-F238E27FC236}">
                <a16:creationId xmlns:a16="http://schemas.microsoft.com/office/drawing/2014/main" id="{C0640C4A-24D2-403B-686E-3AC87F3B7E11}"/>
              </a:ext>
            </a:extLst>
          </p:cNvPr>
          <p:cNvSpPr/>
          <p:nvPr/>
        </p:nvSpPr>
        <p:spPr>
          <a:xfrm>
            <a:off x="7387928" y="3093442"/>
            <a:ext cx="1988046" cy="836712"/>
          </a:xfrm>
          <a:prstGeom prst="rect">
            <a:avLst/>
          </a:prstGeom>
          <a:noFill/>
          <a:ln/>
        </p:spPr>
        <p:txBody>
          <a:bodyPr wrap="square" lIns="0" tIns="0" rIns="0" bIns="0" rtlCol="0" anchor="t"/>
          <a:lstStyle/>
          <a:p>
            <a:pPr>
              <a:lnSpc>
                <a:spcPts val="2167"/>
              </a:lnSpc>
            </a:pPr>
            <a:r>
              <a:rPr lang="en-US" sz="1600" dirty="0">
                <a:solidFill>
                  <a:srgbClr val="000000"/>
                </a:solidFill>
                <a:latin typeface="Aptos" panose="020B0004020202020204" pitchFamily="34" charset="0"/>
                <a:ea typeface="Inter" pitchFamily="34" charset="-122"/>
                <a:cs typeface="Inter" pitchFamily="34" charset="-120"/>
              </a:rPr>
              <a:t>Informal term for the hands-on work of cleaning — filtering, reshaping, joining, and transforming raw data until it’s fit for analysis. In Python: pandas; in R: dplyr/tidyr.</a:t>
            </a:r>
            <a:endParaRPr lang="en-US" sz="1600" dirty="0">
              <a:latin typeface="Aptos" panose="020B0004020202020204" pitchFamily="34" charset="0"/>
            </a:endParaRPr>
          </a:p>
        </p:txBody>
      </p:sp>
      <p:pic>
        <p:nvPicPr>
          <p:cNvPr id="11" name="Image 3" descr="preencoded.png">
            <a:extLst>
              <a:ext uri="{FF2B5EF4-FFF2-40B4-BE49-F238E27FC236}">
                <a16:creationId xmlns:a16="http://schemas.microsoft.com/office/drawing/2014/main" id="{6BB26D0F-DB65-5431-EC52-488E82EF3939}"/>
              </a:ext>
            </a:extLst>
          </p:cNvPr>
          <p:cNvPicPr>
            <a:picLocks noChangeAspect="1"/>
          </p:cNvPicPr>
          <p:nvPr/>
        </p:nvPicPr>
        <p:blipFill>
          <a:blip r:embed="rId5"/>
          <a:stretch>
            <a:fillRect/>
          </a:stretch>
        </p:blipFill>
        <p:spPr>
          <a:xfrm>
            <a:off x="9593858" y="2106414"/>
            <a:ext cx="435769" cy="435768"/>
          </a:xfrm>
          <a:prstGeom prst="rect">
            <a:avLst/>
          </a:prstGeom>
        </p:spPr>
      </p:pic>
      <p:sp>
        <p:nvSpPr>
          <p:cNvPr id="12" name="Text 5">
            <a:extLst>
              <a:ext uri="{FF2B5EF4-FFF2-40B4-BE49-F238E27FC236}">
                <a16:creationId xmlns:a16="http://schemas.microsoft.com/office/drawing/2014/main" id="{84F3CF03-AE4A-7152-D31C-1B5C2A81F351}"/>
              </a:ext>
            </a:extLst>
          </p:cNvPr>
          <p:cNvSpPr/>
          <p:nvPr/>
        </p:nvSpPr>
        <p:spPr>
          <a:xfrm>
            <a:off x="9593858" y="2716510"/>
            <a:ext cx="1988046" cy="272356"/>
          </a:xfrm>
          <a:prstGeom prst="rect">
            <a:avLst/>
          </a:prstGeom>
          <a:noFill/>
          <a:ln/>
        </p:spPr>
        <p:txBody>
          <a:bodyPr wrap="none" lIns="0" tIns="0" rIns="0" bIns="0" rtlCol="0" anchor="t"/>
          <a:lstStyle/>
          <a:p>
            <a:pPr>
              <a:lnSpc>
                <a:spcPts val="2125"/>
              </a:lnSpc>
            </a:pPr>
            <a:r>
              <a:rPr lang="en-US" sz="2000" b="1" dirty="0">
                <a:solidFill>
                  <a:srgbClr val="000000"/>
                </a:solidFill>
                <a:latin typeface="Aptos" panose="020B0004020202020204" pitchFamily="34" charset="0"/>
                <a:ea typeface="Playfair Display Bold" pitchFamily="34" charset="-122"/>
                <a:cs typeface="Playfair Display Bold" pitchFamily="34" charset="-120"/>
              </a:rPr>
              <a:t>Data Profiling</a:t>
            </a:r>
            <a:endParaRPr lang="en-US" sz="2000" dirty="0">
              <a:latin typeface="Aptos" panose="020B0004020202020204" pitchFamily="34" charset="0"/>
            </a:endParaRPr>
          </a:p>
        </p:txBody>
      </p:sp>
      <p:sp>
        <p:nvSpPr>
          <p:cNvPr id="13" name="Text 6">
            <a:extLst>
              <a:ext uri="{FF2B5EF4-FFF2-40B4-BE49-F238E27FC236}">
                <a16:creationId xmlns:a16="http://schemas.microsoft.com/office/drawing/2014/main" id="{758BCCE1-67BA-8349-67AB-E32A7DBED00C}"/>
              </a:ext>
            </a:extLst>
          </p:cNvPr>
          <p:cNvSpPr/>
          <p:nvPr/>
        </p:nvSpPr>
        <p:spPr>
          <a:xfrm>
            <a:off x="9593858" y="3093442"/>
            <a:ext cx="1988046" cy="836712"/>
          </a:xfrm>
          <a:prstGeom prst="rect">
            <a:avLst/>
          </a:prstGeom>
          <a:noFill/>
          <a:ln/>
        </p:spPr>
        <p:txBody>
          <a:bodyPr wrap="square" lIns="0" tIns="0" rIns="0" bIns="0" rtlCol="0" anchor="t"/>
          <a:lstStyle/>
          <a:p>
            <a:pPr>
              <a:lnSpc>
                <a:spcPts val="2167"/>
              </a:lnSpc>
            </a:pPr>
            <a:r>
              <a:rPr lang="en-US" sz="1600" dirty="0">
                <a:solidFill>
                  <a:srgbClr val="000000"/>
                </a:solidFill>
                <a:latin typeface="Aptos" panose="020B0004020202020204" pitchFamily="34" charset="0"/>
                <a:ea typeface="Inter" pitchFamily="34" charset="-122"/>
                <a:cs typeface="Inter" pitchFamily="34" charset="-120"/>
              </a:rPr>
              <a:t>Systematic examination of a dataset to understand structure (schemas, dtypes), content (distributions, frequency tables), and quality (missing rates, outliers). Always the first step before cleaning.</a:t>
            </a:r>
            <a:endParaRPr lang="en-US" sz="1600" dirty="0">
              <a:latin typeface="Aptos" panose="020B0004020202020204" pitchFamily="34" charset="0"/>
            </a:endParaRPr>
          </a:p>
        </p:txBody>
      </p:sp>
      <p:pic>
        <p:nvPicPr>
          <p:cNvPr id="14" name="Image 4" descr="preencoded.png">
            <a:extLst>
              <a:ext uri="{FF2B5EF4-FFF2-40B4-BE49-F238E27FC236}">
                <a16:creationId xmlns:a16="http://schemas.microsoft.com/office/drawing/2014/main" id="{9E0613CD-19FB-9301-69EE-68747FAD182A}"/>
              </a:ext>
            </a:extLst>
          </p:cNvPr>
          <p:cNvPicPr>
            <a:picLocks noChangeAspect="1"/>
          </p:cNvPicPr>
          <p:nvPr/>
        </p:nvPicPr>
        <p:blipFill>
          <a:blip r:embed="rId6"/>
          <a:stretch>
            <a:fillRect/>
          </a:stretch>
        </p:blipFill>
        <p:spPr>
          <a:xfrm>
            <a:off x="5182096" y="4557713"/>
            <a:ext cx="435769" cy="435768"/>
          </a:xfrm>
          <a:prstGeom prst="rect">
            <a:avLst/>
          </a:prstGeom>
        </p:spPr>
      </p:pic>
      <p:sp>
        <p:nvSpPr>
          <p:cNvPr id="15" name="Text 7">
            <a:extLst>
              <a:ext uri="{FF2B5EF4-FFF2-40B4-BE49-F238E27FC236}">
                <a16:creationId xmlns:a16="http://schemas.microsoft.com/office/drawing/2014/main" id="{DFF8DCEB-32BB-4540-82D0-D243D20E0E7C}"/>
              </a:ext>
            </a:extLst>
          </p:cNvPr>
          <p:cNvSpPr/>
          <p:nvPr/>
        </p:nvSpPr>
        <p:spPr>
          <a:xfrm>
            <a:off x="5182096" y="5167809"/>
            <a:ext cx="1987947" cy="272356"/>
          </a:xfrm>
          <a:prstGeom prst="rect">
            <a:avLst/>
          </a:prstGeom>
          <a:noFill/>
          <a:ln/>
        </p:spPr>
        <p:txBody>
          <a:bodyPr wrap="none" lIns="0" tIns="0" rIns="0" bIns="0" rtlCol="0" anchor="t"/>
          <a:lstStyle/>
          <a:p>
            <a:pPr>
              <a:lnSpc>
                <a:spcPts val="2125"/>
              </a:lnSpc>
            </a:pPr>
            <a:r>
              <a:rPr lang="en-US" sz="2000" b="1" dirty="0">
                <a:solidFill>
                  <a:srgbClr val="000000"/>
                </a:solidFill>
                <a:latin typeface="Aptos" panose="020B0004020202020204" pitchFamily="34" charset="0"/>
                <a:ea typeface="Playfair Display Bold" pitchFamily="34" charset="-122"/>
                <a:cs typeface="Playfair Display Bold" pitchFamily="34" charset="-120"/>
              </a:rPr>
              <a:t>Data Preprocessing</a:t>
            </a:r>
            <a:endParaRPr lang="en-US" sz="2000" dirty="0">
              <a:latin typeface="Aptos" panose="020B0004020202020204" pitchFamily="34" charset="0"/>
            </a:endParaRPr>
          </a:p>
        </p:txBody>
      </p:sp>
      <p:sp>
        <p:nvSpPr>
          <p:cNvPr id="16" name="Text 8">
            <a:extLst>
              <a:ext uri="{FF2B5EF4-FFF2-40B4-BE49-F238E27FC236}">
                <a16:creationId xmlns:a16="http://schemas.microsoft.com/office/drawing/2014/main" id="{242CF6DE-6890-7A00-7C64-3D8B2CB8E0C3}"/>
              </a:ext>
            </a:extLst>
          </p:cNvPr>
          <p:cNvSpPr/>
          <p:nvPr/>
        </p:nvSpPr>
        <p:spPr>
          <a:xfrm>
            <a:off x="5182096" y="5544741"/>
            <a:ext cx="1987947" cy="557808"/>
          </a:xfrm>
          <a:prstGeom prst="rect">
            <a:avLst/>
          </a:prstGeom>
          <a:noFill/>
          <a:ln/>
        </p:spPr>
        <p:txBody>
          <a:bodyPr wrap="square" lIns="0" tIns="0" rIns="0" bIns="0" rtlCol="0" anchor="t"/>
          <a:lstStyle/>
          <a:p>
            <a:pPr>
              <a:lnSpc>
                <a:spcPts val="2167"/>
              </a:lnSpc>
            </a:pPr>
            <a:r>
              <a:rPr lang="en-US" sz="1600" dirty="0">
                <a:solidFill>
                  <a:srgbClr val="000000"/>
                </a:solidFill>
                <a:latin typeface="Aptos" panose="020B0004020202020204" pitchFamily="34" charset="0"/>
                <a:ea typeface="Inter" pitchFamily="34" charset="-122"/>
                <a:cs typeface="Inter" pitchFamily="34" charset="-120"/>
              </a:rPr>
              <a:t>Broader than wrangling: includes feature engineering, normalization, encoding, and train/test splitting. In ML workflows, preprocessing pipelines are often codified to ensure consistency between training and production data.</a:t>
            </a:r>
            <a:endParaRPr lang="en-US" sz="1600" dirty="0">
              <a:latin typeface="Aptos" panose="020B0004020202020204" pitchFamily="34" charset="0"/>
            </a:endParaRPr>
          </a:p>
        </p:txBody>
      </p:sp>
    </p:spTree>
    <p:extLst>
      <p:ext uri="{BB962C8B-B14F-4D97-AF65-F5344CB8AC3E}">
        <p14:creationId xmlns:p14="http://schemas.microsoft.com/office/powerpoint/2010/main" val="200377989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588F42-5118-E89D-1BCD-A9B4812B7903}"/>
              </a:ext>
            </a:extLst>
          </p:cNvPr>
          <p:cNvSpPr>
            <a:spLocks noGrp="1"/>
          </p:cNvSpPr>
          <p:nvPr>
            <p:ph type="title"/>
          </p:nvPr>
        </p:nvSpPr>
        <p:spPr/>
        <p:txBody>
          <a:bodyPr/>
          <a:lstStyle/>
          <a:p>
            <a:r>
              <a:rPr lang="en-US" dirty="0"/>
              <a:t>When You Write a Report</a:t>
            </a:r>
          </a:p>
        </p:txBody>
      </p:sp>
      <p:sp>
        <p:nvSpPr>
          <p:cNvPr id="3" name="Content Placeholder 2">
            <a:extLst>
              <a:ext uri="{FF2B5EF4-FFF2-40B4-BE49-F238E27FC236}">
                <a16:creationId xmlns:a16="http://schemas.microsoft.com/office/drawing/2014/main" id="{318E1ECA-A524-4BFB-2511-8A68E8C263E7}"/>
              </a:ext>
            </a:extLst>
          </p:cNvPr>
          <p:cNvSpPr>
            <a:spLocks noGrp="1"/>
          </p:cNvSpPr>
          <p:nvPr>
            <p:ph idx="1"/>
          </p:nvPr>
        </p:nvSpPr>
        <p:spPr>
          <a:xfrm>
            <a:off x="838200" y="2604051"/>
            <a:ext cx="6462010" cy="3572911"/>
          </a:xfrm>
        </p:spPr>
        <p:txBody>
          <a:bodyPr>
            <a:normAutofit fontScale="92500"/>
          </a:bodyPr>
          <a:lstStyle/>
          <a:p>
            <a:r>
              <a:rPr lang="en-US" dirty="0"/>
              <a:t>Explain the cleaning process. Such as;</a:t>
            </a:r>
          </a:p>
          <a:p>
            <a:r>
              <a:rPr lang="en-US" dirty="0"/>
              <a:t xml:space="preserve">“After cleaning the data, we found and corrected 5 data entry errors and filled 3% missing values using domain-appropriate methods. The cleaned dataset of 500 responses was then analyzed…”. </a:t>
            </a:r>
          </a:p>
          <a:p>
            <a:r>
              <a:rPr lang="en-US" dirty="0"/>
              <a:t>Professional standard: always report (1) raw dataset dimensions, (2) final cleaned dimensions, (3) what was removed and why, (4) how missing values were handled (method and imputed count), (5) any assumptions made. Omitting this is a reproducibility failure.</a:t>
            </a:r>
          </a:p>
          <a:p>
            <a:endParaRPr lang="en-US" dirty="0"/>
          </a:p>
        </p:txBody>
      </p:sp>
      <p:pic>
        <p:nvPicPr>
          <p:cNvPr id="4" name="Picture 3">
            <a:extLst>
              <a:ext uri="{FF2B5EF4-FFF2-40B4-BE49-F238E27FC236}">
                <a16:creationId xmlns:a16="http://schemas.microsoft.com/office/drawing/2014/main" id="{107CB3DE-8178-A215-E621-C0C15250E7BE}"/>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7300210" y="2827157"/>
            <a:ext cx="4690047" cy="3126698"/>
          </a:xfrm>
          <a:prstGeom prst="rect">
            <a:avLst/>
          </a:prstGeom>
        </p:spPr>
      </p:pic>
    </p:spTree>
    <p:extLst>
      <p:ext uri="{BB962C8B-B14F-4D97-AF65-F5344CB8AC3E}">
        <p14:creationId xmlns:p14="http://schemas.microsoft.com/office/powerpoint/2010/main" val="191853261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10D77E-C5C7-6264-4D53-31C9C5910A8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9B85282-B3F4-8472-4371-F309CF2149BB}"/>
              </a:ext>
            </a:extLst>
          </p:cNvPr>
          <p:cNvSpPr>
            <a:spLocks noGrp="1"/>
          </p:cNvSpPr>
          <p:nvPr>
            <p:ph type="ctrTitle"/>
          </p:nvPr>
        </p:nvSpPr>
        <p:spPr/>
        <p:txBody>
          <a:bodyPr/>
          <a:lstStyle/>
          <a:p>
            <a:r>
              <a:rPr lang="en-US" dirty="0"/>
              <a:t>Chapter 6</a:t>
            </a:r>
          </a:p>
        </p:txBody>
      </p:sp>
      <p:sp>
        <p:nvSpPr>
          <p:cNvPr id="3" name="Subtitle 2">
            <a:extLst>
              <a:ext uri="{FF2B5EF4-FFF2-40B4-BE49-F238E27FC236}">
                <a16:creationId xmlns:a16="http://schemas.microsoft.com/office/drawing/2014/main" id="{59867402-57CE-4F77-B305-CAE75C5DAE11}"/>
              </a:ext>
            </a:extLst>
          </p:cNvPr>
          <p:cNvSpPr>
            <a:spLocks noGrp="1"/>
          </p:cNvSpPr>
          <p:nvPr>
            <p:ph type="subTitle" idx="1"/>
          </p:nvPr>
        </p:nvSpPr>
        <p:spPr/>
        <p:txBody>
          <a:bodyPr/>
          <a:lstStyle/>
          <a:p>
            <a:r>
              <a:rPr lang="en-US" dirty="0"/>
              <a:t>Group Activity</a:t>
            </a:r>
          </a:p>
          <a:p>
            <a:endParaRPr lang="en-US" dirty="0"/>
          </a:p>
        </p:txBody>
      </p:sp>
    </p:spTree>
    <p:extLst>
      <p:ext uri="{BB962C8B-B14F-4D97-AF65-F5344CB8AC3E}">
        <p14:creationId xmlns:p14="http://schemas.microsoft.com/office/powerpoint/2010/main" val="109465726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9E4751-0EC2-1123-C030-4B0016BEE278}"/>
              </a:ext>
            </a:extLst>
          </p:cNvPr>
          <p:cNvSpPr>
            <a:spLocks noGrp="1"/>
          </p:cNvSpPr>
          <p:nvPr>
            <p:ph type="title"/>
          </p:nvPr>
        </p:nvSpPr>
        <p:spPr/>
        <p:txBody>
          <a:bodyPr/>
          <a:lstStyle/>
          <a:p>
            <a:r>
              <a:rPr lang="en-US" dirty="0"/>
              <a:t>Group Activity – Data Cleaning</a:t>
            </a:r>
          </a:p>
        </p:txBody>
      </p:sp>
      <p:sp>
        <p:nvSpPr>
          <p:cNvPr id="3" name="Content Placeholder 2">
            <a:extLst>
              <a:ext uri="{FF2B5EF4-FFF2-40B4-BE49-F238E27FC236}">
                <a16:creationId xmlns:a16="http://schemas.microsoft.com/office/drawing/2014/main" id="{87B9A39C-B2C5-73CA-DA3E-BB1C760620ED}"/>
              </a:ext>
            </a:extLst>
          </p:cNvPr>
          <p:cNvSpPr>
            <a:spLocks noGrp="1"/>
          </p:cNvSpPr>
          <p:nvPr>
            <p:ph idx="1"/>
          </p:nvPr>
        </p:nvSpPr>
        <p:spPr/>
        <p:txBody>
          <a:bodyPr/>
          <a:lstStyle/>
          <a:p>
            <a:r>
              <a:rPr lang="en-US" dirty="0"/>
              <a:t xml:space="preserve">Your Data: </a:t>
            </a:r>
            <a:r>
              <a:rPr lang="en-US" dirty="0" err="1"/>
              <a:t>messy_school_data.csv</a:t>
            </a:r>
            <a:r>
              <a:rPr lang="en-US" dirty="0"/>
              <a:t xml:space="preserve"> </a:t>
            </a:r>
          </a:p>
          <a:p>
            <a:r>
              <a:rPr lang="en-US" dirty="0"/>
              <a:t xml:space="preserve">Use either Python or R. </a:t>
            </a:r>
          </a:p>
          <a:p>
            <a:r>
              <a:rPr lang="en-US" dirty="0"/>
              <a:t xml:space="preserve">Identify all the issues and perform the cleaning steps. </a:t>
            </a:r>
          </a:p>
          <a:p>
            <a:r>
              <a:rPr lang="en-US" dirty="0"/>
              <a:t>Create a log report.</a:t>
            </a:r>
          </a:p>
        </p:txBody>
      </p:sp>
    </p:spTree>
    <p:extLst>
      <p:ext uri="{BB962C8B-B14F-4D97-AF65-F5344CB8AC3E}">
        <p14:creationId xmlns:p14="http://schemas.microsoft.com/office/powerpoint/2010/main" val="399186884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62AB-FD7A-4F83-4E4F-964479DA5100}"/>
              </a:ext>
            </a:extLst>
          </p:cNvPr>
          <p:cNvSpPr>
            <a:spLocks noGrp="1"/>
          </p:cNvSpPr>
          <p:nvPr>
            <p:ph type="title"/>
          </p:nvPr>
        </p:nvSpPr>
        <p:spPr/>
        <p:txBody>
          <a:bodyPr/>
          <a:lstStyle/>
          <a:p>
            <a:r>
              <a:rPr lang="en-US" dirty="0"/>
              <a:t>Group Activity with R – Example Answer</a:t>
            </a:r>
          </a:p>
        </p:txBody>
      </p:sp>
      <p:sp>
        <p:nvSpPr>
          <p:cNvPr id="3" name="Content Placeholder 2">
            <a:extLst>
              <a:ext uri="{FF2B5EF4-FFF2-40B4-BE49-F238E27FC236}">
                <a16:creationId xmlns:a16="http://schemas.microsoft.com/office/drawing/2014/main" id="{EDE5961D-2226-5F0A-DA92-AA513146E9F8}"/>
              </a:ext>
            </a:extLst>
          </p:cNvPr>
          <p:cNvSpPr>
            <a:spLocks noGrp="1"/>
          </p:cNvSpPr>
          <p:nvPr>
            <p:ph idx="1"/>
          </p:nvPr>
        </p:nvSpPr>
        <p:spPr/>
        <p:txBody>
          <a:bodyPr/>
          <a:lstStyle/>
          <a:p>
            <a:r>
              <a:rPr lang="en-US" dirty="0"/>
              <a:t>Read the dataset (don’t forget to change the path or save the csv data to your working directory)</a:t>
            </a:r>
          </a:p>
          <a:p>
            <a:pPr lvl="1"/>
            <a:r>
              <a:rPr lang="en-US" dirty="0" err="1"/>
              <a:t>msd</a:t>
            </a:r>
            <a:r>
              <a:rPr lang="en-US" dirty="0"/>
              <a:t xml:space="preserve"> &lt;- </a:t>
            </a:r>
            <a:r>
              <a:rPr lang="en-US" dirty="0" err="1"/>
              <a:t>read.csv</a:t>
            </a:r>
            <a:r>
              <a:rPr lang="en-US" dirty="0"/>
              <a:t>("</a:t>
            </a:r>
            <a:r>
              <a:rPr lang="en-US" dirty="0" err="1"/>
              <a:t>messy_school_data.csv</a:t>
            </a:r>
            <a:r>
              <a:rPr lang="en-US" dirty="0"/>
              <a:t>")</a:t>
            </a:r>
          </a:p>
          <a:p>
            <a:r>
              <a:rPr lang="en-US" dirty="0"/>
              <a:t>Check the summary statistic</a:t>
            </a:r>
          </a:p>
          <a:p>
            <a:pPr lvl="1"/>
            <a:r>
              <a:rPr lang="en-US" dirty="0"/>
              <a:t>summary(</a:t>
            </a:r>
            <a:r>
              <a:rPr lang="en-US" dirty="0" err="1"/>
              <a:t>msd</a:t>
            </a:r>
            <a:r>
              <a:rPr lang="en-US" dirty="0"/>
              <a:t>)</a:t>
            </a:r>
          </a:p>
        </p:txBody>
      </p:sp>
      <p:pic>
        <p:nvPicPr>
          <p:cNvPr id="5" name="Picture 4" descr="A screenshot of a computer  AI-generated content may be incorrect.">
            <a:extLst>
              <a:ext uri="{FF2B5EF4-FFF2-40B4-BE49-F238E27FC236}">
                <a16:creationId xmlns:a16="http://schemas.microsoft.com/office/drawing/2014/main" id="{9F03EC57-1E2E-9826-6E33-5400E7930871}"/>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3897443" y="4390506"/>
            <a:ext cx="7772400" cy="2375952"/>
          </a:xfrm>
          <a:prstGeom prst="rect">
            <a:avLst/>
          </a:prstGeom>
        </p:spPr>
      </p:pic>
    </p:spTree>
    <p:extLst>
      <p:ext uri="{BB962C8B-B14F-4D97-AF65-F5344CB8AC3E}">
        <p14:creationId xmlns:p14="http://schemas.microsoft.com/office/powerpoint/2010/main" val="254365877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047696-807C-D36A-BAAC-F9B74FAD37E1}"/>
              </a:ext>
            </a:extLst>
          </p:cNvPr>
          <p:cNvSpPr>
            <a:spLocks noGrp="1"/>
          </p:cNvSpPr>
          <p:nvPr>
            <p:ph type="title"/>
          </p:nvPr>
        </p:nvSpPr>
        <p:spPr/>
        <p:txBody>
          <a:bodyPr/>
          <a:lstStyle/>
          <a:p>
            <a:r>
              <a:rPr lang="en-US" dirty="0"/>
              <a:t>Group Activity with R – Example Answer</a:t>
            </a:r>
          </a:p>
        </p:txBody>
      </p:sp>
      <p:sp>
        <p:nvSpPr>
          <p:cNvPr id="3" name="Content Placeholder 2">
            <a:extLst>
              <a:ext uri="{FF2B5EF4-FFF2-40B4-BE49-F238E27FC236}">
                <a16:creationId xmlns:a16="http://schemas.microsoft.com/office/drawing/2014/main" id="{E4B50A57-D553-A31E-6697-1660FE0ABB85}"/>
              </a:ext>
            </a:extLst>
          </p:cNvPr>
          <p:cNvSpPr>
            <a:spLocks noGrp="1"/>
          </p:cNvSpPr>
          <p:nvPr>
            <p:ph idx="1"/>
          </p:nvPr>
        </p:nvSpPr>
        <p:spPr/>
        <p:txBody>
          <a:bodyPr/>
          <a:lstStyle/>
          <a:p>
            <a:r>
              <a:rPr lang="en-US" dirty="0"/>
              <a:t>You will see the issues for the numeric variables</a:t>
            </a:r>
          </a:p>
          <a:p>
            <a:pPr lvl="1"/>
            <a:r>
              <a:rPr lang="en-US" dirty="0"/>
              <a:t>Max GPA is 6.5!!! Doesn’t look right.</a:t>
            </a:r>
          </a:p>
          <a:p>
            <a:pPr lvl="1"/>
            <a:r>
              <a:rPr lang="en-US" dirty="0"/>
              <a:t>Smallest height is 25 inches!!</a:t>
            </a:r>
          </a:p>
          <a:p>
            <a:pPr lvl="1"/>
            <a:r>
              <a:rPr lang="en-US" dirty="0"/>
              <a:t>There is a student born in 2025?</a:t>
            </a:r>
          </a:p>
        </p:txBody>
      </p:sp>
      <p:pic>
        <p:nvPicPr>
          <p:cNvPr id="5" name="Picture 4" descr="A screenshot of a cell phone  AI-generated content may be incorrect.">
            <a:extLst>
              <a:ext uri="{FF2B5EF4-FFF2-40B4-BE49-F238E27FC236}">
                <a16:creationId xmlns:a16="http://schemas.microsoft.com/office/drawing/2014/main" id="{74152851-3206-FD7D-702D-0728C0B4BD52}"/>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2556551" y="4360525"/>
            <a:ext cx="1892300" cy="2324100"/>
          </a:xfrm>
          <a:prstGeom prst="rect">
            <a:avLst/>
          </a:prstGeom>
        </p:spPr>
      </p:pic>
      <p:pic>
        <p:nvPicPr>
          <p:cNvPr id="7" name="Picture 6" descr="A screenshot of a cell phone  AI-generated content may be incorrect.">
            <a:extLst>
              <a:ext uri="{FF2B5EF4-FFF2-40B4-BE49-F238E27FC236}">
                <a16:creationId xmlns:a16="http://schemas.microsoft.com/office/drawing/2014/main" id="{160434F1-107C-7E27-EC88-47D7817AFC30}"/>
              </a:ext>
            </a:extLst>
          </p:cNvPr>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4619260" y="4341475"/>
            <a:ext cx="1879600" cy="2362200"/>
          </a:xfrm>
          <a:prstGeom prst="rect">
            <a:avLst/>
          </a:prstGeom>
        </p:spPr>
      </p:pic>
      <p:pic>
        <p:nvPicPr>
          <p:cNvPr id="9" name="Picture 8" descr="A screenshot of a cell phone  AI-generated content may be incorrect.">
            <a:extLst>
              <a:ext uri="{FF2B5EF4-FFF2-40B4-BE49-F238E27FC236}">
                <a16:creationId xmlns:a16="http://schemas.microsoft.com/office/drawing/2014/main" id="{78AA07B1-F7B2-02C9-F105-24B0C8641998}"/>
              </a:ext>
            </a:extLst>
          </p:cNvPr>
          <p:cNvPicPr>
            <a:picLocks noChangeAspect="1"/>
          </p:cNvPicPr>
          <p:nvPr/>
        </p:nvPicPr>
        <p:blipFill>
          <a:blip r:embed="rId4">
            <a:extLst>
              <a:ext uri="{28A0092B-C50C-407E-A947-70E740481C1C}">
                <a14:useLocalDpi xmlns:a14="http://schemas.microsoft.com/office/drawing/2010/main"/>
              </a:ext>
            </a:extLst>
          </a:blip>
          <a:stretch>
            <a:fillRect/>
          </a:stretch>
        </p:blipFill>
        <p:spPr>
          <a:xfrm>
            <a:off x="6498860" y="4360525"/>
            <a:ext cx="1765300" cy="2247900"/>
          </a:xfrm>
          <a:prstGeom prst="rect">
            <a:avLst/>
          </a:prstGeom>
        </p:spPr>
      </p:pic>
    </p:spTree>
    <p:extLst>
      <p:ext uri="{BB962C8B-B14F-4D97-AF65-F5344CB8AC3E}">
        <p14:creationId xmlns:p14="http://schemas.microsoft.com/office/powerpoint/2010/main" val="250360377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0B6B53-7E4F-BAF0-F815-248320AF563B}"/>
              </a:ext>
            </a:extLst>
          </p:cNvPr>
          <p:cNvSpPr>
            <a:spLocks noGrp="1"/>
          </p:cNvSpPr>
          <p:nvPr>
            <p:ph type="title"/>
          </p:nvPr>
        </p:nvSpPr>
        <p:spPr/>
        <p:txBody>
          <a:bodyPr/>
          <a:lstStyle/>
          <a:p>
            <a:r>
              <a:rPr lang="en-US" dirty="0"/>
              <a:t>Group Activity with R – Example Answer</a:t>
            </a:r>
          </a:p>
        </p:txBody>
      </p:sp>
      <p:sp>
        <p:nvSpPr>
          <p:cNvPr id="3" name="Content Placeholder 2">
            <a:extLst>
              <a:ext uri="{FF2B5EF4-FFF2-40B4-BE49-F238E27FC236}">
                <a16:creationId xmlns:a16="http://schemas.microsoft.com/office/drawing/2014/main" id="{BD37159E-4D41-98EE-1BCC-15847CB0F4D3}"/>
              </a:ext>
            </a:extLst>
          </p:cNvPr>
          <p:cNvSpPr>
            <a:spLocks noGrp="1"/>
          </p:cNvSpPr>
          <p:nvPr>
            <p:ph idx="1"/>
          </p:nvPr>
        </p:nvSpPr>
        <p:spPr>
          <a:xfrm>
            <a:off x="838200" y="2424663"/>
            <a:ext cx="10515600" cy="3572911"/>
          </a:xfrm>
        </p:spPr>
        <p:txBody>
          <a:bodyPr/>
          <a:lstStyle/>
          <a:p>
            <a:r>
              <a:rPr lang="en-US" dirty="0"/>
              <a:t>Let’s check the categorical variables using table function, which provides frequency.</a:t>
            </a:r>
          </a:p>
          <a:p>
            <a:r>
              <a:rPr lang="en-US" dirty="0"/>
              <a:t>We can write a function or loop to check each variable, but for simplicity let’s do it one by one.</a:t>
            </a:r>
          </a:p>
        </p:txBody>
      </p:sp>
      <p:pic>
        <p:nvPicPr>
          <p:cNvPr id="7" name="Picture 6" descr="A number and symbols on a white background  AI-generated content may be incorrect.">
            <a:extLst>
              <a:ext uri="{FF2B5EF4-FFF2-40B4-BE49-F238E27FC236}">
                <a16:creationId xmlns:a16="http://schemas.microsoft.com/office/drawing/2014/main" id="{840C2E32-5C17-13D1-3F27-8497915EA532}"/>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3898900" y="4390506"/>
            <a:ext cx="4394200" cy="2286000"/>
          </a:xfrm>
          <a:prstGeom prst="rect">
            <a:avLst/>
          </a:prstGeom>
        </p:spPr>
      </p:pic>
    </p:spTree>
    <p:extLst>
      <p:ext uri="{BB962C8B-B14F-4D97-AF65-F5344CB8AC3E}">
        <p14:creationId xmlns:p14="http://schemas.microsoft.com/office/powerpoint/2010/main" val="18682649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458855-5E6B-5B2A-D0D4-2901DDEE2B69}"/>
              </a:ext>
            </a:extLst>
          </p:cNvPr>
          <p:cNvSpPr>
            <a:spLocks noGrp="1"/>
          </p:cNvSpPr>
          <p:nvPr>
            <p:ph type="title"/>
          </p:nvPr>
        </p:nvSpPr>
        <p:spPr/>
        <p:txBody>
          <a:bodyPr/>
          <a:lstStyle/>
          <a:p>
            <a:r>
              <a:rPr lang="en-US" dirty="0"/>
              <a:t>Group Activity with R – Example Answer</a:t>
            </a:r>
          </a:p>
        </p:txBody>
      </p:sp>
      <p:pic>
        <p:nvPicPr>
          <p:cNvPr id="5" name="Content Placeholder 4" descr="A close-up of a white background  AI-generated content may be incorrect.">
            <a:extLst>
              <a:ext uri="{FF2B5EF4-FFF2-40B4-BE49-F238E27FC236}">
                <a16:creationId xmlns:a16="http://schemas.microsoft.com/office/drawing/2014/main" id="{B22EE4D9-13A7-56E4-3C04-72695BF66874}"/>
              </a:ext>
            </a:extLst>
          </p:cNvPr>
          <p:cNvPicPr>
            <a:picLocks noGrp="1" noChangeAspect="1"/>
          </p:cNvPicPr>
          <p:nvPr>
            <p:ph idx="1"/>
          </p:nvPr>
        </p:nvPicPr>
        <p:blipFill>
          <a:blip r:embed="rId2" cstate="screen">
            <a:extLst>
              <a:ext uri="{28A0092B-C50C-407E-A947-70E740481C1C}">
                <a14:useLocalDpi xmlns:a14="http://schemas.microsoft.com/office/drawing/2010/main"/>
              </a:ext>
            </a:extLst>
          </a:blip>
          <a:stretch>
            <a:fillRect/>
          </a:stretch>
        </p:blipFill>
        <p:spPr>
          <a:xfrm>
            <a:off x="751382" y="2333245"/>
            <a:ext cx="10689236" cy="4200186"/>
          </a:xfrm>
        </p:spPr>
      </p:pic>
    </p:spTree>
    <p:extLst>
      <p:ext uri="{BB962C8B-B14F-4D97-AF65-F5344CB8AC3E}">
        <p14:creationId xmlns:p14="http://schemas.microsoft.com/office/powerpoint/2010/main" val="370960992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856C8F-F603-7A6C-DCDE-EA9FAA91BE6E}"/>
              </a:ext>
            </a:extLst>
          </p:cNvPr>
          <p:cNvSpPr>
            <a:spLocks noGrp="1"/>
          </p:cNvSpPr>
          <p:nvPr>
            <p:ph type="title"/>
          </p:nvPr>
        </p:nvSpPr>
        <p:spPr/>
        <p:txBody>
          <a:bodyPr/>
          <a:lstStyle/>
          <a:p>
            <a:r>
              <a:rPr lang="en-US" dirty="0"/>
              <a:t>Group Activity with R – Example Answer</a:t>
            </a:r>
          </a:p>
        </p:txBody>
      </p:sp>
      <p:sp>
        <p:nvSpPr>
          <p:cNvPr id="3" name="Content Placeholder 2">
            <a:extLst>
              <a:ext uri="{FF2B5EF4-FFF2-40B4-BE49-F238E27FC236}">
                <a16:creationId xmlns:a16="http://schemas.microsoft.com/office/drawing/2014/main" id="{A45EF486-9B12-1CF3-9688-6D07D0F4CC01}"/>
              </a:ext>
            </a:extLst>
          </p:cNvPr>
          <p:cNvSpPr>
            <a:spLocks noGrp="1"/>
          </p:cNvSpPr>
          <p:nvPr>
            <p:ph idx="1"/>
          </p:nvPr>
        </p:nvSpPr>
        <p:spPr/>
        <p:txBody>
          <a:bodyPr/>
          <a:lstStyle/>
          <a:p>
            <a:r>
              <a:rPr lang="en-US" dirty="0"/>
              <a:t xml:space="preserve">State variable has both CA and Cali, FL and Florida, IL and Illinois, Ny and NY, Texas and </a:t>
            </a:r>
            <a:r>
              <a:rPr lang="en-US" dirty="0" err="1"/>
              <a:t>Texs</a:t>
            </a:r>
            <a:r>
              <a:rPr lang="en-US" dirty="0"/>
              <a:t xml:space="preserve"> categories. These categories should be combined.</a:t>
            </a:r>
          </a:p>
          <a:p>
            <a:r>
              <a:rPr lang="en-US" dirty="0"/>
              <a:t>Club variable has none category, which might be missing or No club association.</a:t>
            </a:r>
          </a:p>
          <a:p>
            <a:r>
              <a:rPr lang="en-US" dirty="0"/>
              <a:t xml:space="preserve">Parent Consent has, no and No, yes and Yes. </a:t>
            </a:r>
          </a:p>
        </p:txBody>
      </p:sp>
    </p:spTree>
    <p:extLst>
      <p:ext uri="{BB962C8B-B14F-4D97-AF65-F5344CB8AC3E}">
        <p14:creationId xmlns:p14="http://schemas.microsoft.com/office/powerpoint/2010/main" val="177013914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1AE76-E220-A1CA-64B7-DD790AD72A78}"/>
              </a:ext>
            </a:extLst>
          </p:cNvPr>
          <p:cNvSpPr>
            <a:spLocks noGrp="1"/>
          </p:cNvSpPr>
          <p:nvPr>
            <p:ph type="title"/>
          </p:nvPr>
        </p:nvSpPr>
        <p:spPr/>
        <p:txBody>
          <a:bodyPr/>
          <a:lstStyle/>
          <a:p>
            <a:r>
              <a:rPr lang="en-US" dirty="0"/>
              <a:t>Group Activity with R – Example Answer</a:t>
            </a:r>
          </a:p>
        </p:txBody>
      </p:sp>
      <p:sp>
        <p:nvSpPr>
          <p:cNvPr id="3" name="Content Placeholder 2">
            <a:extLst>
              <a:ext uri="{FF2B5EF4-FFF2-40B4-BE49-F238E27FC236}">
                <a16:creationId xmlns:a16="http://schemas.microsoft.com/office/drawing/2014/main" id="{DBB0C15C-EDA4-1A45-22E1-8FE7C4B7CD6C}"/>
              </a:ext>
            </a:extLst>
          </p:cNvPr>
          <p:cNvSpPr>
            <a:spLocks noGrp="1"/>
          </p:cNvSpPr>
          <p:nvPr>
            <p:ph idx="1"/>
          </p:nvPr>
        </p:nvSpPr>
        <p:spPr/>
        <p:txBody>
          <a:bodyPr/>
          <a:lstStyle/>
          <a:p>
            <a:r>
              <a:rPr lang="en-US" dirty="0"/>
              <a:t>Check duplicates!</a:t>
            </a:r>
          </a:p>
          <a:p>
            <a:r>
              <a:rPr lang="en-US" dirty="0"/>
              <a:t>In R, use duplicated function (returns TRUE or FALSE)</a:t>
            </a:r>
          </a:p>
          <a:p>
            <a:r>
              <a:rPr lang="en-US" dirty="0"/>
              <a:t>Let’s check if there are any duplicated IDs</a:t>
            </a:r>
          </a:p>
        </p:txBody>
      </p:sp>
      <p:sp>
        <p:nvSpPr>
          <p:cNvPr id="5" name="TextBox 4">
            <a:extLst>
              <a:ext uri="{FF2B5EF4-FFF2-40B4-BE49-F238E27FC236}">
                <a16:creationId xmlns:a16="http://schemas.microsoft.com/office/drawing/2014/main" id="{9F77EF77-34AB-9638-C62E-098793B26E1D}"/>
              </a:ext>
            </a:extLst>
          </p:cNvPr>
          <p:cNvSpPr txBox="1"/>
          <p:nvPr/>
        </p:nvSpPr>
        <p:spPr>
          <a:xfrm>
            <a:off x="838200" y="4233844"/>
            <a:ext cx="6100996" cy="646331"/>
          </a:xfrm>
          <a:prstGeom prst="rect">
            <a:avLst/>
          </a:prstGeom>
          <a:noFill/>
        </p:spPr>
        <p:txBody>
          <a:bodyPr wrap="square">
            <a:spAutoFit/>
          </a:bodyPr>
          <a:lstStyle/>
          <a:p>
            <a:r>
              <a:rPr lang="en-US" dirty="0"/>
              <a:t>print("Number of Duplicated IDs:")</a:t>
            </a:r>
          </a:p>
          <a:p>
            <a:r>
              <a:rPr lang="en-US" dirty="0"/>
              <a:t>sum(duplicated(</a:t>
            </a:r>
            <a:r>
              <a:rPr lang="en-US" dirty="0" err="1"/>
              <a:t>msd$Student_ID</a:t>
            </a:r>
            <a:r>
              <a:rPr lang="en-US" dirty="0"/>
              <a:t>))</a:t>
            </a:r>
          </a:p>
        </p:txBody>
      </p:sp>
      <p:pic>
        <p:nvPicPr>
          <p:cNvPr id="7" name="Picture 6" descr="A close-up of a sign  AI-generated content may be incorrect.">
            <a:extLst>
              <a:ext uri="{FF2B5EF4-FFF2-40B4-BE49-F238E27FC236}">
                <a16:creationId xmlns:a16="http://schemas.microsoft.com/office/drawing/2014/main" id="{4F2DCF22-836B-3EE8-E5C6-AE26C9718957}"/>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5637759" y="4880175"/>
            <a:ext cx="4394200" cy="1168400"/>
          </a:xfrm>
          <a:prstGeom prst="rect">
            <a:avLst/>
          </a:prstGeom>
        </p:spPr>
      </p:pic>
      <p:sp>
        <p:nvSpPr>
          <p:cNvPr id="8" name="TextBox 7">
            <a:extLst>
              <a:ext uri="{FF2B5EF4-FFF2-40B4-BE49-F238E27FC236}">
                <a16:creationId xmlns:a16="http://schemas.microsoft.com/office/drawing/2014/main" id="{A501D9ED-9DDF-C0FC-ADF1-8E646F245EB7}"/>
              </a:ext>
            </a:extLst>
          </p:cNvPr>
          <p:cNvSpPr txBox="1"/>
          <p:nvPr/>
        </p:nvSpPr>
        <p:spPr>
          <a:xfrm>
            <a:off x="1244288" y="5402244"/>
            <a:ext cx="3987384" cy="646331"/>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dirty="0"/>
              <a:t>There are three duplicated student IDs, let’s find them</a:t>
            </a:r>
          </a:p>
        </p:txBody>
      </p:sp>
    </p:spTree>
    <p:extLst>
      <p:ext uri="{BB962C8B-B14F-4D97-AF65-F5344CB8AC3E}">
        <p14:creationId xmlns:p14="http://schemas.microsoft.com/office/powerpoint/2010/main" val="416388718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0ECC44-CB9C-2089-266A-E7A5312F29D7}"/>
              </a:ext>
            </a:extLst>
          </p:cNvPr>
          <p:cNvSpPr>
            <a:spLocks noGrp="1"/>
          </p:cNvSpPr>
          <p:nvPr>
            <p:ph type="title"/>
          </p:nvPr>
        </p:nvSpPr>
        <p:spPr/>
        <p:txBody>
          <a:bodyPr/>
          <a:lstStyle/>
          <a:p>
            <a:r>
              <a:rPr lang="en-US" dirty="0"/>
              <a:t>Group Activity with R – Example Answer</a:t>
            </a:r>
          </a:p>
        </p:txBody>
      </p:sp>
      <p:sp>
        <p:nvSpPr>
          <p:cNvPr id="7" name="Content Placeholder 6">
            <a:extLst>
              <a:ext uri="{FF2B5EF4-FFF2-40B4-BE49-F238E27FC236}">
                <a16:creationId xmlns:a16="http://schemas.microsoft.com/office/drawing/2014/main" id="{7565A614-7D0D-66F8-B93C-242A1749559B}"/>
              </a:ext>
            </a:extLst>
          </p:cNvPr>
          <p:cNvSpPr>
            <a:spLocks noGrp="1"/>
          </p:cNvSpPr>
          <p:nvPr>
            <p:ph idx="1"/>
          </p:nvPr>
        </p:nvSpPr>
        <p:spPr/>
        <p:txBody>
          <a:bodyPr/>
          <a:lstStyle/>
          <a:p>
            <a:r>
              <a:rPr lang="en-US" dirty="0"/>
              <a:t>Let’s find which students are duplicated</a:t>
            </a:r>
          </a:p>
        </p:txBody>
      </p:sp>
      <p:sp>
        <p:nvSpPr>
          <p:cNvPr id="9" name="TextBox 8">
            <a:extLst>
              <a:ext uri="{FF2B5EF4-FFF2-40B4-BE49-F238E27FC236}">
                <a16:creationId xmlns:a16="http://schemas.microsoft.com/office/drawing/2014/main" id="{FC7B028D-FC34-4A04-AA73-5688A9A273D5}"/>
              </a:ext>
            </a:extLst>
          </p:cNvPr>
          <p:cNvSpPr txBox="1"/>
          <p:nvPr/>
        </p:nvSpPr>
        <p:spPr>
          <a:xfrm>
            <a:off x="838200" y="3225915"/>
            <a:ext cx="6117236" cy="923330"/>
          </a:xfrm>
          <a:prstGeom prst="rect">
            <a:avLst/>
          </a:prstGeom>
          <a:noFill/>
        </p:spPr>
        <p:txBody>
          <a:bodyPr wrap="square">
            <a:spAutoFit/>
          </a:bodyPr>
          <a:lstStyle/>
          <a:p>
            <a:r>
              <a:rPr lang="en-US" dirty="0" err="1"/>
              <a:t>dup_ids</a:t>
            </a:r>
            <a:r>
              <a:rPr lang="en-US" dirty="0"/>
              <a:t xml:space="preserve"> &lt;- </a:t>
            </a:r>
            <a:r>
              <a:rPr lang="en-US" dirty="0" err="1"/>
              <a:t>msd$Student_ID</a:t>
            </a:r>
            <a:r>
              <a:rPr lang="en-US" dirty="0"/>
              <a:t>[duplicated(</a:t>
            </a:r>
            <a:r>
              <a:rPr lang="en-US" dirty="0" err="1"/>
              <a:t>msd$Student_ID</a:t>
            </a:r>
            <a:r>
              <a:rPr lang="en-US" dirty="0"/>
              <a:t>)]</a:t>
            </a:r>
          </a:p>
          <a:p>
            <a:r>
              <a:rPr lang="en-US" dirty="0"/>
              <a:t>print("Duplicated IDs:")</a:t>
            </a:r>
          </a:p>
          <a:p>
            <a:r>
              <a:rPr lang="en-US" dirty="0" err="1"/>
              <a:t>dup_ids</a:t>
            </a:r>
            <a:endParaRPr lang="en-US" dirty="0"/>
          </a:p>
        </p:txBody>
      </p:sp>
      <p:pic>
        <p:nvPicPr>
          <p:cNvPr id="11" name="Picture 10" descr="A close-up of a computer code  AI-generated content may be incorrect.">
            <a:extLst>
              <a:ext uri="{FF2B5EF4-FFF2-40B4-BE49-F238E27FC236}">
                <a16:creationId xmlns:a16="http://schemas.microsoft.com/office/drawing/2014/main" id="{09B10179-D517-028C-8F7E-FF4A300F8998}"/>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5894765" y="3822886"/>
            <a:ext cx="5891407" cy="1292678"/>
          </a:xfrm>
          <a:prstGeom prst="rect">
            <a:avLst/>
          </a:prstGeom>
        </p:spPr>
      </p:pic>
      <p:pic>
        <p:nvPicPr>
          <p:cNvPr id="13" name="Picture 12">
            <a:extLst>
              <a:ext uri="{FF2B5EF4-FFF2-40B4-BE49-F238E27FC236}">
                <a16:creationId xmlns:a16="http://schemas.microsoft.com/office/drawing/2014/main" id="{32B2EA92-2FB6-01AC-039A-EC4664DEAA03}"/>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0617" y="5294993"/>
            <a:ext cx="12181383" cy="1412668"/>
          </a:xfrm>
          <a:prstGeom prst="rect">
            <a:avLst/>
          </a:prstGeom>
        </p:spPr>
      </p:pic>
    </p:spTree>
    <p:extLst>
      <p:ext uri="{BB962C8B-B14F-4D97-AF65-F5344CB8AC3E}">
        <p14:creationId xmlns:p14="http://schemas.microsoft.com/office/powerpoint/2010/main" val="27818895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9E05D8-378C-E1BD-5055-47729CB554B1}"/>
              </a:ext>
            </a:extLst>
          </p:cNvPr>
          <p:cNvSpPr>
            <a:spLocks noGrp="1"/>
          </p:cNvSpPr>
          <p:nvPr>
            <p:ph type="title"/>
          </p:nvPr>
        </p:nvSpPr>
        <p:spPr/>
        <p:txBody>
          <a:bodyPr/>
          <a:lstStyle/>
          <a:p>
            <a:r>
              <a:rPr lang="en-US" dirty="0"/>
              <a:t>Group Activity with R – Example Answer</a:t>
            </a:r>
          </a:p>
        </p:txBody>
      </p:sp>
      <p:sp>
        <p:nvSpPr>
          <p:cNvPr id="3" name="Content Placeholder 2">
            <a:extLst>
              <a:ext uri="{FF2B5EF4-FFF2-40B4-BE49-F238E27FC236}">
                <a16:creationId xmlns:a16="http://schemas.microsoft.com/office/drawing/2014/main" id="{F05BFB8A-FC33-6007-0598-06742AA3A8FF}"/>
              </a:ext>
            </a:extLst>
          </p:cNvPr>
          <p:cNvSpPr>
            <a:spLocks noGrp="1"/>
          </p:cNvSpPr>
          <p:nvPr>
            <p:ph idx="1"/>
          </p:nvPr>
        </p:nvSpPr>
        <p:spPr/>
        <p:txBody>
          <a:bodyPr/>
          <a:lstStyle/>
          <a:p>
            <a:r>
              <a:rPr lang="en-US" dirty="0"/>
              <a:t>Let’s decide which row to select, we have only 3 rows here, if you have more it’s better to automize.</a:t>
            </a:r>
          </a:p>
          <a:p>
            <a:r>
              <a:rPr lang="en-US" dirty="0"/>
              <a:t>Let’s check duplicated ID =1</a:t>
            </a:r>
          </a:p>
          <a:p>
            <a:r>
              <a:rPr lang="en-US" dirty="0"/>
              <a:t>Row 30 doesn’t have the email the rest is the same. Let’s get rid of line 30. But first, check other.</a:t>
            </a:r>
          </a:p>
        </p:txBody>
      </p:sp>
      <p:pic>
        <p:nvPicPr>
          <p:cNvPr id="8" name="Picture 7" descr="A close up of a computer screen  AI-generated content may be incorrect.">
            <a:extLst>
              <a:ext uri="{FF2B5EF4-FFF2-40B4-BE49-F238E27FC236}">
                <a16:creationId xmlns:a16="http://schemas.microsoft.com/office/drawing/2014/main" id="{613C0037-3B00-FEEE-507D-36A61B76B50E}"/>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097" y="4855660"/>
            <a:ext cx="12190903" cy="1806479"/>
          </a:xfrm>
          <a:prstGeom prst="rect">
            <a:avLst/>
          </a:prstGeom>
        </p:spPr>
      </p:pic>
    </p:spTree>
    <p:extLst>
      <p:ext uri="{BB962C8B-B14F-4D97-AF65-F5344CB8AC3E}">
        <p14:creationId xmlns:p14="http://schemas.microsoft.com/office/powerpoint/2010/main" val="14066675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213A60-D8A4-47F2-1F92-B9308ABC879E}"/>
              </a:ext>
            </a:extLst>
          </p:cNvPr>
          <p:cNvSpPr>
            <a:spLocks noGrp="1"/>
          </p:cNvSpPr>
          <p:nvPr>
            <p:ph type="title"/>
          </p:nvPr>
        </p:nvSpPr>
        <p:spPr/>
        <p:txBody>
          <a:bodyPr/>
          <a:lstStyle/>
          <a:p>
            <a:r>
              <a:rPr lang="en-US" dirty="0"/>
              <a:t>Group Activity with R – Example Answer</a:t>
            </a:r>
          </a:p>
        </p:txBody>
      </p:sp>
      <p:sp>
        <p:nvSpPr>
          <p:cNvPr id="3" name="Content Placeholder 2">
            <a:extLst>
              <a:ext uri="{FF2B5EF4-FFF2-40B4-BE49-F238E27FC236}">
                <a16:creationId xmlns:a16="http://schemas.microsoft.com/office/drawing/2014/main" id="{64284039-8917-AAF4-B99F-A604D3061BE5}"/>
              </a:ext>
            </a:extLst>
          </p:cNvPr>
          <p:cNvSpPr>
            <a:spLocks noGrp="1"/>
          </p:cNvSpPr>
          <p:nvPr>
            <p:ph idx="1"/>
          </p:nvPr>
        </p:nvSpPr>
        <p:spPr/>
        <p:txBody>
          <a:bodyPr/>
          <a:lstStyle/>
          <a:p>
            <a:r>
              <a:rPr lang="en-US" dirty="0"/>
              <a:t>Decide which rows we should remove</a:t>
            </a:r>
          </a:p>
        </p:txBody>
      </p:sp>
      <p:pic>
        <p:nvPicPr>
          <p:cNvPr id="5" name="Picture 4" descr="A screenshot of a computer  AI-generated content may be incorrect.">
            <a:extLst>
              <a:ext uri="{FF2B5EF4-FFF2-40B4-BE49-F238E27FC236}">
                <a16:creationId xmlns:a16="http://schemas.microsoft.com/office/drawing/2014/main" id="{CFD3E51F-3D7C-2A3B-81D5-D94ACA7A493A}"/>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838200" y="3267856"/>
            <a:ext cx="10938202" cy="3368880"/>
          </a:xfrm>
          <a:prstGeom prst="rect">
            <a:avLst/>
          </a:prstGeom>
        </p:spPr>
      </p:pic>
    </p:spTree>
    <p:extLst>
      <p:ext uri="{BB962C8B-B14F-4D97-AF65-F5344CB8AC3E}">
        <p14:creationId xmlns:p14="http://schemas.microsoft.com/office/powerpoint/2010/main" val="214660209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41F246-8C2F-CF10-8928-555A2EF321EC}"/>
              </a:ext>
            </a:extLst>
          </p:cNvPr>
          <p:cNvSpPr>
            <a:spLocks noGrp="1"/>
          </p:cNvSpPr>
          <p:nvPr>
            <p:ph type="title"/>
          </p:nvPr>
        </p:nvSpPr>
        <p:spPr/>
        <p:txBody>
          <a:bodyPr/>
          <a:lstStyle/>
          <a:p>
            <a:r>
              <a:rPr lang="en-US" dirty="0"/>
              <a:t>Group Activity with R – Example Answer</a:t>
            </a:r>
          </a:p>
        </p:txBody>
      </p:sp>
      <p:sp>
        <p:nvSpPr>
          <p:cNvPr id="3" name="Content Placeholder 2">
            <a:extLst>
              <a:ext uri="{FF2B5EF4-FFF2-40B4-BE49-F238E27FC236}">
                <a16:creationId xmlns:a16="http://schemas.microsoft.com/office/drawing/2014/main" id="{EFAACC11-6D04-F66B-6EF3-863CCD63D9A6}"/>
              </a:ext>
            </a:extLst>
          </p:cNvPr>
          <p:cNvSpPr>
            <a:spLocks noGrp="1"/>
          </p:cNvSpPr>
          <p:nvPr>
            <p:ph idx="1"/>
          </p:nvPr>
        </p:nvSpPr>
        <p:spPr>
          <a:xfrm>
            <a:off x="838200" y="2185989"/>
            <a:ext cx="10515600" cy="3572911"/>
          </a:xfrm>
        </p:spPr>
        <p:txBody>
          <a:bodyPr/>
          <a:lstStyle/>
          <a:p>
            <a:r>
              <a:rPr lang="en-US" dirty="0"/>
              <a:t>Remove rows 30, 32, 33 and some issues are already been resolved</a:t>
            </a:r>
          </a:p>
          <a:p>
            <a:endParaRPr lang="en-US" dirty="0"/>
          </a:p>
          <a:p>
            <a:endParaRPr lang="en-US" dirty="0"/>
          </a:p>
        </p:txBody>
      </p:sp>
      <p:pic>
        <p:nvPicPr>
          <p:cNvPr id="13" name="Picture 12" descr="A screenshot of a computer screen  AI-generated content may be incorrect.">
            <a:extLst>
              <a:ext uri="{FF2B5EF4-FFF2-40B4-BE49-F238E27FC236}">
                <a16:creationId xmlns:a16="http://schemas.microsoft.com/office/drawing/2014/main" id="{95879051-12FA-F746-36F4-E4D7D1A9DC98}"/>
              </a:ext>
            </a:extLst>
          </p:cNvPr>
          <p:cNvPicPr>
            <a:picLocks noChangeAspect="1"/>
          </p:cNvPicPr>
          <p:nvPr/>
        </p:nvPicPr>
        <p:blipFill>
          <a:blip r:embed="rId2" cstate="screen">
            <a:extLst>
              <a:ext uri="{28A0092B-C50C-407E-A947-70E740481C1C}">
                <a14:useLocalDpi xmlns:a14="http://schemas.microsoft.com/office/drawing/2010/main"/>
              </a:ext>
            </a:extLst>
          </a:blip>
          <a:srcRect b="20484"/>
          <a:stretch>
            <a:fillRect/>
          </a:stretch>
        </p:blipFill>
        <p:spPr>
          <a:xfrm>
            <a:off x="1584001" y="3097030"/>
            <a:ext cx="9023997" cy="3748759"/>
          </a:xfrm>
          <a:prstGeom prst="rect">
            <a:avLst/>
          </a:prstGeom>
        </p:spPr>
      </p:pic>
    </p:spTree>
    <p:extLst>
      <p:ext uri="{BB962C8B-B14F-4D97-AF65-F5344CB8AC3E}">
        <p14:creationId xmlns:p14="http://schemas.microsoft.com/office/powerpoint/2010/main" val="212984277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3FEBD-A5CA-C7DD-6B72-0887DE08ADD2}"/>
              </a:ext>
            </a:extLst>
          </p:cNvPr>
          <p:cNvSpPr>
            <a:spLocks noGrp="1"/>
          </p:cNvSpPr>
          <p:nvPr>
            <p:ph type="title"/>
          </p:nvPr>
        </p:nvSpPr>
        <p:spPr/>
        <p:txBody>
          <a:bodyPr/>
          <a:lstStyle/>
          <a:p>
            <a:r>
              <a:rPr lang="en-US" dirty="0"/>
              <a:t>Group Activity with R – Example Answer</a:t>
            </a:r>
          </a:p>
        </p:txBody>
      </p:sp>
      <p:sp>
        <p:nvSpPr>
          <p:cNvPr id="3" name="Content Placeholder 2">
            <a:extLst>
              <a:ext uri="{FF2B5EF4-FFF2-40B4-BE49-F238E27FC236}">
                <a16:creationId xmlns:a16="http://schemas.microsoft.com/office/drawing/2014/main" id="{E9F7E0E1-34FA-31E2-CF53-9FDB76E424E7}"/>
              </a:ext>
            </a:extLst>
          </p:cNvPr>
          <p:cNvSpPr>
            <a:spLocks noGrp="1"/>
          </p:cNvSpPr>
          <p:nvPr>
            <p:ph idx="1"/>
          </p:nvPr>
        </p:nvSpPr>
        <p:spPr>
          <a:xfrm>
            <a:off x="673308" y="2319238"/>
            <a:ext cx="10515600" cy="3572911"/>
          </a:xfrm>
        </p:spPr>
        <p:txBody>
          <a:bodyPr/>
          <a:lstStyle/>
          <a:p>
            <a:r>
              <a:rPr lang="en-US" dirty="0"/>
              <a:t>Fix the categories</a:t>
            </a:r>
          </a:p>
        </p:txBody>
      </p:sp>
      <p:pic>
        <p:nvPicPr>
          <p:cNvPr id="5" name="Picture 4">
            <a:extLst>
              <a:ext uri="{FF2B5EF4-FFF2-40B4-BE49-F238E27FC236}">
                <a16:creationId xmlns:a16="http://schemas.microsoft.com/office/drawing/2014/main" id="{A3369AA4-86D8-AA14-1574-B1F7B47F74EA}"/>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3932419" y="2336262"/>
            <a:ext cx="7772400" cy="791712"/>
          </a:xfrm>
          <a:prstGeom prst="rect">
            <a:avLst/>
          </a:prstGeom>
        </p:spPr>
      </p:pic>
      <p:sp>
        <p:nvSpPr>
          <p:cNvPr id="7" name="TextBox 6">
            <a:extLst>
              <a:ext uri="{FF2B5EF4-FFF2-40B4-BE49-F238E27FC236}">
                <a16:creationId xmlns:a16="http://schemas.microsoft.com/office/drawing/2014/main" id="{CD456A30-B3BF-4135-A7C5-DBC5736E14FA}"/>
              </a:ext>
            </a:extLst>
          </p:cNvPr>
          <p:cNvSpPr txBox="1"/>
          <p:nvPr/>
        </p:nvSpPr>
        <p:spPr>
          <a:xfrm>
            <a:off x="307298" y="3267854"/>
            <a:ext cx="5938603" cy="2585323"/>
          </a:xfrm>
          <a:prstGeom prst="rect">
            <a:avLst/>
          </a:prstGeom>
          <a:noFill/>
        </p:spPr>
        <p:txBody>
          <a:bodyPr wrap="square">
            <a:spAutoFit/>
          </a:bodyPr>
          <a:lstStyle/>
          <a:p>
            <a:r>
              <a:rPr lang="en-US" dirty="0"/>
              <a:t># 1. Standardize known variants</a:t>
            </a:r>
          </a:p>
          <a:p>
            <a:r>
              <a:rPr lang="en-US" dirty="0" err="1"/>
              <a:t>msd$State</a:t>
            </a:r>
            <a:r>
              <a:rPr lang="en-US" dirty="0"/>
              <a:t>[</a:t>
            </a:r>
            <a:r>
              <a:rPr lang="en-US" dirty="0" err="1"/>
              <a:t>msd$State</a:t>
            </a:r>
            <a:r>
              <a:rPr lang="en-US" dirty="0"/>
              <a:t xml:space="preserve"> %in% c("Cali")] &lt;- "CA"</a:t>
            </a:r>
          </a:p>
          <a:p>
            <a:r>
              <a:rPr lang="en-US" dirty="0" err="1"/>
              <a:t>msd$State</a:t>
            </a:r>
            <a:r>
              <a:rPr lang="en-US" dirty="0"/>
              <a:t>[</a:t>
            </a:r>
            <a:r>
              <a:rPr lang="en-US" dirty="0" err="1"/>
              <a:t>msd$State</a:t>
            </a:r>
            <a:r>
              <a:rPr lang="en-US" dirty="0"/>
              <a:t xml:space="preserve"> %in% c("Florida")] &lt;- "FL"</a:t>
            </a:r>
          </a:p>
          <a:p>
            <a:r>
              <a:rPr lang="en-US" dirty="0" err="1"/>
              <a:t>msd$State</a:t>
            </a:r>
            <a:r>
              <a:rPr lang="en-US" dirty="0"/>
              <a:t>[</a:t>
            </a:r>
            <a:r>
              <a:rPr lang="en-US" dirty="0" err="1"/>
              <a:t>msd$State</a:t>
            </a:r>
            <a:r>
              <a:rPr lang="en-US" dirty="0"/>
              <a:t xml:space="preserve"> %in% c("Illinois")] &lt;- "IL"</a:t>
            </a:r>
          </a:p>
          <a:p>
            <a:r>
              <a:rPr lang="en-US" dirty="0" err="1"/>
              <a:t>msd$State</a:t>
            </a:r>
            <a:r>
              <a:rPr lang="en-US" dirty="0"/>
              <a:t>[</a:t>
            </a:r>
            <a:r>
              <a:rPr lang="en-US" dirty="0" err="1"/>
              <a:t>msd$State</a:t>
            </a:r>
            <a:r>
              <a:rPr lang="en-US" dirty="0"/>
              <a:t xml:space="preserve"> %in% c("Ny")] &lt;- "NY"</a:t>
            </a:r>
          </a:p>
          <a:p>
            <a:r>
              <a:rPr lang="en-US" dirty="0" err="1"/>
              <a:t>msd$State</a:t>
            </a:r>
            <a:r>
              <a:rPr lang="en-US" dirty="0"/>
              <a:t>[</a:t>
            </a:r>
            <a:r>
              <a:rPr lang="en-US" dirty="0" err="1"/>
              <a:t>msd$State</a:t>
            </a:r>
            <a:r>
              <a:rPr lang="en-US" dirty="0"/>
              <a:t xml:space="preserve"> %in% c("Texas", "</a:t>
            </a:r>
            <a:r>
              <a:rPr lang="en-US" dirty="0" err="1"/>
              <a:t>Texs</a:t>
            </a:r>
            <a:r>
              <a:rPr lang="en-US" dirty="0"/>
              <a:t>")] &lt;- "TX"</a:t>
            </a:r>
          </a:p>
          <a:p>
            <a:endParaRPr lang="en-US" dirty="0"/>
          </a:p>
          <a:p>
            <a:r>
              <a:rPr lang="en-US" dirty="0"/>
              <a:t># 2. Check the State Variable</a:t>
            </a:r>
          </a:p>
          <a:p>
            <a:r>
              <a:rPr lang="en-US" dirty="0"/>
              <a:t>table(</a:t>
            </a:r>
            <a:r>
              <a:rPr lang="en-US" dirty="0" err="1"/>
              <a:t>msd$State</a:t>
            </a:r>
            <a:r>
              <a:rPr lang="en-US" dirty="0"/>
              <a:t>)</a:t>
            </a:r>
          </a:p>
        </p:txBody>
      </p:sp>
      <p:pic>
        <p:nvPicPr>
          <p:cNvPr id="11" name="Picture 10" descr="A screenshot of a computer code  AI-generated content may be incorrect.">
            <a:extLst>
              <a:ext uri="{FF2B5EF4-FFF2-40B4-BE49-F238E27FC236}">
                <a16:creationId xmlns:a16="http://schemas.microsoft.com/office/drawing/2014/main" id="{7558B593-EEA0-B439-8AFF-C3F1626F605B}"/>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6224948" y="3429000"/>
            <a:ext cx="5967051" cy="3064474"/>
          </a:xfrm>
          <a:prstGeom prst="rect">
            <a:avLst/>
          </a:prstGeom>
        </p:spPr>
      </p:pic>
    </p:spTree>
    <p:extLst>
      <p:ext uri="{BB962C8B-B14F-4D97-AF65-F5344CB8AC3E}">
        <p14:creationId xmlns:p14="http://schemas.microsoft.com/office/powerpoint/2010/main" val="204845220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ED7827-838D-D688-39FC-2E5FE009271D}"/>
              </a:ext>
            </a:extLst>
          </p:cNvPr>
          <p:cNvSpPr>
            <a:spLocks noGrp="1"/>
          </p:cNvSpPr>
          <p:nvPr>
            <p:ph type="title"/>
          </p:nvPr>
        </p:nvSpPr>
        <p:spPr/>
        <p:txBody>
          <a:bodyPr/>
          <a:lstStyle/>
          <a:p>
            <a:r>
              <a:rPr lang="en-US" dirty="0"/>
              <a:t>Group Activity with R – Example Answer</a:t>
            </a:r>
          </a:p>
        </p:txBody>
      </p:sp>
      <p:pic>
        <p:nvPicPr>
          <p:cNvPr id="7" name="Content Placeholder 6" descr="A computer code with purple text  AI-generated content may be incorrect.">
            <a:extLst>
              <a:ext uri="{FF2B5EF4-FFF2-40B4-BE49-F238E27FC236}">
                <a16:creationId xmlns:a16="http://schemas.microsoft.com/office/drawing/2014/main" id="{0E72D52C-42BD-2FD5-504C-78F98B1815D2}"/>
              </a:ext>
            </a:extLst>
          </p:cNvPr>
          <p:cNvPicPr>
            <a:picLocks noGrp="1" noChangeAspect="1"/>
          </p:cNvPicPr>
          <p:nvPr>
            <p:ph idx="1"/>
          </p:nvPr>
        </p:nvPicPr>
        <p:blipFill>
          <a:blip r:embed="rId2">
            <a:extLst>
              <a:ext uri="{28A0092B-C50C-407E-A947-70E740481C1C}">
                <a14:useLocalDpi xmlns:a14="http://schemas.microsoft.com/office/drawing/2010/main"/>
              </a:ext>
            </a:extLst>
          </a:blip>
          <a:stretch>
            <a:fillRect/>
          </a:stretch>
        </p:blipFill>
        <p:spPr>
          <a:xfrm>
            <a:off x="5656080" y="3920418"/>
            <a:ext cx="6426200" cy="2552700"/>
          </a:xfrm>
        </p:spPr>
      </p:pic>
      <p:sp>
        <p:nvSpPr>
          <p:cNvPr id="5" name="TextBox 4">
            <a:extLst>
              <a:ext uri="{FF2B5EF4-FFF2-40B4-BE49-F238E27FC236}">
                <a16:creationId xmlns:a16="http://schemas.microsoft.com/office/drawing/2014/main" id="{B2DFF9AF-BF3F-3A28-CA0F-59D189B6FBED}"/>
              </a:ext>
            </a:extLst>
          </p:cNvPr>
          <p:cNvSpPr txBox="1"/>
          <p:nvPr/>
        </p:nvSpPr>
        <p:spPr>
          <a:xfrm>
            <a:off x="838200" y="2270771"/>
            <a:ext cx="6100996" cy="1754326"/>
          </a:xfrm>
          <a:prstGeom prst="rect">
            <a:avLst/>
          </a:prstGeom>
          <a:noFill/>
        </p:spPr>
        <p:txBody>
          <a:bodyPr wrap="square">
            <a:spAutoFit/>
          </a:bodyPr>
          <a:lstStyle/>
          <a:p>
            <a:r>
              <a:rPr lang="en-US" dirty="0"/>
              <a:t># 1. Convert empty string to missing</a:t>
            </a:r>
          </a:p>
          <a:p>
            <a:r>
              <a:rPr lang="en-US" dirty="0" err="1"/>
              <a:t>msd$Parent_Consent</a:t>
            </a:r>
            <a:r>
              <a:rPr lang="en-US" dirty="0"/>
              <a:t>[</a:t>
            </a:r>
            <a:r>
              <a:rPr lang="en-US" dirty="0" err="1"/>
              <a:t>msd$Parent_Consent</a:t>
            </a:r>
            <a:r>
              <a:rPr lang="en-US" dirty="0"/>
              <a:t xml:space="preserve"> == ""] &lt;- NA</a:t>
            </a:r>
          </a:p>
          <a:p>
            <a:r>
              <a:rPr lang="en-US" dirty="0"/>
              <a:t># 2. Convert all the values to upper case</a:t>
            </a:r>
          </a:p>
          <a:p>
            <a:r>
              <a:rPr lang="en-US" dirty="0" err="1"/>
              <a:t>msd$Parent_Consent</a:t>
            </a:r>
            <a:r>
              <a:rPr lang="en-US" dirty="0"/>
              <a:t xml:space="preserve"> &lt;- </a:t>
            </a:r>
            <a:r>
              <a:rPr lang="en-US" dirty="0" err="1"/>
              <a:t>toupper</a:t>
            </a:r>
            <a:r>
              <a:rPr lang="en-US" dirty="0"/>
              <a:t>(</a:t>
            </a:r>
            <a:r>
              <a:rPr lang="en-US" dirty="0" err="1"/>
              <a:t>msd$Parent_Consent</a:t>
            </a:r>
            <a:r>
              <a:rPr lang="en-US" dirty="0"/>
              <a:t>)</a:t>
            </a:r>
          </a:p>
          <a:p>
            <a:r>
              <a:rPr lang="en-US" dirty="0"/>
              <a:t># 3. Check the Variable</a:t>
            </a:r>
          </a:p>
          <a:p>
            <a:r>
              <a:rPr lang="en-US" dirty="0"/>
              <a:t>table(</a:t>
            </a:r>
            <a:r>
              <a:rPr lang="en-US" dirty="0" err="1"/>
              <a:t>msd$Parent_Consent</a:t>
            </a:r>
            <a:r>
              <a:rPr lang="en-US" dirty="0"/>
              <a:t xml:space="preserve">, </a:t>
            </a:r>
            <a:r>
              <a:rPr lang="en-US" dirty="0" err="1"/>
              <a:t>useNA</a:t>
            </a:r>
            <a:r>
              <a:rPr lang="en-US" dirty="0"/>
              <a:t xml:space="preserve"> = "always")</a:t>
            </a:r>
          </a:p>
        </p:txBody>
      </p:sp>
    </p:spTree>
    <p:extLst>
      <p:ext uri="{BB962C8B-B14F-4D97-AF65-F5344CB8AC3E}">
        <p14:creationId xmlns:p14="http://schemas.microsoft.com/office/powerpoint/2010/main" val="28655339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37243-FEF9-9B2C-F80D-5E3923D67F37}"/>
              </a:ext>
            </a:extLst>
          </p:cNvPr>
          <p:cNvSpPr>
            <a:spLocks noGrp="1"/>
          </p:cNvSpPr>
          <p:nvPr>
            <p:ph type="title"/>
          </p:nvPr>
        </p:nvSpPr>
        <p:spPr/>
        <p:txBody>
          <a:bodyPr/>
          <a:lstStyle/>
          <a:p>
            <a:r>
              <a:rPr lang="en-US" dirty="0"/>
              <a:t>Group Activity with R – Example Answer</a:t>
            </a:r>
          </a:p>
        </p:txBody>
      </p:sp>
      <p:sp>
        <p:nvSpPr>
          <p:cNvPr id="3" name="Content Placeholder 2">
            <a:extLst>
              <a:ext uri="{FF2B5EF4-FFF2-40B4-BE49-F238E27FC236}">
                <a16:creationId xmlns:a16="http://schemas.microsoft.com/office/drawing/2014/main" id="{5E91C943-0938-ED78-2F20-529E87EC8CA7}"/>
              </a:ext>
            </a:extLst>
          </p:cNvPr>
          <p:cNvSpPr>
            <a:spLocks noGrp="1"/>
          </p:cNvSpPr>
          <p:nvPr>
            <p:ph idx="1"/>
          </p:nvPr>
        </p:nvSpPr>
        <p:spPr/>
        <p:txBody>
          <a:bodyPr/>
          <a:lstStyle/>
          <a:p>
            <a:r>
              <a:rPr lang="en-US" dirty="0"/>
              <a:t>Lunch program variable</a:t>
            </a:r>
          </a:p>
        </p:txBody>
      </p:sp>
      <p:pic>
        <p:nvPicPr>
          <p:cNvPr id="5" name="Picture 4" descr="A close-up of a computer code  AI-generated content may be incorrect.">
            <a:extLst>
              <a:ext uri="{FF2B5EF4-FFF2-40B4-BE49-F238E27FC236}">
                <a16:creationId xmlns:a16="http://schemas.microsoft.com/office/drawing/2014/main" id="{96DD4473-094D-583B-CF2C-3EA661431792}"/>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1063469" y="3268034"/>
            <a:ext cx="6197600" cy="1981200"/>
          </a:xfrm>
          <a:prstGeom prst="rect">
            <a:avLst/>
          </a:prstGeom>
        </p:spPr>
      </p:pic>
    </p:spTree>
    <p:extLst>
      <p:ext uri="{BB962C8B-B14F-4D97-AF65-F5344CB8AC3E}">
        <p14:creationId xmlns:p14="http://schemas.microsoft.com/office/powerpoint/2010/main" val="327985924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92C09B-B8DF-D2C1-729B-68F8B669CAC6}"/>
              </a:ext>
            </a:extLst>
          </p:cNvPr>
          <p:cNvSpPr>
            <a:spLocks noGrp="1"/>
          </p:cNvSpPr>
          <p:nvPr>
            <p:ph type="title"/>
          </p:nvPr>
        </p:nvSpPr>
        <p:spPr/>
        <p:txBody>
          <a:bodyPr/>
          <a:lstStyle/>
          <a:p>
            <a:r>
              <a:rPr lang="en-US" dirty="0"/>
              <a:t>Group Activity with R – Example Answer</a:t>
            </a:r>
          </a:p>
        </p:txBody>
      </p:sp>
      <p:sp>
        <p:nvSpPr>
          <p:cNvPr id="3" name="Content Placeholder 2">
            <a:extLst>
              <a:ext uri="{FF2B5EF4-FFF2-40B4-BE49-F238E27FC236}">
                <a16:creationId xmlns:a16="http://schemas.microsoft.com/office/drawing/2014/main" id="{542BD1F9-7A23-A1FF-83AB-1FE1F1DA837B}"/>
              </a:ext>
            </a:extLst>
          </p:cNvPr>
          <p:cNvSpPr>
            <a:spLocks noGrp="1"/>
          </p:cNvSpPr>
          <p:nvPr>
            <p:ph idx="1"/>
          </p:nvPr>
        </p:nvSpPr>
        <p:spPr/>
        <p:txBody>
          <a:bodyPr/>
          <a:lstStyle/>
          <a:p>
            <a:r>
              <a:rPr lang="en-US" dirty="0"/>
              <a:t>Birth year should 2005 instead of 2025 for the 11</a:t>
            </a:r>
            <a:r>
              <a:rPr lang="en-US" baseline="30000" dirty="0"/>
              <a:t>th</a:t>
            </a:r>
            <a:r>
              <a:rPr lang="en-US" dirty="0"/>
              <a:t xml:space="preserve"> grader</a:t>
            </a:r>
          </a:p>
        </p:txBody>
      </p:sp>
      <p:pic>
        <p:nvPicPr>
          <p:cNvPr id="5" name="Picture 4" descr="A close-up of a number  AI-generated content may be incorrect.">
            <a:extLst>
              <a:ext uri="{FF2B5EF4-FFF2-40B4-BE49-F238E27FC236}">
                <a16:creationId xmlns:a16="http://schemas.microsoft.com/office/drawing/2014/main" id="{C85F54AA-1D0D-15DC-F425-C377878962DC}"/>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2774950" y="3579943"/>
            <a:ext cx="6642100" cy="2006600"/>
          </a:xfrm>
          <a:prstGeom prst="rect">
            <a:avLst/>
          </a:prstGeom>
        </p:spPr>
      </p:pic>
    </p:spTree>
    <p:extLst>
      <p:ext uri="{BB962C8B-B14F-4D97-AF65-F5344CB8AC3E}">
        <p14:creationId xmlns:p14="http://schemas.microsoft.com/office/powerpoint/2010/main" val="403444997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B0AF3D-4DFA-2E11-556E-17EF54D42A4C}"/>
              </a:ext>
            </a:extLst>
          </p:cNvPr>
          <p:cNvSpPr>
            <a:spLocks noGrp="1"/>
          </p:cNvSpPr>
          <p:nvPr>
            <p:ph type="title"/>
          </p:nvPr>
        </p:nvSpPr>
        <p:spPr/>
        <p:txBody>
          <a:bodyPr/>
          <a:lstStyle/>
          <a:p>
            <a:r>
              <a:rPr lang="en-US" dirty="0"/>
              <a:t>Group Activity with R – Example Answer</a:t>
            </a:r>
          </a:p>
        </p:txBody>
      </p:sp>
      <p:sp>
        <p:nvSpPr>
          <p:cNvPr id="3" name="Content Placeholder 2">
            <a:extLst>
              <a:ext uri="{FF2B5EF4-FFF2-40B4-BE49-F238E27FC236}">
                <a16:creationId xmlns:a16="http://schemas.microsoft.com/office/drawing/2014/main" id="{5E293039-47C6-0555-C40C-89671EA978B0}"/>
              </a:ext>
            </a:extLst>
          </p:cNvPr>
          <p:cNvSpPr>
            <a:spLocks noGrp="1"/>
          </p:cNvSpPr>
          <p:nvPr>
            <p:ph idx="1"/>
          </p:nvPr>
        </p:nvSpPr>
        <p:spPr/>
        <p:txBody>
          <a:bodyPr/>
          <a:lstStyle/>
          <a:p>
            <a:r>
              <a:rPr lang="en-US" dirty="0"/>
              <a:t>Check the height</a:t>
            </a:r>
          </a:p>
          <a:p>
            <a:r>
              <a:rPr lang="en-US" dirty="0"/>
              <a:t>Let’s sort it, 25 seems a bit short, we don’t know what it can be. We can either remove (make it missing) or impute a mean value</a:t>
            </a:r>
          </a:p>
        </p:txBody>
      </p:sp>
      <p:pic>
        <p:nvPicPr>
          <p:cNvPr id="4" name="Content Placeholder 4">
            <a:extLst>
              <a:ext uri="{FF2B5EF4-FFF2-40B4-BE49-F238E27FC236}">
                <a16:creationId xmlns:a16="http://schemas.microsoft.com/office/drawing/2014/main" id="{52822533-F640-9E59-73BA-241101E1C368}"/>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838200" y="4268446"/>
            <a:ext cx="10730395" cy="687977"/>
          </a:xfrm>
          <a:prstGeom prst="rect">
            <a:avLst/>
          </a:prstGeom>
        </p:spPr>
      </p:pic>
    </p:spTree>
    <p:extLst>
      <p:ext uri="{BB962C8B-B14F-4D97-AF65-F5344CB8AC3E}">
        <p14:creationId xmlns:p14="http://schemas.microsoft.com/office/powerpoint/2010/main" val="206221874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DC7FA7-6D11-7E70-3343-845CBA83421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2106CAC-5AD1-F2CF-9C32-10932667064B}"/>
              </a:ext>
            </a:extLst>
          </p:cNvPr>
          <p:cNvSpPr>
            <a:spLocks noGrp="1"/>
          </p:cNvSpPr>
          <p:nvPr>
            <p:ph type="title"/>
          </p:nvPr>
        </p:nvSpPr>
        <p:spPr/>
        <p:txBody>
          <a:bodyPr/>
          <a:lstStyle/>
          <a:p>
            <a:r>
              <a:rPr lang="en-US" dirty="0"/>
              <a:t>Group Activity with R – Example Answer</a:t>
            </a:r>
          </a:p>
        </p:txBody>
      </p:sp>
      <p:sp>
        <p:nvSpPr>
          <p:cNvPr id="3" name="Content Placeholder 2">
            <a:extLst>
              <a:ext uri="{FF2B5EF4-FFF2-40B4-BE49-F238E27FC236}">
                <a16:creationId xmlns:a16="http://schemas.microsoft.com/office/drawing/2014/main" id="{A535304E-49BD-A4C0-8B20-82EB4E11E008}"/>
              </a:ext>
            </a:extLst>
          </p:cNvPr>
          <p:cNvSpPr>
            <a:spLocks noGrp="1"/>
          </p:cNvSpPr>
          <p:nvPr>
            <p:ph idx="1"/>
          </p:nvPr>
        </p:nvSpPr>
        <p:spPr/>
        <p:txBody>
          <a:bodyPr/>
          <a:lstStyle/>
          <a:p>
            <a:r>
              <a:rPr lang="en-US" dirty="0"/>
              <a:t>Let’s erase it, we will impute later</a:t>
            </a:r>
          </a:p>
        </p:txBody>
      </p:sp>
      <p:pic>
        <p:nvPicPr>
          <p:cNvPr id="6" name="Picture 5" descr="A close-up of a math equation  AI-generated content may be incorrect.">
            <a:extLst>
              <a:ext uri="{FF2B5EF4-FFF2-40B4-BE49-F238E27FC236}">
                <a16:creationId xmlns:a16="http://schemas.microsoft.com/office/drawing/2014/main" id="{D63E0090-003C-0E9C-2BC6-3056CE8FFBE6}"/>
              </a:ext>
            </a:extLst>
          </p:cNvPr>
          <p:cNvPicPr>
            <a:picLocks noChangeAspect="1"/>
          </p:cNvPicPr>
          <p:nvPr/>
        </p:nvPicPr>
        <p:blipFill>
          <a:blip r:embed="rId2" cstate="screen">
            <a:extLst>
              <a:ext uri="{28A0092B-C50C-407E-A947-70E740481C1C}">
                <a14:useLocalDpi xmlns:a14="http://schemas.microsoft.com/office/drawing/2010/main"/>
              </a:ext>
            </a:extLst>
          </a:blip>
          <a:srcRect t="3329"/>
          <a:stretch/>
        </p:blipFill>
        <p:spPr>
          <a:xfrm>
            <a:off x="4161229" y="4823791"/>
            <a:ext cx="7772400" cy="1936933"/>
          </a:xfrm>
          <a:prstGeom prst="rect">
            <a:avLst/>
          </a:prstGeom>
        </p:spPr>
      </p:pic>
      <p:sp>
        <p:nvSpPr>
          <p:cNvPr id="8" name="TextBox 7">
            <a:extLst>
              <a:ext uri="{FF2B5EF4-FFF2-40B4-BE49-F238E27FC236}">
                <a16:creationId xmlns:a16="http://schemas.microsoft.com/office/drawing/2014/main" id="{53F04749-FAC2-310D-7D53-951435A5639B}"/>
              </a:ext>
            </a:extLst>
          </p:cNvPr>
          <p:cNvSpPr txBox="1"/>
          <p:nvPr/>
        </p:nvSpPr>
        <p:spPr>
          <a:xfrm>
            <a:off x="258371" y="3173577"/>
            <a:ext cx="8645785" cy="2308324"/>
          </a:xfrm>
          <a:prstGeom prst="rect">
            <a:avLst/>
          </a:prstGeom>
          <a:noFill/>
        </p:spPr>
        <p:txBody>
          <a:bodyPr wrap="square">
            <a:spAutoFit/>
          </a:bodyPr>
          <a:lstStyle/>
          <a:p>
            <a:r>
              <a:rPr lang="en-US" dirty="0"/>
              <a:t># Remove the smallest height</a:t>
            </a:r>
          </a:p>
          <a:p>
            <a:r>
              <a:rPr lang="en-US" dirty="0" err="1"/>
              <a:t>msd$Height_in</a:t>
            </a:r>
            <a:r>
              <a:rPr lang="en-US" dirty="0"/>
              <a:t>[</a:t>
            </a:r>
            <a:r>
              <a:rPr lang="en-US" dirty="0" err="1"/>
              <a:t>msd$Height_in</a:t>
            </a:r>
            <a:r>
              <a:rPr lang="en-US" dirty="0"/>
              <a:t xml:space="preserve"> == 25] &lt;- NA</a:t>
            </a:r>
          </a:p>
          <a:p>
            <a:endParaRPr lang="en-US" dirty="0"/>
          </a:p>
          <a:p>
            <a:r>
              <a:rPr lang="en-US" dirty="0"/>
              <a:t># Impute height</a:t>
            </a:r>
          </a:p>
          <a:p>
            <a:r>
              <a:rPr lang="en-US" dirty="0" err="1"/>
              <a:t>msd$Height_in</a:t>
            </a:r>
            <a:r>
              <a:rPr lang="en-US" dirty="0"/>
              <a:t>[</a:t>
            </a:r>
            <a:r>
              <a:rPr lang="en-US" dirty="0" err="1"/>
              <a:t>is.na</a:t>
            </a:r>
            <a:r>
              <a:rPr lang="en-US" dirty="0"/>
              <a:t>(</a:t>
            </a:r>
            <a:r>
              <a:rPr lang="en-US" dirty="0" err="1"/>
              <a:t>msd$Height_in</a:t>
            </a:r>
            <a:r>
              <a:rPr lang="en-US" dirty="0"/>
              <a:t>)] &lt;- mean(</a:t>
            </a:r>
            <a:r>
              <a:rPr lang="en-US" dirty="0" err="1"/>
              <a:t>msd$Height_in</a:t>
            </a:r>
            <a:r>
              <a:rPr lang="en-US" dirty="0"/>
              <a:t xml:space="preserve">, </a:t>
            </a:r>
            <a:r>
              <a:rPr lang="en-US" dirty="0" err="1"/>
              <a:t>na.rm</a:t>
            </a:r>
            <a:r>
              <a:rPr lang="en-US" dirty="0"/>
              <a:t xml:space="preserve"> = TRUE)</a:t>
            </a:r>
          </a:p>
          <a:p>
            <a:endParaRPr lang="en-US" dirty="0"/>
          </a:p>
          <a:p>
            <a:r>
              <a:rPr lang="en-US" dirty="0"/>
              <a:t># Check the summary</a:t>
            </a:r>
          </a:p>
          <a:p>
            <a:r>
              <a:rPr lang="en-US" dirty="0"/>
              <a:t>summary(</a:t>
            </a:r>
            <a:r>
              <a:rPr lang="en-US" dirty="0" err="1"/>
              <a:t>msd$Height_in</a:t>
            </a:r>
            <a:r>
              <a:rPr lang="en-US" dirty="0"/>
              <a:t>)</a:t>
            </a:r>
          </a:p>
        </p:txBody>
      </p:sp>
    </p:spTree>
    <p:extLst>
      <p:ext uri="{BB962C8B-B14F-4D97-AF65-F5344CB8AC3E}">
        <p14:creationId xmlns:p14="http://schemas.microsoft.com/office/powerpoint/2010/main" val="2765849750"/>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72845B-C8E4-098F-88D9-C5810A591512}"/>
              </a:ext>
            </a:extLst>
          </p:cNvPr>
          <p:cNvSpPr>
            <a:spLocks noGrp="1"/>
          </p:cNvSpPr>
          <p:nvPr>
            <p:ph type="title"/>
          </p:nvPr>
        </p:nvSpPr>
        <p:spPr>
          <a:xfrm>
            <a:off x="838200" y="508958"/>
            <a:ext cx="10515600" cy="1325563"/>
          </a:xfrm>
        </p:spPr>
        <p:txBody>
          <a:bodyPr/>
          <a:lstStyle/>
          <a:p>
            <a:r>
              <a:rPr lang="en-US" dirty="0"/>
              <a:t>Group Activity with R – Example Answer</a:t>
            </a:r>
          </a:p>
        </p:txBody>
      </p:sp>
      <p:sp>
        <p:nvSpPr>
          <p:cNvPr id="3" name="Content Placeholder 2">
            <a:extLst>
              <a:ext uri="{FF2B5EF4-FFF2-40B4-BE49-F238E27FC236}">
                <a16:creationId xmlns:a16="http://schemas.microsoft.com/office/drawing/2014/main" id="{382C5C3D-6E8B-4C17-26FC-8B2F601F1203}"/>
              </a:ext>
            </a:extLst>
          </p:cNvPr>
          <p:cNvSpPr>
            <a:spLocks noGrp="1"/>
          </p:cNvSpPr>
          <p:nvPr>
            <p:ph idx="1"/>
          </p:nvPr>
        </p:nvSpPr>
        <p:spPr>
          <a:xfrm>
            <a:off x="838200" y="1642544"/>
            <a:ext cx="10515600" cy="3572911"/>
          </a:xfrm>
        </p:spPr>
        <p:txBody>
          <a:bodyPr/>
          <a:lstStyle/>
          <a:p>
            <a:r>
              <a:rPr lang="en-US" dirty="0"/>
              <a:t>Impute weight and GPA, and check the summary</a:t>
            </a:r>
          </a:p>
        </p:txBody>
      </p:sp>
      <p:pic>
        <p:nvPicPr>
          <p:cNvPr id="5" name="Picture 4" descr="A screenshot of a computer screen  AI-generated content may be incorrect.">
            <a:extLst>
              <a:ext uri="{FF2B5EF4-FFF2-40B4-BE49-F238E27FC236}">
                <a16:creationId xmlns:a16="http://schemas.microsoft.com/office/drawing/2014/main" id="{7F48C16A-0B55-A290-C90E-C9B5E03087DE}"/>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4419600" y="2515559"/>
            <a:ext cx="7772400" cy="4342441"/>
          </a:xfrm>
          <a:prstGeom prst="rect">
            <a:avLst/>
          </a:prstGeom>
        </p:spPr>
      </p:pic>
      <p:sp>
        <p:nvSpPr>
          <p:cNvPr id="6" name="TextBox 5">
            <a:extLst>
              <a:ext uri="{FF2B5EF4-FFF2-40B4-BE49-F238E27FC236}">
                <a16:creationId xmlns:a16="http://schemas.microsoft.com/office/drawing/2014/main" id="{B9F0B5E4-4331-0852-2ABE-D3EAC9D58014}"/>
              </a:ext>
            </a:extLst>
          </p:cNvPr>
          <p:cNvSpPr txBox="1"/>
          <p:nvPr/>
        </p:nvSpPr>
        <p:spPr>
          <a:xfrm>
            <a:off x="329216" y="2968107"/>
            <a:ext cx="3972962" cy="2585323"/>
          </a:xfrm>
          <a:prstGeom prst="rect">
            <a:avLst/>
          </a:prstGeom>
          <a:noFill/>
        </p:spPr>
        <p:txBody>
          <a:bodyPr wrap="square" rtlCol="0">
            <a:spAutoFit/>
          </a:bodyPr>
          <a:lstStyle/>
          <a:p>
            <a:r>
              <a:rPr lang="en-US" dirty="0"/>
              <a:t># Impute weight and GPA</a:t>
            </a:r>
          </a:p>
          <a:p>
            <a:r>
              <a:rPr lang="en-US" dirty="0" err="1"/>
              <a:t>msd$Weight_lb</a:t>
            </a:r>
            <a:r>
              <a:rPr lang="en-US" dirty="0"/>
              <a:t>[</a:t>
            </a:r>
            <a:r>
              <a:rPr lang="en-US" dirty="0" err="1"/>
              <a:t>is.na</a:t>
            </a:r>
            <a:r>
              <a:rPr lang="en-US" dirty="0"/>
              <a:t>(</a:t>
            </a:r>
            <a:r>
              <a:rPr lang="en-US" dirty="0" err="1"/>
              <a:t>msd$Weight_lb</a:t>
            </a:r>
            <a:r>
              <a:rPr lang="en-US" dirty="0"/>
              <a:t>)] &lt;- mean(</a:t>
            </a:r>
            <a:r>
              <a:rPr lang="en-US" dirty="0" err="1"/>
              <a:t>msd$Weight_lb</a:t>
            </a:r>
            <a:r>
              <a:rPr lang="en-US" dirty="0"/>
              <a:t xml:space="preserve">, </a:t>
            </a:r>
            <a:r>
              <a:rPr lang="en-US" dirty="0" err="1"/>
              <a:t>na.rm</a:t>
            </a:r>
            <a:r>
              <a:rPr lang="en-US" dirty="0"/>
              <a:t xml:space="preserve"> = TRUE)</a:t>
            </a:r>
          </a:p>
          <a:p>
            <a:r>
              <a:rPr lang="en-US" dirty="0" err="1"/>
              <a:t>msd$GPA</a:t>
            </a:r>
            <a:r>
              <a:rPr lang="en-US" dirty="0"/>
              <a:t>[</a:t>
            </a:r>
            <a:r>
              <a:rPr lang="en-US" dirty="0" err="1"/>
              <a:t>is.na</a:t>
            </a:r>
            <a:r>
              <a:rPr lang="en-US" dirty="0"/>
              <a:t>(</a:t>
            </a:r>
            <a:r>
              <a:rPr lang="en-US" dirty="0" err="1"/>
              <a:t>msd$GPA</a:t>
            </a:r>
            <a:r>
              <a:rPr lang="en-US" dirty="0"/>
              <a:t>)] &lt;- mean(</a:t>
            </a:r>
            <a:r>
              <a:rPr lang="en-US" dirty="0" err="1"/>
              <a:t>msd$GPA</a:t>
            </a:r>
            <a:r>
              <a:rPr lang="en-US" dirty="0"/>
              <a:t xml:space="preserve">, </a:t>
            </a:r>
            <a:r>
              <a:rPr lang="en-US" dirty="0" err="1"/>
              <a:t>na.rm</a:t>
            </a:r>
            <a:r>
              <a:rPr lang="en-US" dirty="0"/>
              <a:t xml:space="preserve"> = TRUE)</a:t>
            </a:r>
          </a:p>
          <a:p>
            <a:endParaRPr lang="en-US" dirty="0"/>
          </a:p>
          <a:p>
            <a:r>
              <a:rPr lang="en-US" dirty="0"/>
              <a:t># Check the summary</a:t>
            </a:r>
          </a:p>
          <a:p>
            <a:r>
              <a:rPr lang="en-US" dirty="0"/>
              <a:t>summary(</a:t>
            </a:r>
            <a:r>
              <a:rPr lang="en-US" dirty="0" err="1"/>
              <a:t>msd</a:t>
            </a:r>
            <a:r>
              <a:rPr lang="en-US" dirty="0"/>
              <a:t>)</a:t>
            </a:r>
          </a:p>
        </p:txBody>
      </p:sp>
    </p:spTree>
    <p:extLst>
      <p:ext uri="{BB962C8B-B14F-4D97-AF65-F5344CB8AC3E}">
        <p14:creationId xmlns:p14="http://schemas.microsoft.com/office/powerpoint/2010/main" val="4087979088"/>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1DCFBB-81C8-D5EC-7354-6658DBAFDA4D}"/>
              </a:ext>
            </a:extLst>
          </p:cNvPr>
          <p:cNvSpPr>
            <a:spLocks noGrp="1"/>
          </p:cNvSpPr>
          <p:nvPr>
            <p:ph type="title"/>
          </p:nvPr>
        </p:nvSpPr>
        <p:spPr>
          <a:xfrm>
            <a:off x="733269" y="429336"/>
            <a:ext cx="10515600" cy="704538"/>
          </a:xfrm>
        </p:spPr>
        <p:txBody>
          <a:bodyPr/>
          <a:lstStyle/>
          <a:p>
            <a:r>
              <a:rPr lang="en-US" dirty="0"/>
              <a:t>Log Record</a:t>
            </a:r>
          </a:p>
        </p:txBody>
      </p:sp>
      <p:graphicFrame>
        <p:nvGraphicFramePr>
          <p:cNvPr id="4" name="Content Placeholder 3">
            <a:extLst>
              <a:ext uri="{FF2B5EF4-FFF2-40B4-BE49-F238E27FC236}">
                <a16:creationId xmlns:a16="http://schemas.microsoft.com/office/drawing/2014/main" id="{B64CA360-ACCD-49DE-56DB-D87F02232313}"/>
              </a:ext>
            </a:extLst>
          </p:cNvPr>
          <p:cNvGraphicFramePr>
            <a:graphicFrameLocks noGrp="1"/>
          </p:cNvGraphicFramePr>
          <p:nvPr>
            <p:ph idx="1"/>
            <p:extLst>
              <p:ext uri="{D42A27DB-BD31-4B8C-83A1-F6EECF244321}">
                <p14:modId xmlns:p14="http://schemas.microsoft.com/office/powerpoint/2010/main" val="3689916520"/>
              </p:ext>
            </p:extLst>
          </p:nvPr>
        </p:nvGraphicFramePr>
        <p:xfrm>
          <a:off x="733269" y="1418767"/>
          <a:ext cx="11004031" cy="5158609"/>
        </p:xfrm>
        <a:graphic>
          <a:graphicData uri="http://schemas.openxmlformats.org/drawingml/2006/table">
            <a:tbl>
              <a:tblPr firstRow="1">
                <a:tableStyleId>{5940675A-B579-460E-94D1-54222C63F5DA}</a:tableStyleId>
              </a:tblPr>
              <a:tblGrid>
                <a:gridCol w="480936">
                  <a:extLst>
                    <a:ext uri="{9D8B030D-6E8A-4147-A177-3AD203B41FA5}">
                      <a16:colId xmlns:a16="http://schemas.microsoft.com/office/drawing/2014/main" val="4237126319"/>
                    </a:ext>
                  </a:extLst>
                </a:gridCol>
                <a:gridCol w="1783828">
                  <a:extLst>
                    <a:ext uri="{9D8B030D-6E8A-4147-A177-3AD203B41FA5}">
                      <a16:colId xmlns:a16="http://schemas.microsoft.com/office/drawing/2014/main" val="853495599"/>
                    </a:ext>
                  </a:extLst>
                </a:gridCol>
                <a:gridCol w="8739267">
                  <a:extLst>
                    <a:ext uri="{9D8B030D-6E8A-4147-A177-3AD203B41FA5}">
                      <a16:colId xmlns:a16="http://schemas.microsoft.com/office/drawing/2014/main" val="2544944044"/>
                    </a:ext>
                  </a:extLst>
                </a:gridCol>
              </a:tblGrid>
              <a:tr h="347291">
                <a:tc>
                  <a:txBody>
                    <a:bodyPr/>
                    <a:lstStyle/>
                    <a:p>
                      <a:pPr algn="l" fontAlgn="b"/>
                      <a:r>
                        <a:rPr lang="en-US" sz="1600" b="1" u="none" strike="noStrike" dirty="0">
                          <a:solidFill>
                            <a:srgbClr val="000000"/>
                          </a:solidFill>
                          <a:effectLst/>
                        </a:rPr>
                        <a:t>Step</a:t>
                      </a:r>
                      <a:endParaRPr lang="en-US" sz="1600" b="1" i="0" u="none" strike="noStrike" dirty="0">
                        <a:solidFill>
                          <a:srgbClr val="000000"/>
                        </a:solidFill>
                        <a:effectLst/>
                        <a:latin typeface="Aptos Narrow" panose="020B0004020202020204" pitchFamily="34" charset="0"/>
                      </a:endParaRPr>
                    </a:p>
                  </a:txBody>
                  <a:tcPr marL="8323" marR="8323" marT="8323" marB="0" anchor="b"/>
                </a:tc>
                <a:tc>
                  <a:txBody>
                    <a:bodyPr/>
                    <a:lstStyle/>
                    <a:p>
                      <a:pPr algn="l" fontAlgn="b"/>
                      <a:r>
                        <a:rPr lang="en-US" sz="1600" b="1" u="none" strike="noStrike" dirty="0">
                          <a:solidFill>
                            <a:srgbClr val="000000"/>
                          </a:solidFill>
                          <a:effectLst/>
                        </a:rPr>
                        <a:t>Activity</a:t>
                      </a:r>
                      <a:endParaRPr lang="en-US" sz="1600" b="1" i="0" u="none" strike="noStrike" dirty="0">
                        <a:solidFill>
                          <a:srgbClr val="000000"/>
                        </a:solidFill>
                        <a:effectLst/>
                        <a:latin typeface="Aptos Narrow" panose="020B0004020202020204" pitchFamily="34" charset="0"/>
                      </a:endParaRPr>
                    </a:p>
                  </a:txBody>
                  <a:tcPr marL="8323" marR="8323" marT="8323" marB="0" anchor="b"/>
                </a:tc>
                <a:tc>
                  <a:txBody>
                    <a:bodyPr/>
                    <a:lstStyle/>
                    <a:p>
                      <a:pPr algn="l" fontAlgn="b"/>
                      <a:r>
                        <a:rPr lang="en-US" sz="1600" b="1" u="none" strike="noStrike">
                          <a:solidFill>
                            <a:srgbClr val="000000"/>
                          </a:solidFill>
                          <a:effectLst/>
                        </a:rPr>
                        <a:t>Description</a:t>
                      </a:r>
                      <a:endParaRPr lang="en-US" sz="1600" b="1" i="0" u="none" strike="noStrike">
                        <a:solidFill>
                          <a:srgbClr val="000000"/>
                        </a:solidFill>
                        <a:effectLst/>
                        <a:latin typeface="Aptos Narrow" panose="020B0004020202020204" pitchFamily="34" charset="0"/>
                      </a:endParaRPr>
                    </a:p>
                  </a:txBody>
                  <a:tcPr marL="8323" marR="8323" marT="8323" marB="0" anchor="b"/>
                </a:tc>
                <a:extLst>
                  <a:ext uri="{0D108BD9-81ED-4DB2-BD59-A6C34878D82A}">
                    <a16:rowId xmlns:a16="http://schemas.microsoft.com/office/drawing/2014/main" val="420928349"/>
                  </a:ext>
                </a:extLst>
              </a:tr>
              <a:tr h="347291">
                <a:tc>
                  <a:txBody>
                    <a:bodyPr/>
                    <a:lstStyle/>
                    <a:p>
                      <a:pPr algn="ctr" fontAlgn="b"/>
                      <a:r>
                        <a:rPr lang="en-US" sz="1600" b="0" u="none" strike="noStrike" dirty="0">
                          <a:solidFill>
                            <a:srgbClr val="000000"/>
                          </a:solidFill>
                          <a:effectLst/>
                        </a:rPr>
                        <a:t>1</a:t>
                      </a:r>
                      <a:endParaRPr lang="en-US" sz="1600" b="0" i="0" u="none" strike="noStrike" dirty="0">
                        <a:solidFill>
                          <a:srgbClr val="000000"/>
                        </a:solidFill>
                        <a:effectLst/>
                        <a:latin typeface="Aptos Narrow" panose="020B0004020202020204" pitchFamily="34" charset="0"/>
                      </a:endParaRPr>
                    </a:p>
                  </a:txBody>
                  <a:tcPr marL="8323" marR="8323" marT="8323" marB="0" anchor="b"/>
                </a:tc>
                <a:tc>
                  <a:txBody>
                    <a:bodyPr/>
                    <a:lstStyle/>
                    <a:p>
                      <a:pPr algn="l" fontAlgn="b"/>
                      <a:r>
                        <a:rPr lang="en-US" sz="1600" b="1" u="none" strike="noStrike" dirty="0">
                          <a:solidFill>
                            <a:srgbClr val="000000"/>
                          </a:solidFill>
                          <a:effectLst/>
                        </a:rPr>
                        <a:t>Import &amp; Initial Inspection</a:t>
                      </a:r>
                      <a:endParaRPr lang="en-US" sz="1600" b="1" i="0" u="none" strike="noStrike" dirty="0">
                        <a:solidFill>
                          <a:srgbClr val="000000"/>
                        </a:solidFill>
                        <a:effectLst/>
                        <a:latin typeface="Aptos Narrow" panose="020B0004020202020204" pitchFamily="34" charset="0"/>
                      </a:endParaRPr>
                    </a:p>
                  </a:txBody>
                  <a:tcPr marL="8323" marR="8323" marT="8323" marB="0" anchor="b"/>
                </a:tc>
                <a:tc>
                  <a:txBody>
                    <a:bodyPr/>
                    <a:lstStyle/>
                    <a:p>
                      <a:pPr algn="l" fontAlgn="b"/>
                      <a:r>
                        <a:rPr lang="en-US" sz="1600" b="0" u="none" strike="noStrike" dirty="0">
                          <a:solidFill>
                            <a:srgbClr val="000000"/>
                          </a:solidFill>
                          <a:effectLst/>
                        </a:rPr>
                        <a:t>• Read “</a:t>
                      </a:r>
                      <a:r>
                        <a:rPr lang="en-US" sz="1600" b="0" u="none" strike="noStrike" dirty="0" err="1">
                          <a:solidFill>
                            <a:srgbClr val="000000"/>
                          </a:solidFill>
                          <a:effectLst/>
                        </a:rPr>
                        <a:t>messy_school_data.csv</a:t>
                      </a:r>
                      <a:r>
                        <a:rPr lang="en-US" sz="1600" b="0" u="none" strike="noStrike" dirty="0">
                          <a:solidFill>
                            <a:srgbClr val="000000"/>
                          </a:solidFill>
                          <a:effectLst/>
                        </a:rPr>
                        <a:t xml:space="preserve">”• Viewed head() and summary() • Ran frequency tables for Grade, Gender, State, Club, </a:t>
                      </a:r>
                      <a:r>
                        <a:rPr lang="en-US" sz="1600" b="0" u="none" strike="noStrike" dirty="0" err="1">
                          <a:solidFill>
                            <a:srgbClr val="000000"/>
                          </a:solidFill>
                          <a:effectLst/>
                        </a:rPr>
                        <a:t>Parent_Consent</a:t>
                      </a:r>
                      <a:r>
                        <a:rPr lang="en-US" sz="1600" b="0" u="none" strike="noStrike" dirty="0">
                          <a:solidFill>
                            <a:srgbClr val="000000"/>
                          </a:solidFill>
                          <a:effectLst/>
                        </a:rPr>
                        <a:t xml:space="preserve">, </a:t>
                      </a:r>
                      <a:r>
                        <a:rPr lang="en-US" sz="1600" b="0" u="none" strike="noStrike" dirty="0" err="1">
                          <a:solidFill>
                            <a:srgbClr val="000000"/>
                          </a:solidFill>
                          <a:effectLst/>
                        </a:rPr>
                        <a:t>Lunch_Program</a:t>
                      </a:r>
                      <a:endParaRPr lang="en-US" sz="1600" b="0" i="0" u="none" strike="noStrike" dirty="0">
                        <a:solidFill>
                          <a:srgbClr val="000000"/>
                        </a:solidFill>
                        <a:effectLst/>
                        <a:latin typeface="Aptos Narrow" panose="020B0004020202020204" pitchFamily="34" charset="0"/>
                      </a:endParaRPr>
                    </a:p>
                  </a:txBody>
                  <a:tcPr marL="8323" marR="8323" marT="8323" marB="0" anchor="b"/>
                </a:tc>
                <a:extLst>
                  <a:ext uri="{0D108BD9-81ED-4DB2-BD59-A6C34878D82A}">
                    <a16:rowId xmlns:a16="http://schemas.microsoft.com/office/drawing/2014/main" val="3810885700"/>
                  </a:ext>
                </a:extLst>
              </a:tr>
              <a:tr h="347291">
                <a:tc>
                  <a:txBody>
                    <a:bodyPr/>
                    <a:lstStyle/>
                    <a:p>
                      <a:pPr algn="ctr" fontAlgn="b"/>
                      <a:r>
                        <a:rPr lang="en-US" sz="1600" b="0" u="none" strike="noStrike" dirty="0">
                          <a:solidFill>
                            <a:srgbClr val="000000"/>
                          </a:solidFill>
                          <a:effectLst/>
                        </a:rPr>
                        <a:t>2</a:t>
                      </a:r>
                      <a:endParaRPr lang="en-US" sz="1600" b="0" i="0" u="none" strike="noStrike" dirty="0">
                        <a:solidFill>
                          <a:srgbClr val="000000"/>
                        </a:solidFill>
                        <a:effectLst/>
                        <a:latin typeface="Aptos Narrow" panose="020B0004020202020204" pitchFamily="34" charset="0"/>
                      </a:endParaRPr>
                    </a:p>
                  </a:txBody>
                  <a:tcPr marL="8323" marR="8323" marT="8323" marB="0" anchor="b"/>
                </a:tc>
                <a:tc>
                  <a:txBody>
                    <a:bodyPr/>
                    <a:lstStyle/>
                    <a:p>
                      <a:pPr algn="l" fontAlgn="b"/>
                      <a:r>
                        <a:rPr lang="en-US" sz="1600" b="1" u="none" strike="noStrike" dirty="0">
                          <a:solidFill>
                            <a:srgbClr val="000000"/>
                          </a:solidFill>
                          <a:effectLst/>
                        </a:rPr>
                        <a:t>Duplicate ID Check</a:t>
                      </a:r>
                      <a:endParaRPr lang="en-US" sz="1600" b="1" i="0" u="none" strike="noStrike" dirty="0">
                        <a:solidFill>
                          <a:srgbClr val="000000"/>
                        </a:solidFill>
                        <a:effectLst/>
                        <a:latin typeface="Aptos Narrow" panose="020B0004020202020204" pitchFamily="34" charset="0"/>
                      </a:endParaRPr>
                    </a:p>
                  </a:txBody>
                  <a:tcPr marL="8323" marR="8323" marT="8323" marB="0" anchor="b"/>
                </a:tc>
                <a:tc>
                  <a:txBody>
                    <a:bodyPr/>
                    <a:lstStyle/>
                    <a:p>
                      <a:pPr algn="l" fontAlgn="b"/>
                      <a:r>
                        <a:rPr lang="en-US" sz="1600" b="0" u="none" strike="noStrike" dirty="0">
                          <a:solidFill>
                            <a:srgbClr val="000000"/>
                          </a:solidFill>
                          <a:effectLst/>
                        </a:rPr>
                        <a:t xml:space="preserve">• Counted duplicated </a:t>
                      </a:r>
                      <a:r>
                        <a:rPr lang="en-US" sz="1600" b="0" u="none" strike="noStrike" dirty="0" err="1">
                          <a:solidFill>
                            <a:srgbClr val="000000"/>
                          </a:solidFill>
                          <a:effectLst/>
                        </a:rPr>
                        <a:t>Student_ID</a:t>
                      </a:r>
                      <a:r>
                        <a:rPr lang="en-US" sz="1600" b="0" u="none" strike="noStrike" dirty="0">
                          <a:solidFill>
                            <a:srgbClr val="000000"/>
                          </a:solidFill>
                          <a:effectLst/>
                        </a:rPr>
                        <a:t xml:space="preserve"> • Identified repeated IDs • Reviewed rows for each duplicate</a:t>
                      </a:r>
                      <a:endParaRPr lang="en-US" sz="1600" b="0" i="0" u="none" strike="noStrike" dirty="0">
                        <a:solidFill>
                          <a:srgbClr val="000000"/>
                        </a:solidFill>
                        <a:effectLst/>
                        <a:latin typeface="Aptos Narrow" panose="020B0004020202020204" pitchFamily="34" charset="0"/>
                      </a:endParaRPr>
                    </a:p>
                  </a:txBody>
                  <a:tcPr marL="8323" marR="8323" marT="8323" marB="0" anchor="b"/>
                </a:tc>
                <a:extLst>
                  <a:ext uri="{0D108BD9-81ED-4DB2-BD59-A6C34878D82A}">
                    <a16:rowId xmlns:a16="http://schemas.microsoft.com/office/drawing/2014/main" val="4137898462"/>
                  </a:ext>
                </a:extLst>
              </a:tr>
              <a:tr h="347291">
                <a:tc>
                  <a:txBody>
                    <a:bodyPr/>
                    <a:lstStyle/>
                    <a:p>
                      <a:pPr algn="ctr" fontAlgn="b"/>
                      <a:r>
                        <a:rPr lang="en-US" sz="1600" b="0" u="none" strike="noStrike" dirty="0">
                          <a:solidFill>
                            <a:srgbClr val="000000"/>
                          </a:solidFill>
                          <a:effectLst/>
                        </a:rPr>
                        <a:t>3</a:t>
                      </a:r>
                      <a:endParaRPr lang="en-US" sz="1600" b="0" i="0" u="none" strike="noStrike" dirty="0">
                        <a:solidFill>
                          <a:srgbClr val="000000"/>
                        </a:solidFill>
                        <a:effectLst/>
                        <a:latin typeface="Aptos Narrow" panose="020B0004020202020204" pitchFamily="34" charset="0"/>
                      </a:endParaRPr>
                    </a:p>
                  </a:txBody>
                  <a:tcPr marL="8323" marR="8323" marT="8323" marB="0" anchor="b"/>
                </a:tc>
                <a:tc>
                  <a:txBody>
                    <a:bodyPr/>
                    <a:lstStyle/>
                    <a:p>
                      <a:pPr algn="l" fontAlgn="b"/>
                      <a:r>
                        <a:rPr lang="en-US" sz="1600" b="1" u="none" strike="noStrike" dirty="0">
                          <a:solidFill>
                            <a:srgbClr val="000000"/>
                          </a:solidFill>
                          <a:effectLst/>
                        </a:rPr>
                        <a:t>Remove Duplicate Rows</a:t>
                      </a:r>
                      <a:endParaRPr lang="en-US" sz="1600" b="1" i="0" u="none" strike="noStrike" dirty="0">
                        <a:solidFill>
                          <a:srgbClr val="000000"/>
                        </a:solidFill>
                        <a:effectLst/>
                        <a:latin typeface="Aptos Narrow" panose="020B0004020202020204" pitchFamily="34" charset="0"/>
                      </a:endParaRPr>
                    </a:p>
                  </a:txBody>
                  <a:tcPr marL="8323" marR="8323" marT="8323" marB="0" anchor="b"/>
                </a:tc>
                <a:tc>
                  <a:txBody>
                    <a:bodyPr/>
                    <a:lstStyle/>
                    <a:p>
                      <a:pPr algn="l" fontAlgn="b"/>
                      <a:r>
                        <a:rPr lang="en-US" sz="1600" b="0" u="none" strike="noStrike" dirty="0">
                          <a:solidFill>
                            <a:srgbClr val="000000"/>
                          </a:solidFill>
                          <a:effectLst/>
                        </a:rPr>
                        <a:t>• Dropped rows 30, 32, 33</a:t>
                      </a:r>
                      <a:endParaRPr lang="en-US" sz="1600" b="0" i="0" u="none" strike="noStrike" dirty="0">
                        <a:solidFill>
                          <a:srgbClr val="000000"/>
                        </a:solidFill>
                        <a:effectLst/>
                        <a:latin typeface="Aptos Narrow" panose="020B0004020202020204" pitchFamily="34" charset="0"/>
                      </a:endParaRPr>
                    </a:p>
                  </a:txBody>
                  <a:tcPr marL="8323" marR="8323" marT="8323" marB="0" anchor="b"/>
                </a:tc>
                <a:extLst>
                  <a:ext uri="{0D108BD9-81ED-4DB2-BD59-A6C34878D82A}">
                    <a16:rowId xmlns:a16="http://schemas.microsoft.com/office/drawing/2014/main" val="1950985286"/>
                  </a:ext>
                </a:extLst>
              </a:tr>
              <a:tr h="347291">
                <a:tc>
                  <a:txBody>
                    <a:bodyPr/>
                    <a:lstStyle/>
                    <a:p>
                      <a:pPr algn="ctr" fontAlgn="b"/>
                      <a:r>
                        <a:rPr lang="en-US" sz="1600" b="0" u="none" strike="noStrike" dirty="0">
                          <a:solidFill>
                            <a:srgbClr val="000000"/>
                          </a:solidFill>
                          <a:effectLst/>
                        </a:rPr>
                        <a:t>4</a:t>
                      </a:r>
                      <a:endParaRPr lang="en-US" sz="1600" b="0" i="0" u="none" strike="noStrike" dirty="0">
                        <a:solidFill>
                          <a:srgbClr val="000000"/>
                        </a:solidFill>
                        <a:effectLst/>
                        <a:latin typeface="Aptos Narrow" panose="020B0004020202020204" pitchFamily="34" charset="0"/>
                      </a:endParaRPr>
                    </a:p>
                  </a:txBody>
                  <a:tcPr marL="8323" marR="8323" marT="8323" marB="0" anchor="b"/>
                </a:tc>
                <a:tc>
                  <a:txBody>
                    <a:bodyPr/>
                    <a:lstStyle/>
                    <a:p>
                      <a:pPr algn="l" fontAlgn="b"/>
                      <a:r>
                        <a:rPr lang="en-US" sz="1600" b="1" u="none" strike="noStrike">
                          <a:solidFill>
                            <a:srgbClr val="000000"/>
                          </a:solidFill>
                          <a:effectLst/>
                        </a:rPr>
                        <a:t>State Standardization</a:t>
                      </a:r>
                      <a:endParaRPr lang="en-US" sz="1600" b="1" i="0" u="none" strike="noStrike">
                        <a:solidFill>
                          <a:srgbClr val="000000"/>
                        </a:solidFill>
                        <a:effectLst/>
                        <a:latin typeface="Aptos Narrow" panose="020B0004020202020204" pitchFamily="34" charset="0"/>
                      </a:endParaRPr>
                    </a:p>
                  </a:txBody>
                  <a:tcPr marL="8323" marR="8323" marT="8323" marB="0" anchor="b"/>
                </a:tc>
                <a:tc>
                  <a:txBody>
                    <a:bodyPr/>
                    <a:lstStyle/>
                    <a:p>
                      <a:pPr algn="l" fontAlgn="b"/>
                      <a:r>
                        <a:rPr lang="en-US" sz="1600" b="0" u="none" strike="noStrike" dirty="0">
                          <a:solidFill>
                            <a:srgbClr val="000000"/>
                          </a:solidFill>
                          <a:effectLst/>
                        </a:rPr>
                        <a:t>• Replaced “</a:t>
                      </a:r>
                      <a:r>
                        <a:rPr lang="en-US" sz="1600" b="0" u="none" strike="noStrike" dirty="0" err="1">
                          <a:solidFill>
                            <a:srgbClr val="000000"/>
                          </a:solidFill>
                          <a:effectLst/>
                        </a:rPr>
                        <a:t>Cali”→“CA</a:t>
                      </a:r>
                      <a:r>
                        <a:rPr lang="en-US" sz="1600" b="0" u="none" strike="noStrike" dirty="0">
                          <a:solidFill>
                            <a:srgbClr val="000000"/>
                          </a:solidFill>
                          <a:effectLst/>
                        </a:rPr>
                        <a:t>”, “</a:t>
                      </a:r>
                      <a:r>
                        <a:rPr lang="en-US" sz="1600" b="0" u="none" strike="noStrike" dirty="0" err="1">
                          <a:solidFill>
                            <a:srgbClr val="000000"/>
                          </a:solidFill>
                          <a:effectLst/>
                        </a:rPr>
                        <a:t>Florida”→“FL</a:t>
                      </a:r>
                      <a:r>
                        <a:rPr lang="en-US" sz="1600" b="0" u="none" strike="noStrike" dirty="0">
                          <a:solidFill>
                            <a:srgbClr val="000000"/>
                          </a:solidFill>
                          <a:effectLst/>
                        </a:rPr>
                        <a:t>”, “</a:t>
                      </a:r>
                      <a:r>
                        <a:rPr lang="en-US" sz="1600" b="0" u="none" strike="noStrike" dirty="0" err="1">
                          <a:solidFill>
                            <a:srgbClr val="000000"/>
                          </a:solidFill>
                          <a:effectLst/>
                        </a:rPr>
                        <a:t>Illinois”→“IL</a:t>
                      </a:r>
                      <a:r>
                        <a:rPr lang="en-US" sz="1600" b="0" u="none" strike="noStrike" dirty="0">
                          <a:solidFill>
                            <a:srgbClr val="000000"/>
                          </a:solidFill>
                          <a:effectLst/>
                        </a:rPr>
                        <a:t>”, “</a:t>
                      </a:r>
                      <a:r>
                        <a:rPr lang="en-US" sz="1600" b="0" u="none" strike="noStrike" dirty="0" err="1">
                          <a:solidFill>
                            <a:srgbClr val="000000"/>
                          </a:solidFill>
                          <a:effectLst/>
                        </a:rPr>
                        <a:t>Ny”→“NY</a:t>
                      </a:r>
                      <a:r>
                        <a:rPr lang="en-US" sz="1600" b="0" u="none" strike="noStrike" dirty="0">
                          <a:solidFill>
                            <a:srgbClr val="000000"/>
                          </a:solidFill>
                          <a:effectLst/>
                        </a:rPr>
                        <a:t>”, “Texas”/“</a:t>
                      </a:r>
                      <a:r>
                        <a:rPr lang="en-US" sz="1600" b="0" u="none" strike="noStrike" dirty="0" err="1">
                          <a:solidFill>
                            <a:srgbClr val="000000"/>
                          </a:solidFill>
                          <a:effectLst/>
                        </a:rPr>
                        <a:t>Texs</a:t>
                      </a:r>
                      <a:r>
                        <a:rPr lang="en-US" sz="1600" b="0" u="none" strike="noStrike" dirty="0">
                          <a:solidFill>
                            <a:srgbClr val="000000"/>
                          </a:solidFill>
                          <a:effectLst/>
                        </a:rPr>
                        <a:t>”→“TX”</a:t>
                      </a:r>
                      <a:endParaRPr lang="en-US" sz="1600" b="0" i="0" u="none" strike="noStrike" dirty="0">
                        <a:solidFill>
                          <a:srgbClr val="000000"/>
                        </a:solidFill>
                        <a:effectLst/>
                        <a:latin typeface="Aptos Narrow" panose="020B0004020202020204" pitchFamily="34" charset="0"/>
                      </a:endParaRPr>
                    </a:p>
                  </a:txBody>
                  <a:tcPr marL="8323" marR="8323" marT="8323" marB="0" anchor="b"/>
                </a:tc>
                <a:extLst>
                  <a:ext uri="{0D108BD9-81ED-4DB2-BD59-A6C34878D82A}">
                    <a16:rowId xmlns:a16="http://schemas.microsoft.com/office/drawing/2014/main" val="1392773451"/>
                  </a:ext>
                </a:extLst>
              </a:tr>
              <a:tr h="347291">
                <a:tc>
                  <a:txBody>
                    <a:bodyPr/>
                    <a:lstStyle/>
                    <a:p>
                      <a:pPr algn="ctr" fontAlgn="b"/>
                      <a:r>
                        <a:rPr lang="en-US" sz="1600" b="0" u="none" strike="noStrike" dirty="0">
                          <a:solidFill>
                            <a:srgbClr val="000000"/>
                          </a:solidFill>
                          <a:effectLst/>
                        </a:rPr>
                        <a:t>5</a:t>
                      </a:r>
                      <a:endParaRPr lang="en-US" sz="1600" b="0" i="0" u="none" strike="noStrike" dirty="0">
                        <a:solidFill>
                          <a:srgbClr val="000000"/>
                        </a:solidFill>
                        <a:effectLst/>
                        <a:latin typeface="Aptos Narrow" panose="020B0004020202020204" pitchFamily="34" charset="0"/>
                      </a:endParaRPr>
                    </a:p>
                  </a:txBody>
                  <a:tcPr marL="8323" marR="8323" marT="8323" marB="0" anchor="b"/>
                </a:tc>
                <a:tc>
                  <a:txBody>
                    <a:bodyPr/>
                    <a:lstStyle/>
                    <a:p>
                      <a:pPr algn="l" fontAlgn="b"/>
                      <a:r>
                        <a:rPr lang="en-US" sz="1600" b="1" u="none" strike="noStrike">
                          <a:solidFill>
                            <a:srgbClr val="000000"/>
                          </a:solidFill>
                          <a:effectLst/>
                        </a:rPr>
                        <a:t>Parent_Consent Cleaning</a:t>
                      </a:r>
                      <a:endParaRPr lang="en-US" sz="1600" b="1" i="0" u="none" strike="noStrike">
                        <a:solidFill>
                          <a:srgbClr val="000000"/>
                        </a:solidFill>
                        <a:effectLst/>
                        <a:latin typeface="Aptos Narrow" panose="020B0004020202020204" pitchFamily="34" charset="0"/>
                      </a:endParaRPr>
                    </a:p>
                  </a:txBody>
                  <a:tcPr marL="8323" marR="8323" marT="8323" marB="0" anchor="b"/>
                </a:tc>
                <a:tc>
                  <a:txBody>
                    <a:bodyPr/>
                    <a:lstStyle/>
                    <a:p>
                      <a:pPr algn="l" fontAlgn="b"/>
                      <a:r>
                        <a:rPr lang="en-US" sz="1600" b="0" u="none" strike="noStrike" dirty="0">
                          <a:solidFill>
                            <a:srgbClr val="000000"/>
                          </a:solidFill>
                          <a:effectLst/>
                        </a:rPr>
                        <a:t>• Converted "" to NA• Upper-cased all entries</a:t>
                      </a:r>
                      <a:endParaRPr lang="en-US" sz="1600" b="0" i="0" u="none" strike="noStrike" dirty="0">
                        <a:solidFill>
                          <a:srgbClr val="000000"/>
                        </a:solidFill>
                        <a:effectLst/>
                        <a:latin typeface="Aptos Narrow" panose="020B0004020202020204" pitchFamily="34" charset="0"/>
                      </a:endParaRPr>
                    </a:p>
                  </a:txBody>
                  <a:tcPr marL="8323" marR="8323" marT="8323" marB="0" anchor="b"/>
                </a:tc>
                <a:extLst>
                  <a:ext uri="{0D108BD9-81ED-4DB2-BD59-A6C34878D82A}">
                    <a16:rowId xmlns:a16="http://schemas.microsoft.com/office/drawing/2014/main" val="4033154678"/>
                  </a:ext>
                </a:extLst>
              </a:tr>
              <a:tr h="347291">
                <a:tc>
                  <a:txBody>
                    <a:bodyPr/>
                    <a:lstStyle/>
                    <a:p>
                      <a:pPr algn="ctr" fontAlgn="b"/>
                      <a:r>
                        <a:rPr lang="en-US" sz="1600" b="0" u="none" strike="noStrike" dirty="0">
                          <a:solidFill>
                            <a:srgbClr val="000000"/>
                          </a:solidFill>
                          <a:effectLst/>
                        </a:rPr>
                        <a:t>6</a:t>
                      </a:r>
                      <a:endParaRPr lang="en-US" sz="1600" b="0" i="0" u="none" strike="noStrike" dirty="0">
                        <a:solidFill>
                          <a:srgbClr val="000000"/>
                        </a:solidFill>
                        <a:effectLst/>
                        <a:latin typeface="Aptos Narrow" panose="020B0004020202020204" pitchFamily="34" charset="0"/>
                      </a:endParaRPr>
                    </a:p>
                  </a:txBody>
                  <a:tcPr marL="8323" marR="8323" marT="8323" marB="0" anchor="b"/>
                </a:tc>
                <a:tc>
                  <a:txBody>
                    <a:bodyPr/>
                    <a:lstStyle/>
                    <a:p>
                      <a:pPr algn="l" fontAlgn="b"/>
                      <a:r>
                        <a:rPr lang="en-US" sz="1600" b="1" u="none" strike="noStrike">
                          <a:solidFill>
                            <a:srgbClr val="000000"/>
                          </a:solidFill>
                          <a:effectLst/>
                        </a:rPr>
                        <a:t>Lunch_Program Cleaning</a:t>
                      </a:r>
                      <a:endParaRPr lang="en-US" sz="1600" b="1" i="0" u="none" strike="noStrike">
                        <a:solidFill>
                          <a:srgbClr val="000000"/>
                        </a:solidFill>
                        <a:effectLst/>
                        <a:latin typeface="Aptos Narrow" panose="020B0004020202020204" pitchFamily="34" charset="0"/>
                      </a:endParaRPr>
                    </a:p>
                  </a:txBody>
                  <a:tcPr marL="8323" marR="8323" marT="8323" marB="0" anchor="b"/>
                </a:tc>
                <a:tc>
                  <a:txBody>
                    <a:bodyPr/>
                    <a:lstStyle/>
                    <a:p>
                      <a:pPr algn="l" fontAlgn="b"/>
                      <a:r>
                        <a:rPr lang="en-US" sz="1600" b="0" u="none" strike="noStrike" dirty="0">
                          <a:solidFill>
                            <a:srgbClr val="000000"/>
                          </a:solidFill>
                          <a:effectLst/>
                        </a:rPr>
                        <a:t>• Converted "" to NA</a:t>
                      </a:r>
                      <a:endParaRPr lang="en-US" sz="1600" b="0" i="0" u="none" strike="noStrike" dirty="0">
                        <a:solidFill>
                          <a:srgbClr val="000000"/>
                        </a:solidFill>
                        <a:effectLst/>
                        <a:latin typeface="Aptos Narrow" panose="020B0004020202020204" pitchFamily="34" charset="0"/>
                      </a:endParaRPr>
                    </a:p>
                  </a:txBody>
                  <a:tcPr marL="8323" marR="8323" marT="8323" marB="0" anchor="b"/>
                </a:tc>
                <a:extLst>
                  <a:ext uri="{0D108BD9-81ED-4DB2-BD59-A6C34878D82A}">
                    <a16:rowId xmlns:a16="http://schemas.microsoft.com/office/drawing/2014/main" val="1352622164"/>
                  </a:ext>
                </a:extLst>
              </a:tr>
              <a:tr h="347291">
                <a:tc>
                  <a:txBody>
                    <a:bodyPr/>
                    <a:lstStyle/>
                    <a:p>
                      <a:pPr algn="ctr" fontAlgn="b"/>
                      <a:r>
                        <a:rPr lang="en-US" sz="1600" b="0" u="none" strike="noStrike" dirty="0">
                          <a:solidFill>
                            <a:srgbClr val="000000"/>
                          </a:solidFill>
                          <a:effectLst/>
                        </a:rPr>
                        <a:t>7</a:t>
                      </a:r>
                      <a:endParaRPr lang="en-US" sz="1600" b="0" i="0" u="none" strike="noStrike" dirty="0">
                        <a:solidFill>
                          <a:srgbClr val="000000"/>
                        </a:solidFill>
                        <a:effectLst/>
                        <a:latin typeface="Aptos Narrow" panose="020B0004020202020204" pitchFamily="34" charset="0"/>
                      </a:endParaRPr>
                    </a:p>
                  </a:txBody>
                  <a:tcPr marL="8323" marR="8323" marT="8323" marB="0" anchor="b"/>
                </a:tc>
                <a:tc>
                  <a:txBody>
                    <a:bodyPr/>
                    <a:lstStyle/>
                    <a:p>
                      <a:pPr algn="l" fontAlgn="b"/>
                      <a:r>
                        <a:rPr lang="en-US" sz="1600" b="1" u="none" strike="noStrike">
                          <a:solidFill>
                            <a:srgbClr val="000000"/>
                          </a:solidFill>
                          <a:effectLst/>
                        </a:rPr>
                        <a:t>Birth_Year Correction</a:t>
                      </a:r>
                      <a:endParaRPr lang="en-US" sz="1600" b="1" i="0" u="none" strike="noStrike">
                        <a:solidFill>
                          <a:srgbClr val="000000"/>
                        </a:solidFill>
                        <a:effectLst/>
                        <a:latin typeface="Aptos Narrow" panose="020B0004020202020204" pitchFamily="34" charset="0"/>
                      </a:endParaRPr>
                    </a:p>
                  </a:txBody>
                  <a:tcPr marL="8323" marR="8323" marT="8323" marB="0" anchor="b"/>
                </a:tc>
                <a:tc>
                  <a:txBody>
                    <a:bodyPr/>
                    <a:lstStyle/>
                    <a:p>
                      <a:pPr algn="l" fontAlgn="b"/>
                      <a:r>
                        <a:rPr lang="en-US" sz="1600" b="0" u="none" strike="noStrike" dirty="0">
                          <a:solidFill>
                            <a:srgbClr val="000000"/>
                          </a:solidFill>
                          <a:effectLst/>
                        </a:rPr>
                        <a:t>• Changed erroneous “2025” entries to 2005</a:t>
                      </a:r>
                      <a:endParaRPr lang="en-US" sz="1600" b="0" i="0" u="none" strike="noStrike" dirty="0">
                        <a:solidFill>
                          <a:srgbClr val="000000"/>
                        </a:solidFill>
                        <a:effectLst/>
                        <a:latin typeface="Aptos Narrow" panose="020B0004020202020204" pitchFamily="34" charset="0"/>
                      </a:endParaRPr>
                    </a:p>
                  </a:txBody>
                  <a:tcPr marL="8323" marR="8323" marT="8323" marB="0" anchor="b"/>
                </a:tc>
                <a:extLst>
                  <a:ext uri="{0D108BD9-81ED-4DB2-BD59-A6C34878D82A}">
                    <a16:rowId xmlns:a16="http://schemas.microsoft.com/office/drawing/2014/main" val="85613998"/>
                  </a:ext>
                </a:extLst>
              </a:tr>
              <a:tr h="347291">
                <a:tc>
                  <a:txBody>
                    <a:bodyPr/>
                    <a:lstStyle/>
                    <a:p>
                      <a:pPr algn="ctr" fontAlgn="b"/>
                      <a:r>
                        <a:rPr lang="en-US" sz="1600" b="0" u="none" strike="noStrike" dirty="0">
                          <a:solidFill>
                            <a:srgbClr val="000000"/>
                          </a:solidFill>
                          <a:effectLst/>
                        </a:rPr>
                        <a:t>8</a:t>
                      </a:r>
                      <a:endParaRPr lang="en-US" sz="1600" b="0" i="0" u="none" strike="noStrike" dirty="0">
                        <a:solidFill>
                          <a:srgbClr val="000000"/>
                        </a:solidFill>
                        <a:effectLst/>
                        <a:latin typeface="Aptos Narrow" panose="020B0004020202020204" pitchFamily="34" charset="0"/>
                      </a:endParaRPr>
                    </a:p>
                  </a:txBody>
                  <a:tcPr marL="8323" marR="8323" marT="8323" marB="0" anchor="b"/>
                </a:tc>
                <a:tc>
                  <a:txBody>
                    <a:bodyPr/>
                    <a:lstStyle/>
                    <a:p>
                      <a:pPr algn="l" fontAlgn="b"/>
                      <a:r>
                        <a:rPr lang="en-US" sz="1600" b="1" u="none" strike="noStrike">
                          <a:solidFill>
                            <a:srgbClr val="000000"/>
                          </a:solidFill>
                          <a:effectLst/>
                        </a:rPr>
                        <a:t>Height_in Outlier Handling</a:t>
                      </a:r>
                      <a:endParaRPr lang="en-US" sz="1600" b="1" i="0" u="none" strike="noStrike">
                        <a:solidFill>
                          <a:srgbClr val="000000"/>
                        </a:solidFill>
                        <a:effectLst/>
                        <a:latin typeface="Aptos Narrow" panose="020B0004020202020204" pitchFamily="34" charset="0"/>
                      </a:endParaRPr>
                    </a:p>
                  </a:txBody>
                  <a:tcPr marL="8323" marR="8323" marT="8323" marB="0" anchor="b"/>
                </a:tc>
                <a:tc>
                  <a:txBody>
                    <a:bodyPr/>
                    <a:lstStyle/>
                    <a:p>
                      <a:pPr algn="l" fontAlgn="b"/>
                      <a:r>
                        <a:rPr lang="en-US" sz="1600" b="0" u="none" strike="noStrike" dirty="0">
                          <a:solidFill>
                            <a:srgbClr val="000000"/>
                          </a:solidFill>
                          <a:effectLst/>
                        </a:rPr>
                        <a:t>• Detected low value 25″ as outlier • Replaced 25 with NA • Imputed missing with mean</a:t>
                      </a:r>
                      <a:endParaRPr lang="en-US" sz="1600" b="0" i="0" u="none" strike="noStrike" dirty="0">
                        <a:solidFill>
                          <a:srgbClr val="000000"/>
                        </a:solidFill>
                        <a:effectLst/>
                        <a:latin typeface="Aptos Narrow" panose="020B0004020202020204" pitchFamily="34" charset="0"/>
                      </a:endParaRPr>
                    </a:p>
                  </a:txBody>
                  <a:tcPr marL="8323" marR="8323" marT="8323" marB="0" anchor="b"/>
                </a:tc>
                <a:extLst>
                  <a:ext uri="{0D108BD9-81ED-4DB2-BD59-A6C34878D82A}">
                    <a16:rowId xmlns:a16="http://schemas.microsoft.com/office/drawing/2014/main" val="2185635592"/>
                  </a:ext>
                </a:extLst>
              </a:tr>
              <a:tr h="347291">
                <a:tc>
                  <a:txBody>
                    <a:bodyPr/>
                    <a:lstStyle/>
                    <a:p>
                      <a:pPr algn="ctr" fontAlgn="b"/>
                      <a:r>
                        <a:rPr lang="en-US" sz="1600" b="0" u="none" strike="noStrike" dirty="0">
                          <a:solidFill>
                            <a:srgbClr val="000000"/>
                          </a:solidFill>
                          <a:effectLst/>
                        </a:rPr>
                        <a:t>9</a:t>
                      </a:r>
                      <a:endParaRPr lang="en-US" sz="1600" b="0" i="0" u="none" strike="noStrike" dirty="0">
                        <a:solidFill>
                          <a:srgbClr val="000000"/>
                        </a:solidFill>
                        <a:effectLst/>
                        <a:latin typeface="Aptos Narrow" panose="020B0004020202020204" pitchFamily="34" charset="0"/>
                      </a:endParaRPr>
                    </a:p>
                  </a:txBody>
                  <a:tcPr marL="8323" marR="8323" marT="8323" marB="0" anchor="b"/>
                </a:tc>
                <a:tc>
                  <a:txBody>
                    <a:bodyPr/>
                    <a:lstStyle/>
                    <a:p>
                      <a:pPr algn="l" fontAlgn="b"/>
                      <a:r>
                        <a:rPr lang="en-US" sz="1600" b="1" u="none" strike="noStrike">
                          <a:solidFill>
                            <a:srgbClr val="000000"/>
                          </a:solidFill>
                          <a:effectLst/>
                        </a:rPr>
                        <a:t>Weight_lb &amp; GPA Imputation</a:t>
                      </a:r>
                      <a:endParaRPr lang="en-US" sz="1600" b="1" i="0" u="none" strike="noStrike">
                        <a:solidFill>
                          <a:srgbClr val="000000"/>
                        </a:solidFill>
                        <a:effectLst/>
                        <a:latin typeface="Aptos Narrow" panose="020B0004020202020204" pitchFamily="34" charset="0"/>
                      </a:endParaRPr>
                    </a:p>
                  </a:txBody>
                  <a:tcPr marL="8323" marR="8323" marT="8323" marB="0" anchor="b"/>
                </a:tc>
                <a:tc>
                  <a:txBody>
                    <a:bodyPr/>
                    <a:lstStyle/>
                    <a:p>
                      <a:pPr algn="l" fontAlgn="b"/>
                      <a:r>
                        <a:rPr lang="en-US" sz="1600" b="0" u="none" strike="noStrike" dirty="0">
                          <a:solidFill>
                            <a:srgbClr val="000000"/>
                          </a:solidFill>
                          <a:effectLst/>
                        </a:rPr>
                        <a:t xml:space="preserve">• Filled NA in </a:t>
                      </a:r>
                      <a:r>
                        <a:rPr lang="en-US" sz="1600" b="0" u="none" strike="noStrike" dirty="0" err="1">
                          <a:solidFill>
                            <a:srgbClr val="000000"/>
                          </a:solidFill>
                          <a:effectLst/>
                        </a:rPr>
                        <a:t>Weight_lb</a:t>
                      </a:r>
                      <a:r>
                        <a:rPr lang="en-US" sz="1600" b="0" u="none" strike="noStrike" dirty="0">
                          <a:solidFill>
                            <a:srgbClr val="000000"/>
                          </a:solidFill>
                          <a:effectLst/>
                        </a:rPr>
                        <a:t xml:space="preserve"> and GPA with their respective column means</a:t>
                      </a:r>
                      <a:endParaRPr lang="en-US" sz="1600" b="0" i="0" u="none" strike="noStrike" dirty="0">
                        <a:solidFill>
                          <a:srgbClr val="000000"/>
                        </a:solidFill>
                        <a:effectLst/>
                        <a:latin typeface="Aptos Narrow" panose="020B0004020202020204" pitchFamily="34" charset="0"/>
                      </a:endParaRPr>
                    </a:p>
                  </a:txBody>
                  <a:tcPr marL="8323" marR="8323" marT="8323" marB="0" anchor="b"/>
                </a:tc>
                <a:extLst>
                  <a:ext uri="{0D108BD9-81ED-4DB2-BD59-A6C34878D82A}">
                    <a16:rowId xmlns:a16="http://schemas.microsoft.com/office/drawing/2014/main" val="365320198"/>
                  </a:ext>
                </a:extLst>
              </a:tr>
              <a:tr h="347291">
                <a:tc>
                  <a:txBody>
                    <a:bodyPr/>
                    <a:lstStyle/>
                    <a:p>
                      <a:pPr algn="ctr" fontAlgn="b"/>
                      <a:r>
                        <a:rPr lang="en-US" sz="1600" b="0" u="none" strike="noStrike" dirty="0">
                          <a:solidFill>
                            <a:srgbClr val="000000"/>
                          </a:solidFill>
                          <a:effectLst/>
                        </a:rPr>
                        <a:t>10</a:t>
                      </a:r>
                      <a:endParaRPr lang="en-US" sz="1600" b="0" i="0" u="none" strike="noStrike" dirty="0">
                        <a:solidFill>
                          <a:srgbClr val="000000"/>
                        </a:solidFill>
                        <a:effectLst/>
                        <a:latin typeface="Aptos Narrow" panose="020B0004020202020204" pitchFamily="34" charset="0"/>
                      </a:endParaRPr>
                    </a:p>
                  </a:txBody>
                  <a:tcPr marL="8323" marR="8323" marT="8323" marB="0" anchor="b"/>
                </a:tc>
                <a:tc>
                  <a:txBody>
                    <a:bodyPr/>
                    <a:lstStyle/>
                    <a:p>
                      <a:pPr algn="l" fontAlgn="b"/>
                      <a:r>
                        <a:rPr lang="en-US" sz="1600" b="1" u="none" strike="noStrike">
                          <a:solidFill>
                            <a:srgbClr val="000000"/>
                          </a:solidFill>
                          <a:effectLst/>
                        </a:rPr>
                        <a:t>Final Verification</a:t>
                      </a:r>
                      <a:endParaRPr lang="en-US" sz="1600" b="1" i="0" u="none" strike="noStrike">
                        <a:solidFill>
                          <a:srgbClr val="000000"/>
                        </a:solidFill>
                        <a:effectLst/>
                        <a:latin typeface="Aptos Narrow" panose="020B0004020202020204" pitchFamily="34" charset="0"/>
                      </a:endParaRPr>
                    </a:p>
                  </a:txBody>
                  <a:tcPr marL="8323" marR="8323" marT="8323" marB="0" anchor="b"/>
                </a:tc>
                <a:tc>
                  <a:txBody>
                    <a:bodyPr/>
                    <a:lstStyle/>
                    <a:p>
                      <a:pPr algn="l" fontAlgn="b"/>
                      <a:r>
                        <a:rPr lang="en-US" sz="1600" b="0" u="none" strike="noStrike" dirty="0">
                          <a:solidFill>
                            <a:srgbClr val="000000"/>
                          </a:solidFill>
                          <a:effectLst/>
                        </a:rPr>
                        <a:t>• Reviewed summary() on cleaned data • Checked frequency counts for key fields</a:t>
                      </a:r>
                      <a:endParaRPr lang="en-US" sz="1600" b="0" i="0" u="none" strike="noStrike" dirty="0">
                        <a:solidFill>
                          <a:srgbClr val="000000"/>
                        </a:solidFill>
                        <a:effectLst/>
                        <a:latin typeface="Aptos Narrow" panose="020B0004020202020204" pitchFamily="34" charset="0"/>
                      </a:endParaRPr>
                    </a:p>
                  </a:txBody>
                  <a:tcPr marL="8323" marR="8323" marT="8323" marB="0" anchor="b"/>
                </a:tc>
                <a:extLst>
                  <a:ext uri="{0D108BD9-81ED-4DB2-BD59-A6C34878D82A}">
                    <a16:rowId xmlns:a16="http://schemas.microsoft.com/office/drawing/2014/main" val="1614254042"/>
                  </a:ext>
                </a:extLst>
              </a:tr>
            </a:tbl>
          </a:graphicData>
        </a:graphic>
      </p:graphicFrame>
    </p:spTree>
    <p:extLst>
      <p:ext uri="{BB962C8B-B14F-4D97-AF65-F5344CB8AC3E}">
        <p14:creationId xmlns:p14="http://schemas.microsoft.com/office/powerpoint/2010/main" val="2246602938"/>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DEA70E-D059-450F-C722-0179C1FD4742}"/>
              </a:ext>
            </a:extLst>
          </p:cNvPr>
          <p:cNvSpPr>
            <a:spLocks noGrp="1"/>
          </p:cNvSpPr>
          <p:nvPr>
            <p:ph type="title"/>
          </p:nvPr>
        </p:nvSpPr>
        <p:spPr/>
        <p:txBody>
          <a:bodyPr/>
          <a:lstStyle/>
          <a:p>
            <a:r>
              <a:rPr lang="en-US" dirty="0"/>
              <a:t>Group Activity with R – Quick Note</a:t>
            </a:r>
          </a:p>
        </p:txBody>
      </p:sp>
      <p:sp>
        <p:nvSpPr>
          <p:cNvPr id="3" name="Content Placeholder 2">
            <a:extLst>
              <a:ext uri="{FF2B5EF4-FFF2-40B4-BE49-F238E27FC236}">
                <a16:creationId xmlns:a16="http://schemas.microsoft.com/office/drawing/2014/main" id="{6B5DB497-8525-12E1-DF77-71A15C4E5393}"/>
              </a:ext>
            </a:extLst>
          </p:cNvPr>
          <p:cNvSpPr>
            <a:spLocks noGrp="1"/>
          </p:cNvSpPr>
          <p:nvPr>
            <p:ph idx="1"/>
          </p:nvPr>
        </p:nvSpPr>
        <p:spPr/>
        <p:txBody>
          <a:bodyPr/>
          <a:lstStyle/>
          <a:p>
            <a:r>
              <a:rPr lang="en-US" dirty="0"/>
              <a:t>There is no single way of cleaning data.</a:t>
            </a:r>
          </a:p>
          <a:p>
            <a:r>
              <a:rPr lang="en-US" dirty="0"/>
              <a:t>You can make write more sophisticated codes, create function to work with all the variables, for many possible scenarios.</a:t>
            </a:r>
          </a:p>
          <a:p>
            <a:r>
              <a:rPr lang="en-US" dirty="0"/>
              <a:t xml:space="preserve">In this example, we wanted to show you step by step process, which was a lot of coding. </a:t>
            </a:r>
          </a:p>
        </p:txBody>
      </p:sp>
    </p:spTree>
    <p:extLst>
      <p:ext uri="{BB962C8B-B14F-4D97-AF65-F5344CB8AC3E}">
        <p14:creationId xmlns:p14="http://schemas.microsoft.com/office/powerpoint/2010/main" val="2296486012"/>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E46B9E-9FB6-B860-FAB9-EFAFF645DF11}"/>
              </a:ext>
            </a:extLst>
          </p:cNvPr>
          <p:cNvSpPr>
            <a:spLocks noGrp="1"/>
          </p:cNvSpPr>
          <p:nvPr>
            <p:ph type="title"/>
          </p:nvPr>
        </p:nvSpPr>
        <p:spPr>
          <a:xfrm>
            <a:off x="838199" y="810532"/>
            <a:ext cx="10515600" cy="1325563"/>
          </a:xfrm>
        </p:spPr>
        <p:txBody>
          <a:bodyPr/>
          <a:lstStyle/>
          <a:p>
            <a:r>
              <a:rPr lang="en-US" dirty="0"/>
              <a:t>Group Activity Answer with Python</a:t>
            </a:r>
          </a:p>
        </p:txBody>
      </p:sp>
      <p:pic>
        <p:nvPicPr>
          <p:cNvPr id="11" name="Picture 10" descr="A computer screen shot of a program  AI-generated content may be incorrect.">
            <a:extLst>
              <a:ext uri="{FF2B5EF4-FFF2-40B4-BE49-F238E27FC236}">
                <a16:creationId xmlns:a16="http://schemas.microsoft.com/office/drawing/2014/main" id="{F621F0D5-7E2D-7286-484A-095070B9E2C6}"/>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401983" y="2136095"/>
            <a:ext cx="6321357" cy="4594485"/>
          </a:xfrm>
          <a:prstGeom prst="rect">
            <a:avLst/>
          </a:prstGeom>
        </p:spPr>
      </p:pic>
      <p:pic>
        <p:nvPicPr>
          <p:cNvPr id="12" name="Content Placeholder 4" descr="A screenshot of a computer code  AI-generated content may be incorrect.">
            <a:extLst>
              <a:ext uri="{FF2B5EF4-FFF2-40B4-BE49-F238E27FC236}">
                <a16:creationId xmlns:a16="http://schemas.microsoft.com/office/drawing/2014/main" id="{7A34D993-CED7-37E5-0F37-3E0C0EE79051}"/>
              </a:ext>
            </a:extLst>
          </p:cNvPr>
          <p:cNvPicPr>
            <a:picLocks noGrp="1" noChangeAspect="1"/>
          </p:cNvPicPr>
          <p:nvPr>
            <p:ph idx="1"/>
          </p:nvPr>
        </p:nvPicPr>
        <p:blipFill>
          <a:blip r:embed="rId3" cstate="screen">
            <a:extLst>
              <a:ext uri="{28A0092B-C50C-407E-A947-70E740481C1C}">
                <a14:useLocalDpi xmlns:a14="http://schemas.microsoft.com/office/drawing/2010/main"/>
              </a:ext>
            </a:extLst>
          </a:blip>
          <a:stretch>
            <a:fillRect/>
          </a:stretch>
        </p:blipFill>
        <p:spPr>
          <a:xfrm>
            <a:off x="6838344" y="1991831"/>
            <a:ext cx="4779033" cy="4866169"/>
          </a:xfrm>
        </p:spPr>
      </p:pic>
    </p:spTree>
    <p:extLst>
      <p:ext uri="{BB962C8B-B14F-4D97-AF65-F5344CB8AC3E}">
        <p14:creationId xmlns:p14="http://schemas.microsoft.com/office/powerpoint/2010/main" val="4284300077"/>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C91F4B-5325-882D-2FEE-A259985A45CE}"/>
              </a:ext>
            </a:extLst>
          </p:cNvPr>
          <p:cNvSpPr>
            <a:spLocks noGrp="1"/>
          </p:cNvSpPr>
          <p:nvPr>
            <p:ph type="title"/>
          </p:nvPr>
        </p:nvSpPr>
        <p:spPr/>
        <p:txBody>
          <a:bodyPr/>
          <a:lstStyle/>
          <a:p>
            <a:r>
              <a:rPr lang="en-US" dirty="0"/>
              <a:t>Group Activity Answer with Python</a:t>
            </a:r>
          </a:p>
        </p:txBody>
      </p:sp>
      <p:pic>
        <p:nvPicPr>
          <p:cNvPr id="9" name="Content Placeholder 8" descr="A computer code with text  AI-generated content may be incorrect.">
            <a:extLst>
              <a:ext uri="{FF2B5EF4-FFF2-40B4-BE49-F238E27FC236}">
                <a16:creationId xmlns:a16="http://schemas.microsoft.com/office/drawing/2014/main" id="{CD9AB662-65B0-A02E-77BD-0A8E180A4176}"/>
              </a:ext>
            </a:extLst>
          </p:cNvPr>
          <p:cNvPicPr>
            <a:picLocks noGrp="1" noChangeAspect="1"/>
          </p:cNvPicPr>
          <p:nvPr>
            <p:ph idx="1"/>
          </p:nvPr>
        </p:nvPicPr>
        <p:blipFill>
          <a:blip r:embed="rId2" cstate="screen">
            <a:extLst>
              <a:ext uri="{28A0092B-C50C-407E-A947-70E740481C1C}">
                <a14:useLocalDpi xmlns:a14="http://schemas.microsoft.com/office/drawing/2010/main"/>
              </a:ext>
            </a:extLst>
          </a:blip>
          <a:stretch>
            <a:fillRect/>
          </a:stretch>
        </p:blipFill>
        <p:spPr>
          <a:xfrm>
            <a:off x="2412639" y="2603500"/>
            <a:ext cx="7366722" cy="3573463"/>
          </a:xfrm>
        </p:spPr>
      </p:pic>
    </p:spTree>
    <p:extLst>
      <p:ext uri="{BB962C8B-B14F-4D97-AF65-F5344CB8AC3E}">
        <p14:creationId xmlns:p14="http://schemas.microsoft.com/office/powerpoint/2010/main" val="1938537453"/>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9BF71A-39BC-0BFE-D7DC-8200F1EAC446}"/>
              </a:ext>
            </a:extLst>
          </p:cNvPr>
          <p:cNvSpPr>
            <a:spLocks noGrp="1"/>
          </p:cNvSpPr>
          <p:nvPr>
            <p:ph type="ctrTitle"/>
          </p:nvPr>
        </p:nvSpPr>
        <p:spPr/>
        <p:txBody>
          <a:bodyPr/>
          <a:lstStyle/>
          <a:p>
            <a:r>
              <a:rPr lang="en-US" dirty="0"/>
              <a:t>Chapter 6</a:t>
            </a:r>
          </a:p>
        </p:txBody>
      </p:sp>
      <p:sp>
        <p:nvSpPr>
          <p:cNvPr id="3" name="Subtitle 2">
            <a:extLst>
              <a:ext uri="{FF2B5EF4-FFF2-40B4-BE49-F238E27FC236}">
                <a16:creationId xmlns:a16="http://schemas.microsoft.com/office/drawing/2014/main" id="{CAE18024-1A6B-2C5B-4986-A61C05A2E109}"/>
              </a:ext>
            </a:extLst>
          </p:cNvPr>
          <p:cNvSpPr>
            <a:spLocks noGrp="1"/>
          </p:cNvSpPr>
          <p:nvPr>
            <p:ph type="subTitle" idx="1"/>
          </p:nvPr>
        </p:nvSpPr>
        <p:spPr/>
        <p:txBody>
          <a:bodyPr/>
          <a:lstStyle/>
          <a:p>
            <a:r>
              <a:rPr lang="en-US" dirty="0"/>
              <a:t>Chapter 6 Summary</a:t>
            </a:r>
          </a:p>
          <a:p>
            <a:endParaRPr lang="en-US" dirty="0"/>
          </a:p>
        </p:txBody>
      </p:sp>
    </p:spTree>
    <p:extLst>
      <p:ext uri="{BB962C8B-B14F-4D97-AF65-F5344CB8AC3E}">
        <p14:creationId xmlns:p14="http://schemas.microsoft.com/office/powerpoint/2010/main" val="1423517204"/>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9E12A-8944-A53B-E35E-065A3415CD46}"/>
              </a:ext>
            </a:extLst>
          </p:cNvPr>
          <p:cNvSpPr>
            <a:spLocks noGrp="1"/>
          </p:cNvSpPr>
          <p:nvPr>
            <p:ph type="title"/>
          </p:nvPr>
        </p:nvSpPr>
        <p:spPr>
          <a:xfrm>
            <a:off x="838200" y="615107"/>
            <a:ext cx="10515600" cy="1325563"/>
          </a:xfrm>
        </p:spPr>
        <p:txBody>
          <a:bodyPr/>
          <a:lstStyle/>
          <a:p>
            <a:r>
              <a:rPr lang="en-US" dirty="0"/>
              <a:t>Data Quality Importance Review</a:t>
            </a:r>
          </a:p>
        </p:txBody>
      </p:sp>
      <p:sp>
        <p:nvSpPr>
          <p:cNvPr id="4" name="Text 1">
            <a:extLst>
              <a:ext uri="{FF2B5EF4-FFF2-40B4-BE49-F238E27FC236}">
                <a16:creationId xmlns:a16="http://schemas.microsoft.com/office/drawing/2014/main" id="{0B7321E2-B391-6C0E-EB11-CB1931953511}"/>
              </a:ext>
            </a:extLst>
          </p:cNvPr>
          <p:cNvSpPr/>
          <p:nvPr/>
        </p:nvSpPr>
        <p:spPr>
          <a:xfrm>
            <a:off x="5242859" y="2272158"/>
            <a:ext cx="3086398" cy="561777"/>
          </a:xfrm>
          <a:prstGeom prst="rect">
            <a:avLst/>
          </a:prstGeom>
          <a:noFill/>
          <a:ln/>
        </p:spPr>
        <p:txBody>
          <a:bodyPr wrap="none" lIns="0" tIns="0" rIns="0" bIns="0" rtlCol="0" anchor="t"/>
          <a:lstStyle/>
          <a:p>
            <a:pPr algn="ctr">
              <a:lnSpc>
                <a:spcPts val="4416"/>
              </a:lnSpc>
            </a:pPr>
            <a:r>
              <a:rPr lang="en-US" sz="5400" b="1" dirty="0">
                <a:solidFill>
                  <a:srgbClr val="000000"/>
                </a:solidFill>
                <a:latin typeface="Aptos" panose="020B0004020202020204" pitchFamily="34" charset="0"/>
                <a:ea typeface="Playfair Display Bold" pitchFamily="34" charset="-122"/>
                <a:cs typeface="Playfair Display Bold" pitchFamily="34" charset="-120"/>
              </a:rPr>
              <a:t>80%</a:t>
            </a:r>
            <a:endParaRPr lang="en-US" sz="5400" dirty="0">
              <a:latin typeface="Aptos" panose="020B0004020202020204" pitchFamily="34" charset="0"/>
            </a:endParaRPr>
          </a:p>
        </p:txBody>
      </p:sp>
      <p:sp>
        <p:nvSpPr>
          <p:cNvPr id="5" name="Text 2">
            <a:extLst>
              <a:ext uri="{FF2B5EF4-FFF2-40B4-BE49-F238E27FC236}">
                <a16:creationId xmlns:a16="http://schemas.microsoft.com/office/drawing/2014/main" id="{A9753AFC-BFAB-5B8A-C844-66EEA18BBD2C}"/>
              </a:ext>
            </a:extLst>
          </p:cNvPr>
          <p:cNvSpPr/>
          <p:nvPr/>
        </p:nvSpPr>
        <p:spPr>
          <a:xfrm>
            <a:off x="5721887" y="3046760"/>
            <a:ext cx="2128243" cy="266006"/>
          </a:xfrm>
          <a:prstGeom prst="rect">
            <a:avLst/>
          </a:prstGeom>
          <a:noFill/>
          <a:ln/>
        </p:spPr>
        <p:txBody>
          <a:bodyPr wrap="none" lIns="0" tIns="0" rIns="0" bIns="0" rtlCol="0" anchor="t"/>
          <a:lstStyle/>
          <a:p>
            <a:pPr algn="ctr">
              <a:lnSpc>
                <a:spcPts val="2083"/>
              </a:lnSpc>
            </a:pPr>
            <a:r>
              <a:rPr lang="en-US" sz="2000" b="1" dirty="0">
                <a:solidFill>
                  <a:srgbClr val="000000"/>
                </a:solidFill>
                <a:latin typeface="Aptos" panose="020B0004020202020204" pitchFamily="34" charset="0"/>
                <a:ea typeface="Playfair Display Bold" pitchFamily="34" charset="-122"/>
                <a:cs typeface="Playfair Display Bold" pitchFamily="34" charset="-120"/>
              </a:rPr>
              <a:t>Cleaning Time</a:t>
            </a:r>
            <a:endParaRPr lang="en-US" sz="2000" dirty="0">
              <a:latin typeface="Aptos" panose="020B0004020202020204" pitchFamily="34" charset="0"/>
            </a:endParaRPr>
          </a:p>
        </p:txBody>
      </p:sp>
      <p:sp>
        <p:nvSpPr>
          <p:cNvPr id="6" name="Text 3">
            <a:extLst>
              <a:ext uri="{FF2B5EF4-FFF2-40B4-BE49-F238E27FC236}">
                <a16:creationId xmlns:a16="http://schemas.microsoft.com/office/drawing/2014/main" id="{DD8EDB97-F6AA-1D83-90FF-A72EAEEA2981}"/>
              </a:ext>
            </a:extLst>
          </p:cNvPr>
          <p:cNvSpPr/>
          <p:nvPr/>
        </p:nvSpPr>
        <p:spPr>
          <a:xfrm>
            <a:off x="5242859" y="3414861"/>
            <a:ext cx="3086398" cy="544711"/>
          </a:xfrm>
          <a:prstGeom prst="rect">
            <a:avLst/>
          </a:prstGeom>
          <a:noFill/>
          <a:ln/>
        </p:spPr>
        <p:txBody>
          <a:bodyPr wrap="square" lIns="0" tIns="0" rIns="0" bIns="0" rtlCol="0" anchor="t"/>
          <a:lstStyle/>
          <a:p>
            <a:pPr algn="ctr">
              <a:lnSpc>
                <a:spcPts val="2125"/>
              </a:lnSpc>
            </a:pPr>
            <a:r>
              <a:rPr lang="en-US" sz="1600" dirty="0">
                <a:solidFill>
                  <a:srgbClr val="000000"/>
                </a:solidFill>
                <a:latin typeface="Aptos" panose="020B0004020202020204" pitchFamily="34" charset="0"/>
                <a:ea typeface="Inter" pitchFamily="34" charset="-122"/>
                <a:cs typeface="Inter" pitchFamily="34" charset="-120"/>
              </a:rPr>
              <a:t>Percentage of time data scientists typically spend on cleaning data.</a:t>
            </a:r>
            <a:endParaRPr lang="en-US" sz="1600" dirty="0">
              <a:latin typeface="Aptos" panose="020B0004020202020204" pitchFamily="34" charset="0"/>
            </a:endParaRPr>
          </a:p>
        </p:txBody>
      </p:sp>
      <p:sp>
        <p:nvSpPr>
          <p:cNvPr id="7" name="Text 4">
            <a:extLst>
              <a:ext uri="{FF2B5EF4-FFF2-40B4-BE49-F238E27FC236}">
                <a16:creationId xmlns:a16="http://schemas.microsoft.com/office/drawing/2014/main" id="{F4C4BADD-3BE5-C9A4-CD83-C840615D23D8}"/>
              </a:ext>
            </a:extLst>
          </p:cNvPr>
          <p:cNvSpPr/>
          <p:nvPr/>
        </p:nvSpPr>
        <p:spPr>
          <a:xfrm>
            <a:off x="8584645" y="2272158"/>
            <a:ext cx="3086398" cy="561777"/>
          </a:xfrm>
          <a:prstGeom prst="rect">
            <a:avLst/>
          </a:prstGeom>
          <a:noFill/>
          <a:ln/>
        </p:spPr>
        <p:txBody>
          <a:bodyPr wrap="none" lIns="0" tIns="0" rIns="0" bIns="0" rtlCol="0" anchor="t"/>
          <a:lstStyle/>
          <a:p>
            <a:pPr algn="ctr">
              <a:lnSpc>
                <a:spcPts val="4416"/>
              </a:lnSpc>
            </a:pPr>
            <a:r>
              <a:rPr lang="en-US" sz="5400" b="1" dirty="0">
                <a:solidFill>
                  <a:srgbClr val="000000"/>
                </a:solidFill>
                <a:latin typeface="Aptos" panose="020B0004020202020204" pitchFamily="34" charset="0"/>
                <a:ea typeface="Playfair Display Bold" pitchFamily="34" charset="-122"/>
                <a:cs typeface="Playfair Display Bold" pitchFamily="34" charset="-120"/>
              </a:rPr>
              <a:t>Fit-for-Purpose</a:t>
            </a:r>
            <a:endParaRPr lang="en-US" sz="5400" dirty="0">
              <a:latin typeface="Aptos" panose="020B0004020202020204" pitchFamily="34" charset="0"/>
            </a:endParaRPr>
          </a:p>
        </p:txBody>
      </p:sp>
      <p:sp>
        <p:nvSpPr>
          <p:cNvPr id="8" name="Text 5">
            <a:extLst>
              <a:ext uri="{FF2B5EF4-FFF2-40B4-BE49-F238E27FC236}">
                <a16:creationId xmlns:a16="http://schemas.microsoft.com/office/drawing/2014/main" id="{414532AC-4D75-F12E-BAC0-024E6EC20FE7}"/>
              </a:ext>
            </a:extLst>
          </p:cNvPr>
          <p:cNvSpPr/>
          <p:nvPr/>
        </p:nvSpPr>
        <p:spPr>
          <a:xfrm>
            <a:off x="9063674" y="3046760"/>
            <a:ext cx="2128243" cy="266006"/>
          </a:xfrm>
          <a:prstGeom prst="rect">
            <a:avLst/>
          </a:prstGeom>
          <a:noFill/>
          <a:ln/>
        </p:spPr>
        <p:txBody>
          <a:bodyPr wrap="none" lIns="0" tIns="0" rIns="0" bIns="0" rtlCol="0" anchor="t"/>
          <a:lstStyle/>
          <a:p>
            <a:pPr algn="ctr">
              <a:lnSpc>
                <a:spcPts val="2083"/>
              </a:lnSpc>
            </a:pPr>
            <a:r>
              <a:rPr lang="en-US" sz="2000" b="1" dirty="0">
                <a:solidFill>
                  <a:srgbClr val="000000"/>
                </a:solidFill>
                <a:latin typeface="Aptos" panose="020B0004020202020204" pitchFamily="34" charset="0"/>
                <a:ea typeface="Playfair Display Bold" pitchFamily="34" charset="-122"/>
                <a:cs typeface="Playfair Display Bold" pitchFamily="34" charset="-120"/>
              </a:rPr>
              <a:t>Accuracy</a:t>
            </a:r>
            <a:endParaRPr lang="en-US" sz="2000" dirty="0">
              <a:latin typeface="Aptos" panose="020B0004020202020204" pitchFamily="34" charset="0"/>
            </a:endParaRPr>
          </a:p>
        </p:txBody>
      </p:sp>
      <p:sp>
        <p:nvSpPr>
          <p:cNvPr id="9" name="Text 6">
            <a:extLst>
              <a:ext uri="{FF2B5EF4-FFF2-40B4-BE49-F238E27FC236}">
                <a16:creationId xmlns:a16="http://schemas.microsoft.com/office/drawing/2014/main" id="{5C65B13F-52A0-8A12-CFE9-235BE3633F7B}"/>
              </a:ext>
            </a:extLst>
          </p:cNvPr>
          <p:cNvSpPr/>
          <p:nvPr/>
        </p:nvSpPr>
        <p:spPr>
          <a:xfrm>
            <a:off x="8584645" y="3414861"/>
            <a:ext cx="3086398" cy="544711"/>
          </a:xfrm>
          <a:prstGeom prst="rect">
            <a:avLst/>
          </a:prstGeom>
          <a:noFill/>
          <a:ln/>
        </p:spPr>
        <p:txBody>
          <a:bodyPr wrap="square" lIns="0" tIns="0" rIns="0" bIns="0" rtlCol="0" anchor="t"/>
          <a:lstStyle/>
          <a:p>
            <a:pPr algn="ctr">
              <a:lnSpc>
                <a:spcPts val="2125"/>
              </a:lnSpc>
            </a:pPr>
            <a:r>
              <a:rPr lang="en-US" sz="1600" dirty="0">
                <a:solidFill>
                  <a:srgbClr val="000000"/>
                </a:solidFill>
                <a:latin typeface="Aptos" panose="020B0004020202020204" pitchFamily="34" charset="0"/>
                <a:ea typeface="Inter" pitchFamily="34" charset="-122"/>
                <a:cs typeface="Inter" pitchFamily="34" charset="-120"/>
              </a:rPr>
              <a:t>Data quality is contextual: financial transactions may require near-perfect accuracy; survey data tolerates 5% missingness. The goal is data that is fit for the specific analytical purpose.</a:t>
            </a:r>
            <a:endParaRPr lang="en-US" sz="1600" dirty="0">
              <a:latin typeface="Aptos" panose="020B0004020202020204" pitchFamily="34" charset="0"/>
            </a:endParaRPr>
          </a:p>
        </p:txBody>
      </p:sp>
      <p:sp>
        <p:nvSpPr>
          <p:cNvPr id="10" name="Text 7">
            <a:extLst>
              <a:ext uri="{FF2B5EF4-FFF2-40B4-BE49-F238E27FC236}">
                <a16:creationId xmlns:a16="http://schemas.microsoft.com/office/drawing/2014/main" id="{8D573E7C-5CE4-41F3-54BF-1F52A82C8A76}"/>
              </a:ext>
            </a:extLst>
          </p:cNvPr>
          <p:cNvSpPr/>
          <p:nvPr/>
        </p:nvSpPr>
        <p:spPr>
          <a:xfrm>
            <a:off x="6913703" y="4555480"/>
            <a:ext cx="3086398" cy="561777"/>
          </a:xfrm>
          <a:prstGeom prst="rect">
            <a:avLst/>
          </a:prstGeom>
          <a:noFill/>
          <a:ln/>
        </p:spPr>
        <p:txBody>
          <a:bodyPr wrap="none" lIns="0" tIns="0" rIns="0" bIns="0" rtlCol="0" anchor="t"/>
          <a:lstStyle/>
          <a:p>
            <a:pPr algn="ctr">
              <a:lnSpc>
                <a:spcPts val="4416"/>
              </a:lnSpc>
            </a:pPr>
            <a:r>
              <a:rPr lang="en-US" sz="5400" b="1" dirty="0">
                <a:solidFill>
                  <a:srgbClr val="000000"/>
                </a:solidFill>
                <a:latin typeface="Aptos" panose="020B0004020202020204" pitchFamily="34" charset="0"/>
                <a:ea typeface="Playfair Display Bold" pitchFamily="34" charset="-122"/>
                <a:cs typeface="Playfair Display Bold" pitchFamily="34" charset="-120"/>
              </a:rPr>
              <a:t>0</a:t>
            </a:r>
            <a:endParaRPr lang="en-US" sz="5400" dirty="0">
              <a:latin typeface="Aptos" panose="020B0004020202020204" pitchFamily="34" charset="0"/>
            </a:endParaRPr>
          </a:p>
        </p:txBody>
      </p:sp>
      <p:sp>
        <p:nvSpPr>
          <p:cNvPr id="11" name="Text 8">
            <a:extLst>
              <a:ext uri="{FF2B5EF4-FFF2-40B4-BE49-F238E27FC236}">
                <a16:creationId xmlns:a16="http://schemas.microsoft.com/office/drawing/2014/main" id="{9C75F572-F185-4AA7-50A7-A1632F2B9B80}"/>
              </a:ext>
            </a:extLst>
          </p:cNvPr>
          <p:cNvSpPr/>
          <p:nvPr/>
        </p:nvSpPr>
        <p:spPr>
          <a:xfrm>
            <a:off x="7392731" y="5330081"/>
            <a:ext cx="2128243" cy="266006"/>
          </a:xfrm>
          <a:prstGeom prst="rect">
            <a:avLst/>
          </a:prstGeom>
          <a:noFill/>
          <a:ln/>
        </p:spPr>
        <p:txBody>
          <a:bodyPr wrap="none" lIns="0" tIns="0" rIns="0" bIns="0" rtlCol="0" anchor="t"/>
          <a:lstStyle/>
          <a:p>
            <a:pPr algn="ctr">
              <a:lnSpc>
                <a:spcPts val="2083"/>
              </a:lnSpc>
            </a:pPr>
            <a:r>
              <a:rPr lang="en-US" sz="2000" b="1" dirty="0">
                <a:solidFill>
                  <a:srgbClr val="000000"/>
                </a:solidFill>
                <a:latin typeface="Aptos" panose="020B0004020202020204" pitchFamily="34" charset="0"/>
                <a:ea typeface="Playfair Display Bold" pitchFamily="34" charset="-122"/>
                <a:cs typeface="Playfair Display Bold" pitchFamily="34" charset="-120"/>
              </a:rPr>
              <a:t>Tolerance</a:t>
            </a:r>
            <a:endParaRPr lang="en-US" sz="2000" dirty="0">
              <a:latin typeface="Aptos" panose="020B0004020202020204" pitchFamily="34" charset="0"/>
            </a:endParaRPr>
          </a:p>
        </p:txBody>
      </p:sp>
      <p:sp>
        <p:nvSpPr>
          <p:cNvPr id="12" name="Text 9">
            <a:extLst>
              <a:ext uri="{FF2B5EF4-FFF2-40B4-BE49-F238E27FC236}">
                <a16:creationId xmlns:a16="http://schemas.microsoft.com/office/drawing/2014/main" id="{305C1A72-2E4D-89A0-515A-F7FFBB07A6E3}"/>
              </a:ext>
            </a:extLst>
          </p:cNvPr>
          <p:cNvSpPr/>
          <p:nvPr/>
        </p:nvSpPr>
        <p:spPr>
          <a:xfrm>
            <a:off x="6913703" y="5698182"/>
            <a:ext cx="3086398" cy="544711"/>
          </a:xfrm>
          <a:prstGeom prst="rect">
            <a:avLst/>
          </a:prstGeom>
          <a:noFill/>
          <a:ln/>
        </p:spPr>
        <p:txBody>
          <a:bodyPr wrap="square" lIns="0" tIns="0" rIns="0" bIns="0" rtlCol="0" anchor="t"/>
          <a:lstStyle/>
          <a:p>
            <a:pPr algn="ctr">
              <a:lnSpc>
                <a:spcPts val="2125"/>
              </a:lnSpc>
            </a:pPr>
            <a:r>
              <a:rPr lang="en-US" sz="1600" dirty="0">
                <a:solidFill>
                  <a:srgbClr val="000000"/>
                </a:solidFill>
                <a:latin typeface="Aptos" panose="020B0004020202020204" pitchFamily="34" charset="0"/>
                <a:ea typeface="Inter" pitchFamily="34" charset="-122"/>
                <a:cs typeface="Inter" pitchFamily="34" charset="-120"/>
              </a:rPr>
              <a:t>Amount of dirty data acceptable in critical applications like healthcare.</a:t>
            </a:r>
            <a:endParaRPr lang="en-US" sz="1600" dirty="0">
              <a:latin typeface="Aptos" panose="020B0004020202020204" pitchFamily="34" charset="0"/>
            </a:endParaRPr>
          </a:p>
        </p:txBody>
      </p:sp>
      <p:pic>
        <p:nvPicPr>
          <p:cNvPr id="13" name="Image 0" descr="preencoded.png">
            <a:extLst>
              <a:ext uri="{FF2B5EF4-FFF2-40B4-BE49-F238E27FC236}">
                <a16:creationId xmlns:a16="http://schemas.microsoft.com/office/drawing/2014/main" id="{18EBCCAE-61EA-48F8-504B-6F72049F1A5C}"/>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089951" y="1792473"/>
            <a:ext cx="3162149" cy="4743224"/>
          </a:xfrm>
          <a:prstGeom prst="rect">
            <a:avLst/>
          </a:prstGeom>
        </p:spPr>
      </p:pic>
    </p:spTree>
    <p:extLst>
      <p:ext uri="{BB962C8B-B14F-4D97-AF65-F5344CB8AC3E}">
        <p14:creationId xmlns:p14="http://schemas.microsoft.com/office/powerpoint/2010/main" val="2594349661"/>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706304-7005-08B2-878C-6F710A0E19AA}"/>
              </a:ext>
            </a:extLst>
          </p:cNvPr>
          <p:cNvSpPr>
            <a:spLocks noGrp="1"/>
          </p:cNvSpPr>
          <p:nvPr>
            <p:ph type="title"/>
          </p:nvPr>
        </p:nvSpPr>
        <p:spPr/>
        <p:txBody>
          <a:bodyPr/>
          <a:lstStyle/>
          <a:p>
            <a:r>
              <a:rPr lang="en-US" dirty="0"/>
              <a:t>Coding Tools Review</a:t>
            </a:r>
          </a:p>
        </p:txBody>
      </p:sp>
      <p:sp>
        <p:nvSpPr>
          <p:cNvPr id="4" name="Text 1">
            <a:extLst>
              <a:ext uri="{FF2B5EF4-FFF2-40B4-BE49-F238E27FC236}">
                <a16:creationId xmlns:a16="http://schemas.microsoft.com/office/drawing/2014/main" id="{D2487173-0DA2-6905-D5F3-EC28B04F8E50}"/>
              </a:ext>
            </a:extLst>
          </p:cNvPr>
          <p:cNvSpPr/>
          <p:nvPr/>
        </p:nvSpPr>
        <p:spPr>
          <a:xfrm>
            <a:off x="661492" y="2981424"/>
            <a:ext cx="2362696" cy="295275"/>
          </a:xfrm>
          <a:prstGeom prst="rect">
            <a:avLst/>
          </a:prstGeom>
          <a:noFill/>
          <a:ln/>
        </p:spPr>
        <p:txBody>
          <a:bodyPr wrap="none" lIns="0" tIns="0" rIns="0" bIns="0" rtlCol="0" anchor="t"/>
          <a:lstStyle/>
          <a:p>
            <a:pPr>
              <a:lnSpc>
                <a:spcPts val="2292"/>
              </a:lnSpc>
            </a:pPr>
            <a:r>
              <a:rPr lang="en-US" sz="2800" b="1" dirty="0">
                <a:solidFill>
                  <a:srgbClr val="000000"/>
                </a:solidFill>
                <a:latin typeface="Aptos" panose="020B0004020202020204" pitchFamily="34" charset="0"/>
                <a:ea typeface="Playfair Display Bold" pitchFamily="34" charset="-122"/>
                <a:cs typeface="Playfair Display Bold" pitchFamily="34" charset="-120"/>
              </a:rPr>
              <a:t>Python (pandas)</a:t>
            </a:r>
            <a:endParaRPr lang="en-US" sz="2800" dirty="0">
              <a:latin typeface="Aptos" panose="020B0004020202020204" pitchFamily="34" charset="0"/>
            </a:endParaRPr>
          </a:p>
        </p:txBody>
      </p:sp>
      <p:sp>
        <p:nvSpPr>
          <p:cNvPr id="5" name="Text 2">
            <a:extLst>
              <a:ext uri="{FF2B5EF4-FFF2-40B4-BE49-F238E27FC236}">
                <a16:creationId xmlns:a16="http://schemas.microsoft.com/office/drawing/2014/main" id="{CFACB6B9-1054-B285-8859-272610F6A888}"/>
              </a:ext>
            </a:extLst>
          </p:cNvPr>
          <p:cNvSpPr/>
          <p:nvPr/>
        </p:nvSpPr>
        <p:spPr>
          <a:xfrm>
            <a:off x="661492" y="3465711"/>
            <a:ext cx="5203924" cy="302419"/>
          </a:xfrm>
          <a:prstGeom prst="rect">
            <a:avLst/>
          </a:prstGeom>
          <a:noFill/>
          <a:ln/>
        </p:spPr>
        <p:txBody>
          <a:bodyPr wrap="none" lIns="0" tIns="0" rIns="0" bIns="0" rtlCol="0" anchor="t"/>
          <a:lstStyle/>
          <a:p>
            <a:pPr marL="285739" indent="-285739">
              <a:lnSpc>
                <a:spcPts val="2375"/>
              </a:lnSpc>
              <a:buSzPct val="100000"/>
              <a:buChar char="•"/>
            </a:pPr>
            <a:r>
              <a:rPr lang="en-US" sz="2000" dirty="0">
                <a:solidFill>
                  <a:srgbClr val="000000"/>
                </a:solidFill>
                <a:latin typeface="Aptos" panose="020B0004020202020204" pitchFamily="34" charset="0"/>
                <a:ea typeface="Inter" pitchFamily="34" charset="-122"/>
                <a:cs typeface="Inter" pitchFamily="34" charset="-120"/>
              </a:rPr>
              <a:t>df.isna() - Find missing values</a:t>
            </a:r>
            <a:endParaRPr lang="en-US" sz="2000" dirty="0">
              <a:latin typeface="Aptos" panose="020B0004020202020204" pitchFamily="34" charset="0"/>
            </a:endParaRPr>
          </a:p>
        </p:txBody>
      </p:sp>
      <p:sp>
        <p:nvSpPr>
          <p:cNvPr id="6" name="Text 3">
            <a:extLst>
              <a:ext uri="{FF2B5EF4-FFF2-40B4-BE49-F238E27FC236}">
                <a16:creationId xmlns:a16="http://schemas.microsoft.com/office/drawing/2014/main" id="{CC22CFDE-596A-6823-6743-99DADDF3E1D3}"/>
              </a:ext>
            </a:extLst>
          </p:cNvPr>
          <p:cNvSpPr/>
          <p:nvPr/>
        </p:nvSpPr>
        <p:spPr>
          <a:xfrm>
            <a:off x="661492" y="3834210"/>
            <a:ext cx="5203924" cy="302419"/>
          </a:xfrm>
          <a:prstGeom prst="rect">
            <a:avLst/>
          </a:prstGeom>
          <a:noFill/>
          <a:ln/>
        </p:spPr>
        <p:txBody>
          <a:bodyPr wrap="none" lIns="0" tIns="0" rIns="0" bIns="0" rtlCol="0" anchor="t"/>
          <a:lstStyle/>
          <a:p>
            <a:pPr marL="285739" indent="-285739">
              <a:lnSpc>
                <a:spcPts val="2375"/>
              </a:lnSpc>
              <a:buSzPct val="100000"/>
              <a:buChar char="•"/>
            </a:pPr>
            <a:r>
              <a:rPr lang="en-US" sz="2000" dirty="0">
                <a:solidFill>
                  <a:srgbClr val="000000"/>
                </a:solidFill>
                <a:latin typeface="Aptos" panose="020B0004020202020204" pitchFamily="34" charset="0"/>
                <a:ea typeface="Inter" pitchFamily="34" charset="-122"/>
                <a:cs typeface="Inter" pitchFamily="34" charset="-120"/>
              </a:rPr>
              <a:t>df.fillna() - Replace missing values</a:t>
            </a:r>
            <a:endParaRPr lang="en-US" sz="2000" dirty="0">
              <a:latin typeface="Aptos" panose="020B0004020202020204" pitchFamily="34" charset="0"/>
            </a:endParaRPr>
          </a:p>
        </p:txBody>
      </p:sp>
      <p:sp>
        <p:nvSpPr>
          <p:cNvPr id="7" name="Text 4">
            <a:extLst>
              <a:ext uri="{FF2B5EF4-FFF2-40B4-BE49-F238E27FC236}">
                <a16:creationId xmlns:a16="http://schemas.microsoft.com/office/drawing/2014/main" id="{44EB866E-3C52-AE5F-2955-C37BDED52D34}"/>
              </a:ext>
            </a:extLst>
          </p:cNvPr>
          <p:cNvSpPr/>
          <p:nvPr/>
        </p:nvSpPr>
        <p:spPr>
          <a:xfrm>
            <a:off x="661492" y="4202708"/>
            <a:ext cx="5203924" cy="302419"/>
          </a:xfrm>
          <a:prstGeom prst="rect">
            <a:avLst/>
          </a:prstGeom>
          <a:noFill/>
          <a:ln/>
        </p:spPr>
        <p:txBody>
          <a:bodyPr wrap="none" lIns="0" tIns="0" rIns="0" bIns="0" rtlCol="0" anchor="t"/>
          <a:lstStyle/>
          <a:p>
            <a:pPr marL="285739" indent="-285739">
              <a:lnSpc>
                <a:spcPts val="2375"/>
              </a:lnSpc>
              <a:buSzPct val="100000"/>
              <a:buChar char="•"/>
            </a:pPr>
            <a:r>
              <a:rPr lang="en-US" sz="2000" dirty="0">
                <a:solidFill>
                  <a:srgbClr val="000000"/>
                </a:solidFill>
                <a:latin typeface="Aptos" panose="020B0004020202020204" pitchFamily="34" charset="0"/>
                <a:ea typeface="Inter" pitchFamily="34" charset="-122"/>
                <a:cs typeface="Inter" pitchFamily="34" charset="-120"/>
              </a:rPr>
              <a:t>df.drop_duplicates() - Remove duplicates</a:t>
            </a:r>
            <a:endParaRPr lang="en-US" sz="2000" dirty="0">
              <a:latin typeface="Aptos" panose="020B0004020202020204" pitchFamily="34" charset="0"/>
            </a:endParaRPr>
          </a:p>
        </p:txBody>
      </p:sp>
      <p:sp>
        <p:nvSpPr>
          <p:cNvPr id="8" name="Text 5">
            <a:extLst>
              <a:ext uri="{FF2B5EF4-FFF2-40B4-BE49-F238E27FC236}">
                <a16:creationId xmlns:a16="http://schemas.microsoft.com/office/drawing/2014/main" id="{A431929A-29F7-B1C3-3B2B-3C4BAD87FA74}"/>
              </a:ext>
            </a:extLst>
          </p:cNvPr>
          <p:cNvSpPr/>
          <p:nvPr/>
        </p:nvSpPr>
        <p:spPr>
          <a:xfrm>
            <a:off x="661492" y="4571207"/>
            <a:ext cx="5203924" cy="302419"/>
          </a:xfrm>
          <a:prstGeom prst="rect">
            <a:avLst/>
          </a:prstGeom>
          <a:noFill/>
          <a:ln/>
        </p:spPr>
        <p:txBody>
          <a:bodyPr wrap="none" lIns="0" tIns="0" rIns="0" bIns="0" rtlCol="0" anchor="t"/>
          <a:lstStyle/>
          <a:p>
            <a:pPr marL="285739" indent="-285739">
              <a:lnSpc>
                <a:spcPts val="2375"/>
              </a:lnSpc>
              <a:buSzPct val="100000"/>
              <a:buChar char="•"/>
            </a:pPr>
            <a:r>
              <a:rPr lang="en-US" sz="2000" dirty="0">
                <a:solidFill>
                  <a:srgbClr val="000000"/>
                </a:solidFill>
                <a:latin typeface="Aptos" panose="020B0004020202020204" pitchFamily="34" charset="0"/>
                <a:ea typeface="Inter" pitchFamily="34" charset="-122"/>
                <a:cs typeface="Inter" pitchFamily="34" charset="-120"/>
              </a:rPr>
              <a:t>df.replace() - Fix incorrect values</a:t>
            </a:r>
            <a:endParaRPr lang="en-US" sz="2000" dirty="0">
              <a:latin typeface="Aptos" panose="020B0004020202020204" pitchFamily="34" charset="0"/>
            </a:endParaRPr>
          </a:p>
        </p:txBody>
      </p:sp>
      <p:sp>
        <p:nvSpPr>
          <p:cNvPr id="9" name="Text 6">
            <a:extLst>
              <a:ext uri="{FF2B5EF4-FFF2-40B4-BE49-F238E27FC236}">
                <a16:creationId xmlns:a16="http://schemas.microsoft.com/office/drawing/2014/main" id="{B65CC06C-6D51-4B4C-F400-B7CEFBAB145D}"/>
              </a:ext>
            </a:extLst>
          </p:cNvPr>
          <p:cNvSpPr/>
          <p:nvPr/>
        </p:nvSpPr>
        <p:spPr>
          <a:xfrm>
            <a:off x="5865416" y="2999397"/>
            <a:ext cx="2362696" cy="295275"/>
          </a:xfrm>
          <a:prstGeom prst="rect">
            <a:avLst/>
          </a:prstGeom>
          <a:noFill/>
          <a:ln/>
        </p:spPr>
        <p:txBody>
          <a:bodyPr wrap="none" lIns="0" tIns="0" rIns="0" bIns="0" rtlCol="0" anchor="t"/>
          <a:lstStyle/>
          <a:p>
            <a:pPr>
              <a:lnSpc>
                <a:spcPts val="2292"/>
              </a:lnSpc>
            </a:pPr>
            <a:r>
              <a:rPr lang="en-US" sz="2800" b="1" dirty="0">
                <a:solidFill>
                  <a:srgbClr val="000000"/>
                </a:solidFill>
                <a:latin typeface="Aptos" panose="020B0004020202020204" pitchFamily="34" charset="0"/>
                <a:ea typeface="Playfair Display Bold" pitchFamily="34" charset="-122"/>
                <a:cs typeface="Playfair Display Bold" pitchFamily="34" charset="-120"/>
              </a:rPr>
              <a:t>R</a:t>
            </a:r>
            <a:endParaRPr lang="en-US" sz="2800" dirty="0">
              <a:latin typeface="Aptos" panose="020B0004020202020204" pitchFamily="34" charset="0"/>
            </a:endParaRPr>
          </a:p>
        </p:txBody>
      </p:sp>
      <p:sp>
        <p:nvSpPr>
          <p:cNvPr id="10" name="Text 7">
            <a:extLst>
              <a:ext uri="{FF2B5EF4-FFF2-40B4-BE49-F238E27FC236}">
                <a16:creationId xmlns:a16="http://schemas.microsoft.com/office/drawing/2014/main" id="{20D60967-8F02-851D-42A5-527AF077FDE1}"/>
              </a:ext>
            </a:extLst>
          </p:cNvPr>
          <p:cNvSpPr/>
          <p:nvPr/>
        </p:nvSpPr>
        <p:spPr>
          <a:xfrm>
            <a:off x="5865416" y="3483684"/>
            <a:ext cx="5203924" cy="302419"/>
          </a:xfrm>
          <a:prstGeom prst="rect">
            <a:avLst/>
          </a:prstGeom>
          <a:noFill/>
          <a:ln/>
        </p:spPr>
        <p:txBody>
          <a:bodyPr wrap="none" lIns="0" tIns="0" rIns="0" bIns="0" rtlCol="0" anchor="t"/>
          <a:lstStyle/>
          <a:p>
            <a:pPr marL="285739" indent="-285739">
              <a:lnSpc>
                <a:spcPts val="2375"/>
              </a:lnSpc>
              <a:buSzPct val="100000"/>
              <a:buChar char="•"/>
            </a:pPr>
            <a:r>
              <a:rPr lang="en-US" sz="2000" dirty="0">
                <a:solidFill>
                  <a:srgbClr val="000000"/>
                </a:solidFill>
                <a:latin typeface="Aptos" panose="020B0004020202020204" pitchFamily="34" charset="0"/>
                <a:ea typeface="Inter" pitchFamily="34" charset="-122"/>
                <a:cs typeface="Inter" pitchFamily="34" charset="-120"/>
              </a:rPr>
              <a:t>is.na() - Find missing values</a:t>
            </a:r>
            <a:endParaRPr lang="en-US" sz="2000" dirty="0">
              <a:latin typeface="Aptos" panose="020B0004020202020204" pitchFamily="34" charset="0"/>
            </a:endParaRPr>
          </a:p>
        </p:txBody>
      </p:sp>
      <p:sp>
        <p:nvSpPr>
          <p:cNvPr id="11" name="Text 8">
            <a:extLst>
              <a:ext uri="{FF2B5EF4-FFF2-40B4-BE49-F238E27FC236}">
                <a16:creationId xmlns:a16="http://schemas.microsoft.com/office/drawing/2014/main" id="{8AEE0DEB-46A3-462C-9B32-FF9645D5D0A0}"/>
              </a:ext>
            </a:extLst>
          </p:cNvPr>
          <p:cNvSpPr/>
          <p:nvPr/>
        </p:nvSpPr>
        <p:spPr>
          <a:xfrm>
            <a:off x="5865416" y="3852184"/>
            <a:ext cx="4280101" cy="483536"/>
          </a:xfrm>
          <a:prstGeom prst="rect">
            <a:avLst/>
          </a:prstGeom>
          <a:noFill/>
          <a:ln/>
        </p:spPr>
        <p:txBody>
          <a:bodyPr wrap="none" lIns="0" tIns="0" rIns="0" bIns="0" rtlCol="0" anchor="t"/>
          <a:lstStyle/>
          <a:p>
            <a:pPr marL="285739" indent="-285739">
              <a:lnSpc>
                <a:spcPts val="2375"/>
              </a:lnSpc>
              <a:buSzPct val="100000"/>
              <a:buChar char="•"/>
            </a:pPr>
            <a:r>
              <a:rPr lang="en-US" sz="2000" dirty="0">
                <a:solidFill>
                  <a:srgbClr val="000000"/>
                </a:solidFill>
                <a:latin typeface="Aptos" panose="020B0004020202020204" pitchFamily="34" charset="0"/>
                <a:ea typeface="Inter" pitchFamily="34" charset="-122"/>
                <a:cs typeface="Inter" pitchFamily="34" charset="-120"/>
              </a:rPr>
              <a:t>mean(x, na.rm=TRUE) – Calculate mean ignoring NA</a:t>
            </a:r>
            <a:endParaRPr lang="en-US" sz="2000" dirty="0">
              <a:latin typeface="Aptos" panose="020B0004020202020204" pitchFamily="34" charset="0"/>
            </a:endParaRPr>
          </a:p>
        </p:txBody>
      </p:sp>
      <p:sp>
        <p:nvSpPr>
          <p:cNvPr id="12" name="Text 9">
            <a:extLst>
              <a:ext uri="{FF2B5EF4-FFF2-40B4-BE49-F238E27FC236}">
                <a16:creationId xmlns:a16="http://schemas.microsoft.com/office/drawing/2014/main" id="{764AFAE0-FB5A-5A50-1D38-3935F82D9621}"/>
              </a:ext>
            </a:extLst>
          </p:cNvPr>
          <p:cNvSpPr/>
          <p:nvPr/>
        </p:nvSpPr>
        <p:spPr>
          <a:xfrm>
            <a:off x="5865416" y="4220681"/>
            <a:ext cx="5203924" cy="302419"/>
          </a:xfrm>
          <a:prstGeom prst="rect">
            <a:avLst/>
          </a:prstGeom>
          <a:noFill/>
          <a:ln/>
        </p:spPr>
        <p:txBody>
          <a:bodyPr wrap="none" lIns="0" tIns="0" rIns="0" bIns="0" rtlCol="0" anchor="t"/>
          <a:lstStyle/>
          <a:p>
            <a:pPr marL="285739" indent="-285739">
              <a:lnSpc>
                <a:spcPts val="2375"/>
              </a:lnSpc>
              <a:buSzPct val="100000"/>
              <a:buChar char="•"/>
            </a:pPr>
            <a:r>
              <a:rPr lang="en-US" sz="2000" dirty="0">
                <a:solidFill>
                  <a:srgbClr val="000000"/>
                </a:solidFill>
                <a:latin typeface="Aptos" panose="020B0004020202020204" pitchFamily="34" charset="0"/>
                <a:ea typeface="Inter" pitchFamily="34" charset="-122"/>
                <a:cs typeface="Inter" pitchFamily="34" charset="-120"/>
              </a:rPr>
              <a:t>unique() - Find unique values</a:t>
            </a:r>
            <a:endParaRPr lang="en-US" sz="2000" dirty="0">
              <a:latin typeface="Aptos" panose="020B0004020202020204" pitchFamily="34" charset="0"/>
            </a:endParaRPr>
          </a:p>
        </p:txBody>
      </p:sp>
      <p:sp>
        <p:nvSpPr>
          <p:cNvPr id="13" name="Text 10">
            <a:extLst>
              <a:ext uri="{FF2B5EF4-FFF2-40B4-BE49-F238E27FC236}">
                <a16:creationId xmlns:a16="http://schemas.microsoft.com/office/drawing/2014/main" id="{5F793AF7-6585-CD6E-2B67-3A1A1D5174AD}"/>
              </a:ext>
            </a:extLst>
          </p:cNvPr>
          <p:cNvSpPr/>
          <p:nvPr/>
        </p:nvSpPr>
        <p:spPr>
          <a:xfrm>
            <a:off x="5865416" y="4589180"/>
            <a:ext cx="5203924" cy="302419"/>
          </a:xfrm>
          <a:prstGeom prst="rect">
            <a:avLst/>
          </a:prstGeom>
          <a:noFill/>
          <a:ln/>
        </p:spPr>
        <p:txBody>
          <a:bodyPr wrap="none" lIns="0" tIns="0" rIns="0" bIns="0" rtlCol="0" anchor="t"/>
          <a:lstStyle/>
          <a:p>
            <a:pPr marL="285739" indent="-285739">
              <a:lnSpc>
                <a:spcPts val="2375"/>
              </a:lnSpc>
              <a:buSzPct val="100000"/>
              <a:buChar char="•"/>
            </a:pPr>
            <a:r>
              <a:rPr lang="en-US" sz="2000" dirty="0">
                <a:solidFill>
                  <a:srgbClr val="000000"/>
                </a:solidFill>
                <a:latin typeface="Aptos" panose="020B0004020202020204" pitchFamily="34" charset="0"/>
                <a:ea typeface="Inter" pitchFamily="34" charset="-122"/>
                <a:cs typeface="Inter" pitchFamily="34" charset="-120"/>
              </a:rPr>
              <a:t>gsub() - Replace text patterns</a:t>
            </a:r>
            <a:endParaRPr lang="en-US" sz="2000" dirty="0">
              <a:latin typeface="Aptos" panose="020B0004020202020204" pitchFamily="34" charset="0"/>
            </a:endParaRPr>
          </a:p>
        </p:txBody>
      </p:sp>
    </p:spTree>
    <p:extLst>
      <p:ext uri="{BB962C8B-B14F-4D97-AF65-F5344CB8AC3E}">
        <p14:creationId xmlns:p14="http://schemas.microsoft.com/office/powerpoint/2010/main" val="3554221557"/>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BA330C-89C6-4308-64A7-B11B7EEA6FB8}"/>
              </a:ext>
            </a:extLst>
          </p:cNvPr>
          <p:cNvSpPr>
            <a:spLocks noGrp="1"/>
          </p:cNvSpPr>
          <p:nvPr>
            <p:ph type="title"/>
          </p:nvPr>
        </p:nvSpPr>
        <p:spPr>
          <a:xfrm>
            <a:off x="838200" y="509737"/>
            <a:ext cx="10515600" cy="1325563"/>
          </a:xfrm>
        </p:spPr>
        <p:txBody>
          <a:bodyPr/>
          <a:lstStyle/>
          <a:p>
            <a:r>
              <a:rPr lang="en-US" dirty="0"/>
              <a:t>From Detective to Storyteller</a:t>
            </a:r>
          </a:p>
        </p:txBody>
      </p:sp>
      <p:pic>
        <p:nvPicPr>
          <p:cNvPr id="4" name="Image 1" descr="preencoded.png">
            <a:extLst>
              <a:ext uri="{FF2B5EF4-FFF2-40B4-BE49-F238E27FC236}">
                <a16:creationId xmlns:a16="http://schemas.microsoft.com/office/drawing/2014/main" id="{D3F830F2-BE2B-EF8D-DCC8-3050796FEB5A}"/>
              </a:ext>
            </a:extLst>
          </p:cNvPr>
          <p:cNvPicPr>
            <a:picLocks noChangeAspect="1"/>
          </p:cNvPicPr>
          <p:nvPr/>
        </p:nvPicPr>
        <p:blipFill>
          <a:blip r:embed="rId2"/>
          <a:stretch>
            <a:fillRect/>
          </a:stretch>
        </p:blipFill>
        <p:spPr>
          <a:xfrm>
            <a:off x="628352" y="1567458"/>
            <a:ext cx="897732" cy="1321793"/>
          </a:xfrm>
          <a:prstGeom prst="rect">
            <a:avLst/>
          </a:prstGeom>
        </p:spPr>
      </p:pic>
      <p:sp>
        <p:nvSpPr>
          <p:cNvPr id="5" name="Text 1">
            <a:extLst>
              <a:ext uri="{FF2B5EF4-FFF2-40B4-BE49-F238E27FC236}">
                <a16:creationId xmlns:a16="http://schemas.microsoft.com/office/drawing/2014/main" id="{92BF5785-D1F5-553C-6019-161AC4001F83}"/>
              </a:ext>
            </a:extLst>
          </p:cNvPr>
          <p:cNvSpPr/>
          <p:nvPr/>
        </p:nvSpPr>
        <p:spPr>
          <a:xfrm>
            <a:off x="1795364" y="1746944"/>
            <a:ext cx="2244328" cy="280492"/>
          </a:xfrm>
          <a:prstGeom prst="rect">
            <a:avLst/>
          </a:prstGeom>
          <a:noFill/>
          <a:ln/>
        </p:spPr>
        <p:txBody>
          <a:bodyPr wrap="none" lIns="0" tIns="0" rIns="0" bIns="0" rtlCol="0" anchor="t"/>
          <a:lstStyle/>
          <a:p>
            <a:pPr>
              <a:lnSpc>
                <a:spcPts val="2208"/>
              </a:lnSpc>
            </a:pPr>
            <a:r>
              <a:rPr lang="en-US" sz="2400" b="1" dirty="0">
                <a:solidFill>
                  <a:srgbClr val="000000"/>
                </a:solidFill>
                <a:latin typeface="Aptos" panose="020B0004020202020204" pitchFamily="34" charset="0"/>
                <a:ea typeface="Playfair Display Bold" pitchFamily="34" charset="-122"/>
                <a:cs typeface="Playfair Display Bold" pitchFamily="34" charset="-120"/>
              </a:rPr>
              <a:t>Collect Data</a:t>
            </a:r>
            <a:endParaRPr lang="en-US" sz="2400" dirty="0">
              <a:latin typeface="Aptos" panose="020B0004020202020204" pitchFamily="34" charset="0"/>
            </a:endParaRPr>
          </a:p>
        </p:txBody>
      </p:sp>
      <p:sp>
        <p:nvSpPr>
          <p:cNvPr id="6" name="Text 2">
            <a:extLst>
              <a:ext uri="{FF2B5EF4-FFF2-40B4-BE49-F238E27FC236}">
                <a16:creationId xmlns:a16="http://schemas.microsoft.com/office/drawing/2014/main" id="{69AD3EDD-90ED-85D9-D0F4-011DF98A3299}"/>
              </a:ext>
            </a:extLst>
          </p:cNvPr>
          <p:cNvSpPr/>
          <p:nvPr/>
        </p:nvSpPr>
        <p:spPr>
          <a:xfrm>
            <a:off x="1795364" y="2135088"/>
            <a:ext cx="5196284" cy="574675"/>
          </a:xfrm>
          <a:prstGeom prst="rect">
            <a:avLst/>
          </a:prstGeom>
          <a:noFill/>
          <a:ln/>
        </p:spPr>
        <p:txBody>
          <a:bodyPr wrap="square" lIns="0" tIns="0" rIns="0" bIns="0" rtlCol="0" anchor="t"/>
          <a:lstStyle/>
          <a:p>
            <a:pPr>
              <a:lnSpc>
                <a:spcPts val="2250"/>
              </a:lnSpc>
            </a:pPr>
            <a:r>
              <a:rPr lang="en-US" dirty="0">
                <a:solidFill>
                  <a:srgbClr val="000000"/>
                </a:solidFill>
                <a:latin typeface="Aptos" panose="020B0004020202020204" pitchFamily="34" charset="0"/>
                <a:ea typeface="Inter" pitchFamily="34" charset="-122"/>
                <a:cs typeface="Inter" pitchFamily="34" charset="-120"/>
              </a:rPr>
              <a:t>Gather information through surveys, experiments, or existing sources.</a:t>
            </a:r>
            <a:endParaRPr lang="en-US" dirty="0">
              <a:latin typeface="Aptos" panose="020B0004020202020204" pitchFamily="34" charset="0"/>
            </a:endParaRPr>
          </a:p>
        </p:txBody>
      </p:sp>
      <p:pic>
        <p:nvPicPr>
          <p:cNvPr id="7" name="Image 2" descr="preencoded.png">
            <a:extLst>
              <a:ext uri="{FF2B5EF4-FFF2-40B4-BE49-F238E27FC236}">
                <a16:creationId xmlns:a16="http://schemas.microsoft.com/office/drawing/2014/main" id="{D9C0E0D9-638F-1561-6F88-B62CC71E2417}"/>
              </a:ext>
            </a:extLst>
          </p:cNvPr>
          <p:cNvPicPr>
            <a:picLocks noChangeAspect="1"/>
          </p:cNvPicPr>
          <p:nvPr/>
        </p:nvPicPr>
        <p:blipFill>
          <a:blip r:embed="rId3"/>
          <a:stretch>
            <a:fillRect/>
          </a:stretch>
        </p:blipFill>
        <p:spPr>
          <a:xfrm>
            <a:off x="628352" y="2889250"/>
            <a:ext cx="897732" cy="1077218"/>
          </a:xfrm>
          <a:prstGeom prst="rect">
            <a:avLst/>
          </a:prstGeom>
        </p:spPr>
      </p:pic>
      <p:sp>
        <p:nvSpPr>
          <p:cNvPr id="8" name="Text 3">
            <a:extLst>
              <a:ext uri="{FF2B5EF4-FFF2-40B4-BE49-F238E27FC236}">
                <a16:creationId xmlns:a16="http://schemas.microsoft.com/office/drawing/2014/main" id="{C815559A-59FA-DD83-3125-3D2FF59C4439}"/>
              </a:ext>
            </a:extLst>
          </p:cNvPr>
          <p:cNvSpPr/>
          <p:nvPr/>
        </p:nvSpPr>
        <p:spPr>
          <a:xfrm>
            <a:off x="1795364" y="3068737"/>
            <a:ext cx="2244328" cy="280492"/>
          </a:xfrm>
          <a:prstGeom prst="rect">
            <a:avLst/>
          </a:prstGeom>
          <a:noFill/>
          <a:ln/>
        </p:spPr>
        <p:txBody>
          <a:bodyPr wrap="none" lIns="0" tIns="0" rIns="0" bIns="0" rtlCol="0" anchor="t"/>
          <a:lstStyle/>
          <a:p>
            <a:pPr>
              <a:lnSpc>
                <a:spcPts val="2208"/>
              </a:lnSpc>
            </a:pPr>
            <a:r>
              <a:rPr lang="en-US" sz="2400" b="1" dirty="0">
                <a:solidFill>
                  <a:srgbClr val="000000"/>
                </a:solidFill>
                <a:latin typeface="Aptos" panose="020B0004020202020204" pitchFamily="34" charset="0"/>
                <a:ea typeface="Playfair Display Bold" pitchFamily="34" charset="-122"/>
                <a:cs typeface="Playfair Display Bold" pitchFamily="34" charset="-120"/>
              </a:rPr>
              <a:t>Clean Data</a:t>
            </a:r>
            <a:endParaRPr lang="en-US" sz="2400" dirty="0">
              <a:latin typeface="Aptos" panose="020B0004020202020204" pitchFamily="34" charset="0"/>
            </a:endParaRPr>
          </a:p>
        </p:txBody>
      </p:sp>
      <p:sp>
        <p:nvSpPr>
          <p:cNvPr id="9" name="Text 4">
            <a:extLst>
              <a:ext uri="{FF2B5EF4-FFF2-40B4-BE49-F238E27FC236}">
                <a16:creationId xmlns:a16="http://schemas.microsoft.com/office/drawing/2014/main" id="{52DADCC5-7AB0-FB25-E258-E6FB36812D6D}"/>
              </a:ext>
            </a:extLst>
          </p:cNvPr>
          <p:cNvSpPr/>
          <p:nvPr/>
        </p:nvSpPr>
        <p:spPr>
          <a:xfrm>
            <a:off x="1795364" y="3456881"/>
            <a:ext cx="5196284" cy="287338"/>
          </a:xfrm>
          <a:prstGeom prst="rect">
            <a:avLst/>
          </a:prstGeom>
          <a:noFill/>
          <a:ln/>
        </p:spPr>
        <p:txBody>
          <a:bodyPr wrap="none" lIns="0" tIns="0" rIns="0" bIns="0" rtlCol="0" anchor="t"/>
          <a:lstStyle/>
          <a:p>
            <a:pPr>
              <a:lnSpc>
                <a:spcPts val="2250"/>
              </a:lnSpc>
            </a:pPr>
            <a:r>
              <a:rPr lang="en-US" dirty="0">
                <a:solidFill>
                  <a:srgbClr val="000000"/>
                </a:solidFill>
                <a:latin typeface="Aptos" panose="020B0004020202020204" pitchFamily="34" charset="0"/>
                <a:ea typeface="Inter" pitchFamily="34" charset="-122"/>
                <a:cs typeface="Inter" pitchFamily="34" charset="-120"/>
              </a:rPr>
              <a:t>Ensure data quality by fixing errors and inconsistencies.</a:t>
            </a:r>
            <a:endParaRPr lang="en-US" dirty="0">
              <a:latin typeface="Aptos" panose="020B0004020202020204" pitchFamily="34" charset="0"/>
            </a:endParaRPr>
          </a:p>
        </p:txBody>
      </p:sp>
      <p:pic>
        <p:nvPicPr>
          <p:cNvPr id="10" name="Image 3" descr="preencoded.png">
            <a:extLst>
              <a:ext uri="{FF2B5EF4-FFF2-40B4-BE49-F238E27FC236}">
                <a16:creationId xmlns:a16="http://schemas.microsoft.com/office/drawing/2014/main" id="{EE901911-8EB8-B7CA-50A6-E60AC4FB7E78}"/>
              </a:ext>
            </a:extLst>
          </p:cNvPr>
          <p:cNvPicPr>
            <a:picLocks noChangeAspect="1"/>
          </p:cNvPicPr>
          <p:nvPr/>
        </p:nvPicPr>
        <p:blipFill>
          <a:blip r:embed="rId4"/>
          <a:stretch>
            <a:fillRect/>
          </a:stretch>
        </p:blipFill>
        <p:spPr>
          <a:xfrm>
            <a:off x="628352" y="3966469"/>
            <a:ext cx="897732" cy="1077218"/>
          </a:xfrm>
          <a:prstGeom prst="rect">
            <a:avLst/>
          </a:prstGeom>
        </p:spPr>
      </p:pic>
      <p:sp>
        <p:nvSpPr>
          <p:cNvPr id="11" name="Text 5">
            <a:extLst>
              <a:ext uri="{FF2B5EF4-FFF2-40B4-BE49-F238E27FC236}">
                <a16:creationId xmlns:a16="http://schemas.microsoft.com/office/drawing/2014/main" id="{0B587E4F-CE03-3EFB-FB35-09178196AE38}"/>
              </a:ext>
            </a:extLst>
          </p:cNvPr>
          <p:cNvSpPr/>
          <p:nvPr/>
        </p:nvSpPr>
        <p:spPr>
          <a:xfrm>
            <a:off x="1795364" y="4145955"/>
            <a:ext cx="2244328" cy="280492"/>
          </a:xfrm>
          <a:prstGeom prst="rect">
            <a:avLst/>
          </a:prstGeom>
          <a:noFill/>
          <a:ln/>
        </p:spPr>
        <p:txBody>
          <a:bodyPr wrap="none" lIns="0" tIns="0" rIns="0" bIns="0" rtlCol="0" anchor="t"/>
          <a:lstStyle/>
          <a:p>
            <a:pPr>
              <a:lnSpc>
                <a:spcPts val="2208"/>
              </a:lnSpc>
            </a:pPr>
            <a:r>
              <a:rPr lang="en-US" sz="2400" b="1" dirty="0">
                <a:solidFill>
                  <a:srgbClr val="000000"/>
                </a:solidFill>
                <a:latin typeface="Aptos" panose="020B0004020202020204" pitchFamily="34" charset="0"/>
                <a:ea typeface="Playfair Display Bold" pitchFamily="34" charset="-122"/>
                <a:cs typeface="Playfair Display Bold" pitchFamily="34" charset="-120"/>
              </a:rPr>
              <a:t>Analyze Data</a:t>
            </a:r>
            <a:endParaRPr lang="en-US" sz="2400" dirty="0">
              <a:latin typeface="Aptos" panose="020B0004020202020204" pitchFamily="34" charset="0"/>
            </a:endParaRPr>
          </a:p>
        </p:txBody>
      </p:sp>
      <p:sp>
        <p:nvSpPr>
          <p:cNvPr id="12" name="Text 6">
            <a:extLst>
              <a:ext uri="{FF2B5EF4-FFF2-40B4-BE49-F238E27FC236}">
                <a16:creationId xmlns:a16="http://schemas.microsoft.com/office/drawing/2014/main" id="{2B97AF43-7D91-533A-6492-05C9EB98559C}"/>
              </a:ext>
            </a:extLst>
          </p:cNvPr>
          <p:cNvSpPr/>
          <p:nvPr/>
        </p:nvSpPr>
        <p:spPr>
          <a:xfrm>
            <a:off x="1795364" y="4534099"/>
            <a:ext cx="5196284" cy="287338"/>
          </a:xfrm>
          <a:prstGeom prst="rect">
            <a:avLst/>
          </a:prstGeom>
          <a:noFill/>
          <a:ln/>
        </p:spPr>
        <p:txBody>
          <a:bodyPr wrap="none" lIns="0" tIns="0" rIns="0" bIns="0" rtlCol="0" anchor="t"/>
          <a:lstStyle/>
          <a:p>
            <a:pPr>
              <a:lnSpc>
                <a:spcPts val="2250"/>
              </a:lnSpc>
            </a:pPr>
            <a:r>
              <a:rPr lang="en-US" dirty="0">
                <a:solidFill>
                  <a:srgbClr val="000000"/>
                </a:solidFill>
                <a:latin typeface="Aptos" panose="020B0004020202020204" pitchFamily="34" charset="0"/>
                <a:ea typeface="Inter" pitchFamily="34" charset="-122"/>
                <a:cs typeface="Inter" pitchFamily="34" charset="-120"/>
              </a:rPr>
              <a:t>Apply statistical methods and visualizations to find patterns.</a:t>
            </a:r>
            <a:endParaRPr lang="en-US" dirty="0">
              <a:latin typeface="Aptos" panose="020B0004020202020204" pitchFamily="34" charset="0"/>
            </a:endParaRPr>
          </a:p>
        </p:txBody>
      </p:sp>
      <p:pic>
        <p:nvPicPr>
          <p:cNvPr id="13" name="Image 4" descr="preencoded.png">
            <a:extLst>
              <a:ext uri="{FF2B5EF4-FFF2-40B4-BE49-F238E27FC236}">
                <a16:creationId xmlns:a16="http://schemas.microsoft.com/office/drawing/2014/main" id="{A4B1E15A-1F7F-408B-A754-AD2C654D073D}"/>
              </a:ext>
            </a:extLst>
          </p:cNvPr>
          <p:cNvPicPr>
            <a:picLocks noChangeAspect="1"/>
          </p:cNvPicPr>
          <p:nvPr/>
        </p:nvPicPr>
        <p:blipFill>
          <a:blip r:embed="rId5"/>
          <a:stretch>
            <a:fillRect/>
          </a:stretch>
        </p:blipFill>
        <p:spPr>
          <a:xfrm>
            <a:off x="628352" y="5043686"/>
            <a:ext cx="897732" cy="1077218"/>
          </a:xfrm>
          <a:prstGeom prst="rect">
            <a:avLst/>
          </a:prstGeom>
        </p:spPr>
      </p:pic>
      <p:sp>
        <p:nvSpPr>
          <p:cNvPr id="14" name="Text 7">
            <a:extLst>
              <a:ext uri="{FF2B5EF4-FFF2-40B4-BE49-F238E27FC236}">
                <a16:creationId xmlns:a16="http://schemas.microsoft.com/office/drawing/2014/main" id="{F4FDA297-CFD3-9EA4-63B8-3E00F0AA54BD}"/>
              </a:ext>
            </a:extLst>
          </p:cNvPr>
          <p:cNvSpPr/>
          <p:nvPr/>
        </p:nvSpPr>
        <p:spPr>
          <a:xfrm>
            <a:off x="1795364" y="5223172"/>
            <a:ext cx="2244328" cy="280492"/>
          </a:xfrm>
          <a:prstGeom prst="rect">
            <a:avLst/>
          </a:prstGeom>
          <a:noFill/>
          <a:ln/>
        </p:spPr>
        <p:txBody>
          <a:bodyPr wrap="none" lIns="0" tIns="0" rIns="0" bIns="0" rtlCol="0" anchor="t"/>
          <a:lstStyle/>
          <a:p>
            <a:pPr>
              <a:lnSpc>
                <a:spcPts val="2208"/>
              </a:lnSpc>
            </a:pPr>
            <a:r>
              <a:rPr lang="en-US" sz="2400" b="1" dirty="0">
                <a:solidFill>
                  <a:srgbClr val="000000"/>
                </a:solidFill>
                <a:latin typeface="Aptos" panose="020B0004020202020204" pitchFamily="34" charset="0"/>
                <a:ea typeface="Playfair Display Bold" pitchFamily="34" charset="-122"/>
                <a:cs typeface="Playfair Display Bold" pitchFamily="34" charset="-120"/>
              </a:rPr>
              <a:t>Tell the Story</a:t>
            </a:r>
            <a:endParaRPr lang="en-US" sz="2400" dirty="0">
              <a:latin typeface="Aptos" panose="020B0004020202020204" pitchFamily="34" charset="0"/>
            </a:endParaRPr>
          </a:p>
        </p:txBody>
      </p:sp>
      <p:sp>
        <p:nvSpPr>
          <p:cNvPr id="15" name="Text 8">
            <a:extLst>
              <a:ext uri="{FF2B5EF4-FFF2-40B4-BE49-F238E27FC236}">
                <a16:creationId xmlns:a16="http://schemas.microsoft.com/office/drawing/2014/main" id="{DAC51B1E-DB90-1A00-30AE-736FA45DAB43}"/>
              </a:ext>
            </a:extLst>
          </p:cNvPr>
          <p:cNvSpPr/>
          <p:nvPr/>
        </p:nvSpPr>
        <p:spPr>
          <a:xfrm>
            <a:off x="1795364" y="5611317"/>
            <a:ext cx="5196284" cy="287338"/>
          </a:xfrm>
          <a:prstGeom prst="rect">
            <a:avLst/>
          </a:prstGeom>
          <a:noFill/>
          <a:ln/>
        </p:spPr>
        <p:txBody>
          <a:bodyPr wrap="none" lIns="0" tIns="0" rIns="0" bIns="0" rtlCol="0" anchor="t"/>
          <a:lstStyle/>
          <a:p>
            <a:pPr>
              <a:lnSpc>
                <a:spcPts val="2250"/>
              </a:lnSpc>
            </a:pPr>
            <a:r>
              <a:rPr lang="en-US" dirty="0">
                <a:solidFill>
                  <a:srgbClr val="000000"/>
                </a:solidFill>
                <a:latin typeface="Aptos" panose="020B0004020202020204" pitchFamily="34" charset="0"/>
                <a:ea typeface="Inter" pitchFamily="34" charset="-122"/>
                <a:cs typeface="Inter" pitchFamily="34" charset="-120"/>
              </a:rPr>
              <a:t>Communicate insights in a compelling, understandable way.</a:t>
            </a:r>
            <a:endParaRPr lang="en-US" dirty="0">
              <a:latin typeface="Aptos" panose="020B0004020202020204" pitchFamily="34" charset="0"/>
            </a:endParaRPr>
          </a:p>
        </p:txBody>
      </p:sp>
      <p:pic>
        <p:nvPicPr>
          <p:cNvPr id="16" name="Image 0" descr="preencoded.png">
            <a:extLst>
              <a:ext uri="{FF2B5EF4-FFF2-40B4-BE49-F238E27FC236}">
                <a16:creationId xmlns:a16="http://schemas.microsoft.com/office/drawing/2014/main" id="{5B95047D-F380-C137-83B1-2AB8AFA90449}"/>
              </a:ext>
            </a:extLst>
          </p:cNvPr>
          <p:cNvPicPr>
            <a:picLocks noChangeAspect="1"/>
          </p:cNvPicPr>
          <p:nvPr/>
        </p:nvPicPr>
        <p:blipFill>
          <a:blip r:embed="rId6" cstate="screen">
            <a:extLst>
              <a:ext uri="{28A0092B-C50C-407E-A947-70E740481C1C}">
                <a14:useLocalDpi xmlns:a14="http://schemas.microsoft.com/office/drawing/2010/main"/>
              </a:ext>
            </a:extLst>
          </a:blip>
          <a:srcRect/>
          <a:stretch>
            <a:fillRect/>
          </a:stretch>
        </p:blipFill>
        <p:spPr>
          <a:xfrm>
            <a:off x="7455108" y="2544713"/>
            <a:ext cx="4572000" cy="1824336"/>
          </a:xfrm>
          <a:prstGeom prst="rect">
            <a:avLst/>
          </a:prstGeom>
        </p:spPr>
      </p:pic>
    </p:spTree>
    <p:extLst>
      <p:ext uri="{BB962C8B-B14F-4D97-AF65-F5344CB8AC3E}">
        <p14:creationId xmlns:p14="http://schemas.microsoft.com/office/powerpoint/2010/main" val="1004162641"/>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323193-FA3B-0EC6-3E0A-FD87E85AEA54}"/>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9C107DBD-DFF0-F017-28B4-3AC4AD3D6B00}"/>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558195459"/>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045535" y="1196791"/>
            <a:ext cx="10442944" cy="2387600"/>
          </a:xfrm>
        </p:spPr>
        <p:txBody>
          <a:bodyPr>
            <a:normAutofit/>
          </a:bodyPr>
          <a:lstStyle/>
          <a:p>
            <a:r>
              <a:rPr lang="en-US" dirty="0"/>
              <a:t>Chapter 6: Dirty Data</a:t>
            </a:r>
            <a:endParaRPr dirty="0"/>
          </a:p>
        </p:txBody>
      </p:sp>
      <p:sp>
        <p:nvSpPr>
          <p:cNvPr id="3" name="Subtitle 2"/>
          <p:cNvSpPr>
            <a:spLocks noGrp="1"/>
          </p:cNvSpPr>
          <p:nvPr>
            <p:ph type="subTitle" idx="1"/>
          </p:nvPr>
        </p:nvSpPr>
        <p:spPr>
          <a:xfrm>
            <a:off x="1524000" y="4231758"/>
            <a:ext cx="9144000" cy="1026042"/>
          </a:xfrm>
        </p:spPr>
        <p:txBody>
          <a:bodyPr/>
          <a:lstStyle/>
          <a:p>
            <a:r>
              <a:rPr dirty="0"/>
              <a:t>Detecting Data Issues and Ensuring Quality</a:t>
            </a:r>
          </a:p>
        </p:txBody>
      </p:sp>
      <p:sp>
        <p:nvSpPr>
          <p:cNvPr id="5" name="Sub"/>
          <p:cNvSpPr>
            <a:spLocks noGrp="1"/>
          </p:cNvSpPr>
          <p:nvPr>
            <p:ph type="subTitle" idx="1"/>
          </p:nvPr>
        </p:nvSpPr>
        <p:spPr/>
        <p:txBody>
          <a:bodyPr/>
          <a:lstStyle/>
          <a:p>
            <a:r>
              <a:rPr lang="en-US" dirty="0"/>
              <a:t>Coding Agents for Data Quality &amp; Cleaning</a:t>
            </a: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a:xfrm>
            <a:off x="457200" y="228600"/>
            <a:ext cx="11354400" cy="1143000"/>
          </a:xfrm>
        </p:spPr>
        <p:txBody>
          <a:bodyPr/>
          <a:lstStyle/>
          <a:p>
            <a:r>
              <a:rPr lang="en-US" dirty="0"/>
              <a:t>Using a Coding Agent for Data Auditing</a:t>
            </a:r>
          </a:p>
        </p:txBody>
      </p:sp>
      <p:sp>
        <p:nvSpPr>
          <p:cNvPr id="3" name="Content"/>
          <p:cNvSpPr>
            <a:spLocks noGrp="1"/>
          </p:cNvSpPr>
          <p:nvPr>
            <p:ph idx="1"/>
          </p:nvPr>
        </p:nvSpPr>
        <p:spPr>
          <a:xfrm>
            <a:off x="457200" y="1485900"/>
            <a:ext cx="11354400" cy="4857300"/>
          </a:xfrm>
        </p:spPr>
        <p:txBody>
          <a:bodyPr>
            <a:normAutofit/>
          </a:bodyPr>
          <a:lstStyle/>
          <a:p>
            <a:r>
              <a:rPr lang="en-US" sz="1900" b="1" dirty="0"/>
              <a:t>A coding agent can automate your entire data audit — but you must interpret the results:</a:t>
            </a:r>
          </a:p>
          <a:p>
            <a:r>
              <a:rPr lang="en-US" sz="1800" dirty="0"/>
              <a:t>Weak: "Clean this CSV." → Agent guesses at issues without domain context.</a:t>
            </a:r>
          </a:p>
          <a:p>
            <a:r>
              <a:rPr lang="en-US" sz="1800" dirty="0"/>
              <a:t>Strong: "Load messy_school_data.csv. For each column: (1) report dtype, (2) count missing values and compute missing rate, (3) list all unique values for categorical columns, (4) report min/max/mean/std for numerical columns. Flag any column where the missing rate exceeds 5% or the max value is implausible given the column name."</a:t>
            </a:r>
          </a:p>
          <a:p>
            <a:r>
              <a:rPr lang="en-US" sz="1900" b="1" dirty="0"/>
              <a:t>Key verification steps after the agent runs:</a:t>
            </a:r>
          </a:p>
          <a:p>
            <a:r>
              <a:rPr lang="en-US" sz="1800" dirty="0"/>
              <a:t>Check that df.shape before and after cleaning match your expectations. Did the agent drop rows you wanted to keep?</a:t>
            </a:r>
          </a:p>
          <a:p>
            <a:r>
              <a:rPr lang="en-US" sz="1800" dirty="0"/>
              <a:t>Ask: "How many rows were removed? What was the original row count vs. cleaned row count? Were any columns modified? Print a before/after comparison for each changed column."</a:t>
            </a:r>
          </a:p>
          <a:p>
            <a:r>
              <a:rPr lang="en-US" sz="1800" dirty="0"/>
              <a:t>Always run the cleaning log prompt: "Produce a numbered step-by-step log of every change made to the dataset, including the old value, new value, and the reason."</a:t>
            </a: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a:xfrm>
            <a:off x="457200" y="228600"/>
            <a:ext cx="11354400" cy="1143000"/>
          </a:xfrm>
        </p:spPr>
        <p:txBody>
          <a:bodyPr/>
          <a:lstStyle/>
          <a:p>
            <a:r>
              <a:rPr lang="en-US" dirty="0"/>
              <a:t>Automated Outlier Detection with a Coding Agent</a:t>
            </a:r>
          </a:p>
        </p:txBody>
      </p:sp>
      <p:sp>
        <p:nvSpPr>
          <p:cNvPr id="3" name="Content"/>
          <p:cNvSpPr>
            <a:spLocks noGrp="1"/>
          </p:cNvSpPr>
          <p:nvPr>
            <p:ph idx="1"/>
          </p:nvPr>
        </p:nvSpPr>
        <p:spPr>
          <a:xfrm>
            <a:off x="457200" y="1485900"/>
            <a:ext cx="11354400" cy="4857300"/>
          </a:xfrm>
        </p:spPr>
        <p:txBody>
          <a:bodyPr>
            <a:normAutofit/>
          </a:bodyPr>
          <a:lstStyle/>
          <a:p>
            <a:r>
              <a:rPr lang="en-US" sz="1900" b="1" dirty="0"/>
              <a:t>Ask for all three outlier detection methods simultaneously:</a:t>
            </a:r>
          </a:p>
          <a:p>
            <a:r>
              <a:rPr lang="en-US" sz="1800" dirty="0"/>
              <a:t>"For each numerical column in the dataset, apply three outlier detection methods: (1) domain threshold (flag Age&gt;100, GPA&gt;4.0, Height_in&lt;40 or &gt;90), (2) IQR rule (Q1-1.5*IQR, Q3+1.5*IQR), and (3) z-score |z|&gt;3. For each flagged value, print the row, the column, and which method(s) flagged it."</a:t>
            </a:r>
          </a:p>
          <a:p>
            <a:r>
              <a:rPr lang="en-US" sz="1800" dirty="0"/>
              <a:t>The agent will produce a table of suspicious values across all methods. Your job: evaluate each one using domain knowledge. Is Age=150 a typo or a data entry error? Is Height_in=25 an infant or a measurement error?</a:t>
            </a:r>
          </a:p>
          <a:p>
            <a:r>
              <a:rPr lang="en-US" sz="1900" b="1" dirty="0"/>
              <a:t>The critical question you must answer (not the agent):</a:t>
            </a:r>
          </a:p>
          <a:p>
            <a:r>
              <a:rPr lang="en-US" sz="1800" dirty="0"/>
              <a:t>For each outlier: is it a data error (fix it), a legitimate extreme value (keep it and note it), or ambiguous (make it missing and document the decision)?</a:t>
            </a:r>
          </a:p>
          <a:p>
            <a:r>
              <a:rPr lang="en-US" sz="1800" dirty="0"/>
              <a:t>Pro tip: ask the agent to plot a box plot and histogram for each flagged column. Visual confirmation prevents you from acting on a false positive from a single detection method.</a:t>
            </a: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a:xfrm>
            <a:off x="457200" y="228600"/>
            <a:ext cx="11354400" cy="1143000"/>
          </a:xfrm>
        </p:spPr>
        <p:txBody>
          <a:bodyPr/>
          <a:lstStyle/>
          <a:p>
            <a:r>
              <a:rPr lang="en-US" dirty="0"/>
              <a:t>Hands-On: Agent-Assisted Cleaning of messy_school_data.csv</a:t>
            </a:r>
          </a:p>
        </p:txBody>
      </p:sp>
      <p:sp>
        <p:nvSpPr>
          <p:cNvPr id="3" name="Content"/>
          <p:cNvSpPr>
            <a:spLocks noGrp="1"/>
          </p:cNvSpPr>
          <p:nvPr>
            <p:ph idx="1"/>
          </p:nvPr>
        </p:nvSpPr>
        <p:spPr>
          <a:xfrm>
            <a:off x="457200" y="1485900"/>
            <a:ext cx="11354400" cy="4857300"/>
          </a:xfrm>
        </p:spPr>
        <p:txBody>
          <a:bodyPr>
            <a:normAutofit/>
          </a:bodyPr>
          <a:lstStyle/>
          <a:p>
            <a:r>
              <a:rPr lang="en-US" sz="1900" b="1" dirty="0"/>
              <a:t>Activity (pairs, 25 minutes):</a:t>
            </a:r>
          </a:p>
          <a:p>
            <a:r>
              <a:rPr lang="en-US" sz="1800" dirty="0"/>
              <a:t>Step 1 — Audit: Prompt the agent to produce a full data quality report (dtypes, missing rates, unique values, min/max). Review every output before proceeding. Flag anything that looks wrong.</a:t>
            </a:r>
          </a:p>
          <a:p>
            <a:r>
              <a:rPr lang="en-US" sz="1800" dirty="0"/>
              <a:t>Step 2 — Detect: Ask the agent to apply IQR outlier detection to all numerical columns and list all unique values for all categorical columns. Identify at least 3 issues beyond what the original slides showed.</a:t>
            </a:r>
          </a:p>
          <a:p>
            <a:r>
              <a:rPr lang="en-US" sz="1800" dirty="0"/>
              <a:t>Step 3 — Clean: Direct the agent to fix each issue one at a time. After each fix, verify with df.describe() or value_counts() that the fix worked correctly and didn’t introduce new problems.</a:t>
            </a:r>
          </a:p>
          <a:p>
            <a:r>
              <a:rPr lang="en-US" sz="1800" dirty="0"/>
              <a:t>Step 4 — Log: Ask the agent to produce a numbered cleaning log in the professional format from slide 68. Compare your log to the example answer.</a:t>
            </a:r>
          </a:p>
          <a:p>
            <a:r>
              <a:rPr lang="en-US" sz="1800" b="1" dirty="0"/>
              <a:t>Challenge: find one issue the original example answer missed. Use the agent to detect it and fix it.</a:t>
            </a: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a:xfrm>
            <a:off x="457200" y="228600"/>
            <a:ext cx="11354400" cy="1143000"/>
          </a:xfrm>
        </p:spPr>
        <p:txBody>
          <a:bodyPr/>
          <a:lstStyle/>
          <a:p>
            <a:r>
              <a:rPr lang="en-US" dirty="0"/>
              <a:t>Chapter 6: What You Can Do Now</a:t>
            </a:r>
          </a:p>
        </p:txBody>
      </p:sp>
      <p:sp>
        <p:nvSpPr>
          <p:cNvPr id="3" name="Content"/>
          <p:cNvSpPr>
            <a:spLocks noGrp="1"/>
          </p:cNvSpPr>
          <p:nvPr>
            <p:ph idx="1"/>
          </p:nvPr>
        </p:nvSpPr>
        <p:spPr>
          <a:xfrm>
            <a:off x="457200" y="1485900"/>
            <a:ext cx="11354400" cy="4857300"/>
          </a:xfrm>
        </p:spPr>
        <p:txBody>
          <a:bodyPr>
            <a:normAutofit/>
          </a:bodyPr>
          <a:lstStyle/>
          <a:p>
            <a:r>
              <a:rPr lang="en-US" sz="1900" b="1" dirty="0"/>
              <a:t>Dirty data recognition:</a:t>
            </a:r>
          </a:p>
          <a:p>
            <a:r>
              <a:rPr lang="en-US" sz="1800" dirty="0"/>
              <a:t>✓ Identify the six dirty data types (missing MCAR/MAR/MNAR, outliers, typos, format inconsistencies, duplicates, integration errors) and explain how each distorts analysis differently.</a:t>
            </a:r>
          </a:p>
          <a:p>
            <a:r>
              <a:rPr lang="en-US" sz="1900" b="1" dirty="0"/>
              <a:t>Data cleaning skills:</a:t>
            </a:r>
          </a:p>
          <a:p>
            <a:r>
              <a:rPr lang="en-US" sz="1800" dirty="0"/>
              <a:t>✓ Clean a real dataset in Python using df.isnull().sum(), .str.strip(), .str.lower(), fillna(), IQR outlier detection, and drop_duplicates(). Produce a professional cleaning log.</a:t>
            </a:r>
          </a:p>
          <a:p>
            <a:r>
              <a:rPr lang="en-US" sz="1800" dirty="0"/>
              <a:t>✓ Clean the same dataset in R using is.na(), mean(na.rm=TRUE), toupper(), and duplicated(). Understand equivalent operations across both languages.</a:t>
            </a:r>
          </a:p>
          <a:p>
            <a:r>
              <a:rPr lang="en-US" sz="1900" b="1" dirty="0"/>
              <a:t>Data quality thinking:</a:t>
            </a:r>
          </a:p>
          <a:p>
            <a:r>
              <a:rPr lang="en-US" sz="1800" dirty="0"/>
              <a:t>✓ Apply a data quality checklist before any analysis. Report cleaning decisions transparently including row counts, missing rates, and imputation methods used.</a:t>
            </a:r>
          </a:p>
          <a:p>
            <a:r>
              <a:rPr lang="en-US" sz="1800" dirty="0"/>
              <a:t>✓ Direct a coding agent to automate data auditing and outlier detection, verify its outputs, and catch cases where the agent made a plausible-but-wrong cleaning decision.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14967</TotalTime>
  <Words>3768</Words>
  <Application>Microsoft Office PowerPoint</Application>
  <PresentationFormat>Widescreen</PresentationFormat>
  <Paragraphs>505</Paragraphs>
  <Slides>76</Slides>
  <Notes>13</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76</vt:i4>
      </vt:variant>
    </vt:vector>
  </HeadingPairs>
  <TitlesOfParts>
    <vt:vector size="85" baseType="lpstr">
      <vt:lpstr>Aptos</vt:lpstr>
      <vt:lpstr>Aptos Display</vt:lpstr>
      <vt:lpstr>Aptos Narrow</vt:lpstr>
      <vt:lpstr>Arial</vt:lpstr>
      <vt:lpstr>Consolas</vt:lpstr>
      <vt:lpstr>Inter</vt:lpstr>
      <vt:lpstr>Playfair Display Bold</vt:lpstr>
      <vt:lpstr>Times New Roman</vt:lpstr>
      <vt:lpstr>Office Theme</vt:lpstr>
      <vt:lpstr>Day 5: Dirty Data – Detecting Data Issues and Ensuring Quality</vt:lpstr>
      <vt:lpstr>PowerPoint Presentation</vt:lpstr>
      <vt:lpstr>What We'll Learn</vt:lpstr>
      <vt:lpstr>Chapter 6</vt:lpstr>
      <vt:lpstr>What is "Dirty Data"?</vt:lpstr>
      <vt:lpstr>Missing Data</vt:lpstr>
      <vt:lpstr>Missing Data</vt:lpstr>
      <vt:lpstr>Typos &amp; Data Entry Errors</vt:lpstr>
      <vt:lpstr>Outliers</vt:lpstr>
      <vt:lpstr>How Outliers Affect Analysis</vt:lpstr>
      <vt:lpstr>Inconsistencies in Data Format </vt:lpstr>
      <vt:lpstr>Inconsistencies in Data Format </vt:lpstr>
      <vt:lpstr>Hidden Inconsistencies</vt:lpstr>
      <vt:lpstr>Missing Documentation</vt:lpstr>
      <vt:lpstr>Data Integration Errors</vt:lpstr>
      <vt:lpstr>Do you see any issues here?</vt:lpstr>
      <vt:lpstr>Do you see any issues here?</vt:lpstr>
      <vt:lpstr>Why Dirty Data Matters</vt:lpstr>
      <vt:lpstr>Chapter 6</vt:lpstr>
      <vt:lpstr>Strategies for Cleaning Data</vt:lpstr>
      <vt:lpstr>Data Validation</vt:lpstr>
      <vt:lpstr>Finding Problems Systematically</vt:lpstr>
      <vt:lpstr>Visualizing to Find Problems</vt:lpstr>
      <vt:lpstr>Handling Missing Data </vt:lpstr>
      <vt:lpstr>Handling Outliers</vt:lpstr>
      <vt:lpstr>Correcting Inconsistencies</vt:lpstr>
      <vt:lpstr>PowerPoint Presentation</vt:lpstr>
      <vt:lpstr>Removing Duplicates</vt:lpstr>
      <vt:lpstr>Document Your Cleaning</vt:lpstr>
      <vt:lpstr>Test Your Cleaned Data</vt:lpstr>
      <vt:lpstr>Let’s Do It!!!</vt:lpstr>
      <vt:lpstr>Create your messy data!</vt:lpstr>
      <vt:lpstr>Check the missing</vt:lpstr>
      <vt:lpstr>Check outliers</vt:lpstr>
      <vt:lpstr>Let’s Clean</vt:lpstr>
      <vt:lpstr>Let’s Clean 2</vt:lpstr>
      <vt:lpstr>Let’s Clean 3</vt:lpstr>
      <vt:lpstr>Let’s Try it with R</vt:lpstr>
      <vt:lpstr>Create the data</vt:lpstr>
      <vt:lpstr>Missing and Outlier</vt:lpstr>
      <vt:lpstr>Key cleaning functions/techniques (summary)</vt:lpstr>
      <vt:lpstr>Chapter 6</vt:lpstr>
      <vt:lpstr>Why Data Quality is Critical: Trustworthy Analysis</vt:lpstr>
      <vt:lpstr>Consequences of Dirty Data</vt:lpstr>
      <vt:lpstr>Benefits of Clean Data</vt:lpstr>
      <vt:lpstr>Important Tip!</vt:lpstr>
      <vt:lpstr>Professional Data Cleaning Terms</vt:lpstr>
      <vt:lpstr>When You Write a Report</vt:lpstr>
      <vt:lpstr>Chapter 6</vt:lpstr>
      <vt:lpstr>Group Activity – Data Cleaning</vt:lpstr>
      <vt:lpstr>Group Activity with R – Example Answer</vt:lpstr>
      <vt:lpstr>Group Activity with R – Example Answer</vt:lpstr>
      <vt:lpstr>Group Activity with R – Example Answer</vt:lpstr>
      <vt:lpstr>Group Activity with R – Example Answer</vt:lpstr>
      <vt:lpstr>Group Activity with R – Example Answer</vt:lpstr>
      <vt:lpstr>Group Activity with R – Example Answer</vt:lpstr>
      <vt:lpstr>Group Activity with R – Example Answer</vt:lpstr>
      <vt:lpstr>Group Activity with R – Example Answer</vt:lpstr>
      <vt:lpstr>Group Activity with R – Example Answer</vt:lpstr>
      <vt:lpstr>Group Activity with R – Example Answer</vt:lpstr>
      <vt:lpstr>Group Activity with R – Example Answer</vt:lpstr>
      <vt:lpstr>Group Activity with R – Example Answer</vt:lpstr>
      <vt:lpstr>Group Activity with R – Example Answer</vt:lpstr>
      <vt:lpstr>Group Activity with R – Example Answer</vt:lpstr>
      <vt:lpstr>Group Activity with R – Example Answer</vt:lpstr>
      <vt:lpstr>Group Activity with R – Example Answer</vt:lpstr>
      <vt:lpstr>Group Activity with R – Example Answer</vt:lpstr>
      <vt:lpstr>Log Record</vt:lpstr>
      <vt:lpstr>Group Activity with R – Quick Note</vt:lpstr>
      <vt:lpstr>Group Activity Answer with Python</vt:lpstr>
      <vt:lpstr>Group Activity Answer with Python</vt:lpstr>
      <vt:lpstr>Chapter 6</vt:lpstr>
      <vt:lpstr>Data Quality Importance Review</vt:lpstr>
      <vt:lpstr>Coding Tools Review</vt:lpstr>
      <vt:lpstr>From Detective to Storyteller</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Michelle Yin</dc:creator>
  <cp:lastModifiedBy>Burhan Ogut</cp:lastModifiedBy>
  <cp:revision>27</cp:revision>
  <dcterms:created xsi:type="dcterms:W3CDTF">2025-04-09T18:08:05Z</dcterms:created>
  <dcterms:modified xsi:type="dcterms:W3CDTF">2026-04-20T17:06:34Z</dcterms:modified>
</cp:coreProperties>
</file>